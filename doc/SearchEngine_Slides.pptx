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40"/>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320" r:id="rId32"/>
    <p:sldId id="322" r:id="rId33"/>
    <p:sldId id="323" r:id="rId34"/>
    <p:sldId id="296" r:id="rId35"/>
    <p:sldId id="297" r:id="rId36"/>
    <p:sldId id="299" r:id="rId37"/>
    <p:sldId id="300" r:id="rId38"/>
    <p:sldId id="279" r:id="rId3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000"/>
    <a:srgbClr val="FDB72B"/>
    <a:srgbClr val="00AAE5"/>
    <a:srgbClr val="7AD0C4"/>
    <a:srgbClr val="BADA15"/>
    <a:srgbClr val="A6C313"/>
    <a:srgbClr val="AFE3DC"/>
    <a:srgbClr val="00B0F0"/>
    <a:srgbClr val="1FFF53"/>
    <a:srgbClr val="0078D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7461" autoAdjust="0"/>
  </p:normalViewPr>
  <p:slideViewPr>
    <p:cSldViewPr snapToGrid="0">
      <p:cViewPr varScale="1">
        <p:scale>
          <a:sx n="103" d="100"/>
          <a:sy n="103" d="100"/>
        </p:scale>
        <p:origin x="774"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9/25/2026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9300128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293001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569649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5132943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0.png"/><Relationship Id="rId7" Type="http://schemas.openxmlformats.org/officeDocument/2006/relationships/image" Target="../media/image42.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35.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35.jpe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noProof="0" dirty="0" err="1">
                <a:solidFill>
                  <a:schemeClr val="bg1"/>
                </a:solidFill>
              </a:rPr>
              <a:t>SearchEngine</a:t>
            </a:r>
            <a:r>
              <a:rPr lang="en-US" sz="2800" noProof="0" dirty="0">
                <a:solidFill>
                  <a:schemeClr val="bg1"/>
                </a:solidFill>
              </a:rPr>
              <a:t>: a Holistic Approach to Matching</a:t>
            </a: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221" name="Rechteck 220"/>
          <p:cNvSpPr/>
          <p:nvPr/>
        </p:nvSpPr>
        <p:spPr>
          <a:xfrm>
            <a:off x="0" y="1199345"/>
            <a:ext cx="12192000" cy="369332"/>
          </a:xfrm>
          <a:prstGeom prst="rect">
            <a:avLst/>
          </a:prstGeom>
        </p:spPr>
        <p:txBody>
          <a:bodyPr wrap="square">
            <a:spAutoFit/>
          </a:bodyPr>
          <a:lstStyle/>
          <a:p>
            <a:r>
              <a:rPr lang="en-US" noProof="0" dirty="0">
                <a:solidFill>
                  <a:schemeClr val="bg1">
                    <a:lumMod val="50000"/>
                  </a:schemeClr>
                </a:solidFill>
              </a:rPr>
              <a:t>Thorsten Doherr | Leibniz Centre for European Economic Research, Germany | https://github.com/ThorstenDoherr/searchengine</a:t>
            </a:r>
          </a:p>
        </p:txBody>
      </p:sp>
    </p:spTree>
    <p:extLst>
      <p:ext uri="{BB962C8B-B14F-4D97-AF65-F5344CB8AC3E}">
        <p14:creationId xmlns:p14="http://schemas.microsoft.com/office/powerpoint/2010/main" val="37732207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noProof="0" dirty="0">
                <a:solidFill>
                  <a:srgbClr val="000000"/>
                </a:solidFill>
              </a:rPr>
              <a:t>Pairwise Comparisons</a:t>
            </a:r>
          </a:p>
          <a:p>
            <a:r>
              <a:rPr lang="en-US" sz="1100" noProof="0" dirty="0">
                <a:solidFill>
                  <a:srgbClr val="A3C206"/>
                </a:solidFill>
              </a:rPr>
              <a:t>21 million establishment records</a:t>
            </a:r>
          </a:p>
          <a:p>
            <a:r>
              <a:rPr lang="en-US" sz="1100" noProof="0" dirty="0">
                <a:solidFill>
                  <a:srgbClr val="53C5B5"/>
                </a:solidFill>
              </a:rPr>
              <a:t>24 million company records</a:t>
            </a:r>
          </a:p>
          <a:p>
            <a:r>
              <a:rPr lang="en-US" sz="1100" noProof="0" dirty="0">
                <a:solidFill>
                  <a:srgbClr val="000000"/>
                </a:solidFill>
              </a:rPr>
              <a:t>≈ 500*10</a:t>
            </a:r>
            <a:r>
              <a:rPr lang="en-US" sz="1100" baseline="30000" noProof="0" dirty="0">
                <a:solidFill>
                  <a:srgbClr val="000000"/>
                </a:solidFill>
              </a:rPr>
              <a:t>12</a:t>
            </a:r>
            <a:r>
              <a:rPr lang="en-US" sz="1100" noProof="0" dirty="0">
                <a:solidFill>
                  <a:srgbClr val="000000"/>
                </a:solidFill>
              </a:rPr>
              <a:t>  comparisons</a:t>
            </a:r>
            <a:endParaRPr lang="en-US" sz="1100" noProof="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noProof="0" dirty="0">
                <a:solidFill>
                  <a:srgbClr val="000000"/>
                </a:solidFill>
              </a:rPr>
              <a:t>Blocking</a:t>
            </a:r>
            <a:r>
              <a:rPr lang="en-US" sz="1100" noProof="0" dirty="0">
                <a:solidFill>
                  <a:srgbClr val="000000"/>
                </a:solidFill>
              </a:rPr>
              <a:t>  </a:t>
            </a:r>
          </a:p>
          <a:p>
            <a:r>
              <a:rPr lang="en-US" sz="1100" noProof="0" dirty="0">
                <a:solidFill>
                  <a:srgbClr val="000000"/>
                </a:solidFill>
              </a:rPr>
              <a:t>Segmentation of the solution space along arbitrary exclusion restrictions</a:t>
            </a:r>
          </a:p>
          <a:p>
            <a:r>
              <a:rPr lang="en-US" sz="1100" noProof="0" dirty="0">
                <a:solidFill>
                  <a:srgbClr val="000000"/>
                </a:solidFill>
              </a:rPr>
              <a:t>For example:</a:t>
            </a:r>
          </a:p>
          <a:p>
            <a:pPr marL="171450" indent="-171450">
              <a:buClr>
                <a:srgbClr val="00B0F0"/>
              </a:buClr>
              <a:buFont typeface="Wingdings" panose="05000000000000000000" pitchFamily="2" charset="2"/>
              <a:buChar char="§"/>
            </a:pPr>
            <a:r>
              <a:rPr lang="en-US" sz="1100" noProof="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noProof="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noProof="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noProof="0" dirty="0">
                <a:solidFill>
                  <a:srgbClr val="000000"/>
                </a:solidFill>
              </a:rPr>
              <a:t>…</a:t>
            </a:r>
          </a:p>
          <a:p>
            <a:pPr marL="171450" indent="-171450">
              <a:buClr>
                <a:srgbClr val="00B0F0"/>
              </a:buClr>
              <a:buFont typeface="Wingdings" panose="05000000000000000000" pitchFamily="2" charset="2"/>
              <a:buChar char="§"/>
            </a:pPr>
            <a:r>
              <a:rPr lang="en-US" sz="1100" noProof="0" dirty="0">
                <a:solidFill>
                  <a:srgbClr val="000000"/>
                </a:solidFill>
              </a:rPr>
              <a:t>Combination of methods</a:t>
            </a:r>
          </a:p>
          <a:p>
            <a:pPr marL="171450" indent="-171450">
              <a:buClr>
                <a:srgbClr val="00B0F0"/>
              </a:buClr>
              <a:buFont typeface="Wingdings" panose="05000000000000000000" pitchFamily="2" charset="2"/>
              <a:buChar char="§"/>
            </a:pPr>
            <a:r>
              <a:rPr lang="en-US" sz="1100" noProof="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noProof="0" dirty="0">
                <a:solidFill>
                  <a:srgbClr val="000000"/>
                </a:solidFill>
              </a:rPr>
              <a:t>Comparisons</a:t>
            </a:r>
          </a:p>
          <a:p>
            <a:r>
              <a:rPr lang="en-US" sz="1100" noProof="0" dirty="0">
                <a:solidFill>
                  <a:srgbClr val="000000"/>
                </a:solidFill>
              </a:rPr>
              <a:t>Scoring based on…</a:t>
            </a:r>
          </a:p>
          <a:p>
            <a:pPr marL="171450" indent="-171450">
              <a:buClr>
                <a:srgbClr val="00B0F0"/>
              </a:buClr>
              <a:buFont typeface="Wingdings" panose="05000000000000000000" pitchFamily="2" charset="2"/>
              <a:buChar char="§"/>
            </a:pPr>
            <a:r>
              <a:rPr lang="en-US" sz="1100" noProof="0" dirty="0">
                <a:solidFill>
                  <a:srgbClr val="000000"/>
                </a:solidFill>
              </a:rPr>
              <a:t>string comparison functions</a:t>
            </a:r>
          </a:p>
          <a:p>
            <a:pPr marL="171450" indent="-171450">
              <a:buClr>
                <a:srgbClr val="00B0F0"/>
              </a:buClr>
              <a:buFont typeface="Wingdings" panose="05000000000000000000" pitchFamily="2" charset="2"/>
              <a:buChar char="§"/>
            </a:pPr>
            <a:r>
              <a:rPr lang="en-US" sz="1100" noProof="0" dirty="0">
                <a:solidFill>
                  <a:srgbClr val="000000"/>
                </a:solidFill>
              </a:rPr>
              <a:t>word or token frequencies</a:t>
            </a:r>
          </a:p>
          <a:p>
            <a:pPr marL="171450" indent="-171450">
              <a:buClr>
                <a:srgbClr val="00B0F0"/>
              </a:buClr>
              <a:buFont typeface="Wingdings" panose="05000000000000000000" pitchFamily="2" charset="2"/>
              <a:buChar char="§"/>
            </a:pPr>
            <a:r>
              <a:rPr lang="en-US" sz="1100" noProof="0" dirty="0">
                <a:solidFill>
                  <a:srgbClr val="000000"/>
                </a:solidFill>
              </a:rPr>
              <a:t>spatial distances</a:t>
            </a:r>
          </a:p>
          <a:p>
            <a:pPr marL="171450" indent="-171450">
              <a:buClr>
                <a:srgbClr val="00B0F0"/>
              </a:buClr>
              <a:buFont typeface="Wingdings" panose="05000000000000000000" pitchFamily="2" charset="2"/>
              <a:buChar char="§"/>
            </a:pPr>
            <a:r>
              <a:rPr lang="en-US" sz="1100" noProof="0" dirty="0">
                <a:solidFill>
                  <a:srgbClr val="000000"/>
                </a:solidFill>
              </a:rPr>
              <a:t>…</a:t>
            </a:r>
          </a:p>
          <a:p>
            <a:r>
              <a:rPr lang="en-US" sz="1100" noProof="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noProof="0" dirty="0">
                <a:solidFill>
                  <a:srgbClr val="000000"/>
                </a:solidFill>
              </a:rPr>
              <a:t>Index Based Search</a:t>
            </a:r>
          </a:p>
          <a:p>
            <a:r>
              <a:rPr lang="en-US" sz="1100" noProof="0" dirty="0">
                <a:solidFill>
                  <a:srgbClr val="000000"/>
                </a:solidFill>
              </a:rPr>
              <a:t>Complexity increments close to log</a:t>
            </a:r>
            <a:r>
              <a:rPr lang="en-US" sz="1100" baseline="-25000" noProof="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noProof="0" dirty="0">
                <a:solidFill>
                  <a:srgbClr val="000000"/>
                </a:solidFill>
              </a:rPr>
              <a:t>Search Heuristic</a:t>
            </a:r>
            <a:r>
              <a:rPr lang="en-US" sz="1100" noProof="0" dirty="0">
                <a:solidFill>
                  <a:srgbClr val="000000"/>
                </a:solidFill>
              </a:rPr>
              <a:t>  </a:t>
            </a:r>
          </a:p>
          <a:p>
            <a:r>
              <a:rPr lang="en-US" sz="1100" noProof="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noProof="0" dirty="0">
                <a:solidFill>
                  <a:srgbClr val="6DCEC0"/>
                </a:solidFill>
              </a:rPr>
              <a:t>Base table </a:t>
            </a:r>
            <a:r>
              <a:rPr lang="en-US" sz="1100" noProof="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noProof="0" dirty="0">
                <a:solidFill>
                  <a:srgbClr val="A3C206"/>
                </a:solidFill>
              </a:rPr>
              <a:t>Search table</a:t>
            </a:r>
            <a:r>
              <a:rPr lang="en-US" sz="1100" noProof="0" dirty="0">
                <a:solidFill>
                  <a:srgbClr val="C3DF39"/>
                </a:solidFill>
              </a:rPr>
              <a:t> </a:t>
            </a:r>
            <a:r>
              <a:rPr lang="en-US" sz="1100" noProof="0" dirty="0">
                <a:solidFill>
                  <a:prstClr val="black"/>
                </a:solidFill>
              </a:rPr>
              <a:t>provides the search terms</a:t>
            </a:r>
          </a:p>
          <a:p>
            <a:pPr marL="171450" indent="-171450">
              <a:buClr>
                <a:srgbClr val="00B0F0"/>
              </a:buClr>
              <a:buFont typeface="Wingdings" panose="05000000000000000000" pitchFamily="2" charset="2"/>
              <a:buChar char="§"/>
            </a:pPr>
            <a:r>
              <a:rPr lang="en-US" sz="1100" noProof="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noProof="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noProof="0" dirty="0">
                <a:solidFill>
                  <a:srgbClr val="000000"/>
                </a:solidFill>
              </a:rPr>
              <a:t>Holistic Approach</a:t>
            </a:r>
          </a:p>
          <a:p>
            <a:pPr marL="171450" indent="-171450">
              <a:buClr>
                <a:srgbClr val="00B0F0"/>
              </a:buClr>
              <a:buFont typeface="Wingdings" panose="05000000000000000000" pitchFamily="2" charset="2"/>
              <a:buChar char="§"/>
            </a:pPr>
            <a:r>
              <a:rPr lang="en-US" sz="1100" noProof="0" dirty="0">
                <a:solidFill>
                  <a:srgbClr val="000000"/>
                </a:solidFill>
              </a:rPr>
              <a:t>Similarity between </a:t>
            </a:r>
            <a:r>
              <a:rPr lang="en-US" sz="1100" noProof="0" dirty="0">
                <a:solidFill>
                  <a:srgbClr val="A3C206"/>
                </a:solidFill>
              </a:rPr>
              <a:t>search</a:t>
            </a:r>
            <a:r>
              <a:rPr lang="en-US" sz="1100" noProof="0" dirty="0">
                <a:solidFill>
                  <a:srgbClr val="000000"/>
                </a:solidFill>
              </a:rPr>
              <a:t> record and </a:t>
            </a:r>
            <a:r>
              <a:rPr lang="en-US" sz="1100" noProof="0" dirty="0">
                <a:solidFill>
                  <a:srgbClr val="6DCEC0"/>
                </a:solidFill>
              </a:rPr>
              <a:t>candidates</a:t>
            </a:r>
            <a:r>
              <a:rPr lang="en-US" sz="1100" noProof="0" dirty="0">
                <a:solidFill>
                  <a:srgbClr val="000000"/>
                </a:solidFill>
              </a:rPr>
              <a:t> is already established</a:t>
            </a:r>
          </a:p>
          <a:p>
            <a:pPr marL="171450" indent="-171450">
              <a:buClr>
                <a:srgbClr val="00B0F0"/>
              </a:buClr>
              <a:buFont typeface="Wingdings" panose="05000000000000000000" pitchFamily="2" charset="2"/>
              <a:buChar char="§"/>
            </a:pPr>
            <a:r>
              <a:rPr lang="en-US" sz="1100" noProof="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noProof="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noProof="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noProof="0"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noProof="0" dirty="0"/>
              <a:t>vs.</a:t>
            </a:r>
          </a:p>
        </p:txBody>
      </p:sp>
      <p:sp>
        <p:nvSpPr>
          <p:cNvPr id="335" name="Titel 1"/>
          <p:cNvSpPr>
            <a:spLocks noGrp="1"/>
          </p:cNvSpPr>
          <p:nvPr>
            <p:ph type="title"/>
          </p:nvPr>
        </p:nvSpPr>
        <p:spPr/>
        <p:txBody>
          <a:bodyPr/>
          <a:lstStyle/>
          <a:p>
            <a:r>
              <a:rPr lang="en-US" noProof="0" dirty="0"/>
              <a:t>Blocking</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a:t>
            </a:fld>
            <a:endParaRPr lang="en-US" noProof="0"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München</a:t>
            </a: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BMW Technik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r>
              <a:rPr kumimoji="0" lang="en-US" sz="1800" b="0" i="0" u="none" strike="noStrike" kern="0" cap="none" spc="0" normalizeH="0" baseline="0" noProof="0" dirty="0">
                <a:ln>
                  <a:noFill/>
                </a:ln>
                <a:solidFill>
                  <a:prstClr val="white">
                    <a:lumMod val="50000"/>
                  </a:prstClr>
                </a:solidFill>
                <a:effectLst/>
                <a:uLnTx/>
                <a:uFillTx/>
              </a:rPr>
              <a:t>5784</a:t>
            </a:r>
            <a:br>
              <a:rPr kumimoji="0" lang="en-US" sz="1800" b="0" i="0" u="none" strike="noStrike" kern="0" cap="none" spc="0" normalizeH="0" baseline="0" noProof="0" dirty="0">
                <a:ln>
                  <a:noFill/>
                </a:ln>
                <a:solidFill>
                  <a:prstClr val="white">
                    <a:lumMod val="50000"/>
                  </a:prstClr>
                </a:solidFill>
                <a:effectLst/>
                <a:uLnTx/>
                <a:uFillTx/>
              </a:rPr>
            </a:br>
            <a:r>
              <a:rPr kumimoji="0" lang="en-US" sz="1800" b="0" i="0" u="none" strike="noStrike" kern="0" cap="none" spc="0" normalizeH="0" baseline="0" noProof="0" dirty="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3</a:t>
            </a:fld>
            <a:endParaRPr lang="en-US" noProof="0"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noProof="0" dirty="0"/>
              <a:t>Preparer Gateway</a:t>
            </a:r>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noProof="0" dirty="0"/>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noProof="0" dirty="0"/>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noProof="0" dirty="0"/>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noProof="0" dirty="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noProof="0" dirty="0"/>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noProof="0" dirty="0" err="1">
                      <a:latin typeface="Arial" panose="020B0604020202020204" pitchFamily="34" charset="0"/>
                      <a:ea typeface="Microsoft YaHei UI" panose="020B0503020204020204" pitchFamily="34" charset="-122"/>
                      <a:cs typeface="Arial" panose="020B0604020202020204" pitchFamily="34" charset="0"/>
                    </a:rPr>
                    <a:t>Firma</a:t>
                  </a:r>
                  <a:endParaRPr lang="en-US" sz="1000" noProof="0" dirty="0">
                    <a:latin typeface="Arial" panose="020B0604020202020204" pitchFamily="34" charset="0"/>
                    <a:ea typeface="Microsoft YaHei UI" panose="020B0503020204020204" pitchFamily="34" charset="-122"/>
                    <a:cs typeface="Arial" panose="020B0604020202020204" pitchFamily="34" charset="0"/>
                  </a:endParaRP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noProof="0" dirty="0"/>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noProof="0" dirty="0" err="1">
                  <a:latin typeface="Arial" panose="020B0604020202020204" pitchFamily="34" charset="0"/>
                  <a:cs typeface="Arial" panose="020B0604020202020204" pitchFamily="34" charset="0"/>
                </a:rPr>
                <a:t>Unikey</a:t>
              </a:r>
              <a:endParaRPr lang="en-US" sz="1000" noProof="0" dirty="0">
                <a:latin typeface="Arial" panose="020B0604020202020204" pitchFamily="34" charset="0"/>
                <a:cs typeface="Arial" panose="020B0604020202020204" pitchFamily="34" charset="0"/>
              </a:endParaRPr>
            </a:p>
            <a:p>
              <a:pPr>
                <a:lnSpc>
                  <a:spcPts val="1500"/>
                </a:lnSpc>
              </a:pPr>
              <a:r>
                <a:rPr lang="en-US" sz="1000" noProof="0" dirty="0">
                  <a:latin typeface="Arial" panose="020B0604020202020204" pitchFamily="34" charset="0"/>
                  <a:cs typeface="Arial" panose="020B0604020202020204" pitchFamily="34" charset="0"/>
                </a:rPr>
                <a:t>Name</a:t>
              </a:r>
            </a:p>
            <a:p>
              <a:pPr>
                <a:lnSpc>
                  <a:spcPts val="1500"/>
                </a:lnSpc>
              </a:pPr>
              <a:r>
                <a:rPr lang="en-US" sz="1000" noProof="0" dirty="0">
                  <a:latin typeface="Arial" panose="020B0604020202020204" pitchFamily="34" charset="0"/>
                  <a:cs typeface="Arial" panose="020B0604020202020204" pitchFamily="34" charset="0"/>
                </a:rPr>
                <a:t>Street</a:t>
              </a:r>
            </a:p>
            <a:p>
              <a:pPr>
                <a:lnSpc>
                  <a:spcPts val="1500"/>
                </a:lnSpc>
              </a:pPr>
              <a:r>
                <a:rPr lang="en-US" sz="1000" noProof="0" dirty="0">
                  <a:latin typeface="Arial" panose="020B0604020202020204" pitchFamily="34" charset="0"/>
                  <a:cs typeface="Arial" panose="020B0604020202020204" pitchFamily="34" charset="0"/>
                </a:rPr>
                <a:t>Zip</a:t>
              </a:r>
            </a:p>
            <a:p>
              <a:pPr>
                <a:lnSpc>
                  <a:spcPts val="1500"/>
                </a:lnSpc>
              </a:pPr>
              <a:r>
                <a:rPr lang="en-US" sz="1000" noProof="0" dirty="0">
                  <a:latin typeface="Arial" panose="020B0604020202020204" pitchFamily="34" charset="0"/>
                  <a:cs typeface="Arial" panose="020B0604020202020204" pitchFamily="34" charset="0"/>
                </a:rPr>
                <a:t>City</a:t>
              </a: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Name</a:t>
            </a: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Street</a:t>
            </a: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Zip</a:t>
            </a: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City</a:t>
            </a: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noProof="0" dirty="0"/>
              <a:t>Preparers are normalization/tokenization directives.</a:t>
            </a:r>
            <a:br>
              <a:rPr lang="en-US" sz="1400" noProof="0" dirty="0"/>
            </a:br>
            <a:r>
              <a:rPr lang="en-US" sz="1400" noProof="0" dirty="0"/>
              <a:t>In combination with search fields, they define search types.</a:t>
            </a:r>
            <a:br>
              <a:rPr lang="en-US" sz="1400" noProof="0" dirty="0"/>
            </a:br>
            <a:r>
              <a:rPr lang="en-US" sz="1400" noProof="0" dirty="0"/>
              <a:t>By default, all fields will be normalized:</a:t>
            </a:r>
            <a:br>
              <a:rPr lang="en-US" sz="1400" noProof="0" dirty="0"/>
            </a:br>
            <a:r>
              <a:rPr lang="en-US" sz="1400" noProof="0" dirty="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noProof="0" dirty="0"/>
              <a:t>FIRMA, STRASSE, PLZ are custom preparers defined in the “searchengine_firma_strasse.xml” file. They handle the idiosyncrasies of German firm names and addresses (legal forms, concatenated street types) and are not required for other languages. </a:t>
            </a:r>
            <a:br>
              <a:rPr lang="en-US" sz="1400" noProof="0" dirty="0"/>
            </a:br>
            <a:r>
              <a:rPr lang="en-US" sz="1400" noProof="0" dirty="0"/>
              <a:t>Languages allowing the (arbitrary) concatenation of words pose a challenge for word based algorithms.</a:t>
            </a:r>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GRAMn preparers implement a computational linguistics method by creating overlapping tokens of size n, i.e.</a:t>
            </a:r>
            <a:br>
              <a:rPr lang="en-US" sz="1400" noProof="0" dirty="0"/>
            </a:br>
            <a:r>
              <a:rPr lang="en-US" sz="1400" noProof="0" dirty="0"/>
              <a:t>THORSTEN → THO HOR ORS RST STE TEN</a:t>
            </a:r>
            <a:br>
              <a:rPr lang="en-US" sz="1400" noProof="0" dirty="0"/>
            </a:br>
            <a:r>
              <a:rPr lang="en-US" sz="1400" noProof="0" dirty="0"/>
              <a:t>Other linguistic preparers implement SOUNDEX, METAPHONE and COLONE but only GRAM can handle erroneously concatenated/split words.</a:t>
            </a:r>
            <a:br>
              <a:rPr lang="en-US" sz="1400" noProof="0" dirty="0"/>
            </a:br>
            <a:r>
              <a:rPr lang="en-US" sz="1400" noProof="0" dirty="0"/>
              <a:t>These preparers destroy information for the sake of increased robustness against misspellings, therefor they will also be referred as destructive preparers → increased risk of false positives</a:t>
            </a:r>
          </a:p>
        </p:txBody>
      </p:sp>
      <p:sp>
        <p:nvSpPr>
          <p:cNvPr id="18" name="Foliennummernplatzhalter 17"/>
          <p:cNvSpPr>
            <a:spLocks noGrp="1"/>
          </p:cNvSpPr>
          <p:nvPr>
            <p:ph type="sldNum" sz="quarter" idx="10"/>
          </p:nvPr>
        </p:nvSpPr>
        <p:spPr/>
        <p:txBody>
          <a:bodyPr/>
          <a:lstStyle/>
          <a:p>
            <a:fld id="{A29D8577-601D-4845-9C29-D9E13FE3E8DB}" type="slidenum">
              <a:rPr lang="en-US" noProof="0" smtClean="0"/>
              <a:pPr/>
              <a:t>4</a:t>
            </a:fld>
            <a:endParaRPr lang="en-US" noProof="0"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Relative Identification Potential</a:t>
            </a:r>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ext uri="{D42A27DB-BD31-4B8C-83A1-F6EECF244321}">
                    <p14:modId xmlns:p14="http://schemas.microsoft.com/office/powerpoint/2010/main" val="1174423203"/>
                  </p:ext>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extLst>
                        <a:ext uri="{9D8B030D-6E8A-4147-A177-3AD203B41FA5}">
                          <a16:colId xmlns:a16="http://schemas.microsoft.com/office/drawing/2014/main" val="20000"/>
                        </a:ext>
                      </a:extLst>
                    </a:gridCol>
                    <a:gridCol w="1188000">
                      <a:extLst>
                        <a:ext uri="{9D8B030D-6E8A-4147-A177-3AD203B41FA5}">
                          <a16:colId xmlns:a16="http://schemas.microsoft.com/office/drawing/2014/main" val="20001"/>
                        </a:ext>
                      </a:extLst>
                    </a:gridCol>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lang="en-US" sz="1800" b="0" i="1" noProof="0" smtClean="0">
                                    <a:latin typeface="Cambria Math"/>
                                  </a:rPr>
                                  <m:t>𝑟𝐼𝑃</m:t>
                                </m:r>
                                <m:r>
                                  <a:rPr lang="en-US" sz="1800" b="0" i="1" noProof="0" smtClean="0">
                                    <a:latin typeface="Cambria Math"/>
                                  </a:rPr>
                                  <m:t>=</m:t>
                                </m:r>
                              </m:oMath>
                              <m:oMath>
                                <m:r>
                                  <a:rPr lang="en-US" sz="1800" b="0" i="1" noProof="0" smtClean="0">
                                    <a:latin typeface="Cambria Math"/>
                                  </a:rPr>
                                  <m:t>𝑠ℎ𝑎𝑟𝑒</m:t>
                                </m:r>
                                <m:r>
                                  <a:rPr lang="en-US" sz="1800" b="0" i="1" noProof="0" smtClean="0">
                                    <a:latin typeface="Cambria Math"/>
                                  </a:rPr>
                                  <m:t>∗</m:t>
                                </m:r>
                                <m:r>
                                  <a:rPr lang="en-US" sz="1800" b="0" i="1" noProof="0" smtClean="0">
                                    <a:solidFill>
                                      <a:srgbClr val="00AAE5"/>
                                    </a:solidFill>
                                    <a:latin typeface="Cambria Math"/>
                                  </a:rPr>
                                  <m:t>𝑤𝑒𝑖𝑔ℎ𝑡</m:t>
                                </m:r>
                              </m:oMath>
                            </m:oMathPara>
                          </a14:m>
                          <a:endParaRPr lang="en-US" sz="1400" noProof="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1.162%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r>
                            <a:rPr lang="en-US" sz="1400" kern="1200" noProof="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4"/>
                      </a:ext>
                    </a:extLst>
                  </a:tr>
                </a:tbl>
              </a:graphicData>
            </a:graphic>
          </p:graphicFrame>
        </mc:Choice>
        <mc:Fallback xmlns="">
          <p:graphicFrame>
            <p:nvGraphicFramePr>
              <p:cNvPr id="5" name="Tabelle 11"/>
              <p:cNvGraphicFramePr>
                <a:graphicFrameLocks noGrp="1"/>
              </p:cNvGraphicFramePr>
              <p:nvPr>
                <p:extLst>
                  <p:ext uri="{D42A27DB-BD31-4B8C-83A1-F6EECF244321}">
                    <p14:modId xmlns:p14="http://schemas.microsoft.com/office/powerpoint/2010/main" val="1174423203"/>
                  </p:ext>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extLst>
                        <a:ext uri="{9D8B030D-6E8A-4147-A177-3AD203B41FA5}">
                          <a16:colId xmlns:a16="http://schemas.microsoft.com/office/drawing/2014/main" val="20000"/>
                        </a:ext>
                      </a:extLst>
                    </a:gridCol>
                    <a:gridCol w="1188000">
                      <a:extLst>
                        <a:ext uri="{9D8B030D-6E8A-4147-A177-3AD203B41FA5}">
                          <a16:colId xmlns:a16="http://schemas.microsoft.com/office/drawing/2014/main" val="20001"/>
                        </a:ext>
                      </a:extLst>
                    </a:gridCol>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1.162%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r>
                            <a:rPr lang="en-US" sz="1400" kern="1200" noProof="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ext uri="{D42A27DB-BD31-4B8C-83A1-F6EECF244321}">
                    <p14:modId xmlns:p14="http://schemas.microsoft.com/office/powerpoint/2010/main" val="3973225650"/>
                  </p:ext>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288000">
                    <a:tc gridSpan="2">
                      <a:txBody>
                        <a:bodyPr/>
                        <a:lstStyle/>
                        <a:p>
                          <a:pPr algn="r"/>
                          <a14:m>
                            <m:oMathPara xmlns:m="http://schemas.openxmlformats.org/officeDocument/2006/math">
                              <m:oMathParaPr>
                                <m:jc m:val="left"/>
                              </m:oMathParaPr>
                              <m:oMath>
                                <m:r>
                                  <a:rPr lang="en-US" sz="1800" b="0" i="1" noProof="0" smtClean="0">
                                    <a:latin typeface="Cambria Math"/>
                                  </a:rPr>
                                  <m:t>𝑠ℎ𝑎𝑟𝑒</m:t>
                                </m:r>
                                <m:r>
                                  <a:rPr lang="en-US" sz="1800" b="0" i="1" noProof="0" smtClean="0">
                                    <a:latin typeface="Cambria Math"/>
                                  </a:rPr>
                                  <m:t>=</m:t>
                                </m:r>
                                <m:f>
                                  <m:fPr>
                                    <m:ctrlPr>
                                      <a:rPr lang="en-US" sz="1800" b="0" i="1" noProof="0" smtClean="0">
                                        <a:latin typeface="Cambria Math"/>
                                      </a:rPr>
                                    </m:ctrlPr>
                                  </m:fPr>
                                  <m:num>
                                    <m:r>
                                      <a:rPr lang="en-US" sz="1800" b="0" i="1" noProof="0" smtClean="0">
                                        <a:latin typeface="Cambria Math"/>
                                      </a:rPr>
                                      <m:t>𝐼𝑃</m:t>
                                    </m:r>
                                  </m:num>
                                  <m:den>
                                    <m:nary>
                                      <m:naryPr>
                                        <m:chr m:val="∑"/>
                                        <m:subHide m:val="on"/>
                                        <m:supHide m:val="on"/>
                                        <m:ctrlPr>
                                          <a:rPr lang="en-US" sz="1800" b="0" i="1" noProof="0" smtClean="0">
                                            <a:latin typeface="Cambria Math" panose="02040503050406030204" pitchFamily="18" charset="0"/>
                                          </a:rPr>
                                        </m:ctrlPr>
                                      </m:naryPr>
                                      <m:sub/>
                                      <m:sup/>
                                      <m:e>
                                        <m:r>
                                          <a:rPr lang="en-US" sz="1800" b="0" i="1" noProof="0" smtClean="0">
                                            <a:latin typeface="Cambria Math"/>
                                          </a:rPr>
                                          <m:t>𝐼𝑃</m:t>
                                        </m:r>
                                      </m:e>
                                    </m:nary>
                                  </m:den>
                                </m:f>
                              </m:oMath>
                            </m:oMathPara>
                          </a14:m>
                          <a:endParaRPr lang="en-US" sz="1400" noProof="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21.428%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1.660%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90.511%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9.494%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0.084%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Choice>
        <mc:Fallback xmlns="">
          <p:graphicFrame>
            <p:nvGraphicFramePr>
              <p:cNvPr id="6" name="Tabelle 9"/>
              <p:cNvGraphicFramePr>
                <a:graphicFrameLocks noGrp="1"/>
              </p:cNvGraphicFramePr>
              <p:nvPr>
                <p:extLst>
                  <p:ext uri="{D42A27DB-BD31-4B8C-83A1-F6EECF244321}">
                    <p14:modId xmlns:p14="http://schemas.microsoft.com/office/powerpoint/2010/main" val="3973225650"/>
                  </p:ext>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21.428%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1.660%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90.511%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9.494%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0.084%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ext uri="{D42A27DB-BD31-4B8C-83A1-F6EECF244321}">
                    <p14:modId xmlns:p14="http://schemas.microsoft.com/office/powerpoint/2010/main" val="244227594"/>
                  </p:ext>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12000">
                    <a:tc gridSpan="2">
                      <a:txBody>
                        <a:bodyPr/>
                        <a:lstStyle/>
                        <a:p>
                          <a:pPr marL="0" indent="0" algn="r"/>
                          <a14:m>
                            <m:oMathPara xmlns:m="http://schemas.openxmlformats.org/officeDocument/2006/math">
                              <m:oMathParaPr>
                                <m:jc m:val="left"/>
                              </m:oMathParaPr>
                              <m:oMath>
                                <m:r>
                                  <a:rPr lang="en-US" sz="1800" b="0" i="1" noProof="0" smtClean="0">
                                    <a:latin typeface="Cambria Math"/>
                                  </a:rPr>
                                  <m:t>𝐼𝑃</m:t>
                                </m:r>
                                <m:r>
                                  <a:rPr lang="en-US" sz="1800" b="0" i="1" noProof="0" smtClean="0">
                                    <a:latin typeface="Cambria Math"/>
                                  </a:rPr>
                                  <m:t>=</m:t>
                                </m:r>
                                <m:f>
                                  <m:fPr>
                                    <m:ctrlPr>
                                      <a:rPr lang="en-US" sz="1800" b="0" i="1" noProof="0" smtClean="0">
                                        <a:latin typeface="Cambria Math"/>
                                      </a:rPr>
                                    </m:ctrlPr>
                                  </m:fPr>
                                  <m:num>
                                    <m:r>
                                      <a:rPr lang="en-US" sz="1800" b="0" i="1" noProof="0" smtClean="0">
                                        <a:latin typeface="Cambria Math"/>
                                      </a:rPr>
                                      <m:t>1</m:t>
                                    </m:r>
                                  </m:num>
                                  <m:den>
                                    <m:r>
                                      <a:rPr lang="en-US" sz="1800" b="0" i="1" noProof="0" smtClean="0">
                                        <a:latin typeface="Cambria Math" panose="02040503050406030204" pitchFamily="18" charset="0"/>
                                      </a:rPr>
                                      <m:t>𝑜𝑐𝑐𝑢𝑟𝑠</m:t>
                                    </m:r>
                                  </m:den>
                                </m:f>
                              </m:oMath>
                            </m:oMathPara>
                          </a14:m>
                          <a:endParaRPr lang="en-US" sz="1800" noProof="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0.0005051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0.0000391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0.0001460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0.0000152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Choice>
        <mc:Fallback xmlns="">
          <p:graphicFrame>
            <p:nvGraphicFramePr>
              <p:cNvPr id="7" name="Tabelle 1"/>
              <p:cNvGraphicFramePr>
                <a:graphicFrameLocks noGrp="1"/>
              </p:cNvGraphicFramePr>
              <p:nvPr>
                <p:extLst>
                  <p:ext uri="{D42A27DB-BD31-4B8C-83A1-F6EECF244321}">
                    <p14:modId xmlns:p14="http://schemas.microsoft.com/office/powerpoint/2010/main" val="244227594"/>
                  </p:ext>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0.0005051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0.0000391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0.0001460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0.0000152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433144722"/>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extLst>
                    <a:ext uri="{9D8B030D-6E8A-4147-A177-3AD203B41FA5}">
                      <a16:colId xmlns:a16="http://schemas.microsoft.com/office/drawing/2014/main" val="20000"/>
                    </a:ext>
                  </a:extLst>
                </a:gridCol>
                <a:gridCol w="1836000">
                  <a:extLst>
                    <a:ext uri="{9D8B030D-6E8A-4147-A177-3AD203B41FA5}">
                      <a16:colId xmlns:a16="http://schemas.microsoft.com/office/drawing/2014/main" val="20001"/>
                    </a:ext>
                  </a:extLst>
                </a:gridCol>
                <a:gridCol w="828000">
                  <a:extLst>
                    <a:ext uri="{9D8B030D-6E8A-4147-A177-3AD203B41FA5}">
                      <a16:colId xmlns:a16="http://schemas.microsoft.com/office/drawing/2014/main" val="20002"/>
                    </a:ext>
                  </a:extLst>
                </a:gridCol>
                <a:gridCol w="1116000">
                  <a:extLst>
                    <a:ext uri="{9D8B030D-6E8A-4147-A177-3AD203B41FA5}">
                      <a16:colId xmlns:a16="http://schemas.microsoft.com/office/drawing/2014/main" val="20003"/>
                    </a:ext>
                  </a:extLst>
                </a:gridCol>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solidFill>
                            <a:srgbClr val="00B0F0"/>
                          </a:solidFill>
                        </a:rPr>
                        <a:t>❶</a:t>
                      </a:r>
                      <a:r>
                        <a:rPr lang="en-US" noProof="0" dirty="0">
                          <a:solidFill>
                            <a:schemeClr val="tx1"/>
                          </a:solidFill>
                        </a:rPr>
                        <a:t>name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solidFill>
                            <a:srgbClr val="00B0F0"/>
                          </a:solidFill>
                        </a:rPr>
                        <a:t>❷</a:t>
                      </a:r>
                      <a:r>
                        <a:rPr lang="en-US" noProof="0" dirty="0"/>
                        <a:t>street</a:t>
                      </a:r>
                      <a:endParaRPr lang="en-US" noProof="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noProof="0" dirty="0">
                          <a:solidFill>
                            <a:srgbClr val="00B0F0"/>
                          </a:solidFill>
                        </a:rPr>
                        <a:t>❸</a:t>
                      </a:r>
                      <a:r>
                        <a:rPr lang="en-US" noProof="0" dirty="0">
                          <a:solidFill>
                            <a:schemeClr val="tx1"/>
                          </a:solidFill>
                        </a:rPr>
                        <a:t>zip</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noProof="0" dirty="0">
                          <a:solidFill>
                            <a:srgbClr val="00B0F0"/>
                          </a:solidFill>
                        </a:rPr>
                        <a:t>❹</a:t>
                      </a:r>
                      <a:r>
                        <a:rPr lang="en-US" noProof="0" dirty="0">
                          <a:solidFill>
                            <a:schemeClr val="tx1"/>
                          </a:solidFill>
                        </a:rPr>
                        <a:t>city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r>
                        <a:rPr lang="en-US" sz="1400" noProof="0" dirty="0"/>
                        <a:t>BMW FORSCHUNG</a:t>
                      </a:r>
                      <a:r>
                        <a:rPr lang="en-US" sz="1400" baseline="0" noProof="0" dirty="0"/>
                        <a:t> UND TECHNIK GMBH</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HANAUER</a:t>
                      </a:r>
                      <a:r>
                        <a:rPr lang="en-US" sz="1400" baseline="0" noProof="0" dirty="0"/>
                        <a:t> STRASSE 46</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80992</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MUENCHEN</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aphicFrame>
        <p:nvGraphicFramePr>
          <p:cNvPr id="10" name="Tabelle 5"/>
          <p:cNvGraphicFramePr>
            <a:graphicFrameLocks noGrp="1"/>
          </p:cNvGraphicFramePr>
          <p:nvPr>
            <p:extLst>
              <p:ext uri="{D42A27DB-BD31-4B8C-83A1-F6EECF244321}">
                <p14:modId xmlns:p14="http://schemas.microsoft.com/office/powerpoint/2010/main" val="1853574563"/>
              </p:ext>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extLst>
                    <a:ext uri="{9D8B030D-6E8A-4147-A177-3AD203B41FA5}">
                      <a16:colId xmlns:a16="http://schemas.microsoft.com/office/drawing/2014/main" val="20000"/>
                    </a:ext>
                  </a:extLst>
                </a:gridCol>
                <a:gridCol w="1152000">
                  <a:extLst>
                    <a:ext uri="{9D8B030D-6E8A-4147-A177-3AD203B41FA5}">
                      <a16:colId xmlns:a16="http://schemas.microsoft.com/office/drawing/2014/main" val="20001"/>
                    </a:ext>
                  </a:extLst>
                </a:gridCol>
                <a:gridCol w="1008000">
                  <a:extLst>
                    <a:ext uri="{9D8B030D-6E8A-4147-A177-3AD203B41FA5}">
                      <a16:colId xmlns:a16="http://schemas.microsoft.com/office/drawing/2014/main" val="20002"/>
                    </a:ext>
                  </a:extLst>
                </a:gridCol>
              </a:tblGrid>
              <a:tr h="324000">
                <a:tc>
                  <a:txBody>
                    <a:bodyPr/>
                    <a:lstStyle/>
                    <a:p>
                      <a:pPr algn="ctr"/>
                      <a:r>
                        <a:rPr lang="en-US" sz="1800" noProof="0" dirty="0">
                          <a:solidFill>
                            <a:schemeClr val="bg1"/>
                          </a:solidFill>
                        </a:rPr>
                        <a:t>type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noProof="0" dirty="0"/>
                        <a:t>entry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noProof="0" dirty="0"/>
                        <a:t>occurs</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BMW</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FORSCHUNG</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1980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TECHNIK</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25552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UND</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1190073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GMBH</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3353864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HANAUER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6851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46</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65931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STRASSE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7410645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algn="ctr"/>
                      <a:r>
                        <a:rPr lang="en-US" sz="1400" noProof="0" dirty="0">
                          <a:latin typeface="Courier New" panose="02070309020205020404" pitchFamily="49" charset="0"/>
                          <a:cs typeface="Courier New" panose="02070309020205020404" pitchFamily="49" charset="0"/>
                        </a:rPr>
                        <a:t>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80992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3905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algn="ctr"/>
                      <a:r>
                        <a:rPr lang="en-US" sz="1400" noProof="0" dirty="0">
                          <a:latin typeface="Courier New" panose="02070309020205020404" pitchFamily="49" charset="0"/>
                          <a:cs typeface="Courier New" panose="02070309020205020404" pitchFamily="49" charset="0"/>
                        </a:rPr>
                        <a:t>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MUENCHEN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316874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4"/>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5"/>
                  </a:ext>
                </a:extLst>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noProof="0" smtClean="0"/>
              <a:pPr/>
              <a:t>5</a:t>
            </a:fld>
            <a:endParaRPr lang="en-US" noProof="0"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55995589"/>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extLst>
                    <a:ext uri="{9D8B030D-6E8A-4147-A177-3AD203B41FA5}">
                      <a16:colId xmlns:a16="http://schemas.microsoft.com/office/drawing/2014/main" val="20000"/>
                    </a:ext>
                  </a:extLst>
                </a:gridCol>
                <a:gridCol w="2316607">
                  <a:extLst>
                    <a:ext uri="{9D8B030D-6E8A-4147-A177-3AD203B41FA5}">
                      <a16:colId xmlns:a16="http://schemas.microsoft.com/office/drawing/2014/main" val="20001"/>
                    </a:ext>
                  </a:extLst>
                </a:gridCol>
                <a:gridCol w="747589">
                  <a:extLst>
                    <a:ext uri="{9D8B030D-6E8A-4147-A177-3AD203B41FA5}">
                      <a16:colId xmlns:a16="http://schemas.microsoft.com/office/drawing/2014/main" val="20002"/>
                    </a:ext>
                  </a:extLst>
                </a:gridCol>
                <a:gridCol w="969410">
                  <a:extLst>
                    <a:ext uri="{9D8B030D-6E8A-4147-A177-3AD203B41FA5}">
                      <a16:colId xmlns:a16="http://schemas.microsoft.com/office/drawing/2014/main" val="20003"/>
                    </a:ext>
                  </a:extLst>
                </a:gridCol>
                <a:gridCol w="820800">
                  <a:extLst>
                    <a:ext uri="{9D8B030D-6E8A-4147-A177-3AD203B41FA5}">
                      <a16:colId xmlns:a16="http://schemas.microsoft.com/office/drawing/2014/main" val="20004"/>
                    </a:ext>
                  </a:extLst>
                </a:gridCol>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FORSCHUNG UND TECHNIK 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FORSCHUNG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U</a:t>
                      </a:r>
                      <a:r>
                        <a:rPr lang="en-US" sz="1200" b="1" noProof="0" dirty="0">
                          <a:latin typeface="+mn-lt"/>
                          <a:ea typeface="Cambria Math" panose="02040503050406030204" pitchFamily="18" charset="0"/>
                          <a:cs typeface="Courier New" panose="02070309020205020404" pitchFamily="49" charset="0"/>
                        </a:rPr>
                        <a:t> TECHNIK 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99.98%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a:t>
                      </a:r>
                      <a:r>
                        <a:rPr lang="en-US" sz="1200" b="1" noProof="0" dirty="0">
                          <a:solidFill>
                            <a:schemeClr val="tx1"/>
                          </a:solidFill>
                          <a:latin typeface="+mn-lt"/>
                          <a:ea typeface="Cambria Math" panose="02040503050406030204" pitchFamily="18" charset="0"/>
                          <a:cs typeface="Courier New" panose="02070309020205020404" pitchFamily="49" charset="0"/>
                        </a:rPr>
                        <a:t>TECHNIK</a:t>
                      </a:r>
                      <a:r>
                        <a:rPr lang="en-US" sz="1200" b="1" baseline="0" noProof="0" dirty="0">
                          <a:solidFill>
                            <a:schemeClr val="tx1"/>
                          </a:solidFill>
                          <a:latin typeface="+mn-lt"/>
                          <a:ea typeface="Cambria Math" panose="02040503050406030204" pitchFamily="18" charset="0"/>
                          <a:cs typeface="Courier New" panose="02070309020205020404" pitchFamily="49" charset="0"/>
                        </a:rPr>
                        <a:t> UND </a:t>
                      </a:r>
                      <a:r>
                        <a:rPr lang="en-US" sz="1200" b="1" baseline="0" noProof="0" dirty="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noProof="0" dirty="0">
                          <a:solidFill>
                            <a:schemeClr val="tx1"/>
                          </a:solidFill>
                          <a:latin typeface="+mn-lt"/>
                          <a:ea typeface="Cambria Math" panose="02040503050406030204" pitchFamily="18" charset="0"/>
                          <a:cs typeface="Courier New" panose="02070309020205020404" pitchFamily="49" charset="0"/>
                        </a:rPr>
                        <a:t>GMBH</a:t>
                      </a:r>
                      <a:endParaRPr lang="en-US" sz="1200" b="1" noProof="0" dirty="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84.06%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tx1"/>
                          </a:solidFill>
                          <a:latin typeface="+mn-lt"/>
                          <a:ea typeface="Cambria Math" panose="02040503050406030204" pitchFamily="18" charset="0"/>
                          <a:cs typeface="Courier New" panose="02070309020205020404" pitchFamily="49" charset="0"/>
                        </a:rPr>
                        <a:t>BMW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83.80%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tx1"/>
                          </a:solidFill>
                          <a:latin typeface="+mn-lt"/>
                          <a:ea typeface="Cambria Math" panose="02040503050406030204" pitchFamily="18" charset="0"/>
                          <a:cs typeface="Courier New" panose="02070309020205020404" pitchFamily="49" charset="0"/>
                        </a:rPr>
                        <a:t>BMW</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noProof="0" dirty="0">
                          <a:latin typeface="+mn-lt"/>
                          <a:ea typeface="Cambria Math" panose="02040503050406030204" pitchFamily="18" charset="0"/>
                          <a:cs typeface="Courier New" panose="02070309020205020404" pitchFamily="49" charset="0"/>
                        </a:rPr>
                        <a:t> STRASSE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73.81%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noProof="0" dirty="0">
                  <a:solidFill>
                    <a:schemeClr val="bg1"/>
                  </a:solidFill>
                  <a:latin typeface="Cambria Math" panose="02040503050406030204" pitchFamily="18" charset="0"/>
                  <a:ea typeface="Cambria Math" panose="02040503050406030204" pitchFamily="18" charset="0"/>
                </a:rPr>
                <a:t>Threshold:</a:t>
              </a:r>
              <a:r>
                <a:rPr lang="en-US" noProof="0" dirty="0">
                  <a:solidFill>
                    <a:schemeClr val="bg1"/>
                  </a:solidFill>
                </a:rPr>
                <a:t> </a:t>
              </a:r>
              <a:r>
                <a:rPr lang="en-US" noProof="0" dirty="0">
                  <a:solidFill>
                    <a:schemeClr val="bg1"/>
                  </a:solidFill>
                  <a:latin typeface="Cambria Math" panose="02040503050406030204" pitchFamily="18" charset="0"/>
                  <a:ea typeface="Cambria Math" panose="02040503050406030204" pitchFamily="18" charset="0"/>
                </a:rPr>
                <a:t>70%</a:t>
              </a: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noProof="0" dirty="0"/>
              <a:t>Relative Identity</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6</a:t>
            </a:fld>
            <a:endParaRPr lang="en-US" noProof="0"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3857022217"/>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extLst>
                        <a:ext uri="{9D8B030D-6E8A-4147-A177-3AD203B41FA5}">
                          <a16:colId xmlns:a16="http://schemas.microsoft.com/office/drawing/2014/main" val="20000"/>
                        </a:ext>
                      </a:extLst>
                    </a:gridCol>
                    <a:gridCol w="1134747">
                      <a:extLst>
                        <a:ext uri="{9D8B030D-6E8A-4147-A177-3AD203B41FA5}">
                          <a16:colId xmlns:a16="http://schemas.microsoft.com/office/drawing/2014/main" val="20001"/>
                        </a:ext>
                      </a:extLst>
                    </a:gridCol>
                    <a:gridCol w="453899">
                      <a:extLst>
                        <a:ext uri="{9D8B030D-6E8A-4147-A177-3AD203B41FA5}">
                          <a16:colId xmlns:a16="http://schemas.microsoft.com/office/drawing/2014/main" val="20002"/>
                        </a:ext>
                      </a:extLst>
                    </a:gridCol>
                    <a:gridCol w="1021272">
                      <a:extLst>
                        <a:ext uri="{9D8B030D-6E8A-4147-A177-3AD203B41FA5}">
                          <a16:colId xmlns:a16="http://schemas.microsoft.com/office/drawing/2014/main" val="20003"/>
                        </a:ext>
                      </a:extLst>
                    </a:gridCol>
                    <a:gridCol w="643393">
                      <a:extLst>
                        <a:ext uri="{9D8B030D-6E8A-4147-A177-3AD203B41FA5}">
                          <a16:colId xmlns:a16="http://schemas.microsoft.com/office/drawing/2014/main" val="20004"/>
                        </a:ext>
                      </a:extLst>
                    </a:gridCol>
                    <a:gridCol w="907798">
                      <a:extLst>
                        <a:ext uri="{9D8B030D-6E8A-4147-A177-3AD203B41FA5}">
                          <a16:colId xmlns:a16="http://schemas.microsoft.com/office/drawing/2014/main" val="20005"/>
                        </a:ext>
                      </a:extLst>
                    </a:gridCol>
                    <a:gridCol w="907798">
                      <a:extLst>
                        <a:ext uri="{9D8B030D-6E8A-4147-A177-3AD203B41FA5}">
                          <a16:colId xmlns:a16="http://schemas.microsoft.com/office/drawing/2014/main" val="20006"/>
                        </a:ext>
                      </a:extLst>
                    </a:gridCol>
                    <a:gridCol w="501011">
                      <a:extLst>
                        <a:ext uri="{9D8B030D-6E8A-4147-A177-3AD203B41FA5}">
                          <a16:colId xmlns:a16="http://schemas.microsoft.com/office/drawing/2014/main" val="20007"/>
                        </a:ext>
                      </a:extLst>
                    </a:gridCol>
                    <a:gridCol w="747589">
                      <a:extLst>
                        <a:ext uri="{9D8B030D-6E8A-4147-A177-3AD203B41FA5}">
                          <a16:colId xmlns:a16="http://schemas.microsoft.com/office/drawing/2014/main" val="20008"/>
                        </a:ext>
                      </a:extLst>
                    </a:gridCol>
                    <a:gridCol w="969410">
                      <a:extLst>
                        <a:ext uri="{9D8B030D-6E8A-4147-A177-3AD203B41FA5}">
                          <a16:colId xmlns:a16="http://schemas.microsoft.com/office/drawing/2014/main" val="20009"/>
                        </a:ext>
                      </a:extLst>
                    </a:gridCol>
                    <a:gridCol w="828000">
                      <a:extLst>
                        <a:ext uri="{9D8B030D-6E8A-4147-A177-3AD203B41FA5}">
                          <a16:colId xmlns:a16="http://schemas.microsoft.com/office/drawing/2014/main" val="20010"/>
                        </a:ext>
                      </a:extLst>
                    </a:gridCol>
                  </a:tblGrid>
                  <a:tr h="324000">
                    <a:tc gridSpan="5">
                      <a:txBody>
                        <a:bodyPr/>
                        <a:lstStyle/>
                        <a:p>
                          <a:r>
                            <a:rPr lang="en-US" noProof="0" dirty="0">
                              <a:solidFill>
                                <a:srgbClr val="00B0F0"/>
                              </a:solidFill>
                            </a:rPr>
                            <a:t>❶</a:t>
                          </a:r>
                          <a:r>
                            <a:rPr lang="en-US" noProof="0" dirty="0"/>
                            <a:t>name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noProof="0" dirty="0">
                              <a:solidFill>
                                <a:srgbClr val="00B0F0"/>
                              </a:solidFill>
                            </a:rPr>
                            <a:t>❷</a:t>
                          </a:r>
                          <a:r>
                            <a:rPr lang="en-US" noProof="0" dirty="0"/>
                            <a:t>street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noProof="0" dirty="0">
                              <a:solidFill>
                                <a:srgbClr val="00B0F0"/>
                              </a:solidFill>
                            </a:rPr>
                            <a:t>❸</a:t>
                          </a:r>
                          <a:r>
                            <a:rPr lang="en-US" noProof="0" dirty="0"/>
                            <a:t>zip</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noProof="0" dirty="0">
                              <a:solidFill>
                                <a:srgbClr val="00B0F0"/>
                              </a:solidFill>
                            </a:rPr>
                            <a:t>❹</a:t>
                          </a:r>
                          <a:r>
                            <a:rPr lang="en-US" noProof="0" dirty="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
                                <m:nary>
                                  <m:naryPr>
                                    <m:chr m:val="∑"/>
                                    <m:subHide m:val="on"/>
                                    <m:supHide m:val="on"/>
                                    <m:ctrlPr>
                                      <a:rPr lang="en-US" sz="1600" b="0" i="1" noProof="0" smtClean="0">
                                        <a:solidFill>
                                          <a:schemeClr val="tx1"/>
                                        </a:solidFill>
                                        <a:latin typeface="Cambria Math" panose="02040503050406030204" pitchFamily="18" charset="0"/>
                                      </a:rPr>
                                    </m:ctrlPr>
                                  </m:naryPr>
                                  <m:sub/>
                                  <m:sup/>
                                  <m:e>
                                    <m:r>
                                      <a:rPr lang="en-US" sz="1600" b="0" i="1" noProof="0" smtClean="0">
                                        <a:solidFill>
                                          <a:schemeClr val="tx1"/>
                                        </a:solidFill>
                                        <a:latin typeface="Cambria Math"/>
                                      </a:rPr>
                                      <m:t>𝑟𝐼</m:t>
                                    </m:r>
                                    <m:r>
                                      <a:rPr lang="en-US" sz="1600" b="0" i="1" noProof="0" smtClean="0">
                                        <a:solidFill>
                                          <a:schemeClr val="tx1"/>
                                        </a:solidFill>
                                        <a:latin typeface="Cambria Math" panose="02040503050406030204" pitchFamily="18" charset="0"/>
                                      </a:rPr>
                                      <m:t>𝑃</m:t>
                                    </m:r>
                                  </m:e>
                                </m:nary>
                              </m:oMath>
                            </m:oMathPara>
                          </a14:m>
                          <a:endParaRPr lang="en-US" sz="1600" b="0" noProof="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000">
                    <a:tc>
                      <a:txBody>
                        <a:bodyPr/>
                        <a:lstStyle/>
                        <a:p>
                          <a:pPr algn="ctr"/>
                          <a:r>
                            <a:rPr lang="en-US" sz="1200" b="1" noProof="0" dirty="0">
                              <a:latin typeface="+mn-lt"/>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FORSCHUNG</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UND</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TECHNIK</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HANAUER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15.0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9.1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0.9</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3857022217"/>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extLst>
                        <a:ext uri="{9D8B030D-6E8A-4147-A177-3AD203B41FA5}">
                          <a16:colId xmlns:a16="http://schemas.microsoft.com/office/drawing/2014/main" val="20000"/>
                        </a:ext>
                      </a:extLst>
                    </a:gridCol>
                    <a:gridCol w="1134747">
                      <a:extLst>
                        <a:ext uri="{9D8B030D-6E8A-4147-A177-3AD203B41FA5}">
                          <a16:colId xmlns:a16="http://schemas.microsoft.com/office/drawing/2014/main" val="20001"/>
                        </a:ext>
                      </a:extLst>
                    </a:gridCol>
                    <a:gridCol w="453899">
                      <a:extLst>
                        <a:ext uri="{9D8B030D-6E8A-4147-A177-3AD203B41FA5}">
                          <a16:colId xmlns:a16="http://schemas.microsoft.com/office/drawing/2014/main" val="20002"/>
                        </a:ext>
                      </a:extLst>
                    </a:gridCol>
                    <a:gridCol w="1021272">
                      <a:extLst>
                        <a:ext uri="{9D8B030D-6E8A-4147-A177-3AD203B41FA5}">
                          <a16:colId xmlns:a16="http://schemas.microsoft.com/office/drawing/2014/main" val="20003"/>
                        </a:ext>
                      </a:extLst>
                    </a:gridCol>
                    <a:gridCol w="643393">
                      <a:extLst>
                        <a:ext uri="{9D8B030D-6E8A-4147-A177-3AD203B41FA5}">
                          <a16:colId xmlns:a16="http://schemas.microsoft.com/office/drawing/2014/main" val="20004"/>
                        </a:ext>
                      </a:extLst>
                    </a:gridCol>
                    <a:gridCol w="907798">
                      <a:extLst>
                        <a:ext uri="{9D8B030D-6E8A-4147-A177-3AD203B41FA5}">
                          <a16:colId xmlns:a16="http://schemas.microsoft.com/office/drawing/2014/main" val="20005"/>
                        </a:ext>
                      </a:extLst>
                    </a:gridCol>
                    <a:gridCol w="907798">
                      <a:extLst>
                        <a:ext uri="{9D8B030D-6E8A-4147-A177-3AD203B41FA5}">
                          <a16:colId xmlns:a16="http://schemas.microsoft.com/office/drawing/2014/main" val="20006"/>
                        </a:ext>
                      </a:extLst>
                    </a:gridCol>
                    <a:gridCol w="501011">
                      <a:extLst>
                        <a:ext uri="{9D8B030D-6E8A-4147-A177-3AD203B41FA5}">
                          <a16:colId xmlns:a16="http://schemas.microsoft.com/office/drawing/2014/main" val="20007"/>
                        </a:ext>
                      </a:extLst>
                    </a:gridCol>
                    <a:gridCol w="747589">
                      <a:extLst>
                        <a:ext uri="{9D8B030D-6E8A-4147-A177-3AD203B41FA5}">
                          <a16:colId xmlns:a16="http://schemas.microsoft.com/office/drawing/2014/main" val="20008"/>
                        </a:ext>
                      </a:extLst>
                    </a:gridCol>
                    <a:gridCol w="969410">
                      <a:extLst>
                        <a:ext uri="{9D8B030D-6E8A-4147-A177-3AD203B41FA5}">
                          <a16:colId xmlns:a16="http://schemas.microsoft.com/office/drawing/2014/main" val="20009"/>
                        </a:ext>
                      </a:extLst>
                    </a:gridCol>
                    <a:gridCol w="828000">
                      <a:extLst>
                        <a:ext uri="{9D8B030D-6E8A-4147-A177-3AD203B41FA5}">
                          <a16:colId xmlns:a16="http://schemas.microsoft.com/office/drawing/2014/main" val="20010"/>
                        </a:ext>
                      </a:extLst>
                    </a:gridCol>
                  </a:tblGrid>
                  <a:tr h="365760">
                    <a:tc gridSpan="5">
                      <a:txBody>
                        <a:bodyPr/>
                        <a:lstStyle/>
                        <a:p>
                          <a:r>
                            <a:rPr lang="en-US" noProof="0" dirty="0">
                              <a:solidFill>
                                <a:srgbClr val="00B0F0"/>
                              </a:solidFill>
                            </a:rPr>
                            <a:t>❶</a:t>
                          </a:r>
                          <a:r>
                            <a:rPr lang="en-US" noProof="0" dirty="0"/>
                            <a:t>name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noProof="0" dirty="0">
                              <a:solidFill>
                                <a:srgbClr val="00B0F0"/>
                              </a:solidFill>
                            </a:rPr>
                            <a:t>❷</a:t>
                          </a:r>
                          <a:r>
                            <a:rPr lang="en-US" noProof="0" dirty="0"/>
                            <a:t>street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noProof="0" dirty="0">
                              <a:solidFill>
                                <a:srgbClr val="00B0F0"/>
                              </a:solidFill>
                            </a:rPr>
                            <a:t>❸</a:t>
                          </a:r>
                          <a:r>
                            <a:rPr lang="en-US" noProof="0" dirty="0"/>
                            <a:t>zip</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noProof="0" dirty="0">
                              <a:solidFill>
                                <a:srgbClr val="00B0F0"/>
                              </a:solidFill>
                            </a:rPr>
                            <a:t>❹</a:t>
                          </a:r>
                          <a:r>
                            <a:rPr lang="en-US" noProof="0" dirty="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a:blip r:embed="rId2"/>
                          <a:stretch>
                            <a:fillRect l="-934559" t="-4425" r="-1471" b="-52212"/>
                          </a:stretch>
                        </a:blipFill>
                      </a:tcPr>
                    </a:tc>
                    <a:extLst>
                      <a:ext uri="{0D108BD9-81ED-4DB2-BD59-A6C34878D82A}">
                        <a16:rowId xmlns:a16="http://schemas.microsoft.com/office/drawing/2014/main" val="10000"/>
                      </a:ext>
                    </a:extLst>
                  </a:tr>
                  <a:tr h="316167">
                    <a:tc>
                      <a:txBody>
                        <a:bodyPr/>
                        <a:lstStyle/>
                        <a:p>
                          <a:pPr algn="ctr"/>
                          <a:r>
                            <a:rPr lang="en-US" sz="1200" b="1" noProof="0" dirty="0">
                              <a:latin typeface="+mn-lt"/>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FORSCHUNG</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UND</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TECHNIK</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HANAUER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15.0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9.1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0.9</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73373618"/>
              </p:ext>
            </p:extLst>
          </p:nvPr>
        </p:nvGraphicFramePr>
        <p:xfrm>
          <a:off x="251520" y="2132416"/>
          <a:ext cx="8514199" cy="609600"/>
        </p:xfrm>
        <a:graphic>
          <a:graphicData uri="http://schemas.openxmlformats.org/drawingml/2006/table">
            <a:tbl>
              <a:tblPr firstRow="1" bandRow="1"/>
              <a:tblGrid>
                <a:gridCol w="3508883">
                  <a:extLst>
                    <a:ext uri="{9D8B030D-6E8A-4147-A177-3AD203B41FA5}">
                      <a16:colId xmlns:a16="http://schemas.microsoft.com/office/drawing/2014/main" val="20000"/>
                    </a:ext>
                  </a:extLst>
                </a:gridCol>
                <a:gridCol w="2485781">
                  <a:extLst>
                    <a:ext uri="{9D8B030D-6E8A-4147-A177-3AD203B41FA5}">
                      <a16:colId xmlns:a16="http://schemas.microsoft.com/office/drawing/2014/main" val="20001"/>
                    </a:ext>
                  </a:extLst>
                </a:gridCol>
                <a:gridCol w="719535">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828000">
                  <a:extLst>
                    <a:ext uri="{9D8B030D-6E8A-4147-A177-3AD203B41FA5}">
                      <a16:colId xmlns:a16="http://schemas.microsoft.com/office/drawing/2014/main" val="20004"/>
                    </a:ext>
                  </a:extLst>
                </a:gridCol>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noProof="0" dirty="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noProof="0" dirty="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noProof="0"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noProof="0" dirty="0">
                          <a:latin typeface="Courier New" panose="02070309020205020404" pitchFamily="49" charset="0"/>
                          <a:ea typeface="Cambria Math" panose="02040503050406030204" pitchFamily="18" charset="0"/>
                          <a:cs typeface="Courier New" panose="02070309020205020404" pitchFamily="49" charset="0"/>
                        </a:rPr>
                        <a:t>DACHAUER STRASSE 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noProof="0" dirty="0">
                          <a:latin typeface="Courier New" panose="02070309020205020404" pitchFamily="49" charset="0"/>
                          <a:ea typeface="Cambria Math" panose="02040503050406030204" pitchFamily="18" charset="0"/>
                          <a:cs typeface="Courier New" panose="02070309020205020404" pitchFamily="49" charset="0"/>
                        </a:rPr>
                        <a:t>MAENNERCHOR </a:t>
                      </a:r>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noProof="0" dirty="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71.23%</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a:ln>
                    <a:noFill/>
                  </a:ln>
                  <a:solidFill>
                    <a:prstClr val="white"/>
                  </a:solidFill>
                  <a:effectLst/>
                  <a:uLnTx/>
                  <a:uFillTx/>
                </a:rPr>
                <a:t> </a:t>
              </a:r>
              <a:r>
                <a:rPr kumimoji="0" lang="en-US" sz="1800" b="0" i="0" u="none" strike="noStrike" kern="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2699393722"/>
                  </p:ext>
                </p:extLst>
              </p:nvPr>
            </p:nvGraphicFramePr>
            <p:xfrm>
              <a:off x="251520" y="1052736"/>
              <a:ext cx="8514199" cy="986727"/>
            </p:xfrm>
            <a:graphic>
              <a:graphicData uri="http://schemas.openxmlformats.org/drawingml/2006/table">
                <a:tbl>
                  <a:tblPr firstRow="1" bandRow="1"/>
                  <a:tblGrid>
                    <a:gridCol w="540000">
                      <a:extLst>
                        <a:ext uri="{9D8B030D-6E8A-4147-A177-3AD203B41FA5}">
                          <a16:colId xmlns:a16="http://schemas.microsoft.com/office/drawing/2014/main" val="20000"/>
                        </a:ext>
                      </a:extLst>
                    </a:gridCol>
                    <a:gridCol w="1584176">
                      <a:extLst>
                        <a:ext uri="{9D8B030D-6E8A-4147-A177-3AD203B41FA5}">
                          <a16:colId xmlns:a16="http://schemas.microsoft.com/office/drawing/2014/main" val="20001"/>
                        </a:ext>
                      </a:extLst>
                    </a:gridCol>
                    <a:gridCol w="1024707">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1045316">
                      <a:extLst>
                        <a:ext uri="{9D8B030D-6E8A-4147-A177-3AD203B41FA5}">
                          <a16:colId xmlns:a16="http://schemas.microsoft.com/office/drawing/2014/main" val="20004"/>
                        </a:ext>
                      </a:extLst>
                    </a:gridCol>
                    <a:gridCol w="1062000">
                      <a:extLst>
                        <a:ext uri="{9D8B030D-6E8A-4147-A177-3AD203B41FA5}">
                          <a16:colId xmlns:a16="http://schemas.microsoft.com/office/drawing/2014/main" val="20005"/>
                        </a:ext>
                      </a:extLst>
                    </a:gridCol>
                    <a:gridCol w="378465">
                      <a:extLst>
                        <a:ext uri="{9D8B030D-6E8A-4147-A177-3AD203B41FA5}">
                          <a16:colId xmlns:a16="http://schemas.microsoft.com/office/drawing/2014/main" val="20006"/>
                        </a:ext>
                      </a:extLst>
                    </a:gridCol>
                    <a:gridCol w="719535">
                      <a:extLst>
                        <a:ext uri="{9D8B030D-6E8A-4147-A177-3AD203B41FA5}">
                          <a16:colId xmlns:a16="http://schemas.microsoft.com/office/drawing/2014/main" val="20007"/>
                        </a:ext>
                      </a:extLst>
                    </a:gridCol>
                    <a:gridCol w="972000">
                      <a:extLst>
                        <a:ext uri="{9D8B030D-6E8A-4147-A177-3AD203B41FA5}">
                          <a16:colId xmlns:a16="http://schemas.microsoft.com/office/drawing/2014/main" val="20008"/>
                        </a:ext>
                      </a:extLst>
                    </a:gridCol>
                    <a:gridCol w="828000">
                      <a:extLst>
                        <a:ext uri="{9D8B030D-6E8A-4147-A177-3AD203B41FA5}">
                          <a16:colId xmlns:a16="http://schemas.microsoft.com/office/drawing/2014/main" val="20009"/>
                        </a:ext>
                      </a:extLst>
                    </a:gridCol>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❶</a:t>
                          </a:r>
                          <a:r>
                            <a:rPr lang="en-US" noProof="0" dirty="0"/>
                            <a:t>name</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❷</a:t>
                          </a:r>
                          <a:r>
                            <a:rPr lang="en-US" noProof="0" dirty="0"/>
                            <a:t>street</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❸</a:t>
                          </a:r>
                          <a:r>
                            <a:rPr lang="en-US" noProof="0" dirty="0"/>
                            <a:t>zip</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❹</a:t>
                          </a:r>
                          <a:r>
                            <a:rPr lang="en-US" noProof="0" dirty="0"/>
                            <a:t>city</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
                                <m:nary>
                                  <m:naryPr>
                                    <m:chr m:val="∑"/>
                                    <m:subHide m:val="on"/>
                                    <m:supHide m:val="on"/>
                                    <m:ctrlPr>
                                      <a:rPr lang="en-US" sz="1600" b="0" i="1" noProof="0" smtClean="0">
                                        <a:solidFill>
                                          <a:schemeClr val="tx1"/>
                                        </a:solidFill>
                                        <a:latin typeface="Cambria Math" panose="02040503050406030204" pitchFamily="18" charset="0"/>
                                      </a:rPr>
                                    </m:ctrlPr>
                                  </m:naryPr>
                                  <m:sub/>
                                  <m:sup/>
                                  <m:e>
                                    <m:r>
                                      <a:rPr lang="en-US" sz="1600" b="0" i="1" noProof="0" smtClean="0">
                                        <a:solidFill>
                                          <a:schemeClr val="tx1"/>
                                        </a:solidFill>
                                        <a:latin typeface="Cambria Math"/>
                                      </a:rPr>
                                      <m:t>𝑟</m:t>
                                    </m:r>
                                    <m:r>
                                      <a:rPr lang="en-US" sz="1600" b="0" i="1" noProof="0" smtClean="0">
                                        <a:solidFill>
                                          <a:schemeClr val="tx1"/>
                                        </a:solidFill>
                                        <a:latin typeface="Cambria Math" panose="02040503050406030204" pitchFamily="18" charset="0"/>
                                      </a:rPr>
                                      <m:t>𝐼𝑃</m:t>
                                    </m:r>
                                  </m:e>
                                </m:nary>
                              </m:oMath>
                            </m:oMathPara>
                          </a14:m>
                          <a:endParaRPr lang="en-US" sz="1600" b="0" noProof="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noProof="0" dirty="0">
                              <a:solidFill>
                                <a:schemeClr val="tx1"/>
                              </a:solidFill>
                              <a:latin typeface="Calibri"/>
                              <a:ea typeface="+mn-ea"/>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Calibri" panose="020F0502020204030204" pitchFamily="34" charset="0"/>
                              <a:cs typeface="Calibri" panose="020F0502020204030204" pitchFamily="34" charset="0"/>
                            </a:rPr>
                            <a:t>MAENNERCHOR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cs typeface="Courier New" panose="02070309020205020404" pitchFamily="49" charset="0"/>
                            </a:rPr>
                            <a:t>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DACHAUER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8.8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2699393722"/>
                  </p:ext>
                </p:extLst>
              </p:nvPr>
            </p:nvGraphicFramePr>
            <p:xfrm>
              <a:off x="251520" y="1052736"/>
              <a:ext cx="8514199" cy="986727"/>
            </p:xfrm>
            <a:graphic>
              <a:graphicData uri="http://schemas.openxmlformats.org/drawingml/2006/table">
                <a:tbl>
                  <a:tblPr firstRow="1" bandRow="1"/>
                  <a:tblGrid>
                    <a:gridCol w="540000">
                      <a:extLst>
                        <a:ext uri="{9D8B030D-6E8A-4147-A177-3AD203B41FA5}">
                          <a16:colId xmlns:a16="http://schemas.microsoft.com/office/drawing/2014/main" val="20000"/>
                        </a:ext>
                      </a:extLst>
                    </a:gridCol>
                    <a:gridCol w="1584176">
                      <a:extLst>
                        <a:ext uri="{9D8B030D-6E8A-4147-A177-3AD203B41FA5}">
                          <a16:colId xmlns:a16="http://schemas.microsoft.com/office/drawing/2014/main" val="20001"/>
                        </a:ext>
                      </a:extLst>
                    </a:gridCol>
                    <a:gridCol w="1024707">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1045316">
                      <a:extLst>
                        <a:ext uri="{9D8B030D-6E8A-4147-A177-3AD203B41FA5}">
                          <a16:colId xmlns:a16="http://schemas.microsoft.com/office/drawing/2014/main" val="20004"/>
                        </a:ext>
                      </a:extLst>
                    </a:gridCol>
                    <a:gridCol w="1062000">
                      <a:extLst>
                        <a:ext uri="{9D8B030D-6E8A-4147-A177-3AD203B41FA5}">
                          <a16:colId xmlns:a16="http://schemas.microsoft.com/office/drawing/2014/main" val="20005"/>
                        </a:ext>
                      </a:extLst>
                    </a:gridCol>
                    <a:gridCol w="378465">
                      <a:extLst>
                        <a:ext uri="{9D8B030D-6E8A-4147-A177-3AD203B41FA5}">
                          <a16:colId xmlns:a16="http://schemas.microsoft.com/office/drawing/2014/main" val="20006"/>
                        </a:ext>
                      </a:extLst>
                    </a:gridCol>
                    <a:gridCol w="719535">
                      <a:extLst>
                        <a:ext uri="{9D8B030D-6E8A-4147-A177-3AD203B41FA5}">
                          <a16:colId xmlns:a16="http://schemas.microsoft.com/office/drawing/2014/main" val="20007"/>
                        </a:ext>
                      </a:extLst>
                    </a:gridCol>
                    <a:gridCol w="972000">
                      <a:extLst>
                        <a:ext uri="{9D8B030D-6E8A-4147-A177-3AD203B41FA5}">
                          <a16:colId xmlns:a16="http://schemas.microsoft.com/office/drawing/2014/main" val="20008"/>
                        </a:ext>
                      </a:extLst>
                    </a:gridCol>
                    <a:gridCol w="828000">
                      <a:extLst>
                        <a:ext uri="{9D8B030D-6E8A-4147-A177-3AD203B41FA5}">
                          <a16:colId xmlns:a16="http://schemas.microsoft.com/office/drawing/2014/main" val="20009"/>
                        </a:ext>
                      </a:extLst>
                    </a:gridCol>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❶</a:t>
                          </a:r>
                          <a:r>
                            <a:rPr lang="en-US" noProof="0" dirty="0"/>
                            <a:t>name</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❷</a:t>
                          </a:r>
                          <a:r>
                            <a:rPr lang="en-US" noProof="0" dirty="0"/>
                            <a:t>street</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❸</a:t>
                          </a:r>
                          <a:r>
                            <a:rPr lang="en-US" noProof="0" dirty="0"/>
                            <a:t>zip</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❹</a:t>
                          </a:r>
                          <a:r>
                            <a:rPr lang="en-US" noProof="0" dirty="0"/>
                            <a:t>city</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a:blip r:embed="rId2"/>
                          <a:stretch>
                            <a:fillRect l="-927941" t="-4425" r="-2206" b="-52212"/>
                          </a:stretch>
                        </a:blipFill>
                      </a:tcPr>
                    </a:tc>
                    <a:extLst>
                      <a:ext uri="{0D108BD9-81ED-4DB2-BD59-A6C34878D82A}">
                        <a16:rowId xmlns:a16="http://schemas.microsoft.com/office/drawing/2014/main" val="10000"/>
                      </a:ext>
                    </a:extLst>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noProof="0" dirty="0">
                              <a:solidFill>
                                <a:schemeClr val="tx1"/>
                              </a:solidFill>
                              <a:latin typeface="Calibri"/>
                              <a:ea typeface="+mn-ea"/>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Calibri" panose="020F0502020204030204" pitchFamily="34" charset="0"/>
                              <a:cs typeface="Calibri" panose="020F0502020204030204" pitchFamily="34" charset="0"/>
                            </a:rPr>
                            <a:t>MAENNERCHOR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cs typeface="Courier New" panose="02070309020205020404" pitchFamily="49" charset="0"/>
                            </a:rPr>
                            <a:t>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DACHAUER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8.8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noProof="0" smtClean="0"/>
              <a:pPr/>
              <a:t>7</a:t>
            </a:fld>
            <a:endParaRPr lang="en-US" noProof="0"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el 1"/>
          <p:cNvSpPr>
            <a:spLocks noGrp="1"/>
          </p:cNvSpPr>
          <p:nvPr>
            <p:ph type="title"/>
          </p:nvPr>
        </p:nvSpPr>
        <p:spPr/>
        <p:txBody>
          <a:bodyPr/>
          <a:lstStyle/>
          <a:p>
            <a:r>
              <a:rPr lang="en-US" noProof="0" dirty="0"/>
              <a:t>Candidate Retrieval</a:t>
            </a:r>
          </a:p>
        </p:txBody>
      </p:sp>
      <p:graphicFrame>
        <p:nvGraphicFramePr>
          <p:cNvPr id="52" name="Tabelle 5"/>
          <p:cNvGraphicFramePr>
            <a:graphicFrameLocks noGrp="1"/>
          </p:cNvGraphicFramePr>
          <p:nvPr>
            <p:extLst>
              <p:ext uri="{D42A27DB-BD31-4B8C-83A1-F6EECF244321}">
                <p14:modId xmlns:p14="http://schemas.microsoft.com/office/powerpoint/2010/main" val="404172381"/>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extLst>
                    <a:ext uri="{9D8B030D-6E8A-4147-A177-3AD203B41FA5}">
                      <a16:colId xmlns:a16="http://schemas.microsoft.com/office/drawing/2014/main" val="20000"/>
                    </a:ext>
                  </a:extLst>
                </a:gridCol>
                <a:gridCol w="1152000">
                  <a:extLst>
                    <a:ext uri="{9D8B030D-6E8A-4147-A177-3AD203B41FA5}">
                      <a16:colId xmlns:a16="http://schemas.microsoft.com/office/drawing/2014/main" val="20001"/>
                    </a:ext>
                  </a:extLst>
                </a:gridCol>
                <a:gridCol w="1008000">
                  <a:extLst>
                    <a:ext uri="{9D8B030D-6E8A-4147-A177-3AD203B41FA5}">
                      <a16:colId xmlns:a16="http://schemas.microsoft.com/office/drawing/2014/main" val="20002"/>
                    </a:ext>
                  </a:extLst>
                </a:gridCol>
              </a:tblGrid>
              <a:tr h="324000">
                <a:tc>
                  <a:txBody>
                    <a:bodyPr/>
                    <a:lstStyle/>
                    <a:p>
                      <a:pPr algn="ctr"/>
                      <a:r>
                        <a:rPr lang="en-US" sz="1800" noProof="0" dirty="0">
                          <a:solidFill>
                            <a:schemeClr val="bg1"/>
                          </a:solidFill>
                        </a:rPr>
                        <a:t>type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noProof="0" dirty="0">
                          <a:solidFill>
                            <a:schemeClr val="bg1"/>
                          </a:solidFill>
                        </a:rPr>
                        <a:t>entry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noProof="0" dirty="0">
                          <a:solidFill>
                            <a:schemeClr val="bg1"/>
                          </a:solidFill>
                        </a:rPr>
                        <a:t>occurs</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BMW</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06000">
                <a:tc>
                  <a:txBody>
                    <a:bodyPr/>
                    <a:lstStyle/>
                    <a:p>
                      <a:pPr algn="ctr"/>
                      <a:r>
                        <a:rPr lang="en-US" sz="1400" noProof="0" dirty="0">
                          <a:latin typeface="Courier New" panose="02070309020205020404" pitchFamily="49" charset="0"/>
                          <a:cs typeface="Courier New" panose="02070309020205020404" pitchFamily="49" charset="0"/>
                        </a:rPr>
                        <a:t>3</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noProof="0" dirty="0">
                          <a:latin typeface="Courier New" panose="02070309020205020404" pitchFamily="49" charset="0"/>
                          <a:cs typeface="Courier New" panose="02070309020205020404" pitchFamily="49" charset="0"/>
                        </a:rPr>
                        <a:t>LENIN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6000">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FORSCHUNG</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1980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2000">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 </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ctr"/>
                      <a:r>
                        <a:rPr lang="en-US" sz="1400" noProof="0" dirty="0">
                          <a:latin typeface="Courier New" panose="02070309020205020404" pitchFamily="49" charset="0"/>
                          <a:cs typeface="Courier New" panose="02070309020205020404" pitchFamily="49" charset="0"/>
                        </a:rPr>
                        <a:t>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80992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3950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ctr"/>
                      <a:endParaRPr lang="en-US" sz="1400" noProof="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412701297"/>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index</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4636758</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4637310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7854367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7856347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11241655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11245605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2156731</a:t>
            </a:r>
          </a:p>
        </p:txBody>
      </p:sp>
      <p:graphicFrame>
        <p:nvGraphicFramePr>
          <p:cNvPr id="218" name="Tabelle 5"/>
          <p:cNvGraphicFramePr>
            <a:graphicFrameLocks noGrp="1"/>
          </p:cNvGraphicFramePr>
          <p:nvPr>
            <p:extLst>
              <p:ext uri="{D42A27DB-BD31-4B8C-83A1-F6EECF244321}">
                <p14:modId xmlns:p14="http://schemas.microsoft.com/office/powerpoint/2010/main" val="79462380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target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10187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15633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27996</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7267831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noProof="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aphicFrame>
        <p:nvGraphicFramePr>
          <p:cNvPr id="240" name="Tabelle 5"/>
          <p:cNvGraphicFramePr>
            <a:graphicFrameLocks noGrp="1"/>
          </p:cNvGraphicFramePr>
          <p:nvPr>
            <p:extLst>
              <p:ext uri="{D42A27DB-BD31-4B8C-83A1-F6EECF244321}">
                <p14:modId xmlns:p14="http://schemas.microsoft.com/office/powerpoint/2010/main" val="2138332557"/>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extLst>
                    <a:ext uri="{9D8B030D-6E8A-4147-A177-3AD203B41FA5}">
                      <a16:colId xmlns:a16="http://schemas.microsoft.com/office/drawing/2014/main" val="20000"/>
                    </a:ext>
                  </a:extLst>
                </a:gridCol>
              </a:tblGrid>
              <a:tr h="362611">
                <a:tc>
                  <a:txBody>
                    <a:bodyPr/>
                    <a:lstStyle/>
                    <a:p>
                      <a:pPr marL="0" indent="0" algn="ctr"/>
                      <a:r>
                        <a:rPr lang="en-US" sz="1800" noProof="0" dirty="0">
                          <a:solidFill>
                            <a:schemeClr val="bg1"/>
                          </a:solidFill>
                        </a:rPr>
                        <a:t>BUFFER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3813389">
                <a:tc>
                  <a:txBody>
                    <a:bodyPr/>
                    <a:lstStyle/>
                    <a:p>
                      <a:pPr algn="r"/>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2566962901"/>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extLst>
                    <a:ext uri="{9D8B030D-6E8A-4147-A177-3AD203B41FA5}">
                      <a16:colId xmlns:a16="http://schemas.microsoft.com/office/drawing/2014/main" val="20000"/>
                    </a:ext>
                  </a:extLst>
                </a:gridCol>
                <a:gridCol w="1216280">
                  <a:extLst>
                    <a:ext uri="{9D8B030D-6E8A-4147-A177-3AD203B41FA5}">
                      <a16:colId xmlns:a16="http://schemas.microsoft.com/office/drawing/2014/main" val="20001"/>
                    </a:ext>
                  </a:extLst>
                </a:gridCol>
                <a:gridCol w="784280">
                  <a:extLst>
                    <a:ext uri="{9D8B030D-6E8A-4147-A177-3AD203B41FA5}">
                      <a16:colId xmlns:a16="http://schemas.microsoft.com/office/drawing/2014/main" val="20002"/>
                    </a:ext>
                  </a:extLst>
                </a:gridCol>
                <a:gridCol w="1144280">
                  <a:extLst>
                    <a:ext uri="{9D8B030D-6E8A-4147-A177-3AD203B41FA5}">
                      <a16:colId xmlns:a16="http://schemas.microsoft.com/office/drawing/2014/main" val="20003"/>
                    </a:ext>
                  </a:extLst>
                </a:gridCol>
                <a:gridCol w="1036280">
                  <a:extLst>
                    <a:ext uri="{9D8B030D-6E8A-4147-A177-3AD203B41FA5}">
                      <a16:colId xmlns:a16="http://schemas.microsoft.com/office/drawing/2014/main" val="20004"/>
                    </a:ext>
                  </a:extLst>
                </a:gridCol>
                <a:gridCol w="964280">
                  <a:extLst>
                    <a:ext uri="{9D8B030D-6E8A-4147-A177-3AD203B41FA5}">
                      <a16:colId xmlns:a16="http://schemas.microsoft.com/office/drawing/2014/main" val="20005"/>
                    </a:ext>
                  </a:extLst>
                </a:gridCol>
                <a:gridCol w="568280">
                  <a:extLst>
                    <a:ext uri="{9D8B030D-6E8A-4147-A177-3AD203B41FA5}">
                      <a16:colId xmlns:a16="http://schemas.microsoft.com/office/drawing/2014/main" val="20006"/>
                    </a:ext>
                  </a:extLst>
                </a:gridCol>
                <a:gridCol w="712280">
                  <a:extLst>
                    <a:ext uri="{9D8B030D-6E8A-4147-A177-3AD203B41FA5}">
                      <a16:colId xmlns:a16="http://schemas.microsoft.com/office/drawing/2014/main" val="20007"/>
                    </a:ext>
                  </a:extLst>
                </a:gridCol>
                <a:gridCol w="820280">
                  <a:extLst>
                    <a:ext uri="{9D8B030D-6E8A-4147-A177-3AD203B41FA5}">
                      <a16:colId xmlns:a16="http://schemas.microsoft.com/office/drawing/2014/main" val="20008"/>
                    </a:ext>
                  </a:extLst>
                </a:gridCol>
                <a:gridCol w="928280">
                  <a:extLst>
                    <a:ext uri="{9D8B030D-6E8A-4147-A177-3AD203B41FA5}">
                      <a16:colId xmlns:a16="http://schemas.microsoft.com/office/drawing/2014/main" val="20009"/>
                    </a:ext>
                  </a:extLst>
                </a:gridCol>
              </a:tblGrid>
              <a:tr h="252000">
                <a:tc>
                  <a:txBody>
                    <a:bodyPr/>
                    <a:lstStyle/>
                    <a:p>
                      <a:pPr algn="l"/>
                      <a:r>
                        <a:rPr lang="en-US" sz="1200" noProof="0" dirty="0">
                          <a:solidFill>
                            <a:srgbClr val="00B0F0"/>
                          </a:solidFill>
                        </a:rPr>
                        <a:t>❶</a:t>
                      </a:r>
                      <a:r>
                        <a:rPr lang="en-US" sz="1200" noProof="0" dirty="0">
                          <a:solidFill>
                            <a:schemeClr val="tx1"/>
                          </a:solidFill>
                        </a:rPr>
                        <a:t>BMW</a:t>
                      </a: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FORSCHUNG</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❸</a:t>
                      </a:r>
                      <a:r>
                        <a:rPr lang="en-US" sz="1200" noProof="0" dirty="0">
                          <a:solidFill>
                            <a:schemeClr val="tx1"/>
                          </a:solidFill>
                        </a:rPr>
                        <a:t>80992</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❹</a:t>
                      </a:r>
                      <a:r>
                        <a:rPr lang="en-US" sz="1200" noProof="0" dirty="0">
                          <a:solidFill>
                            <a:schemeClr val="tx1"/>
                          </a:solidFill>
                        </a:rPr>
                        <a:t>MUENCHEN</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HANAUER</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TECHNIK</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46</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UND</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GMBH</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STRASSE</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ctr"/>
                      <a:r>
                        <a:rPr lang="en-US" sz="1400" noProof="0" dirty="0">
                          <a:latin typeface="Cambria Math" panose="02040503050406030204" pitchFamily="18" charset="0"/>
                          <a:ea typeface="Cambria Math" panose="02040503050406030204" pitchFamily="18"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15.0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9.1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cs typeface="Courier New" panose="02070309020205020404" pitchFamily="49" charset="0"/>
                        </a:rPr>
                        <a:t>2172419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2179375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2182779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2188227</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2150179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2172419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noProof="0" dirty="0"/>
              <a:t>registry</a:t>
            </a:r>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noProof="0" dirty="0" err="1"/>
              <a:t>regindex</a:t>
            </a:r>
            <a:endParaRPr lang="en-US" sz="1400" noProof="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noProof="0" dirty="0"/>
              <a:t>base</a:t>
            </a:r>
          </a:p>
        </p:txBody>
      </p:sp>
      <p:graphicFrame>
        <p:nvGraphicFramePr>
          <p:cNvPr id="5" name="Tabelle 4"/>
          <p:cNvGraphicFramePr>
            <a:graphicFrameLocks noGrp="1"/>
          </p:cNvGraphicFramePr>
          <p:nvPr>
            <p:extLst>
              <p:ext uri="{D42A27DB-BD31-4B8C-83A1-F6EECF244321}">
                <p14:modId xmlns:p14="http://schemas.microsoft.com/office/powerpoint/2010/main" val="3210343389"/>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extLst>
                    <a:ext uri="{9D8B030D-6E8A-4147-A177-3AD203B41FA5}">
                      <a16:colId xmlns:a16="http://schemas.microsoft.com/office/drawing/2014/main" val="20000"/>
                    </a:ext>
                  </a:extLst>
                </a:gridCol>
                <a:gridCol w="429108">
                  <a:extLst>
                    <a:ext uri="{9D8B030D-6E8A-4147-A177-3AD203B41FA5}">
                      <a16:colId xmlns:a16="http://schemas.microsoft.com/office/drawing/2014/main" val="20001"/>
                    </a:ext>
                  </a:extLst>
                </a:gridCol>
                <a:gridCol w="564859">
                  <a:extLst>
                    <a:ext uri="{9D8B030D-6E8A-4147-A177-3AD203B41FA5}">
                      <a16:colId xmlns:a16="http://schemas.microsoft.com/office/drawing/2014/main" val="20002"/>
                    </a:ext>
                  </a:extLst>
                </a:gridCol>
              </a:tblGrid>
              <a:tr h="367200">
                <a:tc>
                  <a:txBody>
                    <a:bodyPr/>
                    <a:lstStyle/>
                    <a:p>
                      <a:r>
                        <a:rPr lang="en-US" sz="1200" noProof="0" dirty="0">
                          <a:solidFill>
                            <a:schemeClr val="bg1"/>
                          </a:solidFill>
                        </a:rPr>
                        <a:t>AGGREGATION</a:t>
                      </a: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n-US" sz="1400" noProof="0" dirty="0">
                          <a:solidFill>
                            <a:schemeClr val="bg1"/>
                          </a:solidFill>
                          <a:latin typeface="Cambria Math" panose="02040503050406030204" pitchFamily="18" charset="0"/>
                          <a:ea typeface="Cambria Math" panose="02040503050406030204" pitchFamily="18" charset="0"/>
                        </a:rPr>
                        <a:t>Σ</a:t>
                      </a:r>
                      <a:endParaRPr lang="en-US" sz="1400" noProof="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noProof="0" dirty="0">
                          <a:solidFill>
                            <a:schemeClr val="bg1"/>
                          </a:solidFill>
                        </a:rPr>
                        <a:t>+21.2</a:t>
                      </a: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52000">
                <a:tc>
                  <a:txBody>
                    <a:bodyPr/>
                    <a:lstStyle/>
                    <a:p>
                      <a:r>
                        <a:rPr lang="en-US" sz="1200" noProof="0" dirty="0"/>
                        <a:t>BMW, FORSCHUNG, 80992</a:t>
                      </a:r>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noProof="0" dirty="0"/>
                        <a:t>78.8</a:t>
                      </a:r>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noProof="0" dirty="0"/>
                        <a:t>100.0</a:t>
                      </a:r>
                    </a:p>
                  </a:txBody>
                  <a:tcPr marL="45720" marR="45720" marT="18000" marB="18000" anchor="ctr">
                    <a:lnT w="12700" cap="flat" cmpd="sng" algn="ctr">
                      <a:solidFill>
                        <a:srgbClr val="1FBAF1"/>
                      </a:solidFill>
                      <a:prstDash val="solid"/>
                      <a:round/>
                      <a:headEnd type="none" w="med" len="med"/>
                      <a:tailEnd type="none" w="med" len="med"/>
                    </a:lnT>
                  </a:tcPr>
                </a:tc>
                <a:extLst>
                  <a:ext uri="{0D108BD9-81ED-4DB2-BD59-A6C34878D82A}">
                    <a16:rowId xmlns:a16="http://schemas.microsoft.com/office/drawing/2014/main" val="10001"/>
                  </a:ext>
                </a:extLst>
              </a:tr>
              <a:tr h="252000">
                <a:tc>
                  <a:txBody>
                    <a:bodyPr/>
                    <a:lstStyle/>
                    <a:p>
                      <a:r>
                        <a:rPr lang="en-US" sz="1200" noProof="0" dirty="0"/>
                        <a:t>BMW, FORSCHUNG</a:t>
                      </a:r>
                    </a:p>
                  </a:txBody>
                  <a:tcPr marL="45720" marR="45720" marT="18000" marB="18000" anchor="ctr"/>
                </a:tc>
                <a:tc>
                  <a:txBody>
                    <a:bodyPr/>
                    <a:lstStyle/>
                    <a:p>
                      <a:pPr algn="r"/>
                      <a:r>
                        <a:rPr lang="en-US" sz="1200" noProof="0" dirty="0"/>
                        <a:t>68.8</a:t>
                      </a:r>
                    </a:p>
                  </a:txBody>
                  <a:tcPr marL="45720" marR="45720" marT="18000" marB="18000" anchor="ctr"/>
                </a:tc>
                <a:tc>
                  <a:txBody>
                    <a:bodyPr/>
                    <a:lstStyle/>
                    <a:p>
                      <a:pPr algn="r"/>
                      <a:r>
                        <a:rPr lang="en-US" sz="1200" noProof="0" dirty="0"/>
                        <a:t>90.0</a:t>
                      </a:r>
                    </a:p>
                  </a:txBody>
                  <a:tcPr marL="45720" marR="45720" marT="18000" marB="18000" anchor="ctr"/>
                </a:tc>
                <a:extLst>
                  <a:ext uri="{0D108BD9-81ED-4DB2-BD59-A6C34878D82A}">
                    <a16:rowId xmlns:a16="http://schemas.microsoft.com/office/drawing/2014/main" val="10002"/>
                  </a:ext>
                </a:extLst>
              </a:tr>
              <a:tr h="252000">
                <a:tc>
                  <a:txBody>
                    <a:bodyPr/>
                    <a:lstStyle/>
                    <a:p>
                      <a:r>
                        <a:rPr lang="en-US" sz="1200" noProof="0" dirty="0"/>
                        <a:t>BMW, 80992</a:t>
                      </a:r>
                    </a:p>
                  </a:txBody>
                  <a:tcPr marL="45720" marR="45720" marT="18000" marB="18000" anchor="ctr"/>
                </a:tc>
                <a:tc>
                  <a:txBody>
                    <a:bodyPr/>
                    <a:lstStyle/>
                    <a:p>
                      <a:pPr algn="r"/>
                      <a:r>
                        <a:rPr lang="en-US" sz="1200" noProof="0" dirty="0"/>
                        <a:t>63.8</a:t>
                      </a:r>
                    </a:p>
                  </a:txBody>
                  <a:tcPr marL="45720" marR="45720" marT="18000" marB="18000" anchor="ctr"/>
                </a:tc>
                <a:tc>
                  <a:txBody>
                    <a:bodyPr/>
                    <a:lstStyle/>
                    <a:p>
                      <a:pPr algn="r"/>
                      <a:r>
                        <a:rPr lang="en-US" sz="1200" noProof="0" dirty="0"/>
                        <a:t>85.0</a:t>
                      </a:r>
                    </a:p>
                  </a:txBody>
                  <a:tcPr marL="45720" marR="45720" marT="18000" marB="18000" anchor="ctr"/>
                </a:tc>
                <a:extLst>
                  <a:ext uri="{0D108BD9-81ED-4DB2-BD59-A6C34878D82A}">
                    <a16:rowId xmlns:a16="http://schemas.microsoft.com/office/drawing/2014/main" val="10003"/>
                  </a:ext>
                </a:extLst>
              </a:tr>
              <a:tr h="252000">
                <a:tc>
                  <a:txBody>
                    <a:bodyPr/>
                    <a:lstStyle/>
                    <a:p>
                      <a:r>
                        <a:rPr lang="en-US" sz="1200" noProof="0" dirty="0"/>
                        <a:t>BMW</a:t>
                      </a:r>
                    </a:p>
                  </a:txBody>
                  <a:tcPr marL="45720" marR="45720" marT="18000" marB="18000" anchor="ctr"/>
                </a:tc>
                <a:tc>
                  <a:txBody>
                    <a:bodyPr/>
                    <a:lstStyle/>
                    <a:p>
                      <a:pPr algn="r"/>
                      <a:r>
                        <a:rPr lang="en-US" sz="1200" noProof="0" dirty="0"/>
                        <a:t>53.8</a:t>
                      </a:r>
                    </a:p>
                  </a:txBody>
                  <a:tcPr marL="45720" marR="45720" marT="18000" marB="18000" anchor="ctr"/>
                </a:tc>
                <a:tc>
                  <a:txBody>
                    <a:bodyPr/>
                    <a:lstStyle/>
                    <a:p>
                      <a:pPr algn="r"/>
                      <a:r>
                        <a:rPr lang="en-US" sz="1200" noProof="0" dirty="0"/>
                        <a:t>75.0</a:t>
                      </a:r>
                    </a:p>
                  </a:txBody>
                  <a:tcPr marL="45720" marR="45720" marT="18000" marB="18000" anchor="ctr"/>
                </a:tc>
                <a:extLst>
                  <a:ext uri="{0D108BD9-81ED-4DB2-BD59-A6C34878D82A}">
                    <a16:rowId xmlns:a16="http://schemas.microsoft.com/office/drawing/2014/main" val="10004"/>
                  </a:ext>
                </a:extLst>
              </a:tr>
              <a:tr h="252000">
                <a:tc>
                  <a:txBody>
                    <a:bodyPr/>
                    <a:lstStyle/>
                    <a:p>
                      <a:r>
                        <a:rPr lang="en-US" sz="1200" noProof="0" dirty="0"/>
                        <a:t>FORSCHUNG, 80992</a:t>
                      </a:r>
                    </a:p>
                  </a:txBody>
                  <a:tcPr marL="45720" marR="45720" marT="18000" marB="18000" anchor="ctr"/>
                </a:tc>
                <a:tc>
                  <a:txBody>
                    <a:bodyPr/>
                    <a:lstStyle/>
                    <a:p>
                      <a:pPr algn="r"/>
                      <a:r>
                        <a:rPr lang="en-US" sz="1200" noProof="0" dirty="0"/>
                        <a:t>25.0</a:t>
                      </a:r>
                    </a:p>
                  </a:txBody>
                  <a:tcPr marL="45720" marR="45720" marT="18000" marB="18000" anchor="ctr"/>
                </a:tc>
                <a:tc>
                  <a:txBody>
                    <a:bodyPr/>
                    <a:lstStyle/>
                    <a:p>
                      <a:pPr algn="r"/>
                      <a:r>
                        <a:rPr lang="en-US" sz="1200" noProof="0" dirty="0"/>
                        <a:t>46.2</a:t>
                      </a:r>
                    </a:p>
                  </a:txBody>
                  <a:tcPr marL="45720" marR="45720" marT="18000" marB="18000" anchor="ctr"/>
                </a:tc>
                <a:extLst>
                  <a:ext uri="{0D108BD9-81ED-4DB2-BD59-A6C34878D82A}">
                    <a16:rowId xmlns:a16="http://schemas.microsoft.com/office/drawing/2014/main" val="10005"/>
                  </a:ext>
                </a:extLst>
              </a:tr>
              <a:tr h="252000">
                <a:tc>
                  <a:txBody>
                    <a:bodyPr/>
                    <a:lstStyle/>
                    <a:p>
                      <a:r>
                        <a:rPr lang="en-US" sz="1200" noProof="0" dirty="0"/>
                        <a:t>FORSCHUNG</a:t>
                      </a:r>
                    </a:p>
                  </a:txBody>
                  <a:tcPr marL="45720" marR="45720" marT="18000" marB="18000" anchor="ctr"/>
                </a:tc>
                <a:tc>
                  <a:txBody>
                    <a:bodyPr/>
                    <a:lstStyle/>
                    <a:p>
                      <a:pPr algn="r"/>
                      <a:r>
                        <a:rPr lang="en-US" sz="1200" noProof="0" dirty="0"/>
                        <a:t>15.0</a:t>
                      </a:r>
                    </a:p>
                  </a:txBody>
                  <a:tcPr marL="45720" marR="45720" marT="18000" marB="18000" anchor="ctr"/>
                </a:tc>
                <a:tc>
                  <a:txBody>
                    <a:bodyPr/>
                    <a:lstStyle/>
                    <a:p>
                      <a:pPr algn="r"/>
                      <a:r>
                        <a:rPr lang="en-US" sz="1200" noProof="0" dirty="0"/>
                        <a:t>36.2</a:t>
                      </a:r>
                    </a:p>
                  </a:txBody>
                  <a:tcPr marL="45720" marR="45720" marT="18000" marB="18000" anchor="ctr"/>
                </a:tc>
                <a:extLst>
                  <a:ext uri="{0D108BD9-81ED-4DB2-BD59-A6C34878D82A}">
                    <a16:rowId xmlns:a16="http://schemas.microsoft.com/office/drawing/2014/main" val="10006"/>
                  </a:ext>
                </a:extLst>
              </a:tr>
              <a:tr h="252000">
                <a:tc>
                  <a:txBody>
                    <a:bodyPr/>
                    <a:lstStyle/>
                    <a:p>
                      <a:r>
                        <a:rPr lang="en-US" sz="1200" noProof="0" dirty="0"/>
                        <a:t>80992</a:t>
                      </a:r>
                    </a:p>
                  </a:txBody>
                  <a:tcPr marL="45720" marR="45720" marT="18000" marB="18000" anchor="ctr"/>
                </a:tc>
                <a:tc>
                  <a:txBody>
                    <a:bodyPr/>
                    <a:lstStyle/>
                    <a:p>
                      <a:pPr algn="r"/>
                      <a:r>
                        <a:rPr lang="en-US" sz="1200" noProof="0" dirty="0"/>
                        <a:t>10.0</a:t>
                      </a:r>
                    </a:p>
                  </a:txBody>
                  <a:tcPr marL="45720" marR="45720" marT="18000" marB="18000" anchor="ctr"/>
                </a:tc>
                <a:tc>
                  <a:txBody>
                    <a:bodyPr/>
                    <a:lstStyle/>
                    <a:p>
                      <a:pPr algn="r"/>
                      <a:r>
                        <a:rPr lang="en-US" sz="1200" noProof="0" dirty="0"/>
                        <a:t>31.2</a:t>
                      </a:r>
                    </a:p>
                  </a:txBody>
                  <a:tcPr marL="45720" marR="45720" marT="18000" marB="18000" anchor="ctr"/>
                </a:tc>
                <a:extLst>
                  <a:ext uri="{0D108BD9-81ED-4DB2-BD59-A6C34878D82A}">
                    <a16:rowId xmlns:a16="http://schemas.microsoft.com/office/drawing/2014/main" val="10007"/>
                  </a:ext>
                </a:extLst>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
                      <m:nary>
                        <m:naryPr>
                          <m:chr m:val="∑"/>
                          <m:subHide m:val="on"/>
                          <m:supHide m:val="on"/>
                          <m:ctrlPr>
                            <a:rPr lang="en-US" sz="1400" i="1" noProof="0" smtClean="0">
                              <a:latin typeface="Cambria Math" panose="02040503050406030204" pitchFamily="18" charset="0"/>
                            </a:rPr>
                          </m:ctrlPr>
                        </m:naryPr>
                        <m:sub/>
                        <m:sup/>
                        <m:e>
                          <m:r>
                            <a:rPr lang="en-US" sz="1400" b="0" i="1" noProof="0" smtClean="0">
                              <a:latin typeface="Cambria Math" panose="02040503050406030204" pitchFamily="18" charset="0"/>
                            </a:rPr>
                            <m:t>𝑜𝑐𝑐𝑢𝑟𝑠</m:t>
                          </m:r>
                        </m:e>
                      </m:nary>
                    </m:oMath>
                  </m:oMathPara>
                </a14:m>
                <a:endParaRPr lang="en-US" sz="1400" noProof="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𝑟𝑒𝑔𝑖𝑠𝑡𝑟𝑦</m:t>
                          </m:r>
                        </m:sub>
                      </m:sSub>
                      <m:r>
                        <a:rPr lang="en-US" sz="1400" b="0" i="1" noProof="0" smtClean="0">
                          <a:latin typeface="Cambria Math" panose="02040503050406030204" pitchFamily="18" charset="0"/>
                        </a:rPr>
                        <m:t>+1</m:t>
                      </m:r>
                    </m:oMath>
                  </m:oMathPara>
                </a14:m>
                <a:endParaRPr lang="en-US" sz="1400" noProof="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𝑟𝑒𝑔𝑖𝑠𝑡𝑟𝑦</m:t>
                          </m:r>
                        </m:sub>
                      </m:sSub>
                    </m:oMath>
                  </m:oMathPara>
                </a14:m>
                <a:endParaRPr lang="en-US" sz="1400" noProof="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
                      <m:r>
                        <a:rPr lang="en-US" sz="1400" b="0" i="1" noProof="0" smtClean="0">
                          <a:latin typeface="Cambria Math" panose="02040503050406030204" pitchFamily="18" charset="0"/>
                        </a:rPr>
                        <m:t>𝑓𝑖𝑥𝑒𝑑</m:t>
                      </m:r>
                      <m:r>
                        <a:rPr lang="en-US" sz="1400" b="0" i="1" noProof="0" smtClean="0">
                          <a:latin typeface="Cambria Math" panose="02040503050406030204" pitchFamily="18" charset="0"/>
                        </a:rPr>
                        <m:t> </m:t>
                      </m:r>
                      <m:r>
                        <a:rPr lang="en-US" sz="1400" b="0" i="1" noProof="0" smtClean="0">
                          <a:latin typeface="Cambria Math" panose="02040503050406030204" pitchFamily="18" charset="0"/>
                        </a:rPr>
                        <m:t>𝑠𝑖𝑧𝑒</m:t>
                      </m:r>
                    </m:oMath>
                  </m:oMathPara>
                </a14:m>
                <a:endParaRPr lang="en-US" sz="1400" noProof="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53.8</a:t>
            </a: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15.0</a:t>
            </a: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10.0</a:t>
            </a: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noProof="0" dirty="0">
                    <a:solidFill>
                      <a:srgbClr val="00B0F0"/>
                    </a:solidFill>
                    <a:latin typeface="Cambria Math" panose="02040503050406030204" pitchFamily="18" charset="0"/>
                    <a:ea typeface="Cambria Math" panose="02040503050406030204" pitchFamily="18" charset="0"/>
                  </a:rPr>
                  <a:t>70%</a:t>
                </a: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noProof="0" dirty="0">
                  <a:solidFill>
                    <a:schemeClr val="bg1"/>
                  </a:solidFill>
                </a:rPr>
                <a:t>sort order</a:t>
              </a: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noProof="0" dirty="0">
                <a:latin typeface="Courier New" panose="02070309020205020404" pitchFamily="49" charset="0"/>
                <a:ea typeface="Cambria Math" panose="02040503050406030204" pitchFamily="18" charset="0"/>
                <a:cs typeface="Courier New" panose="02070309020205020404" pitchFamily="49" charset="0"/>
              </a:rPr>
              <a:t>4637310</a:t>
            </a:r>
          </a:p>
        </p:txBody>
      </p:sp>
      <p:sp>
        <p:nvSpPr>
          <p:cNvPr id="6" name="Foliennummernplatzhalter 5"/>
          <p:cNvSpPr>
            <a:spLocks noGrp="1"/>
          </p:cNvSpPr>
          <p:nvPr>
            <p:ph type="sldNum" sz="quarter" idx="10"/>
          </p:nvPr>
        </p:nvSpPr>
        <p:spPr/>
        <p:txBody>
          <a:bodyPr/>
          <a:lstStyle/>
          <a:p>
            <a:fld id="{A29D8577-601D-4845-9C29-D9E13FE3E8DB}" type="slidenum">
              <a:rPr lang="en-US" noProof="0" smtClean="0"/>
              <a:pPr/>
              <a:t>8</a:t>
            </a:fld>
            <a:endParaRPr lang="en-US" noProof="0"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noProof="0" dirty="0">
                <a:solidFill>
                  <a:srgbClr val="00B0F0"/>
                </a:solidFill>
              </a:rPr>
              <a:t>Efficiency Puzzle</a:t>
            </a:r>
          </a:p>
          <a:p>
            <a:r>
              <a:rPr lang="en-US" sz="1200" noProof="0" dirty="0"/>
              <a:t>The retrieval also stops early when the interim total of the collated RIDs exceeds </a:t>
            </a:r>
            <a:r>
              <a:rPr lang="en-US" sz="1200" noProof="0" dirty="0">
                <a:latin typeface="Cambria Math" panose="02040503050406030204" pitchFamily="18" charset="0"/>
                <a:ea typeface="Cambria Math" panose="02040503050406030204" pitchFamily="18" charset="0"/>
              </a:rPr>
              <a:t>100−threshold</a:t>
            </a:r>
            <a:r>
              <a:rPr lang="en-US" sz="1200" noProof="0" dirty="0"/>
              <a:t>, because at least one of those words is necessary to push the Identity over the threshold.</a:t>
            </a:r>
          </a:p>
          <a:p>
            <a:r>
              <a:rPr lang="en-US" sz="1200" noProof="0" dirty="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75" name="Tabelle 5"/>
          <p:cNvGraphicFramePr>
            <a:graphicFrameLocks noGrp="1"/>
          </p:cNvGraphicFramePr>
          <p:nvPr>
            <p:extLst>
              <p:ext uri="{D42A27DB-BD31-4B8C-83A1-F6EECF244321}">
                <p14:modId xmlns:p14="http://schemas.microsoft.com/office/powerpoint/2010/main" val="916069582"/>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extLst>
                    <a:ext uri="{9D8B030D-6E8A-4147-A177-3AD203B41FA5}">
                      <a16:colId xmlns:a16="http://schemas.microsoft.com/office/drawing/2014/main" val="20000"/>
                    </a:ext>
                  </a:extLst>
                </a:gridCol>
                <a:gridCol w="540774">
                  <a:extLst>
                    <a:ext uri="{9D8B030D-6E8A-4147-A177-3AD203B41FA5}">
                      <a16:colId xmlns:a16="http://schemas.microsoft.com/office/drawing/2014/main" val="20001"/>
                    </a:ext>
                  </a:extLst>
                </a:gridCol>
              </a:tblGrid>
              <a:tr h="288000">
                <a:tc>
                  <a:txBody>
                    <a:bodyPr/>
                    <a:lstStyle/>
                    <a:p>
                      <a:pPr algn="l"/>
                      <a:r>
                        <a:rPr lang="en-US" sz="1400" noProof="0" dirty="0">
                          <a:latin typeface="+mn-lt"/>
                          <a:ea typeface="Cambria Math" panose="02040503050406030204" pitchFamily="18" charset="0"/>
                          <a:cs typeface="Courier New" panose="02070309020205020404" pitchFamily="49" charset="0"/>
                        </a:rPr>
                        <a:t>BMW</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mn-lt"/>
                          <a:ea typeface="Cambria Math" panose="02040503050406030204" pitchFamily="18" charset="0"/>
                          <a:cs typeface="Courier New" panose="02070309020205020404" pitchFamily="49"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l"/>
                      <a:r>
                        <a:rPr lang="en-US" sz="1400" noProof="0" dirty="0">
                          <a:latin typeface="Cambria Math" panose="02040503050406030204" pitchFamily="18" charset="0"/>
                          <a:ea typeface="Cambria Math" panose="02040503050406030204" pitchFamily="18" charset="0"/>
                          <a:cs typeface="Courier New" panose="02070309020205020404" pitchFamily="49" charset="0"/>
                        </a:rPr>
                        <a:t>80992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HANAUER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TECHNIK</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5383">
                <a:tc>
                  <a:txBody>
                    <a:bodyPr/>
                    <a:lstStyle/>
                    <a:p>
                      <a:pPr algn="l"/>
                      <a:r>
                        <a:rPr lang="en-US" sz="1400" noProof="0" dirty="0">
                          <a:latin typeface="+mn-lt"/>
                          <a:ea typeface="Cambria Math" panose="02040503050406030204" pitchFamily="18" charset="0"/>
                          <a:cs typeface="Courier New" panose="02070309020205020404" pitchFamily="49" charset="0"/>
                        </a:rPr>
                        <a:t>46</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SERVICE</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GMBH</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STRASSE</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2" name="Titel 1"/>
          <p:cNvSpPr>
            <a:spLocks noGrp="1"/>
          </p:cNvSpPr>
          <p:nvPr>
            <p:ph type="title"/>
          </p:nvPr>
        </p:nvSpPr>
        <p:spPr/>
        <p:txBody>
          <a:bodyPr/>
          <a:lstStyle/>
          <a:p>
            <a:r>
              <a:rPr lang="en-US" noProof="0" dirty="0"/>
              <a:t>Identity Completion</a:t>
            </a:r>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15634</a:t>
            </a: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noProof="0" dirty="0" err="1"/>
              <a:t>baseindex</a:t>
            </a:r>
            <a:endParaRPr lang="en-US" sz="1400" noProof="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𝑏𝑎𝑠𝑒</m:t>
                          </m:r>
                        </m:sub>
                      </m:sSub>
                      <m:r>
                        <a:rPr lang="en-US" sz="1400" b="0" i="1" noProof="0" smtClean="0">
                          <a:latin typeface="Cambria Math" panose="02040503050406030204" pitchFamily="18" charset="0"/>
                        </a:rPr>
                        <m:t>+1</m:t>
                      </m:r>
                    </m:oMath>
                  </m:oMathPara>
                </a14:m>
                <a:endParaRPr lang="en-US" sz="1400" noProof="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124944</a:t>
            </a:r>
          </a:p>
        </p:txBody>
      </p:sp>
      <p:graphicFrame>
        <p:nvGraphicFramePr>
          <p:cNvPr id="76" name="Tabelle 75"/>
          <p:cNvGraphicFramePr>
            <a:graphicFrameLocks noGrp="1"/>
          </p:cNvGraphicFramePr>
          <p:nvPr>
            <p:extLst>
              <p:ext uri="{D42A27DB-BD31-4B8C-83A1-F6EECF244321}">
                <p14:modId xmlns:p14="http://schemas.microsoft.com/office/powerpoint/2010/main" val="2618482710"/>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extLst>
                    <a:ext uri="{9D8B030D-6E8A-4147-A177-3AD203B41FA5}">
                      <a16:colId xmlns:a16="http://schemas.microsoft.com/office/drawing/2014/main" val="20000"/>
                    </a:ext>
                  </a:extLst>
                </a:gridCol>
                <a:gridCol w="1253655">
                  <a:extLst>
                    <a:ext uri="{9D8B030D-6E8A-4147-A177-3AD203B41FA5}">
                      <a16:colId xmlns:a16="http://schemas.microsoft.com/office/drawing/2014/main" val="20001"/>
                    </a:ext>
                  </a:extLst>
                </a:gridCol>
                <a:gridCol w="821655">
                  <a:extLst>
                    <a:ext uri="{9D8B030D-6E8A-4147-A177-3AD203B41FA5}">
                      <a16:colId xmlns:a16="http://schemas.microsoft.com/office/drawing/2014/main" val="20002"/>
                    </a:ext>
                  </a:extLst>
                </a:gridCol>
                <a:gridCol w="1072800">
                  <a:extLst>
                    <a:ext uri="{9D8B030D-6E8A-4147-A177-3AD203B41FA5}">
                      <a16:colId xmlns:a16="http://schemas.microsoft.com/office/drawing/2014/main" val="20003"/>
                    </a:ext>
                  </a:extLst>
                </a:gridCol>
                <a:gridCol w="1000800">
                  <a:extLst>
                    <a:ext uri="{9D8B030D-6E8A-4147-A177-3AD203B41FA5}">
                      <a16:colId xmlns:a16="http://schemas.microsoft.com/office/drawing/2014/main" val="20004"/>
                    </a:ext>
                  </a:extLst>
                </a:gridCol>
                <a:gridCol w="671881">
                  <a:extLst>
                    <a:ext uri="{9D8B030D-6E8A-4147-A177-3AD203B41FA5}">
                      <a16:colId xmlns:a16="http://schemas.microsoft.com/office/drawing/2014/main" val="20005"/>
                    </a:ext>
                  </a:extLst>
                </a:gridCol>
                <a:gridCol w="1181655">
                  <a:extLst>
                    <a:ext uri="{9D8B030D-6E8A-4147-A177-3AD203B41FA5}">
                      <a16:colId xmlns:a16="http://schemas.microsoft.com/office/drawing/2014/main" val="20006"/>
                    </a:ext>
                  </a:extLst>
                </a:gridCol>
                <a:gridCol w="748800">
                  <a:extLst>
                    <a:ext uri="{9D8B030D-6E8A-4147-A177-3AD203B41FA5}">
                      <a16:colId xmlns:a16="http://schemas.microsoft.com/office/drawing/2014/main" val="20007"/>
                    </a:ext>
                  </a:extLst>
                </a:gridCol>
                <a:gridCol w="856800">
                  <a:extLst>
                    <a:ext uri="{9D8B030D-6E8A-4147-A177-3AD203B41FA5}">
                      <a16:colId xmlns:a16="http://schemas.microsoft.com/office/drawing/2014/main" val="20008"/>
                    </a:ext>
                  </a:extLst>
                </a:gridCol>
                <a:gridCol w="965655">
                  <a:extLst>
                    <a:ext uri="{9D8B030D-6E8A-4147-A177-3AD203B41FA5}">
                      <a16:colId xmlns:a16="http://schemas.microsoft.com/office/drawing/2014/main" val="20009"/>
                    </a:ext>
                  </a:extLst>
                </a:gridCol>
              </a:tblGrid>
              <a:tr h="252000">
                <a:tc>
                  <a:txBody>
                    <a:bodyPr/>
                    <a:lstStyle/>
                    <a:p>
                      <a:pPr algn="l"/>
                      <a:r>
                        <a:rPr lang="en-US" sz="1200" noProof="0" dirty="0">
                          <a:solidFill>
                            <a:srgbClr val="00B0F0"/>
                          </a:solidFill>
                        </a:rPr>
                        <a:t>❶</a:t>
                      </a:r>
                      <a:r>
                        <a:rPr lang="en-US" sz="1200" noProof="0" dirty="0">
                          <a:solidFill>
                            <a:schemeClr val="tx1"/>
                          </a:solidFill>
                        </a:rPr>
                        <a:t>BMW</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FORSCHUNG</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❸</a:t>
                      </a:r>
                      <a:r>
                        <a:rPr lang="en-US" sz="1200" noProof="0" dirty="0">
                          <a:solidFill>
                            <a:schemeClr val="tx1"/>
                          </a:solidFill>
                        </a:rPr>
                        <a:t>80992</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HANAUER</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TECHNIK</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46</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❹</a:t>
                      </a:r>
                      <a:r>
                        <a:rPr lang="en-US" sz="1200" noProof="0" dirty="0">
                          <a:solidFill>
                            <a:schemeClr val="tx1"/>
                          </a:solidFill>
                        </a:rPr>
                        <a:t>MUENCHEN</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UND</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GMBH</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STRASSE</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ctr"/>
                      <a:r>
                        <a:rPr lang="en-US" sz="1400" noProof="0" dirty="0">
                          <a:latin typeface="Cambria Math" panose="02040503050406030204" pitchFamily="18" charset="0"/>
                          <a:ea typeface="Cambria Math" panose="02040503050406030204" pitchFamily="18"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15.0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9.1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cs typeface="Courier New" panose="02070309020205020404" pitchFamily="49" charset="0"/>
                        </a:rPr>
                        <a:t>2172419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2179375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2182779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2188225</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2188227</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2188228</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noProof="0" dirty="0">
                  <a:solidFill>
                    <a:schemeClr val="bg1"/>
                  </a:solidFill>
                </a:rPr>
                <a:t>sort order</a:t>
              </a: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noProof="0" dirty="0">
                <a:solidFill>
                  <a:schemeClr val="bg1"/>
                </a:solidFill>
                <a:latin typeface="Cambria Math" panose="02040503050406030204" pitchFamily="18" charset="0"/>
                <a:ea typeface="Cambria Math" panose="02040503050406030204" pitchFamily="18" charset="0"/>
              </a:rPr>
              <a:t>15633</a:t>
            </a:r>
          </a:p>
        </p:txBody>
      </p:sp>
      <p:graphicFrame>
        <p:nvGraphicFramePr>
          <p:cNvPr id="15" name="Tabelle 5"/>
          <p:cNvGraphicFramePr>
            <a:graphicFrameLocks noGrp="1"/>
          </p:cNvGraphicFramePr>
          <p:nvPr>
            <p:extLst>
              <p:ext uri="{D42A27DB-BD31-4B8C-83A1-F6EECF244321}">
                <p14:modId xmlns:p14="http://schemas.microsoft.com/office/powerpoint/2010/main" val="182460463"/>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index</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124935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124944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016000">
                <a:tc>
                  <a:txBody>
                    <a:bodyPr/>
                    <a:lstStyle/>
                    <a:p>
                      <a:pPr algn="r"/>
                      <a:r>
                        <a:rPr lang="en-US" sz="1400" noProof="0" dirty="0">
                          <a:latin typeface="Courier New" panose="02070309020205020404" pitchFamily="49" charset="0"/>
                          <a:cs typeface="Courier New" panose="02070309020205020404" pitchFamily="49" charset="0"/>
                        </a:rPr>
                        <a:t>…</a:t>
                      </a: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15633</a:t>
            </a: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124935</a:t>
            </a:r>
          </a:p>
        </p:txBody>
      </p:sp>
      <p:graphicFrame>
        <p:nvGraphicFramePr>
          <p:cNvPr id="46" name="Tabelle 5"/>
          <p:cNvGraphicFramePr>
            <a:graphicFrameLocks noGrp="1"/>
          </p:cNvGraphicFramePr>
          <p:nvPr>
            <p:extLst>
              <p:ext uri="{D42A27DB-BD31-4B8C-83A1-F6EECF244321}">
                <p14:modId xmlns:p14="http://schemas.microsoft.com/office/powerpoint/2010/main" val="2143574240"/>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target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2150179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2179375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2182779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2186398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5383">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2187556</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2188021 </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2188227</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2188228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88000">
                <a:tc>
                  <a:txBody>
                    <a:bodyPr/>
                    <a:lstStyle/>
                    <a:p>
                      <a:pPr algn="r"/>
                      <a:r>
                        <a:rPr lang="en-US" sz="1400" noProof="0" dirty="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9.1</a:t>
            </a: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1.2</a:t>
            </a: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0.9</a:t>
            </a: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10.0</a:t>
            </a: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63.8</a:t>
            </a: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72.9</a:t>
            </a: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74.1</a:t>
            </a: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73.8</a:t>
            </a: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83.8</a:t>
            </a: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
                      <m:nary>
                        <m:naryPr>
                          <m:chr m:val="∑"/>
                          <m:subHide m:val="on"/>
                          <m:supHide m:val="on"/>
                          <m:ctrlPr>
                            <a:rPr lang="en-US" sz="1400" i="1" noProof="0" smtClean="0">
                              <a:latin typeface="Cambria Math" panose="02040503050406030204" pitchFamily="18" charset="0"/>
                            </a:rPr>
                          </m:ctrlPr>
                        </m:naryPr>
                        <m:sub/>
                        <m:sup/>
                        <m:e>
                          <m:r>
                            <a:rPr lang="en-US" sz="1400" b="0" i="1" noProof="0" smtClean="0">
                              <a:latin typeface="Cambria Math" panose="02040503050406030204" pitchFamily="18" charset="0"/>
                            </a:rPr>
                            <m:t>𝑜𝑐𝑐𝑢𝑟𝑠</m:t>
                          </m:r>
                        </m:e>
                      </m:nary>
                    </m:oMath>
                  </m:oMathPara>
                </a14:m>
                <a:endParaRPr lang="en-US" sz="1400" noProof="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250179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2172419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noProof="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2934739409"/>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extLst>
                    <a:ext uri="{9D8B030D-6E8A-4147-A177-3AD203B41FA5}">
                      <a16:colId xmlns:a16="http://schemas.microsoft.com/office/drawing/2014/main" val="20000"/>
                    </a:ext>
                  </a:extLst>
                </a:gridCol>
              </a:tblGrid>
              <a:tr h="362611">
                <a:tc>
                  <a:txBody>
                    <a:bodyPr/>
                    <a:lstStyle/>
                    <a:p>
                      <a:pPr marL="0" indent="0" algn="ctr"/>
                      <a:r>
                        <a:rPr lang="en-US" sz="1800" noProof="0" dirty="0">
                          <a:solidFill>
                            <a:schemeClr val="bg1"/>
                          </a:solidFill>
                        </a:rPr>
                        <a:t>BUFFER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3813389">
                <a:tc>
                  <a:txBody>
                    <a:bodyPr/>
                    <a:lstStyle/>
                    <a:p>
                      <a:pPr algn="r"/>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noProof="0" dirty="0"/>
              <a:t>reg</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9</a:t>
            </a:fld>
            <a:endParaRPr lang="en-US" noProof="0"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noProof="0" dirty="0">
                <a:solidFill>
                  <a:srgbClr val="00B0F0"/>
                </a:solidFill>
              </a:rPr>
              <a:t>Depth</a:t>
            </a:r>
          </a:p>
          <a:p>
            <a:r>
              <a:rPr lang="en-US" sz="1400" noProof="0" dirty="0"/>
              <a:t>The default value for the BUFFER is 262,144.</a:t>
            </a:r>
          </a:p>
          <a:p>
            <a:r>
              <a:rPr lang="en-US" sz="1400" noProof="0" dirty="0"/>
              <a:t>It can be increased to accommodate more homogenous databases or for specific search purposes, i.e. selection by legal form.</a:t>
            </a:r>
          </a:p>
          <a:p>
            <a:r>
              <a:rPr lang="en-US" sz="1400" noProof="0" dirty="0"/>
              <a:t>The higher the Depth of the BUFFER the higher the amount of bycatch 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noProof="0" dirty="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767182254"/>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chemeClr val="tx1"/>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cnt</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Munich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Rathausplatz</a:t>
                      </a:r>
                      <a:r>
                        <a:rPr lang="en-US" sz="800" b="0" i="0" u="none" strike="noStrike" noProof="0" dirty="0">
                          <a:solidFill>
                            <a:schemeClr val="tx1"/>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Theatinerstr</a:t>
                      </a:r>
                      <a:r>
                        <a:rPr lang="en-US" sz="800" b="0" i="0" u="none" strike="noStrike" noProof="0" dirty="0">
                          <a:solidFill>
                            <a:schemeClr val="tx1"/>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Lichtenbergstr</a:t>
                      </a:r>
                      <a:r>
                        <a:rPr lang="en-US" sz="800" b="0" i="0" u="none" strike="noStrike" noProof="0" dirty="0">
                          <a:solidFill>
                            <a:schemeClr val="tx1"/>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Schleißheimer</a:t>
                      </a:r>
                      <a:r>
                        <a:rPr lang="en-US" sz="800" b="0" i="0" u="none" strike="noStrike" noProof="0" dirty="0">
                          <a:solidFill>
                            <a:schemeClr val="tx1"/>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Keplerstrasse</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Motorsportgruppe</a:t>
                      </a:r>
                      <a:r>
                        <a:rPr lang="en-US" sz="800" b="0" i="0" u="none" strike="noStrike" noProof="0" dirty="0">
                          <a:solidFill>
                            <a:schemeClr val="tx1"/>
                          </a:solidFill>
                          <a:effectLst/>
                          <a:latin typeface="Calibri" panose="020F0502020204030204" pitchFamily="34" charset="0"/>
                        </a:rPr>
                        <a:t>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Vereinigung</a:t>
                      </a:r>
                      <a:r>
                        <a:rPr lang="en-US" sz="800" b="0" i="0" u="none" strike="noStrike" noProof="0" dirty="0">
                          <a:solidFill>
                            <a:schemeClr val="tx1"/>
                          </a:solidFill>
                          <a:effectLst/>
                          <a:latin typeface="Calibri" panose="020F0502020204030204" pitchFamily="34" charset="0"/>
                        </a:rPr>
                        <a:t> von </a:t>
                      </a:r>
                      <a:r>
                        <a:rPr lang="en-US" sz="800" b="0" i="0" u="none" strike="noStrike" noProof="0" dirty="0" err="1">
                          <a:solidFill>
                            <a:schemeClr val="tx1"/>
                          </a:solidFill>
                          <a:effectLst/>
                          <a:latin typeface="Calibri" panose="020F0502020204030204" pitchFamily="34" charset="0"/>
                        </a:rPr>
                        <a:t>Freunden</a:t>
                      </a:r>
                      <a:r>
                        <a:rPr lang="en-US" sz="800" b="0" i="0" u="none" strike="noStrike" noProof="0" dirty="0">
                          <a:solidFill>
                            <a:schemeClr val="tx1"/>
                          </a:solidFill>
                          <a:effectLst/>
                          <a:latin typeface="Calibri" panose="020F0502020204030204" pitchFamily="34" charset="0"/>
                        </a:rPr>
                        <a:t>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Förderkreis</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Betriebswirtschaft</a:t>
                      </a:r>
                      <a:r>
                        <a:rPr lang="en-US" sz="800" b="0" i="0" u="none" strike="noStrike" noProof="0" dirty="0">
                          <a:solidFill>
                            <a:schemeClr val="tx1"/>
                          </a:solidFill>
                          <a:effectLst/>
                          <a:latin typeface="Calibri" panose="020F0502020204030204" pitchFamily="34" charset="0"/>
                        </a:rPr>
                        <a: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a:t>
                      </a:r>
                      <a:r>
                        <a:rPr lang="en-US" sz="800" b="0" i="0" u="none" strike="noStrike" noProof="0" dirty="0" err="1">
                          <a:solidFill>
                            <a:schemeClr val="tx1"/>
                          </a:solidFill>
                          <a:effectLst/>
                          <a:latin typeface="Calibri" panose="020F0502020204030204" pitchFamily="34" charset="0"/>
                        </a:rPr>
                        <a:t>mit</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beschränkter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Haftung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err="1">
                          <a:solidFill>
                            <a:schemeClr val="tx1"/>
                          </a:solidFill>
                          <a:effectLst/>
                          <a:latin typeface="Calibri" panose="020F0502020204030204" pitchFamily="34" charset="0"/>
                        </a:rPr>
                        <a:t>Verwaltungsgesellschaft</a:t>
                      </a:r>
                      <a:r>
                        <a:rPr lang="en-US" sz="800" b="0" i="0" u="none" strike="noStrike" noProof="0"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 </a:t>
                      </a:r>
                      <a:r>
                        <a:rPr lang="en-US" sz="800" b="0" i="0" u="none" strike="noStrike" noProof="0" dirty="0" err="1">
                          <a:solidFill>
                            <a:schemeClr val="tx1"/>
                          </a:solidFill>
                          <a:effectLst/>
                          <a:latin typeface="Calibri" panose="020F0502020204030204" pitchFamily="34" charset="0"/>
                        </a:rPr>
                        <a:t>Postfach</a:t>
                      </a:r>
                      <a:r>
                        <a:rPr lang="en-US" sz="800" b="0" i="0" u="none" strike="noStrike" noProof="0" dirty="0">
                          <a:solidFill>
                            <a:schemeClr val="tx1"/>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t>
                      </a:r>
                      <a:r>
                        <a:rPr lang="en-US" sz="800" b="0" i="0" u="none" strike="noStrike" noProof="0" dirty="0" err="1">
                          <a:solidFill>
                            <a:schemeClr val="tx1"/>
                          </a:solidFill>
                          <a:effectLst/>
                          <a:latin typeface="Calibri" panose="020F0502020204030204" pitchFamily="34" charset="0"/>
                        </a:rPr>
                        <a:t>Acetow</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Körperschaft</a:t>
                      </a:r>
                      <a:r>
                        <a:rPr lang="en-US" sz="800" b="0" i="0" u="none" strike="noStrike" noProof="0" dirty="0">
                          <a:solidFill>
                            <a:schemeClr val="tx1"/>
                          </a:solidFill>
                          <a:effectLst/>
                          <a:latin typeface="Calibri" panose="020F0502020204030204" pitchFamily="34" charset="0"/>
                        </a:rPr>
                        <a:t> des </a:t>
                      </a:r>
                      <a:r>
                        <a:rPr lang="en-US" sz="800" b="0" i="0" u="none" strike="noStrike" noProof="0" dirty="0" err="1">
                          <a:solidFill>
                            <a:schemeClr val="tx1"/>
                          </a:solidFill>
                          <a:effectLst/>
                          <a:latin typeface="Calibri" panose="020F0502020204030204" pitchFamily="34" charset="0"/>
                        </a:rPr>
                        <a:t>öffentlichen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Rechts,Kaiserstrasse</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Fliegergruppe am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Fliegergruppe am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KIT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a:t>
                      </a:r>
                      <a:r>
                        <a:rPr lang="en-US" sz="800" b="0" i="0" u="none" strike="noStrike" noProof="0" dirty="0" err="1">
                          <a:solidFill>
                            <a:schemeClr val="tx1"/>
                          </a:solidFill>
                          <a:effectLst/>
                          <a:latin typeface="Calibri" panose="020F0502020204030204" pitchFamily="34" charset="0"/>
                        </a:rPr>
                        <a:t>Brotzmann</a:t>
                      </a:r>
                      <a:r>
                        <a:rPr lang="en-US" sz="800" b="0" i="0" u="none" strike="noStrike" noProof="0" dirty="0">
                          <a:solidFill>
                            <a:schemeClr val="tx1"/>
                          </a:solidFill>
                          <a:effectLst/>
                          <a:latin typeface="Calibri" panose="020F0502020204030204" pitchFamily="34" charset="0"/>
                        </a:rPr>
                        <a:t>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 a r l B r o t z m a n </a:t>
                      </a:r>
                      <a:r>
                        <a:rPr lang="en-US" sz="800" b="0" i="0" u="none" strike="noStrike" noProof="0" dirty="0" err="1">
                          <a:solidFill>
                            <a:schemeClr val="tx1"/>
                          </a:solidFill>
                          <a:effectLst/>
                          <a:latin typeface="Calibri" panose="020F0502020204030204" pitchFamily="34" charset="0"/>
                        </a:rPr>
                        <a:t>n</a:t>
                      </a:r>
                      <a:r>
                        <a:rPr lang="en-US" sz="800" b="0" i="0" u="none" strike="noStrike" noProof="0" dirty="0">
                          <a:solidFill>
                            <a:schemeClr val="tx1"/>
                          </a:solidFill>
                          <a:effectLst/>
                          <a:latin typeface="Calibri" panose="020F0502020204030204" pitchFamily="34" charset="0"/>
                        </a:rPr>
                        <a:t> C o n s u l t </a:t>
                      </a:r>
                      <a:r>
                        <a:rPr lang="en-US" sz="800" b="0" i="0" u="none" strike="noStrike" noProof="0" dirty="0" err="1">
                          <a:solidFill>
                            <a:schemeClr val="tx1"/>
                          </a:solidFill>
                          <a:effectLst/>
                          <a:latin typeface="Calibri" panose="020F0502020204030204" pitchFamily="34" charset="0"/>
                        </a:rPr>
                        <a:t>i</a:t>
                      </a:r>
                      <a:r>
                        <a:rPr lang="en-US" sz="800" b="0" i="0" u="none" strike="noStrike" noProof="0" dirty="0">
                          <a:solidFill>
                            <a:schemeClr val="tx1"/>
                          </a:solidFill>
                          <a:effectLst/>
                          <a:latin typeface="Calibri" panose="020F0502020204030204" pitchFamily="34" charset="0"/>
                        </a:rPr>
                        <a:t>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Eerec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Borntalstrasse</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tx1"/>
                          </a:solidFill>
                          <a:effectLst/>
                          <a:latin typeface="Calibri" panose="020F0502020204030204" pitchFamily="34" charset="0"/>
                        </a:rPr>
                        <a:t>/Thür.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EuRec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tx1"/>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EuRec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ALMÜ </a:t>
                      </a:r>
                      <a:r>
                        <a:rPr lang="en-US" sz="800" b="0" i="0" u="none" strike="noStrike" noProof="0" dirty="0" err="1">
                          <a:solidFill>
                            <a:schemeClr val="tx1"/>
                          </a:solidFill>
                          <a:effectLst/>
                          <a:latin typeface="Calibri" panose="020F0502020204030204" pitchFamily="34" charset="0"/>
                        </a:rPr>
                        <a:t>Präzisions-Werkzeug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Gesellschaft </a:t>
                      </a:r>
                      <a:r>
                        <a:rPr lang="en-US" sz="800" b="0" i="0" u="none" strike="noStrike" noProof="0" dirty="0" err="1">
                          <a:solidFill>
                            <a:schemeClr val="tx1"/>
                          </a:solidFill>
                          <a:effectLst/>
                          <a:latin typeface="Calibri" panose="020F0502020204030204" pitchFamily="34" charset="0"/>
                        </a:rPr>
                        <a:t>zur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Förderung</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angewandter</a:t>
                      </a:r>
                      <a:r>
                        <a:rPr lang="en-US" sz="800" b="0" i="0" u="none" strike="noStrike" noProof="0" dirty="0">
                          <a:solidFill>
                            <a:schemeClr val="tx1"/>
                          </a:solidFill>
                          <a:effectLst/>
                          <a:latin typeface="Calibri" panose="020F0502020204030204" pitchFamily="34" charset="0"/>
                        </a:rPr>
                        <a:t> Optik, </a:t>
                      </a:r>
                      <a:r>
                        <a:rPr lang="en-US" sz="800" b="0" i="0" u="none" strike="noStrike" noProof="0" dirty="0" err="1">
                          <a:solidFill>
                            <a:schemeClr val="tx1"/>
                          </a:solidFill>
                          <a:effectLst/>
                          <a:latin typeface="Calibri" panose="020F0502020204030204" pitchFamily="34" charset="0"/>
                        </a:rPr>
                        <a:t>Optoelektronik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Quantenelektronik</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OPTOSENS </a:t>
                      </a:r>
                      <a:r>
                        <a:rPr lang="en-US" sz="800" b="0" i="0" u="none" strike="noStrike" noProof="0" dirty="0" err="1">
                          <a:solidFill>
                            <a:schemeClr val="tx1"/>
                          </a:solidFill>
                          <a:effectLst/>
                          <a:latin typeface="Calibri" panose="020F0502020204030204" pitchFamily="34" charset="0"/>
                        </a:rPr>
                        <a:t>Optische</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Sensortechnik</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3609582036"/>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chemeClr val="tx1"/>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cnt</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50000"/>
                            </a:schemeClr>
                          </a:solidFill>
                          <a:effectLst/>
                          <a:latin typeface="Calibri" panose="020F0502020204030204" pitchFamily="34" charset="0"/>
                        </a:rPr>
                        <a:t>Munich</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50000"/>
                            </a:schemeClr>
                          </a:solidFill>
                          <a:effectLst/>
                          <a:latin typeface="Calibri" panose="020F0502020204030204" pitchFamily="34" charset="0"/>
                        </a:rPr>
                        <a:t>Rathausplatz</a:t>
                      </a:r>
                      <a:r>
                        <a:rPr lang="en-US" sz="800" b="0" i="0" u="none" strike="noStrike" noProof="0" dirty="0">
                          <a:solidFill>
                            <a:schemeClr val="bg1">
                              <a:lumMod val="50000"/>
                            </a:schemeClr>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Theatinerstr</a:t>
                      </a:r>
                      <a:r>
                        <a:rPr lang="en-US" sz="800" b="0" i="0" u="none" strike="noStrike" noProof="0" dirty="0">
                          <a:solidFill>
                            <a:schemeClr val="bg1">
                              <a:lumMod val="85000"/>
                            </a:schemeClr>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Lichtenbergstr</a:t>
                      </a:r>
                      <a:r>
                        <a:rPr lang="en-US" sz="800" b="0" i="0" u="none" strike="noStrike" noProof="0" dirty="0">
                          <a:solidFill>
                            <a:schemeClr val="bg1">
                              <a:lumMod val="85000"/>
                            </a:schemeClr>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Schleißheimer</a:t>
                      </a:r>
                      <a:r>
                        <a:rPr lang="en-US" sz="800" b="0" i="0" u="none" strike="noStrike" noProof="0"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Keplerstrasse</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Motorsportgruppe</a:t>
                      </a:r>
                      <a:r>
                        <a:rPr lang="en-US" sz="800" b="0" i="0" u="none" strike="noStrike" noProof="0" dirty="0">
                          <a:solidFill>
                            <a:schemeClr val="bg1">
                              <a:lumMod val="85000"/>
                            </a:schemeClr>
                          </a:solidFill>
                          <a:effectLst/>
                          <a:latin typeface="Calibri" panose="020F0502020204030204" pitchFamily="34" charset="0"/>
                        </a:rPr>
                        <a:t> an der </a:t>
                      </a:r>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Vereinigung</a:t>
                      </a:r>
                      <a:r>
                        <a:rPr lang="en-US" sz="800" b="0" i="0" u="none" strike="noStrike" noProof="0" dirty="0">
                          <a:solidFill>
                            <a:schemeClr val="bg1">
                              <a:lumMod val="85000"/>
                            </a:schemeClr>
                          </a:solidFill>
                          <a:effectLst/>
                          <a:latin typeface="Calibri" panose="020F0502020204030204" pitchFamily="34" charset="0"/>
                        </a:rPr>
                        <a:t> von </a:t>
                      </a:r>
                      <a:r>
                        <a:rPr lang="en-US" sz="800" b="0" i="0" u="none" strike="noStrike" noProof="0" dirty="0" err="1">
                          <a:solidFill>
                            <a:schemeClr val="bg1">
                              <a:lumMod val="85000"/>
                            </a:schemeClr>
                          </a:solidFill>
                          <a:effectLst/>
                          <a:latin typeface="Calibri" panose="020F0502020204030204" pitchFamily="34" charset="0"/>
                        </a:rPr>
                        <a:t>Freunden</a:t>
                      </a:r>
                      <a:r>
                        <a:rPr lang="en-US" sz="800" b="0" i="0" u="none" strike="noStrike" noProof="0" dirty="0">
                          <a:solidFill>
                            <a:schemeClr val="bg1">
                              <a:lumMod val="85000"/>
                            </a:schemeClr>
                          </a:solidFill>
                          <a:effectLst/>
                          <a:latin typeface="Calibri" panose="020F0502020204030204" pitchFamily="34" charset="0"/>
                        </a:rPr>
                        <a:t> der </a:t>
                      </a:r>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Förderkreis</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Betriebswirtschaft</a:t>
                      </a:r>
                      <a:r>
                        <a:rPr lang="en-US" sz="800" b="0" i="0" u="none" strike="noStrike" noProof="0" dirty="0">
                          <a:solidFill>
                            <a:schemeClr val="bg1">
                              <a:lumMod val="85000"/>
                            </a:schemeClr>
                          </a:solidFill>
                          <a:effectLst/>
                          <a:latin typeface="Calibri" panose="020F0502020204030204" pitchFamily="34" charset="0"/>
                        </a:rPr>
                        <a:t> an der </a:t>
                      </a:r>
                      <a:r>
                        <a:rPr lang="en-US" sz="800" b="0" i="0" u="none" strike="noStrike" noProof="0" dirty="0">
                          <a:solidFill>
                            <a:schemeClr val="tx1"/>
                          </a:solidFill>
                          <a:effectLst/>
                          <a:latin typeface="Calibri" panose="020F0502020204030204" pitchFamily="34" charset="0"/>
                        </a:rPr>
                        <a:t>Universität Stuttgart </a:t>
                      </a:r>
                      <a:r>
                        <a:rPr lang="en-US" sz="800" b="0" i="0" u="none" strike="noStrike" noProof="0"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a:t>
                      </a:r>
                      <a:r>
                        <a:rPr lang="en-US" sz="800" b="0" i="0" u="none" strike="noStrike" noProof="0" dirty="0" err="1">
                          <a:solidFill>
                            <a:schemeClr val="tx1"/>
                          </a:solidFill>
                          <a:effectLst/>
                          <a:latin typeface="Calibri" panose="020F0502020204030204" pitchFamily="34" charset="0"/>
                        </a:rPr>
                        <a:t>mit</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beschränkter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Haftung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err="1">
                          <a:solidFill>
                            <a:schemeClr val="bg1">
                              <a:lumMod val="85000"/>
                            </a:schemeClr>
                          </a:solidFill>
                          <a:effectLst/>
                          <a:latin typeface="Calibri" panose="020F0502020204030204" pitchFamily="34" charset="0"/>
                        </a:rPr>
                        <a:t>Verwaltungsgesellschaft</a:t>
                      </a:r>
                      <a:r>
                        <a:rPr lang="en-US" sz="800" b="0" i="0" u="none" strike="noStrike" noProof="0"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a:solidFill>
                            <a:schemeClr val="bg1">
                              <a:lumMod val="85000"/>
                            </a:schemeClr>
                          </a:solidFill>
                          <a:effectLst/>
                          <a:latin typeface="Calibri" panose="020F0502020204030204" pitchFamily="34" charset="0"/>
                        </a:rPr>
                        <a:t>Holding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 </a:t>
                      </a:r>
                      <a:r>
                        <a:rPr lang="en-US" sz="800" b="0" i="0" u="none" strike="noStrike" noProof="0" dirty="0" err="1">
                          <a:solidFill>
                            <a:schemeClr val="bg1">
                              <a:lumMod val="50000"/>
                            </a:schemeClr>
                          </a:solidFill>
                          <a:effectLst/>
                          <a:latin typeface="Calibri" panose="020F0502020204030204" pitchFamily="34" charset="0"/>
                        </a:rPr>
                        <a:t>Postfach</a:t>
                      </a:r>
                      <a:r>
                        <a:rPr lang="en-US" sz="800" b="0" i="0" u="none" strike="noStrike" noProof="0" dirty="0">
                          <a:solidFill>
                            <a:schemeClr val="bg1">
                              <a:lumMod val="50000"/>
                            </a:schemeClr>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RHONE-POULENC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RP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RP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Acetow</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50000"/>
                            </a:schemeClr>
                          </a:solidFill>
                          <a:effectLst/>
                          <a:latin typeface="Calibri" panose="020F0502020204030204" pitchFamily="34" charset="0"/>
                        </a:rPr>
                        <a:t>Körperschaft</a:t>
                      </a:r>
                      <a:r>
                        <a:rPr lang="en-US" sz="800" b="0" i="0" u="none" strike="noStrike" noProof="0" dirty="0">
                          <a:solidFill>
                            <a:schemeClr val="bg1">
                              <a:lumMod val="50000"/>
                            </a:schemeClr>
                          </a:solidFill>
                          <a:effectLst/>
                          <a:latin typeface="Calibri" panose="020F0502020204030204" pitchFamily="34" charset="0"/>
                        </a:rPr>
                        <a:t> des </a:t>
                      </a:r>
                      <a:r>
                        <a:rPr lang="en-US" sz="800" b="0" i="0" u="none" strike="noStrike" noProof="0" dirty="0" err="1">
                          <a:solidFill>
                            <a:schemeClr val="bg1">
                              <a:lumMod val="50000"/>
                            </a:schemeClr>
                          </a:solidFill>
                          <a:effectLst/>
                          <a:latin typeface="Calibri" panose="020F0502020204030204" pitchFamily="34" charset="0"/>
                        </a:rPr>
                        <a:t>öffentlichen</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Rechts</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Kaiserstrasse</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Fliegergruppe am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Fliegergruppe am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 </a:t>
                      </a:r>
                      <a:r>
                        <a:rPr lang="en-US" sz="800" b="0" i="0" u="none" strike="noStrike" noProof="0"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KIT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DMS </a:t>
                      </a:r>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 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DMS </a:t>
                      </a:r>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 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BROTZMANN CO</a:t>
                      </a:r>
                      <a:r>
                        <a:rPr lang="en-US" sz="800" b="0" i="0" u="none" strike="noStrike" noProof="0" dirty="0">
                          <a:solidFill>
                            <a:srgbClr val="FF0000"/>
                          </a:solidFill>
                          <a:effectLst/>
                          <a:latin typeface="Calibri" panose="020F0502020204030204" pitchFamily="34" charset="0"/>
                        </a:rPr>
                        <a:t>M</a:t>
                      </a:r>
                      <a:r>
                        <a:rPr lang="en-US" sz="800" b="0" i="0" u="none" strike="noStrike" noProof="0"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a:t>
                      </a:r>
                      <a:r>
                        <a:rPr lang="en-US" sz="800" b="0" i="0" u="none" strike="noStrike" noProof="0" dirty="0" err="1">
                          <a:solidFill>
                            <a:schemeClr val="tx1"/>
                          </a:solidFill>
                          <a:effectLst/>
                          <a:latin typeface="Calibri" panose="020F0502020204030204" pitchFamily="34" charset="0"/>
                        </a:rPr>
                        <a:t>Brotzmann</a:t>
                      </a:r>
                      <a:r>
                        <a:rPr lang="en-US" sz="800" b="0" i="0" u="none" strike="noStrike" noProof="0" dirty="0">
                          <a:solidFill>
                            <a:schemeClr val="tx1"/>
                          </a:solidFill>
                          <a:effectLst/>
                          <a:latin typeface="Calibri" panose="020F0502020204030204" pitchFamily="34" charset="0"/>
                        </a:rPr>
                        <a:t> Co</a:t>
                      </a:r>
                      <a:r>
                        <a:rPr lang="en-US" sz="800" b="0" i="0" u="none" strike="noStrike" noProof="0" dirty="0">
                          <a:solidFill>
                            <a:srgbClr val="FF0000"/>
                          </a:solidFill>
                          <a:effectLst/>
                          <a:latin typeface="Calibri" panose="020F0502020204030204" pitchFamily="34" charset="0"/>
                        </a:rPr>
                        <a:t>n</a:t>
                      </a:r>
                      <a:r>
                        <a:rPr lang="en-US" sz="800" b="0" i="0" u="none" strike="noStrike" noProof="0"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FF0000"/>
                          </a:solidFill>
                          <a:effectLst/>
                          <a:latin typeface="Calibri" panose="020F0502020204030204" pitchFamily="34" charset="0"/>
                        </a:rPr>
                        <a:t>K a r l B r o t z m a n </a:t>
                      </a:r>
                      <a:r>
                        <a:rPr lang="en-US" sz="800" b="0" i="0" u="none" strike="noStrike" noProof="0" dirty="0" err="1">
                          <a:solidFill>
                            <a:srgbClr val="FF0000"/>
                          </a:solidFill>
                          <a:effectLst/>
                          <a:latin typeface="Calibri" panose="020F0502020204030204" pitchFamily="34" charset="0"/>
                        </a:rPr>
                        <a:t>n</a:t>
                      </a:r>
                      <a:r>
                        <a:rPr lang="en-US" sz="800" b="0" i="0" u="none" strike="noStrike" noProof="0" dirty="0">
                          <a:solidFill>
                            <a:srgbClr val="FF0000"/>
                          </a:solidFill>
                          <a:effectLst/>
                          <a:latin typeface="Calibri" panose="020F0502020204030204" pitchFamily="34" charset="0"/>
                        </a:rPr>
                        <a:t> C o n s u l t </a:t>
                      </a:r>
                      <a:r>
                        <a:rPr lang="en-US" sz="800" b="0" i="0" u="none" strike="noStrike" noProof="0" dirty="0" err="1">
                          <a:solidFill>
                            <a:srgbClr val="FF0000"/>
                          </a:solidFill>
                          <a:effectLst/>
                          <a:latin typeface="Calibri" panose="020F0502020204030204" pitchFamily="34" charset="0"/>
                        </a:rPr>
                        <a:t>i</a:t>
                      </a:r>
                      <a:r>
                        <a:rPr lang="en-US" sz="800" b="0" i="0" u="none" strike="noStrike" noProof="0" dirty="0">
                          <a:solidFill>
                            <a:srgbClr val="FF0000"/>
                          </a:solidFill>
                          <a:effectLst/>
                          <a:latin typeface="Calibri" panose="020F0502020204030204" pitchFamily="34" charset="0"/>
                        </a:rPr>
                        <a:t> n g </a:t>
                      </a:r>
                      <a:r>
                        <a:rPr lang="en-US" sz="800" b="0" i="0" u="none" strike="noStrike" noProof="0"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e</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Borntalstrasse</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bg1">
                              <a:lumMod val="50000"/>
                            </a:schemeClr>
                          </a:solidFill>
                          <a:effectLst/>
                          <a:latin typeface="Calibri" panose="020F0502020204030204" pitchFamily="34" charset="0"/>
                        </a:rPr>
                        <a:t>/Thür</a:t>
                      </a:r>
                      <a:r>
                        <a:rPr lang="en-US" sz="800" b="0" i="0" u="none" strike="noStrike" noProof="0"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u</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u</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 L M Ü </a:t>
                      </a:r>
                      <a:r>
                        <a:rPr lang="en-US" sz="800" b="0" i="0" u="none" strike="noStrike" noProof="0" dirty="0">
                          <a:solidFill>
                            <a:srgbClr val="FF0000"/>
                          </a:solidFill>
                          <a:effectLst/>
                          <a:latin typeface="Calibri" panose="020F0502020204030204" pitchFamily="34" charset="0"/>
                        </a:rPr>
                        <a:t>PRAZISIONSWERKZEUG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ALMÜ </a:t>
                      </a:r>
                      <a:r>
                        <a:rPr lang="en-US" sz="800" b="0" i="0" u="none" strike="noStrike" noProof="0" dirty="0" err="1">
                          <a:solidFill>
                            <a:srgbClr val="FF0000"/>
                          </a:solidFill>
                          <a:effectLst/>
                          <a:latin typeface="Calibri" panose="020F0502020204030204" pitchFamily="34" charset="0"/>
                        </a:rPr>
                        <a:t>Präzisions-Werkzeug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Gesell</a:t>
                      </a:r>
                      <a:r>
                        <a:rPr lang="en-US" sz="800" b="0" i="0" u="none" strike="noStrike" noProof="0" dirty="0">
                          <a:solidFill>
                            <a:srgbClr val="FF0000"/>
                          </a:solidFill>
                          <a:effectLst/>
                          <a:latin typeface="Calibri" panose="020F0502020204030204" pitchFamily="34" charset="0"/>
                        </a:rPr>
                        <a:t>sch</a:t>
                      </a:r>
                      <a:r>
                        <a:rPr lang="en-US" sz="800" b="0" i="0" u="none" strike="noStrike" noProof="0" dirty="0">
                          <a:solidFill>
                            <a:schemeClr val="bg1">
                              <a:lumMod val="50000"/>
                            </a:schemeClr>
                          </a:solidFill>
                          <a:effectLst/>
                          <a:latin typeface="Calibri" panose="020F0502020204030204" pitchFamily="34" charset="0"/>
                        </a:rPr>
                        <a:t>aft </a:t>
                      </a:r>
                      <a:r>
                        <a:rPr lang="en-US" sz="800" b="0" i="0" u="none" strike="noStrike" noProof="0" dirty="0" err="1">
                          <a:solidFill>
                            <a:schemeClr val="bg1">
                              <a:lumMod val="50000"/>
                            </a:schemeClr>
                          </a:solidFill>
                          <a:effectLst/>
                          <a:latin typeface="Calibri" panose="020F0502020204030204" pitchFamily="34" charset="0"/>
                        </a:rPr>
                        <a:t>zur</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Förderung</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angewandter</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a:solidFill>
                            <a:srgbClr val="FF0000"/>
                          </a:solidFill>
                          <a:effectLst/>
                          <a:latin typeface="Calibri" panose="020F0502020204030204" pitchFamily="34" charset="0"/>
                        </a:rPr>
                        <a:t>Opti</a:t>
                      </a:r>
                      <a:r>
                        <a:rPr lang="en-US" sz="800" b="0" i="0" u="none" strike="noStrike" noProof="0" dirty="0">
                          <a:solidFill>
                            <a:schemeClr val="bg1">
                              <a:lumMod val="50000"/>
                            </a:schemeClr>
                          </a:solidFill>
                          <a:effectLst/>
                          <a:latin typeface="Calibri" panose="020F0502020204030204" pitchFamily="34" charset="0"/>
                        </a:rPr>
                        <a:t>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rgbClr val="FF0000"/>
                          </a:solidFill>
                          <a:effectLst/>
                          <a:latin typeface="Calibri" panose="020F0502020204030204" pitchFamily="34" charset="0"/>
                        </a:rPr>
                        <a:t>Opto</a:t>
                      </a:r>
                      <a:r>
                        <a:rPr lang="en-US" sz="800" b="0" i="0" u="none" strike="noStrike" noProof="0" dirty="0" err="1">
                          <a:solidFill>
                            <a:schemeClr val="bg1">
                              <a:lumMod val="50000"/>
                            </a:schemeClr>
                          </a:solidFill>
                          <a:effectLst/>
                          <a:latin typeface="Calibri" panose="020F0502020204030204" pitchFamily="34" charset="0"/>
                        </a:rPr>
                        <a:t>elektro</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Quantenelektro</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FF0000"/>
                          </a:solidFill>
                          <a:effectLst/>
                          <a:latin typeface="Calibri" panose="020F0502020204030204" pitchFamily="34" charset="0"/>
                        </a:rPr>
                        <a:t>OPTO</a:t>
                      </a:r>
                      <a:r>
                        <a:rPr lang="en-US" sz="800" b="0" i="0" u="none" strike="noStrike" noProof="0" dirty="0">
                          <a:solidFill>
                            <a:schemeClr val="bg1">
                              <a:lumMod val="85000"/>
                            </a:schemeClr>
                          </a:solidFill>
                          <a:effectLst/>
                          <a:latin typeface="Calibri" panose="020F0502020204030204" pitchFamily="34" charset="0"/>
                        </a:rPr>
                        <a:t>SENS </a:t>
                      </a:r>
                      <a:r>
                        <a:rPr lang="en-US" sz="800" b="0" i="0" u="none" strike="noStrike" noProof="0" dirty="0" err="1">
                          <a:solidFill>
                            <a:srgbClr val="FF0000"/>
                          </a:solidFill>
                          <a:effectLst/>
                          <a:latin typeface="Calibri" panose="020F0502020204030204" pitchFamily="34" charset="0"/>
                        </a:rPr>
                        <a:t>Optisch</a:t>
                      </a:r>
                      <a:r>
                        <a:rPr lang="en-US" sz="800" b="0" i="0" u="none" strike="noStrike" noProof="0" dirty="0" err="1">
                          <a:solidFill>
                            <a:schemeClr val="bg1">
                              <a:lumMod val="85000"/>
                            </a:schemeClr>
                          </a:solidFill>
                          <a:effectLst/>
                          <a:latin typeface="Calibri" panose="020F0502020204030204" pitchFamily="34" charset="0"/>
                        </a:rPr>
                        <a:t>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a:solidFill>
                            <a:schemeClr val="tx1"/>
                          </a:solidFill>
                          <a:effectLst/>
                          <a:latin typeface="Calibri" panose="020F0502020204030204" pitchFamily="34" charset="0"/>
                        </a:rPr>
                        <a:t>und </a:t>
                      </a:r>
                      <a:r>
                        <a:rPr lang="en-US" sz="800" b="0" i="0" u="none" strike="noStrike" noProof="0" dirty="0" err="1">
                          <a:solidFill>
                            <a:schemeClr val="bg1">
                              <a:lumMod val="85000"/>
                            </a:schemeClr>
                          </a:solidFill>
                          <a:effectLst/>
                          <a:latin typeface="Calibri" panose="020F0502020204030204" pitchFamily="34" charset="0"/>
                        </a:rPr>
                        <a:t>Sensortech</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sp>
        <p:nvSpPr>
          <p:cNvPr id="2" name="Titel 1"/>
          <p:cNvSpPr>
            <a:spLocks noGrp="1"/>
          </p:cNvSpPr>
          <p:nvPr>
            <p:ph type="title"/>
          </p:nvPr>
        </p:nvSpPr>
        <p:spPr/>
        <p:txBody>
          <a:bodyPr/>
          <a:lstStyle/>
          <a:p>
            <a:r>
              <a:rPr lang="en-US" noProof="0" dirty="0"/>
              <a:t>Preview</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10</a:t>
            </a:fld>
            <a:endParaRPr lang="en-US" noProof="0"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896339336"/>
              </p:ext>
            </p:extLst>
          </p:nvPr>
        </p:nvGraphicFramePr>
        <p:xfrm>
          <a:off x="180000" y="720000"/>
          <a:ext cx="7419782" cy="49171823"/>
        </p:xfrm>
        <a:graphic>
          <a:graphicData uri="http://schemas.openxmlformats.org/drawingml/2006/table">
            <a:tbl>
              <a:tblPr/>
              <a:tblGrid>
                <a:gridCol w="468000">
                  <a:extLst>
                    <a:ext uri="{9D8B030D-6E8A-4147-A177-3AD203B41FA5}">
                      <a16:colId xmlns:a16="http://schemas.microsoft.com/office/drawing/2014/main" val="20000"/>
                    </a:ext>
                  </a:extLst>
                </a:gridCol>
                <a:gridCol w="3887668">
                  <a:extLst>
                    <a:ext uri="{9D8B030D-6E8A-4147-A177-3AD203B41FA5}">
                      <a16:colId xmlns:a16="http://schemas.microsoft.com/office/drawing/2014/main" val="20001"/>
                    </a:ext>
                  </a:extLst>
                </a:gridCol>
                <a:gridCol w="1775345">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769">
                  <a:extLst>
                    <a:ext uri="{9D8B030D-6E8A-4147-A177-3AD203B41FA5}">
                      <a16:colId xmlns:a16="http://schemas.microsoft.com/office/drawing/2014/main" val="20004"/>
                    </a:ext>
                  </a:extLst>
                </a:gridCol>
              </a:tblGrid>
              <a:tr h="0">
                <a:tc>
                  <a:txBody>
                    <a:bodyPr/>
                    <a:lstStyle/>
                    <a:p>
                      <a:pPr algn="ctr" fontAlgn="b"/>
                      <a:r>
                        <a:rPr lang="en-US" sz="800" b="0" i="0" u="none" strike="noStrike" noProof="0" dirty="0">
                          <a:solidFill>
                            <a:srgbClr val="000000"/>
                          </a:solidFill>
                          <a:effectLst/>
                          <a:latin typeface="Calibri" panose="020F0502020204030204" pitchFamily="34" charset="0"/>
                        </a:rPr>
                        <a:t>identity</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36000" marR="36000" marT="703" marB="0" anchor="b">
                    <a:lnL>
                      <a:noFill/>
                    </a:lnL>
                    <a:lnR>
                      <a:noFill/>
                    </a:lnR>
                    <a:lnT>
                      <a:noFill/>
                    </a:lnT>
                    <a:lnB>
                      <a:noFill/>
                    </a:lnB>
                  </a:tcPr>
                </a:tc>
                <a:extLst>
                  <a:ext uri="{0D108BD9-81ED-4DB2-BD59-A6C34878D82A}">
                    <a16:rowId xmlns:a16="http://schemas.microsoft.com/office/drawing/2014/main" val="100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CPB </a:t>
                      </a:r>
                      <a:r>
                        <a:rPr lang="en-US" sz="800" b="0" i="0" u="none" strike="noStrike" noProof="0" dirty="0" err="1">
                          <a:solidFill>
                            <a:srgbClr val="000000"/>
                          </a:solidFill>
                          <a:effectLst/>
                          <a:latin typeface="Calibri" panose="020F0502020204030204" pitchFamily="34" charset="0"/>
                        </a:rPr>
                        <a:t>Cassetten</a:t>
                      </a:r>
                      <a:r>
                        <a:rPr lang="en-US" sz="800" b="0" i="0" u="none" strike="noStrike" noProof="0" dirty="0">
                          <a:solidFill>
                            <a:srgbClr val="000000"/>
                          </a:solidFill>
                          <a:effectLst/>
                          <a:latin typeface="Calibri" panose="020F0502020204030204" pitchFamily="34" charset="0"/>
                        </a:rPr>
                        <a:t>-Produktion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Ballinstr</a:t>
                      </a:r>
                      <a:r>
                        <a:rPr lang="en-US" sz="800" b="0" i="0" u="none" strike="noStrike" noProof="0"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Kanalstr</a:t>
                      </a:r>
                      <a:r>
                        <a:rPr lang="en-US" sz="800" b="0" i="0" u="none" strike="noStrike" noProof="0" dirty="0">
                          <a:solidFill>
                            <a:srgbClr val="000000"/>
                          </a:solidFill>
                          <a:effectLst/>
                          <a:latin typeface="Calibri" panose="020F0502020204030204" pitchFamily="34" charset="0"/>
                        </a:rPr>
                        <a:t>. 66-74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Münchhoff</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Nollendorfplatz</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Elektron Berlin GmbH </a:t>
                      </a:r>
                      <a:r>
                        <a:rPr lang="en-US" sz="800" b="0" i="0" u="none" strike="noStrike" noProof="0" dirty="0" err="1">
                          <a:solidFill>
                            <a:srgbClr val="000000"/>
                          </a:solidFill>
                          <a:effectLst/>
                          <a:latin typeface="Calibri" panose="020F0502020204030204" pitchFamily="34" charset="0"/>
                        </a:rPr>
                        <a:t>Fertigung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elektrotechnischer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Spezialartikel</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Innungsstr</a:t>
                      </a:r>
                      <a:r>
                        <a:rPr lang="en-US" sz="800" b="0" i="0" u="none" strike="noStrike" noProof="0" dirty="0">
                          <a:solidFill>
                            <a:srgbClr val="000000"/>
                          </a:solidFill>
                          <a:effectLst/>
                          <a:latin typeface="Calibri" panose="020F0502020204030204" pitchFamily="34" charset="0"/>
                        </a:rPr>
                        <a:t>.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Alois </a:t>
                      </a:r>
                      <a:r>
                        <a:rPr lang="en-US" sz="800" b="0" i="0" u="none" strike="noStrike" noProof="0" dirty="0" err="1">
                          <a:solidFill>
                            <a:srgbClr val="000000"/>
                          </a:solidFill>
                          <a:effectLst/>
                          <a:latin typeface="Calibri" panose="020F0502020204030204" pitchFamily="34" charset="0"/>
                        </a:rPr>
                        <a:t>Dallmayr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Kaffee</a:t>
                      </a:r>
                      <a:r>
                        <a:rPr lang="en-US" sz="800" b="0" i="0" u="none" strike="noStrike" noProof="0" dirty="0">
                          <a:solidFill>
                            <a:srgbClr val="000000"/>
                          </a:solidFill>
                          <a:effectLst/>
                          <a:latin typeface="Calibri" panose="020F0502020204030204" pitchFamily="34" charset="0"/>
                        </a:rPr>
                        <a:t> Berlin GmbH u.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Haberstr</a:t>
                      </a:r>
                      <a:r>
                        <a:rPr lang="en-US" sz="800" b="0" i="0" u="none" strike="noStrike" noProof="0" dirty="0">
                          <a:solidFill>
                            <a:srgbClr val="000000"/>
                          </a:solidFill>
                          <a:effectLst/>
                          <a:latin typeface="Calibri" panose="020F0502020204030204" pitchFamily="34" charset="0"/>
                        </a:rPr>
                        <a:t>. 9-13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Mampe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22-34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127-131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Franklinstr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Centro-Boden Berlin KG Wohn- und </a:t>
                      </a:r>
                      <a:r>
                        <a:rPr lang="en-US" sz="800" b="0" i="0" u="none" strike="noStrike" noProof="0" dirty="0" err="1">
                          <a:solidFill>
                            <a:srgbClr val="000000"/>
                          </a:solidFill>
                          <a:effectLst/>
                          <a:latin typeface="Calibri" panose="020F0502020204030204" pitchFamily="34" charset="0"/>
                        </a:rPr>
                        <a:t>Gewerbebauten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Centrum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Joachimstaler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Haberstr</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Helmholtz-Zentrum Berlin für </a:t>
                      </a:r>
                      <a:r>
                        <a:rPr lang="en-US" sz="800" b="0" i="0" u="none" strike="noStrike" noProof="0" dirty="0" err="1">
                          <a:solidFill>
                            <a:srgbClr val="000000"/>
                          </a:solidFill>
                          <a:effectLst/>
                          <a:latin typeface="Calibri" panose="020F0502020204030204" pitchFamily="34" charset="0"/>
                        </a:rPr>
                        <a:t>Materialien</a:t>
                      </a:r>
                      <a:r>
                        <a:rPr lang="en-US" sz="800" b="0" i="0" u="none" strike="noStrike" noProof="0" dirty="0">
                          <a:solidFill>
                            <a:srgbClr val="000000"/>
                          </a:solidFill>
                          <a:effectLst/>
                          <a:latin typeface="Calibri" panose="020F0502020204030204" pitchFamily="34" charset="0"/>
                        </a:rPr>
                        <a:t> und Energie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Hifi</a:t>
                      </a:r>
                      <a:r>
                        <a:rPr lang="en-US" sz="800" b="0" i="0" u="none" strike="noStrike" noProof="0" dirty="0">
                          <a:solidFill>
                            <a:srgbClr val="000000"/>
                          </a:solidFill>
                          <a:effectLst/>
                          <a:latin typeface="Calibri" panose="020F0502020204030204" pitchFamily="34" charset="0"/>
                        </a:rPr>
                        <a:t> Elements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Hubertusstr</a:t>
                      </a:r>
                      <a:r>
                        <a:rPr lang="en-US" sz="800" b="0" i="0" u="none" strike="noStrike" noProof="0" dirty="0">
                          <a:solidFill>
                            <a:srgbClr val="000000"/>
                          </a:solidFill>
                          <a:effectLst/>
                          <a:latin typeface="Calibri" panose="020F0502020204030204" pitchFamily="34" charset="0"/>
                        </a:rPr>
                        <a:t>. 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 </a:t>
                      </a:r>
                      <a:r>
                        <a:rPr lang="en-US" sz="800" b="0" i="0" u="none" strike="noStrike" noProof="0" dirty="0" err="1">
                          <a:solidFill>
                            <a:srgbClr val="000000"/>
                          </a:solidFill>
                          <a:effectLst/>
                          <a:latin typeface="Calibri" panose="020F0502020204030204" pitchFamily="34" charset="0"/>
                        </a:rPr>
                        <a:t>Fernsehdienst</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71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Klosterfrau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Turmstr</a:t>
                      </a:r>
                      <a:r>
                        <a:rPr lang="en-US" sz="800" b="0" i="0" u="none" strike="noStrike" noProof="0" dirty="0">
                          <a:solidFill>
                            <a:srgbClr val="000000"/>
                          </a:solidFill>
                          <a:effectLst/>
                          <a:latin typeface="Calibri" panose="020F0502020204030204" pitchFamily="34" charset="0"/>
                        </a:rPr>
                        <a:t>. 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Turmstr</a:t>
                      </a:r>
                      <a:r>
                        <a:rPr lang="en-US" sz="800" b="0" i="0" u="none" strike="noStrike" noProof="0" dirty="0">
                          <a:solidFill>
                            <a:srgbClr val="000000"/>
                          </a:solidFill>
                          <a:effectLst/>
                          <a:latin typeface="Calibri" panose="020F0502020204030204" pitchFamily="34" charset="0"/>
                        </a:rPr>
                        <a:t>. 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"Pia Rucci"""" Sportswear </a:t>
                      </a:r>
                      <a:r>
                        <a:rPr lang="en-US" sz="800" b="0" i="0" u="none" strike="noStrike" noProof="0" dirty="0" err="1">
                          <a:solidFill>
                            <a:srgbClr val="000000"/>
                          </a:solidFill>
                          <a:effectLst/>
                          <a:latin typeface="Calibri" panose="020F0502020204030204" pitchFamily="34" charset="0"/>
                        </a:rPr>
                        <a:t>Bekleidungsvertriebs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Lützowufer</a:t>
                      </a:r>
                      <a:r>
                        <a:rPr lang="en-US" sz="800" b="0" i="0" u="none" strike="noStrike" noProof="0" dirty="0">
                          <a:solidFill>
                            <a:srgbClr val="000000"/>
                          </a:solidFill>
                          <a:effectLst/>
                          <a:latin typeface="Calibri" panose="020F0502020204030204" pitchFamily="34" charset="0"/>
                        </a:rPr>
                        <a:t> 12-13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Zerpenschleuser</a:t>
                      </a:r>
                      <a:r>
                        <a:rPr lang="en-US" sz="800" b="0" i="0" u="none" strike="noStrike" noProof="0" dirty="0">
                          <a:solidFill>
                            <a:srgbClr val="000000"/>
                          </a:solidFill>
                          <a:effectLst/>
                          <a:latin typeface="Calibri" panose="020F0502020204030204" pitchFamily="34" charset="0"/>
                        </a:rPr>
                        <a:t> Ring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Saarberg</a:t>
                      </a:r>
                      <a:r>
                        <a:rPr lang="en-US" sz="800" b="0" i="0" u="none" strike="noStrike" noProof="0" dirty="0">
                          <a:solidFill>
                            <a:srgbClr val="000000"/>
                          </a:solidFill>
                          <a:effectLst/>
                          <a:latin typeface="Calibri" panose="020F0502020204030204" pitchFamily="34" charset="0"/>
                        </a:rPr>
                        <a:t> Handel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Messedamm</a:t>
                      </a:r>
                      <a:r>
                        <a:rPr lang="en-US" sz="800" b="0" i="0" u="none" strike="noStrike" noProof="0" dirty="0">
                          <a:solidFill>
                            <a:srgbClr val="000000"/>
                          </a:solidFill>
                          <a:effectLst/>
                          <a:latin typeface="Calibri" panose="020F0502020204030204" pitchFamily="34" charset="0"/>
                        </a:rPr>
                        <a:t>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Metallbauzaun-Montagen</a:t>
                      </a:r>
                      <a:r>
                        <a:rPr lang="en-US" sz="800" b="0" i="0" u="none" strike="noStrike" noProof="0" dirty="0">
                          <a:solidFill>
                            <a:srgbClr val="000000"/>
                          </a:solidFill>
                          <a:effectLst/>
                          <a:latin typeface="Calibri" panose="020F0502020204030204" pitchFamily="34" charset="0"/>
                        </a:rPr>
                        <a:t> Roden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25- 26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Schulzendorfer</a:t>
                      </a:r>
                      <a:r>
                        <a:rPr lang="en-US" sz="800" b="0" i="0" u="none" strike="noStrike" noProof="0" dirty="0">
                          <a:solidFill>
                            <a:srgbClr val="000000"/>
                          </a:solidFill>
                          <a:effectLst/>
                          <a:latin typeface="Calibri" panose="020F0502020204030204" pitchFamily="34" charset="0"/>
                        </a:rPr>
                        <a:t> Str. 23-24Hof</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Oberlandstr</a:t>
                      </a:r>
                      <a:r>
                        <a:rPr lang="en-US" sz="800" b="0" i="0" u="none" strike="noStrike" noProof="0" dirty="0">
                          <a:solidFill>
                            <a:srgbClr val="000000"/>
                          </a:solidFill>
                          <a:effectLst/>
                          <a:latin typeface="Calibri" panose="020F0502020204030204" pitchFamily="34" charset="0"/>
                        </a:rPr>
                        <a:t>. 22-25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Breuer Service Berlin GmbH Industrie- und </a:t>
                      </a:r>
                      <a:r>
                        <a:rPr lang="en-US" sz="800" b="0" i="0" u="none" strike="noStrike" noProof="0" dirty="0" err="1">
                          <a:solidFill>
                            <a:srgbClr val="000000"/>
                          </a:solidFill>
                          <a:effectLst/>
                          <a:latin typeface="Calibri" panose="020F0502020204030204" pitchFamily="34" charset="0"/>
                        </a:rPr>
                        <a:t>Kraftfahrzeugreinigung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Alte </a:t>
                      </a:r>
                      <a:r>
                        <a:rPr lang="en-US" sz="800" b="0" i="0" u="none" strike="noStrike" noProof="0" dirty="0" err="1">
                          <a:solidFill>
                            <a:srgbClr val="000000"/>
                          </a:solidFill>
                          <a:effectLst/>
                          <a:latin typeface="Calibri" panose="020F0502020204030204" pitchFamily="34" charset="0"/>
                        </a:rPr>
                        <a:t>Jakobstr</a:t>
                      </a:r>
                      <a:r>
                        <a:rPr lang="en-US" sz="800" b="0" i="0" u="none" strike="noStrike" noProof="0" dirty="0">
                          <a:solidFill>
                            <a:srgbClr val="000000"/>
                          </a:solidFill>
                          <a:effectLst/>
                          <a:latin typeface="Calibri" panose="020F0502020204030204" pitchFamily="34" charset="0"/>
                        </a:rPr>
                        <a:t>. 135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Flankenschanze</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FRÜH - HERBST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Lankwitzer</a:t>
                      </a:r>
                      <a:r>
                        <a:rPr lang="en-US" sz="800" b="0" i="0" u="none" strike="noStrike" noProof="0" dirty="0">
                          <a:solidFill>
                            <a:srgbClr val="000000"/>
                          </a:solidFill>
                          <a:effectLst/>
                          <a:latin typeface="Calibri" panose="020F0502020204030204" pitchFamily="34" charset="0"/>
                        </a:rPr>
                        <a:t> Str. 23-25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PFENNIGs </a:t>
                      </a:r>
                      <a:r>
                        <a:rPr lang="en-US" sz="800" b="0" i="0" u="none" strike="noStrike" noProof="0" dirty="0" err="1">
                          <a:solidFill>
                            <a:srgbClr val="000000"/>
                          </a:solidFill>
                          <a:effectLst/>
                          <a:latin typeface="Calibri" panose="020F0502020204030204" pitchFamily="34" charset="0"/>
                        </a:rPr>
                        <a:t>Feinkostfabrik</a:t>
                      </a:r>
                      <a:r>
                        <a:rPr lang="en-US" sz="800" b="0" i="0" u="none" strike="noStrike" noProof="0" dirty="0">
                          <a:solidFill>
                            <a:srgbClr val="000000"/>
                          </a:solidFill>
                          <a:effectLst/>
                          <a:latin typeface="Calibri" panose="020F0502020204030204" pitchFamily="34" charset="0"/>
                        </a:rPr>
                        <a:t> Berlin Albert Pfennig + Sohn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22-30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Wachschutz</a:t>
                      </a:r>
                      <a:r>
                        <a:rPr lang="en-US" sz="800" b="0" i="0" u="none" strike="noStrike" noProof="0" dirty="0">
                          <a:solidFill>
                            <a:srgbClr val="000000"/>
                          </a:solidFill>
                          <a:effectLst/>
                          <a:latin typeface="Calibri" panose="020F0502020204030204" pitchFamily="34" charset="0"/>
                        </a:rPr>
                        <a:t> Berlin Werner Loesch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Odenwaldstr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 Kabel GmbH Kabel- und </a:t>
                      </a:r>
                      <a:r>
                        <a:rPr lang="en-US" sz="800" b="0" i="0" u="none" strike="noStrike" noProof="0" dirty="0" err="1">
                          <a:solidFill>
                            <a:srgbClr val="000000"/>
                          </a:solidFill>
                          <a:effectLst/>
                          <a:latin typeface="Calibri" panose="020F0502020204030204" pitchFamily="34" charset="0"/>
                        </a:rPr>
                        <a:t>Freileitungswerk</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Gradestr</a:t>
                      </a:r>
                      <a:r>
                        <a:rPr lang="en-US" sz="800" b="0" i="0" u="none" strike="noStrike" noProof="0" dirty="0">
                          <a:solidFill>
                            <a:srgbClr val="000000"/>
                          </a:solidFill>
                          <a:effectLst/>
                          <a:latin typeface="Calibri" panose="020F0502020204030204" pitchFamily="34" charset="0"/>
                        </a:rPr>
                        <a:t>. 100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KKB </a:t>
                      </a:r>
                      <a:r>
                        <a:rPr lang="en-US" sz="800" b="0" i="0" u="none" strike="noStrike" noProof="0" dirty="0" err="1">
                          <a:solidFill>
                            <a:srgbClr val="000000"/>
                          </a:solidFill>
                          <a:effectLst/>
                          <a:latin typeface="Calibri" panose="020F0502020204030204" pitchFamily="34" charset="0"/>
                        </a:rPr>
                        <a:t>Küchenkomplettbau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Reuchlinstr</a:t>
                      </a:r>
                      <a:r>
                        <a:rPr lang="en-US" sz="800" b="0" i="0" u="none" strike="noStrike" noProof="0" dirty="0">
                          <a:solidFill>
                            <a:srgbClr val="000000"/>
                          </a:solidFill>
                          <a:effectLst/>
                          <a:latin typeface="Calibri" panose="020F0502020204030204" pitchFamily="34" charset="0"/>
                        </a:rPr>
                        <a:t>. 10-11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Hennigsdorfer</a:t>
                      </a:r>
                      <a:r>
                        <a:rPr lang="en-US" sz="800" b="0" i="0" u="none" strike="noStrike" noProof="0" dirty="0">
                          <a:solidFill>
                            <a:srgbClr val="000000"/>
                          </a:solidFill>
                          <a:effectLst/>
                          <a:latin typeface="Calibri" panose="020F0502020204030204" pitchFamily="34" charset="0"/>
                        </a:rPr>
                        <a:t> Str. 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Häfele</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Schichauweg</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4- 6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Möbelkiste</a:t>
                      </a:r>
                      <a:r>
                        <a:rPr lang="en-US" sz="800" b="0" i="0" u="none" strike="noStrike" noProof="0" dirty="0">
                          <a:solidFill>
                            <a:srgbClr val="000000"/>
                          </a:solidFill>
                          <a:effectLst/>
                          <a:latin typeface="Calibri" panose="020F0502020204030204" pitchFamily="34" charset="0"/>
                        </a:rPr>
                        <a:t> GmbH u. Co.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Bundesallee</a:t>
                      </a:r>
                      <a:r>
                        <a:rPr lang="en-US" sz="800" b="0" i="0" u="none" strike="noStrike" noProof="0" dirty="0">
                          <a:solidFill>
                            <a:srgbClr val="000000"/>
                          </a:solidFill>
                          <a:effectLst/>
                          <a:latin typeface="Calibri" panose="020F0502020204030204" pitchFamily="34" charset="0"/>
                        </a:rPr>
                        <a:t> 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Kamps Berlin </a:t>
                      </a:r>
                      <a:r>
                        <a:rPr lang="en-US" sz="800" b="0" i="0" u="none" strike="noStrike" noProof="0" dirty="0" err="1">
                          <a:solidFill>
                            <a:srgbClr val="000000"/>
                          </a:solidFill>
                          <a:effectLst/>
                          <a:latin typeface="Calibri" panose="020F0502020204030204" pitchFamily="34" charset="0"/>
                        </a:rPr>
                        <a:t>Geschäftsführungs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Bergiusstr</a:t>
                      </a:r>
                      <a:r>
                        <a:rPr lang="en-US" sz="800" b="0" i="0" u="none" strike="noStrike" noProof="0" dirty="0">
                          <a:solidFill>
                            <a:srgbClr val="000000"/>
                          </a:solidFill>
                          <a:effectLst/>
                          <a:latin typeface="Calibri" panose="020F0502020204030204" pitchFamily="34" charset="0"/>
                        </a:rPr>
                        <a:t>. 26-28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Novetta</a:t>
                      </a:r>
                      <a:r>
                        <a:rPr lang="en-US" sz="800" b="0" i="0" u="none" strike="noStrike" noProof="0" dirty="0">
                          <a:solidFill>
                            <a:srgbClr val="000000"/>
                          </a:solidFill>
                          <a:effectLst/>
                          <a:latin typeface="Calibri" panose="020F0502020204030204" pitchFamily="34" charset="0"/>
                        </a:rPr>
                        <a:t> Berlin KG NB-</a:t>
                      </a:r>
                      <a:r>
                        <a:rPr lang="en-US" sz="800" b="0" i="0" u="none" strike="noStrike" noProof="0" dirty="0" err="1">
                          <a:solidFill>
                            <a:srgbClr val="000000"/>
                          </a:solidFill>
                          <a:effectLst/>
                          <a:latin typeface="Calibri" panose="020F0502020204030204" pitchFamily="34" charset="0"/>
                        </a:rPr>
                        <a:t>Nahrungsmittelgesellschaft</a:t>
                      </a:r>
                      <a:r>
                        <a:rPr lang="en-US" sz="800" b="0" i="0" u="none" strike="noStrike" noProof="0" dirty="0">
                          <a:solidFill>
                            <a:srgbClr val="000000"/>
                          </a:solidFill>
                          <a:effectLst/>
                          <a:latin typeface="Calibri" panose="020F0502020204030204" pitchFamily="34" charset="0"/>
                        </a:rPr>
                        <a:t> 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221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Urbanstr</a:t>
                      </a:r>
                      <a:r>
                        <a:rPr lang="en-US" sz="800" b="0" i="0" u="none" strike="noStrike" noProof="0" dirty="0">
                          <a:solidFill>
                            <a:srgbClr val="000000"/>
                          </a:solidFill>
                          <a:effectLst/>
                          <a:latin typeface="Calibri" panose="020F0502020204030204" pitchFamily="34" charset="0"/>
                        </a:rPr>
                        <a:t>. 116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Greve-</a:t>
                      </a:r>
                      <a:r>
                        <a:rPr lang="en-US" sz="800" b="0" i="0" u="none" strike="noStrike" noProof="0" dirty="0" err="1">
                          <a:solidFill>
                            <a:srgbClr val="000000"/>
                          </a:solidFill>
                          <a:effectLst/>
                          <a:latin typeface="Calibri" panose="020F0502020204030204" pitchFamily="34" charset="0"/>
                        </a:rPr>
                        <a:t>Chemotechnik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Lindenufer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Hilfswerk-Siedlung</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Evangelisches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Wohungsunternehmen</a:t>
                      </a:r>
                      <a:r>
                        <a:rPr lang="en-US" sz="800" b="0" i="0" u="none" strike="noStrike" noProof="0" dirty="0">
                          <a:solidFill>
                            <a:srgbClr val="000000"/>
                          </a:solidFill>
                          <a:effectLst/>
                          <a:latin typeface="Calibri" panose="020F0502020204030204" pitchFamily="34" charset="0"/>
                        </a:rPr>
                        <a:t>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Kirchblick</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Werbedienst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16-20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Nobelstr</a:t>
                      </a:r>
                      <a:r>
                        <a:rPr lang="en-US" sz="800" b="0" i="0" u="none" strike="noStrike" noProof="0" dirty="0">
                          <a:solidFill>
                            <a:srgbClr val="000000"/>
                          </a:solidFill>
                          <a:effectLst/>
                          <a:latin typeface="Calibri" panose="020F0502020204030204" pitchFamily="34" charset="0"/>
                        </a:rPr>
                        <a:t>. 1- 21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ALU-</a:t>
                      </a:r>
                      <a:r>
                        <a:rPr lang="en-US" sz="800" b="0" i="0" u="none" strike="noStrike" noProof="0" dirty="0" err="1">
                          <a:solidFill>
                            <a:srgbClr val="000000"/>
                          </a:solidFill>
                          <a:effectLst/>
                          <a:latin typeface="Calibri" panose="020F0502020204030204" pitchFamily="34" charset="0"/>
                        </a:rPr>
                        <a:t>Druckguß</a:t>
                      </a:r>
                      <a:r>
                        <a:rPr lang="en-US" sz="800" b="0" i="0" u="none" strike="noStrike" noProof="0" dirty="0">
                          <a:solidFill>
                            <a:srgbClr val="000000"/>
                          </a:solidFill>
                          <a:effectLst/>
                          <a:latin typeface="Calibri" panose="020F0502020204030204" pitchFamily="34" charset="0"/>
                        </a:rPr>
                        <a:t>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Roedernallee</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BAB </a:t>
                      </a:r>
                      <a:r>
                        <a:rPr lang="en-US" sz="800" b="0" i="0" u="none" strike="noStrike" noProof="0" dirty="0" err="1">
                          <a:solidFill>
                            <a:srgbClr val="000000"/>
                          </a:solidFill>
                          <a:effectLst/>
                          <a:latin typeface="Calibri" panose="020F0502020204030204" pitchFamily="34" charset="0"/>
                        </a:rPr>
                        <a:t>Stahlhandelsgesellschaft</a:t>
                      </a:r>
                      <a:r>
                        <a:rPr lang="en-US" sz="800" b="0" i="0" u="none" strike="noStrike" noProof="0" dirty="0">
                          <a:solidFill>
                            <a:srgbClr val="000000"/>
                          </a:solidFill>
                          <a:effectLst/>
                          <a:latin typeface="Calibri" panose="020F0502020204030204" pitchFamily="34" charset="0"/>
                        </a:rPr>
                        <a:t> mbH -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Föllmer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Foxweg</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Landshuter</a:t>
                      </a:r>
                      <a:r>
                        <a:rPr lang="en-US" sz="800" b="0" i="0" u="none" strike="noStrike" noProof="0" dirty="0">
                          <a:solidFill>
                            <a:srgbClr val="000000"/>
                          </a:solidFill>
                          <a:effectLst/>
                          <a:latin typeface="Calibri" panose="020F0502020204030204" pitchFamily="34" charset="0"/>
                        </a:rPr>
                        <a:t> Str.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Druckfarbenfabrik</a:t>
                      </a:r>
                      <a:r>
                        <a:rPr lang="en-US" sz="800" b="0" i="0" u="none" strike="noStrike" noProof="0" dirty="0">
                          <a:solidFill>
                            <a:srgbClr val="000000"/>
                          </a:solidFill>
                          <a:effectLst/>
                          <a:latin typeface="Calibri" panose="020F0502020204030204" pitchFamily="34" charset="0"/>
                        </a:rPr>
                        <a:t> Berlin KG Gebr. Schmidt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Ullsteinstr</a:t>
                      </a:r>
                      <a:r>
                        <a:rPr lang="en-US" sz="800" b="0" i="0" u="none" strike="noStrike" noProof="0" dirty="0">
                          <a:solidFill>
                            <a:srgbClr val="000000"/>
                          </a:solidFill>
                          <a:effectLst/>
                          <a:latin typeface="Calibri" panose="020F0502020204030204" pitchFamily="34" charset="0"/>
                        </a:rPr>
                        <a:t>. 108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Schälerbau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Ferdinand Schmidt </a:t>
                      </a:r>
                      <a:r>
                        <a:rPr lang="en-US" sz="800" b="0" i="0" u="none" strike="noStrike" noProof="0" dirty="0" err="1">
                          <a:solidFill>
                            <a:srgbClr val="000000"/>
                          </a:solidFill>
                          <a:effectLst/>
                          <a:latin typeface="Calibri" panose="020F0502020204030204" pitchFamily="34" charset="0"/>
                        </a:rPr>
                        <a:t>Genuport</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Rechenzentrum</a:t>
                      </a:r>
                      <a:r>
                        <a:rPr lang="en-US" sz="800" b="0" i="0" u="none" strike="noStrike" noProof="0" dirty="0">
                          <a:solidFill>
                            <a:srgbClr val="000000"/>
                          </a:solidFill>
                          <a:effectLst/>
                          <a:latin typeface="Calibri" panose="020F0502020204030204" pitchFamily="34" charset="0"/>
                        </a:rPr>
                        <a:t> Berlin K. Steckel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Möve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Restaurantbetriebsgesellschaft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MTB </a:t>
                      </a:r>
                      <a:r>
                        <a:rPr lang="en-US" sz="800" b="0" i="0" u="none" strike="noStrike" noProof="0" dirty="0" err="1">
                          <a:solidFill>
                            <a:srgbClr val="000000"/>
                          </a:solidFill>
                          <a:effectLst/>
                          <a:latin typeface="Calibri" panose="020F0502020204030204" pitchFamily="34" charset="0"/>
                        </a:rPr>
                        <a:t>Motorentechnik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Schmidt &amp; Bethge Berlin </a:t>
                      </a:r>
                      <a:r>
                        <a:rPr lang="en-US" sz="800" b="0" i="0" u="none" strike="noStrike" noProof="0" dirty="0" err="1">
                          <a:solidFill>
                            <a:srgbClr val="000000"/>
                          </a:solidFill>
                          <a:effectLst/>
                          <a:latin typeface="Calibri" panose="020F0502020204030204" pitchFamily="34" charset="0"/>
                        </a:rPr>
                        <a:t>Grundstücksverwaltung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Joachimstaler</a:t>
                      </a:r>
                      <a:r>
                        <a:rPr lang="en-US" sz="800" b="0" i="0" u="none" strike="noStrike" noProof="0" dirty="0">
                          <a:solidFill>
                            <a:srgbClr val="000000"/>
                          </a:solidFill>
                          <a:effectLst/>
                          <a:latin typeface="Calibri" panose="020F0502020204030204" pitchFamily="34" charset="0"/>
                        </a:rPr>
                        <a:t> Str.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Terraingesellschaft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Groß</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Päwesiner</a:t>
                      </a:r>
                      <a:r>
                        <a:rPr lang="en-US" sz="800" b="0" i="0" u="none" strike="noStrike" noProof="0" dirty="0">
                          <a:solidFill>
                            <a:srgbClr val="000000"/>
                          </a:solidFill>
                          <a:effectLst/>
                          <a:latin typeface="Calibri" panose="020F0502020204030204" pitchFamily="34" charset="0"/>
                        </a:rPr>
                        <a:t> Weg 26-27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BKI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Verwaltung Berlin </a:t>
                      </a:r>
                      <a:r>
                        <a:rPr lang="en-US" sz="800" b="0" i="0" u="none" strike="noStrike" noProof="0" dirty="0" err="1">
                          <a:solidFill>
                            <a:srgbClr val="000000"/>
                          </a:solidFill>
                          <a:effectLst/>
                          <a:latin typeface="Calibri" panose="020F0502020204030204" pitchFamily="34" charset="0"/>
                        </a:rPr>
                        <a:t>Keramik</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Päwesiner</a:t>
                      </a:r>
                      <a:r>
                        <a:rPr lang="en-US" sz="800" b="0" i="0" u="none" strike="noStrike" noProof="0" dirty="0">
                          <a:solidFill>
                            <a:srgbClr val="000000"/>
                          </a:solidFill>
                          <a:effectLst/>
                          <a:latin typeface="Calibri" panose="020F0502020204030204" pitchFamily="34" charset="0"/>
                        </a:rPr>
                        <a:t> Weg 24-27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Berlin-Anlagen-Agentur </a:t>
                      </a:r>
                      <a:r>
                        <a:rPr lang="en-US" sz="800" b="0" i="0" u="none" strike="noStrike" noProof="0" dirty="0" err="1">
                          <a:solidFill>
                            <a:srgbClr val="000000"/>
                          </a:solidFill>
                          <a:effectLst/>
                          <a:latin typeface="Calibri" panose="020F0502020204030204" pitchFamily="34" charset="0"/>
                        </a:rPr>
                        <a:t>Bassmann</a:t>
                      </a:r>
                      <a:r>
                        <a:rPr lang="en-US" sz="800" b="0" i="0" u="none" strike="noStrike" noProof="0" dirty="0">
                          <a:solidFill>
                            <a:srgbClr val="000000"/>
                          </a:solidFill>
                          <a:effectLst/>
                          <a:latin typeface="Calibri" panose="020F0502020204030204" pitchFamily="34" charset="0"/>
                        </a:rPr>
                        <a:t> &amp; Partner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Cicerostr</a:t>
                      </a:r>
                      <a:r>
                        <a:rPr lang="en-US" sz="800" b="0" i="0" u="none" strike="noStrike" noProof="0" dirty="0">
                          <a:solidFill>
                            <a:srgbClr val="000000"/>
                          </a:solidFill>
                          <a:effectLst/>
                          <a:latin typeface="Calibri" panose="020F0502020204030204" pitchFamily="34" charset="0"/>
                        </a:rPr>
                        <a:t>.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Mariendorfer</a:t>
                      </a:r>
                      <a:r>
                        <a:rPr lang="en-US" sz="800" b="0" i="0" u="none" strike="noStrike" noProof="0" dirty="0">
                          <a:solidFill>
                            <a:srgbClr val="000000"/>
                          </a:solidFill>
                          <a:effectLst/>
                          <a:latin typeface="Calibri" panose="020F0502020204030204" pitchFamily="34" charset="0"/>
                        </a:rPr>
                        <a:t> Damm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GLB </a:t>
                      </a:r>
                      <a:r>
                        <a:rPr lang="en-US" sz="800" b="0" i="0" u="none" strike="noStrike" noProof="0" dirty="0" err="1">
                          <a:solidFill>
                            <a:srgbClr val="000000"/>
                          </a:solidFill>
                          <a:effectLst/>
                          <a:latin typeface="Calibri" panose="020F0502020204030204" pitchFamily="34" charset="0"/>
                        </a:rPr>
                        <a:t>Werbemittel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Hobrechtstr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Bus-Verkehr Berlin KG Omnibus-</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Verwaltungsges</a:t>
                      </a:r>
                      <a:r>
                        <a:rPr lang="en-US" sz="800" b="0" i="0" u="none" strike="noStrike" noProof="0" dirty="0">
                          <a:solidFill>
                            <a:srgbClr val="000000"/>
                          </a:solidFill>
                          <a:effectLst/>
                          <a:latin typeface="Calibri" panose="020F0502020204030204" pitchFamily="34" charset="0"/>
                        </a:rPr>
                        <a:t>. 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13-15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Thier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Schillerstr</a:t>
                      </a:r>
                      <a:r>
                        <a:rPr lang="en-US" sz="800" b="0" i="0" u="none" strike="noStrike" noProof="0" dirty="0">
                          <a:solidFill>
                            <a:srgbClr val="000000"/>
                          </a:solidFill>
                          <a:effectLst/>
                          <a:latin typeface="Calibri" panose="020F0502020204030204" pitchFamily="34" charset="0"/>
                        </a:rPr>
                        <a:t>.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Isolier</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Bautechnik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Bereich</a:t>
                      </a:r>
                      <a:r>
                        <a:rPr lang="en-US" sz="800" b="0" i="0" u="none" strike="noStrike" noProof="0" dirty="0">
                          <a:solidFill>
                            <a:srgbClr val="000000"/>
                          </a:solidFill>
                          <a:effectLst/>
                          <a:latin typeface="Calibri" panose="020F0502020204030204" pitchFamily="34" charset="0"/>
                        </a:rPr>
                        <a:t> Berlin GmbH &amp; Co. Montage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Thyssenstr</a:t>
                      </a:r>
                      <a:r>
                        <a:rPr lang="en-US" sz="800" b="0" i="0" u="none" strike="noStrike" noProof="0" dirty="0">
                          <a:solidFill>
                            <a:srgbClr val="000000"/>
                          </a:solidFill>
                          <a:effectLst/>
                          <a:latin typeface="Calibri" panose="020F0502020204030204" pitchFamily="34" charset="0"/>
                        </a:rPr>
                        <a:t>. 7- 17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KAMA </a:t>
                      </a:r>
                      <a:r>
                        <a:rPr lang="en-US" sz="800" b="0" i="0" u="none" strike="noStrike" noProof="0" dirty="0" err="1">
                          <a:solidFill>
                            <a:srgbClr val="000000"/>
                          </a:solidFill>
                          <a:effectLst/>
                          <a:latin typeface="Calibri" panose="020F0502020204030204" pitchFamily="34" charset="0"/>
                        </a:rPr>
                        <a:t>Wohnwirtschaftliche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Betreuung</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Nennhauser</a:t>
                      </a:r>
                      <a:r>
                        <a:rPr lang="en-US" sz="800" b="0" i="0" u="none" strike="noStrike" noProof="0" dirty="0">
                          <a:solidFill>
                            <a:srgbClr val="000000"/>
                          </a:solidFill>
                          <a:effectLst/>
                          <a:latin typeface="Calibri" panose="020F0502020204030204" pitchFamily="34" charset="0"/>
                        </a:rPr>
                        <a:t> Damm 150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2-Wohnen in Berlin GmbH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Wohnungseigentum</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Holsteinische</a:t>
                      </a:r>
                      <a:r>
                        <a:rPr lang="en-US" sz="800" b="0" i="0" u="none" strike="noStrike" noProof="0" dirty="0">
                          <a:solidFill>
                            <a:srgbClr val="000000"/>
                          </a:solidFill>
                          <a:effectLst/>
                          <a:latin typeface="Calibri" panose="020F0502020204030204" pitchFamily="34" charset="0"/>
                        </a:rPr>
                        <a:t> Str. 33a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Flottwellstr</a:t>
                      </a:r>
                      <a:r>
                        <a:rPr lang="en-US" sz="800" b="0" i="0" u="none" strike="noStrike" noProof="0" dirty="0">
                          <a:solidFill>
                            <a:srgbClr val="000000"/>
                          </a:solidFill>
                          <a:effectLst/>
                          <a:latin typeface="Calibri" panose="020F0502020204030204" pitchFamily="34" charset="0"/>
                        </a:rPr>
                        <a:t>. 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FCB Berlin </a:t>
                      </a:r>
                      <a:r>
                        <a:rPr lang="en-US" sz="800" b="0" i="0" u="none" strike="noStrike" noProof="0" dirty="0" err="1">
                          <a:solidFill>
                            <a:srgbClr val="000000"/>
                          </a:solidFill>
                          <a:effectLst/>
                          <a:latin typeface="Calibri" panose="020F0502020204030204" pitchFamily="34" charset="0"/>
                        </a:rPr>
                        <a:t>Werbeagentur</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Blochmannstr</a:t>
                      </a:r>
                      <a:r>
                        <a:rPr lang="en-US" sz="800" b="0" i="0" u="none" strike="noStrike" noProof="0" dirty="0">
                          <a:solidFill>
                            <a:srgbClr val="000000"/>
                          </a:solidFill>
                          <a:effectLst/>
                          <a:latin typeface="Calibri" panose="020F0502020204030204" pitchFamily="34" charset="0"/>
                        </a:rPr>
                        <a:t>.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WEBER </a:t>
                      </a:r>
                      <a:r>
                        <a:rPr lang="en-US" sz="800" b="0" i="0" u="none" strike="noStrike" noProof="0" dirty="0" err="1">
                          <a:solidFill>
                            <a:srgbClr val="000000"/>
                          </a:solidFill>
                          <a:effectLst/>
                          <a:latin typeface="Calibri" panose="020F0502020204030204" pitchFamily="34" charset="0"/>
                        </a:rPr>
                        <a:t>Industrietechnik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Sperenberger</a:t>
                      </a:r>
                      <a:r>
                        <a:rPr lang="en-US" sz="800" b="0" i="0" u="none" strike="noStrike" noProof="0" dirty="0">
                          <a:solidFill>
                            <a:srgbClr val="000000"/>
                          </a:solidFill>
                          <a:effectLst/>
                          <a:latin typeface="Calibri" panose="020F0502020204030204" pitchFamily="34" charset="0"/>
                        </a:rPr>
                        <a:t> Str.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IBK - </a:t>
                      </a:r>
                      <a:r>
                        <a:rPr lang="en-US" sz="800" b="0" i="0" u="none" strike="noStrike" noProof="0" dirty="0" err="1">
                          <a:solidFill>
                            <a:srgbClr val="000000"/>
                          </a:solidFill>
                          <a:effectLst/>
                          <a:latin typeface="Calibri" panose="020F0502020204030204" pitchFamily="34" charset="0"/>
                        </a:rPr>
                        <a:t>Garagenbau</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Schlangengraben</a:t>
                      </a:r>
                      <a:r>
                        <a:rPr lang="en-US" sz="800" b="0" i="0" u="none" strike="noStrike" noProof="0" dirty="0">
                          <a:solidFill>
                            <a:srgbClr val="000000"/>
                          </a:solidFill>
                          <a:effectLst/>
                          <a:latin typeface="Calibri" panose="020F0502020204030204" pitchFamily="34" charset="0"/>
                        </a:rPr>
                        <a:t>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Glaszentrum</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Rafflenbeul</a:t>
                      </a:r>
                      <a:r>
                        <a:rPr lang="en-US" sz="800" b="0" i="0" u="none" strike="noStrike" noProof="0" dirty="0">
                          <a:solidFill>
                            <a:srgbClr val="000000"/>
                          </a:solidFill>
                          <a:effectLst/>
                          <a:latin typeface="Calibri" panose="020F0502020204030204" pitchFamily="34" charset="0"/>
                        </a:rPr>
                        <a:t> &amp; Loewe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Ollenhauerstr</a:t>
                      </a:r>
                      <a:r>
                        <a:rPr lang="en-US" sz="800" b="0" i="0" u="none" strike="noStrike" noProof="0" dirty="0">
                          <a:solidFill>
                            <a:srgbClr val="000000"/>
                          </a:solidFill>
                          <a:effectLst/>
                          <a:latin typeface="Calibri" panose="020F0502020204030204" pitchFamily="34" charset="0"/>
                        </a:rPr>
                        <a:t>. 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MBC-Berlin </a:t>
                      </a:r>
                      <a:r>
                        <a:rPr lang="en-US" sz="800" b="0" i="0" u="none" strike="noStrike" noProof="0" dirty="0" err="1">
                          <a:solidFill>
                            <a:srgbClr val="000000"/>
                          </a:solidFill>
                          <a:effectLst/>
                          <a:latin typeface="Calibri" panose="020F0502020204030204" pitchFamily="34" charset="0"/>
                        </a:rPr>
                        <a:t>technische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Wilhelmstr</a:t>
                      </a:r>
                      <a:r>
                        <a:rPr lang="en-US" sz="800" b="0" i="0" u="none" strike="noStrike" noProof="0" dirty="0">
                          <a:solidFill>
                            <a:srgbClr val="000000"/>
                          </a:solidFill>
                          <a:effectLst/>
                          <a:latin typeface="Calibri" panose="020F0502020204030204" pitchFamily="34" charset="0"/>
                        </a:rPr>
                        <a:t>. 73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Spielbank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2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Berlin GmbH </a:t>
                      </a:r>
                      <a:r>
                        <a:rPr lang="en-US" sz="800" b="0" i="0" u="none" strike="noStrike" noProof="0" dirty="0" err="1">
                          <a:solidFill>
                            <a:srgbClr val="000000"/>
                          </a:solidFill>
                          <a:effectLst/>
                          <a:latin typeface="Calibri" panose="020F0502020204030204" pitchFamily="34" charset="0"/>
                        </a:rPr>
                        <a:t>Immobilien</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Holsteinische</a:t>
                      </a:r>
                      <a:r>
                        <a:rPr lang="en-US" sz="800" b="0" i="0" u="none" strike="noStrike" noProof="0" dirty="0">
                          <a:solidFill>
                            <a:srgbClr val="000000"/>
                          </a:solidFill>
                          <a:effectLst/>
                          <a:latin typeface="Calibri" panose="020F0502020204030204" pitchFamily="34" charset="0"/>
                        </a:rPr>
                        <a:t> Str. 33a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Genbiologische</a:t>
                      </a:r>
                      <a:r>
                        <a:rPr lang="en-US" sz="800" b="0" i="0" u="none" strike="noStrike" noProof="0" dirty="0">
                          <a:solidFill>
                            <a:srgbClr val="000000"/>
                          </a:solidFill>
                          <a:effectLst/>
                          <a:latin typeface="Calibri" panose="020F0502020204030204" pitchFamily="34" charset="0"/>
                        </a:rPr>
                        <a:t> Forschung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Ihnestr</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berlin-</a:t>
                      </a:r>
                      <a:r>
                        <a:rPr lang="en-US" sz="800" b="0" i="0" u="none" strike="noStrike" noProof="0" dirty="0" err="1">
                          <a:solidFill>
                            <a:srgbClr val="000000"/>
                          </a:solidFill>
                          <a:effectLst/>
                          <a:latin typeface="Calibri" panose="020F0502020204030204" pitchFamily="34" charset="0"/>
                        </a:rPr>
                        <a:t>brandenburg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Invalidenstr</a:t>
                      </a:r>
                      <a:r>
                        <a:rPr lang="en-US" sz="800" b="0" i="0" u="none" strike="noStrike" noProof="0" dirty="0">
                          <a:solidFill>
                            <a:srgbClr val="000000"/>
                          </a:solidFill>
                          <a:effectLst/>
                          <a:latin typeface="Calibri" panose="020F0502020204030204" pitchFamily="34" charset="0"/>
                        </a:rPr>
                        <a: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FWT </a:t>
                      </a:r>
                      <a:r>
                        <a:rPr lang="en-US" sz="800" b="0" i="0" u="none" strike="noStrike" noProof="0" dirty="0" err="1">
                          <a:solidFill>
                            <a:srgbClr val="000000"/>
                          </a:solidFill>
                          <a:effectLst/>
                          <a:latin typeface="Calibri" panose="020F0502020204030204" pitchFamily="34" charset="0"/>
                        </a:rPr>
                        <a:t>Feinwerktechnik</a:t>
                      </a:r>
                      <a:r>
                        <a:rPr lang="en-US" sz="800" b="0" i="0" u="none" strike="noStrike" noProof="0" dirty="0">
                          <a:solidFill>
                            <a:srgbClr val="000000"/>
                          </a:solidFill>
                          <a:effectLst/>
                          <a:latin typeface="Calibri" panose="020F0502020204030204" pitchFamily="34" charset="0"/>
                        </a:rPr>
                        <a:t> GmbH Berlin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Haynauer</a:t>
                      </a:r>
                      <a:r>
                        <a:rPr lang="en-US" sz="800" b="0" i="0" u="none" strike="noStrike" noProof="0" dirty="0">
                          <a:solidFill>
                            <a:srgbClr val="000000"/>
                          </a:solidFill>
                          <a:effectLst/>
                          <a:latin typeface="Calibri" panose="020F0502020204030204" pitchFamily="34" charset="0"/>
                        </a:rPr>
                        <a:t> Str.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Röhr</a:t>
                      </a:r>
                      <a:r>
                        <a:rPr lang="en-US" sz="800" b="0" i="0" u="none" strike="noStrike" noProof="0" dirty="0">
                          <a:solidFill>
                            <a:srgbClr val="000000"/>
                          </a:solidFill>
                          <a:effectLst/>
                          <a:latin typeface="Calibri" panose="020F0502020204030204" pitchFamily="34" charset="0"/>
                        </a:rPr>
                        <a:t> Industrie- und </a:t>
                      </a:r>
                      <a:r>
                        <a:rPr lang="en-US" sz="800" b="0" i="0" u="none" strike="noStrike" noProof="0" dirty="0" err="1">
                          <a:solidFill>
                            <a:srgbClr val="000000"/>
                          </a:solidFill>
                          <a:effectLst/>
                          <a:latin typeface="Calibri" panose="020F0502020204030204" pitchFamily="34" charset="0"/>
                        </a:rPr>
                        <a:t>Haustechnik</a:t>
                      </a:r>
                      <a:r>
                        <a:rPr lang="en-US" sz="800" b="0" i="0" u="none" strike="noStrike" noProof="0" dirty="0">
                          <a:solidFill>
                            <a:srgbClr val="000000"/>
                          </a:solidFill>
                          <a:effectLst/>
                          <a:latin typeface="Calibri" panose="020F0502020204030204" pitchFamily="34" charset="0"/>
                        </a:rPr>
                        <a:t> GmbH &amp; Co.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Hindenburgdamm</a:t>
                      </a:r>
                      <a:r>
                        <a:rPr lang="en-US" sz="800" b="0" i="0" u="none" strike="noStrike" noProof="0" dirty="0">
                          <a:solidFill>
                            <a:srgbClr val="000000"/>
                          </a:solidFill>
                          <a:effectLst/>
                          <a:latin typeface="Calibri" panose="020F0502020204030204" pitchFamily="34" charset="0"/>
                        </a:rPr>
                        <a:t> 107a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BBS </a:t>
                      </a:r>
                      <a:r>
                        <a:rPr lang="en-US" sz="800" b="0" i="0" u="none" strike="noStrike" noProof="0" dirty="0" err="1">
                          <a:solidFill>
                            <a:srgbClr val="000000"/>
                          </a:solidFill>
                          <a:effectLst/>
                          <a:latin typeface="Calibri" panose="020F0502020204030204" pitchFamily="34" charset="0"/>
                        </a:rPr>
                        <a:t>Büromaschinen</a:t>
                      </a:r>
                      <a:r>
                        <a:rPr lang="en-US" sz="800" b="0" i="0" u="none" strike="noStrike" noProof="0" dirty="0">
                          <a:solidFill>
                            <a:srgbClr val="000000"/>
                          </a:solidFill>
                          <a:effectLst/>
                          <a:latin typeface="Calibri" panose="020F0502020204030204" pitchFamily="34" charset="0"/>
                        </a:rPr>
                        <a:t>-Service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Germaniastr</a:t>
                      </a:r>
                      <a:r>
                        <a:rPr lang="en-US" sz="800" b="0" i="0" u="none" strike="noStrike" noProof="0" dirty="0">
                          <a:solidFill>
                            <a:srgbClr val="000000"/>
                          </a:solidFill>
                          <a:effectLst/>
                          <a:latin typeface="Calibri" panose="020F0502020204030204" pitchFamily="34" charset="0"/>
                        </a:rPr>
                        <a:t>. 157-158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Westfälische</a:t>
                      </a:r>
                      <a:r>
                        <a:rPr lang="en-US" sz="800" b="0" i="0" u="none" strike="noStrike" noProof="0" dirty="0">
                          <a:solidFill>
                            <a:srgbClr val="000000"/>
                          </a:solidFill>
                          <a:effectLst/>
                          <a:latin typeface="Calibri" panose="020F0502020204030204" pitchFamily="34" charset="0"/>
                        </a:rPr>
                        <a:t> Str.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Taxi und Tank GmbH, Berlin u. Co. in den </a:t>
                      </a:r>
                      <a:r>
                        <a:rPr lang="en-US" sz="800" b="0" i="0" u="none" strike="noStrike" noProof="0" dirty="0" err="1">
                          <a:solidFill>
                            <a:srgbClr val="000000"/>
                          </a:solidFill>
                          <a:effectLst/>
                          <a:latin typeface="Calibri" panose="020F0502020204030204" pitchFamily="34" charset="0"/>
                        </a:rPr>
                        <a:t>Kantgaragen</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Diagnostisches</a:t>
                      </a:r>
                      <a:r>
                        <a:rPr lang="en-US" sz="800" b="0" i="0" u="none" strike="noStrike" noProof="0" dirty="0">
                          <a:solidFill>
                            <a:srgbClr val="000000"/>
                          </a:solidFill>
                          <a:effectLst/>
                          <a:latin typeface="Calibri" panose="020F0502020204030204" pitchFamily="34" charset="0"/>
                        </a:rPr>
                        <a:t> Zentrum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Bosporusstr</a:t>
                      </a:r>
                      <a:r>
                        <a:rPr lang="en-US" sz="800" b="0" i="0" u="none" strike="noStrike" noProof="0" dirty="0">
                          <a:solidFill>
                            <a:srgbClr val="000000"/>
                          </a:solidFill>
                          <a:effectLst/>
                          <a:latin typeface="Calibri" panose="020F0502020204030204" pitchFamily="34" charset="0"/>
                        </a:rPr>
                        <a:t>.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Hotelschiff</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Arosa Berlin </a:t>
                      </a:r>
                      <a:r>
                        <a:rPr lang="en-US" sz="800" b="0" i="0" u="none" strike="noStrike" noProof="0" dirty="0" err="1">
                          <a:solidFill>
                            <a:srgbClr val="000000"/>
                          </a:solidFill>
                          <a:effectLst/>
                          <a:latin typeface="Calibri" panose="020F0502020204030204" pitchFamily="34" charset="0"/>
                        </a:rPr>
                        <a:t>Hotelbetriebsgesellschaft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79/81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Frischdienst</a:t>
                      </a:r>
                      <a:r>
                        <a:rPr lang="en-US" sz="800" b="0" i="0" u="none" strike="noStrike" noProof="0" dirty="0">
                          <a:solidFill>
                            <a:srgbClr val="000000"/>
                          </a:solidFill>
                          <a:effectLst/>
                          <a:latin typeface="Calibri" panose="020F0502020204030204" pitchFamily="34" charset="0"/>
                        </a:rPr>
                        <a:t> Union Berlin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für Fleisch- u. </a:t>
                      </a:r>
                      <a:r>
                        <a:rPr lang="en-US" sz="800" b="0" i="0" u="none" strike="noStrike" noProof="0" dirty="0" err="1">
                          <a:solidFill>
                            <a:srgbClr val="000000"/>
                          </a:solidFill>
                          <a:effectLst/>
                          <a:latin typeface="Calibri" panose="020F0502020204030204" pitchFamily="34" charset="0"/>
                        </a:rPr>
                        <a:t>Wurstwaren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Wiesendamm</a:t>
                      </a:r>
                      <a:r>
                        <a:rPr lang="en-US" sz="800" b="0" i="0" u="none" strike="noStrike" noProof="0" dirty="0">
                          <a:solidFill>
                            <a:srgbClr val="000000"/>
                          </a:solidFill>
                          <a:effectLst/>
                          <a:latin typeface="Calibri" panose="020F0502020204030204" pitchFamily="34" charset="0"/>
                        </a:rPr>
                        <a:t> 37+ 39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Bürgerstr</a:t>
                      </a:r>
                      <a:r>
                        <a:rPr lang="en-US" sz="800" b="0" i="0" u="none" strike="noStrike" noProof="0" dirty="0">
                          <a:solidFill>
                            <a:srgbClr val="000000"/>
                          </a:solidFill>
                          <a:effectLst/>
                          <a:latin typeface="Calibri" panose="020F0502020204030204" pitchFamily="34" charset="0"/>
                        </a:rPr>
                        <a:t>. 25- 27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Zeitungsdienst</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Verlags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Druckerei</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Tankschutz</a:t>
                      </a:r>
                      <a:r>
                        <a:rPr lang="en-US" sz="800" b="0" i="0" u="none" strike="noStrike" noProof="0" dirty="0">
                          <a:solidFill>
                            <a:srgbClr val="000000"/>
                          </a:solidFill>
                          <a:effectLst/>
                          <a:latin typeface="Calibri" panose="020F0502020204030204" pitchFamily="34" charset="0"/>
                        </a:rPr>
                        <a:t>-Revisions-Ges.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der </a:t>
                      </a:r>
                      <a:r>
                        <a:rPr lang="en-US" sz="800" b="0" i="0" u="none" strike="noStrike" noProof="0" dirty="0" err="1">
                          <a:solidFill>
                            <a:srgbClr val="000000"/>
                          </a:solidFill>
                          <a:effectLst/>
                          <a:latin typeface="Calibri" panose="020F0502020204030204" pitchFamily="34" charset="0"/>
                        </a:rPr>
                        <a:t>Winschermann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9-11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Partner für </a:t>
                      </a:r>
                      <a:r>
                        <a:rPr lang="en-US" sz="800" b="0" i="0" u="none" strike="noStrike" noProof="0" dirty="0" err="1">
                          <a:solidFill>
                            <a:srgbClr val="000000"/>
                          </a:solidFill>
                          <a:effectLst/>
                          <a:latin typeface="Calibri" panose="020F0502020204030204" pitchFamily="34" charset="0"/>
                        </a:rPr>
                        <a:t>Wirtschaft</a:t>
                      </a:r>
                      <a:r>
                        <a:rPr lang="en-US" sz="800" b="0" i="0" u="none" strike="noStrike" noProof="0" dirty="0">
                          <a:solidFill>
                            <a:srgbClr val="000000"/>
                          </a:solidFill>
                          <a:effectLst/>
                          <a:latin typeface="Calibri" panose="020F0502020204030204" pitchFamily="34" charset="0"/>
                        </a:rPr>
                        <a:t> und Technologie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Bio-</a:t>
                      </a:r>
                      <a:r>
                        <a:rPr lang="en-US" sz="800" b="0" i="0" u="none" strike="noStrike" noProof="0" dirty="0" err="1">
                          <a:solidFill>
                            <a:srgbClr val="000000"/>
                          </a:solidFill>
                          <a:effectLst/>
                          <a:latin typeface="Calibri" panose="020F0502020204030204" pitchFamily="34" charset="0"/>
                        </a:rPr>
                        <a:t>Diät</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Selerweg</a:t>
                      </a:r>
                      <a:r>
                        <a:rPr lang="en-US" sz="800" b="0" i="0" u="none" strike="noStrike" noProof="0" dirty="0">
                          <a:solidFill>
                            <a:srgbClr val="000000"/>
                          </a:solidFill>
                          <a:effectLst/>
                          <a:latin typeface="Calibri" panose="020F0502020204030204" pitchFamily="34" charset="0"/>
                        </a:rPr>
                        <a:t> 43-45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ADB Rissmann GmbH </a:t>
                      </a:r>
                      <a:r>
                        <a:rPr lang="en-US" sz="800" b="0" i="0" u="none" strike="noStrike" noProof="0" dirty="0" err="1">
                          <a:solidFill>
                            <a:srgbClr val="000000"/>
                          </a:solidFill>
                          <a:effectLst/>
                          <a:latin typeface="Calibri" panose="020F0502020204030204" pitchFamily="34" charset="0"/>
                        </a:rPr>
                        <a:t>Automaten-Dreherei</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Trebbiner</a:t>
                      </a:r>
                      <a:r>
                        <a:rPr lang="en-US" sz="800" b="0" i="0" u="none" strike="noStrike" noProof="0" dirty="0">
                          <a:solidFill>
                            <a:srgbClr val="000000"/>
                          </a:solidFill>
                          <a:effectLst/>
                          <a:latin typeface="Calibri" panose="020F0502020204030204" pitchFamily="34" charset="0"/>
                        </a:rPr>
                        <a:t> Str. 12-13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Reanovo</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Siemensdamm</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 bis Z Bau GmbH </a:t>
                      </a:r>
                      <a:r>
                        <a:rPr lang="en-US" sz="800" b="0" i="0" u="none" strike="noStrike" noProof="0" dirty="0" err="1">
                          <a:solidFill>
                            <a:srgbClr val="000000"/>
                          </a:solidFill>
                          <a:effectLst/>
                          <a:latin typeface="Calibri" panose="020F0502020204030204" pitchFamily="34" charset="0"/>
                        </a:rPr>
                        <a:t>Bauausführungen</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Giesebrechtstr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TVB </a:t>
                      </a:r>
                      <a:r>
                        <a:rPr lang="en-US" sz="800" b="0" i="0" u="none" strike="noStrike" noProof="0" dirty="0" err="1">
                          <a:solidFill>
                            <a:srgbClr val="000000"/>
                          </a:solidFill>
                          <a:effectLst/>
                          <a:latin typeface="Calibri" panose="020F0502020204030204" pitchFamily="34" charset="0"/>
                        </a:rPr>
                        <a:t>Textilveredlung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Walzwerk</a:t>
                      </a:r>
                      <a:r>
                        <a:rPr lang="en-US" sz="800" b="0" i="0" u="none" strike="noStrike" noProof="0" dirty="0">
                          <a:solidFill>
                            <a:srgbClr val="000000"/>
                          </a:solidFill>
                          <a:effectLst/>
                          <a:latin typeface="Calibri" panose="020F0502020204030204" pitchFamily="34" charset="0"/>
                        </a:rPr>
                        <a:t> Becker-Berlin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Walzwerk</a:t>
                      </a:r>
                      <a:r>
                        <a:rPr lang="en-US" sz="800" b="0" i="0" u="none" strike="noStrike" noProof="0" dirty="0">
                          <a:solidFill>
                            <a:srgbClr val="000000"/>
                          </a:solidFill>
                          <a:effectLst/>
                          <a:latin typeface="Calibri" panose="020F0502020204030204" pitchFamily="34" charset="0"/>
                        </a:rPr>
                        <a:t> Becker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 &amp; Co. Strangguß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Drescher </a:t>
                      </a:r>
                      <a:r>
                        <a:rPr lang="en-US" sz="800" b="0" i="0" u="none" strike="noStrike" noProof="0" dirty="0" err="1">
                          <a:solidFill>
                            <a:srgbClr val="000000"/>
                          </a:solidFill>
                          <a:effectLst/>
                          <a:latin typeface="Calibri" panose="020F0502020204030204" pitchFamily="34" charset="0"/>
                        </a:rPr>
                        <a:t>Datendrucke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Großbeerenstr</a:t>
                      </a:r>
                      <a:r>
                        <a:rPr lang="en-US" sz="800" b="0" i="0" u="none" strike="noStrike" noProof="0" dirty="0">
                          <a:solidFill>
                            <a:srgbClr val="000000"/>
                          </a:solidFill>
                          <a:effectLst/>
                          <a:latin typeface="Calibri" panose="020F0502020204030204" pitchFamily="34" charset="0"/>
                        </a:rPr>
                        <a:t>. 186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1115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COMPSAT Berlin Computer </a:t>
                      </a:r>
                      <a:r>
                        <a:rPr lang="en-US" sz="800" b="0" i="0" u="none" strike="noStrike" noProof="0" dirty="0" err="1">
                          <a:solidFill>
                            <a:srgbClr val="000000"/>
                          </a:solidFill>
                          <a:effectLst/>
                          <a:latin typeface="Calibri" panose="020F0502020204030204" pitchFamily="34" charset="0"/>
                        </a:rPr>
                        <a:t>Satelliten</a:t>
                      </a:r>
                      <a:r>
                        <a:rPr lang="en-US" sz="800" b="0" i="0" u="none" strike="noStrike" noProof="0" dirty="0">
                          <a:solidFill>
                            <a:srgbClr val="000000"/>
                          </a:solidFill>
                          <a:effectLst/>
                          <a:latin typeface="Calibri" panose="020F0502020204030204" pitchFamily="34" charset="0"/>
                        </a:rPr>
                        <a:t> System </a:t>
                      </a:r>
                      <a:r>
                        <a:rPr lang="en-US" sz="800" b="0" i="0" u="none" strike="noStrike" noProof="0" dirty="0" err="1">
                          <a:solidFill>
                            <a:srgbClr val="000000"/>
                          </a:solidFill>
                          <a:effectLst/>
                          <a:latin typeface="Calibri" panose="020F0502020204030204" pitchFamily="34" charset="0"/>
                        </a:rPr>
                        <a:t>Verwalt</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Metropole Berlin GmbH &amp; Co.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Charlottenburg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Goethestr</a:t>
                      </a:r>
                      <a:r>
                        <a:rPr lang="en-US" sz="800" b="0" i="0" u="none" strike="noStrike" noProof="0" dirty="0">
                          <a:solidFill>
                            <a:srgbClr val="000000"/>
                          </a:solidFill>
                          <a:effectLst/>
                          <a:latin typeface="Calibri" panose="020F0502020204030204" pitchFamily="34" charset="0"/>
                        </a:rPr>
                        <a:t>. 10b</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Caritas-Klinik Dominikus Berlin-</a:t>
                      </a:r>
                      <a:r>
                        <a:rPr lang="en-US" sz="800" b="0" i="0" u="none" strike="noStrike" noProof="0" dirty="0" err="1">
                          <a:solidFill>
                            <a:srgbClr val="000000"/>
                          </a:solidFill>
                          <a:effectLst/>
                          <a:latin typeface="Calibri" panose="020F0502020204030204" pitchFamily="34" charset="0"/>
                        </a:rPr>
                        <a:t>Reinickendorf</a:t>
                      </a:r>
                      <a:r>
                        <a:rPr lang="en-US" sz="800" b="0" i="0" u="none" strike="noStrike" noProof="0" dirty="0">
                          <a:solidFill>
                            <a:srgbClr val="000000"/>
                          </a:solidFill>
                          <a:effectLst/>
                          <a:latin typeface="Calibri" panose="020F0502020204030204" pitchFamily="34" charset="0"/>
                        </a:rPr>
                        <a:t>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Kurhausstr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Herner </a:t>
                      </a:r>
                      <a:r>
                        <a:rPr lang="en-US" sz="800" b="0" i="0" u="none" strike="noStrike" noProof="0" dirty="0" err="1">
                          <a:solidFill>
                            <a:srgbClr val="000000"/>
                          </a:solidFill>
                          <a:effectLst/>
                          <a:latin typeface="Calibri" panose="020F0502020204030204" pitchFamily="34" charset="0"/>
                        </a:rPr>
                        <a:t>Gerüstbau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18-20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BCB </a:t>
                      </a:r>
                      <a:r>
                        <a:rPr lang="en-US" sz="800" b="0" i="0" u="none" strike="noStrike" noProof="0" dirty="0" err="1">
                          <a:solidFill>
                            <a:srgbClr val="000000"/>
                          </a:solidFill>
                          <a:effectLst/>
                          <a:latin typeface="Calibri" panose="020F0502020204030204" pitchFamily="34" charset="0"/>
                        </a:rPr>
                        <a:t>Bauconsult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Kanalstr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Connex </a:t>
                      </a:r>
                      <a:r>
                        <a:rPr lang="en-US" sz="800" b="0" i="0" u="none" strike="noStrike" noProof="0" dirty="0" err="1">
                          <a:solidFill>
                            <a:srgbClr val="000000"/>
                          </a:solidFill>
                          <a:effectLst/>
                          <a:latin typeface="Calibri" panose="020F0502020204030204" pitchFamily="34" charset="0"/>
                        </a:rPr>
                        <a:t>Kapitalanlagen-Vertriebsgesellschaft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Meinekestr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Schmitz </a:t>
                      </a:r>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vom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Ehrenschild</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Kfz-Sachverständigen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Scharnweberstr</a:t>
                      </a:r>
                      <a:r>
                        <a:rPr lang="en-US" sz="800" b="0" i="0" u="none" strike="noStrike" noProof="0" dirty="0">
                          <a:solidFill>
                            <a:srgbClr val="000000"/>
                          </a:solidFill>
                          <a:effectLst/>
                          <a:latin typeface="Calibri" panose="020F0502020204030204" pitchFamily="34" charset="0"/>
                        </a:rPr>
                        <a:t>. 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Dampet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Rolladenbau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Riemannstr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DIABOS GmbH Berlin </a:t>
                      </a:r>
                      <a:r>
                        <a:rPr lang="en-US" sz="800" b="0" i="0" u="none" strike="noStrike" noProof="0" dirty="0" err="1">
                          <a:solidFill>
                            <a:srgbClr val="000000"/>
                          </a:solidFill>
                          <a:effectLst/>
                          <a:latin typeface="Calibri" panose="020F0502020204030204" pitchFamily="34" charset="0"/>
                        </a:rPr>
                        <a:t>Grundstücks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Vermögensverwaltung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Florimex</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Grellstr</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Flemming Dental GmbH &amp; Co. KG, Berlin, </a:t>
                      </a:r>
                      <a:r>
                        <a:rPr lang="en-US" sz="800" b="0" i="0" u="none" strike="noStrike" noProof="0" dirty="0" err="1">
                          <a:solidFill>
                            <a:srgbClr val="000000"/>
                          </a:solidFill>
                          <a:effectLst/>
                          <a:latin typeface="Calibri" panose="020F0502020204030204" pitchFamily="34" charset="0"/>
                        </a:rPr>
                        <a:t>Schlangenbader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Straße</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Schlangenbader</a:t>
                      </a:r>
                      <a:r>
                        <a:rPr lang="en-US" sz="800" b="0" i="0" u="none" strike="noStrike" noProof="0" dirty="0">
                          <a:solidFill>
                            <a:srgbClr val="000000"/>
                          </a:solidFill>
                          <a:effectLst/>
                          <a:latin typeface="Calibri" panose="020F0502020204030204" pitchFamily="34" charset="0"/>
                        </a:rPr>
                        <a:t> Str.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NIEDERBERGER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Mail-Service GmbH &amp; Co. Berlin </a:t>
                      </a:r>
                      <a:r>
                        <a:rPr lang="en-US" sz="800" b="0" i="0" u="none" strike="noStrike" noProof="0" dirty="0" err="1">
                          <a:solidFill>
                            <a:srgbClr val="000000"/>
                          </a:solidFill>
                          <a:effectLst/>
                          <a:latin typeface="Calibri" panose="020F0502020204030204" pitchFamily="34" charset="0"/>
                        </a:rPr>
                        <a:t>Zeitschriften-Versand</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Direktwerbung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Möbel</a:t>
                      </a:r>
                      <a:r>
                        <a:rPr lang="en-US" sz="800" b="0" i="0" u="none" strike="noStrike" noProof="0" dirty="0">
                          <a:solidFill>
                            <a:srgbClr val="000000"/>
                          </a:solidFill>
                          <a:effectLst/>
                          <a:latin typeface="Calibri" panose="020F0502020204030204" pitchFamily="34" charset="0"/>
                        </a:rPr>
                        <a:t> Adam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Gotzkowskystr</a:t>
                      </a:r>
                      <a:r>
                        <a:rPr lang="en-US" sz="800" b="0" i="0" u="none" strike="noStrike" noProof="0" dirty="0">
                          <a:solidFill>
                            <a:srgbClr val="000000"/>
                          </a:solidFill>
                          <a:effectLst/>
                          <a:latin typeface="Calibri" panose="020F0502020204030204" pitchFamily="34" charset="0"/>
                        </a:rPr>
                        <a:t>. 20-21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ATZ GmbH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Schwedenstr</a:t>
                      </a:r>
                      <a:r>
                        <a:rPr lang="en-US" sz="800" b="0" i="0" u="none" strike="noStrike" noProof="0" dirty="0">
                          <a:solidFill>
                            <a:srgbClr val="000000"/>
                          </a:solidFill>
                          <a:effectLst/>
                          <a:latin typeface="Calibri" panose="020F0502020204030204" pitchFamily="34" charset="0"/>
                        </a:rPr>
                        <a:t>. 11a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LMT </a:t>
                      </a:r>
                      <a:r>
                        <a:rPr lang="en-US" sz="800" b="0" i="0" u="none" strike="noStrike" noProof="0" dirty="0" err="1">
                          <a:solidFill>
                            <a:srgbClr val="000000"/>
                          </a:solidFill>
                          <a:effectLst/>
                          <a:latin typeface="Calibri" panose="020F0502020204030204" pitchFamily="34" charset="0"/>
                        </a:rPr>
                        <a:t>Lichtmeßtechnik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Helmholtzstr</a:t>
                      </a:r>
                      <a:r>
                        <a:rPr lang="en-US" sz="800" b="0" i="0" u="none" strike="noStrike" noProof="0" dirty="0">
                          <a:solidFill>
                            <a:srgbClr val="000000"/>
                          </a:solidFill>
                          <a:effectLst/>
                          <a:latin typeface="Calibri" panose="020F0502020204030204" pitchFamily="34" charset="0"/>
                        </a:rPr>
                        <a:t>.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 M T </a:t>
                      </a:r>
                      <a:r>
                        <a:rPr lang="en-US" sz="800" b="0" i="0" u="none" strike="noStrike" noProof="0" dirty="0" err="1">
                          <a:solidFill>
                            <a:srgbClr val="000000"/>
                          </a:solidFill>
                          <a:effectLst/>
                          <a:latin typeface="Calibri" panose="020F0502020204030204" pitchFamily="34" charset="0"/>
                        </a:rPr>
                        <a:t>Lichtmeßtechnik</a:t>
                      </a:r>
                      <a:r>
                        <a:rPr lang="en-US" sz="800" b="0" i="0" u="none" strike="noStrike" noProof="0" dirty="0">
                          <a:solidFill>
                            <a:srgbClr val="000000"/>
                          </a:solidFill>
                          <a:effectLst/>
                          <a:latin typeface="Calibri" panose="020F0502020204030204" pitchFamily="34" charset="0"/>
                        </a:rPr>
                        <a:t> GmbH Berlin &amp; Co. </a:t>
                      </a:r>
                      <a:r>
                        <a:rPr lang="en-US" sz="800" b="0" i="0" u="none" strike="noStrike" noProof="0" dirty="0" err="1">
                          <a:solidFill>
                            <a:srgbClr val="000000"/>
                          </a:solidFill>
                          <a:effectLst/>
                          <a:latin typeface="Calibri" panose="020F0502020204030204" pitchFamily="34" charset="0"/>
                        </a:rPr>
                        <a:t>Gerätebau</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Helmholtzstr</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Berlin-Terrain </a:t>
                      </a:r>
                      <a:r>
                        <a:rPr lang="en-US" sz="800" b="0" i="0" u="none" strike="noStrike" noProof="0" dirty="0" err="1">
                          <a:solidFill>
                            <a:srgbClr val="000000"/>
                          </a:solidFill>
                          <a:effectLst/>
                          <a:latin typeface="Calibri" panose="020F0502020204030204" pitchFamily="34" charset="0"/>
                        </a:rPr>
                        <a:t>Hausverwaltungsgesellschaft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Xantener</a:t>
                      </a:r>
                      <a:r>
                        <a:rPr lang="en-US" sz="800" b="0" i="0" u="none" strike="noStrike" noProof="0" dirty="0">
                          <a:solidFill>
                            <a:srgbClr val="000000"/>
                          </a:solidFill>
                          <a:effectLst/>
                          <a:latin typeface="Calibri" panose="020F0502020204030204" pitchFamily="34" charset="0"/>
                        </a:rPr>
                        <a:t> Str. 15a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Industriebeteiligungen</a:t>
                      </a:r>
                      <a:r>
                        <a:rPr lang="en-US" sz="800" b="0" i="0" u="none" strike="noStrike" noProof="0" dirty="0">
                          <a:solidFill>
                            <a:srgbClr val="000000"/>
                          </a:solidFill>
                          <a:effectLst/>
                          <a:latin typeface="Calibri" panose="020F0502020204030204" pitchFamily="34" charset="0"/>
                        </a:rPr>
                        <a:t> Hahn KG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Jung </a:t>
                      </a:r>
                      <a:r>
                        <a:rPr lang="en-US" sz="800" b="0" i="0" u="none" strike="noStrike" noProof="0" dirty="0" err="1">
                          <a:solidFill>
                            <a:srgbClr val="000000"/>
                          </a:solidFill>
                          <a:effectLst/>
                          <a:latin typeface="Calibri" panose="020F0502020204030204" pitchFamily="34" charset="0"/>
                        </a:rPr>
                        <a:t>Maschinenfabrik</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Jung </a:t>
                      </a:r>
                      <a:r>
                        <a:rPr lang="en-US" sz="800" b="0" i="0" u="none" strike="noStrike" noProof="0" dirty="0" err="1">
                          <a:solidFill>
                            <a:srgbClr val="000000"/>
                          </a:solidFill>
                          <a:effectLst/>
                          <a:latin typeface="Calibri" panose="020F0502020204030204" pitchFamily="34" charset="0"/>
                        </a:rPr>
                        <a:t>Maschinenfabrik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Concert Concept </a:t>
                      </a:r>
                      <a:r>
                        <a:rPr lang="en-US" sz="800" b="0" i="0" u="none" strike="noStrike" noProof="0" dirty="0" err="1">
                          <a:solidFill>
                            <a:srgbClr val="000000"/>
                          </a:solidFill>
                          <a:effectLst/>
                          <a:latin typeface="Calibri" panose="020F0502020204030204" pitchFamily="34" charset="0"/>
                        </a:rPr>
                        <a:t>Veranstaltungs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HMB </a:t>
                      </a:r>
                      <a:r>
                        <a:rPr lang="en-US" sz="800" b="0" i="0" u="none" strike="noStrike" noProof="0" dirty="0" err="1">
                          <a:solidFill>
                            <a:srgbClr val="000000"/>
                          </a:solidFill>
                          <a:effectLst/>
                          <a:latin typeface="Calibri" panose="020F0502020204030204" pitchFamily="34" charset="0"/>
                        </a:rPr>
                        <a:t>Heimwerkermarkt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BBS </a:t>
                      </a:r>
                      <a:r>
                        <a:rPr lang="en-US" sz="800" b="0" i="0" u="none" strike="noStrike" noProof="0" dirty="0" err="1">
                          <a:solidFill>
                            <a:srgbClr val="000000"/>
                          </a:solidFill>
                          <a:effectLst/>
                          <a:latin typeface="Calibri" panose="020F0502020204030204" pitchFamily="34" charset="0"/>
                        </a:rPr>
                        <a:t>Büromaschinen</a:t>
                      </a:r>
                      <a:r>
                        <a:rPr lang="en-US" sz="800" b="0" i="0" u="none" strike="noStrike" noProof="0" dirty="0">
                          <a:solidFill>
                            <a:srgbClr val="000000"/>
                          </a:solidFill>
                          <a:effectLst/>
                          <a:latin typeface="Calibri" panose="020F0502020204030204" pitchFamily="34" charset="0"/>
                        </a:rPr>
                        <a:t>-Service GmbH Berlin &amp; Co. Handels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Mehringdamm</a:t>
                      </a:r>
                      <a:r>
                        <a:rPr lang="en-US" sz="800" b="0" i="0" u="none" strike="noStrike" noProof="0" dirty="0">
                          <a:solidFill>
                            <a:srgbClr val="000000"/>
                          </a:solidFill>
                          <a:effectLst/>
                          <a:latin typeface="Calibri" panose="020F0502020204030204" pitchFamily="34" charset="0"/>
                        </a:rPr>
                        <a:t> 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Lacke- u. Farben-</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GmbH Berlin-Nord</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Granatenstr</a:t>
                      </a:r>
                      <a:r>
                        <a:rPr lang="en-US" sz="800" b="0" i="0" u="none" strike="noStrike" noProof="0" dirty="0">
                          <a:solidFill>
                            <a:srgbClr val="000000"/>
                          </a:solidFill>
                          <a:effectLst/>
                          <a:latin typeface="Calibri" panose="020F0502020204030204" pitchFamily="34" charset="0"/>
                        </a:rPr>
                        <a:t>. 25- 26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PAREXEL International GmbH c/o Campus DRK </a:t>
                      </a:r>
                      <a:r>
                        <a:rPr lang="en-US" sz="800" b="0" i="0" u="none" strike="noStrike" noProof="0" dirty="0" err="1">
                          <a:solidFill>
                            <a:srgbClr val="000000"/>
                          </a:solidFill>
                          <a:effectLst/>
                          <a:latin typeface="Calibri" panose="020F0502020204030204" pitchFamily="34" charset="0"/>
                        </a:rPr>
                        <a:t>Kliniken</a:t>
                      </a:r>
                      <a:r>
                        <a:rPr lang="en-US" sz="800" b="0" i="0" u="none" strike="noStrike" noProof="0" dirty="0">
                          <a:solidFill>
                            <a:srgbClr val="000000"/>
                          </a:solidFill>
                          <a:effectLst/>
                          <a:latin typeface="Calibri" panose="020F0502020204030204" pitchFamily="34" charset="0"/>
                        </a:rPr>
                        <a:t> Berlin Westend, Haus 18</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130Haus18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GLB </a:t>
                      </a:r>
                      <a:r>
                        <a:rPr lang="en-US" sz="800" b="0" i="0" u="none" strike="noStrike" noProof="0" dirty="0" err="1">
                          <a:solidFill>
                            <a:srgbClr val="000000"/>
                          </a:solidFill>
                          <a:effectLst/>
                          <a:latin typeface="Calibri" panose="020F0502020204030204" pitchFamily="34" charset="0"/>
                        </a:rPr>
                        <a:t>Werbemittel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Beteiligungsgesellschaft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Hobrechtstr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ALUEDA </a:t>
                      </a:r>
                      <a:r>
                        <a:rPr lang="en-US" sz="800" b="0" i="0" u="none" strike="noStrike" noProof="0" dirty="0" err="1">
                          <a:solidFill>
                            <a:srgbClr val="000000"/>
                          </a:solidFill>
                          <a:effectLst/>
                          <a:latin typeface="Calibri" panose="020F0502020204030204" pitchFamily="34" charset="0"/>
                        </a:rPr>
                        <a:t>Warenvertrieb</a:t>
                      </a:r>
                      <a:r>
                        <a:rPr lang="en-US" sz="800" b="0" i="0" u="none" strike="noStrike" noProof="0" dirty="0">
                          <a:solidFill>
                            <a:srgbClr val="000000"/>
                          </a:solidFill>
                          <a:effectLst/>
                          <a:latin typeface="Calibri" panose="020F0502020204030204" pitchFamily="34" charset="0"/>
                        </a:rPr>
                        <a:t> GmbH &amp; Co. Handels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Ohlauer</a:t>
                      </a:r>
                      <a:r>
                        <a:rPr lang="en-US" sz="800" b="0" i="0" u="none" strike="noStrike" noProof="0" dirty="0">
                          <a:solidFill>
                            <a:srgbClr val="000000"/>
                          </a:solidFill>
                          <a:effectLst/>
                          <a:latin typeface="Calibri" panose="020F0502020204030204" pitchFamily="34" charset="0"/>
                        </a:rPr>
                        <a:t> Str.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Wohnbau</a:t>
                      </a:r>
                      <a:r>
                        <a:rPr lang="en-US" sz="800" b="0" i="0" u="none" strike="noStrike" noProof="0" dirty="0">
                          <a:solidFill>
                            <a:srgbClr val="000000"/>
                          </a:solidFill>
                          <a:effectLst/>
                          <a:latin typeface="Calibri" panose="020F0502020204030204" pitchFamily="34" charset="0"/>
                        </a:rPr>
                        <a:t> Krumwiede GmbH </a:t>
                      </a:r>
                      <a:r>
                        <a:rPr lang="en-US" sz="800" b="0" i="0" u="none" strike="noStrike" noProof="0" dirty="0" err="1">
                          <a:solidFill>
                            <a:srgbClr val="000000"/>
                          </a:solidFill>
                          <a:effectLst/>
                          <a:latin typeface="Calibri" panose="020F0502020204030204" pitchFamily="34" charset="0"/>
                        </a:rPr>
                        <a:t>Freies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Wohnungsunternehmen</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Wittelsbacherstr</a:t>
                      </a:r>
                      <a:r>
                        <a:rPr lang="en-US" sz="800" b="0" i="0" u="none" strike="noStrike" noProof="0" dirty="0">
                          <a:solidFill>
                            <a:srgbClr val="000000"/>
                          </a:solidFill>
                          <a:effectLst/>
                          <a:latin typeface="Calibri" panose="020F0502020204030204" pitchFamily="34" charset="0"/>
                        </a:rPr>
                        <a:t>. 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Thyssen </a:t>
                      </a:r>
                      <a:r>
                        <a:rPr lang="en-US" sz="800" b="0" i="0" u="none" strike="noStrike" noProof="0" dirty="0" err="1">
                          <a:solidFill>
                            <a:srgbClr val="000000"/>
                          </a:solidFill>
                          <a:effectLst/>
                          <a:latin typeface="Calibri" panose="020F0502020204030204" pitchFamily="34" charset="0"/>
                        </a:rPr>
                        <a:t>Bandstahl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MM Packaging Behrens GmbH &amp; Co KG Berlin c/o </a:t>
                      </a:r>
                      <a:r>
                        <a:rPr lang="en-US" sz="800" b="0" i="0" u="none" strike="noStrike" noProof="0" dirty="0" err="1">
                          <a:solidFill>
                            <a:srgbClr val="000000"/>
                          </a:solidFill>
                          <a:effectLst/>
                          <a:latin typeface="Calibri" panose="020F0502020204030204" pitchFamily="34" charset="0"/>
                        </a:rPr>
                        <a:t>Mielich</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347 32G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DVB </a:t>
                      </a:r>
                      <a:r>
                        <a:rPr lang="en-US" sz="800" b="0" i="0" u="none" strike="noStrike" noProof="0" dirty="0" err="1">
                          <a:solidFill>
                            <a:srgbClr val="000000"/>
                          </a:solidFill>
                          <a:effectLst/>
                          <a:latin typeface="Calibri" panose="020F0502020204030204" pitchFamily="34" charset="0"/>
                        </a:rPr>
                        <a:t>Verpackungsmittel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Siemensstr</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Otisstr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9- 11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Geschäfts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Wohnhaus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Bauverwaltungsges</a:t>
                      </a:r>
                      <a:r>
                        <a:rPr lang="en-US" sz="800" b="0" i="0" u="none" strike="noStrike" noProof="0" dirty="0">
                          <a:solidFill>
                            <a:srgbClr val="000000"/>
                          </a:solidFill>
                          <a:effectLst/>
                          <a:latin typeface="Calibri" panose="020F0502020204030204" pitchFamily="34" charset="0"/>
                        </a:rPr>
                        <a:t>. mbH, Berlin-</a:t>
                      </a:r>
                      <a:r>
                        <a:rPr lang="en-US" sz="800" b="0" i="0" u="none" strike="noStrike" noProof="0" dirty="0" err="1">
                          <a:solidFill>
                            <a:srgbClr val="000000"/>
                          </a:solidFill>
                          <a:effectLst/>
                          <a:latin typeface="Calibri" panose="020F0502020204030204" pitchFamily="34" charset="0"/>
                        </a:rPr>
                        <a:t>Opernplatz</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Bajon Berlin's </a:t>
                      </a:r>
                      <a:r>
                        <a:rPr lang="en-US" sz="800" b="0" i="0" u="none" strike="noStrike" noProof="0" dirty="0" err="1">
                          <a:solidFill>
                            <a:srgbClr val="000000"/>
                          </a:solidFill>
                          <a:effectLst/>
                          <a:latin typeface="Calibri" panose="020F0502020204030204" pitchFamily="34" charset="0"/>
                        </a:rPr>
                        <a:t>Gartencenter</a:t>
                      </a:r>
                      <a:r>
                        <a:rPr lang="en-US" sz="800" b="0" i="0" u="none" strike="noStrike" noProof="0" dirty="0">
                          <a:solidFill>
                            <a:srgbClr val="000000"/>
                          </a:solidFill>
                          <a:effectLst/>
                          <a:latin typeface="Calibri" panose="020F0502020204030204" pitchFamily="34" charset="0"/>
                        </a:rPr>
                        <a:t> Charlotte Bajon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252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BCT Industrie Consulting GmbH &amp; Co., </a:t>
                      </a:r>
                      <a:r>
                        <a:rPr lang="en-US" sz="800" b="0" i="0" u="none" strike="noStrike" noProof="0" dirty="0" err="1">
                          <a:solidFill>
                            <a:srgbClr val="000000"/>
                          </a:solidFill>
                          <a:effectLst/>
                          <a:latin typeface="Calibri" panose="020F0502020204030204" pitchFamily="34" charset="0"/>
                        </a:rPr>
                        <a:t>Irading</a:t>
                      </a:r>
                      <a:r>
                        <a:rPr lang="en-US" sz="800" b="0" i="0" u="none" strike="noStrike" noProof="0" dirty="0">
                          <a:solidFill>
                            <a:srgbClr val="000000"/>
                          </a:solidFill>
                          <a:effectLst/>
                          <a:latin typeface="Calibri" panose="020F0502020204030204" pitchFamily="34" charset="0"/>
                        </a:rPr>
                        <a:t>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Klimadienst</a:t>
                      </a:r>
                      <a:r>
                        <a:rPr lang="en-US" sz="800" b="0" i="0" u="none" strike="noStrike" noProof="0" dirty="0">
                          <a:solidFill>
                            <a:srgbClr val="000000"/>
                          </a:solidFill>
                          <a:effectLst/>
                          <a:latin typeface="Calibri" panose="020F0502020204030204" pitchFamily="34" charset="0"/>
                        </a:rPr>
                        <a:t> Berlin Ing. Hans-F. Müller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Pinnauweg</a:t>
                      </a:r>
                      <a:r>
                        <a:rPr lang="en-US" sz="800" b="0" i="0" u="none" strike="noStrike" noProof="0" dirty="0">
                          <a:solidFill>
                            <a:srgbClr val="000000"/>
                          </a:solidFill>
                          <a:effectLst/>
                          <a:latin typeface="Calibri" panose="020F0502020204030204" pitchFamily="34" charset="0"/>
                        </a:rPr>
                        <a:t> 25a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Tremonia</a:t>
                      </a:r>
                      <a:r>
                        <a:rPr lang="en-US" sz="800" b="0" i="0" u="none" strike="noStrike" noProof="0" dirty="0">
                          <a:solidFill>
                            <a:srgbClr val="000000"/>
                          </a:solidFill>
                          <a:effectLst/>
                          <a:latin typeface="Calibri" panose="020F0502020204030204" pitchFamily="34" charset="0"/>
                        </a:rPr>
                        <a:t> Allgemeine Personal Leasing-GmbH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ADS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Kundendienst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zuletzt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Tauentzienstr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Haller Berlin GmbH </a:t>
                      </a:r>
                      <a:r>
                        <a:rPr lang="en-US" sz="800" b="0" i="0" u="none" strike="noStrike" noProof="0" dirty="0" err="1">
                          <a:solidFill>
                            <a:srgbClr val="000000"/>
                          </a:solidFill>
                          <a:effectLst/>
                          <a:latin typeface="Calibri" panose="020F0502020204030204" pitchFamily="34" charset="0"/>
                        </a:rPr>
                        <a:t>Sonnenschutz</a:t>
                      </a:r>
                      <a:r>
                        <a:rPr lang="en-US" sz="800" b="0" i="0" u="none" strike="noStrike" noProof="0" dirty="0">
                          <a:solidFill>
                            <a:srgbClr val="000000"/>
                          </a:solidFill>
                          <a:effectLst/>
                          <a:latin typeface="Calibri" panose="020F0502020204030204" pitchFamily="34" charset="0"/>
                        </a:rPr>
                        <a:t>-Systeme</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Hawitas</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Genthiner</a:t>
                      </a:r>
                      <a:r>
                        <a:rPr lang="en-US" sz="800" b="0" i="0" u="none" strike="noStrike" noProof="0" dirty="0">
                          <a:solidFill>
                            <a:srgbClr val="000000"/>
                          </a:solidFill>
                          <a:effectLst/>
                          <a:latin typeface="Calibri" panose="020F0502020204030204" pitchFamily="34" charset="0"/>
                        </a:rPr>
                        <a:t> Str. 24-28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 Storz - </a:t>
                      </a:r>
                      <a:r>
                        <a:rPr lang="en-US" sz="800" b="0" i="0" u="none" strike="noStrike" noProof="0" dirty="0" err="1">
                          <a:solidFill>
                            <a:srgbClr val="000000"/>
                          </a:solidFill>
                          <a:effectLst/>
                          <a:latin typeface="Calibri" panose="020F0502020204030204" pitchFamily="34" charset="0"/>
                        </a:rPr>
                        <a:t>Endoskope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Scharnhorststr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Seglerservice</a:t>
                      </a:r>
                      <a:r>
                        <a:rPr lang="en-US" sz="800" b="0" i="0" u="none" strike="noStrike" noProof="0" dirty="0">
                          <a:solidFill>
                            <a:srgbClr val="000000"/>
                          </a:solidFill>
                          <a:effectLst/>
                          <a:latin typeface="Calibri" panose="020F0502020204030204" pitchFamily="34" charset="0"/>
                        </a:rPr>
                        <a:t> Martin Kehr GmbH Berlin c/o Dietrich </a:t>
                      </a:r>
                      <a:r>
                        <a:rPr lang="en-US" sz="800" b="0" i="0" u="none" strike="noStrike" noProof="0" dirty="0" err="1">
                          <a:solidFill>
                            <a:srgbClr val="000000"/>
                          </a:solidFill>
                          <a:effectLst/>
                          <a:latin typeface="Calibri" panose="020F0502020204030204" pitchFamily="34" charset="0"/>
                        </a:rPr>
                        <a:t>Willscher</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Wasserkraft</a:t>
                      </a:r>
                      <a:r>
                        <a:rPr lang="en-US" sz="800" b="0" i="0" u="none" strike="noStrike" noProof="0" dirty="0">
                          <a:solidFill>
                            <a:srgbClr val="000000"/>
                          </a:solidFill>
                          <a:effectLst/>
                          <a:latin typeface="Calibri" panose="020F0502020204030204" pitchFamily="34" charset="0"/>
                        </a:rPr>
                        <a:t> Berlin Dipl.-Ing. Volker Probe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Germaniastr</a:t>
                      </a:r>
                      <a:r>
                        <a:rPr lang="en-US" sz="800" b="0" i="0" u="none" strike="noStrike" noProof="0" dirty="0">
                          <a:solidFill>
                            <a:srgbClr val="000000"/>
                          </a:solidFill>
                          <a:effectLst/>
                          <a:latin typeface="Calibri" panose="020F0502020204030204" pitchFamily="34" charset="0"/>
                        </a:rPr>
                        <a:t>. 143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104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Das </a:t>
                      </a:r>
                      <a:r>
                        <a:rPr lang="en-US" sz="800" b="0" i="0" u="none" strike="noStrike" noProof="0" dirty="0" err="1">
                          <a:solidFill>
                            <a:srgbClr val="000000"/>
                          </a:solidFill>
                          <a:effectLst/>
                          <a:latin typeface="Calibri" panose="020F0502020204030204" pitchFamily="34" charset="0"/>
                        </a:rPr>
                        <a:t>Kabinett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politisch-satirisches</a:t>
                      </a:r>
                      <a:r>
                        <a:rPr lang="en-US" sz="800" b="0" i="0" u="none" strike="noStrike" noProof="0" dirty="0">
                          <a:solidFill>
                            <a:srgbClr val="000000"/>
                          </a:solidFill>
                          <a:effectLst/>
                          <a:latin typeface="Calibri" panose="020F0502020204030204" pitchFamily="34" charset="0"/>
                        </a:rPr>
                        <a:t> Theater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Ludwigkirchstr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Deutsche Lindsay </a:t>
                      </a:r>
                      <a:r>
                        <a:rPr lang="en-US" sz="800" b="0" i="0" u="none" strike="noStrike" noProof="0" dirty="0" err="1">
                          <a:solidFill>
                            <a:srgbClr val="000000"/>
                          </a:solidFill>
                          <a:effectLst/>
                          <a:latin typeface="Calibri" panose="020F0502020204030204" pitchFamily="34" charset="0"/>
                        </a:rPr>
                        <a:t>Vertragshändler</a:t>
                      </a:r>
                      <a:r>
                        <a:rPr lang="en-US" sz="800" b="0" i="0" u="none" strike="noStrike" noProof="0" dirty="0">
                          <a:solidFill>
                            <a:srgbClr val="000000"/>
                          </a:solidFill>
                          <a:effectLst/>
                          <a:latin typeface="Calibri" panose="020F0502020204030204" pitchFamily="34" charset="0"/>
                        </a:rPr>
                        <a:t> in Berlin Christos </a:t>
                      </a:r>
                      <a:r>
                        <a:rPr lang="en-US" sz="800" b="0" i="0" u="none" strike="noStrike" noProof="0" dirty="0" err="1">
                          <a:solidFill>
                            <a:srgbClr val="000000"/>
                          </a:solidFill>
                          <a:effectLst/>
                          <a:latin typeface="Calibri" panose="020F0502020204030204" pitchFamily="34" charset="0"/>
                        </a:rPr>
                        <a:t>Dankus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Gilgestr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Geneststr</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Dieter Brusberg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Lyckallee</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 &amp; W. </a:t>
                      </a:r>
                      <a:r>
                        <a:rPr lang="en-US" sz="800" b="0" i="0" u="none" strike="noStrike" noProof="0" dirty="0" err="1">
                          <a:solidFill>
                            <a:srgbClr val="000000"/>
                          </a:solidFill>
                          <a:effectLst/>
                          <a:latin typeface="Calibri" panose="020F0502020204030204" pitchFamily="34" charset="0"/>
                        </a:rPr>
                        <a:t>Rechenzentrum</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96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Datic</a:t>
                      </a:r>
                      <a:r>
                        <a:rPr lang="en-US" sz="800" b="0" i="0" u="none" strike="noStrike" noProof="0" dirty="0">
                          <a:solidFill>
                            <a:srgbClr val="000000"/>
                          </a:solidFill>
                          <a:effectLst/>
                          <a:latin typeface="Calibri" panose="020F0502020204030204" pitchFamily="34" charset="0"/>
                        </a:rPr>
                        <a:t> Werner Krüger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68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Kabelwerke</a:t>
                      </a:r>
                      <a:r>
                        <a:rPr lang="en-US" sz="800" b="0" i="0" u="none" strike="noStrike" noProof="0" dirty="0">
                          <a:solidFill>
                            <a:srgbClr val="000000"/>
                          </a:solidFill>
                          <a:effectLst/>
                          <a:latin typeface="Calibri" panose="020F0502020204030204" pitchFamily="34" charset="0"/>
                        </a:rPr>
                        <a:t> Reinshagen Werk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Flottenstr</a:t>
                      </a:r>
                      <a:r>
                        <a:rPr lang="en-US" sz="800" b="0" i="0" u="none" strike="noStrike" noProof="0" dirty="0">
                          <a:solidFill>
                            <a:srgbClr val="000000"/>
                          </a:solidFill>
                          <a:effectLst/>
                          <a:latin typeface="Calibri" panose="020F0502020204030204" pitchFamily="34" charset="0"/>
                        </a:rPr>
                        <a:t>. 55- 56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BDV Berlin-</a:t>
                      </a:r>
                      <a:r>
                        <a:rPr lang="en-US" sz="800" b="0" i="0" u="none" strike="noStrike" noProof="0" dirty="0" err="1">
                          <a:solidFill>
                            <a:srgbClr val="000000"/>
                          </a:solidFill>
                          <a:effectLst/>
                          <a:latin typeface="Calibri" panose="020F0502020204030204" pitchFamily="34" charset="0"/>
                        </a:rPr>
                        <a:t>Darlehensfonds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Thyssen Haniel Logistic GmbH </a:t>
                      </a:r>
                      <a:r>
                        <a:rPr lang="en-US" sz="800" b="0" i="0" u="none" strike="noStrike" noProof="0" dirty="0" err="1">
                          <a:solidFill>
                            <a:srgbClr val="000000"/>
                          </a:solidFill>
                          <a:effectLst/>
                          <a:latin typeface="Calibri" panose="020F0502020204030204" pitchFamily="34" charset="0"/>
                        </a:rPr>
                        <a:t>Rheinkraft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Buckower</a:t>
                      </a:r>
                      <a:r>
                        <a:rPr lang="en-US" sz="800" b="0" i="0" u="none" strike="noStrike" noProof="0" dirty="0">
                          <a:solidFill>
                            <a:srgbClr val="000000"/>
                          </a:solidFill>
                          <a:effectLst/>
                          <a:latin typeface="Calibri" panose="020F0502020204030204" pitchFamily="34" charset="0"/>
                        </a:rPr>
                        <a:t> Chaussee 47-54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Harzer</a:t>
                      </a:r>
                      <a:r>
                        <a:rPr lang="en-US" sz="800" b="0" i="0" u="none" strike="noStrike" noProof="0" dirty="0">
                          <a:solidFill>
                            <a:srgbClr val="000000"/>
                          </a:solidFill>
                          <a:effectLst/>
                          <a:latin typeface="Calibri" panose="020F0502020204030204" pitchFamily="34" charset="0"/>
                        </a:rPr>
                        <a:t> Str. 39-46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Berlin-TEX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Alboinstr</a:t>
                      </a:r>
                      <a:r>
                        <a:rPr lang="en-US" sz="800" b="0" i="0" u="none" strike="noStrike" noProof="0" dirty="0">
                          <a:solidFill>
                            <a:srgbClr val="000000"/>
                          </a:solidFill>
                          <a:effectLst/>
                          <a:latin typeface="Calibri" panose="020F0502020204030204" pitchFamily="34" charset="0"/>
                        </a:rPr>
                        <a:t>. 17-23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a:t>
                      </a:r>
                      <a:r>
                        <a:rPr lang="en-US" sz="800" b="0" i="0" u="none" strike="noStrike" noProof="0" dirty="0" err="1">
                          <a:solidFill>
                            <a:srgbClr val="000000"/>
                          </a:solidFill>
                          <a:effectLst/>
                          <a:latin typeface="Calibri" panose="020F0502020204030204" pitchFamily="34" charset="0"/>
                        </a:rPr>
                        <a:t>Fertigfenster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Brunsbütteler</a:t>
                      </a:r>
                      <a:r>
                        <a:rPr lang="en-US" sz="800" b="0" i="0" u="none" strike="noStrike" noProof="0" dirty="0">
                          <a:solidFill>
                            <a:srgbClr val="000000"/>
                          </a:solidFill>
                          <a:effectLst/>
                          <a:latin typeface="Calibri" panose="020F0502020204030204" pitchFamily="34" charset="0"/>
                        </a:rPr>
                        <a:t> Damm 175-177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Hoelscherpumpen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Uferstr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Be-Gro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Dernburgstr</a:t>
                      </a:r>
                      <a:r>
                        <a:rPr lang="en-US" sz="800" b="0" i="0" u="none" strike="noStrike" noProof="0" dirty="0">
                          <a:solidFill>
                            <a:srgbClr val="000000"/>
                          </a:solidFill>
                          <a:effectLst/>
                          <a:latin typeface="Calibri" panose="020F0502020204030204" pitchFamily="34" charset="0"/>
                        </a:rPr>
                        <a:t>. 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Readymix</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Transportbeton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Sophienwerderweg</a:t>
                      </a:r>
                      <a:r>
                        <a:rPr lang="en-US" sz="800" b="0" i="0" u="none" strike="noStrike" noProof="0" dirty="0">
                          <a:solidFill>
                            <a:srgbClr val="000000"/>
                          </a:solidFill>
                          <a:effectLst/>
                          <a:latin typeface="Calibri" panose="020F0502020204030204" pitchFamily="34" charset="0"/>
                        </a:rPr>
                        <a:t> 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 TV 80 Film- und </a:t>
                      </a:r>
                      <a:r>
                        <a:rPr lang="en-US" sz="800" b="0" i="0" u="none" strike="noStrike" noProof="0" dirty="0" err="1">
                          <a:solidFill>
                            <a:srgbClr val="000000"/>
                          </a:solidFill>
                          <a:effectLst/>
                          <a:latin typeface="Calibri" panose="020F0502020204030204" pitchFamily="34" charset="0"/>
                        </a:rPr>
                        <a:t>Fernsehproduktion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Langobardenallee</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FPB Freie </a:t>
                      </a:r>
                      <a:r>
                        <a:rPr lang="en-US" sz="800" b="0" i="0" u="none" strike="noStrike" noProof="0" dirty="0" err="1">
                          <a:solidFill>
                            <a:srgbClr val="000000"/>
                          </a:solidFill>
                          <a:effectLst/>
                          <a:latin typeface="Calibri" panose="020F0502020204030204" pitchFamily="34" charset="0"/>
                        </a:rPr>
                        <a:t>Planungsgruppe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Giesebrechtstr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Gerling-</a:t>
                      </a:r>
                      <a:r>
                        <a:rPr lang="en-US" sz="800" b="0" i="0" u="none" strike="noStrike" noProof="0" dirty="0" err="1">
                          <a:solidFill>
                            <a:srgbClr val="000000"/>
                          </a:solidFill>
                          <a:effectLst/>
                          <a:latin typeface="Calibri" panose="020F0502020204030204" pitchFamily="34" charset="0"/>
                        </a:rPr>
                        <a:t>Konzern</a:t>
                      </a:r>
                      <a:r>
                        <a:rPr lang="en-US" sz="800" b="0" i="0" u="none" strike="noStrike" noProof="0" dirty="0">
                          <a:solidFill>
                            <a:srgbClr val="000000"/>
                          </a:solidFill>
                          <a:effectLst/>
                          <a:latin typeface="Calibri" panose="020F0502020204030204" pitchFamily="34" charset="0"/>
                        </a:rPr>
                        <a:t> Berlin-Brandenburg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Berlin-Schnee Garten- und </a:t>
                      </a:r>
                      <a:r>
                        <a:rPr lang="en-US" sz="800" b="0" i="0" u="none" strike="noStrike" noProof="0" dirty="0" err="1">
                          <a:solidFill>
                            <a:srgbClr val="000000"/>
                          </a:solidFill>
                          <a:effectLst/>
                          <a:latin typeface="Calibri" panose="020F0502020204030204" pitchFamily="34" charset="0"/>
                        </a:rPr>
                        <a:t>Winterdienste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Hegauer</a:t>
                      </a:r>
                      <a:r>
                        <a:rPr lang="en-US" sz="800" b="0" i="0" u="none" strike="noStrike" noProof="0" dirty="0">
                          <a:solidFill>
                            <a:srgbClr val="000000"/>
                          </a:solidFill>
                          <a:effectLst/>
                          <a:latin typeface="Calibri" panose="020F0502020204030204" pitchFamily="34" charset="0"/>
                        </a:rPr>
                        <a:t> Weg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Berlin-Schnee Garten- und </a:t>
                      </a:r>
                      <a:r>
                        <a:rPr lang="en-US" sz="800" b="0" i="0" u="none" strike="noStrike" noProof="0" dirty="0" err="1">
                          <a:solidFill>
                            <a:srgbClr val="000000"/>
                          </a:solidFill>
                          <a:effectLst/>
                          <a:latin typeface="Calibri" panose="020F0502020204030204" pitchFamily="34" charset="0"/>
                        </a:rPr>
                        <a:t>Winterdienste</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Hegauer</a:t>
                      </a:r>
                      <a:r>
                        <a:rPr lang="en-US" sz="800" b="0" i="0" u="none" strike="noStrike" noProof="0" dirty="0">
                          <a:solidFill>
                            <a:srgbClr val="000000"/>
                          </a:solidFill>
                          <a:effectLst/>
                          <a:latin typeface="Calibri" panose="020F0502020204030204" pitchFamily="34" charset="0"/>
                        </a:rPr>
                        <a:t> Weg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Bauer </a:t>
                      </a:r>
                      <a:r>
                        <a:rPr lang="en-US" sz="800" b="0" i="0" u="none" strike="noStrike" noProof="0" dirty="0" err="1">
                          <a:solidFill>
                            <a:srgbClr val="000000"/>
                          </a:solidFill>
                          <a:effectLst/>
                          <a:latin typeface="Calibri" panose="020F0502020204030204" pitchFamily="34" charset="0"/>
                        </a:rPr>
                        <a:t>Spezialtiefbau</a:t>
                      </a:r>
                      <a:r>
                        <a:rPr lang="en-US" sz="800" b="0" i="0" u="none" strike="noStrike" noProof="0" dirty="0">
                          <a:solidFill>
                            <a:srgbClr val="000000"/>
                          </a:solidFill>
                          <a:effectLst/>
                          <a:latin typeface="Calibri" panose="020F0502020204030204" pitchFamily="34" charset="0"/>
                        </a:rPr>
                        <a:t>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Gesundheitswerk</a:t>
                      </a:r>
                      <a:r>
                        <a:rPr lang="en-US" sz="800" b="0" i="0" u="none" strike="noStrike" noProof="0" dirty="0">
                          <a:solidFill>
                            <a:srgbClr val="000000"/>
                          </a:solidFill>
                          <a:effectLst/>
                          <a:latin typeface="Calibri" panose="020F0502020204030204" pitchFamily="34" charset="0"/>
                        </a:rPr>
                        <a:t> Bethel Berlin </a:t>
                      </a:r>
                      <a:r>
                        <a:rPr lang="en-US" sz="800" b="0" i="0" u="none" strike="noStrike" noProof="0" dirty="0" err="1">
                          <a:solidFill>
                            <a:srgbClr val="000000"/>
                          </a:solidFill>
                          <a:effectLst/>
                          <a:latin typeface="Calibri" panose="020F0502020204030204" pitchFamily="34" charset="0"/>
                        </a:rPr>
                        <a:t>gemeinnützige</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Promenadenstr</a:t>
                      </a:r>
                      <a:r>
                        <a:rPr lang="en-US" sz="800" b="0" i="0" u="none" strike="noStrike" noProof="0" dirty="0">
                          <a:solidFill>
                            <a:srgbClr val="000000"/>
                          </a:solidFill>
                          <a:effectLst/>
                          <a:latin typeface="Calibri" panose="020F0502020204030204" pitchFamily="34" charset="0"/>
                        </a:rPr>
                        <a:t>. 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FBV </a:t>
                      </a:r>
                      <a:r>
                        <a:rPr lang="en-US" sz="800" b="0" i="0" u="none" strike="noStrike" noProof="0" dirty="0" err="1">
                          <a:solidFill>
                            <a:srgbClr val="000000"/>
                          </a:solidFill>
                          <a:effectLst/>
                          <a:latin typeface="Calibri" panose="020F0502020204030204" pitchFamily="34" charset="0"/>
                        </a:rPr>
                        <a:t>Frauenbuchvertrieb</a:t>
                      </a:r>
                      <a:r>
                        <a:rPr lang="en-US" sz="800" b="0" i="0" u="none" strike="noStrike" noProof="0" dirty="0">
                          <a:solidFill>
                            <a:srgbClr val="000000"/>
                          </a:solidFill>
                          <a:effectLst/>
                          <a:latin typeface="Calibri" panose="020F0502020204030204" pitchFamily="34" charset="0"/>
                        </a:rPr>
                        <a:t> und SISSI Verlag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Mehringdamm</a:t>
                      </a:r>
                      <a:r>
                        <a:rPr lang="en-US" sz="800" b="0" i="0" u="none" strike="noStrike" noProof="0" dirty="0">
                          <a:solidFill>
                            <a:srgbClr val="000000"/>
                          </a:solidFill>
                          <a:effectLst/>
                          <a:latin typeface="Calibri" panose="020F0502020204030204" pitchFamily="34" charset="0"/>
                        </a:rPr>
                        <a:t> 32-34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COMPSAT Berlin Computer </a:t>
                      </a:r>
                      <a:r>
                        <a:rPr lang="en-US" sz="800" b="0" i="0" u="none" strike="noStrike" noProof="0" dirty="0" err="1">
                          <a:solidFill>
                            <a:srgbClr val="000000"/>
                          </a:solidFill>
                          <a:effectLst/>
                          <a:latin typeface="Calibri" panose="020F0502020204030204" pitchFamily="34" charset="0"/>
                        </a:rPr>
                        <a:t>Satelliten</a:t>
                      </a:r>
                      <a:r>
                        <a:rPr lang="en-US" sz="800" b="0" i="0" u="none" strike="noStrike" noProof="0" dirty="0">
                          <a:solidFill>
                            <a:srgbClr val="000000"/>
                          </a:solidFill>
                          <a:effectLst/>
                          <a:latin typeface="Calibri" panose="020F0502020204030204" pitchFamily="34" charset="0"/>
                        </a:rPr>
                        <a:t> Systeme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105-106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elementa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bausysteme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166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Moosrosenstr</a:t>
                      </a:r>
                      <a:r>
                        <a:rPr lang="en-US" sz="800" b="0" i="0" u="none" strike="noStrike" noProof="0" dirty="0">
                          <a:solidFill>
                            <a:srgbClr val="000000"/>
                          </a:solidFill>
                          <a:effectLst/>
                          <a:latin typeface="Calibri" panose="020F0502020204030204" pitchFamily="34" charset="0"/>
                        </a:rPr>
                        <a:t>. 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Coratec</a:t>
                      </a:r>
                      <a:r>
                        <a:rPr lang="en-US" sz="800" b="0" i="0" u="none" strike="noStrike" noProof="0" dirty="0">
                          <a:solidFill>
                            <a:srgbClr val="000000"/>
                          </a:solidFill>
                          <a:effectLst/>
                          <a:latin typeface="Calibri" panose="020F0502020204030204" pitchFamily="34" charset="0"/>
                        </a:rPr>
                        <a:t> Computer </a:t>
                      </a:r>
                      <a:r>
                        <a:rPr lang="en-US" sz="800" b="0" i="0" u="none" strike="noStrike" noProof="0" dirty="0" err="1">
                          <a:solidFill>
                            <a:srgbClr val="000000"/>
                          </a:solidFill>
                          <a:effectLst/>
                          <a:latin typeface="Calibri" panose="020F0502020204030204" pitchFamily="34" charset="0"/>
                        </a:rPr>
                        <a:t>Roboter</a:t>
                      </a:r>
                      <a:r>
                        <a:rPr lang="en-US" sz="800" b="0" i="0" u="none" strike="noStrike" noProof="0" dirty="0">
                          <a:solidFill>
                            <a:srgbClr val="000000"/>
                          </a:solidFill>
                          <a:effectLst/>
                          <a:latin typeface="Calibri" panose="020F0502020204030204" pitchFamily="34" charset="0"/>
                        </a:rPr>
                        <a:t> und Automations-Technologie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Spielbank</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 </a:t>
                      </a:r>
                      <a:r>
                        <a:rPr lang="en-US" sz="800" b="0" i="0" u="none" strike="noStrike" noProof="0" dirty="0" err="1">
                          <a:solidFill>
                            <a:srgbClr val="000000"/>
                          </a:solidFill>
                          <a:effectLst/>
                          <a:latin typeface="Calibri" panose="020F0502020204030204" pitchFamily="34" charset="0"/>
                        </a:rPr>
                        <a:t>Döllken</a:t>
                      </a:r>
                      <a:r>
                        <a:rPr lang="en-US" sz="800" b="0" i="0" u="none" strike="noStrike" noProof="0" dirty="0">
                          <a:solidFill>
                            <a:srgbClr val="000000"/>
                          </a:solidFill>
                          <a:effectLst/>
                          <a:latin typeface="Calibri" panose="020F0502020204030204" pitchFamily="34" charset="0"/>
                        </a:rPr>
                        <a:t> &amp; Co. Berlin GmbH </a:t>
                      </a:r>
                      <a:r>
                        <a:rPr lang="en-US" sz="800" b="0" i="0" u="none" strike="noStrike" noProof="0" dirty="0" err="1">
                          <a:solidFill>
                            <a:srgbClr val="000000"/>
                          </a:solidFill>
                          <a:effectLst/>
                          <a:latin typeface="Calibri" panose="020F0502020204030204" pitchFamily="34" charset="0"/>
                        </a:rPr>
                        <a:t>zuletzt</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Trautenaustr</a:t>
                      </a:r>
                      <a:r>
                        <a:rPr lang="en-US" sz="800" b="0" i="0" u="none" strike="noStrike" noProof="0" dirty="0">
                          <a:solidFill>
                            <a:srgbClr val="000000"/>
                          </a:solidFill>
                          <a:effectLst/>
                          <a:latin typeface="Calibri" panose="020F0502020204030204" pitchFamily="34" charset="0"/>
                        </a:rPr>
                        <a:t>.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Electroma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Spezialbetrieb</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Elektromaschinen</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Reparatur</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Landweg</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Wissenschaftszentrum</a:t>
                      </a:r>
                      <a:r>
                        <a:rPr lang="en-US" sz="800" b="0" i="0" u="none" strike="noStrike" noProof="0" dirty="0">
                          <a:solidFill>
                            <a:srgbClr val="000000"/>
                          </a:solidFill>
                          <a:effectLst/>
                          <a:latin typeface="Calibri" panose="020F0502020204030204" pitchFamily="34" charset="0"/>
                        </a:rPr>
                        <a:t> Berlin für </a:t>
                      </a:r>
                      <a:r>
                        <a:rPr lang="en-US" sz="800" b="0" i="0" u="none" strike="noStrike" noProof="0" dirty="0" err="1">
                          <a:solidFill>
                            <a:srgbClr val="000000"/>
                          </a:solidFill>
                          <a:effectLst/>
                          <a:latin typeface="Calibri" panose="020F0502020204030204" pitchFamily="34" charset="0"/>
                        </a:rPr>
                        <a:t>Sozialforschung</a:t>
                      </a:r>
                      <a:r>
                        <a:rPr lang="en-US" sz="800" b="0" i="0" u="none" strike="noStrike" noProof="0" dirty="0">
                          <a:solidFill>
                            <a:srgbClr val="000000"/>
                          </a:solidFill>
                          <a:effectLst/>
                          <a:latin typeface="Calibri" panose="020F0502020204030204" pitchFamily="34" charset="0"/>
                        </a:rPr>
                        <a:t>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Reichpietschufer</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Südwestkorso</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Saber Reisen Saber </a:t>
                      </a:r>
                      <a:r>
                        <a:rPr lang="en-US" sz="800" b="0" i="0" u="none" strike="noStrike" noProof="0" dirty="0" err="1">
                          <a:solidFill>
                            <a:srgbClr val="000000"/>
                          </a:solidFill>
                          <a:effectLst/>
                          <a:latin typeface="Calibri" panose="020F0502020204030204" pitchFamily="34" charset="0"/>
                        </a:rPr>
                        <a:t>Kounafa</a:t>
                      </a:r>
                      <a:r>
                        <a:rPr lang="en-US" sz="800" b="0" i="0" u="none" strike="noStrike" noProof="0" dirty="0">
                          <a:solidFill>
                            <a:srgbClr val="000000"/>
                          </a:solidFill>
                          <a:effectLst/>
                          <a:latin typeface="Calibri" panose="020F0502020204030204" pitchFamily="34" charset="0"/>
                        </a:rPr>
                        <a:t> Export-Import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Tambacher</a:t>
                      </a:r>
                      <a:r>
                        <a:rPr lang="en-US" sz="800" b="0" i="0" u="none" strike="noStrike" noProof="0" dirty="0">
                          <a:solidFill>
                            <a:srgbClr val="000000"/>
                          </a:solidFill>
                          <a:effectLst/>
                          <a:latin typeface="Calibri" panose="020F0502020204030204" pitchFamily="34" charset="0"/>
                        </a:rPr>
                        <a:t> Str.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VNB </a:t>
                      </a:r>
                      <a:r>
                        <a:rPr lang="en-US" sz="800" b="0" i="0" u="none" strike="noStrike" noProof="0" dirty="0" err="1">
                          <a:solidFill>
                            <a:srgbClr val="000000"/>
                          </a:solidFill>
                          <a:effectLst/>
                          <a:latin typeface="Calibri" panose="020F0502020204030204" pitchFamily="34" charset="0"/>
                        </a:rPr>
                        <a:t>Viehschlachtung</a:t>
                      </a:r>
                      <a:r>
                        <a:rPr lang="en-US" sz="800" b="0" i="0" u="none" strike="noStrike" noProof="0" dirty="0">
                          <a:solidFill>
                            <a:srgbClr val="000000"/>
                          </a:solidFill>
                          <a:effectLst/>
                          <a:latin typeface="Calibri" panose="020F0502020204030204" pitchFamily="34" charset="0"/>
                        </a:rPr>
                        <a:t> und Nebenprodukteverwertung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Beusselstr</a:t>
                      </a:r>
                      <a:r>
                        <a:rPr lang="en-US" sz="800" b="0" i="0" u="none" strike="noStrike" noProof="0" dirty="0">
                          <a:solidFill>
                            <a:srgbClr val="000000"/>
                          </a:solidFill>
                          <a:effectLst/>
                          <a:latin typeface="Calibri" panose="020F0502020204030204" pitchFamily="34" charset="0"/>
                        </a:rPr>
                        <a:t>. 44n-q</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FKF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FKF Berlin GmbH &amp; Co. </a:t>
                      </a:r>
                      <a:r>
                        <a:rPr lang="en-US" sz="800" b="0" i="0" u="none" strike="noStrike" noProof="0" dirty="0" err="1">
                          <a:solidFill>
                            <a:srgbClr val="000000"/>
                          </a:solidFill>
                          <a:effectLst/>
                          <a:latin typeface="Calibri" panose="020F0502020204030204" pitchFamily="34" charset="0"/>
                        </a:rPr>
                        <a:t>Fleischwaren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Konserven</a:t>
                      </a:r>
                      <a:r>
                        <a:rPr lang="en-US" sz="800" b="0" i="0" u="none" strike="noStrike" noProof="0" dirty="0">
                          <a:solidFill>
                            <a:srgbClr val="000000"/>
                          </a:solidFill>
                          <a:effectLst/>
                          <a:latin typeface="Calibri" panose="020F0502020204030204" pitchFamily="34" charset="0"/>
                        </a:rPr>
                        <a:t>-Fabrik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Franken-Repro GmbH &amp; Co. </a:t>
                      </a:r>
                      <a:r>
                        <a:rPr lang="en-US" sz="800" b="0" i="0" u="none" strike="noStrike" noProof="0" dirty="0" err="1">
                          <a:solidFill>
                            <a:srgbClr val="000000"/>
                          </a:solidFill>
                          <a:effectLst/>
                          <a:latin typeface="Calibri" panose="020F0502020204030204" pitchFamily="34" charset="0"/>
                        </a:rPr>
                        <a:t>Betriebsgesellschaft</a:t>
                      </a:r>
                      <a:r>
                        <a:rPr lang="en-US" sz="800" b="0" i="0" u="none" strike="noStrike" noProof="0" dirty="0">
                          <a:solidFill>
                            <a:srgbClr val="000000"/>
                          </a:solidFill>
                          <a:effectLst/>
                          <a:latin typeface="Calibri" panose="020F0502020204030204" pitchFamily="34" charset="0"/>
                        </a:rPr>
                        <a:t>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Waldstr</a:t>
                      </a:r>
                      <a:r>
                        <a:rPr lang="en-US" sz="800" b="0" i="0" u="none" strike="noStrike" noProof="0" dirty="0">
                          <a:solidFill>
                            <a:srgbClr val="000000"/>
                          </a:solidFill>
                          <a:effectLst/>
                          <a:latin typeface="Calibri" panose="020F0502020204030204" pitchFamily="34" charset="0"/>
                        </a:rPr>
                        <a:t>. 82- 85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Miraculum</a:t>
                      </a:r>
                      <a:r>
                        <a:rPr lang="en-US" sz="800" b="0" i="0" u="none" strike="noStrike" noProof="0" dirty="0">
                          <a:solidFill>
                            <a:srgbClr val="000000"/>
                          </a:solidFill>
                          <a:effectLst/>
                          <a:latin typeface="Calibri" panose="020F0502020204030204" pitchFamily="34" charset="0"/>
                        </a:rPr>
                        <a:t> Theater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Braas Berlin GmbH &amp; Co. Produktion &amp; </a:t>
                      </a:r>
                      <a:r>
                        <a:rPr lang="en-US" sz="800" b="0" i="0" u="none" strike="noStrike" noProof="0" dirty="0" err="1">
                          <a:solidFill>
                            <a:srgbClr val="000000"/>
                          </a:solidFill>
                          <a:effectLst/>
                          <a:latin typeface="Calibri" panose="020F0502020204030204" pitchFamily="34" charset="0"/>
                        </a:rPr>
                        <a:t>Vertrieb</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Industrieanlagen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Vermögensverwaltungsges</a:t>
                      </a:r>
                      <a:r>
                        <a:rPr lang="en-US" sz="800" b="0" i="0" u="none" strike="noStrike" noProof="0" dirty="0">
                          <a:solidFill>
                            <a:srgbClr val="000000"/>
                          </a:solidFill>
                          <a:effectLst/>
                          <a:latin typeface="Calibri" panose="020F0502020204030204" pitchFamily="34" charset="0"/>
                        </a:rPr>
                        <a:t>. mbH &amp; Co.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Westendallee</a:t>
                      </a:r>
                      <a:r>
                        <a:rPr lang="en-US" sz="800" b="0" i="0" u="none" strike="noStrike" noProof="0" dirty="0">
                          <a:solidFill>
                            <a:srgbClr val="000000"/>
                          </a:solidFill>
                          <a:effectLst/>
                          <a:latin typeface="Calibri" panose="020F0502020204030204" pitchFamily="34" charset="0"/>
                        </a:rPr>
                        <a:t> 64a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Weinkontor-Weinhandelsgesellschaft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mbh</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Weislingenstr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Mark Hotel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16- 24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data informatic berlin </a:t>
                      </a:r>
                      <a:r>
                        <a:rPr lang="en-US" sz="800" b="0" i="0" u="none" strike="noStrike" noProof="0" dirty="0" err="1">
                          <a:solidFill>
                            <a:srgbClr val="000000"/>
                          </a:solidFill>
                          <a:effectLst/>
                          <a:latin typeface="Calibri" panose="020F0502020204030204" pitchFamily="34" charset="0"/>
                        </a:rPr>
                        <a:t>gmbh</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Katharinenstr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Reisebüro</a:t>
                      </a:r>
                      <a:r>
                        <a:rPr lang="en-US" sz="800" b="0" i="0" u="none" strike="noStrike" noProof="0" dirty="0">
                          <a:solidFill>
                            <a:srgbClr val="000000"/>
                          </a:solidFill>
                          <a:effectLst/>
                          <a:latin typeface="Calibri" panose="020F0502020204030204" pitchFamily="34" charset="0"/>
                        </a:rPr>
                        <a:t> Globus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MAF-Berlin </a:t>
                      </a:r>
                      <a:r>
                        <a:rPr lang="en-US" sz="800" b="0" i="0" u="none" strike="noStrike" noProof="0" dirty="0" err="1">
                          <a:solidFill>
                            <a:srgbClr val="000000"/>
                          </a:solidFill>
                          <a:effectLst/>
                          <a:latin typeface="Calibri" panose="020F0502020204030204" pitchFamily="34" charset="0"/>
                        </a:rPr>
                        <a:t>Lärmschutz-Elemente</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Wittestr</a:t>
                      </a:r>
                      <a:r>
                        <a:rPr lang="en-US" sz="800" b="0" i="0" u="none" strike="noStrike" noProof="0" dirty="0">
                          <a:solidFill>
                            <a:srgbClr val="000000"/>
                          </a:solidFill>
                          <a:effectLst/>
                          <a:latin typeface="Calibri" panose="020F0502020204030204" pitchFamily="34" charset="0"/>
                        </a:rPr>
                        <a:t>. 26c</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Kleiststr</a:t>
                      </a:r>
                      <a:r>
                        <a:rPr lang="en-US" sz="800" b="0" i="0" u="none" strike="noStrike" noProof="0" dirty="0">
                          <a:solidFill>
                            <a:srgbClr val="000000"/>
                          </a:solidFill>
                          <a:effectLst/>
                          <a:latin typeface="Calibri" panose="020F0502020204030204" pitchFamily="34" charset="0"/>
                        </a:rPr>
                        <a:t>. 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Variodomo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Hausvertrieb</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Neuköllner</a:t>
                      </a:r>
                      <a:r>
                        <a:rPr lang="en-US" sz="800" b="0" i="0" u="none" strike="noStrike" noProof="0" dirty="0">
                          <a:solidFill>
                            <a:srgbClr val="000000"/>
                          </a:solidFill>
                          <a:effectLst/>
                          <a:latin typeface="Calibri" panose="020F0502020204030204" pitchFamily="34" charset="0"/>
                        </a:rPr>
                        <a:t> Str. 212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""""GK"""" </a:t>
                      </a:r>
                      <a:r>
                        <a:rPr lang="en-US" sz="800" b="0" i="0" u="none" strike="noStrike" noProof="0" dirty="0" err="1">
                          <a:solidFill>
                            <a:srgbClr val="000000"/>
                          </a:solidFill>
                          <a:effectLst/>
                          <a:latin typeface="Calibri" panose="020F0502020204030204" pitchFamily="34" charset="0"/>
                        </a:rPr>
                        <a:t>Großkauf</a:t>
                      </a:r>
                      <a:r>
                        <a:rPr lang="en-US" sz="800" b="0" i="0" u="none" strike="noStrike" noProof="0" dirty="0">
                          <a:solidFill>
                            <a:srgbClr val="000000"/>
                          </a:solidFill>
                          <a:effectLst/>
                          <a:latin typeface="Calibri" panose="020F0502020204030204" pitchFamily="34" charset="0"/>
                        </a:rPr>
                        <a:t> GmbH &amp; Co. Berlin Nord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44- 46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Readymix</a:t>
                      </a:r>
                      <a:r>
                        <a:rPr lang="en-US" sz="800" b="0" i="0" u="none" strike="noStrike" noProof="0" dirty="0">
                          <a:solidFill>
                            <a:srgbClr val="000000"/>
                          </a:solidFill>
                          <a:effectLst/>
                          <a:latin typeface="Calibri" panose="020F0502020204030204" pitchFamily="34" charset="0"/>
                        </a:rPr>
                        <a:t> Beton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Sophienwerderweg</a:t>
                      </a:r>
                      <a:r>
                        <a:rPr lang="en-US" sz="800" b="0" i="0" u="none" strike="noStrike" noProof="0" dirty="0">
                          <a:solidFill>
                            <a:srgbClr val="000000"/>
                          </a:solidFill>
                          <a:effectLst/>
                          <a:latin typeface="Calibri" panose="020F0502020204030204" pitchFamily="34" charset="0"/>
                        </a:rPr>
                        <a:t> 40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Gastrotrakt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und Service von </a:t>
                      </a:r>
                      <a:r>
                        <a:rPr lang="en-US" sz="800" b="0" i="0" u="none" strike="noStrike" noProof="0" dirty="0" err="1">
                          <a:solidFill>
                            <a:srgbClr val="000000"/>
                          </a:solidFill>
                          <a:effectLst/>
                          <a:latin typeface="Calibri" panose="020F0502020204030204" pitchFamily="34" charset="0"/>
                        </a:rPr>
                        <a:t>Großküchenanlagen</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Oudenarder</a:t>
                      </a:r>
                      <a:r>
                        <a:rPr lang="en-US" sz="800" b="0" i="0" u="none" strike="noStrike" noProof="0" dirty="0">
                          <a:solidFill>
                            <a:srgbClr val="000000"/>
                          </a:solidFill>
                          <a:effectLst/>
                          <a:latin typeface="Calibri" panose="020F0502020204030204" pitchFamily="34" charset="0"/>
                        </a:rPr>
                        <a:t> Str. 16- 20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Wilhelminenhofstr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Graphische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Werkstätten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Beerenstr</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Ferdinand Schmidt, </a:t>
                      </a:r>
                      <a:r>
                        <a:rPr lang="en-US" sz="800" b="0" i="0" u="none" strike="noStrike" noProof="0" dirty="0" err="1">
                          <a:solidFill>
                            <a:srgbClr val="000000"/>
                          </a:solidFill>
                          <a:effectLst/>
                          <a:latin typeface="Calibri" panose="020F0502020204030204" pitchFamily="34" charset="0"/>
                        </a:rPr>
                        <a:t>Genuport</a:t>
                      </a:r>
                      <a:r>
                        <a:rPr lang="en-US" sz="800" b="0" i="0" u="none" strike="noStrike" noProof="0" dirty="0">
                          <a:solidFill>
                            <a:srgbClr val="000000"/>
                          </a:solidFill>
                          <a:effectLst/>
                          <a:latin typeface="Calibri" panose="020F0502020204030204" pitchFamily="34" charset="0"/>
                        </a:rPr>
                        <a:t>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 </a:t>
                      </a:r>
                      <a:r>
                        <a:rPr lang="en-US" sz="800" b="0" i="0" u="none" strike="noStrike" noProof="0" dirty="0" err="1">
                          <a:solidFill>
                            <a:srgbClr val="000000"/>
                          </a:solidFill>
                          <a:effectLst/>
                          <a:latin typeface="Calibri" panose="020F0502020204030204" pitchFamily="34" charset="0"/>
                        </a:rPr>
                        <a:t>Fernsehdienst</a:t>
                      </a:r>
                      <a:r>
                        <a:rPr lang="en-US" sz="800" b="0" i="0" u="none" strike="noStrike" noProof="0" dirty="0">
                          <a:solidFill>
                            <a:srgbClr val="000000"/>
                          </a:solidFill>
                          <a:effectLst/>
                          <a:latin typeface="Calibri" panose="020F0502020204030204" pitchFamily="34" charset="0"/>
                        </a:rPr>
                        <a:t> in Berlin Handels-GmbH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71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Vaganten</a:t>
                      </a:r>
                      <a:r>
                        <a:rPr lang="en-US" sz="800" b="0" i="0" u="none" strike="noStrike" noProof="0" dirty="0">
                          <a:solidFill>
                            <a:srgbClr val="000000"/>
                          </a:solidFill>
                          <a:effectLst/>
                          <a:latin typeface="Calibri" panose="020F0502020204030204" pitchFamily="34" charset="0"/>
                        </a:rPr>
                        <a:t> Bühne Berlin </a:t>
                      </a:r>
                      <a:r>
                        <a:rPr lang="en-US" sz="800" b="0" i="0" u="none" strike="noStrike" noProof="0" dirty="0" err="1">
                          <a:solidFill>
                            <a:srgbClr val="000000"/>
                          </a:solidFill>
                          <a:effectLst/>
                          <a:latin typeface="Calibri" panose="020F0502020204030204" pitchFamily="34" charset="0"/>
                        </a:rPr>
                        <a:t>gemeinnütziges</a:t>
                      </a:r>
                      <a:r>
                        <a:rPr lang="en-US" sz="800" b="0" i="0" u="none" strike="noStrike" noProof="0" dirty="0">
                          <a:solidFill>
                            <a:srgbClr val="000000"/>
                          </a:solidFill>
                          <a:effectLst/>
                          <a:latin typeface="Calibri" panose="020F0502020204030204" pitchFamily="34" charset="0"/>
                        </a:rPr>
                        <a:t> Theater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12a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Fit-Fun </a:t>
                      </a:r>
                      <a:r>
                        <a:rPr lang="en-US" sz="800" b="0" i="0" u="none" strike="noStrike" noProof="0" dirty="0" err="1">
                          <a:solidFill>
                            <a:srgbClr val="000000"/>
                          </a:solidFill>
                          <a:effectLst/>
                          <a:latin typeface="Calibri" panose="020F0502020204030204" pitchFamily="34" charset="0"/>
                        </a:rPr>
                        <a:t>Freizeit</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Sportbetriebs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194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Hospes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Vermögens-Verwaltungsgesellschaft</a:t>
                      </a:r>
                      <a:r>
                        <a:rPr lang="en-US" sz="800" b="0" i="0" u="none" strike="noStrike" noProof="0" dirty="0">
                          <a:solidFill>
                            <a:srgbClr val="000000"/>
                          </a:solidFill>
                          <a:effectLst/>
                          <a:latin typeface="Calibri" panose="020F0502020204030204" pitchFamily="34" charset="0"/>
                        </a:rPr>
                        <a:t> mbH &amp; Co. Hotel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Okal-Werk Berlin Otto </a:t>
                      </a:r>
                      <a:r>
                        <a:rPr lang="en-US" sz="800" b="0" i="0" u="none" strike="noStrike" noProof="0" dirty="0" err="1">
                          <a:solidFill>
                            <a:srgbClr val="000000"/>
                          </a:solidFill>
                          <a:effectLst/>
                          <a:latin typeface="Calibri" panose="020F0502020204030204" pitchFamily="34" charset="0"/>
                        </a:rPr>
                        <a:t>Kreibaum</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27-29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Betronik</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Vertriebsgesellschaft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Grunewaldstr</a:t>
                      </a:r>
                      <a:r>
                        <a:rPr lang="en-US" sz="800" b="0" i="0" u="none" strike="noStrike" noProof="0" dirty="0">
                          <a:solidFill>
                            <a:srgbClr val="000000"/>
                          </a:solidFill>
                          <a:effectLst/>
                          <a:latin typeface="Calibri" panose="020F0502020204030204" pitchFamily="34" charset="0"/>
                        </a:rPr>
                        <a:t>. 39a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Jägerndorfer</a:t>
                      </a:r>
                      <a:r>
                        <a:rPr lang="en-US" sz="800" b="0" i="0" u="none" strike="noStrike" noProof="0" dirty="0">
                          <a:solidFill>
                            <a:srgbClr val="000000"/>
                          </a:solidFill>
                          <a:effectLst/>
                          <a:latin typeface="Calibri" panose="020F0502020204030204" pitchFamily="34" charset="0"/>
                        </a:rPr>
                        <a:t> Zeile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System Union </a:t>
                      </a:r>
                      <a:r>
                        <a:rPr lang="en-US" sz="800" b="0" i="0" u="none" strike="noStrike" noProof="0" dirty="0" err="1">
                          <a:solidFill>
                            <a:srgbClr val="000000"/>
                          </a:solidFill>
                          <a:effectLst/>
                          <a:latin typeface="Calibri" panose="020F0502020204030204" pitchFamily="34" charset="0"/>
                        </a:rPr>
                        <a:t>Automatisierungstechnik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179/180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CINE TV </a:t>
                      </a:r>
                      <a:r>
                        <a:rPr lang="en-US" sz="800" b="0" i="0" u="none" strike="noStrike" noProof="0" dirty="0" err="1">
                          <a:solidFill>
                            <a:srgbClr val="000000"/>
                          </a:solidFill>
                          <a:effectLst/>
                          <a:latin typeface="Calibri" panose="020F0502020204030204" pitchFamily="34" charset="0"/>
                        </a:rPr>
                        <a:t>Filmproduction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Weißwasserweg</a:t>
                      </a:r>
                      <a:r>
                        <a:rPr lang="en-US" sz="800" b="0" i="0" u="none" strike="noStrike" noProof="0" dirty="0">
                          <a:solidFill>
                            <a:srgbClr val="000000"/>
                          </a:solidFill>
                          <a:effectLst/>
                          <a:latin typeface="Calibri" panose="020F0502020204030204" pitchFamily="34" charset="0"/>
                        </a:rPr>
                        <a:t> 49d</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Svenson-</a:t>
                      </a:r>
                      <a:r>
                        <a:rPr lang="en-US" sz="800" b="0" i="0" u="none" strike="noStrike" noProof="0" dirty="0" err="1">
                          <a:solidFill>
                            <a:srgbClr val="000000"/>
                          </a:solidFill>
                          <a:effectLst/>
                          <a:latin typeface="Calibri" panose="020F0502020204030204" pitchFamily="34" charset="0"/>
                        </a:rPr>
                        <a:t>Haarstudio</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Forckenbeckstr</a:t>
                      </a:r>
                      <a:r>
                        <a:rPr lang="en-US" sz="800" b="0" i="0" u="none" strike="noStrike" noProof="0" dirty="0">
                          <a:solidFill>
                            <a:srgbClr val="000000"/>
                          </a:solidFill>
                          <a:effectLst/>
                          <a:latin typeface="Calibri" panose="020F0502020204030204" pitchFamily="34" charset="0"/>
                        </a:rPr>
                        <a:t>. 94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Kettschärerei</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Textilgesellschaft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Hilti Deutschland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Mariendorfer</a:t>
                      </a:r>
                      <a:r>
                        <a:rPr lang="en-US" sz="800" b="0" i="0" u="none" strike="noStrike" noProof="0" dirty="0">
                          <a:solidFill>
                            <a:srgbClr val="000000"/>
                          </a:solidFill>
                          <a:effectLst/>
                          <a:latin typeface="Calibri" panose="020F0502020204030204" pitchFamily="34" charset="0"/>
                        </a:rPr>
                        <a:t> Damm 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Gewerbehof</a:t>
                      </a:r>
                      <a:r>
                        <a:rPr lang="en-US" sz="800" b="0" i="0" u="none" strike="noStrike" noProof="0" dirty="0">
                          <a:solidFill>
                            <a:srgbClr val="000000"/>
                          </a:solidFill>
                          <a:effectLst/>
                          <a:latin typeface="Calibri" panose="020F0502020204030204" pitchFamily="34" charset="0"/>
                        </a:rPr>
                        <a:t>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Bio-</a:t>
                      </a:r>
                      <a:r>
                        <a:rPr lang="en-US" sz="800" b="0" i="0" u="none" strike="noStrike" noProof="0" dirty="0" err="1">
                          <a:solidFill>
                            <a:srgbClr val="000000"/>
                          </a:solidFill>
                          <a:effectLst/>
                          <a:latin typeface="Calibri" panose="020F0502020204030204" pitchFamily="34" charset="0"/>
                        </a:rPr>
                        <a:t>Heizstoffwerk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Moselstr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Distron</a:t>
                      </a:r>
                      <a:r>
                        <a:rPr lang="en-US" sz="800" b="0" i="0" u="none" strike="noStrike" noProof="0" dirty="0">
                          <a:solidFill>
                            <a:srgbClr val="000000"/>
                          </a:solidFill>
                          <a:effectLst/>
                          <a:latin typeface="Calibri" panose="020F0502020204030204" pitchFamily="34" charset="0"/>
                        </a:rPr>
                        <a:t> GmbH &amp; Co. KG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Behaimstr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Gerüstbau</a:t>
                      </a:r>
                      <a:r>
                        <a:rPr lang="en-US" sz="800" b="0" i="0" u="none" strike="noStrike" noProof="0" dirty="0">
                          <a:solidFill>
                            <a:srgbClr val="000000"/>
                          </a:solidFill>
                          <a:effectLst/>
                          <a:latin typeface="Calibri" panose="020F0502020204030204" pitchFamily="34" charset="0"/>
                        </a:rPr>
                        <a:t> Tisch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Benedict </a:t>
                      </a:r>
                      <a:r>
                        <a:rPr lang="en-US" sz="800" b="0" i="0" u="none" strike="noStrike" noProof="0" dirty="0" err="1">
                          <a:solidFill>
                            <a:srgbClr val="000000"/>
                          </a:solidFill>
                          <a:effectLst/>
                          <a:latin typeface="Calibri" panose="020F0502020204030204" pitchFamily="34" charset="0"/>
                        </a:rPr>
                        <a:t>Lebensmittel</a:t>
                      </a:r>
                      <a:r>
                        <a:rPr lang="en-US" sz="800" b="0" i="0" u="none" strike="noStrike" noProof="0" dirty="0">
                          <a:solidFill>
                            <a:srgbClr val="000000"/>
                          </a:solidFill>
                          <a:effectLst/>
                          <a:latin typeface="Calibri" panose="020F0502020204030204" pitchFamily="34" charset="0"/>
                        </a:rPr>
                        <a:t>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Mierstr</a:t>
                      </a:r>
                      <a:r>
                        <a:rPr lang="en-US" sz="800" b="0" i="0" u="none" strike="noStrike" noProof="0" dirty="0">
                          <a:solidFill>
                            <a:srgbClr val="000000"/>
                          </a:solidFill>
                          <a:effectLst/>
                          <a:latin typeface="Calibri" panose="020F0502020204030204" pitchFamily="34" charset="0"/>
                        </a:rPr>
                        <a:t>. 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BBIG Berlin-Brandenburger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Geotechnik</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Limastr</a:t>
                      </a:r>
                      <a:r>
                        <a:rPr lang="en-US" sz="800" b="0" i="0" u="none" strike="noStrike" noProof="0" dirty="0">
                          <a:solidFill>
                            <a:srgbClr val="000000"/>
                          </a:solidFill>
                          <a:effectLst/>
                          <a:latin typeface="Calibri" panose="020F0502020204030204" pitchFamily="34" charset="0"/>
                        </a:rPr>
                        <a:t>. 25a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Caliqua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Lankwitzer</a:t>
                      </a:r>
                      <a:r>
                        <a:rPr lang="en-US" sz="800" b="0" i="0" u="none" strike="noStrike" noProof="0" dirty="0">
                          <a:solidFill>
                            <a:srgbClr val="000000"/>
                          </a:solidFill>
                          <a:effectLst/>
                          <a:latin typeface="Calibri" panose="020F0502020204030204" pitchFamily="34" charset="0"/>
                        </a:rPr>
                        <a:t> Str. 23- 25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Reisebürounternehmen</a:t>
                      </a:r>
                      <a:r>
                        <a:rPr lang="en-US" sz="800" b="0" i="0" u="none" strike="noStrike" noProof="0" dirty="0">
                          <a:solidFill>
                            <a:srgbClr val="000000"/>
                          </a:solidFill>
                          <a:effectLst/>
                          <a:latin typeface="Calibri" panose="020F0502020204030204" pitchFamily="34" charset="0"/>
                        </a:rPr>
                        <a:t> Jet-in-Club Berlin Thomas Mars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Lewishamstr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Integra,Gemeinnützige</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zur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Förderung</a:t>
                      </a:r>
                      <a:r>
                        <a:rPr lang="en-US" sz="800" b="0" i="0" u="none" strike="noStrike" noProof="0" dirty="0">
                          <a:solidFill>
                            <a:srgbClr val="000000"/>
                          </a:solidFill>
                          <a:effectLst/>
                          <a:latin typeface="Calibri" panose="020F0502020204030204" pitchFamily="34" charset="0"/>
                        </a:rPr>
                        <a:t> von Menschen </a:t>
                      </a:r>
                      <a:r>
                        <a:rPr lang="en-US" sz="800" b="0" i="0" u="none" strike="noStrike" noProof="0" dirty="0" err="1">
                          <a:solidFill>
                            <a:srgbClr val="000000"/>
                          </a:solidFill>
                          <a:effectLst/>
                          <a:latin typeface="Calibri" panose="020F0502020204030204" pitchFamily="34" charset="0"/>
                        </a:rPr>
                        <a:t>mit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Behinderung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Lengeder</a:t>
                      </a:r>
                      <a:r>
                        <a:rPr lang="en-US" sz="800" b="0" i="0" u="none" strike="noStrike" noProof="0" dirty="0">
                          <a:solidFill>
                            <a:srgbClr val="000000"/>
                          </a:solidFill>
                          <a:effectLst/>
                          <a:latin typeface="Calibri" panose="020F0502020204030204" pitchFamily="34" charset="0"/>
                        </a:rPr>
                        <a:t> Str. 48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Pro-Service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und Chemie </a:t>
                      </a:r>
                      <a:r>
                        <a:rPr lang="en-US" sz="800" b="0" i="0" u="none" strike="noStrike" noProof="0" dirty="0" err="1">
                          <a:solidFill>
                            <a:srgbClr val="000000"/>
                          </a:solidFill>
                          <a:effectLst/>
                          <a:latin typeface="Calibri" panose="020F0502020204030204" pitchFamily="34" charset="0"/>
                        </a:rPr>
                        <a:t>Produktions</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PCB </a:t>
                      </a:r>
                      <a:r>
                        <a:rPr lang="en-US" sz="800" b="0" i="0" u="none" strike="noStrike" noProof="0" dirty="0" err="1">
                          <a:solidFill>
                            <a:srgbClr val="000000"/>
                          </a:solidFill>
                          <a:effectLst/>
                          <a:latin typeface="Calibri" panose="020F0502020204030204" pitchFamily="34" charset="0"/>
                        </a:rPr>
                        <a:t>Peripherie</a:t>
                      </a:r>
                      <a:r>
                        <a:rPr lang="en-US" sz="800" b="0" i="0" u="none" strike="noStrike" noProof="0" dirty="0">
                          <a:solidFill>
                            <a:srgbClr val="000000"/>
                          </a:solidFill>
                          <a:effectLst/>
                          <a:latin typeface="Calibri" panose="020F0502020204030204" pitchFamily="34" charset="0"/>
                        </a:rPr>
                        <a:t> f. Computer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Verbriebs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MEWA Textil - </a:t>
                      </a:r>
                      <a:r>
                        <a:rPr lang="en-US" sz="800" b="0" i="0" u="none" strike="noStrike" noProof="0" dirty="0" err="1">
                          <a:solidFill>
                            <a:srgbClr val="000000"/>
                          </a:solidFill>
                          <a:effectLst/>
                          <a:latin typeface="Calibri" panose="020F0502020204030204" pitchFamily="34" charset="0"/>
                        </a:rPr>
                        <a:t>Mietservice</a:t>
                      </a:r>
                      <a:r>
                        <a:rPr lang="en-US" sz="800" b="0" i="0" u="none" strike="noStrike" noProof="0" dirty="0">
                          <a:solidFill>
                            <a:srgbClr val="000000"/>
                          </a:solidFill>
                          <a:effectLst/>
                          <a:latin typeface="Calibri" panose="020F0502020204030204" pitchFamily="34" charset="0"/>
                        </a:rPr>
                        <a:t> Berlin GmbH &amp; Co.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ITO Trade </a:t>
                      </a:r>
                      <a:r>
                        <a:rPr lang="en-US" sz="800" b="0" i="0" u="none" strike="noStrike" noProof="0" dirty="0" err="1">
                          <a:solidFill>
                            <a:srgbClr val="000000"/>
                          </a:solidFill>
                          <a:effectLst/>
                          <a:latin typeface="Calibri" panose="020F0502020204030204" pitchFamily="34" charset="0"/>
                        </a:rPr>
                        <a:t>Organisation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Olbo</a:t>
                      </a:r>
                      <a:r>
                        <a:rPr lang="en-US" sz="800" b="0" i="0" u="none" strike="noStrike" noProof="0" dirty="0">
                          <a:solidFill>
                            <a:srgbClr val="000000"/>
                          </a:solidFill>
                          <a:effectLst/>
                          <a:latin typeface="Calibri" panose="020F0502020204030204" pitchFamily="34" charset="0"/>
                        </a:rPr>
                        <a:t>-Reisen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Bleibtreustr</a:t>
                      </a:r>
                      <a:r>
                        <a:rPr lang="en-US" sz="800" b="0" i="0" u="none" strike="noStrike" noProof="0" dirty="0">
                          <a:solidFill>
                            <a:srgbClr val="000000"/>
                          </a:solidFill>
                          <a:effectLst/>
                          <a:latin typeface="Calibri" panose="020F0502020204030204" pitchFamily="34" charset="0"/>
                        </a:rPr>
                        <a:t>. 10- 11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Johannes Brechtel GmbH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Bamihlstr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AFB </a:t>
                      </a:r>
                      <a:r>
                        <a:rPr lang="en-US" sz="800" b="0" i="0" u="none" strike="noStrike" noProof="0" dirty="0" err="1">
                          <a:solidFill>
                            <a:srgbClr val="000000"/>
                          </a:solidFill>
                          <a:effectLst/>
                          <a:latin typeface="Calibri" panose="020F0502020204030204" pitchFamily="34" charset="0"/>
                        </a:rPr>
                        <a:t>Klinische</a:t>
                      </a:r>
                      <a:r>
                        <a:rPr lang="en-US" sz="800" b="0" i="0" u="none" strike="noStrike" noProof="0" dirty="0">
                          <a:solidFill>
                            <a:srgbClr val="000000"/>
                          </a:solidFill>
                          <a:effectLst/>
                          <a:latin typeface="Calibri" panose="020F0502020204030204" pitchFamily="34" charset="0"/>
                        </a:rPr>
                        <a:t> Forschung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Deutsche Film- und </a:t>
                      </a:r>
                      <a:r>
                        <a:rPr lang="en-US" sz="800" b="0" i="0" u="none" strike="noStrike" noProof="0" dirty="0" err="1">
                          <a:solidFill>
                            <a:srgbClr val="000000"/>
                          </a:solidFill>
                          <a:effectLst/>
                          <a:latin typeface="Calibri" panose="020F0502020204030204" pitchFamily="34" charset="0"/>
                        </a:rPr>
                        <a:t>Fernsehakademie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Fertigbau</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Pollhagen</a:t>
                      </a:r>
                      <a:r>
                        <a:rPr lang="en-US" sz="800" b="0" i="0" u="none" strike="noStrike" noProof="0" dirty="0">
                          <a:solidFill>
                            <a:srgbClr val="000000"/>
                          </a:solidFill>
                          <a:effectLst/>
                          <a:latin typeface="Calibri" panose="020F0502020204030204" pitchFamily="34" charset="0"/>
                        </a:rPr>
                        <a:t> GmbH u. Co. KG-Berlin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Friedrichstr</a:t>
                      </a:r>
                      <a:r>
                        <a:rPr lang="en-US" sz="800" b="0" i="0" u="none" strike="noStrike" noProof="0" dirty="0">
                          <a:solidFill>
                            <a:srgbClr val="000000"/>
                          </a:solidFill>
                          <a:effectLst/>
                          <a:latin typeface="Calibri" panose="020F0502020204030204" pitchFamily="34" charset="0"/>
                        </a:rPr>
                        <a:t>. 70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waf.berlin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GEWOBAG WB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Teppichmeister</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Teppichreinigung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Kitzingstr</a:t>
                      </a:r>
                      <a:r>
                        <a:rPr lang="en-US" sz="800" b="0" i="0" u="none" strike="noStrike" noProof="0" dirty="0">
                          <a:solidFill>
                            <a:srgbClr val="000000"/>
                          </a:solidFill>
                          <a:effectLst/>
                          <a:latin typeface="Calibri" panose="020F0502020204030204" pitchFamily="34" charset="0"/>
                        </a:rPr>
                        <a:t>. 21- 23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Leipziger</a:t>
                      </a:r>
                      <a:r>
                        <a:rPr lang="en-US" sz="800" b="0" i="0" u="none" strike="noStrike" noProof="0" dirty="0">
                          <a:solidFill>
                            <a:srgbClr val="000000"/>
                          </a:solidFill>
                          <a:effectLst/>
                          <a:latin typeface="Calibri" panose="020F0502020204030204" pitchFamily="34" charset="0"/>
                        </a:rPr>
                        <a:t> Str. 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Bertelsmann Druck + </a:t>
                      </a:r>
                      <a:r>
                        <a:rPr lang="en-US" sz="800" b="0" i="0" u="none" strike="noStrike" noProof="0" dirty="0" err="1">
                          <a:solidFill>
                            <a:srgbClr val="000000"/>
                          </a:solidFill>
                          <a:effectLst/>
                          <a:latin typeface="Calibri" panose="020F0502020204030204" pitchFamily="34" charset="0"/>
                        </a:rPr>
                        <a:t>Dienstleistung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107- 112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 H B </a:t>
                      </a:r>
                      <a:r>
                        <a:rPr lang="en-US" sz="800" b="0" i="0" u="none" strike="noStrike" noProof="0" dirty="0" err="1">
                          <a:solidFill>
                            <a:srgbClr val="000000"/>
                          </a:solidFill>
                          <a:effectLst/>
                          <a:latin typeface="Calibri" panose="020F0502020204030204" pitchFamily="34" charset="0"/>
                        </a:rPr>
                        <a:t>Brandhilfe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Dorfstr</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Metalltransport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Gradestr</a:t>
                      </a:r>
                      <a:r>
                        <a:rPr lang="en-US" sz="800" b="0" i="0" u="none" strike="noStrike" noProof="0" dirty="0">
                          <a:solidFill>
                            <a:srgbClr val="000000"/>
                          </a:solidFill>
                          <a:effectLst/>
                          <a:latin typeface="Calibri" panose="020F0502020204030204" pitchFamily="34" charset="0"/>
                        </a:rPr>
                        <a:t>. 109/111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Lützow Center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Lützowufer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Wohnungsbau-Rechenzentrum</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"Miss Berlin"""" und """"Mister Berlin"""" Wahlen-Eden-</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Eichenstr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Graphische</a:t>
                      </a:r>
                      <a:r>
                        <a:rPr lang="en-US" sz="800" b="0" i="0" u="none" strike="noStrike" noProof="0" dirty="0">
                          <a:solidFill>
                            <a:srgbClr val="000000"/>
                          </a:solidFill>
                          <a:effectLst/>
                          <a:latin typeface="Calibri" panose="020F0502020204030204" pitchFamily="34" charset="0"/>
                        </a:rPr>
                        <a:t> Systeme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Barkenhof</a:t>
                      </a:r>
                      <a:r>
                        <a:rPr lang="en-US" sz="800" b="0" i="0" u="none" strike="noStrike" noProof="0" dirty="0">
                          <a:solidFill>
                            <a:srgbClr val="000000"/>
                          </a:solidFill>
                          <a:effectLst/>
                          <a:latin typeface="Calibri" panose="020F0502020204030204" pitchFamily="34" charset="0"/>
                        </a:rPr>
                        <a:t>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Zwickauer</a:t>
                      </a:r>
                      <a:r>
                        <a:rPr lang="en-US" sz="800" b="0" i="0" u="none" strike="noStrike" noProof="0" dirty="0">
                          <a:solidFill>
                            <a:srgbClr val="000000"/>
                          </a:solidFill>
                          <a:effectLst/>
                          <a:latin typeface="Calibri" panose="020F0502020204030204" pitchFamily="34" charset="0"/>
                        </a:rPr>
                        <a:t> Damm 60- 64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VMB </a:t>
                      </a:r>
                      <a:r>
                        <a:rPr lang="en-US" sz="800" b="0" i="0" u="none" strike="noStrike" noProof="0" dirty="0" err="1">
                          <a:solidFill>
                            <a:srgbClr val="000000"/>
                          </a:solidFill>
                          <a:effectLst/>
                          <a:latin typeface="Calibri" panose="020F0502020204030204" pitchFamily="34" charset="0"/>
                        </a:rPr>
                        <a:t>Verlags</a:t>
                      </a:r>
                      <a:r>
                        <a:rPr lang="en-US" sz="800" b="0" i="0" u="none" strike="noStrike" noProof="0" dirty="0">
                          <a:solidFill>
                            <a:srgbClr val="000000"/>
                          </a:solidFill>
                          <a:effectLst/>
                          <a:latin typeface="Calibri" panose="020F0502020204030204" pitchFamily="34" charset="0"/>
                        </a:rPr>
                        <a:t> Media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Philippstr</a:t>
                      </a:r>
                      <a:r>
                        <a:rPr lang="en-US" sz="800" b="0" i="0" u="none" strike="noStrike" noProof="0" dirty="0">
                          <a:solidFill>
                            <a:srgbClr val="000000"/>
                          </a:solidFill>
                          <a:effectLst/>
                          <a:latin typeface="Calibri" panose="020F0502020204030204" pitchFamily="34" charset="0"/>
                        </a:rPr>
                        <a:t>.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Stewing </a:t>
                      </a:r>
                      <a:r>
                        <a:rPr lang="en-US" sz="800" b="0" i="0" u="none" strike="noStrike" noProof="0" dirty="0" err="1">
                          <a:solidFill>
                            <a:srgbClr val="000000"/>
                          </a:solidFill>
                          <a:effectLst/>
                          <a:latin typeface="Calibri" panose="020F0502020204030204" pitchFamily="34" charset="0"/>
                        </a:rPr>
                        <a:t>Nachrichtentechnik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Juliusturm</a:t>
                      </a:r>
                      <a:r>
                        <a:rPr lang="en-US" sz="800" b="0" i="0" u="none" strike="noStrike" noProof="0" dirty="0">
                          <a:solidFill>
                            <a:srgbClr val="000000"/>
                          </a:solidFill>
                          <a:effectLst/>
                          <a:latin typeface="Calibri" panose="020F0502020204030204" pitchFamily="34" charset="0"/>
                        </a:rPr>
                        <a:t> 11a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PVM Productions-</a:t>
                      </a:r>
                      <a:r>
                        <a:rPr lang="en-US" sz="800" b="0" i="0" u="none" strike="noStrike" noProof="0" dirty="0" err="1">
                          <a:solidFill>
                            <a:srgbClr val="000000"/>
                          </a:solidFill>
                          <a:effectLst/>
                          <a:latin typeface="Calibri" panose="020F0502020204030204" pitchFamily="34" charset="0"/>
                        </a:rPr>
                        <a:t>Veranstaltungs</a:t>
                      </a:r>
                      <a:r>
                        <a:rPr lang="en-US" sz="800" b="0" i="0" u="none" strike="noStrike" noProof="0" dirty="0">
                          <a:solidFill>
                            <a:srgbClr val="000000"/>
                          </a:solidFill>
                          <a:effectLst/>
                          <a:latin typeface="Calibri" panose="020F0502020204030204" pitchFamily="34" charset="0"/>
                        </a:rPr>
                        <a:t>-Management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Otternbuchtstr</a:t>
                      </a:r>
                      <a:r>
                        <a:rPr lang="en-US" sz="800" b="0" i="0" u="none" strike="noStrike" noProof="0" dirty="0">
                          <a:solidFill>
                            <a:srgbClr val="000000"/>
                          </a:solidFill>
                          <a:effectLst/>
                          <a:latin typeface="Calibri" panose="020F0502020204030204" pitchFamily="34" charset="0"/>
                        </a:rPr>
                        <a:t>. 20a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Motoled</a:t>
                      </a:r>
                      <a:r>
                        <a:rPr lang="en-US" sz="800" b="0" i="0" u="none" strike="noStrike" noProof="0" dirty="0">
                          <a:solidFill>
                            <a:srgbClr val="000000"/>
                          </a:solidFill>
                          <a:effectLst/>
                          <a:latin typeface="Calibri" panose="020F0502020204030204" pitchFamily="34" charset="0"/>
                        </a:rPr>
                        <a:t> -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Motorradbekleidung</a:t>
                      </a:r>
                      <a:r>
                        <a:rPr lang="en-US" sz="800" b="0" i="0" u="none" strike="noStrike" noProof="0" dirty="0">
                          <a:solidFill>
                            <a:srgbClr val="000000"/>
                          </a:solidFill>
                          <a:effectLst/>
                          <a:latin typeface="Calibri" panose="020F0502020204030204" pitchFamily="34" charset="0"/>
                        </a:rPr>
                        <a:t> und - </a:t>
                      </a:r>
                      <a:r>
                        <a:rPr lang="en-US" sz="800" b="0" i="0" u="none" strike="noStrike" noProof="0" dirty="0" err="1">
                          <a:solidFill>
                            <a:srgbClr val="000000"/>
                          </a:solidFill>
                          <a:effectLst/>
                          <a:latin typeface="Calibri" panose="020F0502020204030204" pitchFamily="34" charset="0"/>
                        </a:rPr>
                        <a:t>ausrüstung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Fregestr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Nörtemann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Dachbau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Guerickestr</a:t>
                      </a:r>
                      <a:r>
                        <a:rPr lang="en-US" sz="800" b="0" i="0" u="none" strike="noStrike" noProof="0" dirty="0">
                          <a:solidFill>
                            <a:srgbClr val="000000"/>
                          </a:solidFill>
                          <a:effectLst/>
                          <a:latin typeface="Calibri" panose="020F0502020204030204" pitchFamily="34" charset="0"/>
                        </a:rPr>
                        <a:t>.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Evangelisches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Allianzhaus</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Hohenstaufenstr</a:t>
                      </a:r>
                      <a:r>
                        <a:rPr lang="en-US" sz="800" b="0" i="0" u="none" strike="noStrike" noProof="0" dirty="0">
                          <a:solidFill>
                            <a:srgbClr val="000000"/>
                          </a:solidFill>
                          <a:effectLst/>
                          <a:latin typeface="Calibri" panose="020F0502020204030204" pitchFamily="34" charset="0"/>
                        </a:rPr>
                        <a:t>.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 OPP Berlin-</a:t>
                      </a:r>
                      <a:r>
                        <a:rPr lang="en-US" sz="800" b="0" i="0" u="none" strike="noStrike" noProof="0" dirty="0" err="1">
                          <a:solidFill>
                            <a:srgbClr val="000000"/>
                          </a:solidFill>
                          <a:effectLst/>
                          <a:latin typeface="Calibri" panose="020F0502020204030204" pitchFamily="34" charset="0"/>
                        </a:rPr>
                        <a:t>Adlershof</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75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bess</a:t>
                      </a:r>
                      <a:r>
                        <a:rPr lang="en-US" sz="800" b="0" i="0" u="none" strike="noStrike" noProof="0" dirty="0">
                          <a:solidFill>
                            <a:srgbClr val="000000"/>
                          </a:solidFill>
                          <a:effectLst/>
                          <a:latin typeface="Calibri" panose="020F0502020204030204" pitchFamily="34" charset="0"/>
                        </a:rPr>
                        <a:t> Service und </a:t>
                      </a:r>
                      <a:r>
                        <a:rPr lang="en-US" sz="800" b="0" i="0" u="none" strike="noStrike" noProof="0" dirty="0" err="1">
                          <a:solidFill>
                            <a:srgbClr val="000000"/>
                          </a:solidFill>
                          <a:effectLst/>
                          <a:latin typeface="Calibri" panose="020F0502020204030204" pitchFamily="34" charset="0"/>
                        </a:rPr>
                        <a:t>Sprachen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Schützallee</a:t>
                      </a:r>
                      <a:r>
                        <a:rPr lang="en-US" sz="800" b="0" i="0" u="none" strike="noStrike" noProof="0" dirty="0">
                          <a:solidFill>
                            <a:srgbClr val="000000"/>
                          </a:solidFill>
                          <a:effectLst/>
                          <a:latin typeface="Calibri" panose="020F0502020204030204" pitchFamily="34" charset="0"/>
                        </a:rPr>
                        <a:t>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Laser- und </a:t>
                      </a:r>
                      <a:r>
                        <a:rPr lang="en-US" sz="800" b="0" i="0" u="none" strike="noStrike" noProof="0" dirty="0" err="1">
                          <a:solidFill>
                            <a:srgbClr val="000000"/>
                          </a:solidFill>
                          <a:effectLst/>
                          <a:latin typeface="Calibri" panose="020F0502020204030204" pitchFamily="34" charset="0"/>
                        </a:rPr>
                        <a:t>Medizin</a:t>
                      </a:r>
                      <a:r>
                        <a:rPr lang="en-US" sz="800" b="0" i="0" u="none" strike="noStrike" noProof="0" dirty="0">
                          <a:solidFill>
                            <a:srgbClr val="000000"/>
                          </a:solidFill>
                          <a:effectLst/>
                          <a:latin typeface="Calibri" panose="020F0502020204030204" pitchFamily="34" charset="0"/>
                        </a:rPr>
                        <a:t>-Technologie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Fabeckstr</a:t>
                      </a:r>
                      <a:r>
                        <a:rPr lang="en-US" sz="800" b="0" i="0" u="none" strike="noStrike" noProof="0" dirty="0">
                          <a:solidFill>
                            <a:srgbClr val="000000"/>
                          </a:solidFill>
                          <a:effectLst/>
                          <a:latin typeface="Calibri" panose="020F0502020204030204" pitchFamily="34" charset="0"/>
                        </a:rPr>
                        <a:t>. 6062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Großbäckerei</a:t>
                      </a:r>
                      <a:r>
                        <a:rPr lang="en-US" sz="800" b="0" i="0" u="none" strike="noStrike" noProof="0" dirty="0">
                          <a:solidFill>
                            <a:srgbClr val="000000"/>
                          </a:solidFill>
                          <a:effectLst/>
                          <a:latin typeface="Calibri" panose="020F0502020204030204" pitchFamily="34" charset="0"/>
                        </a:rPr>
                        <a:t> Wendeln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Stephanstr</a:t>
                      </a:r>
                      <a:r>
                        <a:rPr lang="en-US" sz="800" b="0" i="0" u="none" strike="noStrike" noProof="0" dirty="0">
                          <a:solidFill>
                            <a:srgbClr val="000000"/>
                          </a:solidFill>
                          <a:effectLst/>
                          <a:latin typeface="Calibri" panose="020F0502020204030204" pitchFamily="34" charset="0"/>
                        </a:rPr>
                        <a:t>.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SWD Stahl- und </a:t>
                      </a:r>
                      <a:r>
                        <a:rPr lang="en-US" sz="800" b="0" i="0" u="none" strike="noStrike" noProof="0" dirty="0" err="1">
                          <a:solidFill>
                            <a:srgbClr val="000000"/>
                          </a:solidFill>
                          <a:effectLst/>
                          <a:latin typeface="Calibri" panose="020F0502020204030204" pitchFamily="34" charset="0"/>
                        </a:rPr>
                        <a:t>Fahrzeugbau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Holbeinstr</a:t>
                      </a:r>
                      <a:r>
                        <a:rPr lang="en-US" sz="800" b="0" i="0" u="none" strike="noStrike" noProof="0" dirty="0">
                          <a:solidFill>
                            <a:srgbClr val="000000"/>
                          </a:solidFill>
                          <a:effectLst/>
                          <a:latin typeface="Calibri" panose="020F0502020204030204" pitchFamily="34" charset="0"/>
                        </a:rPr>
                        <a:t>. 44a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Großbeerenstr</a:t>
                      </a:r>
                      <a:r>
                        <a:rPr lang="en-US" sz="800" b="0" i="0" u="none" strike="noStrike" noProof="0" dirty="0">
                          <a:solidFill>
                            <a:srgbClr val="000000"/>
                          </a:solidFill>
                          <a:effectLst/>
                          <a:latin typeface="Calibri" panose="020F0502020204030204" pitchFamily="34" charset="0"/>
                        </a:rPr>
                        <a:t>. 142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Viktoriastr</a:t>
                      </a:r>
                      <a:r>
                        <a:rPr lang="en-US" sz="800" b="0" i="0" u="none" strike="noStrike" noProof="0" dirty="0">
                          <a:solidFill>
                            <a:srgbClr val="000000"/>
                          </a:solidFill>
                          <a:effectLst/>
                          <a:latin typeface="Calibri" panose="020F0502020204030204" pitchFamily="34" charset="0"/>
                        </a:rPr>
                        <a:t>. 10-18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Mythos Berlin </a:t>
                      </a:r>
                      <a:r>
                        <a:rPr lang="en-US" sz="800" b="0" i="0" u="none" strike="noStrike" noProof="0" dirty="0" err="1">
                          <a:solidFill>
                            <a:srgbClr val="000000"/>
                          </a:solidFill>
                          <a:effectLst/>
                          <a:latin typeface="Calibri" panose="020F0502020204030204" pitchFamily="34" charset="0"/>
                        </a:rPr>
                        <a:t>Ausstellung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Tempelhofer</a:t>
                      </a:r>
                      <a:r>
                        <a:rPr lang="en-US" sz="800" b="0" i="0" u="none" strike="noStrike" noProof="0" dirty="0">
                          <a:solidFill>
                            <a:srgbClr val="000000"/>
                          </a:solidFill>
                          <a:effectLst/>
                          <a:latin typeface="Calibri" panose="020F0502020204030204" pitchFamily="34" charset="0"/>
                        </a:rPr>
                        <a:t> Ufer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Neuköllnische</a:t>
                      </a:r>
                      <a:r>
                        <a:rPr lang="en-US" sz="800" b="0" i="0" u="none" strike="noStrike" noProof="0" dirty="0">
                          <a:solidFill>
                            <a:srgbClr val="000000"/>
                          </a:solidFill>
                          <a:effectLst/>
                          <a:latin typeface="Calibri" panose="020F0502020204030204" pitchFamily="34" charset="0"/>
                        </a:rPr>
                        <a:t> Allee 160-162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DRK </a:t>
                      </a:r>
                      <a:r>
                        <a:rPr lang="en-US" sz="800" b="0" i="0" u="none" strike="noStrike" noProof="0" dirty="0" err="1">
                          <a:solidFill>
                            <a:srgbClr val="000000"/>
                          </a:solidFill>
                          <a:effectLst/>
                          <a:latin typeface="Calibri" panose="020F0502020204030204" pitchFamily="34" charset="0"/>
                        </a:rPr>
                        <a:t>Rettungsdienst</a:t>
                      </a:r>
                      <a:r>
                        <a:rPr lang="en-US" sz="800" b="0" i="0" u="none" strike="noStrike" noProof="0" dirty="0">
                          <a:solidFill>
                            <a:srgbClr val="000000"/>
                          </a:solidFill>
                          <a:effectLst/>
                          <a:latin typeface="Calibri" panose="020F0502020204030204" pitchFamily="34" charset="0"/>
                        </a:rPr>
                        <a:t> Berlin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Bachestr</a:t>
                      </a:r>
                      <a:r>
                        <a:rPr lang="en-US" sz="800" b="0" i="0" u="none" strike="noStrike" noProof="0" dirty="0">
                          <a:solidFill>
                            <a:srgbClr val="000000"/>
                          </a:solidFill>
                          <a:effectLst/>
                          <a:latin typeface="Calibri" panose="020F0502020204030204" pitchFamily="34" charset="0"/>
                        </a:rPr>
                        <a:t>.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a:t>
                      </a:r>
                      <a:r>
                        <a:rPr lang="en-US" sz="800" b="0" i="0" u="none" strike="noStrike" noProof="0" dirty="0" err="1">
                          <a:solidFill>
                            <a:srgbClr val="000000"/>
                          </a:solidFill>
                          <a:effectLst/>
                          <a:latin typeface="Calibri" panose="020F0502020204030204" pitchFamily="34" charset="0"/>
                        </a:rPr>
                        <a:t>Schönherr</a:t>
                      </a:r>
                      <a:r>
                        <a:rPr lang="en-US" sz="800" b="0" i="0" u="none" strike="noStrike" noProof="0" dirty="0">
                          <a:solidFill>
                            <a:srgbClr val="000000"/>
                          </a:solidFill>
                          <a:effectLst/>
                          <a:latin typeface="Calibri" panose="020F0502020204030204" pitchFamily="34" charset="0"/>
                        </a:rPr>
                        <a:t> Berlin-</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Düsterhauptstr</a:t>
                      </a:r>
                      <a:r>
                        <a:rPr lang="en-US" sz="800" b="0" i="0" u="none" strike="noStrike" noProof="0" dirty="0">
                          <a:solidFill>
                            <a:srgbClr val="000000"/>
                          </a:solidFill>
                          <a:effectLst/>
                          <a:latin typeface="Calibri" panose="020F0502020204030204" pitchFamily="34" charset="0"/>
                        </a:rPr>
                        <a:t>. 31- 38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B.A.T. </a:t>
                      </a:r>
                      <a:r>
                        <a:rPr lang="en-US" sz="800" b="0" i="0" u="none" strike="noStrike" noProof="0" dirty="0" err="1">
                          <a:solidFill>
                            <a:srgbClr val="000000"/>
                          </a:solidFill>
                          <a:effectLst/>
                          <a:latin typeface="Calibri" panose="020F0502020204030204" pitchFamily="34" charset="0"/>
                        </a:rPr>
                        <a:t>Cigaretten</a:t>
                      </a:r>
                      <a:r>
                        <a:rPr lang="en-US" sz="800" b="0" i="0" u="none" strike="noStrike" noProof="0" dirty="0">
                          <a:solidFill>
                            <a:srgbClr val="000000"/>
                          </a:solidFill>
                          <a:effectLst/>
                          <a:latin typeface="Calibri" panose="020F0502020204030204" pitchFamily="34" charset="0"/>
                        </a:rPr>
                        <a:t>-Fabrik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344/360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Fernfracht</a:t>
                      </a:r>
                      <a:r>
                        <a:rPr lang="en-US" sz="800" b="0" i="0" u="none" strike="noStrike" noProof="0" dirty="0">
                          <a:solidFill>
                            <a:srgbClr val="000000"/>
                          </a:solidFill>
                          <a:effectLst/>
                          <a:latin typeface="Calibri" panose="020F0502020204030204" pitchFamily="34" charset="0"/>
                        </a:rPr>
                        <a:t>-Berlin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berlin-</a:t>
                      </a:r>
                      <a:r>
                        <a:rPr lang="en-US" sz="800" b="0" i="0" u="none" strike="noStrike" noProof="0" dirty="0" err="1">
                          <a:solidFill>
                            <a:srgbClr val="000000"/>
                          </a:solidFill>
                          <a:effectLst/>
                          <a:latin typeface="Calibri" panose="020F0502020204030204" pitchFamily="34" charset="0"/>
                        </a:rPr>
                        <a:t>brandenburg</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hamburg</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Invalidenstr</a:t>
                      </a:r>
                      <a:r>
                        <a:rPr lang="en-US" sz="800" b="0" i="0" u="none" strike="noStrike" noProof="0" dirty="0">
                          <a:solidFill>
                            <a:srgbClr val="000000"/>
                          </a:solidFill>
                          <a:effectLst/>
                          <a:latin typeface="Calibri" panose="020F0502020204030204" pitchFamily="34" charset="0"/>
                        </a:rPr>
                        <a: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Kulturwerk</a:t>
                      </a:r>
                      <a:r>
                        <a:rPr lang="en-US" sz="800" b="0" i="0" u="none" strike="noStrike" noProof="0" dirty="0">
                          <a:solidFill>
                            <a:srgbClr val="000000"/>
                          </a:solidFill>
                          <a:effectLst/>
                          <a:latin typeface="Calibri" panose="020F0502020204030204" pitchFamily="34" charset="0"/>
                        </a:rPr>
                        <a:t> des </a:t>
                      </a:r>
                      <a:r>
                        <a:rPr lang="en-US" sz="800" b="0" i="0" u="none" strike="noStrike" noProof="0" dirty="0" err="1">
                          <a:solidFill>
                            <a:srgbClr val="000000"/>
                          </a:solidFill>
                          <a:effectLst/>
                          <a:latin typeface="Calibri" panose="020F0502020204030204" pitchFamily="34" charset="0"/>
                        </a:rPr>
                        <a:t>bbk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Köthener</a:t>
                      </a:r>
                      <a:r>
                        <a:rPr lang="en-US" sz="800" b="0" i="0" u="none" strike="noStrike" noProof="0" dirty="0">
                          <a:solidFill>
                            <a:srgbClr val="000000"/>
                          </a:solidFill>
                          <a:effectLst/>
                          <a:latin typeface="Calibri" panose="020F0502020204030204" pitchFamily="34" charset="0"/>
                        </a:rPr>
                        <a:t> Str. 44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 K Stahl- und </a:t>
                      </a:r>
                      <a:r>
                        <a:rPr lang="en-US" sz="800" b="0" i="0" u="none" strike="noStrike" noProof="0" dirty="0" err="1">
                          <a:solidFill>
                            <a:srgbClr val="000000"/>
                          </a:solidFill>
                          <a:effectLst/>
                          <a:latin typeface="Calibri" panose="020F0502020204030204" pitchFamily="34" charset="0"/>
                        </a:rPr>
                        <a:t>Gußabriß</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Schöneberger</a:t>
                      </a:r>
                      <a:r>
                        <a:rPr lang="en-US" sz="800" b="0" i="0" u="none" strike="noStrike" noProof="0" dirty="0">
                          <a:solidFill>
                            <a:srgbClr val="000000"/>
                          </a:solidFill>
                          <a:effectLst/>
                          <a:latin typeface="Calibri" panose="020F0502020204030204" pitchFamily="34" charset="0"/>
                        </a:rPr>
                        <a:t> Ufer 5- 9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"SGB"""" </a:t>
                      </a:r>
                      <a:r>
                        <a:rPr lang="en-US" sz="800" b="0" i="0" u="none" strike="noStrike" noProof="0" dirty="0" err="1">
                          <a:solidFill>
                            <a:srgbClr val="000000"/>
                          </a:solidFill>
                          <a:effectLst/>
                          <a:latin typeface="Calibri" panose="020F0502020204030204" pitchFamily="34" charset="0"/>
                        </a:rPr>
                        <a:t>Stahlhochbaugesellschaft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Haltrichweg</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Combimex</a:t>
                      </a:r>
                      <a:r>
                        <a:rPr lang="en-US" sz="800" b="0" i="0" u="none" strike="noStrike" noProof="0" dirty="0">
                          <a:solidFill>
                            <a:srgbClr val="000000"/>
                          </a:solidFill>
                          <a:effectLst/>
                          <a:latin typeface="Calibri" panose="020F0502020204030204" pitchFamily="34" charset="0"/>
                        </a:rPr>
                        <a:t> Im- und Export Handels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Ringstr</a:t>
                      </a:r>
                      <a:r>
                        <a:rPr lang="en-US" sz="800" b="0" i="0" u="none" strike="noStrike" noProof="0" dirty="0">
                          <a:solidFill>
                            <a:srgbClr val="000000"/>
                          </a:solidFill>
                          <a:effectLst/>
                          <a:latin typeface="Calibri" panose="020F0502020204030204" pitchFamily="34" charset="0"/>
                        </a:rPr>
                        <a:t>. 21a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Tischlerei</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Holzmanufaktur</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a:t>
                      </a:r>
                      <a:r>
                        <a:rPr lang="en-US" sz="800" b="0" i="0" u="none" strike="noStrike" noProof="0" dirty="0" err="1">
                          <a:solidFill>
                            <a:srgbClr val="000000"/>
                          </a:solidFill>
                          <a:effectLst/>
                          <a:latin typeface="Calibri" panose="020F0502020204030204" pitchFamily="34" charset="0"/>
                        </a:rPr>
                        <a:t>Kronprinz</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Kronprinzendamm</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Reformwaren-Vertrieb</a:t>
                      </a:r>
                      <a:r>
                        <a:rPr lang="en-US" sz="800" b="0" i="0" u="none" strike="noStrike" noProof="0" dirty="0">
                          <a:solidFill>
                            <a:srgbClr val="000000"/>
                          </a:solidFill>
                          <a:effectLst/>
                          <a:latin typeface="Calibri" panose="020F0502020204030204" pitchFamily="34" charset="0"/>
                        </a:rPr>
                        <a:t> RVB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Handjerystr</a:t>
                      </a:r>
                      <a:r>
                        <a:rPr lang="en-US" sz="800" b="0" i="0" u="none" strike="noStrike" noProof="0" dirty="0">
                          <a:solidFill>
                            <a:srgbClr val="000000"/>
                          </a:solidFill>
                          <a:effectLst/>
                          <a:latin typeface="Calibri" panose="020F0502020204030204" pitchFamily="34" charset="0"/>
                        </a:rPr>
                        <a:t>. 98-99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Krankenheim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47-49 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47- 49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r>
                        <a:rPr lang="en-US" sz="800" b="0" i="0" u="none" strike="noStrike" noProof="0" dirty="0" err="1">
                          <a:solidFill>
                            <a:srgbClr val="000000"/>
                          </a:solidFill>
                          <a:effectLst/>
                          <a:latin typeface="Calibri" panose="020F0502020204030204" pitchFamily="34" charset="0"/>
                        </a:rPr>
                        <a:t>Britzer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Holzbau</a:t>
                      </a:r>
                      <a:r>
                        <a:rPr lang="en-US" sz="800" b="0" i="0" u="none" strike="noStrike" noProof="0" dirty="0">
                          <a:solidFill>
                            <a:srgbClr val="000000"/>
                          </a:solidFill>
                          <a:effectLst/>
                          <a:latin typeface="Calibri" panose="020F0502020204030204" pitchFamily="34" charset="0"/>
                        </a:rPr>
                        <a:t> - Ernst Oswald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Forststr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treuwirtschaft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Wirtschaftsberatungs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Baubetreuungsges</a:t>
                      </a:r>
                      <a:r>
                        <a:rPr lang="en-US" sz="800" b="0" i="0" u="none" strike="noStrike" noProof="0" dirty="0">
                          <a:solidFill>
                            <a:srgbClr val="000000"/>
                          </a:solidFill>
                          <a:effectLst/>
                          <a:latin typeface="Calibri" panose="020F0502020204030204" pitchFamily="34" charset="0"/>
                        </a:rPr>
                        <a:t>. mbH </a:t>
                      </a:r>
                      <a:r>
                        <a:rPr lang="en-US" sz="800" b="0" i="0" u="none" strike="noStrike" noProof="0" dirty="0" err="1">
                          <a:solidFill>
                            <a:srgbClr val="000000"/>
                          </a:solidFill>
                          <a:effectLst/>
                          <a:latin typeface="Calibri" panose="020F0502020204030204" pitchFamily="34" charset="0"/>
                        </a:rPr>
                        <a:t>Ndlg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Deutsches</a:t>
                      </a:r>
                      <a:r>
                        <a:rPr lang="en-US" sz="800" b="0" i="0" u="none" strike="noStrike" noProof="0" dirty="0">
                          <a:solidFill>
                            <a:srgbClr val="000000"/>
                          </a:solidFill>
                          <a:effectLst/>
                          <a:latin typeface="Calibri" panose="020F0502020204030204" pitchFamily="34" charset="0"/>
                        </a:rPr>
                        <a:t> Rotes Kreuz </a:t>
                      </a:r>
                      <a:r>
                        <a:rPr lang="en-US" sz="800" b="0" i="0" u="none" strike="noStrike" noProof="0" dirty="0" err="1">
                          <a:solidFill>
                            <a:srgbClr val="000000"/>
                          </a:solidFill>
                          <a:effectLst/>
                          <a:latin typeface="Calibri" panose="020F0502020204030204" pitchFamily="34" charset="0"/>
                        </a:rPr>
                        <a:t>Schwesternschaft</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Gemein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Krankenhaus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WOM World of Music Berlin </a:t>
                      </a:r>
                      <a:r>
                        <a:rPr lang="en-US" sz="800" b="0" i="0" u="none" strike="noStrike" noProof="0" dirty="0" err="1">
                          <a:solidFill>
                            <a:srgbClr val="000000"/>
                          </a:solidFill>
                          <a:effectLst/>
                          <a:latin typeface="Calibri" panose="020F0502020204030204" pitchFamily="34" charset="0"/>
                        </a:rPr>
                        <a:t>Musikhandelsgesellschaft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Eins, Zwei, Drei, </a:t>
                      </a:r>
                      <a:r>
                        <a:rPr lang="en-US" sz="800" b="0" i="0" u="none" strike="noStrike" noProof="0" dirty="0" err="1">
                          <a:solidFill>
                            <a:srgbClr val="000000"/>
                          </a:solidFill>
                          <a:effectLst/>
                          <a:latin typeface="Calibri" panose="020F0502020204030204" pitchFamily="34" charset="0"/>
                        </a:rPr>
                        <a:t>Süßwarenhandels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Kyllmannstr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r>
                        <a:rPr lang="en-US" sz="800" b="0" i="0" u="none" strike="noStrike" noProof="0" dirty="0" err="1">
                          <a:solidFill>
                            <a:srgbClr val="000000"/>
                          </a:solidFill>
                          <a:effectLst/>
                          <a:latin typeface="Calibri" panose="020F0502020204030204" pitchFamily="34" charset="0"/>
                        </a:rPr>
                        <a:t>Werbefunk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Vermittlungs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Bozener</a:t>
                      </a:r>
                      <a:r>
                        <a:rPr lang="en-US" sz="800" b="0" i="0" u="none" strike="noStrike" noProof="0" dirty="0">
                          <a:solidFill>
                            <a:srgbClr val="000000"/>
                          </a:solidFill>
                          <a:effectLst/>
                          <a:latin typeface="Calibri" panose="020F0502020204030204" pitchFamily="34" charset="0"/>
                        </a:rPr>
                        <a:t> Str. 11-12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VW AUDI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GmbH &amp; Co. </a:t>
                      </a:r>
                      <a:r>
                        <a:rPr lang="en-US" sz="800" b="0" i="0" u="none" strike="noStrike" noProof="0" dirty="0" err="1">
                          <a:solidFill>
                            <a:srgbClr val="000000"/>
                          </a:solidFill>
                          <a:effectLst/>
                          <a:latin typeface="Calibri" panose="020F0502020204030204" pitchFamily="34" charset="0"/>
                        </a:rPr>
                        <a:t>Vertriebszentrum</a:t>
                      </a:r>
                      <a:r>
                        <a:rPr lang="en-US" sz="800" b="0" i="0" u="none" strike="noStrike" noProof="0" dirty="0">
                          <a:solidFill>
                            <a:srgbClr val="000000"/>
                          </a:solidFill>
                          <a:effectLst/>
                          <a:latin typeface="Calibri" panose="020F0502020204030204" pitchFamily="34" charset="0"/>
                        </a:rPr>
                        <a:t>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Goerzallee</a:t>
                      </a:r>
                      <a:r>
                        <a:rPr lang="en-US" sz="800" b="0" i="0" u="none" strike="noStrike" noProof="0" dirty="0">
                          <a:solidFill>
                            <a:srgbClr val="000000"/>
                          </a:solidFill>
                          <a:effectLst/>
                          <a:latin typeface="Calibri" panose="020F0502020204030204" pitchFamily="34" charset="0"/>
                        </a:rPr>
                        <a:t> 251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Dialog Partner in Berlin GmbH </a:t>
                      </a:r>
                      <a:r>
                        <a:rPr lang="en-US" sz="800" b="0" i="0" u="none" strike="noStrike" noProof="0" dirty="0" err="1">
                          <a:solidFill>
                            <a:srgbClr val="000000"/>
                          </a:solidFill>
                          <a:effectLst/>
                          <a:latin typeface="Calibri" panose="020F0502020204030204" pitchFamily="34" charset="0"/>
                        </a:rPr>
                        <a:t>Daten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Kommunikationstechnik</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Fraenkelufer</a:t>
                      </a:r>
                      <a:r>
                        <a:rPr lang="en-US" sz="800" b="0" i="0" u="none" strike="noStrike" noProof="0" dirty="0">
                          <a:solidFill>
                            <a:srgbClr val="000000"/>
                          </a:solidFill>
                          <a:effectLst/>
                          <a:latin typeface="Calibri" panose="020F0502020204030204" pitchFamily="34" charset="0"/>
                        </a:rPr>
                        <a:t> 38c</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BEW </a:t>
                      </a:r>
                      <a:r>
                        <a:rPr lang="en-US" sz="800" b="0" i="0" u="none" strike="noStrike" noProof="0" dirty="0" err="1">
                          <a:solidFill>
                            <a:srgbClr val="000000"/>
                          </a:solidFill>
                          <a:effectLst/>
                          <a:latin typeface="Calibri" panose="020F0502020204030204" pitchFamily="34" charset="0"/>
                        </a:rPr>
                        <a:t>Evangelische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Wirtschaftsunternehmen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Handjerystr</a:t>
                      </a:r>
                      <a:r>
                        <a:rPr lang="en-US" sz="800" b="0" i="0" u="none" strike="noStrike" noProof="0" dirty="0">
                          <a:solidFill>
                            <a:srgbClr val="000000"/>
                          </a:solidFill>
                          <a:effectLst/>
                          <a:latin typeface="Calibri" panose="020F0502020204030204" pitchFamily="34" charset="0"/>
                        </a:rPr>
                        <a:t>. 19- 20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Lewron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Kabeltechnik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Nahmitzer</a:t>
                      </a:r>
                      <a:r>
                        <a:rPr lang="en-US" sz="800" b="0" i="0" u="none" strike="noStrike" noProof="0" dirty="0">
                          <a:solidFill>
                            <a:srgbClr val="000000"/>
                          </a:solidFill>
                          <a:effectLst/>
                          <a:latin typeface="Calibri" panose="020F0502020204030204" pitchFamily="34" charset="0"/>
                        </a:rPr>
                        <a:t> Damm 32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Oranienburger</a:t>
                      </a:r>
                      <a:r>
                        <a:rPr lang="en-US" sz="800" b="0" i="0" u="none" strike="noStrike" noProof="0" dirty="0">
                          <a:solidFill>
                            <a:srgbClr val="000000"/>
                          </a:solidFill>
                          <a:effectLst/>
                          <a:latin typeface="Calibri" panose="020F0502020204030204" pitchFamily="34" charset="0"/>
                        </a:rPr>
                        <a:t> Str.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Zenker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WIB </a:t>
                      </a:r>
                      <a:r>
                        <a:rPr lang="en-US" sz="800" b="0" i="0" u="none" strike="noStrike" noProof="0" dirty="0" err="1">
                          <a:solidFill>
                            <a:srgbClr val="000000"/>
                          </a:solidFill>
                          <a:effectLst/>
                          <a:latin typeface="Calibri" panose="020F0502020204030204" pitchFamily="34" charset="0"/>
                        </a:rPr>
                        <a:t>Wärmetechnisches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Prof.Dr.Ing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Zöllner</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Berotec</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Berotec</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GmbH Berlin und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 H - </a:t>
                      </a:r>
                      <a:r>
                        <a:rPr lang="en-US" sz="800" b="0" i="0" u="none" strike="noStrike" noProof="0" dirty="0" err="1">
                          <a:solidFill>
                            <a:srgbClr val="000000"/>
                          </a:solidFill>
                          <a:effectLst/>
                          <a:latin typeface="Calibri" panose="020F0502020204030204" pitchFamily="34" charset="0"/>
                        </a:rPr>
                        <a:t>Dämmstoffkontor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Heidestr</a:t>
                      </a:r>
                      <a:r>
                        <a:rPr lang="en-US" sz="800" b="0" i="0" u="none" strike="noStrike" noProof="0" dirty="0">
                          <a:solidFill>
                            <a:srgbClr val="000000"/>
                          </a:solidFill>
                          <a:effectLst/>
                          <a:latin typeface="Calibri" panose="020F0502020204030204" pitchFamily="34" charset="0"/>
                        </a:rPr>
                        <a:t>. 24-30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 Becker Söhne GmbH </a:t>
                      </a:r>
                      <a:r>
                        <a:rPr lang="en-US" sz="800" b="0" i="0" u="none" strike="noStrike" noProof="0" dirty="0" err="1">
                          <a:solidFill>
                            <a:srgbClr val="000000"/>
                          </a:solidFill>
                          <a:effectLst/>
                          <a:latin typeface="Calibri" panose="020F0502020204030204" pitchFamily="34" charset="0"/>
                        </a:rPr>
                        <a:t>Elektrische</a:t>
                      </a:r>
                      <a:r>
                        <a:rPr lang="en-US" sz="800" b="0" i="0" u="none" strike="noStrike" noProof="0" dirty="0">
                          <a:solidFill>
                            <a:srgbClr val="000000"/>
                          </a:solidFill>
                          <a:effectLst/>
                          <a:latin typeface="Calibri" panose="020F0502020204030204" pitchFamily="34" charset="0"/>
                        </a:rPr>
                        <a:t> Maschinen und </a:t>
                      </a:r>
                      <a:r>
                        <a:rPr lang="en-US" sz="800" b="0" i="0" u="none" strike="noStrike" noProof="0" dirty="0" err="1">
                          <a:solidFill>
                            <a:srgbClr val="000000"/>
                          </a:solidFill>
                          <a:effectLst/>
                          <a:latin typeface="Calibri" panose="020F0502020204030204" pitchFamily="34" charset="0"/>
                        </a:rPr>
                        <a:t>Apparate</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Belziger</a:t>
                      </a:r>
                      <a:r>
                        <a:rPr lang="en-US" sz="800" b="0" i="0" u="none" strike="noStrike" noProof="0" dirty="0">
                          <a:solidFill>
                            <a:srgbClr val="000000"/>
                          </a:solidFill>
                          <a:effectLst/>
                          <a:latin typeface="Calibri" panose="020F0502020204030204" pitchFamily="34" charset="0"/>
                        </a:rPr>
                        <a:t> Str.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Dietrich </a:t>
                      </a:r>
                      <a:r>
                        <a:rPr lang="en-US" sz="800" b="0" i="0" u="none" strike="noStrike" noProof="0" dirty="0" err="1">
                          <a:solidFill>
                            <a:srgbClr val="000000"/>
                          </a:solidFill>
                          <a:effectLst/>
                          <a:latin typeface="Calibri" panose="020F0502020204030204" pitchFamily="34" charset="0"/>
                        </a:rPr>
                        <a:t>Bautenschutz</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Zweignieder</a:t>
                      </a:r>
                      <a:r>
                        <a:rPr lang="en-US" sz="800" b="0" i="0" u="none" strike="noStrike" noProof="0" dirty="0">
                          <a:solidFill>
                            <a:srgbClr val="000000"/>
                          </a:solidFill>
                          <a:effectLst/>
                          <a:latin typeface="Calibri" panose="020F0502020204030204" pitchFamily="34" charset="0"/>
                        </a:rPr>
                        <a:t> - </a:t>
                      </a:r>
                      <a:r>
                        <a:rPr lang="en-US" sz="800" b="0" i="0" u="none" strike="noStrike" noProof="0" dirty="0" err="1">
                          <a:solidFill>
                            <a:srgbClr val="000000"/>
                          </a:solidFill>
                          <a:effectLst/>
                          <a:latin typeface="Calibri" panose="020F0502020204030204" pitchFamily="34" charset="0"/>
                        </a:rPr>
                        <a:t>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179 29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Mübau</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&amp; Co.KG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Lindenallee</a:t>
                      </a:r>
                      <a:r>
                        <a:rPr lang="en-US" sz="800" b="0" i="0" u="none" strike="noStrike" noProof="0" dirty="0">
                          <a:solidFill>
                            <a:srgbClr val="000000"/>
                          </a:solidFill>
                          <a:effectLst/>
                          <a:latin typeface="Calibri" panose="020F0502020204030204" pitchFamily="34" charset="0"/>
                        </a:rPr>
                        <a:t> 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HEU-BAU GmbH </a:t>
                      </a:r>
                      <a:r>
                        <a:rPr lang="en-US" sz="800" b="0" i="0" u="none" strike="noStrike" noProof="0" dirty="0" err="1">
                          <a:solidFill>
                            <a:srgbClr val="000000"/>
                          </a:solidFill>
                          <a:effectLst/>
                          <a:latin typeface="Calibri" panose="020F0502020204030204" pitchFamily="34" charset="0"/>
                        </a:rPr>
                        <a:t>Baustudio</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i</a:t>
                      </a:r>
                      <a:r>
                        <a:rPr lang="en-US" sz="800" b="0" i="0" u="none" strike="noStrike" noProof="0" dirty="0">
                          <a:solidFill>
                            <a:srgbClr val="000000"/>
                          </a:solidFill>
                          <a:effectLst/>
                          <a:latin typeface="Calibri" panose="020F0502020204030204" pitchFamily="34" charset="0"/>
                        </a:rPr>
                        <a:t>. Gr.</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Veitstr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 &amp; T Papier- und </a:t>
                      </a:r>
                      <a:r>
                        <a:rPr lang="en-US" sz="800" b="0" i="0" u="none" strike="noStrike" noProof="0" dirty="0" err="1">
                          <a:solidFill>
                            <a:srgbClr val="000000"/>
                          </a:solidFill>
                          <a:effectLst/>
                          <a:latin typeface="Calibri" panose="020F0502020204030204" pitchFamily="34" charset="0"/>
                        </a:rPr>
                        <a:t>Tütenfabrik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Boschweg</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BTS </a:t>
                      </a:r>
                      <a:r>
                        <a:rPr lang="en-US" sz="800" b="0" i="0" u="none" strike="noStrike" noProof="0" dirty="0" err="1">
                          <a:solidFill>
                            <a:srgbClr val="000000"/>
                          </a:solidFill>
                          <a:effectLst/>
                          <a:latin typeface="Calibri" panose="020F0502020204030204" pitchFamily="34" charset="0"/>
                        </a:rPr>
                        <a:t>Treuhand</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Steuerberatungsgesellschaft</a:t>
                      </a:r>
                      <a:r>
                        <a:rPr lang="en-US" sz="800" b="0" i="0" u="none" strike="noStrike" noProof="0" dirty="0">
                          <a:solidFill>
                            <a:srgbClr val="000000"/>
                          </a:solidFill>
                          <a:effectLst/>
                          <a:latin typeface="Calibri" panose="020F0502020204030204" pitchFamily="34" charset="0"/>
                        </a:rPr>
                        <a:t> mbH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Duisburger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Merfels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Speditionsgesellschaft</a:t>
                      </a:r>
                      <a:r>
                        <a:rPr lang="en-US" sz="800" b="0" i="0" u="none" strike="noStrike" noProof="0" dirty="0">
                          <a:solidFill>
                            <a:srgbClr val="000000"/>
                          </a:solidFill>
                          <a:effectLst/>
                          <a:latin typeface="Calibri" panose="020F0502020204030204" pitchFamily="34" charset="0"/>
                        </a:rPr>
                        <a:t> mbH -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Tiefwerderweg</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VTB </a:t>
                      </a:r>
                      <a:r>
                        <a:rPr lang="en-US" sz="800" b="0" i="0" u="none" strike="noStrike" noProof="0" dirty="0" err="1">
                          <a:solidFill>
                            <a:srgbClr val="000000"/>
                          </a:solidFill>
                          <a:effectLst/>
                          <a:latin typeface="Calibri" panose="020F0502020204030204" pitchFamily="34" charset="0"/>
                        </a:rPr>
                        <a:t>Versorgungstechnik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Lütticher</a:t>
                      </a:r>
                      <a:r>
                        <a:rPr lang="en-US" sz="800" b="0" i="0" u="none" strike="noStrike" noProof="0" dirty="0">
                          <a:solidFill>
                            <a:srgbClr val="000000"/>
                          </a:solidFill>
                          <a:effectLst/>
                          <a:latin typeface="Calibri" panose="020F0502020204030204" pitchFamily="34" charset="0"/>
                        </a:rPr>
                        <a:t> Str. 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Taylorix</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Real-</a:t>
                      </a:r>
                      <a:r>
                        <a:rPr lang="en-US" sz="800" b="0" i="0" u="none" strike="noStrike" noProof="0" dirty="0" err="1">
                          <a:solidFill>
                            <a:srgbClr val="000000"/>
                          </a:solidFill>
                          <a:effectLst/>
                          <a:latin typeface="Calibri" panose="020F0502020204030204" pitchFamily="34" charset="0"/>
                        </a:rPr>
                        <a:t>Kredit</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Vermittlungs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Wilmersdorfer</a:t>
                      </a:r>
                      <a:r>
                        <a:rPr lang="en-US" sz="800" b="0" i="0" u="none" strike="noStrike" noProof="0" dirty="0">
                          <a:solidFill>
                            <a:srgbClr val="000000"/>
                          </a:solidFill>
                          <a:effectLst/>
                          <a:latin typeface="Calibri" panose="020F0502020204030204" pitchFamily="34" charset="0"/>
                        </a:rPr>
                        <a:t> Str. 26/27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Babelsberger</a:t>
                      </a:r>
                      <a:r>
                        <a:rPr lang="en-US" sz="800" b="0" i="0" u="none" strike="noStrike" noProof="0" dirty="0">
                          <a:solidFill>
                            <a:srgbClr val="000000"/>
                          </a:solidFill>
                          <a:effectLst/>
                          <a:latin typeface="Calibri" panose="020F0502020204030204" pitchFamily="34" charset="0"/>
                        </a:rPr>
                        <a:t> Str.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 Repenning &amp; Sohn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Walderseestr</a:t>
                      </a:r>
                      <a:r>
                        <a:rPr lang="en-US" sz="800" b="0" i="0" u="none" strike="noStrike" noProof="0" dirty="0">
                          <a:solidFill>
                            <a:srgbClr val="000000"/>
                          </a:solidFill>
                          <a:effectLst/>
                          <a:latin typeface="Calibri" panose="020F0502020204030204" pitchFamily="34" charset="0"/>
                        </a:rPr>
                        <a:t>.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Hyper-</a:t>
                      </a:r>
                      <a:r>
                        <a:rPr lang="en-US" sz="800" b="0" i="0" u="none" strike="noStrike" noProof="0" dirty="0" err="1">
                          <a:solidFill>
                            <a:srgbClr val="000000"/>
                          </a:solidFill>
                          <a:effectLst/>
                          <a:latin typeface="Calibri" panose="020F0502020204030204" pitchFamily="34" charset="0"/>
                        </a:rPr>
                        <a:t>Dämmtechnik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Flottenstr</a:t>
                      </a:r>
                      <a:r>
                        <a:rPr lang="en-US" sz="800" b="0" i="0" u="none" strike="noStrike" noProof="0" dirty="0">
                          <a:solidFill>
                            <a:srgbClr val="000000"/>
                          </a:solidFill>
                          <a:effectLst/>
                          <a:latin typeface="Calibri" panose="020F0502020204030204" pitchFamily="34" charset="0"/>
                        </a:rPr>
                        <a:t>.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INDUSTRONIC Industrie-Electronic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32-34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Wärmetechnik</a:t>
                      </a:r>
                      <a:r>
                        <a:rPr lang="en-US" sz="800" b="0" i="0" u="none" strike="noStrike" noProof="0" dirty="0">
                          <a:solidFill>
                            <a:srgbClr val="000000"/>
                          </a:solidFill>
                          <a:effectLst/>
                          <a:latin typeface="Calibri" panose="020F0502020204030204" pitchFamily="34" charset="0"/>
                        </a:rPr>
                        <a:t> Saupe &amp; Mielke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332- 334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SPS </a:t>
                      </a:r>
                      <a:r>
                        <a:rPr lang="en-US" sz="800" b="0" i="0" u="none" strike="noStrike" noProof="0" dirty="0" err="1">
                          <a:solidFill>
                            <a:srgbClr val="000000"/>
                          </a:solidFill>
                          <a:effectLst/>
                          <a:latin typeface="Calibri" panose="020F0502020204030204" pitchFamily="34" charset="0"/>
                        </a:rPr>
                        <a:t>Schaltanlagentechnik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Giesensdorfer</a:t>
                      </a:r>
                      <a:r>
                        <a:rPr lang="en-US" sz="800" b="0" i="0" u="none" strike="noStrike" noProof="0" dirty="0">
                          <a:solidFill>
                            <a:srgbClr val="000000"/>
                          </a:solidFill>
                          <a:effectLst/>
                          <a:latin typeface="Calibri" panose="020F0502020204030204" pitchFamily="34" charset="0"/>
                        </a:rPr>
                        <a:t> Str.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Perleberger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Breurkens</a:t>
                      </a:r>
                      <a:r>
                        <a:rPr lang="en-US" sz="800" b="0" i="0" u="none" strike="noStrike" noProof="0" dirty="0">
                          <a:solidFill>
                            <a:srgbClr val="000000"/>
                          </a:solidFill>
                          <a:effectLst/>
                          <a:latin typeface="Calibri" panose="020F0502020204030204" pitchFamily="34" charset="0"/>
                        </a:rPr>
                        <a:t> + Partner GmbH B + P Alarm- und </a:t>
                      </a:r>
                      <a:r>
                        <a:rPr lang="en-US" sz="800" b="0" i="0" u="none" strike="noStrike" noProof="0" dirty="0" err="1">
                          <a:solidFill>
                            <a:srgbClr val="000000"/>
                          </a:solidFill>
                          <a:effectLst/>
                          <a:latin typeface="Calibri" panose="020F0502020204030204" pitchFamily="34" charset="0"/>
                        </a:rPr>
                        <a:t>Sicherheitssysteme</a:t>
                      </a:r>
                      <a:r>
                        <a:rPr lang="en-US" sz="800" b="0" i="0" u="none" strike="noStrike" noProof="0" dirty="0">
                          <a:solidFill>
                            <a:srgbClr val="000000"/>
                          </a:solidFill>
                          <a:effectLst/>
                          <a:latin typeface="Calibri" panose="020F0502020204030204" pitchFamily="34" charset="0"/>
                        </a:rPr>
                        <a:t>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Katharinenstr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Epinert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Kunstharz</a:t>
                      </a:r>
                      <a:r>
                        <a:rPr lang="en-US" sz="800" b="0" i="0" u="none" strike="noStrike" noProof="0" dirty="0">
                          <a:solidFill>
                            <a:srgbClr val="000000"/>
                          </a:solidFill>
                          <a:effectLst/>
                          <a:latin typeface="Calibri" panose="020F0502020204030204" pitchFamily="34" charset="0"/>
                        </a:rPr>
                        <a:t>-Technik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Wieler &amp; Durian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Wolframstr</a:t>
                      </a:r>
                      <a:r>
                        <a:rPr lang="en-US" sz="800" b="0" i="0" u="none" strike="noStrike" noProof="0" dirty="0">
                          <a:solidFill>
                            <a:srgbClr val="000000"/>
                          </a:solidFill>
                          <a:effectLst/>
                          <a:latin typeface="Calibri" panose="020F0502020204030204" pitchFamily="34" charset="0"/>
                        </a:rPr>
                        <a:t>. 84-92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Leibnizstr</a:t>
                      </a:r>
                      <a:r>
                        <a:rPr lang="en-US" sz="800" b="0" i="0" u="none" strike="noStrike" noProof="0" dirty="0">
                          <a:solidFill>
                            <a:srgbClr val="000000"/>
                          </a:solidFill>
                          <a:effectLst/>
                          <a:latin typeface="Calibri" panose="020F0502020204030204" pitchFamily="34" charset="0"/>
                        </a:rPr>
                        <a:t>.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Milchinformationsdienst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Kaiserdamm</a:t>
                      </a:r>
                      <a:r>
                        <a:rPr lang="en-US" sz="800" b="0" i="0" u="none" strike="noStrike" noProof="0" dirty="0">
                          <a:solidFill>
                            <a:srgbClr val="000000"/>
                          </a:solidFill>
                          <a:effectLst/>
                          <a:latin typeface="Calibri" panose="020F0502020204030204" pitchFamily="34" charset="0"/>
                        </a:rPr>
                        <a:t> 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Riedemannweg</a:t>
                      </a:r>
                      <a:r>
                        <a:rPr lang="en-US" sz="800" b="0" i="0" u="none" strike="noStrike" noProof="0" dirty="0">
                          <a:solidFill>
                            <a:srgbClr val="000000"/>
                          </a:solidFill>
                          <a:effectLst/>
                          <a:latin typeface="Calibri" panose="020F0502020204030204" pitchFamily="34" charset="0"/>
                        </a:rPr>
                        <a:t>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IWM -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Weiterbildung</a:t>
                      </a:r>
                      <a:r>
                        <a:rPr lang="en-US" sz="800" b="0" i="0" u="none" strike="noStrike" noProof="0" dirty="0">
                          <a:solidFill>
                            <a:srgbClr val="000000"/>
                          </a:solidFill>
                          <a:effectLst/>
                          <a:latin typeface="Calibri" panose="020F0502020204030204" pitchFamily="34" charset="0"/>
                        </a:rPr>
                        <a:t> und Management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 B </a:t>
                      </a:r>
                      <a:r>
                        <a:rPr lang="en-US" sz="800" b="0" i="0" u="none" strike="noStrike" noProof="0" dirty="0" err="1">
                          <a:solidFill>
                            <a:srgbClr val="000000"/>
                          </a:solidFill>
                          <a:effectLst/>
                          <a:latin typeface="Calibri" panose="020F0502020204030204" pitchFamily="34" charset="0"/>
                        </a:rPr>
                        <a:t>Strackow</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Leonorenstr</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Hauptstr</a:t>
                      </a:r>
                      <a:r>
                        <a:rPr lang="en-US" sz="800" b="0" i="0" u="none" strike="noStrike" noProof="0" dirty="0">
                          <a:solidFill>
                            <a:srgbClr val="000000"/>
                          </a:solidFill>
                          <a:effectLst/>
                          <a:latin typeface="Calibri" panose="020F0502020204030204" pitchFamily="34" charset="0"/>
                        </a:rPr>
                        <a:t>. 155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GEMO </a:t>
                      </a:r>
                      <a:r>
                        <a:rPr lang="en-US" sz="800" b="0" i="0" u="none" strike="noStrike" noProof="0" dirty="0" err="1">
                          <a:solidFill>
                            <a:srgbClr val="000000"/>
                          </a:solidFill>
                          <a:effectLst/>
                          <a:latin typeface="Calibri" panose="020F0502020204030204" pitchFamily="34" charset="0"/>
                        </a:rPr>
                        <a:t>Bekleidungsgesellschaft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133-134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Fernsehstudio</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Eiswerder</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Eiswerderstr</a:t>
                      </a:r>
                      <a:r>
                        <a:rPr lang="en-US" sz="800" b="0" i="0" u="none" strike="noStrike" noProof="0" dirty="0">
                          <a:solidFill>
                            <a:srgbClr val="000000"/>
                          </a:solidFill>
                          <a:effectLst/>
                          <a:latin typeface="Calibri" panose="020F0502020204030204" pitchFamily="34" charset="0"/>
                        </a:rPr>
                        <a:t>.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Zippert</a:t>
                      </a:r>
                      <a:r>
                        <a:rPr lang="en-US" sz="800" b="0" i="0" u="none" strike="noStrike" noProof="0" dirty="0">
                          <a:solidFill>
                            <a:srgbClr val="000000"/>
                          </a:solidFill>
                          <a:effectLst/>
                          <a:latin typeface="Calibri" panose="020F0502020204030204" pitchFamily="34" charset="0"/>
                        </a:rPr>
                        <a:t> &amp; Co. GmbH </a:t>
                      </a:r>
                      <a:r>
                        <a:rPr lang="en-US" sz="800" b="0" i="0" u="none" strike="noStrike" noProof="0" dirty="0" err="1">
                          <a:solidFill>
                            <a:srgbClr val="000000"/>
                          </a:solidFill>
                          <a:effectLst/>
                          <a:latin typeface="Calibri" panose="020F0502020204030204" pitchFamily="34" charset="0"/>
                        </a:rPr>
                        <a:t>Fernverkehr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16/17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ELDORADO </a:t>
                      </a:r>
                      <a:r>
                        <a:rPr lang="en-US" sz="800" b="0" i="0" u="none" strike="noStrike" noProof="0" dirty="0" err="1">
                          <a:solidFill>
                            <a:srgbClr val="000000"/>
                          </a:solidFill>
                          <a:effectLst/>
                          <a:latin typeface="Calibri" panose="020F0502020204030204" pitchFamily="34" charset="0"/>
                        </a:rPr>
                        <a:t>Pfandleihhaus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Hermannstr</a:t>
                      </a:r>
                      <a:r>
                        <a:rPr lang="en-US" sz="800" b="0" i="0" u="none" strike="noStrike" noProof="0" dirty="0">
                          <a:solidFill>
                            <a:srgbClr val="000000"/>
                          </a:solidFill>
                          <a:effectLst/>
                          <a:latin typeface="Calibri" panose="020F0502020204030204" pitchFamily="34" charset="0"/>
                        </a:rPr>
                        <a:t>. 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Heuschen</a:t>
                      </a:r>
                      <a:r>
                        <a:rPr lang="en-US" sz="800" b="0" i="0" u="none" strike="noStrike" noProof="0" dirty="0">
                          <a:solidFill>
                            <a:srgbClr val="000000"/>
                          </a:solidFill>
                          <a:effectLst/>
                          <a:latin typeface="Calibri" panose="020F0502020204030204" pitchFamily="34" charset="0"/>
                        </a:rPr>
                        <a:t> &amp; </a:t>
                      </a:r>
                      <a:r>
                        <a:rPr lang="en-US" sz="800" b="0" i="0" u="none" strike="noStrike" noProof="0" dirty="0" err="1">
                          <a:solidFill>
                            <a:srgbClr val="000000"/>
                          </a:solidFill>
                          <a:effectLst/>
                          <a:latin typeface="Calibri" panose="020F0502020204030204" pitchFamily="34" charset="0"/>
                        </a:rPr>
                        <a:t>Schrouff</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Schätzelbergstr</a:t>
                      </a:r>
                      <a:r>
                        <a:rPr lang="en-US" sz="800" b="0" i="0" u="none" strike="noStrike" noProof="0" dirty="0">
                          <a:solidFill>
                            <a:srgbClr val="000000"/>
                          </a:solidFill>
                          <a:effectLst/>
                          <a:latin typeface="Calibri" panose="020F0502020204030204" pitchFamily="34" charset="0"/>
                        </a:rPr>
                        <a:t>. 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 Ma </a:t>
                      </a:r>
                      <a:r>
                        <a:rPr lang="en-US" sz="800" b="0" i="0" u="none" strike="noStrike" noProof="0" dirty="0" err="1">
                          <a:solidFill>
                            <a:srgbClr val="000000"/>
                          </a:solidFill>
                          <a:effectLst/>
                          <a:latin typeface="Calibri" panose="020F0502020204030204" pitchFamily="34" charset="0"/>
                        </a:rPr>
                        <a:t>Maschinenhandel</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Fürstenplatz</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Perycut</a:t>
                      </a:r>
                      <a:r>
                        <a:rPr lang="en-US" sz="800" b="0" i="0" u="none" strike="noStrike" noProof="0" dirty="0">
                          <a:solidFill>
                            <a:srgbClr val="000000"/>
                          </a:solidFill>
                          <a:effectLst/>
                          <a:latin typeface="Calibri" panose="020F0502020204030204" pitchFamily="34" charset="0"/>
                        </a:rPr>
                        <a:t>-Berlin-GmbH -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chemisch-technischer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Produkte</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Rheinstr</a:t>
                      </a:r>
                      <a:r>
                        <a:rPr lang="en-US" sz="800" b="0" i="0" u="none" strike="noStrike" noProof="0" dirty="0">
                          <a:solidFill>
                            <a:srgbClr val="000000"/>
                          </a:solidFill>
                          <a:effectLst/>
                          <a:latin typeface="Calibri" panose="020F0502020204030204" pitchFamily="34" charset="0"/>
                        </a:rPr>
                        <a:t>. 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RTS Revision u. </a:t>
                      </a:r>
                      <a:r>
                        <a:rPr lang="en-US" sz="800" b="0" i="0" u="none" strike="noStrike" noProof="0" dirty="0" err="1">
                          <a:solidFill>
                            <a:srgbClr val="000000"/>
                          </a:solidFill>
                          <a:effectLst/>
                          <a:latin typeface="Calibri" panose="020F0502020204030204" pitchFamily="34" charset="0"/>
                        </a:rPr>
                        <a:t>Treuhand</a:t>
                      </a:r>
                      <a:r>
                        <a:rPr lang="en-US" sz="800" b="0" i="0" u="none" strike="noStrike" noProof="0" dirty="0">
                          <a:solidFill>
                            <a:srgbClr val="000000"/>
                          </a:solidFill>
                          <a:effectLst/>
                          <a:latin typeface="Calibri" panose="020F0502020204030204" pitchFamily="34" charset="0"/>
                        </a:rPr>
                        <a:t> Berlin GmbH </a:t>
                      </a:r>
                      <a:r>
                        <a:rPr lang="en-US" sz="800" b="0" i="0" u="none" strike="noStrike" noProof="0" dirty="0" err="1">
                          <a:solidFill>
                            <a:srgbClr val="000000"/>
                          </a:solidFill>
                          <a:effectLst/>
                          <a:latin typeface="Calibri" panose="020F0502020204030204" pitchFamily="34" charset="0"/>
                        </a:rPr>
                        <a:t>Wirtschaftsprüfungsges</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 A K A D A M GmbH Berlin &amp; Co. </a:t>
                      </a:r>
                      <a:r>
                        <a:rPr lang="en-US" sz="800" b="0" i="0" u="none" strike="noStrike" noProof="0" dirty="0" err="1">
                          <a:solidFill>
                            <a:srgbClr val="000000"/>
                          </a:solidFill>
                          <a:effectLst/>
                          <a:latin typeface="Calibri" panose="020F0502020204030204" pitchFamily="34" charset="0"/>
                        </a:rPr>
                        <a:t>Betriebskommanditges</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Stichkanal</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Ro-Do </a:t>
                      </a:r>
                      <a:r>
                        <a:rPr lang="en-US" sz="800" b="0" i="0" u="none" strike="noStrike" noProof="0" dirty="0" err="1">
                          <a:solidFill>
                            <a:srgbClr val="000000"/>
                          </a:solidFill>
                          <a:effectLst/>
                          <a:latin typeface="Calibri" panose="020F0502020204030204" pitchFamily="34" charset="0"/>
                        </a:rPr>
                        <a:t>Wärmedienst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Altvaterstr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MIB </a:t>
                      </a:r>
                      <a:r>
                        <a:rPr lang="en-US" sz="800" b="0" i="0" u="none" strike="noStrike" noProof="0" dirty="0" err="1">
                          <a:solidFill>
                            <a:srgbClr val="000000"/>
                          </a:solidFill>
                          <a:effectLst/>
                          <a:latin typeface="Calibri" panose="020F0502020204030204" pitchFamily="34" charset="0"/>
                        </a:rPr>
                        <a:t>Metallurgie</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Oberflächentechn</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Innovationen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i.Berlin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 E R </a:t>
                      </a:r>
                      <a:r>
                        <a:rPr lang="en-US" sz="800" b="0" i="0" u="none" strike="noStrike" noProof="0" dirty="0" err="1">
                          <a:solidFill>
                            <a:srgbClr val="000000"/>
                          </a:solidFill>
                          <a:effectLst/>
                          <a:latin typeface="Calibri" panose="020F0502020204030204" pitchFamily="34" charset="0"/>
                        </a:rPr>
                        <a:t>Möbel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Einkaufsring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Blankestr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PEB - </a:t>
                      </a:r>
                      <a:r>
                        <a:rPr lang="en-US" sz="800" b="0" i="0" u="none" strike="noStrike" noProof="0" dirty="0" err="1">
                          <a:solidFill>
                            <a:srgbClr val="000000"/>
                          </a:solidFill>
                          <a:effectLst/>
                          <a:latin typeface="Calibri" panose="020F0502020204030204" pitchFamily="34" charset="0"/>
                        </a:rPr>
                        <a:t>Planungsgesellschaft</a:t>
                      </a:r>
                      <a:r>
                        <a:rPr lang="en-US" sz="800" b="0" i="0" u="none" strike="noStrike" noProof="0" dirty="0">
                          <a:solidFill>
                            <a:srgbClr val="000000"/>
                          </a:solidFill>
                          <a:effectLst/>
                          <a:latin typeface="Calibri" panose="020F0502020204030204" pitchFamily="34" charset="0"/>
                        </a:rPr>
                        <a:t> mbH für </a:t>
                      </a:r>
                      <a:r>
                        <a:rPr lang="en-US" sz="800" b="0" i="0" u="none" strike="noStrike" noProof="0" dirty="0" err="1">
                          <a:solidFill>
                            <a:srgbClr val="000000"/>
                          </a:solidFill>
                          <a:effectLst/>
                          <a:latin typeface="Calibri" panose="020F0502020204030204" pitchFamily="34" charset="0"/>
                        </a:rPr>
                        <a:t>Eigenheimbau</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Schönefelder</a:t>
                      </a:r>
                      <a:r>
                        <a:rPr lang="en-US" sz="800" b="0" i="0" u="none" strike="noStrike" noProof="0" dirty="0">
                          <a:solidFill>
                            <a:srgbClr val="000000"/>
                          </a:solidFill>
                          <a:effectLst/>
                          <a:latin typeface="Calibri" panose="020F0502020204030204" pitchFamily="34" charset="0"/>
                        </a:rPr>
                        <a:t> Str.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Tiefkühlmenü-Zentrale</a:t>
                      </a:r>
                      <a:r>
                        <a:rPr lang="en-US" sz="800" b="0" i="0" u="none" strike="noStrike" noProof="0" dirty="0">
                          <a:solidFill>
                            <a:srgbClr val="000000"/>
                          </a:solidFill>
                          <a:effectLst/>
                          <a:latin typeface="Calibri" panose="020F0502020204030204" pitchFamily="34" charset="0"/>
                        </a:rPr>
                        <a:t> Berlin Henning Brunzel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MEWA Textil-</a:t>
                      </a:r>
                      <a:r>
                        <a:rPr lang="en-US" sz="800" b="0" i="0" u="none" strike="noStrike" noProof="0" dirty="0" err="1">
                          <a:solidFill>
                            <a:srgbClr val="000000"/>
                          </a:solidFill>
                          <a:effectLst/>
                          <a:latin typeface="Calibri" panose="020F0502020204030204" pitchFamily="34" charset="0"/>
                        </a:rPr>
                        <a:t>Mietservice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8- 18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Videor</a:t>
                      </a:r>
                      <a:r>
                        <a:rPr lang="en-US" sz="800" b="0" i="0" u="none" strike="noStrike" noProof="0" dirty="0">
                          <a:solidFill>
                            <a:srgbClr val="000000"/>
                          </a:solidFill>
                          <a:effectLst/>
                          <a:latin typeface="Calibri" panose="020F0502020204030204" pitchFamily="34" charset="0"/>
                        </a:rPr>
                        <a:t> Berlin D. Binninger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Liesenstr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Kaiserdamm</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Festkörper</a:t>
                      </a:r>
                      <a:r>
                        <a:rPr lang="en-US" sz="800" b="0" i="0" u="none" strike="noStrike" noProof="0" dirty="0">
                          <a:solidFill>
                            <a:srgbClr val="000000"/>
                          </a:solidFill>
                          <a:effectLst/>
                          <a:latin typeface="Calibri" panose="020F0502020204030204" pitchFamily="34" charset="0"/>
                        </a:rPr>
                        <a:t>-Laser-</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des 17.Juni 135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Spanische</a:t>
                      </a:r>
                      <a:r>
                        <a:rPr lang="en-US" sz="800" b="0" i="0" u="none" strike="noStrike" noProof="0" dirty="0">
                          <a:solidFill>
                            <a:srgbClr val="000000"/>
                          </a:solidFill>
                          <a:effectLst/>
                          <a:latin typeface="Calibri" panose="020F0502020204030204" pitchFamily="34" charset="0"/>
                        </a:rPr>
                        <a:t> Allee 104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 </a:t>
                      </a:r>
                      <a:r>
                        <a:rPr lang="en-US" sz="800" b="0" i="0" u="none" strike="noStrike" noProof="0" dirty="0" err="1">
                          <a:solidFill>
                            <a:srgbClr val="000000"/>
                          </a:solidFill>
                          <a:effectLst/>
                          <a:latin typeface="Calibri" panose="020F0502020204030204" pitchFamily="34" charset="0"/>
                        </a:rPr>
                        <a:t>Guckuk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Körnerstr</a:t>
                      </a:r>
                      <a:r>
                        <a:rPr lang="en-US" sz="800" b="0" i="0" u="none" strike="noStrike" noProof="0" dirty="0">
                          <a:solidFill>
                            <a:srgbClr val="000000"/>
                          </a:solidFill>
                          <a:effectLst/>
                          <a:latin typeface="Calibri" panose="020F0502020204030204" pitchFamily="34" charset="0"/>
                        </a:rPr>
                        <a:t>. 28-29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Classic Studio Berlin KG </a:t>
                      </a:r>
                      <a:r>
                        <a:rPr lang="en-US" sz="800" b="0" i="0" u="none" strike="noStrike" noProof="0" dirty="0" err="1">
                          <a:solidFill>
                            <a:srgbClr val="000000"/>
                          </a:solidFill>
                          <a:effectLst/>
                          <a:latin typeface="Calibri" panose="020F0502020204030204" pitchFamily="34" charset="0"/>
                        </a:rPr>
                        <a:t>Konzertdirektion</a:t>
                      </a:r>
                      <a:r>
                        <a:rPr lang="en-US" sz="800" b="0" i="0" u="none" strike="noStrike" noProof="0" dirty="0">
                          <a:solidFill>
                            <a:srgbClr val="000000"/>
                          </a:solidFill>
                          <a:effectLst/>
                          <a:latin typeface="Calibri" panose="020F0502020204030204" pitchFamily="34" charset="0"/>
                        </a:rPr>
                        <a:t> Hartmut Wittke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MUSICA </a:t>
                      </a:r>
                      <a:r>
                        <a:rPr lang="en-US" sz="800" b="0" i="0" u="none" strike="noStrike" noProof="0" dirty="0" err="1">
                          <a:solidFill>
                            <a:srgbClr val="000000"/>
                          </a:solidFill>
                          <a:effectLst/>
                          <a:latin typeface="Calibri" panose="020F0502020204030204" pitchFamily="34" charset="0"/>
                        </a:rPr>
                        <a:t>Konzertagentur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HAKAP </a:t>
                      </a:r>
                      <a:r>
                        <a:rPr lang="en-US" sz="800" b="0" i="0" u="none" strike="noStrike" noProof="0" dirty="0" err="1">
                          <a:solidFill>
                            <a:srgbClr val="000000"/>
                          </a:solidFill>
                          <a:effectLst/>
                          <a:latin typeface="Calibri" panose="020F0502020204030204" pitchFamily="34" charset="0"/>
                        </a:rPr>
                        <a:t>Generalbauunternehmung</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Jacobsenweg</a:t>
                      </a:r>
                      <a:r>
                        <a:rPr lang="en-US" sz="800" b="0" i="0" u="none" strike="noStrike" noProof="0" dirty="0">
                          <a:solidFill>
                            <a:srgbClr val="000000"/>
                          </a:solidFill>
                          <a:effectLst/>
                          <a:latin typeface="Calibri" panose="020F0502020204030204" pitchFamily="34" charset="0"/>
                        </a:rPr>
                        <a:t>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Stüdemann</a:t>
                      </a:r>
                      <a:r>
                        <a:rPr lang="en-US" sz="800" b="0" i="0" u="none" strike="noStrike" noProof="0" dirty="0">
                          <a:solidFill>
                            <a:srgbClr val="000000"/>
                          </a:solidFill>
                          <a:effectLst/>
                          <a:latin typeface="Calibri" panose="020F0502020204030204" pitchFamily="34" charset="0"/>
                        </a:rPr>
                        <a:t> Personal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Seestr</a:t>
                      </a:r>
                      <a:r>
                        <a:rPr lang="en-US" sz="800" b="0" i="0" u="none" strike="noStrike" noProof="0" dirty="0">
                          <a:solidFill>
                            <a:srgbClr val="000000"/>
                          </a:solidFill>
                          <a:effectLst/>
                          <a:latin typeface="Calibri" panose="020F0502020204030204" pitchFamily="34" charset="0"/>
                        </a:rPr>
                        <a:t>. 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Trio </a:t>
                      </a:r>
                      <a:r>
                        <a:rPr lang="en-US" sz="800" b="0" i="0" u="none" strike="noStrike" noProof="0" dirty="0" err="1">
                          <a:solidFill>
                            <a:srgbClr val="000000"/>
                          </a:solidFill>
                          <a:effectLst/>
                          <a:latin typeface="Calibri" panose="020F0502020204030204" pitchFamily="34" charset="0"/>
                        </a:rPr>
                        <a:t>Fahrschule</a:t>
                      </a:r>
                      <a:r>
                        <a:rPr lang="en-US" sz="800" b="0" i="0" u="none" strike="noStrike" noProof="0" dirty="0">
                          <a:solidFill>
                            <a:srgbClr val="000000"/>
                          </a:solidFill>
                          <a:effectLst/>
                          <a:latin typeface="Calibri" panose="020F0502020204030204" pitchFamily="34" charset="0"/>
                        </a:rPr>
                        <a:t> in Tempelhof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Wescho</a:t>
                      </a:r>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Ladeneinrichtungen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Deufol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Piesporter</a:t>
                      </a:r>
                      <a:r>
                        <a:rPr lang="en-US" sz="800" b="0" i="0" u="none" strike="noStrike" noProof="0" dirty="0">
                          <a:solidFill>
                            <a:srgbClr val="000000"/>
                          </a:solidFill>
                          <a:effectLst/>
                          <a:latin typeface="Calibri" panose="020F0502020204030204" pitchFamily="34" charset="0"/>
                        </a:rPr>
                        <a:t> Str. 50- 52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Oberlandstr</a:t>
                      </a:r>
                      <a:r>
                        <a:rPr lang="en-US" sz="800" b="0" i="0" u="none" strike="noStrike" noProof="0" dirty="0">
                          <a:solidFill>
                            <a:srgbClr val="000000"/>
                          </a:solidFill>
                          <a:effectLst/>
                          <a:latin typeface="Calibri" panose="020F0502020204030204" pitchFamily="34" charset="0"/>
                        </a:rPr>
                        <a:t>. 75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Cycloplast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Kunststoffverwertung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15-19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DV-Maschinen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Szepanski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BKB Bad </a:t>
                      </a:r>
                      <a:r>
                        <a:rPr lang="en-US" sz="800" b="0" i="0" u="none" strike="noStrike" noProof="0" dirty="0" err="1">
                          <a:solidFill>
                            <a:srgbClr val="000000"/>
                          </a:solidFill>
                          <a:effectLst/>
                          <a:latin typeface="Calibri" panose="020F0502020204030204" pitchFamily="34" charset="0"/>
                        </a:rPr>
                        <a:t>Komplett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Infordata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Datentechnik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75- 76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MEDIAN Klinik Berlin-</a:t>
                      </a:r>
                      <a:r>
                        <a:rPr lang="en-US" sz="800" b="0" i="0" u="none" strike="noStrike" noProof="0" dirty="0" err="1">
                          <a:solidFill>
                            <a:srgbClr val="000000"/>
                          </a:solidFill>
                          <a:effectLst/>
                          <a:latin typeface="Calibri" panose="020F0502020204030204" pitchFamily="34" charset="0"/>
                        </a:rPr>
                        <a:t>Kladow</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Franklinstr</a:t>
                      </a:r>
                      <a:r>
                        <a:rPr lang="en-US" sz="800" b="0" i="0" u="none" strike="noStrike" noProof="0" dirty="0">
                          <a:solidFill>
                            <a:srgbClr val="000000"/>
                          </a:solidFill>
                          <a:effectLst/>
                          <a:latin typeface="Calibri" panose="020F0502020204030204" pitchFamily="34" charset="0"/>
                        </a:rPr>
                        <a:t>. 28-29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Bomin Berlin </a:t>
                      </a:r>
                      <a:r>
                        <a:rPr lang="en-US" sz="800" b="0" i="0" u="none" strike="noStrike" noProof="0" dirty="0" err="1">
                          <a:solidFill>
                            <a:srgbClr val="000000"/>
                          </a:solidFill>
                          <a:effectLst/>
                          <a:latin typeface="Calibri" panose="020F0502020204030204" pitchFamily="34" charset="0"/>
                        </a:rPr>
                        <a:t>Mineralöl</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Wilhelmstr</a:t>
                      </a:r>
                      <a:r>
                        <a:rPr lang="en-US" sz="800" b="0" i="0" u="none" strike="noStrike" noProof="0" dirty="0">
                          <a:solidFill>
                            <a:srgbClr val="000000"/>
                          </a:solidFill>
                          <a:effectLst/>
                          <a:latin typeface="Calibri" panose="020F0502020204030204" pitchFamily="34" charset="0"/>
                        </a:rPr>
                        <a:t>. 124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Diesbach </a:t>
                      </a:r>
                      <a:r>
                        <a:rPr lang="en-US" sz="800" b="0" i="0" u="none" strike="noStrike" noProof="0" dirty="0" err="1">
                          <a:solidFill>
                            <a:srgbClr val="000000"/>
                          </a:solidFill>
                          <a:effectLst/>
                          <a:latin typeface="Calibri" panose="020F0502020204030204" pitchFamily="34" charset="0"/>
                        </a:rPr>
                        <a:t>Zeitschriften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Bundesplatz</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Baubetreuungskontor</a:t>
                      </a:r>
                      <a:r>
                        <a:rPr lang="en-US" sz="800" b="0" i="0" u="none" strike="noStrike" noProof="0" dirty="0">
                          <a:solidFill>
                            <a:srgbClr val="000000"/>
                          </a:solidFill>
                          <a:effectLst/>
                          <a:latin typeface="Calibri" panose="020F0502020204030204" pitchFamily="34" charset="0"/>
                        </a:rPr>
                        <a:t>-GmbH, Berlin, &amp; Co. </a:t>
                      </a:r>
                      <a:r>
                        <a:rPr lang="en-US" sz="800" b="0" i="0" u="none" strike="noStrike" noProof="0" dirty="0" err="1">
                          <a:solidFill>
                            <a:srgbClr val="000000"/>
                          </a:solidFill>
                          <a:effectLst/>
                          <a:latin typeface="Calibri" panose="020F0502020204030204" pitchFamily="34" charset="0"/>
                        </a:rPr>
                        <a:t>Verwaltungs-Kommanditgesellsch</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Cote D'or </a:t>
                      </a:r>
                      <a:r>
                        <a:rPr lang="en-US" sz="800" b="0" i="0" u="none" strike="noStrike" noProof="0" dirty="0" err="1">
                          <a:solidFill>
                            <a:srgbClr val="000000"/>
                          </a:solidFill>
                          <a:effectLst/>
                          <a:latin typeface="Calibri" panose="020F0502020204030204" pitchFamily="34" charset="0"/>
                        </a:rPr>
                        <a:t>Edelmetalle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Friedbergstr</a:t>
                      </a:r>
                      <a:r>
                        <a:rPr lang="en-US" sz="800" b="0" i="0" u="none" strike="noStrike" noProof="0" dirty="0">
                          <a:solidFill>
                            <a:srgbClr val="000000"/>
                          </a:solidFill>
                          <a:effectLst/>
                          <a:latin typeface="Calibri" panose="020F0502020204030204" pitchFamily="34" charset="0"/>
                        </a:rPr>
                        <a:t>. 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3 B </a:t>
                      </a:r>
                      <a:r>
                        <a:rPr lang="en-US" sz="800" b="0" i="0" u="none" strike="noStrike" noProof="0" dirty="0" err="1">
                          <a:solidFill>
                            <a:srgbClr val="000000"/>
                          </a:solidFill>
                          <a:effectLst/>
                          <a:latin typeface="Calibri" panose="020F0502020204030204" pitchFamily="34" charset="0"/>
                        </a:rPr>
                        <a:t>Bandanlagenbau</a:t>
                      </a:r>
                      <a:r>
                        <a:rPr lang="en-US" sz="800" b="0" i="0" u="none" strike="noStrike" noProof="0" dirty="0">
                          <a:solidFill>
                            <a:srgbClr val="000000"/>
                          </a:solidFill>
                          <a:effectLst/>
                          <a:latin typeface="Calibri" panose="020F0502020204030204" pitchFamily="34" charset="0"/>
                        </a:rPr>
                        <a:t> in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menue</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Stromstr</a:t>
                      </a:r>
                      <a:r>
                        <a:rPr lang="en-US" sz="800" b="0" i="0" u="none" strike="noStrike" noProof="0" dirty="0">
                          <a:solidFill>
                            <a:srgbClr val="000000"/>
                          </a:solidFill>
                          <a:effectLst/>
                          <a:latin typeface="Calibri" panose="020F0502020204030204" pitchFamily="34" charset="0"/>
                        </a:rPr>
                        <a:t>. 11/17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Intercontinental Hotel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Construction Five </a:t>
                      </a:r>
                      <a:r>
                        <a:rPr lang="en-US" sz="800" b="0" i="0" u="none" strike="noStrike" noProof="0" dirty="0" err="1">
                          <a:solidFill>
                            <a:srgbClr val="000000"/>
                          </a:solidFill>
                          <a:effectLst/>
                          <a:latin typeface="Calibri" panose="020F0502020204030204" pitchFamily="34" charset="0"/>
                        </a:rPr>
                        <a:t>Diskothek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Wilmersdorfer</a:t>
                      </a:r>
                      <a:r>
                        <a:rPr lang="en-US" sz="800" b="0" i="0" u="none" strike="noStrike" noProof="0" dirty="0">
                          <a:solidFill>
                            <a:srgbClr val="000000"/>
                          </a:solidFill>
                          <a:effectLst/>
                          <a:latin typeface="Calibri" panose="020F0502020204030204" pitchFamily="34" charset="0"/>
                        </a:rPr>
                        <a:t> Str. 82/83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Creditreform</a:t>
                      </a:r>
                      <a:r>
                        <a:rPr lang="en-US" sz="800" b="0" i="0" u="none" strike="noStrike" noProof="0" dirty="0">
                          <a:solidFill>
                            <a:srgbClr val="000000"/>
                          </a:solidFill>
                          <a:effectLst/>
                          <a:latin typeface="Calibri" panose="020F0502020204030204" pitchFamily="34" charset="0"/>
                        </a:rPr>
                        <a:t> Berlin Brandenburg Wolfram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DWI DANZIGER &amp; WEIBEZAHL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Pharmaring</a:t>
                      </a:r>
                      <a:r>
                        <a:rPr lang="en-US" sz="800" b="0" i="0" u="none" strike="noStrike" noProof="0" dirty="0">
                          <a:solidFill>
                            <a:srgbClr val="000000"/>
                          </a:solidFill>
                          <a:effectLst/>
                          <a:latin typeface="Calibri" panose="020F0502020204030204" pitchFamily="34" charset="0"/>
                        </a:rPr>
                        <a:t> Arzneimittel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Hasenheide</a:t>
                      </a:r>
                      <a:r>
                        <a:rPr lang="en-US" sz="800" b="0" i="0" u="none" strike="noStrike" noProof="0" dirty="0">
                          <a:solidFill>
                            <a:srgbClr val="000000"/>
                          </a:solidFill>
                          <a:effectLst/>
                          <a:latin typeface="Calibri" panose="020F0502020204030204" pitchFamily="34" charset="0"/>
                        </a:rPr>
                        <a:t> 54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Naue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Nennhauser</a:t>
                      </a:r>
                      <a:r>
                        <a:rPr lang="en-US" sz="800" b="0" i="0" u="none" strike="noStrike" noProof="0" dirty="0">
                          <a:solidFill>
                            <a:srgbClr val="000000"/>
                          </a:solidFill>
                          <a:effectLst/>
                          <a:latin typeface="Calibri" panose="020F0502020204030204" pitchFamily="34" charset="0"/>
                        </a:rPr>
                        <a:t> Damm 136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BOB </a:t>
                      </a:r>
                      <a:r>
                        <a:rPr lang="en-US" sz="800" b="0" i="0" u="none" strike="noStrike" noProof="0" dirty="0" err="1">
                          <a:solidFill>
                            <a:srgbClr val="000000"/>
                          </a:solidFill>
                          <a:effectLst/>
                          <a:latin typeface="Calibri" panose="020F0502020204030204" pitchFamily="34" charset="0"/>
                        </a:rPr>
                        <a:t>Büro-Organisation</a:t>
                      </a:r>
                      <a:r>
                        <a:rPr lang="en-US" sz="800" b="0" i="0" u="none" strike="noStrike" noProof="0" dirty="0">
                          <a:solidFill>
                            <a:srgbClr val="000000"/>
                          </a:solidFill>
                          <a:effectLst/>
                          <a:latin typeface="Calibri" panose="020F0502020204030204" pitchFamily="34" charset="0"/>
                        </a:rPr>
                        <a:t> für den Bau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Bavaria Print GmbH </a:t>
                      </a:r>
                      <a:r>
                        <a:rPr lang="en-US" sz="800" b="0" i="0" u="none" strike="noStrike" noProof="0" dirty="0" err="1">
                          <a:solidFill>
                            <a:srgbClr val="000000"/>
                          </a:solidFill>
                          <a:effectLst/>
                          <a:latin typeface="Calibri" panose="020F0502020204030204" pitchFamily="34" charset="0"/>
                        </a:rPr>
                        <a:t>Videokopierwerk</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Buckower</a:t>
                      </a:r>
                      <a:r>
                        <a:rPr lang="en-US" sz="800" b="0" i="0" u="none" strike="noStrike" noProof="0" dirty="0">
                          <a:solidFill>
                            <a:srgbClr val="000000"/>
                          </a:solidFill>
                          <a:effectLst/>
                          <a:latin typeface="Calibri" panose="020F0502020204030204" pitchFamily="34" charset="0"/>
                        </a:rPr>
                        <a:t> Chaussee 134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Rundfunk-</a:t>
                      </a:r>
                      <a:r>
                        <a:rPr lang="en-US" sz="800" b="0" i="0" u="none" strike="noStrike" noProof="0" dirty="0" err="1">
                          <a:solidFill>
                            <a:srgbClr val="000000"/>
                          </a:solidFill>
                          <a:effectLst/>
                          <a:latin typeface="Calibri" panose="020F0502020204030204" pitchFamily="34" charset="0"/>
                        </a:rPr>
                        <a:t>Orchester</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Chöre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Lodatex</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Buchführungshelfer</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Filmkombinat</a:t>
                      </a:r>
                      <a:r>
                        <a:rPr lang="en-US" sz="800" b="0" i="0" u="none" strike="noStrike" noProof="0" dirty="0">
                          <a:solidFill>
                            <a:srgbClr val="000000"/>
                          </a:solidFill>
                          <a:effectLst/>
                          <a:latin typeface="Calibri" panose="020F0502020204030204" pitchFamily="34" charset="0"/>
                        </a:rPr>
                        <a:t> GmbH, Berlin Film- u. </a:t>
                      </a:r>
                      <a:r>
                        <a:rPr lang="en-US" sz="800" b="0" i="0" u="none" strike="noStrike" noProof="0" dirty="0" err="1">
                          <a:solidFill>
                            <a:srgbClr val="000000"/>
                          </a:solidFill>
                          <a:effectLst/>
                          <a:latin typeface="Calibri" panose="020F0502020204030204" pitchFamily="34" charset="0"/>
                        </a:rPr>
                        <a:t>Fernsehproduktion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Veranstaltungsmanagement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Grolmanstr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400"/>
                  </a:ext>
                </a:extLst>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noProof="0" smtClean="0"/>
              <a:pPr/>
              <a:t>11</a:t>
            </a:fld>
            <a:endParaRPr lang="en-US" noProof="0"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11</a:t>
            </a:fld>
            <a:endParaRPr lang="en-US" noProof="0"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noProof="0" dirty="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noProof="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noProof="0" dirty="0"/>
              <a:t>Weak Search Terms…</a:t>
            </a:r>
          </a:p>
          <a:p>
            <a:pPr marL="216000" indent="-216000">
              <a:buClr>
                <a:srgbClr val="00B0F0"/>
              </a:buClr>
              <a:buFont typeface="Wingdings" panose="05000000000000000000" pitchFamily="2" charset="2"/>
              <a:buChar char="§"/>
            </a:pPr>
            <a:r>
              <a:rPr lang="en-US" sz="1400" noProof="0" dirty="0"/>
              <a:t>have few words with high frequencies</a:t>
            </a:r>
          </a:p>
          <a:p>
            <a:pPr marL="216000" indent="-216000">
              <a:buClr>
                <a:srgbClr val="00B0F0"/>
              </a:buClr>
              <a:buFont typeface="Wingdings" panose="05000000000000000000" pitchFamily="2" charset="2"/>
              <a:buChar char="§"/>
            </a:pPr>
            <a:r>
              <a:rPr lang="en-US" sz="1400" noProof="0" dirty="0"/>
              <a:t>are often affected by missing search fields</a:t>
            </a:r>
          </a:p>
          <a:p>
            <a:pPr marL="216000" indent="-216000">
              <a:buClr>
                <a:srgbClr val="00B0F0"/>
              </a:buClr>
              <a:buFont typeface="Wingdings" panose="05000000000000000000" pitchFamily="2" charset="2"/>
              <a:buChar char="§"/>
            </a:pPr>
            <a:r>
              <a:rPr lang="en-US" sz="1400" noProof="0" dirty="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noProof="0" dirty="0"/>
              <a:t>This leads to…</a:t>
            </a:r>
          </a:p>
          <a:p>
            <a:pPr marL="216000" indent="-216000">
              <a:buClr>
                <a:srgbClr val="00B0F0"/>
              </a:buClr>
              <a:buFont typeface="Calibri" panose="020F0502020204030204" pitchFamily="34" charset="0"/>
              <a:buChar char="→"/>
            </a:pPr>
            <a:r>
              <a:rPr lang="en-US" sz="1400" noProof="0" dirty="0"/>
              <a:t>bloated candidate lists of unrelated false positives</a:t>
            </a:r>
          </a:p>
          <a:p>
            <a:pPr marL="216000" indent="-216000">
              <a:buClr>
                <a:srgbClr val="00B0F0"/>
              </a:buClr>
              <a:buFont typeface="Calibri" panose="020F0502020204030204" pitchFamily="34" charset="0"/>
              <a:buChar char="→"/>
            </a:pPr>
            <a:r>
              <a:rPr lang="en-US" sz="1400" noProof="0" dirty="0"/>
              <a:t>ambiguous candidates without variance in the identity</a:t>
            </a:r>
          </a:p>
          <a:p>
            <a:pPr marL="216000" indent="-216000">
              <a:buClr>
                <a:srgbClr val="00B0F0"/>
              </a:buClr>
              <a:buFont typeface="Calibri" panose="020F0502020204030204" pitchFamily="34" charset="0"/>
              <a:buChar char="→"/>
            </a:pPr>
            <a:r>
              <a:rPr lang="en-US" sz="1400" noProof="0" dirty="0"/>
              <a:t>waste of time trying to find true positives</a:t>
            </a:r>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noProof="0" dirty="0"/>
              <a:t>Potential solution</a:t>
            </a:r>
          </a:p>
          <a:p>
            <a:pPr marL="216000" indent="-216000">
              <a:buClr>
                <a:srgbClr val="00B0F0"/>
              </a:buClr>
              <a:buFont typeface="+mj-lt"/>
              <a:buAutoNum type="arabicPeriod"/>
            </a:pPr>
            <a:r>
              <a:rPr lang="en-US" sz="1400" noProof="0" dirty="0"/>
              <a:t>Sort candidates by identity in descending order</a:t>
            </a:r>
          </a:p>
          <a:p>
            <a:pPr marL="216000" indent="-216000">
              <a:buClr>
                <a:srgbClr val="00B0F0"/>
              </a:buClr>
              <a:buFont typeface="+mj-lt"/>
              <a:buAutoNum type="arabicPeriod"/>
            </a:pPr>
            <a:r>
              <a:rPr lang="en-US" sz="1400" noProof="0" dirty="0"/>
              <a:t>All candidates down to a cutoff point are deemed plausible, i.e. top 10 candidates</a:t>
            </a:r>
          </a:p>
          <a:p>
            <a:pPr marL="216000" indent="-216000">
              <a:buClr>
                <a:srgbClr val="00B0F0"/>
              </a:buClr>
              <a:buFont typeface="+mj-lt"/>
              <a:buAutoNum type="arabicPeriod"/>
            </a:pPr>
            <a:r>
              <a:rPr lang="en-US" sz="1400" noProof="0" dirty="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noProof="0" dirty="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6" name="Tabelle 5"/>
          <p:cNvGraphicFramePr>
            <a:graphicFrameLocks noGrp="1"/>
          </p:cNvGraphicFramePr>
          <p:nvPr>
            <p:extLst>
              <p:ext uri="{D42A27DB-BD31-4B8C-83A1-F6EECF244321}">
                <p14:modId xmlns:p14="http://schemas.microsoft.com/office/powerpoint/2010/main" val="580062553"/>
              </p:ext>
            </p:extLst>
          </p:nvPr>
        </p:nvGraphicFramePr>
        <p:xfrm>
          <a:off x="181632" y="654749"/>
          <a:ext cx="7419271" cy="180000"/>
        </p:xfrm>
        <a:graphic>
          <a:graphicData uri="http://schemas.openxmlformats.org/drawingml/2006/table">
            <a:tbl>
              <a:tblPr/>
              <a:tblGrid>
                <a:gridCol w="468000">
                  <a:extLst>
                    <a:ext uri="{9D8B030D-6E8A-4147-A177-3AD203B41FA5}">
                      <a16:colId xmlns:a16="http://schemas.microsoft.com/office/drawing/2014/main" val="20000"/>
                    </a:ext>
                  </a:extLst>
                </a:gridCol>
                <a:gridCol w="3887671">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180000">
                <a:tc>
                  <a:txBody>
                    <a:bodyPr/>
                    <a:lstStyle/>
                    <a:p>
                      <a:pPr algn="ctr" fontAlgn="b"/>
                      <a:r>
                        <a:rPr lang="en-US" sz="900" b="0" i="0" u="none" strike="noStrike" noProof="0" dirty="0">
                          <a:solidFill>
                            <a:srgbClr val="000000"/>
                          </a:solidFill>
                          <a:effectLst/>
                          <a:latin typeface="Calibri" panose="020F0502020204030204" pitchFamily="34" charset="0"/>
                        </a:rPr>
                        <a:t>identity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
        <p:nvSpPr>
          <p:cNvPr id="2" name="Titel 1"/>
          <p:cNvSpPr>
            <a:spLocks noGrp="1"/>
          </p:cNvSpPr>
          <p:nvPr>
            <p:ph type="title"/>
          </p:nvPr>
        </p:nvSpPr>
        <p:spPr/>
        <p:txBody>
          <a:bodyPr/>
          <a:lstStyle/>
          <a:p>
            <a:r>
              <a:rPr lang="en-US" noProof="0" dirty="0"/>
              <a:t>Weak Search Terms: Berlin GmbH, Berlin</a:t>
            </a:r>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en-US" noProof="0" dirty="0"/>
              <a:t>Jaccard P. (1902), </a:t>
            </a:r>
            <a:r>
              <a:rPr lang="en-US" sz="1800" noProof="0" dirty="0"/>
              <a:t>`Lois de distribution </a:t>
            </a:r>
            <a:r>
              <a:rPr lang="en-US" sz="1800" noProof="0" dirty="0" err="1"/>
              <a:t>florale</a:t>
            </a:r>
            <a:r>
              <a:rPr lang="en-US" sz="1800" noProof="0" dirty="0"/>
              <a:t> dans la zone alpine´, Bulletin de la Société </a:t>
            </a:r>
            <a:r>
              <a:rPr lang="en-US" sz="1800" noProof="0" dirty="0" err="1"/>
              <a:t>Vaudoise</a:t>
            </a:r>
            <a:r>
              <a:rPr lang="en-US" sz="1800" noProof="0" dirty="0"/>
              <a:t> des Sciences </a:t>
            </a:r>
            <a:r>
              <a:rPr lang="en-US" sz="1800" noProof="0" dirty="0" err="1"/>
              <a:t>Naturelles</a:t>
            </a:r>
            <a:endParaRPr lang="en-US" sz="1800" noProof="0" dirty="0"/>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12</a:t>
            </a:fld>
            <a:endParaRPr lang="en-US" noProof="0"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
                      <m:r>
                        <a:rPr lang="en-US" sz="2400" b="0" i="1" noProof="0" smtClean="0">
                          <a:solidFill>
                            <a:schemeClr val="bg1"/>
                          </a:solidFill>
                          <a:latin typeface="Cambria Math"/>
                        </a:rPr>
                        <m:t>𝐼</m:t>
                      </m:r>
                      <m:d>
                        <m:dPr>
                          <m:ctrlPr>
                            <a:rPr lang="en-US" sz="2400" b="0" i="1" noProof="0" smtClean="0">
                              <a:latin typeface="Cambria Math"/>
                            </a:rPr>
                          </m:ctrlPr>
                        </m:dPr>
                        <m:e>
                          <m:r>
                            <a:rPr lang="en-US" sz="2400" b="0" i="1" noProof="0" smtClean="0">
                              <a:latin typeface="Cambria Math"/>
                            </a:rPr>
                            <m:t>𝑆</m:t>
                          </m:r>
                          <m:r>
                            <a:rPr lang="en-US" sz="2400" b="0" i="1" noProof="0" smtClean="0">
                              <a:latin typeface="Cambria Math"/>
                            </a:rPr>
                            <m:t>,</m:t>
                          </m:r>
                          <m:r>
                            <a:rPr lang="en-US" sz="2400" b="0" i="1" noProof="0" smtClean="0">
                              <a:latin typeface="Cambria Math"/>
                            </a:rPr>
                            <m:t>𝐹</m:t>
                          </m:r>
                        </m:e>
                      </m:d>
                      <m:r>
                        <a:rPr lang="en-US" sz="2400" b="0" i="1" noProof="0" smtClean="0">
                          <a:latin typeface="Cambria Math"/>
                        </a:rPr>
                        <m:t>=</m:t>
                      </m:r>
                      <m:f>
                        <m:fPr>
                          <m:ctrlPr>
                            <a:rPr lang="en-US" sz="2400" b="0" i="1" noProof="0" smtClean="0">
                              <a:latin typeface="Cambria Math"/>
                            </a:rPr>
                          </m:ctrlPr>
                        </m:fPr>
                        <m:num>
                          <m:r>
                            <a:rPr lang="en-US" sz="2400" b="0" i="1" noProof="0" smtClean="0">
                              <a:latin typeface="Cambria Math"/>
                            </a:rPr>
                            <m:t>|</m:t>
                          </m:r>
                          <m:d>
                            <m:dPr>
                              <m:begChr m:val="{"/>
                              <m:endChr m:val="}"/>
                              <m:ctrlPr>
                                <a:rPr lang="en-US" sz="2400" b="0" i="1" noProof="0" smtClean="0">
                                  <a:latin typeface="Cambria Math"/>
                                </a:rPr>
                              </m:ctrlPr>
                            </m:dPr>
                            <m:e>
                              <m:r>
                                <a:rPr lang="en-US" sz="2400" b="0" i="1" noProof="0" smtClean="0">
                                  <a:latin typeface="Cambria Math"/>
                                </a:rPr>
                                <m:t>𝑆</m:t>
                              </m:r>
                              <m:r>
                                <a:rPr lang="en-US" sz="2400" b="0" i="1" noProof="0" smtClean="0">
                                  <a:latin typeface="Cambria Math"/>
                                  <a:ea typeface="Cambria Math"/>
                                </a:rPr>
                                <m:t>∩</m:t>
                              </m:r>
                              <m:r>
                                <a:rPr lang="en-US" sz="2400" b="0" i="1" noProof="0" smtClean="0">
                                  <a:latin typeface="Cambria Math"/>
                                  <a:ea typeface="Cambria Math"/>
                                </a:rPr>
                                <m:t>𝐹</m:t>
                              </m:r>
                            </m:e>
                          </m:d>
                          <m:r>
                            <a:rPr lang="en-US" sz="2400" b="0" i="1" noProof="0" smtClean="0">
                              <a:latin typeface="Cambria Math"/>
                              <a:ea typeface="Cambria Math"/>
                            </a:rPr>
                            <m:t>|</m:t>
                          </m:r>
                        </m:num>
                        <m:den>
                          <m:r>
                            <a:rPr lang="en-US" sz="2400" b="0" i="1" noProof="0" smtClean="0">
                              <a:solidFill>
                                <a:schemeClr val="bg1"/>
                              </a:solidFill>
                              <a:latin typeface="Cambria Math"/>
                            </a:rPr>
                            <m:t>|</m:t>
                          </m:r>
                          <m:d>
                            <m:dPr>
                              <m:begChr m:val="{"/>
                              <m:endChr m:val="}"/>
                              <m:ctrlPr>
                                <a:rPr lang="en-US" sz="2400" b="0" i="1" noProof="0" smtClean="0">
                                  <a:solidFill>
                                    <a:schemeClr val="bg1"/>
                                  </a:solidFill>
                                  <a:latin typeface="Cambria Math"/>
                                </a:rPr>
                              </m:ctrlPr>
                            </m:dPr>
                            <m:e>
                              <m:r>
                                <a:rPr lang="en-US" sz="2400" b="0" i="1" noProof="0" smtClean="0">
                                  <a:solidFill>
                                    <a:schemeClr val="bg1"/>
                                  </a:solidFill>
                                  <a:latin typeface="Cambria Math"/>
                                </a:rPr>
                                <m:t>𝑆</m:t>
                              </m:r>
                            </m:e>
                          </m:d>
                          <m:r>
                            <a:rPr lang="en-US" sz="2400" b="0" i="1" noProof="0" smtClean="0">
                              <a:solidFill>
                                <a:schemeClr val="bg1"/>
                              </a:solidFill>
                              <a:latin typeface="Cambria Math"/>
                              <a:ea typeface="Cambria Math"/>
                            </a:rPr>
                            <m:t>|</m:t>
                          </m:r>
                        </m:den>
                      </m:f>
                    </m:oMath>
                  </m:oMathPara>
                </a14:m>
                <a:endParaRPr lang="en-US" sz="2400" b="0" noProof="0" dirty="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noProof="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noProof="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noProof="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noProof="0" dirty="0">
                <a:latin typeface="Cambria Math" panose="02040503050406030204" pitchFamily="18" charset="0"/>
                <a:ea typeface="Cambria Math" panose="02040503050406030204" pitchFamily="18" charset="0"/>
              </a:rPr>
              <a:t>4</a:t>
            </a: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noProof="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noProof="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noProof="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noProof="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noProof="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noProof="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noProof="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noProof="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noProof="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noProof="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noProof="0" dirty="0">
                  <a:solidFill>
                    <a:srgbClr val="00AAE5"/>
                  </a:solidFill>
                  <a:latin typeface="Cambria Math" panose="02040503050406030204" pitchFamily="18" charset="0"/>
                  <a:ea typeface="Cambria Math" panose="02040503050406030204" pitchFamily="18" charset="0"/>
                </a:rPr>
                <a:t>3</a:t>
              </a: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noProof="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noProof="0" dirty="0">
                  <a:latin typeface="Harrington" panose="04040505050A02020702" pitchFamily="82" charset="0"/>
                </a:rPr>
                <a:t>S</a:t>
              </a:r>
              <a:r>
                <a:rPr lang="en-US" noProof="0" dirty="0">
                  <a:latin typeface="Harrington" panose="04040505050A02020702" pitchFamily="82" charset="0"/>
                </a:rPr>
                <a:t>earched Flower</a:t>
              </a: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noProof="0" dirty="0">
                    <a:latin typeface="Harrington" panose="04040505050A02020702" pitchFamily="82" charset="0"/>
                  </a:rPr>
                  <a:t>F</a:t>
                </a:r>
                <a:endParaRPr lang="en-US" noProof="0"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noProof="0" dirty="0" err="1">
                    <a:latin typeface="Harrington" panose="04040505050A02020702" pitchFamily="82" charset="0"/>
                  </a:rPr>
                  <a:t>ound</a:t>
                </a:r>
                <a:r>
                  <a:rPr lang="en-US" noProof="0" dirty="0">
                    <a:latin typeface="Harrington" panose="04040505050A02020702" pitchFamily="82" charset="0"/>
                  </a:rPr>
                  <a:t> Flower</a:t>
                </a: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
                      <m:r>
                        <a:rPr lang="en-US" sz="2400" i="1" noProof="0" smtClean="0">
                          <a:latin typeface="Cambria Math"/>
                        </a:rPr>
                        <m:t>|</m:t>
                      </m:r>
                      <m:d>
                        <m:dPr>
                          <m:begChr m:val="{"/>
                          <m:endChr m:val=""/>
                          <m:ctrlPr>
                            <a:rPr lang="en-US" sz="2400" b="0" i="1" noProof="0" smtClean="0">
                              <a:latin typeface="Cambria Math"/>
                            </a:rPr>
                          </m:ctrlPr>
                        </m:dPr>
                        <m:e>
                          <m:r>
                            <a:rPr lang="en-US" sz="2400" b="0" i="1" noProof="0" smtClean="0">
                              <a:latin typeface="Cambria Math"/>
                            </a:rPr>
                            <m:t>𝑆</m:t>
                          </m:r>
                        </m:e>
                      </m:d>
                    </m:oMath>
                  </m:oMathPara>
                </a14:m>
                <a:endParaRPr lang="en-US" noProof="0"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a:rPr>
                        <m:t>}|</m:t>
                      </m:r>
                    </m:oMath>
                  </m:oMathPara>
                </a14:m>
                <a:endParaRPr lang="en-US" sz="2400" noProof="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
                      <m:r>
                        <a:rPr lang="en-US" sz="2400" i="1" noProof="0" smtClean="0">
                          <a:solidFill>
                            <a:srgbClr val="00AAE5"/>
                          </a:solidFill>
                          <a:latin typeface="Cambria Math"/>
                          <a:ea typeface="Cambria Math"/>
                        </a:rPr>
                        <m:t>∪</m:t>
                      </m:r>
                      <m:r>
                        <a:rPr lang="en-US" sz="2400" i="1" noProof="0" smtClean="0">
                          <a:solidFill>
                            <a:srgbClr val="00AAE5"/>
                          </a:solidFill>
                          <a:latin typeface="Cambria Math"/>
                          <a:ea typeface="Cambria Math"/>
                        </a:rPr>
                        <m:t>𝐹</m:t>
                      </m:r>
                    </m:oMath>
                  </m:oMathPara>
                </a14:m>
                <a:endParaRPr lang="en-US" sz="2400" noProof="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
                      <m:r>
                        <a:rPr lang="en-US" sz="2400" b="0" i="1" noProof="0" smtClean="0">
                          <a:solidFill>
                            <a:srgbClr val="00AAE5"/>
                          </a:solidFill>
                          <a:latin typeface="Cambria Math"/>
                        </a:rPr>
                        <m:t>𝐽</m:t>
                      </m:r>
                    </m:oMath>
                  </m:oMathPara>
                </a14:m>
                <a:endParaRPr lang="en-US" sz="2400" noProof="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
                      <m:r>
                        <a:rPr lang="en-US" sz="2400" i="1" noProof="0" smtClean="0">
                          <a:latin typeface="Cambria Math"/>
                        </a:rPr>
                        <m:t>𝐼</m:t>
                      </m:r>
                    </m:oMath>
                  </m:oMathPara>
                </a14:m>
                <a:endParaRPr lang="en-US" sz="2400" noProof="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noProof="0" dirty="0">
                <a:solidFill>
                  <a:srgbClr val="00AAE5"/>
                </a:solidFill>
                <a:latin typeface="Cambria Math" panose="02040503050406030204" pitchFamily="18" charset="0"/>
                <a:ea typeface="Cambria Math" panose="02040503050406030204" pitchFamily="18" charset="0"/>
              </a:rPr>
              <a:t>feedback</a:t>
            </a: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
                      <m:sSub>
                        <m:sSubPr>
                          <m:ctrlPr>
                            <a:rPr lang="en-US" sz="2400" b="0" i="1" noProof="0" smtClean="0">
                              <a:solidFill>
                                <a:schemeClr val="tx1"/>
                              </a:solidFill>
                              <a:latin typeface="Cambria Math" panose="02040503050406030204" pitchFamily="18" charset="0"/>
                            </a:rPr>
                          </m:ctrlPr>
                        </m:sSubPr>
                        <m:e>
                          <m:r>
                            <a:rPr lang="en-US" sz="2400" b="0" i="1" noProof="0" smtClean="0">
                              <a:solidFill>
                                <a:schemeClr val="tx1"/>
                              </a:solidFill>
                              <a:latin typeface="Cambria Math" panose="02040503050406030204" pitchFamily="18" charset="0"/>
                            </a:rPr>
                            <m:t>𝐼</m:t>
                          </m:r>
                        </m:e>
                        <m:sub>
                          <m:r>
                            <a:rPr lang="en-US" sz="2400" b="0" i="1" noProof="0" smtClean="0">
                              <a:solidFill>
                                <a:srgbClr val="00B0F0"/>
                              </a:solidFill>
                              <a:latin typeface="Cambria Math" panose="02040503050406030204" pitchFamily="18" charset="0"/>
                            </a:rPr>
                            <m:t>𝐽</m:t>
                          </m:r>
                        </m:sub>
                      </m:sSub>
                      <m:d>
                        <m:dPr>
                          <m:ctrlPr>
                            <a:rPr lang="en-US" sz="2400" b="0" i="1" noProof="0" smtClean="0">
                              <a:latin typeface="Cambria Math"/>
                            </a:rPr>
                          </m:ctrlPr>
                        </m:dPr>
                        <m:e>
                          <m:r>
                            <a:rPr lang="en-US" sz="2400" b="0" i="1" noProof="0" smtClean="0">
                              <a:latin typeface="Cambria Math"/>
                            </a:rPr>
                            <m:t>𝑆</m:t>
                          </m:r>
                          <m:r>
                            <a:rPr lang="en-US" sz="2400" b="0" i="1" noProof="0" smtClean="0">
                              <a:latin typeface="Cambria Math"/>
                            </a:rPr>
                            <m:t>,</m:t>
                          </m:r>
                          <m:r>
                            <a:rPr lang="en-US" sz="2400" b="0" i="1" noProof="0" smtClean="0">
                              <a:latin typeface="Cambria Math"/>
                            </a:rPr>
                            <m:t>𝐹</m:t>
                          </m:r>
                          <m:r>
                            <a:rPr lang="en-US" sz="2400" b="0" i="1" noProof="0" smtClean="0">
                              <a:latin typeface="Cambria Math" panose="02040503050406030204" pitchFamily="18" charset="0"/>
                            </a:rPr>
                            <m:t>,</m:t>
                          </m:r>
                          <m:r>
                            <a:rPr lang="en-US" sz="2400" b="0" i="1" noProof="0" smtClean="0">
                              <a:solidFill>
                                <a:srgbClr val="00B0F0"/>
                              </a:solidFill>
                              <a:latin typeface="Cambria Math" panose="02040503050406030204" pitchFamily="18" charset="0"/>
                            </a:rPr>
                            <m:t>𝑓</m:t>
                          </m:r>
                        </m:e>
                      </m:d>
                      <m:r>
                        <a:rPr lang="en-US" sz="2400" b="0" i="1" noProof="0" smtClean="0">
                          <a:latin typeface="Cambria Math"/>
                        </a:rPr>
                        <m:t>=</m:t>
                      </m:r>
                      <m:r>
                        <a:rPr lang="en-US" sz="2400" b="0" i="1" noProof="0" smtClean="0">
                          <a:latin typeface="Cambria Math" panose="02040503050406030204" pitchFamily="18" charset="0"/>
                        </a:rPr>
                        <m:t>𝐼</m:t>
                      </m:r>
                      <m:d>
                        <m:dPr>
                          <m:ctrlPr>
                            <a:rPr lang="en-US" sz="2400" b="0" i="1" noProof="0" smtClean="0">
                              <a:latin typeface="Cambria Math" panose="02040503050406030204" pitchFamily="18" charset="0"/>
                            </a:rPr>
                          </m:ctrlPr>
                        </m:dPr>
                        <m:e>
                          <m:r>
                            <a:rPr lang="en-US" sz="2400" b="0" i="1" noProof="0" smtClean="0">
                              <a:latin typeface="Cambria Math" panose="02040503050406030204" pitchFamily="18" charset="0"/>
                            </a:rPr>
                            <m:t>𝑆</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𝐹</m:t>
                          </m:r>
                        </m:e>
                      </m:d>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1−</m:t>
                          </m:r>
                          <m:r>
                            <a:rPr lang="en-US" sz="2400" i="1" noProof="0" smtClean="0">
                              <a:solidFill>
                                <a:srgbClr val="00B0F0"/>
                              </a:solidFill>
                              <a:latin typeface="Cambria Math" panose="02040503050406030204" pitchFamily="18" charset="0"/>
                            </a:rPr>
                            <m:t>𝑓</m:t>
                          </m:r>
                        </m:e>
                      </m:d>
                      <m:r>
                        <a:rPr lang="en-US" sz="2400" b="0" i="1" noProof="0" smtClean="0">
                          <a:latin typeface="Cambria Math" panose="02040503050406030204" pitchFamily="18" charset="0"/>
                        </a:rPr>
                        <m:t>+</m:t>
                      </m:r>
                      <m:r>
                        <a:rPr lang="en-US" sz="2400" b="0" i="1" noProof="0" smtClean="0">
                          <a:latin typeface="Cambria Math" panose="02040503050406030204" pitchFamily="18" charset="0"/>
                        </a:rPr>
                        <m:t>𝐽</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𝑆</m:t>
                          </m:r>
                          <m:r>
                            <a:rPr lang="en-US" sz="2400" i="1" noProof="0" smtClean="0">
                              <a:latin typeface="Cambria Math" panose="02040503050406030204" pitchFamily="18" charset="0"/>
                            </a:rPr>
                            <m:t>,</m:t>
                          </m:r>
                          <m:r>
                            <a:rPr lang="en-US" sz="2400" i="1" noProof="0" smtClean="0">
                              <a:latin typeface="Cambria Math" panose="02040503050406030204" pitchFamily="18" charset="0"/>
                            </a:rPr>
                            <m:t>𝐹</m:t>
                          </m:r>
                        </m:e>
                      </m:d>
                      <m:r>
                        <a:rPr lang="en-US" sz="2400" b="0" i="1" noProof="0" smtClean="0">
                          <a:solidFill>
                            <a:srgbClr val="00B0F0"/>
                          </a:solidFill>
                          <a:latin typeface="Cambria Math" panose="02040503050406030204" pitchFamily="18" charset="0"/>
                        </a:rPr>
                        <m:t>𝑓</m:t>
                      </m:r>
                    </m:oMath>
                  </m:oMathPara>
                </a14:m>
                <a:endParaRPr lang="en-US" sz="2400" b="0" noProof="0" dirty="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
                      <m:r>
                        <a:rPr lang="en-US" sz="2400" b="0" i="1" noProof="0" smtClean="0">
                          <a:solidFill>
                            <a:srgbClr val="00B0F0"/>
                          </a:solidFill>
                          <a:latin typeface="Cambria Math" panose="02040503050406030204" pitchFamily="18" charset="0"/>
                        </a:rPr>
                        <m:t>𝑓</m:t>
                      </m:r>
                      <m:r>
                        <a:rPr lang="en-US" sz="2400" b="0" i="1" noProof="0" smtClean="0">
                          <a:solidFill>
                            <a:schemeClr val="tx1"/>
                          </a:solidFill>
                          <a:latin typeface="Cambria Math" panose="02040503050406030204" pitchFamily="18" charset="0"/>
                          <a:ea typeface="Cambria Math" panose="02040503050406030204" pitchFamily="18" charset="0"/>
                        </a:rPr>
                        <m:t>∈</m:t>
                      </m:r>
                      <m:d>
                        <m:dPr>
                          <m:begChr m:val="["/>
                          <m:endChr m:val="]"/>
                          <m:ctrlPr>
                            <a:rPr lang="en-US" sz="2400" b="0" i="1" noProof="0" smtClean="0">
                              <a:solidFill>
                                <a:schemeClr val="tx1"/>
                              </a:solidFill>
                              <a:latin typeface="Cambria Math" panose="02040503050406030204" pitchFamily="18" charset="0"/>
                              <a:ea typeface="Cambria Math" panose="02040503050406030204" pitchFamily="18" charset="0"/>
                            </a:rPr>
                          </m:ctrlPr>
                        </m:dPr>
                        <m:e>
                          <m:r>
                            <a:rPr lang="en-US" sz="2400" b="0" i="1" noProof="0" smtClean="0">
                              <a:solidFill>
                                <a:schemeClr val="tx1"/>
                              </a:solidFill>
                              <a:latin typeface="Cambria Math" panose="02040503050406030204" pitchFamily="18" charset="0"/>
                              <a:ea typeface="Cambria Math" panose="02040503050406030204" pitchFamily="18" charset="0"/>
                            </a:rPr>
                            <m:t>0,1</m:t>
                          </m:r>
                        </m:e>
                      </m:d>
                    </m:oMath>
                  </m:oMathPara>
                </a14:m>
                <a:endParaRPr lang="en-US" sz="2400" b="0" noProof="0" dirty="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91901010"/>
              </p:ext>
            </p:extLst>
          </p:nvPr>
        </p:nvGraphicFramePr>
        <p:xfrm>
          <a:off x="180000" y="720000"/>
          <a:ext cx="7419600" cy="9753600"/>
        </p:xfrm>
        <a:graphic>
          <a:graphicData uri="http://schemas.openxmlformats.org/drawingml/2006/table">
            <a:tbl>
              <a:tblPr/>
              <a:tblGrid>
                <a:gridCol w="468000">
                  <a:extLst>
                    <a:ext uri="{9D8B030D-6E8A-4147-A177-3AD203B41FA5}">
                      <a16:colId xmlns:a16="http://schemas.microsoft.com/office/drawing/2014/main" val="20000"/>
                    </a:ext>
                  </a:extLst>
                </a:gridCol>
                <a:gridCol w="3888000">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68858">
                <a:tc>
                  <a:txBody>
                    <a:bodyPr/>
                    <a:lstStyle/>
                    <a:p>
                      <a:pPr algn="ctr" fontAlgn="b"/>
                      <a:r>
                        <a:rPr lang="en-US" sz="800" b="0" i="0" u="none" strike="noStrike" noProof="0" dirty="0">
                          <a:solidFill>
                            <a:srgbClr val="000000"/>
                          </a:solidFill>
                          <a:effectLst/>
                          <a:latin typeface="Calibri" panose="020F0502020204030204" pitchFamily="34" charset="0"/>
                        </a:rPr>
                        <a:t>identity</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extLst>
                  <a:ext uri="{0D108BD9-81ED-4DB2-BD59-A6C34878D82A}">
                    <a16:rowId xmlns:a16="http://schemas.microsoft.com/office/drawing/2014/main" val="1000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Oudenarder</a:t>
                      </a:r>
                      <a:r>
                        <a:rPr lang="en-US" sz="800" b="0" i="0" u="none" strike="noStrike" noProof="0"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Oranienburger</a:t>
                      </a:r>
                      <a:r>
                        <a:rPr lang="en-US" sz="800" b="0" i="0" u="none" strike="noStrike" noProof="0" dirty="0">
                          <a:solidFill>
                            <a:srgbClr val="000000"/>
                          </a:solidFill>
                          <a:effectLst/>
                          <a:latin typeface="Calibri" panose="020F0502020204030204" pitchFamily="34" charset="0"/>
                        </a:rPr>
                        <a:t> Str. 35/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Kottmeierstr</a:t>
                      </a:r>
                      <a:r>
                        <a:rPr lang="en-US" sz="800" b="0" i="0" u="none" strike="noStrike" noProof="0" dirty="0">
                          <a:solidFill>
                            <a:srgbClr val="000000"/>
                          </a:solidFill>
                          <a:effectLst/>
                          <a:latin typeface="Calibri" panose="020F0502020204030204" pitchFamily="34" charset="0"/>
                        </a:rPr>
                        <a:t>. 1- 3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29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GbR</a:t>
                      </a:r>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 den </a:t>
                      </a:r>
                      <a:r>
                        <a:rPr lang="en-US" sz="800" b="0" i="0" u="none" strike="noStrike" noProof="0" dirty="0" err="1">
                          <a:solidFill>
                            <a:srgbClr val="000000"/>
                          </a:solidFill>
                          <a:effectLst/>
                          <a:latin typeface="Calibri" panose="020F0502020204030204" pitchFamily="34" charset="0"/>
                        </a:rPr>
                        <a:t>Bänken</a:t>
                      </a:r>
                      <a:r>
                        <a:rPr lang="en-US" sz="800" b="0" i="0" u="none" strike="noStrike" noProof="0" dirty="0">
                          <a:solidFill>
                            <a:srgbClr val="000000"/>
                          </a:solidFill>
                          <a:effectLst/>
                          <a:latin typeface="Calibri" panose="020F0502020204030204" pitchFamily="34" charset="0"/>
                        </a:rPr>
                        <a:t> 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Saarbrücker</a:t>
                      </a:r>
                      <a:r>
                        <a:rPr lang="en-US" sz="800" b="0" i="0" u="none" strike="noStrike" noProof="0" dirty="0">
                          <a:solidFill>
                            <a:srgbClr val="000000"/>
                          </a:solidFill>
                          <a:effectLst/>
                          <a:latin typeface="Calibri" panose="020F0502020204030204" pitchFamily="34" charset="0"/>
                        </a:rPr>
                        <a:t> Str.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Baugesellschaft</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Pfalzburger</a:t>
                      </a:r>
                      <a:r>
                        <a:rPr lang="en-US" sz="800" b="0" i="0" u="none" strike="noStrike" noProof="0" dirty="0">
                          <a:solidFill>
                            <a:srgbClr val="000000"/>
                          </a:solidFill>
                          <a:effectLst/>
                          <a:latin typeface="Calibri" panose="020F0502020204030204" pitchFamily="34" charset="0"/>
                        </a:rPr>
                        <a:t> Str. 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SE Berlin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Pichelswerderstr</a:t>
                      </a:r>
                      <a:r>
                        <a:rPr lang="en-US" sz="800" b="0" i="0" u="none" strike="noStrike" noProof="0" dirty="0">
                          <a:solidFill>
                            <a:srgbClr val="000000"/>
                          </a:solidFill>
                          <a:effectLst/>
                          <a:latin typeface="Calibri" panose="020F0502020204030204" pitchFamily="34" charset="0"/>
                        </a:rPr>
                        <a:t>. 3-5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Bau und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Lindenstr</a:t>
                      </a:r>
                      <a:r>
                        <a:rPr lang="en-US" sz="800" b="0" i="0" u="none" strike="noStrike" noProof="0" dirty="0">
                          <a:solidFill>
                            <a:srgbClr val="000000"/>
                          </a:solidFill>
                          <a:effectLst/>
                          <a:latin typeface="Calibri" panose="020F0502020204030204" pitchFamily="34" charset="0"/>
                        </a:rPr>
                        <a:t>.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Bürgerstr</a:t>
                      </a:r>
                      <a:r>
                        <a:rPr lang="en-US" sz="800" b="0" i="0" u="none" strike="noStrike" noProof="0" dirty="0">
                          <a:solidFill>
                            <a:srgbClr val="000000"/>
                          </a:solidFill>
                          <a:effectLst/>
                          <a:latin typeface="Calibri" panose="020F0502020204030204" pitchFamily="34" charset="0"/>
                        </a:rPr>
                        <a:t>. 25- 27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Brauhofstr</a:t>
                      </a:r>
                      <a:r>
                        <a:rPr lang="en-US" sz="800" b="0" i="0" u="none" strike="noStrike" noProof="0" dirty="0">
                          <a:solidFill>
                            <a:srgbClr val="000000"/>
                          </a:solidFill>
                          <a:effectLst/>
                          <a:latin typeface="Calibri" panose="020F0502020204030204" pitchFamily="34" charset="0"/>
                        </a:rPr>
                        <a:t>. 4a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Service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Lampesteig</a:t>
                      </a:r>
                      <a:r>
                        <a:rPr lang="en-US" sz="800" b="0" i="0" u="none" strike="noStrike" noProof="0" dirty="0">
                          <a:solidFill>
                            <a:srgbClr val="000000"/>
                          </a:solidFill>
                          <a:effectLst/>
                          <a:latin typeface="Calibri" panose="020F0502020204030204" pitchFamily="34" charset="0"/>
                        </a:rPr>
                        <a:t> 10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Hönower</a:t>
                      </a:r>
                      <a:r>
                        <a:rPr lang="en-US" sz="800" b="0" i="0" u="none" strike="noStrike" noProof="0" dirty="0">
                          <a:solidFill>
                            <a:srgbClr val="000000"/>
                          </a:solidFill>
                          <a:effectLst/>
                          <a:latin typeface="Calibri" panose="020F0502020204030204" pitchFamily="34" charset="0"/>
                        </a:rPr>
                        <a:t> Str. 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Jürgen Berlin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Sagritzer</a:t>
                      </a:r>
                      <a:r>
                        <a:rPr lang="en-US" sz="800" b="0" i="0" u="none" strike="noStrike" noProof="0" dirty="0">
                          <a:solidFill>
                            <a:srgbClr val="000000"/>
                          </a:solidFill>
                          <a:effectLst/>
                          <a:latin typeface="Calibri" panose="020F0502020204030204" pitchFamily="34" charset="0"/>
                        </a:rPr>
                        <a:t> Weg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Randowstr</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KG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-mbH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GmbH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Taubenstr</a:t>
                      </a:r>
                      <a:r>
                        <a:rPr lang="en-US" sz="800" b="0" i="0" u="none" strike="noStrike" noProof="0" dirty="0">
                          <a:solidFill>
                            <a:srgbClr val="000000"/>
                          </a:solidFill>
                          <a:effectLst/>
                          <a:latin typeface="Calibri" panose="020F0502020204030204" pitchFamily="34" charset="0"/>
                        </a:rPr>
                        <a:t>. 19-23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Hochkönigweg</a:t>
                      </a:r>
                      <a:r>
                        <a:rPr lang="en-US" sz="800" b="0" i="0" u="none" strike="noStrike" noProof="0" dirty="0">
                          <a:solidFill>
                            <a:srgbClr val="000000"/>
                          </a:solidFill>
                          <a:effectLst/>
                          <a:latin typeface="Calibri" panose="020F0502020204030204" pitchFamily="34" charset="0"/>
                        </a:rPr>
                        <a:t> 44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Trockenbau</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Küstriner</a:t>
                      </a:r>
                      <a:r>
                        <a:rPr lang="en-US" sz="800" b="0" i="0" u="none" strike="noStrike" noProof="0" dirty="0">
                          <a:solidFill>
                            <a:srgbClr val="000000"/>
                          </a:solidFill>
                          <a:effectLst/>
                          <a:latin typeface="Calibri" panose="020F0502020204030204" pitchFamily="34" charset="0"/>
                        </a:rPr>
                        <a:t> Str. 7- 8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Mühlenstr</a:t>
                      </a:r>
                      <a:r>
                        <a:rPr lang="en-US" sz="800" b="0" i="0" u="none" strike="noStrike" noProof="0" dirty="0">
                          <a:solidFill>
                            <a:srgbClr val="000000"/>
                          </a:solidFill>
                          <a:effectLst/>
                          <a:latin typeface="Calibri" panose="020F0502020204030204" pitchFamily="34" charset="0"/>
                        </a:rPr>
                        <a:t>. 8a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Michael Berlin </a:t>
                      </a:r>
                      <a:r>
                        <a:rPr lang="en-US" sz="800" b="0" i="0" u="none" strike="noStrike" noProof="0" dirty="0" err="1">
                          <a:solidFill>
                            <a:srgbClr val="000000"/>
                          </a:solidFill>
                          <a:effectLst/>
                          <a:latin typeface="Calibri" panose="020F0502020204030204" pitchFamily="34" charset="0"/>
                        </a:rPr>
                        <a:t>Ingenieurbüro</a:t>
                      </a:r>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Rochowstr</a:t>
                      </a:r>
                      <a:r>
                        <a:rPr lang="en-US" sz="800" b="0" i="0" u="none" strike="noStrike" noProof="0" dirty="0">
                          <a:solidFill>
                            <a:srgbClr val="000000"/>
                          </a:solidFill>
                          <a:effectLst/>
                          <a:latin typeface="Calibri" panose="020F0502020204030204" pitchFamily="34" charset="0"/>
                        </a:rPr>
                        <a:t>. 1b</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Baumschulenstr</a:t>
                      </a:r>
                      <a:r>
                        <a:rPr lang="en-US" sz="800" b="0" i="0" u="none" strike="noStrike" noProof="0" dirty="0">
                          <a:solidFill>
                            <a:srgbClr val="000000"/>
                          </a:solidFill>
                          <a:effectLst/>
                          <a:latin typeface="Calibri" panose="020F0502020204030204" pitchFamily="34" charset="0"/>
                        </a:rPr>
                        <a:t>. 72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Haus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Kleiststr</a:t>
                      </a:r>
                      <a:r>
                        <a:rPr lang="en-US" sz="800" b="0" i="0" u="none" strike="noStrike" noProof="0" dirty="0">
                          <a:solidFill>
                            <a:srgbClr val="000000"/>
                          </a:solidFill>
                          <a:effectLst/>
                          <a:latin typeface="Calibri" panose="020F0502020204030204" pitchFamily="34" charset="0"/>
                        </a:rPr>
                        <a:t>.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Müggelseedamm</a:t>
                      </a:r>
                      <a:r>
                        <a:rPr lang="en-US" sz="800" b="0" i="0" u="none" strike="noStrike" noProof="0" dirty="0">
                          <a:solidFill>
                            <a:srgbClr val="000000"/>
                          </a:solidFill>
                          <a:effectLst/>
                          <a:latin typeface="Calibri" panose="020F0502020204030204" pitchFamily="34" charset="0"/>
                        </a:rPr>
                        <a:t> 128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Greifswalder</a:t>
                      </a:r>
                      <a:r>
                        <a:rPr lang="en-US" sz="800" b="0" i="0" u="none" strike="noStrike" noProof="0" dirty="0">
                          <a:solidFill>
                            <a:srgbClr val="000000"/>
                          </a:solidFill>
                          <a:effectLst/>
                          <a:latin typeface="Calibri" panose="020F0502020204030204" pitchFamily="34" charset="0"/>
                        </a:rPr>
                        <a:t> Str. 207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Greifswalder</a:t>
                      </a:r>
                      <a:r>
                        <a:rPr lang="en-US" sz="800" b="0" i="0" u="none" strike="noStrike" noProof="0" dirty="0">
                          <a:solidFill>
                            <a:srgbClr val="000000"/>
                          </a:solidFill>
                          <a:effectLst/>
                          <a:latin typeface="Calibri" panose="020F0502020204030204" pitchFamily="34" charset="0"/>
                        </a:rPr>
                        <a:t> Str. 207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Bäckerei</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67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39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Katzlerstr</a:t>
                      </a:r>
                      <a:r>
                        <a:rPr lang="en-US" sz="800" b="0" i="0" u="none" strike="noStrike" noProof="0" dirty="0">
                          <a:solidFill>
                            <a:srgbClr val="000000"/>
                          </a:solidFill>
                          <a:effectLst/>
                          <a:latin typeface="Calibri" panose="020F0502020204030204" pitchFamily="34" charset="0"/>
                        </a:rPr>
                        <a:t>. 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-Service-GmbH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Malschweg</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a:t>
                      </a:r>
                      <a:r>
                        <a:rPr lang="en-US" sz="800" b="0" i="0" u="none" strike="noStrike" noProof="0" dirty="0">
                          <a:solidFill>
                            <a:srgbClr val="000000"/>
                          </a:solidFill>
                          <a:effectLst/>
                          <a:latin typeface="Calibri" panose="020F0502020204030204" pitchFamily="34" charset="0"/>
                        </a:rPr>
                        <a:t> 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Heinersdorfer</a:t>
                      </a:r>
                      <a:r>
                        <a:rPr lang="en-US" sz="800" b="0" i="0" u="none" strike="noStrike" noProof="0" dirty="0">
                          <a:solidFill>
                            <a:srgbClr val="000000"/>
                          </a:solidFill>
                          <a:effectLst/>
                          <a:latin typeface="Calibri" panose="020F0502020204030204" pitchFamily="34" charset="0"/>
                        </a:rPr>
                        <a:t> Str.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Provinzstr</a:t>
                      </a:r>
                      <a:r>
                        <a:rPr lang="en-US" sz="800" b="0" i="0" u="none" strike="noStrike" noProof="0" dirty="0">
                          <a:solidFill>
                            <a:srgbClr val="000000"/>
                          </a:solidFill>
                          <a:effectLst/>
                          <a:latin typeface="Calibri" panose="020F0502020204030204" pitchFamily="34" charset="0"/>
                        </a:rPr>
                        <a:t>. 34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Taubenstr</a:t>
                      </a:r>
                      <a:r>
                        <a:rPr lang="en-US" sz="800" b="0" i="0" u="none" strike="noStrike" noProof="0" dirty="0">
                          <a:solidFill>
                            <a:srgbClr val="000000"/>
                          </a:solidFill>
                          <a:effectLst/>
                          <a:latin typeface="Calibri" panose="020F0502020204030204" pitchFamily="34" charset="0"/>
                        </a:rPr>
                        <a:t>. 19-23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Friedrichstr</a:t>
                      </a:r>
                      <a:r>
                        <a:rPr lang="en-US" sz="800" b="0" i="0" u="none" strike="noStrike" noProof="0" dirty="0">
                          <a:solidFill>
                            <a:srgbClr val="000000"/>
                          </a:solidFill>
                          <a:effectLst/>
                          <a:latin typeface="Calibri" panose="020F0502020204030204" pitchFamily="34" charset="0"/>
                        </a:rPr>
                        <a:t>. 185/186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Vermögensverwaltung</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54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Fechnerstr</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Ernst Berlin Andreas Ernst </a:t>
                      </a:r>
                      <a:r>
                        <a:rPr lang="en-US" sz="800" b="0" i="0" u="none" strike="noStrike" noProof="0" dirty="0" err="1">
                          <a:solidFill>
                            <a:srgbClr val="000000"/>
                          </a:solidFill>
                          <a:effectLst/>
                          <a:latin typeface="Calibri" panose="020F0502020204030204" pitchFamily="34" charset="0"/>
                        </a:rPr>
                        <a:t>e.K</a:t>
                      </a:r>
                      <a:r>
                        <a:rPr lang="en-US" sz="800" b="0" i="0" u="none" strike="noStrike" noProof="0" dirty="0">
                          <a:solidFill>
                            <a:srgbClr val="000000"/>
                          </a:solidFill>
                          <a:effectLst/>
                          <a:latin typeface="Calibri" panose="020F0502020204030204" pitchFamily="34" charset="0"/>
                        </a:rPr>
                        <a:t>.</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19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GbR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Bergstr</a:t>
                      </a:r>
                      <a:r>
                        <a:rPr lang="en-US" sz="800" b="0" i="0" u="none" strike="noStrike" noProof="0" dirty="0">
                          <a:solidFill>
                            <a:srgbClr val="000000"/>
                          </a:solidFill>
                          <a:effectLst/>
                          <a:latin typeface="Calibri" panose="020F0502020204030204" pitchFamily="34" charset="0"/>
                        </a:rPr>
                        <a:t>. 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Berlin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Hönower</a:t>
                      </a:r>
                      <a:r>
                        <a:rPr lang="en-US" sz="800" b="0" i="0" u="none" strike="noStrike" noProof="0" dirty="0">
                          <a:solidFill>
                            <a:srgbClr val="000000"/>
                          </a:solidFill>
                          <a:effectLst/>
                          <a:latin typeface="Calibri" panose="020F0502020204030204" pitchFamily="34" charset="0"/>
                        </a:rPr>
                        <a:t> Str. 116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Partner </a:t>
                      </a:r>
                      <a:r>
                        <a:rPr lang="en-US" sz="800" b="0" i="0" u="none" strike="noStrike" noProof="0" dirty="0" err="1">
                          <a:solidFill>
                            <a:srgbClr val="000000"/>
                          </a:solidFill>
                          <a:effectLst/>
                          <a:latin typeface="Calibri" panose="020F0502020204030204" pitchFamily="34" charset="0"/>
                        </a:rPr>
                        <a:t>Werbeagentur</a:t>
                      </a:r>
                      <a:r>
                        <a:rPr lang="en-US" sz="800" b="0" i="0" u="none" strike="noStrike" noProof="0" dirty="0">
                          <a:solidFill>
                            <a:srgbClr val="000000"/>
                          </a:solidFill>
                          <a:effectLst/>
                          <a:latin typeface="Calibri" panose="020F0502020204030204" pitchFamily="34" charset="0"/>
                        </a:rPr>
                        <a:t> GmbH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152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Service </a:t>
                      </a:r>
                      <a:r>
                        <a:rPr lang="en-US" sz="800" b="0" i="0" u="none" strike="noStrike" noProof="0" dirty="0" err="1">
                          <a:solidFill>
                            <a:srgbClr val="000000"/>
                          </a:solidFill>
                          <a:effectLst/>
                          <a:latin typeface="Calibri" panose="020F0502020204030204" pitchFamily="34" charset="0"/>
                        </a:rPr>
                        <a:t>Inh</a:t>
                      </a:r>
                      <a:r>
                        <a:rPr lang="en-US" sz="800" b="0" i="0" u="none" strike="noStrike" noProof="0" dirty="0">
                          <a:solidFill>
                            <a:srgbClr val="000000"/>
                          </a:solidFill>
                          <a:effectLst/>
                          <a:latin typeface="Calibri" panose="020F0502020204030204" pitchFamily="34" charset="0"/>
                        </a:rPr>
                        <a:t>. Schneider</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Hauptstr</a:t>
                      </a:r>
                      <a:r>
                        <a:rPr lang="en-US" sz="800" b="0" i="0" u="none" strike="noStrike" noProof="0" dirty="0">
                          <a:solidFill>
                            <a:srgbClr val="000000"/>
                          </a:solidFill>
                          <a:effectLst/>
                          <a:latin typeface="Calibri" panose="020F0502020204030204" pitchFamily="34" charset="0"/>
                        </a:rPr>
                        <a:t>. 13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Strausberger</a:t>
                      </a:r>
                      <a:r>
                        <a:rPr lang="en-US" sz="800" b="0" i="0" u="none" strike="noStrike" noProof="0" dirty="0">
                          <a:solidFill>
                            <a:srgbClr val="000000"/>
                          </a:solidFill>
                          <a:effectLst/>
                          <a:latin typeface="Calibri" panose="020F0502020204030204" pitchFamily="34" charset="0"/>
                        </a:rPr>
                        <a:t> Str. 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ART Berlin </a:t>
                      </a:r>
                      <a:r>
                        <a:rPr lang="en-US" sz="800" b="0" i="0" u="none" strike="noStrike" noProof="0" dirty="0" err="1">
                          <a:solidFill>
                            <a:srgbClr val="000000"/>
                          </a:solidFill>
                          <a:effectLst/>
                          <a:latin typeface="Calibri" panose="020F0502020204030204" pitchFamily="34" charset="0"/>
                        </a:rPr>
                        <a:t>Baugesellschaft</a:t>
                      </a:r>
                      <a:r>
                        <a:rPr lang="en-US" sz="800" b="0" i="0" u="none" strike="noStrike" noProof="0" dirty="0">
                          <a:solidFill>
                            <a:srgbClr val="000000"/>
                          </a:solidFill>
                          <a:effectLst/>
                          <a:latin typeface="Calibri" panose="020F0502020204030204" pitchFamily="34" charset="0"/>
                        </a:rPr>
                        <a:t>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Beckerstr</a:t>
                      </a:r>
                      <a:r>
                        <a:rPr lang="en-US" sz="800" b="0" i="0" u="none" strike="noStrike" noProof="0" dirty="0">
                          <a:solidFill>
                            <a:srgbClr val="000000"/>
                          </a:solidFill>
                          <a:effectLst/>
                          <a:latin typeface="Calibri" panose="020F0502020204030204" pitchFamily="34" charset="0"/>
                        </a:rPr>
                        <a:t>.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GbR</a:t>
                      </a:r>
                      <a:r>
                        <a:rPr lang="en-US" sz="800" b="0" i="0" u="none" strike="noStrike" noProof="0" dirty="0">
                          <a:solidFill>
                            <a:srgbClr val="000000"/>
                          </a:solidFill>
                          <a:effectLst/>
                          <a:latin typeface="Calibri" panose="020F0502020204030204" pitchFamily="34" charset="0"/>
                        </a:rPr>
                        <a:t>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Calvinstr</a:t>
                      </a:r>
                      <a:r>
                        <a:rPr lang="en-US" sz="800" b="0" i="0" u="none" strike="noStrike" noProof="0" dirty="0">
                          <a:solidFill>
                            <a:srgbClr val="000000"/>
                          </a:solidFill>
                          <a:effectLst/>
                          <a:latin typeface="Calibri" panose="020F0502020204030204" pitchFamily="34" charset="0"/>
                        </a:rPr>
                        <a:t>. 22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32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Kosmetik</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Anklamer</a:t>
                      </a:r>
                      <a:r>
                        <a:rPr lang="en-US" sz="800" b="0" i="0" u="none" strike="noStrike" noProof="0" dirty="0">
                          <a:solidFill>
                            <a:srgbClr val="000000"/>
                          </a:solidFill>
                          <a:effectLst/>
                          <a:latin typeface="Calibri" panose="020F0502020204030204" pitchFamily="34" charset="0"/>
                        </a:rPr>
                        <a:t> Str. 38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Kollwitzstr</a:t>
                      </a:r>
                      <a:r>
                        <a:rPr lang="en-US" sz="800" b="0" i="0" u="none" strike="noStrike" noProof="0" dirty="0">
                          <a:solidFill>
                            <a:srgbClr val="000000"/>
                          </a:solidFill>
                          <a:effectLst/>
                          <a:latin typeface="Calibri" panose="020F0502020204030204" pitchFamily="34" charset="0"/>
                        </a:rPr>
                        <a:t>. 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9"/>
                  </a:ext>
                </a:extLst>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noProof="0" smtClean="0"/>
              <a:pPr/>
              <a:t>13</a:t>
            </a:fld>
            <a:endParaRPr lang="en-US" noProof="0"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13</a:t>
            </a:fld>
            <a:endParaRPr lang="en-US" noProof="0"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13</a:t>
            </a:fld>
            <a:endParaRPr lang="en-US" noProof="0"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noProof="0" dirty="0">
                <a:solidFill>
                  <a:srgbClr val="00B0F0"/>
                </a:solidFill>
              </a:rPr>
              <a:t>Cutoff</a:t>
            </a:r>
          </a:p>
          <a:p>
            <a:r>
              <a:rPr lang="en-US" sz="1400" noProof="0" dirty="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noProof="0" dirty="0">
                <a:solidFill>
                  <a:srgbClr val="00B0F0"/>
                </a:solidFill>
              </a:rPr>
              <a:t>Activation</a:t>
            </a:r>
          </a:p>
          <a:p>
            <a:r>
              <a:rPr lang="en-US" sz="1400" noProof="0" dirty="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noProof="0" dirty="0">
                <a:solidFill>
                  <a:srgbClr val="00B0F0"/>
                </a:solidFill>
              </a:rPr>
              <a:t>Feedback</a:t>
            </a:r>
          </a:p>
          <a:p>
            <a:r>
              <a:rPr lang="en-US" sz="1400" noProof="0" dirty="0"/>
              <a:t>Defines the magnitude of the feedback effect as discount on the Identity. </a:t>
            </a:r>
          </a:p>
          <a:p>
            <a:pPr>
              <a:spcBef>
                <a:spcPts val="300"/>
              </a:spcBef>
            </a:pPr>
            <a:r>
              <a:rPr lang="en-US" sz="1400" noProof="0" dirty="0"/>
              <a:t>When Activation &gt; 0 and Cutoff &gt; 0:</a:t>
            </a:r>
          </a:p>
          <a:p>
            <a:pPr marL="216000" indent="-216000">
              <a:buClr>
                <a:srgbClr val="00AAE5"/>
              </a:buClr>
              <a:buFont typeface="Calibri" panose="020F0502020204030204" pitchFamily="34" charset="0"/>
              <a:buChar char="→"/>
            </a:pPr>
            <a:r>
              <a:rPr lang="en-US" sz="1400" noProof="0" dirty="0"/>
              <a:t>Temporary Feedback effect to create variation for Cutoff</a:t>
            </a:r>
          </a:p>
          <a:p>
            <a:pPr marL="216000" indent="-216000">
              <a:buClr>
                <a:srgbClr val="00AAE5"/>
              </a:buClr>
              <a:buFont typeface="Wingdings" panose="05000000000000000000" pitchFamily="2" charset="2"/>
              <a:buChar char="§"/>
            </a:pPr>
            <a:r>
              <a:rPr lang="en-US" sz="1400" noProof="0" dirty="0"/>
              <a:t>Usually, 10% feedback suffices</a:t>
            </a:r>
          </a:p>
          <a:p>
            <a:pPr marL="216000" indent="-216000">
              <a:buClr>
                <a:srgbClr val="00AAE5"/>
              </a:buClr>
              <a:buFont typeface="Wingdings" panose="05000000000000000000" pitchFamily="2" charset="2"/>
              <a:buChar char="§"/>
            </a:pPr>
            <a:r>
              <a:rPr lang="en-US" sz="1400" noProof="0" dirty="0"/>
              <a:t>Effect will be undone before Threshold validation</a:t>
            </a:r>
          </a:p>
          <a:p>
            <a:pPr>
              <a:buClr>
                <a:schemeClr val="accent1"/>
              </a:buClr>
            </a:pPr>
            <a:r>
              <a:rPr lang="en-US" sz="1400" noProof="0" dirty="0"/>
              <a:t>Otherwise:</a:t>
            </a:r>
          </a:p>
          <a:p>
            <a:pPr marL="216000" indent="-216000">
              <a:buClr>
                <a:srgbClr val="00AAE5"/>
              </a:buClr>
              <a:buFont typeface="Calibri" panose="020F0502020204030204" pitchFamily="34" charset="0"/>
              <a:buChar char="→"/>
            </a:pPr>
            <a:r>
              <a:rPr lang="en-US" sz="1400" noProof="0" dirty="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noProof="0" dirty="0"/>
              <a:t>The interaction of these three settings prevents unnecessary, time consuming feedback calculations.</a:t>
            </a:r>
          </a:p>
          <a:p>
            <a:r>
              <a:rPr lang="en-US" sz="1400" noProof="0" dirty="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1877666139"/>
              </p:ext>
            </p:extLst>
          </p:nvPr>
        </p:nvGraphicFramePr>
        <p:xfrm>
          <a:off x="180512" y="843337"/>
          <a:ext cx="468000" cy="1219200"/>
        </p:xfrm>
        <a:graphic>
          <a:graphicData uri="http://schemas.openxmlformats.org/drawingml/2006/table">
            <a:tbl>
              <a:tblPr/>
              <a:tblGrid>
                <a:gridCol w="468000">
                  <a:extLst>
                    <a:ext uri="{9D8B030D-6E8A-4147-A177-3AD203B41FA5}">
                      <a16:colId xmlns:a16="http://schemas.microsoft.com/office/drawing/2014/main" val="20000"/>
                    </a:ext>
                  </a:extLst>
                </a:gridCol>
              </a:tblGrid>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9"/>
                  </a:ext>
                </a:extLst>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10" name="Tabelle 9"/>
          <p:cNvGraphicFramePr>
            <a:graphicFrameLocks noGrp="1"/>
          </p:cNvGraphicFramePr>
          <p:nvPr>
            <p:extLst>
              <p:ext uri="{D42A27DB-BD31-4B8C-83A1-F6EECF244321}">
                <p14:modId xmlns:p14="http://schemas.microsoft.com/office/powerpoint/2010/main" val="3035618824"/>
              </p:ext>
            </p:extLst>
          </p:nvPr>
        </p:nvGraphicFramePr>
        <p:xfrm>
          <a:off x="181632" y="654749"/>
          <a:ext cx="7419271" cy="180000"/>
        </p:xfrm>
        <a:graphic>
          <a:graphicData uri="http://schemas.openxmlformats.org/drawingml/2006/table">
            <a:tbl>
              <a:tblPr/>
              <a:tblGrid>
                <a:gridCol w="468000">
                  <a:extLst>
                    <a:ext uri="{9D8B030D-6E8A-4147-A177-3AD203B41FA5}">
                      <a16:colId xmlns:a16="http://schemas.microsoft.com/office/drawing/2014/main" val="20000"/>
                    </a:ext>
                  </a:extLst>
                </a:gridCol>
                <a:gridCol w="3887671">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180000">
                <a:tc>
                  <a:txBody>
                    <a:bodyPr/>
                    <a:lstStyle/>
                    <a:p>
                      <a:pPr algn="ctr" fontAlgn="b"/>
                      <a:r>
                        <a:rPr lang="en-US" sz="900" b="0" i="0" u="none" strike="noStrike" noProof="0" dirty="0">
                          <a:solidFill>
                            <a:srgbClr val="000000"/>
                          </a:solidFill>
                          <a:effectLst/>
                          <a:latin typeface="Calibri" panose="020F0502020204030204" pitchFamily="34" charset="0"/>
                        </a:rPr>
                        <a:t>identity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
        <p:nvSpPr>
          <p:cNvPr id="2" name="Titel 1"/>
          <p:cNvSpPr>
            <a:spLocks noGrp="1"/>
          </p:cNvSpPr>
          <p:nvPr>
            <p:ph type="title"/>
          </p:nvPr>
        </p:nvSpPr>
        <p:spPr/>
        <p:txBody>
          <a:bodyPr/>
          <a:lstStyle/>
          <a:p>
            <a:r>
              <a:rPr lang="en-US" noProof="0" dirty="0"/>
              <a:t>10% Feedback Effect on Berlin GmbH, Berlin</a:t>
            </a:r>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noProof="0" dirty="0">
                <a:solidFill>
                  <a:srgbClr val="00B0F0"/>
                </a:solidFill>
              </a:rPr>
              <a:t>Containment</a:t>
            </a:r>
            <a:r>
              <a:rPr lang="en-US" sz="1400" noProof="0" dirty="0">
                <a:solidFill>
                  <a:srgbClr val="00B0F0"/>
                </a:solidFill>
              </a:rPr>
              <a:t> of weak search terms</a:t>
            </a:r>
            <a:r>
              <a:rPr lang="en-US" sz="2400" noProof="0" dirty="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3576347518"/>
              </p:ext>
            </p:extLst>
          </p:nvPr>
        </p:nvGraphicFramePr>
        <p:xfrm>
          <a:off x="180000" y="612992"/>
          <a:ext cx="6012000" cy="6091575"/>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440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err="1">
                          <a:solidFill>
                            <a:srgbClr val="000000"/>
                          </a:solidFill>
                          <a:effectLst/>
                          <a:latin typeface="Calibri" panose="020F0502020204030204" pitchFamily="34" charset="0"/>
                        </a:rPr>
                        <a:t>Firma</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Verwaltungs</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0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0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1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1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6405" marB="0" anchor="b">
                    <a:lnL>
                      <a:noFill/>
                    </a:lnL>
                    <a:lnR>
                      <a:noFill/>
                    </a:lnR>
                    <a:lnT>
                      <a:noFill/>
                    </a:lnT>
                    <a:lnB>
                      <a:noFill/>
                    </a:lnB>
                  </a:tcPr>
                </a:tc>
                <a:extLst>
                  <a:ext uri="{0D108BD9-81ED-4DB2-BD59-A6C34878D82A}">
                    <a16:rowId xmlns:a16="http://schemas.microsoft.com/office/drawing/2014/main" val="1001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6405" marB="0" anchor="b">
                    <a:lnL>
                      <a:noFill/>
                    </a:lnL>
                    <a:lnR>
                      <a:noFill/>
                    </a:lnR>
                    <a:lnT>
                      <a:noFill/>
                    </a:lnT>
                    <a:lnB>
                      <a:noFill/>
                    </a:lnB>
                  </a:tcPr>
                </a:tc>
                <a:extLst>
                  <a:ext uri="{0D108BD9-81ED-4DB2-BD59-A6C34878D82A}">
                    <a16:rowId xmlns:a16="http://schemas.microsoft.com/office/drawing/2014/main" val="1001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Blaupark</a:t>
                      </a:r>
                      <a:r>
                        <a:rPr lang="en-US" sz="1100" b="0" i="0" u="none" strike="noStrike" noProof="0" dirty="0">
                          <a:solidFill>
                            <a:srgbClr val="000000"/>
                          </a:solidFill>
                          <a:effectLst/>
                          <a:latin typeface="Calibri" panose="020F0502020204030204" pitchFamily="34" charset="0"/>
                        </a:rPr>
                        <a:t> Living Ulm K20 Projekt GmbH</a:t>
                      </a:r>
                    </a:p>
                  </a:txBody>
                  <a:tcPr marL="72000" marR="72000" marT="6405" marB="0" anchor="b">
                    <a:lnL>
                      <a:noFill/>
                    </a:lnL>
                    <a:lnR>
                      <a:noFill/>
                    </a:lnR>
                    <a:lnT>
                      <a:noFill/>
                    </a:lnT>
                    <a:lnB>
                      <a:noFill/>
                    </a:lnB>
                  </a:tcPr>
                </a:tc>
                <a:extLst>
                  <a:ext uri="{0D108BD9-81ED-4DB2-BD59-A6C34878D82A}">
                    <a16:rowId xmlns:a16="http://schemas.microsoft.com/office/drawing/2014/main" val="1001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Ute </a:t>
                      </a:r>
                      <a:r>
                        <a:rPr lang="en-US" sz="1100" b="0" i="0" u="none" strike="noStrike" noProof="0" dirty="0" err="1">
                          <a:solidFill>
                            <a:srgbClr val="000000"/>
                          </a:solidFill>
                          <a:effectLst/>
                          <a:latin typeface="Calibri" panose="020F0502020204030204" pitchFamily="34" charset="0"/>
                        </a:rPr>
                        <a:t>Nißle</a:t>
                      </a:r>
                      <a:r>
                        <a:rPr lang="en-US" sz="1100" b="0" i="0" u="none" strike="noStrike" noProof="0" dirty="0">
                          <a:solidFill>
                            <a:srgbClr val="000000"/>
                          </a:solidFill>
                          <a:effectLst/>
                          <a:latin typeface="Calibri" panose="020F0502020204030204" pitchFamily="34" charset="0"/>
                        </a:rPr>
                        <a:t>-Klammt </a:t>
                      </a:r>
                      <a:r>
                        <a:rPr lang="en-US" sz="1100" b="0" i="0" u="none" strike="noStrike" noProof="0" dirty="0" err="1">
                          <a:solidFill>
                            <a:srgbClr val="000000"/>
                          </a:solidFill>
                          <a:effectLst/>
                          <a:latin typeface="Calibri" panose="020F0502020204030204" pitchFamily="34" charset="0"/>
                        </a:rPr>
                        <a:t>Blaupark-Apotheke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Blaupapier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Immobilienverwertungsges.m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b.H</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2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Blaupapier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Blaupark</a:t>
                      </a:r>
                      <a:r>
                        <a:rPr lang="en-US" sz="1100" b="0" i="0" u="none" strike="noStrike" noProof="0" dirty="0">
                          <a:solidFill>
                            <a:srgbClr val="000000"/>
                          </a:solidFill>
                          <a:effectLst/>
                          <a:latin typeface="Calibri" panose="020F0502020204030204" pitchFamily="34" charset="0"/>
                        </a:rPr>
                        <a:t> Living Ulm K20 Projekt GmbH</a:t>
                      </a:r>
                    </a:p>
                  </a:txBody>
                  <a:tcPr marL="72000" marR="72000" marT="6405" marB="0" anchor="b">
                    <a:lnL>
                      <a:noFill/>
                    </a:lnL>
                    <a:lnR>
                      <a:noFill/>
                    </a:lnR>
                    <a:lnT>
                      <a:noFill/>
                    </a:lnT>
                    <a:lnB>
                      <a:noFill/>
                    </a:lnB>
                  </a:tcPr>
                </a:tc>
                <a:extLst>
                  <a:ext uri="{0D108BD9-81ED-4DB2-BD59-A6C34878D82A}">
                    <a16:rowId xmlns:a16="http://schemas.microsoft.com/office/drawing/2014/main" val="1002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000000"/>
                          </a:solidFill>
                          <a:effectLst/>
                          <a:latin typeface="Calibri" panose="020F0502020204030204" pitchFamily="34" charset="0"/>
                        </a:rPr>
                        <a:t>Plaupause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2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extLst>
                  <a:ext uri="{0D108BD9-81ED-4DB2-BD59-A6C34878D82A}">
                    <a16:rowId xmlns:a16="http://schemas.microsoft.com/office/drawing/2014/main" val="1002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Simon Huber </a:t>
                      </a:r>
                      <a:r>
                        <a:rPr lang="en-US" sz="1100" b="0" i="0" u="none" strike="noStrike" noProof="0" dirty="0" err="1">
                          <a:solidFill>
                            <a:srgbClr val="000000"/>
                          </a:solidFill>
                          <a:effectLst/>
                          <a:latin typeface="Calibri" panose="020F0502020204030204" pitchFamily="34" charset="0"/>
                        </a:rPr>
                        <a:t>Filmproduktion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graupause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2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Seniorenzentrum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Lopaupark</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paupau</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paupau</a:t>
                      </a:r>
                      <a:r>
                        <a:rPr lang="en-US" sz="1100" b="0" i="0" u="none" strike="noStrike" noProof="0" dirty="0">
                          <a:solidFill>
                            <a:srgbClr val="000000"/>
                          </a:solidFill>
                          <a:effectLst/>
                          <a:latin typeface="Calibri" panose="020F0502020204030204" pitchFamily="34" charset="0"/>
                        </a:rPr>
                        <a:t> Deli UG</a:t>
                      </a:r>
                    </a:p>
                  </a:txBody>
                  <a:tcPr marL="72000" marR="72000" marT="6405" marB="0" anchor="b">
                    <a:lnL>
                      <a:noFill/>
                    </a:lnL>
                    <a:lnR>
                      <a:noFill/>
                    </a:lnR>
                    <a:lnT>
                      <a:noFill/>
                    </a:lnT>
                    <a:lnB>
                      <a:noFill/>
                    </a:lnB>
                  </a:tcPr>
                </a:tc>
                <a:extLst>
                  <a:ext uri="{0D108BD9-81ED-4DB2-BD59-A6C34878D82A}">
                    <a16:rowId xmlns:a16="http://schemas.microsoft.com/office/drawing/2014/main" val="1002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Paulsen </a:t>
                      </a:r>
                      <a:r>
                        <a:rPr lang="en-US" sz="1100" b="0" i="0" u="none" strike="noStrike" noProof="0" dirty="0" err="1">
                          <a:solidFill>
                            <a:srgbClr val="000000"/>
                          </a:solidFill>
                          <a:effectLst/>
                          <a:latin typeface="Calibri" panose="020F0502020204030204" pitchFamily="34" charset="0"/>
                        </a:rPr>
                        <a:t>Baupartner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Karl Paul Kaupa </a:t>
                      </a:r>
                      <a:r>
                        <a:rPr lang="en-US" sz="1100" b="0" i="0" u="none" strike="noStrike" noProof="0" dirty="0" err="1">
                          <a:solidFill>
                            <a:srgbClr val="000000"/>
                          </a:solidFill>
                          <a:effectLst/>
                          <a:latin typeface="Calibri" panose="020F0502020204030204" pitchFamily="34" charset="0"/>
                        </a:rPr>
                        <a:t>Bettengeschäft</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fraupaul</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Bausen</a:t>
                      </a:r>
                      <a:r>
                        <a:rPr lang="en-US" sz="1100" b="0" i="0" u="none" strike="noStrike" noProof="0" dirty="0">
                          <a:solidFill>
                            <a:srgbClr val="000000"/>
                          </a:solidFill>
                          <a:effectLst/>
                          <a:latin typeface="Calibri" panose="020F0502020204030204" pitchFamily="34" charset="0"/>
                        </a:rPr>
                        <a:t> &amp; Markwart </a:t>
                      </a:r>
                      <a:r>
                        <a:rPr lang="en-US" sz="1100" b="0" i="0" u="none" strike="noStrike" noProof="0" dirty="0" err="1">
                          <a:solidFill>
                            <a:srgbClr val="000000"/>
                          </a:solidFill>
                          <a:effectLst/>
                          <a:latin typeface="Calibri" panose="020F0502020204030204" pitchFamily="34" charset="0"/>
                        </a:rPr>
                        <a:t>Ausbaupartner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3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Baupartner</a:t>
                      </a:r>
                      <a:r>
                        <a:rPr lang="en-US" sz="1100" b="0" i="0" u="none" strike="noStrike" noProof="0" dirty="0">
                          <a:solidFill>
                            <a:srgbClr val="000000"/>
                          </a:solidFill>
                          <a:effectLst/>
                          <a:latin typeface="Calibri" panose="020F0502020204030204" pitchFamily="34" charset="0"/>
                        </a:rPr>
                        <a:t> BAUSTOFFSERVICE Schönhausen GmbH</a:t>
                      </a:r>
                    </a:p>
                  </a:txBody>
                  <a:tcPr marL="72000" marR="72000" marT="6405" marB="0" anchor="b">
                    <a:lnL>
                      <a:noFill/>
                    </a:lnL>
                    <a:lnR>
                      <a:noFill/>
                    </a:lnR>
                    <a:lnT>
                      <a:noFill/>
                    </a:lnT>
                    <a:lnB>
                      <a:noFill/>
                    </a:lnB>
                  </a:tcPr>
                </a:tc>
                <a:extLst>
                  <a:ext uri="{0D108BD9-81ED-4DB2-BD59-A6C34878D82A}">
                    <a16:rowId xmlns:a16="http://schemas.microsoft.com/office/drawing/2014/main" val="1003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Lothar Krause </a:t>
                      </a:r>
                      <a:r>
                        <a:rPr lang="en-US" sz="1100" b="0" i="0" u="none" strike="noStrike" noProof="0" dirty="0" err="1">
                          <a:solidFill>
                            <a:srgbClr val="000000"/>
                          </a:solidFill>
                          <a:effectLst/>
                          <a:latin typeface="Calibri" panose="020F0502020204030204" pitchFamily="34" charset="0"/>
                        </a:rPr>
                        <a:t>Baupartner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4"/>
                  </a:ext>
                </a:extLst>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14</a:t>
            </a:fld>
            <a:endParaRPr lang="en-US" noProof="0"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noProof="0" dirty="0"/>
              <a:t>3-Gram Search for “</a:t>
            </a:r>
            <a:r>
              <a:rPr lang="en-US" noProof="0" dirty="0" err="1"/>
              <a:t>Blaupause</a:t>
            </a:r>
            <a:r>
              <a:rPr lang="en-US" noProof="0" dirty="0"/>
              <a:t>”: BLA LAU AUP UPA PAU AUS USE</a:t>
            </a:r>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noProof="0" dirty="0">
                <a:solidFill>
                  <a:srgbClr val="00B0F0"/>
                </a:solidFill>
              </a:rPr>
              <a:t>Words responsible for retrieval:</a:t>
            </a:r>
          </a:p>
          <a:p>
            <a:r>
              <a:rPr lang="en-US" sz="1400" noProof="0" dirty="0" err="1"/>
              <a:t>blaupause</a:t>
            </a:r>
            <a:endParaRPr lang="en-US" sz="1400" noProof="0" dirty="0"/>
          </a:p>
          <a:p>
            <a:r>
              <a:rPr lang="en-US" sz="1400" noProof="0" dirty="0" err="1"/>
              <a:t>blaupausen</a:t>
            </a:r>
            <a:endParaRPr lang="en-US" sz="1400" noProof="0" dirty="0"/>
          </a:p>
          <a:p>
            <a:r>
              <a:rPr lang="en-US" sz="1400" noProof="0" dirty="0" err="1"/>
              <a:t>blaupauser</a:t>
            </a:r>
            <a:endParaRPr lang="en-US" sz="1400" noProof="0" dirty="0"/>
          </a:p>
          <a:p>
            <a:r>
              <a:rPr lang="en-US" sz="1400" noProof="0" dirty="0" err="1"/>
              <a:t>blaupark</a:t>
            </a:r>
            <a:endParaRPr lang="en-US" sz="1400" noProof="0" dirty="0"/>
          </a:p>
          <a:p>
            <a:r>
              <a:rPr lang="en-US" sz="1400" noProof="0" dirty="0" err="1"/>
              <a:t>blaupapier</a:t>
            </a:r>
            <a:endParaRPr lang="en-US" sz="1400" noProof="0" dirty="0"/>
          </a:p>
          <a:p>
            <a:r>
              <a:rPr lang="en-US" sz="1400" noProof="0" dirty="0" err="1"/>
              <a:t>plaupause</a:t>
            </a:r>
            <a:endParaRPr lang="en-US" sz="1400" noProof="0" dirty="0"/>
          </a:p>
          <a:p>
            <a:r>
              <a:rPr lang="en-US" sz="1400" noProof="0" dirty="0" err="1"/>
              <a:t>graupause</a:t>
            </a:r>
            <a:endParaRPr lang="en-US" sz="1400" noProof="0" dirty="0"/>
          </a:p>
          <a:p>
            <a:r>
              <a:rPr lang="en-US" sz="1400" noProof="0" dirty="0" err="1"/>
              <a:t>lopaupark</a:t>
            </a:r>
            <a:endParaRPr lang="en-US" sz="1400" noProof="0" dirty="0"/>
          </a:p>
          <a:p>
            <a:r>
              <a:rPr lang="en-US" sz="1400" noProof="0" dirty="0" err="1"/>
              <a:t>paupau</a:t>
            </a:r>
            <a:endParaRPr lang="en-US" sz="1400" noProof="0" dirty="0"/>
          </a:p>
          <a:p>
            <a:r>
              <a:rPr lang="en-US" sz="1400" noProof="0" dirty="0" err="1"/>
              <a:t>paulsen</a:t>
            </a:r>
            <a:r>
              <a:rPr lang="en-US" sz="1400" noProof="0" dirty="0"/>
              <a:t> </a:t>
            </a:r>
            <a:r>
              <a:rPr lang="en-US" sz="1400" noProof="0" dirty="0" err="1"/>
              <a:t>baupartner</a:t>
            </a:r>
            <a:endParaRPr lang="en-US" sz="1400" noProof="0" dirty="0"/>
          </a:p>
          <a:p>
            <a:r>
              <a:rPr lang="en-US" sz="1400" noProof="0" dirty="0" err="1"/>
              <a:t>paul</a:t>
            </a:r>
            <a:r>
              <a:rPr lang="en-US" sz="1400" noProof="0" dirty="0"/>
              <a:t> </a:t>
            </a:r>
            <a:r>
              <a:rPr lang="en-US" sz="1400" noProof="0" dirty="0" err="1"/>
              <a:t>kaupa</a:t>
            </a:r>
            <a:endParaRPr lang="en-US" sz="1400" noProof="0" dirty="0"/>
          </a:p>
          <a:p>
            <a:r>
              <a:rPr lang="en-US" sz="1400" noProof="0" dirty="0" err="1"/>
              <a:t>fraupaul</a:t>
            </a:r>
            <a:endParaRPr lang="en-US" sz="1400" noProof="0" dirty="0"/>
          </a:p>
          <a:p>
            <a:r>
              <a:rPr lang="en-US" sz="1400" noProof="0" dirty="0" err="1"/>
              <a:t>bausen</a:t>
            </a:r>
            <a:r>
              <a:rPr lang="en-US" sz="1400" noProof="0" dirty="0"/>
              <a:t> </a:t>
            </a:r>
            <a:r>
              <a:rPr lang="en-US" sz="1400" noProof="0" dirty="0" err="1"/>
              <a:t>ausbaupartner</a:t>
            </a:r>
            <a:endParaRPr lang="en-US" sz="1400" noProof="0" dirty="0"/>
          </a:p>
          <a:p>
            <a:r>
              <a:rPr lang="en-US" sz="1400" noProof="0" dirty="0" err="1"/>
              <a:t>baupartner</a:t>
            </a:r>
            <a:r>
              <a:rPr lang="en-US" sz="1400" noProof="0" dirty="0"/>
              <a:t> </a:t>
            </a:r>
            <a:r>
              <a:rPr lang="en-US" sz="1400" noProof="0" dirty="0" err="1"/>
              <a:t>baustoffservice</a:t>
            </a:r>
            <a:r>
              <a:rPr lang="en-US" sz="1400" noProof="0" dirty="0"/>
              <a:t> </a:t>
            </a:r>
            <a:r>
              <a:rPr lang="en-US" sz="1400" noProof="0" dirty="0" err="1"/>
              <a:t>schönhausen</a:t>
            </a:r>
            <a:endParaRPr lang="en-US" sz="1400" noProof="0" dirty="0"/>
          </a:p>
          <a:p>
            <a:endParaRPr lang="en-US" sz="1400" noProof="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noProof="0" dirty="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noProof="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noProof="0" dirty="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noProof="0" dirty="0"/>
              <a:t>We have to replicate this visual screening via a flexible string distance function, which is independent of word positioning.</a:t>
            </a:r>
          </a:p>
        </p:txBody>
      </p:sp>
      <p:graphicFrame>
        <p:nvGraphicFramePr>
          <p:cNvPr id="75" name="Tabelle 74"/>
          <p:cNvGraphicFramePr>
            <a:graphicFrameLocks noGrp="1"/>
          </p:cNvGraphicFramePr>
          <p:nvPr>
            <p:extLst>
              <p:ext uri="{D42A27DB-BD31-4B8C-83A1-F6EECF244321}">
                <p14:modId xmlns:p14="http://schemas.microsoft.com/office/powerpoint/2010/main" val="274396824"/>
              </p:ext>
            </p:extLst>
          </p:nvPr>
        </p:nvGraphicFramePr>
        <p:xfrm>
          <a:off x="181450" y="609867"/>
          <a:ext cx="6012000" cy="174045"/>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440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Least Relative Character Position Delta (LRCPD)</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15</a:t>
            </a:fld>
            <a:endParaRPr lang="en-US" noProof="0"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316982221"/>
                  </p:ext>
                </p:extLst>
              </p:nvPr>
            </p:nvGraphicFramePr>
            <p:xfrm>
              <a:off x="1073765" y="1268760"/>
              <a:ext cx="60960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gridCol w="609600">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0.1</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1</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2</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3</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0.4</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4</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0.5</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5</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0.6</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6</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0.7</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0.8</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C</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A</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R</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N</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T</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K</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1"/>
                      </a:ext>
                    </a:extLst>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316982221"/>
                  </p:ext>
                </p:extLst>
              </p:nvPr>
            </p:nvGraphicFramePr>
            <p:xfrm>
              <a:off x="1073765" y="1268760"/>
              <a:ext cx="60960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gridCol w="609600">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C</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A</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R</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N</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T</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K</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1"/>
                      </a:ext>
                    </a:extLst>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3189481394"/>
              </p:ext>
            </p:extLst>
          </p:nvPr>
        </p:nvGraphicFramePr>
        <p:xfrm>
          <a:off x="1402576" y="3884930"/>
          <a:ext cx="54864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C</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H </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A </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R</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N</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I</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Z</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K</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I</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0.125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0.375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0.625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0.875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1"/>
                  </a:ext>
                </a:extLst>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3847677833"/>
                  </p:ext>
                </p:extLst>
              </p:nvPr>
            </p:nvGraphicFramePr>
            <p:xfrm>
              <a:off x="617388" y="2865259"/>
              <a:ext cx="6892690" cy="370840"/>
            </p:xfrm>
            <a:graphic>
              <a:graphicData uri="http://schemas.openxmlformats.org/drawingml/2006/table">
                <a:tbl>
                  <a:tblPr firstRow="1" bandRow="1"/>
                  <a:tblGrid>
                    <a:gridCol w="689269">
                      <a:extLst>
                        <a:ext uri="{9D8B030D-6E8A-4147-A177-3AD203B41FA5}">
                          <a16:colId xmlns:a16="http://schemas.microsoft.com/office/drawing/2014/main" val="20000"/>
                        </a:ext>
                      </a:extLst>
                    </a:gridCol>
                    <a:gridCol w="689269">
                      <a:extLst>
                        <a:ext uri="{9D8B030D-6E8A-4147-A177-3AD203B41FA5}">
                          <a16:colId xmlns:a16="http://schemas.microsoft.com/office/drawing/2014/main" val="20001"/>
                        </a:ext>
                      </a:extLst>
                    </a:gridCol>
                    <a:gridCol w="689269">
                      <a:extLst>
                        <a:ext uri="{9D8B030D-6E8A-4147-A177-3AD203B41FA5}">
                          <a16:colId xmlns:a16="http://schemas.microsoft.com/office/drawing/2014/main" val="20002"/>
                        </a:ext>
                      </a:extLst>
                    </a:gridCol>
                    <a:gridCol w="689269">
                      <a:extLst>
                        <a:ext uri="{9D8B030D-6E8A-4147-A177-3AD203B41FA5}">
                          <a16:colId xmlns:a16="http://schemas.microsoft.com/office/drawing/2014/main" val="20003"/>
                        </a:ext>
                      </a:extLst>
                    </a:gridCol>
                    <a:gridCol w="689269">
                      <a:extLst>
                        <a:ext uri="{9D8B030D-6E8A-4147-A177-3AD203B41FA5}">
                          <a16:colId xmlns:a16="http://schemas.microsoft.com/office/drawing/2014/main" val="20004"/>
                        </a:ext>
                      </a:extLst>
                    </a:gridCol>
                    <a:gridCol w="689269">
                      <a:extLst>
                        <a:ext uri="{9D8B030D-6E8A-4147-A177-3AD203B41FA5}">
                          <a16:colId xmlns:a16="http://schemas.microsoft.com/office/drawing/2014/main" val="20005"/>
                        </a:ext>
                      </a:extLst>
                    </a:gridCol>
                    <a:gridCol w="689269">
                      <a:extLst>
                        <a:ext uri="{9D8B030D-6E8A-4147-A177-3AD203B41FA5}">
                          <a16:colId xmlns:a16="http://schemas.microsoft.com/office/drawing/2014/main" val="20006"/>
                        </a:ext>
                      </a:extLst>
                    </a:gridCol>
                    <a:gridCol w="689269">
                      <a:extLst>
                        <a:ext uri="{9D8B030D-6E8A-4147-A177-3AD203B41FA5}">
                          <a16:colId xmlns:a16="http://schemas.microsoft.com/office/drawing/2014/main" val="20007"/>
                        </a:ext>
                      </a:extLst>
                    </a:gridCol>
                    <a:gridCol w="689269">
                      <a:extLst>
                        <a:ext uri="{9D8B030D-6E8A-4147-A177-3AD203B41FA5}">
                          <a16:colId xmlns:a16="http://schemas.microsoft.com/office/drawing/2014/main" val="20008"/>
                        </a:ext>
                      </a:extLst>
                    </a:gridCol>
                    <a:gridCol w="689269">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noProof="0" dirty="0">
                              <a:solidFill>
                                <a:schemeClr val="tx1"/>
                              </a:solidFill>
                              <a:latin typeface="Cambria Math" pitchFamily="18" charset="0"/>
                              <a:ea typeface="Cambria Math" pitchFamily="18" charset="0"/>
                            </a:rPr>
                            <a:t>0.63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0.041</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6</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0.05</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5</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0.069</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4</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0.013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3847677833"/>
                  </p:ext>
                </p:extLst>
              </p:nvPr>
            </p:nvGraphicFramePr>
            <p:xfrm>
              <a:off x="617388" y="2865259"/>
              <a:ext cx="6892690" cy="370840"/>
            </p:xfrm>
            <a:graphic>
              <a:graphicData uri="http://schemas.openxmlformats.org/drawingml/2006/table">
                <a:tbl>
                  <a:tblPr firstRow="1" bandRow="1"/>
                  <a:tblGrid>
                    <a:gridCol w="689269">
                      <a:extLst>
                        <a:ext uri="{9D8B030D-6E8A-4147-A177-3AD203B41FA5}">
                          <a16:colId xmlns:a16="http://schemas.microsoft.com/office/drawing/2014/main" val="20000"/>
                        </a:ext>
                      </a:extLst>
                    </a:gridCol>
                    <a:gridCol w="689269">
                      <a:extLst>
                        <a:ext uri="{9D8B030D-6E8A-4147-A177-3AD203B41FA5}">
                          <a16:colId xmlns:a16="http://schemas.microsoft.com/office/drawing/2014/main" val="20001"/>
                        </a:ext>
                      </a:extLst>
                    </a:gridCol>
                    <a:gridCol w="689269">
                      <a:extLst>
                        <a:ext uri="{9D8B030D-6E8A-4147-A177-3AD203B41FA5}">
                          <a16:colId xmlns:a16="http://schemas.microsoft.com/office/drawing/2014/main" val="20002"/>
                        </a:ext>
                      </a:extLst>
                    </a:gridCol>
                    <a:gridCol w="689269">
                      <a:extLst>
                        <a:ext uri="{9D8B030D-6E8A-4147-A177-3AD203B41FA5}">
                          <a16:colId xmlns:a16="http://schemas.microsoft.com/office/drawing/2014/main" val="20003"/>
                        </a:ext>
                      </a:extLst>
                    </a:gridCol>
                    <a:gridCol w="689269">
                      <a:extLst>
                        <a:ext uri="{9D8B030D-6E8A-4147-A177-3AD203B41FA5}">
                          <a16:colId xmlns:a16="http://schemas.microsoft.com/office/drawing/2014/main" val="20004"/>
                        </a:ext>
                      </a:extLst>
                    </a:gridCol>
                    <a:gridCol w="689269">
                      <a:extLst>
                        <a:ext uri="{9D8B030D-6E8A-4147-A177-3AD203B41FA5}">
                          <a16:colId xmlns:a16="http://schemas.microsoft.com/office/drawing/2014/main" val="20005"/>
                        </a:ext>
                      </a:extLst>
                    </a:gridCol>
                    <a:gridCol w="689269">
                      <a:extLst>
                        <a:ext uri="{9D8B030D-6E8A-4147-A177-3AD203B41FA5}">
                          <a16:colId xmlns:a16="http://schemas.microsoft.com/office/drawing/2014/main" val="20006"/>
                        </a:ext>
                      </a:extLst>
                    </a:gridCol>
                    <a:gridCol w="689269">
                      <a:extLst>
                        <a:ext uri="{9D8B030D-6E8A-4147-A177-3AD203B41FA5}">
                          <a16:colId xmlns:a16="http://schemas.microsoft.com/office/drawing/2014/main" val="20007"/>
                        </a:ext>
                      </a:extLst>
                    </a:gridCol>
                    <a:gridCol w="689269">
                      <a:extLst>
                        <a:ext uri="{9D8B030D-6E8A-4147-A177-3AD203B41FA5}">
                          <a16:colId xmlns:a16="http://schemas.microsoft.com/office/drawing/2014/main" val="20008"/>
                        </a:ext>
                      </a:extLst>
                    </a:gridCol>
                    <a:gridCol w="689269">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noProof="0" dirty="0">
                  <a:solidFill>
                    <a:srgbClr val="00B0F0"/>
                  </a:solidFill>
                </a:rPr>
                <a:t>Candidate Refinement (Visual Screening)</a:t>
              </a:r>
            </a:p>
            <a:p>
              <a:r>
                <a:rPr lang="en-US" sz="1400" noProof="0" dirty="0"/>
                <a:t>search = any search field affected by a destructive preparer</a:t>
              </a:r>
            </a:p>
            <a:p>
              <a:pPr marL="0" lvl="1"/>
              <a:r>
                <a:rPr lang="en-US" sz="1400" noProof="0" dirty="0"/>
                <a:t>found = corresponding entry of the Candidate</a:t>
              </a:r>
            </a:p>
            <a:p>
              <a:r>
                <a:rPr lang="en-US" sz="1400" noProof="0" dirty="0"/>
                <a:t>run basic preparer over search and found</a:t>
              </a:r>
            </a:p>
            <a:p>
              <a:r>
                <a:rPr lang="en-US" sz="1400" noProof="0" dirty="0"/>
                <a:t>delta = 0</a:t>
              </a:r>
            </a:p>
            <a:p>
              <a:r>
                <a:rPr lang="en-US" sz="1400" noProof="0" dirty="0"/>
                <a:t>go through all words of search → word1</a:t>
              </a:r>
            </a:p>
            <a:p>
              <a:pPr marL="0" lvl="1" defTabSz="444500"/>
              <a:r>
                <a:rPr lang="en-US" sz="1400" noProof="0" dirty="0"/>
                <a:t>	max = 0</a:t>
              </a:r>
            </a:p>
            <a:p>
              <a:pPr marL="0" lvl="1" defTabSz="444500"/>
              <a:r>
                <a:rPr lang="en-US" sz="1400" noProof="0" dirty="0"/>
                <a:t>	go through all words of found → word2</a:t>
              </a:r>
            </a:p>
            <a:p>
              <a:pPr marL="0" lvl="2" defTabSz="444500"/>
              <a:r>
                <a:rPr lang="en-US" sz="1400" noProof="0" dirty="0"/>
                <a:t>		max = max(max, </a:t>
              </a:r>
              <a:r>
                <a:rPr lang="en-US" sz="1400" noProof="0" dirty="0" err="1"/>
                <a:t>lrcpd</a:t>
              </a:r>
              <a:r>
                <a:rPr lang="en-US" sz="1400" noProof="0" dirty="0"/>
                <a:t>(word1, word2))</a:t>
              </a:r>
            </a:p>
            <a:p>
              <a:pPr marL="0" lvl="2"/>
              <a:r>
                <a:rPr lang="en-US" sz="1400" noProof="0" dirty="0"/>
                <a:t>	if max == 1 exit loop</a:t>
              </a:r>
            </a:p>
            <a:p>
              <a:pPr marL="0" lvl="2" defTabSz="444500"/>
              <a:r>
                <a:rPr lang="en-US" sz="1400" noProof="0" dirty="0"/>
                <a:t>	delta += max</a:t>
              </a:r>
            </a:p>
            <a:p>
              <a:pPr marL="0" lvl="2"/>
              <a:r>
                <a:rPr lang="en-US" sz="1400" noProof="0" dirty="0"/>
                <a:t>delta = delta/wordcount(search)</a:t>
              </a:r>
            </a:p>
            <a:p>
              <a:pPr marL="0" lvl="1"/>
              <a:r>
                <a:rPr lang="en-US" sz="1400" noProof="0" dirty="0"/>
                <a:t>remove all blanks from search and found</a:t>
              </a:r>
            </a:p>
            <a:p>
              <a:pPr marL="0" lvl="1"/>
              <a:r>
                <a:rPr lang="en-US" sz="1400" noProof="0" dirty="0"/>
                <a:t>return max(delta, </a:t>
              </a:r>
              <a:r>
                <a:rPr lang="en-US" sz="1400" noProof="0" dirty="0" err="1"/>
                <a:t>lrcpd</a:t>
              </a:r>
              <a:r>
                <a:rPr lang="en-US" sz="1400" noProof="0" dirty="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Refinement ignores word-positioning, is non-commutative and returns a percentage → easy integration</a:t>
              </a:r>
            </a:p>
            <a:p>
              <a:pPr marL="216000" indent="-216000">
                <a:buClr>
                  <a:srgbClr val="00B0F0"/>
                </a:buClr>
                <a:buFont typeface="Wingdings" panose="05000000000000000000" pitchFamily="2" charset="2"/>
                <a:buChar char="§"/>
              </a:pPr>
              <a:r>
                <a:rPr lang="en-US" sz="1400" noProof="0" dirty="0"/>
                <a:t>Refinement is integrated into the Identity by replacing the components of search types affected by destructive Preparer</a:t>
              </a:r>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noProof="0" dirty="0"/>
              <a:t>3-Gram Search for “</a:t>
            </a:r>
            <a:r>
              <a:rPr lang="en-US" noProof="0" dirty="0" err="1"/>
              <a:t>Blaupause</a:t>
            </a:r>
            <a:r>
              <a:rPr lang="en-US" noProof="0" dirty="0"/>
              <a:t>” after LRCPD-Refinement</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16</a:t>
            </a:fld>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1691648821"/>
              </p:ext>
            </p:extLst>
          </p:nvPr>
        </p:nvGraphicFramePr>
        <p:xfrm>
          <a:off x="180000" y="612000"/>
          <a:ext cx="6012000" cy="3810000"/>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905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0"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a:noFill/>
                    </a:lnT>
                    <a:lnB>
                      <a:noFill/>
                    </a:lnB>
                  </a:tcPr>
                </a:tc>
                <a:extLst>
                  <a:ext uri="{0D108BD9-81ED-4DB2-BD59-A6C34878D82A}">
                    <a16:rowId xmlns:a16="http://schemas.microsoft.com/office/drawing/2014/main" val="10019"/>
                  </a:ext>
                </a:extLst>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noProof="0" dirty="0">
                <a:solidFill>
                  <a:srgbClr val="00B0F0"/>
                </a:solidFill>
              </a:rPr>
              <a:t>Refinement</a:t>
            </a:r>
          </a:p>
          <a:p>
            <a:r>
              <a:rPr lang="en-US" sz="1400" noProof="0" dirty="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noProof="0" dirty="0">
                <a:solidFill>
                  <a:srgbClr val="00B0F0"/>
                </a:solidFill>
              </a:rPr>
              <a:t>Compare Searched with Found </a:t>
            </a:r>
            <a:r>
              <a:rPr lang="en-US" sz="1400" noProof="0" dirty="0">
                <a:solidFill>
                  <a:prstClr val="black"/>
                </a:solidFill>
              </a:rPr>
              <a:t>is the default direction and mimics the general </a:t>
            </a:r>
            <a:r>
              <a:rPr lang="en-US" sz="1400" noProof="0" dirty="0" err="1">
                <a:solidFill>
                  <a:prstClr val="black"/>
                </a:solidFill>
              </a:rPr>
              <a:t>SearchEngine</a:t>
            </a:r>
            <a:r>
              <a:rPr lang="en-US" sz="1400" noProof="0" dirty="0">
                <a:solidFill>
                  <a:prstClr val="black"/>
                </a:solidFill>
              </a:rPr>
              <a:t> behavior</a:t>
            </a:r>
          </a:p>
          <a:p>
            <a:pPr marL="216000" lvl="1" indent="-216000">
              <a:buClr>
                <a:schemeClr val="accent1"/>
              </a:buClr>
              <a:buFont typeface="Wingdings" panose="05000000000000000000" pitchFamily="2" charset="2"/>
              <a:buChar char="§"/>
            </a:pPr>
            <a:r>
              <a:rPr lang="en-US" sz="1400" noProof="0" dirty="0">
                <a:solidFill>
                  <a:srgbClr val="00B0F0"/>
                </a:solidFill>
              </a:rPr>
              <a:t>Dynamic compare</a:t>
            </a:r>
            <a:r>
              <a:rPr lang="en-US" sz="1400" noProof="0" dirty="0">
                <a:solidFill>
                  <a:prstClr val="black"/>
                </a:solidFill>
              </a:rPr>
              <a:t> compares in both directions and uses the lowest result → suitable for person names</a:t>
            </a:r>
          </a:p>
          <a:p>
            <a:pPr marL="216000" lvl="1" indent="-216000">
              <a:buClr>
                <a:schemeClr val="accent1"/>
              </a:buClr>
              <a:buFont typeface="Wingdings" panose="05000000000000000000" pitchFamily="2" charset="2"/>
              <a:buChar char="§"/>
            </a:pPr>
            <a:r>
              <a:rPr lang="en-US" sz="1400" noProof="0" dirty="0">
                <a:solidFill>
                  <a:srgbClr val="00B0F0"/>
                </a:solidFill>
              </a:rPr>
              <a:t>Compare Found with Searched</a:t>
            </a:r>
            <a:r>
              <a:rPr lang="en-US" sz="1400" noProof="0" dirty="0">
                <a:solidFill>
                  <a:prstClr val="black"/>
                </a:solidFill>
              </a:rPr>
              <a:t> reverses the default direction → more noise in the base table (rarely used)</a:t>
            </a:r>
          </a:p>
          <a:p>
            <a:pPr marL="216000" lvl="1" indent="-216000">
              <a:buClr>
                <a:schemeClr val="accent1"/>
              </a:buClr>
              <a:buFont typeface="Wingdings" panose="05000000000000000000" pitchFamily="2" charset="2"/>
              <a:buChar char="§"/>
            </a:pPr>
            <a:r>
              <a:rPr lang="en-US" sz="1400" noProof="0" dirty="0">
                <a:solidFill>
                  <a:srgbClr val="00B0F0"/>
                </a:solidFill>
              </a:rPr>
              <a:t>No automatic refine/research on destructive preparer </a:t>
            </a:r>
            <a:r>
              <a:rPr lang="en-US" sz="1400" noProof="0" dirty="0"/>
              <a:t>skips the whole Refinement part (not advised but required for educational purposes)</a:t>
            </a:r>
            <a:endParaRPr lang="en-US" sz="1400" noProof="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noProof="0" dirty="0">
                <a:solidFill>
                  <a:srgbClr val="00B0F0"/>
                </a:solidFill>
              </a:rPr>
              <a:t>Advice</a:t>
            </a:r>
          </a:p>
          <a:p>
            <a:r>
              <a:rPr lang="en-US" sz="1400" noProof="0" dirty="0"/>
              <a:t>Refined components of the Identity lack the intrinsic frequency-based heuristic. Every word has the same “Identification Potential”. This can be considered a tacit loss in information conveyed by the Identity. Plus, retrieval using destructive Preparer and the consecutive Refinement are slow.</a:t>
            </a:r>
          </a:p>
          <a:p>
            <a:pPr>
              <a:spcBef>
                <a:spcPts val="600"/>
              </a:spcBef>
            </a:pPr>
            <a:r>
              <a:rPr lang="en-US" sz="1400" noProof="0" dirty="0"/>
              <a:t>Therefore, search types using destructive preparers should be used sensibly and only after search steps based on conventional preparers to fill the gaps caused by misspellings. </a:t>
            </a:r>
          </a:p>
        </p:txBody>
      </p:sp>
    </p:spTree>
    <p:extLst>
      <p:ext uri="{BB962C8B-B14F-4D97-AF65-F5344CB8AC3E}">
        <p14:creationId xmlns:p14="http://schemas.microsoft.com/office/powerpoint/2010/main" val="4237717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Smoothing &amp; Accentuating of the </a:t>
            </a:r>
            <a:r>
              <a:rPr lang="en-US" noProof="0" dirty="0" err="1"/>
              <a:t>rIP</a:t>
            </a:r>
            <a:endParaRPr lang="en-US" noProof="0"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noProof="0" dirty="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noProof="0" dirty="0" err="1">
                <a:solidFill>
                  <a:srgbClr val="00AAE5"/>
                </a:solidFill>
                <a:latin typeface="Calibri" panose="020F0502020204030204" pitchFamily="34" charset="0"/>
              </a:rPr>
              <a:t>softmax</a:t>
            </a:r>
            <a:r>
              <a:rPr lang="en-US" sz="1200" noProof="0" dirty="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offset = -9999999</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17</a:t>
            </a:fld>
            <a:endParaRPr lang="en-US" noProof="0"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Smoothing &amp; Accentuating of the </a:t>
            </a:r>
            <a:r>
              <a:rPr lang="en-US" noProof="0" dirty="0" err="1"/>
              <a:t>rIP</a:t>
            </a:r>
            <a:endParaRPr lang="en-US" noProof="0"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noProof="0" dirty="0" err="1">
                <a:solidFill>
                  <a:srgbClr val="00AAE5"/>
                </a:solidFill>
                <a:latin typeface="Calibri" panose="020F0502020204030204" pitchFamily="34" charset="0"/>
              </a:rPr>
              <a:t>softmax</a:t>
            </a:r>
            <a:r>
              <a:rPr lang="en-US" sz="1200" noProof="0" dirty="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offset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noProof="0" dirty="0"/>
              <a:t>high recall, moderate precision</a:t>
            </a:r>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noProof="0" dirty="0"/>
              <a:t>high precision, moderate recall</a:t>
            </a:r>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noProof="0" dirty="0"/>
                  <a:t>experimental, keyword clustering for abstracts &amp; titles</a:t>
                </a:r>
                <a:br>
                  <a:rPr lang="en-US" sz="1200" noProof="0" dirty="0"/>
                </a:br>
                <a:r>
                  <a:rPr lang="en-US" sz="1200" noProof="0" dirty="0"/>
                  <a:t>0 &lt; 𝑠𝑜𝑓𝑡𝑚𝑎𝑥 ≤ 1.5 : smoothing (</a:t>
                </a:r>
                <a14:m>
                  <m:oMath xmlns:m="http://schemas.openxmlformats.org/officeDocument/2006/math">
                    <m:r>
                      <a:rPr lang="en-US" sz="1200" b="0" i="0" noProof="0" smtClean="0">
                        <a:latin typeface="Cambria Math" panose="02040503050406030204" pitchFamily="18" charset="0"/>
                        <a:ea typeface="Cambria Math" panose="02040503050406030204" pitchFamily="18" charset="0"/>
                      </a:rPr>
                      <m:t>0.5</m:t>
                    </m:r>
                    <m:r>
                      <a:rPr lang="en-US" sz="1200" i="1" noProof="0" smtClean="0">
                        <a:latin typeface="Cambria Math" panose="02040503050406030204" pitchFamily="18" charset="0"/>
                        <a:ea typeface="Cambria Math" panose="02040503050406030204" pitchFamily="18" charset="0"/>
                      </a:rPr>
                      <m:t>≈</m:t>
                    </m:r>
                  </m:oMath>
                </a14:m>
                <a:r>
                  <a:rPr lang="en-US" sz="1200" noProof="0" dirty="0"/>
                  <a:t> log) </a:t>
                </a:r>
              </a:p>
              <a:p>
                <a:r>
                  <a:rPr lang="en-US" sz="1200" noProof="0" dirty="0"/>
                  <a:t>1.5 &lt; 𝑠𝑜𝑓𝑡𝑚𝑎𝑥 ≤ 30 : accentuating</a:t>
                </a:r>
              </a:p>
              <a:p>
                <a:endParaRPr lang="en-US" sz="1200" noProof="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noProof="0" dirty="0"/>
              <a:t>transformation into word based heuristic, outdated by log</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18</a:t>
            </a:fld>
            <a:endParaRPr lang="en-US" noProof="0" dirty="0"/>
          </a:p>
        </p:txBody>
      </p:sp>
    </p:spTree>
    <p:extLst>
      <p:ext uri="{BB962C8B-B14F-4D97-AF65-F5344CB8AC3E}">
        <p14:creationId xmlns:p14="http://schemas.microsoft.com/office/powerpoint/2010/main" val="4293808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noProof="0" dirty="0">
                <a:solidFill>
                  <a:srgbClr val="00AAE5"/>
                </a:solidFill>
              </a:rPr>
              <a:t>3-Gram</a:t>
            </a:r>
            <a:r>
              <a:rPr lang="en-US" noProof="0" dirty="0"/>
              <a:t> Search for “</a:t>
            </a:r>
            <a:r>
              <a:rPr lang="en-US" noProof="0" dirty="0" err="1"/>
              <a:t>Blaupause</a:t>
            </a:r>
            <a:r>
              <a:rPr lang="en-US" noProof="0" dirty="0"/>
              <a:t>” with Log-Smoothing </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19</a:t>
            </a:fld>
            <a:endParaRPr lang="en-US" noProof="0" dirty="0"/>
          </a:p>
        </p:txBody>
      </p:sp>
      <p:graphicFrame>
        <p:nvGraphicFramePr>
          <p:cNvPr id="7" name="Tabelle 6"/>
          <p:cNvGraphicFramePr>
            <a:graphicFrameLocks noGrp="1"/>
          </p:cNvGraphicFramePr>
          <p:nvPr>
            <p:extLst>
              <p:ext uri="{D42A27DB-BD31-4B8C-83A1-F6EECF244321}">
                <p14:modId xmlns:p14="http://schemas.microsoft.com/office/powerpoint/2010/main" val="1644963094"/>
              </p:ext>
            </p:extLst>
          </p:nvPr>
        </p:nvGraphicFramePr>
        <p:xfrm>
          <a:off x="180000" y="612000"/>
          <a:ext cx="5892800" cy="3810000"/>
        </p:xfrm>
        <a:graphic>
          <a:graphicData uri="http://schemas.openxmlformats.org/drawingml/2006/table">
            <a:tbl>
              <a:tblPr/>
              <a:tblGrid>
                <a:gridCol w="533113">
                  <a:extLst>
                    <a:ext uri="{9D8B030D-6E8A-4147-A177-3AD203B41FA5}">
                      <a16:colId xmlns:a16="http://schemas.microsoft.com/office/drawing/2014/main" val="20000"/>
                    </a:ext>
                  </a:extLst>
                </a:gridCol>
                <a:gridCol w="5359687">
                  <a:extLst>
                    <a:ext uri="{9D8B030D-6E8A-4147-A177-3AD203B41FA5}">
                      <a16:colId xmlns:a16="http://schemas.microsoft.com/office/drawing/2014/main" val="20001"/>
                    </a:ext>
                  </a:extLst>
                </a:gridCol>
              </a:tblGrid>
              <a:tr h="190500">
                <a:tc>
                  <a:txBody>
                    <a:bodyPr/>
                    <a:lstStyle/>
                    <a:p>
                      <a:pPr algn="l" fontAlgn="b"/>
                      <a:r>
                        <a:rPr lang="en-US" sz="1100" b="0" i="0" u="none" strike="noStrike" noProof="0" dirty="0">
                          <a:solidFill>
                            <a:srgbClr val="000000"/>
                          </a:solidFill>
                          <a:effectLst/>
                          <a:latin typeface="Calibri" panose="020F0502020204030204" pitchFamily="34" charset="0"/>
                        </a:rPr>
                        <a:t>identity</a:t>
                      </a: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9525" marR="9525" marT="9525"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9525" marR="9525" marT="9525"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9525" marR="9525" marT="9525"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extLst>
                  <a:ext uri="{0D108BD9-81ED-4DB2-BD59-A6C34878D82A}">
                    <a16:rowId xmlns:a16="http://schemas.microsoft.com/office/drawing/2014/main" val="10019"/>
                  </a:ext>
                </a:extLst>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2051359537"/>
              </p:ext>
            </p:extLst>
          </p:nvPr>
        </p:nvGraphicFramePr>
        <p:xfrm>
          <a:off x="5936563" y="612000"/>
          <a:ext cx="6012000" cy="3810000"/>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905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0"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a:noFill/>
                    </a:lnT>
                    <a:lnB>
                      <a:noFill/>
                    </a:lnB>
                  </a:tcPr>
                </a:tc>
                <a:extLst>
                  <a:ext uri="{0D108BD9-81ED-4DB2-BD59-A6C34878D82A}">
                    <a16:rowId xmlns:a16="http://schemas.microsoft.com/office/drawing/2014/main" val="10019"/>
                  </a:ext>
                </a:extLst>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noProof="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noProof="0" dirty="0"/>
              <a:t>Why should “UPA” be much more relevant then “BLA”? Log-smoothing suppresses the undeserved dominance of specific n-grams.</a:t>
            </a:r>
          </a:p>
          <a:p>
            <a:r>
              <a:rPr lang="en-US" sz="1400" noProof="0" dirty="0"/>
              <a:t>Still, refinement should always be engaged for n-grams because the </a:t>
            </a:r>
            <a:r>
              <a:rPr lang="en-US" sz="1400" noProof="0" dirty="0" err="1"/>
              <a:t>SearchEngine</a:t>
            </a:r>
            <a:r>
              <a:rPr lang="en-US" sz="1400" noProof="0" dirty="0"/>
              <a:t> notoriously disregards positioning.</a:t>
            </a:r>
            <a:br>
              <a:rPr lang="en-US" sz="1400" noProof="0" dirty="0"/>
            </a:br>
            <a:r>
              <a:rPr lang="en-US" sz="1400" noProof="0" dirty="0"/>
              <a:t>N-grams with and without smoothing complement each other, hence alternate both in dedicated search runs for best effect.</a:t>
            </a:r>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All candidates have to be accepted due to ambiguous firm identification (</a:t>
            </a:r>
            <a:r>
              <a:rPr lang="en-US" sz="1400" strike="sngStrike" kern="0" noProof="0" dirty="0" err="1">
                <a:solidFill>
                  <a:srgbClr val="00AAE5"/>
                </a:solidFill>
              </a:rPr>
              <a:t>darwininan</a:t>
            </a:r>
            <a:r>
              <a:rPr lang="en-US" sz="1400" kern="0" noProof="0" dirty="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Containment</a:t>
            </a:r>
            <a:r>
              <a:rPr kumimoji="0" lang="en-US" sz="1400" b="0" i="0" u="none" strike="noStrike" kern="0" cap="none" spc="0" normalizeH="0" baseline="0" noProof="0" dirty="0">
                <a:ln>
                  <a:noFill/>
                </a:ln>
                <a:solidFill>
                  <a:srgbClr val="000000"/>
                </a:solidFill>
                <a:effectLst/>
                <a:uLnTx/>
                <a:uFillTx/>
              </a:rPr>
              <a:t>: loose/none, difficult to assess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Merging</a:t>
            </a:r>
            <a:r>
              <a:rPr kumimoji="0" lang="en-US" sz="1400" b="0" i="0" u="none" strike="noStrike" kern="0" cap="none" spc="0" normalizeH="0" baseline="0" noProof="0" dirty="0">
                <a:ln>
                  <a:noFill/>
                </a:ln>
                <a:solidFill>
                  <a:srgbClr val="000000"/>
                </a:solidFill>
                <a:effectLst/>
                <a:uLnTx/>
                <a:uFillTx/>
              </a:rPr>
              <a:t>: candidate list of subsequent search runs have to be merged</a:t>
            </a:r>
            <a:r>
              <a:rPr kumimoji="0" lang="en-US" sz="1400" b="0" i="0" u="none" strike="noStrike" kern="0" cap="none" spc="0" normalizeH="0" noProof="0" dirty="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noProof="0" dirty="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a:ln>
                  <a:noFill/>
                </a:ln>
                <a:solidFill>
                  <a:srgbClr val="00AAE5"/>
                </a:solidFill>
                <a:effectLst/>
                <a:uLnTx/>
                <a:uFillTx/>
              </a:rPr>
              <a:t>SEML</a:t>
            </a:r>
            <a:r>
              <a:rPr kumimoji="0" lang="en-US" sz="1400" b="0" i="0" u="none" strike="noStrike" kern="0" cap="none" spc="0" normalizeH="0" baseline="0" noProof="0" dirty="0">
                <a:ln>
                  <a:noFill/>
                </a:ln>
                <a:solidFill>
                  <a:srgbClr val="000000"/>
                </a:solidFill>
                <a:effectLst/>
                <a:uLnTx/>
                <a:uFillTx/>
              </a:rPr>
              <a:t> identifies</a:t>
            </a:r>
            <a:r>
              <a:rPr kumimoji="0" lang="en-US" sz="1400" b="0" i="0" u="none" strike="noStrike" kern="0" cap="none" spc="0" normalizeH="0" noProof="0" dirty="0">
                <a:ln>
                  <a:noFill/>
                </a:ln>
                <a:solidFill>
                  <a:srgbClr val="000000"/>
                </a:solidFill>
                <a:effectLst/>
                <a:uLnTx/>
                <a:uFillTx/>
              </a:rPr>
              <a:t> false positives with moderate accuracy</a:t>
            </a:r>
            <a:r>
              <a:rPr kumimoji="0" lang="en-US" sz="1400" b="0" i="0" u="none" strike="noStrike" kern="0" cap="none" spc="0" normalizeH="0" baseline="0" noProof="0" dirty="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20</a:t>
            </a:fld>
            <a:endParaRPr lang="en-US" noProof="0"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noProof="0" dirty="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a:ln>
                  <a:noFill/>
                </a:ln>
                <a:solidFill>
                  <a:srgbClr val="000000"/>
                </a:solidFill>
                <a:effectLst/>
                <a:uLnTx/>
                <a:uFillTx/>
              </a:rPr>
              <a:t>Unrelated</a:t>
            </a:r>
            <a:r>
              <a:rPr kumimoji="0" lang="en-US" sz="1400" b="0" i="0" u="none" strike="noStrike" kern="0" cap="none" spc="0" normalizeH="0" noProof="0" dirty="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noProof="0" dirty="0">
                <a:solidFill>
                  <a:srgbClr val="000000"/>
                </a:solidFill>
              </a:rPr>
              <a:t>No</a:t>
            </a:r>
            <a:r>
              <a:rPr lang="en-US" sz="1400" kern="0" noProof="0" dirty="0">
                <a:solidFill>
                  <a:srgbClr val="000000"/>
                </a:solidFill>
              </a:rPr>
              <a:t> focus at all, i.e. scraped web data</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May not be suited as search table because additional</a:t>
            </a:r>
            <a:r>
              <a:rPr kumimoji="0" lang="en-US" sz="1400" b="0" i="0" u="none" strike="noStrike" kern="0" cap="none" spc="0" normalizeH="0" noProof="0" dirty="0">
                <a:ln>
                  <a:noFill/>
                </a:ln>
                <a:solidFill>
                  <a:srgbClr val="000000"/>
                </a:solidFill>
                <a:effectLst/>
                <a:uLnTx/>
                <a:uFillTx/>
              </a:rPr>
              <a:t> </a:t>
            </a:r>
            <a:r>
              <a:rPr lang="en-US" sz="1400" kern="0" noProof="0" dirty="0">
                <a:solidFill>
                  <a:srgbClr val="000000"/>
                </a:solidFill>
              </a:rPr>
              <a:t>n</a:t>
            </a:r>
            <a:r>
              <a:rPr kumimoji="0" lang="en-US" sz="1400" b="0" i="0" u="none" strike="noStrike" kern="0" cap="none" spc="0" normalizeH="0" noProof="0" dirty="0">
                <a:ln>
                  <a:noFill/>
                </a:ln>
                <a:solidFill>
                  <a:srgbClr val="000000"/>
                </a:solidFill>
                <a:effectLst/>
                <a:uLnTx/>
                <a:uFillTx/>
              </a:rPr>
              <a:t>oise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0000"/>
                </a:solidFill>
              </a:rPr>
              <a:t>Data provider focused on search context</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Sound entity definition: </a:t>
            </a:r>
            <a:r>
              <a:rPr lang="en-US" sz="1400" kern="0" noProof="0" dirty="0">
                <a:solidFill>
                  <a:srgbClr val="000000"/>
                </a:solidFill>
              </a:rPr>
              <a:t>f</a:t>
            </a:r>
            <a:r>
              <a:rPr kumimoji="0" lang="en-US" sz="1400" b="0" i="0" u="none" strike="noStrike" kern="0" cap="none" spc="0" normalizeH="0" baseline="0" noProof="0" dirty="0">
                <a:ln>
                  <a:noFill/>
                </a:ln>
                <a:solidFill>
                  <a:srgbClr val="000000"/>
                </a:solidFill>
                <a:effectLst/>
                <a:uLnTx/>
                <a:uFillTx/>
              </a:rPr>
              <a:t>irms have a dedicated key, i.e. </a:t>
            </a:r>
            <a:r>
              <a:rPr kumimoji="0" lang="en-US" sz="1400" b="0" i="0" u="none" strike="noStrike" kern="0" cap="none" spc="0" normalizeH="0" baseline="0" noProof="0" dirty="0" err="1">
                <a:ln>
                  <a:noFill/>
                </a:ln>
                <a:solidFill>
                  <a:srgbClr val="000000"/>
                </a:solidFill>
                <a:effectLst/>
                <a:uLnTx/>
                <a:uFillTx/>
              </a:rPr>
              <a:t>bvdid</a:t>
            </a:r>
            <a:r>
              <a:rPr kumimoji="0" lang="en-US" sz="1400" b="0" i="0" u="none" strike="noStrike" kern="0" cap="none" spc="0" normalizeH="0" baseline="0" noProof="0" dirty="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0000"/>
                </a:solidFill>
              </a:rPr>
              <a:t>Clean names and addresses without clutter </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Orbis, </a:t>
            </a:r>
            <a:r>
              <a:rPr kumimoji="0" lang="en-US" sz="1400" b="0" i="0" u="none" strike="noStrike" kern="0" cap="none" spc="0" normalizeH="0" baseline="0" noProof="0" dirty="0" err="1">
                <a:ln>
                  <a:noFill/>
                </a:ln>
                <a:solidFill>
                  <a:srgbClr val="000000"/>
                </a:solidFill>
                <a:effectLst/>
                <a:uLnTx/>
                <a:uFillTx/>
              </a:rPr>
              <a:t>Compustat</a:t>
            </a:r>
            <a:r>
              <a:rPr kumimoji="0" lang="en-US" sz="1400" b="0" i="0" u="none" strike="noStrike" kern="0" cap="none" spc="0" normalizeH="0" baseline="0" noProof="0" dirty="0">
                <a:ln>
                  <a:noFill/>
                </a:ln>
                <a:solidFill>
                  <a:srgbClr val="000000"/>
                </a:solidFill>
                <a:effectLst/>
                <a:uLnTx/>
                <a:uFillTx/>
              </a:rPr>
              <a:t>, </a:t>
            </a:r>
            <a:r>
              <a:rPr kumimoji="0" lang="en-US" sz="1400" b="0" i="0" u="none" strike="noStrike" kern="0" cap="none" spc="0" normalizeH="0" baseline="0" noProof="0" dirty="0" err="1">
                <a:ln>
                  <a:noFill/>
                </a:ln>
                <a:solidFill>
                  <a:srgbClr val="000000"/>
                </a:solidFill>
                <a:effectLst/>
                <a:uLnTx/>
                <a:uFillTx/>
              </a:rPr>
              <a:t>creditreform</a:t>
            </a:r>
            <a:r>
              <a:rPr kumimoji="0" lang="en-US" sz="1400" b="0" i="0" u="none" strike="noStrike" kern="0" cap="none" spc="0" normalizeH="0" baseline="0" noProof="0" dirty="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a:ln>
                  <a:noFill/>
                </a:ln>
                <a:solidFill>
                  <a:srgbClr val="BADA15"/>
                </a:solidFill>
                <a:effectLst/>
                <a:uLnTx/>
                <a:uFillTx/>
                <a:latin typeface="Calibri"/>
                <a:ea typeface="+mj-ea"/>
                <a:cs typeface="+mj-cs"/>
              </a:rPr>
              <a:t>Unfocused Base Table</a:t>
            </a: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7CD2C6"/>
                </a:solidFill>
                <a:effectLst/>
                <a:uLnTx/>
                <a:uFillTx/>
                <a:latin typeface="Calibri"/>
                <a:ea typeface="+mj-ea"/>
                <a:cs typeface="+mj-cs"/>
              </a:rPr>
              <a:t>Focused Base Table</a:t>
            </a: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effectLst/>
                <a:uLnTx/>
                <a:uFillTx/>
                <a:latin typeface="Calibri"/>
                <a:ea typeface="+mj-ea"/>
                <a:cs typeface="+mj-cs"/>
              </a:rPr>
              <a:t>vs.</a:t>
            </a: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a:ln>
                  <a:noFill/>
                </a:ln>
                <a:solidFill>
                  <a:srgbClr val="000000"/>
                </a:solidFill>
                <a:effectLst/>
                <a:uLnTx/>
                <a:uFillTx/>
              </a:rPr>
              <a:t>Earlier runs</a:t>
            </a:r>
            <a:r>
              <a:rPr kumimoji="0" lang="en-US" sz="1400" b="0" i="0" u="none" strike="noStrike" kern="0" cap="none" spc="0" normalizeH="0" noProof="0" dirty="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noProof="0" dirty="0">
                <a:solidFill>
                  <a:srgbClr val="000000"/>
                </a:solidFill>
              </a:rPr>
              <a:t>Later runs increase recall</a:t>
            </a:r>
            <a:endParaRPr kumimoji="0" lang="en-US" sz="1400" b="0" i="0" u="none" strike="noStrike" kern="0" cap="none" spc="0" normalizeH="0" baseline="0" noProof="0" dirty="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Darwinian</a:t>
            </a:r>
            <a:r>
              <a:rPr kumimoji="0" lang="en-US" sz="1400" b="0" i="0" u="none" strike="noStrike" kern="0" cap="none" spc="0" normalizeH="0" baseline="0" noProof="0" dirty="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AAE5"/>
                </a:solidFill>
              </a:rPr>
              <a:t>Containment</a:t>
            </a:r>
            <a:r>
              <a:rPr lang="en-US" sz="1400" kern="0" noProof="0" dirty="0">
                <a:solidFill>
                  <a:srgbClr val="000000"/>
                </a:solidFill>
              </a:rPr>
              <a:t>: tight, easy to assess</a:t>
            </a:r>
            <a:endParaRPr kumimoji="0" lang="en-US" sz="1400" b="0" i="0" u="none" strike="noStrike" kern="0" cap="none" spc="0" normalizeH="0" noProof="0" dirty="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Completing</a:t>
            </a:r>
            <a:r>
              <a:rPr kumimoji="0" lang="en-US" sz="1400" b="0" i="0" u="none" strike="noStrike" kern="0" cap="none" spc="0" normalizeH="0" baseline="0" noProof="0" dirty="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noProof="0" dirty="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a:ln>
                  <a:noFill/>
                </a:ln>
                <a:solidFill>
                  <a:srgbClr val="00AAE5"/>
                </a:solidFill>
                <a:effectLst/>
                <a:uLnTx/>
                <a:uFillTx/>
              </a:rPr>
              <a:t>SEML</a:t>
            </a:r>
            <a:r>
              <a:rPr kumimoji="0" lang="en-US" sz="1400" b="0" i="0" u="none" strike="noStrike" kern="0" cap="none" spc="0" normalizeH="0" baseline="0" noProof="0" dirty="0">
                <a:ln>
                  <a:noFill/>
                </a:ln>
                <a:solidFill>
                  <a:srgbClr val="000000"/>
                </a:solidFill>
                <a:effectLst/>
                <a:uLnTx/>
                <a:uFillTx/>
              </a:rPr>
              <a:t> identifies false</a:t>
            </a:r>
            <a:r>
              <a:rPr kumimoji="0" lang="en-US" sz="1400" b="0" i="0" u="none" strike="noStrike" kern="0" cap="none" spc="0" normalizeH="0" noProof="0" dirty="0">
                <a:ln>
                  <a:noFill/>
                </a:ln>
                <a:solidFill>
                  <a:srgbClr val="000000"/>
                </a:solidFill>
                <a:effectLst/>
                <a:uLnTx/>
                <a:uFillTx/>
              </a:rPr>
              <a:t> positives with</a:t>
            </a:r>
            <a:r>
              <a:rPr kumimoji="0" lang="en-US" sz="1400" b="0" i="0" u="none" strike="noStrike" kern="0" cap="none" spc="0" normalizeH="0" baseline="0" noProof="0" dirty="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21</a:t>
            </a:fld>
            <a:endParaRPr lang="en-US" noProof="0"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a:ln>
                  <a:noFill/>
                </a:ln>
                <a:effectLst/>
                <a:uLnTx/>
                <a:uFillTx/>
                <a:latin typeface="Calibri"/>
                <a:ea typeface="+mj-ea"/>
                <a:cs typeface="+mj-cs"/>
              </a:rPr>
              <a:t>Inverse Darwinian Cutoff</a:t>
            </a: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noProof="0" dirty="0"/>
              <a:t>If I have to match </a:t>
            </a:r>
            <a:r>
              <a:rPr lang="en-US" noProof="0" dirty="0">
                <a:solidFill>
                  <a:srgbClr val="7AD0C4"/>
                </a:solidFill>
              </a:rPr>
              <a:t>focused</a:t>
            </a:r>
            <a:r>
              <a:rPr lang="en-US" noProof="0" dirty="0"/>
              <a:t> with </a:t>
            </a:r>
            <a:r>
              <a:rPr lang="en-US" noProof="0" dirty="0">
                <a:solidFill>
                  <a:srgbClr val="BADA15"/>
                </a:solidFill>
              </a:rPr>
              <a:t>unfocused</a:t>
            </a:r>
            <a:r>
              <a:rPr lang="en-US" noProof="0" dirty="0"/>
              <a:t> data,</a:t>
            </a:r>
          </a:p>
          <a:p>
            <a:r>
              <a:rPr lang="en-US" noProof="0" dirty="0"/>
              <a:t>why on earth should I use the </a:t>
            </a:r>
            <a:r>
              <a:rPr lang="en-US" noProof="0" dirty="0">
                <a:solidFill>
                  <a:srgbClr val="BADA15"/>
                </a:solidFill>
              </a:rPr>
              <a:t>unfocused</a:t>
            </a:r>
            <a:r>
              <a:rPr lang="en-US" noProof="0" dirty="0"/>
              <a:t> data as base table?</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noProof="0" dirty="0"/>
              <a:t>noise [</a:t>
            </a:r>
            <a:r>
              <a:rPr lang="en-US" sz="1400" noProof="0" dirty="0" err="1"/>
              <a:t>nɔɪz</a:t>
            </a:r>
            <a:r>
              <a:rPr lang="en-US" sz="1400" noProof="0" dirty="0"/>
              <a:t>]</a:t>
            </a:r>
          </a:p>
          <a:p>
            <a:pPr marL="216000"/>
            <a:r>
              <a:rPr lang="en-US" sz="1400" i="1" noProof="0" dirty="0"/>
              <a:t>random fluctuations that obscure or do not contain meaningful data or other information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noProof="0" dirty="0">
                <a:solidFill>
                  <a:prstClr val="black"/>
                </a:solidFill>
              </a:rPr>
              <a:t>In the context of firm data this means additional words like departments, location information, marketing fluff, blurry field contexts (address ↔ firm name) etc. drown the definition of the entity in noise.</a:t>
            </a:r>
          </a:p>
          <a:p>
            <a:pPr lvl="0"/>
            <a:r>
              <a:rPr lang="en-US" sz="1400" noProof="0" dirty="0">
                <a:solidFill>
                  <a:prstClr val="black"/>
                </a:solidFill>
              </a:rPr>
              <a:t>Noisy data is just not suitable as Search Table; thus, it has to become the Base Table as additional clutter has no immediate effect on retrieval. The perfectly fine, </a:t>
            </a:r>
            <a:r>
              <a:rPr lang="en-US" sz="1400" noProof="0" dirty="0">
                <a:solidFill>
                  <a:srgbClr val="7AD0C4"/>
                </a:solidFill>
              </a:rPr>
              <a:t>focused</a:t>
            </a:r>
            <a:r>
              <a:rPr lang="en-US" sz="1400" noProof="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noProof="0" dirty="0"/>
              <a:t>This necessitates a </a:t>
            </a:r>
            <a:r>
              <a:rPr lang="en-US" sz="1400" noProof="0" dirty="0">
                <a:solidFill>
                  <a:srgbClr val="BADA15"/>
                </a:solidFill>
              </a:rPr>
              <a:t>Compound Search Strategy</a:t>
            </a:r>
            <a:r>
              <a:rPr lang="en-US" sz="1400" noProof="0" dirty="0"/>
              <a:t> entailing bloated candidate lists.</a:t>
            </a:r>
          </a:p>
          <a:p>
            <a:pPr marL="216000" indent="-216000">
              <a:buClr>
                <a:srgbClr val="00B0F0"/>
              </a:buClr>
              <a:buFont typeface="Wingdings" panose="05000000000000000000" pitchFamily="2" charset="2"/>
              <a:buChar char="§"/>
            </a:pPr>
            <a:r>
              <a:rPr lang="en-US" sz="1400" noProof="0" dirty="0">
                <a:solidFill>
                  <a:prstClr val="black"/>
                </a:solidFill>
              </a:rPr>
              <a:t>Darwinian approach (keeping only the best candidate(s)) is not possible as the Base Table is not </a:t>
            </a:r>
            <a:r>
              <a:rPr lang="en-US" sz="1400" noProof="0" dirty="0">
                <a:solidFill>
                  <a:srgbClr val="7AD0C4"/>
                </a:solidFill>
              </a:rPr>
              <a:t>focused</a:t>
            </a:r>
            <a:endParaRPr lang="en-US" sz="1400" noProof="0" dirty="0">
              <a:solidFill>
                <a:prstClr val="black"/>
              </a:solidFill>
            </a:endParaRPr>
          </a:p>
          <a:p>
            <a:pPr marL="216000" lvl="0" indent="-216000">
              <a:buClr>
                <a:srgbClr val="00B0F0"/>
              </a:buClr>
              <a:buFont typeface="Wingdings" panose="05000000000000000000" pitchFamily="2" charset="2"/>
              <a:buChar char="§"/>
            </a:pPr>
            <a:r>
              <a:rPr lang="en-US" sz="1400" noProof="0" dirty="0">
                <a:solidFill>
                  <a:prstClr val="black"/>
                </a:solidFill>
              </a:rPr>
              <a:t>But, a candidate may be attached to multiple </a:t>
            </a:r>
            <a:r>
              <a:rPr lang="en-US" sz="1400" noProof="0" dirty="0">
                <a:solidFill>
                  <a:srgbClr val="7AD0C4"/>
                </a:solidFill>
              </a:rPr>
              <a:t>focused</a:t>
            </a:r>
            <a:r>
              <a:rPr lang="en-US" sz="1400" noProof="0" dirty="0"/>
              <a:t> search records, which are redundant except the best</a:t>
            </a:r>
            <a:br>
              <a:rPr lang="en-US" sz="1400" noProof="0" dirty="0"/>
            </a:br>
            <a:r>
              <a:rPr lang="en-US" sz="1400" noProof="0" dirty="0">
                <a:solidFill>
                  <a:prstClr val="black"/>
                </a:solidFill>
              </a:rPr>
              <a:t> </a:t>
            </a:r>
            <a:r>
              <a:rPr lang="en-US" sz="1400" noProof="0" dirty="0"/>
              <a:t>→ </a:t>
            </a:r>
            <a:r>
              <a:rPr lang="en-US" sz="1400" noProof="0" dirty="0">
                <a:solidFill>
                  <a:srgbClr val="00B0F0"/>
                </a:solidFill>
              </a:rPr>
              <a:t>Inverse Darwinian Cutoff</a:t>
            </a:r>
          </a:p>
          <a:p>
            <a:r>
              <a:rPr lang="en-US" sz="1400" noProof="0" dirty="0"/>
              <a:t> </a:t>
            </a:r>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noProof="0" dirty="0"/>
              <a:t>It is too noisy to provide concise search terms.</a:t>
            </a:r>
          </a:p>
        </p:txBody>
      </p:sp>
      <p:sp>
        <p:nvSpPr>
          <p:cNvPr id="6" name="Textfeld 5"/>
          <p:cNvSpPr txBox="1"/>
          <p:nvPr/>
        </p:nvSpPr>
        <p:spPr>
          <a:xfrm>
            <a:off x="5056908" y="2269208"/>
            <a:ext cx="4629257" cy="2677656"/>
          </a:xfrm>
          <a:prstGeom prst="rect">
            <a:avLst/>
          </a:prstGeom>
          <a:noFill/>
        </p:spPr>
        <p:txBody>
          <a:bodyPr wrap="square" rtlCol="0">
            <a:spAutoFit/>
          </a:bodyPr>
          <a:lstStyle/>
          <a:p>
            <a:pPr marL="216000" indent="-216000">
              <a:buClr>
                <a:srgbClr val="00AAE5"/>
              </a:buClr>
              <a:buFont typeface="+mj-lt"/>
              <a:buAutoNum type="arabicPeriod"/>
            </a:pPr>
            <a:r>
              <a:rPr lang="en-US" sz="1400" noProof="0" dirty="0"/>
              <a:t>Introduce variation by applying a </a:t>
            </a:r>
            <a:r>
              <a:rPr lang="en-US" sz="1400" noProof="0" dirty="0">
                <a:solidFill>
                  <a:srgbClr val="00AAE5"/>
                </a:solidFill>
              </a:rPr>
              <a:t>feedback</a:t>
            </a:r>
            <a:r>
              <a:rPr lang="en-US" sz="1400" noProof="0" dirty="0"/>
              <a:t> effect retroactively using the </a:t>
            </a:r>
            <a:r>
              <a:rPr lang="en-US" sz="1400" noProof="0" dirty="0">
                <a:solidFill>
                  <a:srgbClr val="00AAE5"/>
                </a:solidFill>
              </a:rPr>
              <a:t>research</a:t>
            </a:r>
            <a:r>
              <a:rPr lang="en-US" sz="1400" noProof="0" dirty="0"/>
              <a:t> function. This function readjusts the identity of existing candidates according to the current settings. Log-smoothing and a 100% feedback (full </a:t>
            </a:r>
            <a:r>
              <a:rPr lang="en-US" sz="1400" noProof="0" dirty="0" err="1"/>
              <a:t>Jacard</a:t>
            </a:r>
            <a:r>
              <a:rPr lang="en-US" sz="1400" noProof="0" dirty="0"/>
              <a:t>) should be applied to the firm name. This punishes weak search terms much harder than search terms with more overlap.</a:t>
            </a:r>
          </a:p>
          <a:p>
            <a:pPr marL="216000" indent="-216000">
              <a:buClr>
                <a:srgbClr val="00AAE5"/>
              </a:buClr>
              <a:buFont typeface="+mj-lt"/>
              <a:buAutoNum type="arabicPeriod"/>
            </a:pPr>
            <a:r>
              <a:rPr lang="en-US" sz="1400" noProof="0" dirty="0"/>
              <a:t>Remove all search terms from a candidate except the ones with the highest identity. The </a:t>
            </a:r>
            <a:r>
              <a:rPr lang="en-US" sz="1400" noProof="0" dirty="0">
                <a:solidFill>
                  <a:srgbClr val="00AAE5"/>
                </a:solidFill>
              </a:rPr>
              <a:t>strip</a:t>
            </a:r>
            <a:r>
              <a:rPr lang="en-US" sz="1400" noProof="0" dirty="0"/>
              <a:t> function allows to remove candidates retroactively. With the </a:t>
            </a:r>
            <a:r>
              <a:rPr lang="en-US" sz="1400" noProof="0" dirty="0">
                <a:solidFill>
                  <a:srgbClr val="00AAE5"/>
                </a:solidFill>
              </a:rPr>
              <a:t>inverse</a:t>
            </a:r>
            <a:r>
              <a:rPr lang="en-US" sz="1400" noProof="0" dirty="0"/>
              <a:t> option, this function will strip the candidates of redundant search terms with a </a:t>
            </a:r>
            <a:r>
              <a:rPr lang="en-US" sz="1400" noProof="0" dirty="0">
                <a:solidFill>
                  <a:srgbClr val="00AAE5"/>
                </a:solidFill>
              </a:rPr>
              <a:t>cutoff</a:t>
            </a:r>
            <a:r>
              <a:rPr lang="en-US" sz="1400" noProof="0" dirty="0"/>
              <a:t> of 1 ≈ </a:t>
            </a:r>
            <a:r>
              <a:rPr lang="en-US" sz="1400" noProof="0" dirty="0">
                <a:solidFill>
                  <a:srgbClr val="00AAE5"/>
                </a:solidFill>
              </a:rPr>
              <a:t>Darwinian</a:t>
            </a:r>
            <a:r>
              <a:rPr lang="en-US" sz="1400" noProof="0" dirty="0"/>
              <a:t>.</a:t>
            </a:r>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9"/>
                                        </p:tgtEl>
                                        <p:attrNameLst>
                                          <p:attrName>style.visibility</p:attrName>
                                        </p:attrNameLst>
                                      </p:cBhvr>
                                      <p:to>
                                        <p:strVal val="visible"/>
                                      </p:to>
                                    </p:set>
                                  </p:childTnLst>
                                </p:cTn>
                              </p:par>
                            </p:childTnLst>
                          </p:cTn>
                        </p:par>
                        <p:par>
                          <p:cTn id="33" fill="hold">
                            <p:stCondLst>
                              <p:cond delay="0"/>
                            </p:stCondLst>
                            <p:childTnLst>
                              <p:par>
                                <p:cTn id="34" presetID="42" presetClass="path" presetSubtype="0" accel="50000" decel="50000" fill="hold" grpId="1" nodeType="afterEffect">
                                  <p:stCondLst>
                                    <p:cond delay="0"/>
                                  </p:stCondLst>
                                  <p:childTnLst>
                                    <p:animMotion origin="layout" path="M -3.54167E-6 -2.96296E-6 L -0.00013 0.03588 " pathEditMode="relative" rAng="0" ptsTypes="AA">
                                      <p:cBhvr>
                                        <p:cTn id="35" dur="250" fill="hold"/>
                                        <p:tgtEl>
                                          <p:spTgt spid="209"/>
                                        </p:tgtEl>
                                        <p:attrNameLst>
                                          <p:attrName>ppt_x</p:attrName>
                                          <p:attrName>ppt_y</p:attrName>
                                        </p:attrNameLst>
                                      </p:cBhvr>
                                      <p:rCtr x="-13" y="1782"/>
                                    </p:animMotion>
                                  </p:childTnLst>
                                </p:cTn>
                              </p:par>
                            </p:childTnLst>
                          </p:cTn>
                        </p:par>
                        <p:par>
                          <p:cTn id="36" fill="hold">
                            <p:stCondLst>
                              <p:cond delay="250"/>
                            </p:stCondLst>
                            <p:childTnLst>
                              <p:par>
                                <p:cTn id="37" presetID="7" presetClass="emph" presetSubtype="2" fill="hold" nodeType="afterEffect">
                                  <p:stCondLst>
                                    <p:cond delay="0"/>
                                  </p:stCondLst>
                                  <p:childTnLst>
                                    <p:animClr clrSpc="rgb" dir="cw">
                                      <p:cBhvr>
                                        <p:cTn id="38" dur="500" fill="hold"/>
                                        <p:tgtEl>
                                          <p:spTgt spid="39"/>
                                        </p:tgtEl>
                                        <p:attrNameLst>
                                          <p:attrName>stroke.color</p:attrName>
                                        </p:attrNameLst>
                                      </p:cBhvr>
                                      <p:to>
                                        <a:schemeClr val="bg2"/>
                                      </p:to>
                                    </p:animClr>
                                    <p:set>
                                      <p:cBhvr>
                                        <p:cTn id="39" dur="500" fill="hold"/>
                                        <p:tgtEl>
                                          <p:spTgt spid="39"/>
                                        </p:tgtEl>
                                        <p:attrNameLst>
                                          <p:attrName>stroke.on</p:attrName>
                                        </p:attrNameLst>
                                      </p:cBhvr>
                                      <p:to>
                                        <p:strVal val="true"/>
                                      </p:to>
                                    </p:set>
                                  </p:childTnLst>
                                </p:cTn>
                              </p:par>
                              <p:par>
                                <p:cTn id="40" presetID="7" presetClass="emph" presetSubtype="2" fill="hold" nodeType="withEffect">
                                  <p:stCondLst>
                                    <p:cond delay="0"/>
                                  </p:stCondLst>
                                  <p:childTnLst>
                                    <p:animClr clrSpc="rgb" dir="cw">
                                      <p:cBhvr>
                                        <p:cTn id="41" dur="500" fill="hold"/>
                                        <p:tgtEl>
                                          <p:spTgt spid="40"/>
                                        </p:tgtEl>
                                        <p:attrNameLst>
                                          <p:attrName>stroke.color</p:attrName>
                                        </p:attrNameLst>
                                      </p:cBhvr>
                                      <p:to>
                                        <a:schemeClr val="bg2"/>
                                      </p:to>
                                    </p:animClr>
                                    <p:set>
                                      <p:cBhvr>
                                        <p:cTn id="42" dur="500" fill="hold"/>
                                        <p:tgtEl>
                                          <p:spTgt spid="40"/>
                                        </p:tgtEl>
                                        <p:attrNameLst>
                                          <p:attrName>stroke.on</p:attrName>
                                        </p:attrNameLst>
                                      </p:cBhvr>
                                      <p:to>
                                        <p:strVal val="true"/>
                                      </p:to>
                                    </p:set>
                                  </p:childTnLst>
                                </p:cTn>
                              </p:par>
                            </p:childTnLst>
                          </p:cTn>
                        </p:par>
                        <p:par>
                          <p:cTn id="43" fill="hold">
                            <p:stCondLst>
                              <p:cond delay="750"/>
                            </p:stCondLst>
                            <p:childTnLst>
                              <p:par>
                                <p:cTn id="44" presetID="42" presetClass="path" presetSubtype="0" accel="50000" decel="50000" fill="hold" grpId="2" nodeType="afterEffect">
                                  <p:stCondLst>
                                    <p:cond delay="0"/>
                                  </p:stCondLst>
                                  <p:childTnLst>
                                    <p:animMotion origin="layout" path="M -0.00013 0.03588 L -0.00013 0.16505 " pathEditMode="relative" rAng="0" ptsTypes="AA">
                                      <p:cBhvr>
                                        <p:cTn id="45" dur="250" fill="hold"/>
                                        <p:tgtEl>
                                          <p:spTgt spid="209"/>
                                        </p:tgtEl>
                                        <p:attrNameLst>
                                          <p:attrName>ppt_x</p:attrName>
                                          <p:attrName>ppt_y</p:attrName>
                                        </p:attrNameLst>
                                      </p:cBhvr>
                                      <p:rCtr x="0" y="6458"/>
                                    </p:animMotion>
                                  </p:childTnLst>
                                </p:cTn>
                              </p:par>
                            </p:childTnLst>
                          </p:cTn>
                        </p:par>
                        <p:par>
                          <p:cTn id="46" fill="hold">
                            <p:stCondLst>
                              <p:cond delay="1000"/>
                            </p:stCondLst>
                            <p:childTnLst>
                              <p:par>
                                <p:cTn id="47" presetID="7" presetClass="emph" presetSubtype="2" fill="hold" nodeType="afterEffect">
                                  <p:stCondLst>
                                    <p:cond delay="0"/>
                                  </p:stCondLst>
                                  <p:childTnLst>
                                    <p:animClr clrSpc="rgb" dir="cw">
                                      <p:cBhvr>
                                        <p:cTn id="48" dur="500" fill="hold"/>
                                        <p:tgtEl>
                                          <p:spTgt spid="45"/>
                                        </p:tgtEl>
                                        <p:attrNameLst>
                                          <p:attrName>stroke.color</p:attrName>
                                        </p:attrNameLst>
                                      </p:cBhvr>
                                      <p:to>
                                        <a:srgbClr val="F3F3F3"/>
                                      </p:to>
                                    </p:animClr>
                                    <p:set>
                                      <p:cBhvr>
                                        <p:cTn id="49" dur="500" fill="hold"/>
                                        <p:tgtEl>
                                          <p:spTgt spid="45"/>
                                        </p:tgtEl>
                                        <p:attrNameLst>
                                          <p:attrName>stroke.on</p:attrName>
                                        </p:attrNameLst>
                                      </p:cBhvr>
                                      <p:to>
                                        <p:strVal val="true"/>
                                      </p:to>
                                    </p:set>
                                  </p:childTnLst>
                                </p:cTn>
                              </p:par>
                              <p:par>
                                <p:cTn id="50" presetID="7" presetClass="emph" presetSubtype="2" fill="hold" nodeType="withEffect">
                                  <p:stCondLst>
                                    <p:cond delay="0"/>
                                  </p:stCondLst>
                                  <p:childTnLst>
                                    <p:animClr clrSpc="rgb" dir="cw">
                                      <p:cBhvr>
                                        <p:cTn id="51" dur="500" fill="hold"/>
                                        <p:tgtEl>
                                          <p:spTgt spid="43"/>
                                        </p:tgtEl>
                                        <p:attrNameLst>
                                          <p:attrName>stroke.color</p:attrName>
                                        </p:attrNameLst>
                                      </p:cBhvr>
                                      <p:to>
                                        <a:srgbClr val="F3F3F3"/>
                                      </p:to>
                                    </p:animClr>
                                    <p:set>
                                      <p:cBhvr>
                                        <p:cTn id="52" dur="500" fill="hold"/>
                                        <p:tgtEl>
                                          <p:spTgt spid="43"/>
                                        </p:tgtEl>
                                        <p:attrNameLst>
                                          <p:attrName>stroke.on</p:attrName>
                                        </p:attrNameLst>
                                      </p:cBhvr>
                                      <p:to>
                                        <p:strVal val="true"/>
                                      </p:to>
                                    </p:set>
                                  </p:childTnLst>
                                </p:cTn>
                              </p:par>
                              <p:par>
                                <p:cTn id="53" presetID="7" presetClass="emph" presetSubtype="2" fill="hold" nodeType="withEffect">
                                  <p:stCondLst>
                                    <p:cond delay="0"/>
                                  </p:stCondLst>
                                  <p:childTnLst>
                                    <p:animClr clrSpc="rgb" dir="cw">
                                      <p:cBhvr>
                                        <p:cTn id="54" dur="500" fill="hold"/>
                                        <p:tgtEl>
                                          <p:spTgt spid="46"/>
                                        </p:tgtEl>
                                        <p:attrNameLst>
                                          <p:attrName>stroke.color</p:attrName>
                                        </p:attrNameLst>
                                      </p:cBhvr>
                                      <p:to>
                                        <a:srgbClr val="F3F3F3"/>
                                      </p:to>
                                    </p:animClr>
                                    <p:set>
                                      <p:cBhvr>
                                        <p:cTn id="55" dur="500" fill="hold"/>
                                        <p:tgtEl>
                                          <p:spTgt spid="46"/>
                                        </p:tgtEl>
                                        <p:attrNameLst>
                                          <p:attrName>stroke.on</p:attrName>
                                        </p:attrNameLst>
                                      </p:cBhvr>
                                      <p:to>
                                        <p:strVal val="true"/>
                                      </p:to>
                                    </p:set>
                                  </p:childTnLst>
                                </p:cTn>
                              </p:par>
                            </p:childTnLst>
                          </p:cTn>
                        </p:par>
                        <p:par>
                          <p:cTn id="56" fill="hold">
                            <p:stCondLst>
                              <p:cond delay="1500"/>
                            </p:stCondLst>
                            <p:childTnLst>
                              <p:par>
                                <p:cTn id="57" presetID="42" presetClass="path" presetSubtype="0" accel="50000" decel="50000" fill="hold" grpId="3" nodeType="afterEffect">
                                  <p:stCondLst>
                                    <p:cond delay="0"/>
                                  </p:stCondLst>
                                  <p:childTnLst>
                                    <p:animMotion origin="layout" path="M -0.00013 0.16505 L 0.00013 0.29514 " pathEditMode="relative" rAng="0" ptsTypes="AA">
                                      <p:cBhvr>
                                        <p:cTn id="58" dur="250" fill="hold"/>
                                        <p:tgtEl>
                                          <p:spTgt spid="209"/>
                                        </p:tgtEl>
                                        <p:attrNameLst>
                                          <p:attrName>ppt_x</p:attrName>
                                          <p:attrName>ppt_y</p:attrName>
                                        </p:attrNameLst>
                                      </p:cBhvr>
                                      <p:rCtr x="13" y="6505"/>
                                    </p:animMotion>
                                  </p:childTnLst>
                                </p:cTn>
                              </p:par>
                            </p:childTnLst>
                          </p:cTn>
                        </p:par>
                        <p:par>
                          <p:cTn id="59" fill="hold">
                            <p:stCondLst>
                              <p:cond delay="1750"/>
                            </p:stCondLst>
                            <p:childTnLst>
                              <p:par>
                                <p:cTn id="60" presetID="7" presetClass="emph" presetSubtype="2" fill="hold" nodeType="afterEffect">
                                  <p:stCondLst>
                                    <p:cond delay="0"/>
                                  </p:stCondLst>
                                  <p:childTnLst>
                                    <p:animClr clrSpc="rgb" dir="cw">
                                      <p:cBhvr>
                                        <p:cTn id="61" dur="500" fill="hold"/>
                                        <p:tgtEl>
                                          <p:spTgt spid="56"/>
                                        </p:tgtEl>
                                        <p:attrNameLst>
                                          <p:attrName>stroke.color</p:attrName>
                                        </p:attrNameLst>
                                      </p:cBhvr>
                                      <p:to>
                                        <a:srgbClr val="ADADAD"/>
                                      </p:to>
                                    </p:animClr>
                                    <p:set>
                                      <p:cBhvr>
                                        <p:cTn id="62" dur="500" fill="hold"/>
                                        <p:tgtEl>
                                          <p:spTgt spid="56"/>
                                        </p:tgtEl>
                                        <p:attrNameLst>
                                          <p:attrName>stroke.on</p:attrName>
                                        </p:attrNameLst>
                                      </p:cBhvr>
                                      <p:to>
                                        <p:strVal val="true"/>
                                      </p:to>
                                    </p:set>
                                  </p:childTnLst>
                                </p:cTn>
                              </p:par>
                              <p:par>
                                <p:cTn id="63" presetID="7" presetClass="emph" presetSubtype="2" fill="hold" nodeType="withEffect">
                                  <p:stCondLst>
                                    <p:cond delay="0"/>
                                  </p:stCondLst>
                                  <p:childTnLst>
                                    <p:animClr clrSpc="rgb" dir="cw">
                                      <p:cBhvr>
                                        <p:cTn id="64" dur="500" fill="hold"/>
                                        <p:tgtEl>
                                          <p:spTgt spid="55"/>
                                        </p:tgtEl>
                                        <p:attrNameLst>
                                          <p:attrName>stroke.color</p:attrName>
                                        </p:attrNameLst>
                                      </p:cBhvr>
                                      <p:to>
                                        <a:srgbClr val="D3D3D3"/>
                                      </p:to>
                                    </p:animClr>
                                    <p:set>
                                      <p:cBhvr>
                                        <p:cTn id="65" dur="500" fill="hold"/>
                                        <p:tgtEl>
                                          <p:spTgt spid="55"/>
                                        </p:tgtEl>
                                        <p:attrNameLst>
                                          <p:attrName>stroke.on</p:attrName>
                                        </p:attrNameLst>
                                      </p:cBhvr>
                                      <p:to>
                                        <p:strVal val="true"/>
                                      </p:to>
                                    </p:set>
                                  </p:childTnLst>
                                </p:cTn>
                              </p:par>
                              <p:par>
                                <p:cTn id="66" presetID="7" presetClass="emph" presetSubtype="2" fill="hold" nodeType="withEffect">
                                  <p:stCondLst>
                                    <p:cond delay="0"/>
                                  </p:stCondLst>
                                  <p:childTnLst>
                                    <p:animClr clrSpc="rgb" dir="cw">
                                      <p:cBhvr>
                                        <p:cTn id="67" dur="500" fill="hold"/>
                                        <p:tgtEl>
                                          <p:spTgt spid="49"/>
                                        </p:tgtEl>
                                        <p:attrNameLst>
                                          <p:attrName>stroke.color</p:attrName>
                                        </p:attrNameLst>
                                      </p:cBhvr>
                                      <p:to>
                                        <a:srgbClr val="F3F3F3"/>
                                      </p:to>
                                    </p:animClr>
                                    <p:set>
                                      <p:cBhvr>
                                        <p:cTn id="68" dur="500" fill="hold"/>
                                        <p:tgtEl>
                                          <p:spTgt spid="49"/>
                                        </p:tgtEl>
                                        <p:attrNameLst>
                                          <p:attrName>stroke.on</p:attrName>
                                        </p:attrNameLst>
                                      </p:cBhvr>
                                      <p:to>
                                        <p:strVal val="true"/>
                                      </p:to>
                                    </p:set>
                                  </p:childTnLst>
                                </p:cTn>
                              </p:par>
                              <p:par>
                                <p:cTn id="69" presetID="7" presetClass="emph" presetSubtype="2" fill="hold" nodeType="withEffect">
                                  <p:stCondLst>
                                    <p:cond delay="0"/>
                                  </p:stCondLst>
                                  <p:childTnLst>
                                    <p:animClr clrSpc="rgb" dir="cw">
                                      <p:cBhvr>
                                        <p:cTn id="70" dur="500" fill="hold"/>
                                        <p:tgtEl>
                                          <p:spTgt spid="50"/>
                                        </p:tgtEl>
                                        <p:attrNameLst>
                                          <p:attrName>stroke.color</p:attrName>
                                        </p:attrNameLst>
                                      </p:cBhvr>
                                      <p:to>
                                        <a:srgbClr val="F3F3F3"/>
                                      </p:to>
                                    </p:animClr>
                                    <p:set>
                                      <p:cBhvr>
                                        <p:cTn id="71" dur="500" fill="hold"/>
                                        <p:tgtEl>
                                          <p:spTgt spid="50"/>
                                        </p:tgtEl>
                                        <p:attrNameLst>
                                          <p:attrName>stroke.on</p:attrName>
                                        </p:attrNameLst>
                                      </p:cBhvr>
                                      <p:to>
                                        <p:strVal val="true"/>
                                      </p:to>
                                    </p:set>
                                  </p:childTnLst>
                                </p:cTn>
                              </p:par>
                              <p:par>
                                <p:cTn id="72" presetID="7" presetClass="emph" presetSubtype="2" fill="hold" nodeType="withEffect">
                                  <p:stCondLst>
                                    <p:cond delay="0"/>
                                  </p:stCondLst>
                                  <p:childTnLst>
                                    <p:animClr clrSpc="rgb" dir="cw">
                                      <p:cBhvr>
                                        <p:cTn id="73" dur="500" fill="hold"/>
                                        <p:tgtEl>
                                          <p:spTgt spid="54"/>
                                        </p:tgtEl>
                                        <p:attrNameLst>
                                          <p:attrName>stroke.color</p:attrName>
                                        </p:attrNameLst>
                                      </p:cBhvr>
                                      <p:to>
                                        <a:srgbClr val="F3F3F3"/>
                                      </p:to>
                                    </p:animClr>
                                    <p:set>
                                      <p:cBhvr>
                                        <p:cTn id="74" dur="500" fill="hold"/>
                                        <p:tgtEl>
                                          <p:spTgt spid="54"/>
                                        </p:tgtEl>
                                        <p:attrNameLst>
                                          <p:attrName>stroke.on</p:attrName>
                                        </p:attrNameLst>
                                      </p:cBhvr>
                                      <p:to>
                                        <p:strVal val="true"/>
                                      </p:to>
                                    </p:set>
                                  </p:childTnLst>
                                </p:cTn>
                              </p:par>
                            </p:childTnLst>
                          </p:cTn>
                        </p:par>
                        <p:par>
                          <p:cTn id="75" fill="hold">
                            <p:stCondLst>
                              <p:cond delay="2250"/>
                            </p:stCondLst>
                            <p:childTnLst>
                              <p:par>
                                <p:cTn id="76" presetID="42" presetClass="path" presetSubtype="0" accel="50000" decel="50000" fill="hold" grpId="4" nodeType="afterEffect">
                                  <p:stCondLst>
                                    <p:cond delay="0"/>
                                  </p:stCondLst>
                                  <p:childTnLst>
                                    <p:animMotion origin="layout" path="M 0.00013 0.29514 L 0.00092 0.32755 " pathEditMode="relative" rAng="0" ptsTypes="AA">
                                      <p:cBhvr>
                                        <p:cTn id="77" dur="250" fill="hold"/>
                                        <p:tgtEl>
                                          <p:spTgt spid="209"/>
                                        </p:tgtEl>
                                        <p:attrNameLst>
                                          <p:attrName>ppt_x</p:attrName>
                                          <p:attrName>ppt_y</p:attrName>
                                        </p:attrNameLst>
                                      </p:cBhvr>
                                      <p:rCtr x="39" y="1620"/>
                                    </p:animMotion>
                                  </p:childTnLst>
                                </p:cTn>
                              </p:par>
                            </p:childTnLst>
                          </p:cTn>
                        </p:par>
                        <p:par>
                          <p:cTn id="78" fill="hold">
                            <p:stCondLst>
                              <p:cond delay="2500"/>
                            </p:stCondLst>
                            <p:childTnLst>
                              <p:par>
                                <p:cTn id="79" presetID="7" presetClass="emph" presetSubtype="2" fill="hold" nodeType="afterEffect">
                                  <p:stCondLst>
                                    <p:cond delay="0"/>
                                  </p:stCondLst>
                                  <p:childTnLst>
                                    <p:animClr clrSpc="rgb" dir="cw">
                                      <p:cBhvr>
                                        <p:cTn id="80" dur="500" fill="hold"/>
                                        <p:tgtEl>
                                          <p:spTgt spid="61"/>
                                        </p:tgtEl>
                                        <p:attrNameLst>
                                          <p:attrName>stroke.color</p:attrName>
                                        </p:attrNameLst>
                                      </p:cBhvr>
                                      <p:to>
                                        <a:srgbClr val="F3F3F3"/>
                                      </p:to>
                                    </p:animClr>
                                    <p:set>
                                      <p:cBhvr>
                                        <p:cTn id="81" dur="500" fill="hold"/>
                                        <p:tgtEl>
                                          <p:spTgt spid="61"/>
                                        </p:tgtEl>
                                        <p:attrNameLst>
                                          <p:attrName>stroke.on</p:attrName>
                                        </p:attrNameLst>
                                      </p:cBhvr>
                                      <p:to>
                                        <p:strVal val="true"/>
                                      </p:to>
                                    </p:set>
                                  </p:childTnLst>
                                </p:cTn>
                              </p:par>
                              <p:par>
                                <p:cTn id="82" presetID="7" presetClass="emph" presetSubtype="2" fill="hold" nodeType="withEffect">
                                  <p:stCondLst>
                                    <p:cond delay="0"/>
                                  </p:stCondLst>
                                  <p:childTnLst>
                                    <p:animClr clrSpc="rgb" dir="cw">
                                      <p:cBhvr>
                                        <p:cTn id="83" dur="500" fill="hold"/>
                                        <p:tgtEl>
                                          <p:spTgt spid="62"/>
                                        </p:tgtEl>
                                        <p:attrNameLst>
                                          <p:attrName>stroke.color</p:attrName>
                                        </p:attrNameLst>
                                      </p:cBhvr>
                                      <p:to>
                                        <a:srgbClr val="F3F3F3"/>
                                      </p:to>
                                    </p:animClr>
                                    <p:set>
                                      <p:cBhvr>
                                        <p:cTn id="84" dur="500" fill="hold"/>
                                        <p:tgtEl>
                                          <p:spTgt spid="62"/>
                                        </p:tgtEl>
                                        <p:attrNameLst>
                                          <p:attrName>stroke.on</p:attrName>
                                        </p:attrNameLst>
                                      </p:cBhvr>
                                      <p:to>
                                        <p:strVal val="true"/>
                                      </p:to>
                                    </p:set>
                                  </p:childTnLst>
                                </p:cTn>
                              </p:par>
                            </p:childTnLst>
                          </p:cTn>
                        </p:par>
                        <p:par>
                          <p:cTn id="85" fill="hold">
                            <p:stCondLst>
                              <p:cond delay="3000"/>
                            </p:stCondLst>
                            <p:childTnLst>
                              <p:par>
                                <p:cTn id="86" presetID="42" presetClass="path" presetSubtype="0" accel="50000" decel="50000" fill="hold" grpId="5" nodeType="afterEffect">
                                  <p:stCondLst>
                                    <p:cond delay="0"/>
                                  </p:stCondLst>
                                  <p:childTnLst>
                                    <p:animMotion origin="layout" path="M 0.00092 0.32755 L 0.00118 0.36088 " pathEditMode="relative" rAng="0" ptsTypes="AA">
                                      <p:cBhvr>
                                        <p:cTn id="87" dur="250" fill="hold"/>
                                        <p:tgtEl>
                                          <p:spTgt spid="209"/>
                                        </p:tgtEl>
                                        <p:attrNameLst>
                                          <p:attrName>ppt_x</p:attrName>
                                          <p:attrName>ppt_y</p:attrName>
                                        </p:attrNameLst>
                                      </p:cBhvr>
                                      <p:rCtr x="13" y="1667"/>
                                    </p:animMotion>
                                  </p:childTnLst>
                                </p:cTn>
                              </p:par>
                            </p:childTnLst>
                          </p:cTn>
                        </p:par>
                        <p:par>
                          <p:cTn id="88" fill="hold">
                            <p:stCondLst>
                              <p:cond delay="3250"/>
                            </p:stCondLst>
                            <p:childTnLst>
                              <p:par>
                                <p:cTn id="89" presetID="7" presetClass="emph" presetSubtype="2" fill="hold" nodeType="afterEffect">
                                  <p:stCondLst>
                                    <p:cond delay="0"/>
                                  </p:stCondLst>
                                  <p:childTnLst>
                                    <p:animClr clrSpc="rgb" dir="cw">
                                      <p:cBhvr>
                                        <p:cTn id="90" dur="500" fill="hold"/>
                                        <p:tgtEl>
                                          <p:spTgt spid="66"/>
                                        </p:tgtEl>
                                        <p:attrNameLst>
                                          <p:attrName>stroke.color</p:attrName>
                                        </p:attrNameLst>
                                      </p:cBhvr>
                                      <p:to>
                                        <a:srgbClr val="868686"/>
                                      </p:to>
                                    </p:animClr>
                                    <p:set>
                                      <p:cBhvr>
                                        <p:cTn id="91" dur="500" fill="hold"/>
                                        <p:tgtEl>
                                          <p:spTgt spid="66"/>
                                        </p:tgtEl>
                                        <p:attrNameLst>
                                          <p:attrName>stroke.on</p:attrName>
                                        </p:attrNameLst>
                                      </p:cBhvr>
                                      <p:to>
                                        <p:strVal val="true"/>
                                      </p:to>
                                    </p:set>
                                  </p:childTnLst>
                                </p:cTn>
                              </p:par>
                            </p:childTnLst>
                          </p:cTn>
                        </p:par>
                        <p:par>
                          <p:cTn id="92" fill="hold">
                            <p:stCondLst>
                              <p:cond delay="3750"/>
                            </p:stCondLst>
                            <p:childTnLst>
                              <p:par>
                                <p:cTn id="93" presetID="42" presetClass="path" presetSubtype="0" accel="50000" decel="50000" fill="hold" grpId="6" nodeType="afterEffect">
                                  <p:stCondLst>
                                    <p:cond delay="0"/>
                                  </p:stCondLst>
                                  <p:childTnLst>
                                    <p:animMotion origin="layout" path="M 0.00118 0.36088 L 0.00052 0.45857 " pathEditMode="relative" rAng="0" ptsTypes="AA">
                                      <p:cBhvr>
                                        <p:cTn id="94" dur="250" fill="hold"/>
                                        <p:tgtEl>
                                          <p:spTgt spid="209"/>
                                        </p:tgtEl>
                                        <p:attrNameLst>
                                          <p:attrName>ppt_x</p:attrName>
                                          <p:attrName>ppt_y</p:attrName>
                                        </p:attrNameLst>
                                      </p:cBhvr>
                                      <p:rCtr x="-39" y="4884"/>
                                    </p:animMotion>
                                  </p:childTnLst>
                                </p:cTn>
                              </p:par>
                            </p:childTnLst>
                          </p:cTn>
                        </p:par>
                        <p:par>
                          <p:cTn id="95" fill="hold">
                            <p:stCondLst>
                              <p:cond delay="4000"/>
                            </p:stCondLst>
                            <p:childTnLst>
                              <p:par>
                                <p:cTn id="96" presetID="7" presetClass="emph" presetSubtype="2" fill="hold" nodeType="afterEffect">
                                  <p:stCondLst>
                                    <p:cond delay="0"/>
                                  </p:stCondLst>
                                  <p:childTnLst>
                                    <p:animClr clrSpc="rgb" dir="cw">
                                      <p:cBhvr>
                                        <p:cTn id="97" dur="500" fill="hold"/>
                                        <p:tgtEl>
                                          <p:spTgt spid="33"/>
                                        </p:tgtEl>
                                        <p:attrNameLst>
                                          <p:attrName>stroke.color</p:attrName>
                                        </p:attrNameLst>
                                      </p:cBhvr>
                                      <p:to>
                                        <a:srgbClr val="D3D3D3"/>
                                      </p:to>
                                    </p:animClr>
                                    <p:set>
                                      <p:cBhvr>
                                        <p:cTn id="98" dur="500" fill="hold"/>
                                        <p:tgtEl>
                                          <p:spTgt spid="33"/>
                                        </p:tgtEl>
                                        <p:attrNameLst>
                                          <p:attrName>stroke.on</p:attrName>
                                        </p:attrNameLst>
                                      </p:cBhvr>
                                      <p:to>
                                        <p:strVal val="true"/>
                                      </p:to>
                                    </p:set>
                                  </p:childTnLst>
                                </p:cTn>
                              </p:par>
                            </p:childTnLst>
                          </p:cTn>
                        </p:par>
                        <p:par>
                          <p:cTn id="99" fill="hold">
                            <p:stCondLst>
                              <p:cond delay="4500"/>
                            </p:stCondLst>
                            <p:childTnLst>
                              <p:par>
                                <p:cTn id="100" presetID="42" presetClass="path" presetSubtype="0" accel="50000" decel="50000" fill="hold" grpId="7" nodeType="afterEffect">
                                  <p:stCondLst>
                                    <p:cond delay="0"/>
                                  </p:stCondLst>
                                  <p:childTnLst>
                                    <p:animMotion origin="layout" path="M 0.00052 0.45857 L 0.00013 0.48797 " pathEditMode="relative" rAng="0" ptsTypes="AA">
                                      <p:cBhvr>
                                        <p:cTn id="101" dur="250" fill="hold"/>
                                        <p:tgtEl>
                                          <p:spTgt spid="209"/>
                                        </p:tgtEl>
                                        <p:attrNameLst>
                                          <p:attrName>ppt_x</p:attrName>
                                          <p:attrName>ppt_y</p:attrName>
                                        </p:attrNameLst>
                                      </p:cBhvr>
                                      <p:rCtr x="-26" y="1458"/>
                                    </p:animMotion>
                                  </p:childTnLst>
                                </p:cTn>
                              </p:par>
                            </p:childTnLst>
                          </p:cTn>
                        </p:par>
                        <p:par>
                          <p:cTn id="102" fill="hold">
                            <p:stCondLst>
                              <p:cond delay="4750"/>
                            </p:stCondLst>
                            <p:childTnLst>
                              <p:par>
                                <p:cTn id="103" presetID="42" presetClass="path" presetSubtype="0" accel="50000" decel="50000" fill="hold" grpId="8" nodeType="afterEffect">
                                  <p:stCondLst>
                                    <p:cond delay="0"/>
                                  </p:stCondLst>
                                  <p:childTnLst>
                                    <p:animMotion origin="layout" path="M 0.00013 0.48797 L 0.00105 0.55648 " pathEditMode="relative" rAng="0" ptsTypes="AA">
                                      <p:cBhvr>
                                        <p:cTn id="104" dur="250" fill="hold"/>
                                        <p:tgtEl>
                                          <p:spTgt spid="209"/>
                                        </p:tgtEl>
                                        <p:attrNameLst>
                                          <p:attrName>ppt_x</p:attrName>
                                          <p:attrName>ppt_y</p:attrName>
                                        </p:attrNameLst>
                                      </p:cBhvr>
                                      <p:rCtr x="39" y="3426"/>
                                    </p:animMotion>
                                  </p:childTnLst>
                                </p:cTn>
                              </p:par>
                            </p:childTnLst>
                          </p:cTn>
                        </p:par>
                        <p:par>
                          <p:cTn id="105" fill="hold">
                            <p:stCondLst>
                              <p:cond delay="5000"/>
                            </p:stCondLst>
                            <p:childTnLst>
                              <p:par>
                                <p:cTn id="106" presetID="7" presetClass="emph" presetSubtype="2" fill="hold" nodeType="afterEffect">
                                  <p:stCondLst>
                                    <p:cond delay="0"/>
                                  </p:stCondLst>
                                  <p:childTnLst>
                                    <p:animClr clrSpc="rgb" dir="cw">
                                      <p:cBhvr>
                                        <p:cTn id="107" dur="500" fill="hold"/>
                                        <p:tgtEl>
                                          <p:spTgt spid="15"/>
                                        </p:tgtEl>
                                        <p:attrNameLst>
                                          <p:attrName>stroke.color</p:attrName>
                                        </p:attrNameLst>
                                      </p:cBhvr>
                                      <p:to>
                                        <a:srgbClr val="EDEDED"/>
                                      </p:to>
                                    </p:animClr>
                                    <p:set>
                                      <p:cBhvr>
                                        <p:cTn id="108" dur="500" fill="hold"/>
                                        <p:tgtEl>
                                          <p:spTgt spid="15"/>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500" fill="hold"/>
                                        <p:tgtEl>
                                          <p:spTgt spid="57"/>
                                        </p:tgtEl>
                                        <p:attrNameLst>
                                          <p:attrName>stroke.color</p:attrName>
                                        </p:attrNameLst>
                                      </p:cBhvr>
                                      <p:to>
                                        <a:srgbClr val="EDEDED"/>
                                      </p:to>
                                    </p:animClr>
                                    <p:set>
                                      <p:cBhvr>
                                        <p:cTn id="111" dur="500" fill="hold"/>
                                        <p:tgtEl>
                                          <p:spTgt spid="57"/>
                                        </p:tgtEl>
                                        <p:attrNameLst>
                                          <p:attrName>stroke.on</p:attrName>
                                        </p:attrNameLst>
                                      </p:cBhvr>
                                      <p:to>
                                        <p:strVal val="true"/>
                                      </p:to>
                                    </p:set>
                                  </p:childTnLst>
                                </p:cTn>
                              </p:par>
                              <p:par>
                                <p:cTn id="112" presetID="7" presetClass="emph" presetSubtype="2" fill="hold" nodeType="withEffect">
                                  <p:stCondLst>
                                    <p:cond delay="0"/>
                                  </p:stCondLst>
                                  <p:childTnLst>
                                    <p:animClr clrSpc="rgb" dir="cw">
                                      <p:cBhvr>
                                        <p:cTn id="113" dur="500" fill="hold"/>
                                        <p:tgtEl>
                                          <p:spTgt spid="18"/>
                                        </p:tgtEl>
                                        <p:attrNameLst>
                                          <p:attrName>stroke.color</p:attrName>
                                        </p:attrNameLst>
                                      </p:cBhvr>
                                      <p:to>
                                        <a:srgbClr val="EDEDED"/>
                                      </p:to>
                                    </p:animClr>
                                    <p:set>
                                      <p:cBhvr>
                                        <p:cTn id="114" dur="500" fill="hold"/>
                                        <p:tgtEl>
                                          <p:spTgt spid="18"/>
                                        </p:tgtEl>
                                        <p:attrNameLst>
                                          <p:attrName>stroke.on</p:attrName>
                                        </p:attrNameLst>
                                      </p:cBhvr>
                                      <p:to>
                                        <p:strVal val="true"/>
                                      </p:to>
                                    </p:set>
                                  </p:childTnLst>
                                </p:cTn>
                              </p:par>
                              <p:par>
                                <p:cTn id="115" presetID="7" presetClass="emph" presetSubtype="2" fill="hold" nodeType="withEffect">
                                  <p:stCondLst>
                                    <p:cond delay="0"/>
                                  </p:stCondLst>
                                  <p:childTnLst>
                                    <p:animClr clrSpc="rgb" dir="cw">
                                      <p:cBhvr>
                                        <p:cTn id="116" dur="500" fill="hold"/>
                                        <p:tgtEl>
                                          <p:spTgt spid="17"/>
                                        </p:tgtEl>
                                        <p:attrNameLst>
                                          <p:attrName>stroke.color</p:attrName>
                                        </p:attrNameLst>
                                      </p:cBhvr>
                                      <p:to>
                                        <a:srgbClr val="EDEDED"/>
                                      </p:to>
                                    </p:animClr>
                                    <p:set>
                                      <p:cBhvr>
                                        <p:cTn id="117" dur="500" fill="hold"/>
                                        <p:tgtEl>
                                          <p:spTgt spid="17"/>
                                        </p:tgtEl>
                                        <p:attrNameLst>
                                          <p:attrName>stroke.on</p:attrName>
                                        </p:attrNameLst>
                                      </p:cBhvr>
                                      <p:to>
                                        <p:strVal val="true"/>
                                      </p:to>
                                    </p:set>
                                  </p:childTnLst>
                                </p:cTn>
                              </p:par>
                              <p:par>
                                <p:cTn id="118" presetID="7" presetClass="emph" presetSubtype="2" fill="hold" nodeType="withEffect">
                                  <p:stCondLst>
                                    <p:cond delay="0"/>
                                  </p:stCondLst>
                                  <p:childTnLst>
                                    <p:animClr clrSpc="rgb" dir="cw">
                                      <p:cBhvr>
                                        <p:cTn id="119" dur="500" fill="hold"/>
                                        <p:tgtEl>
                                          <p:spTgt spid="16"/>
                                        </p:tgtEl>
                                        <p:attrNameLst>
                                          <p:attrName>stroke.color</p:attrName>
                                        </p:attrNameLst>
                                      </p:cBhvr>
                                      <p:to>
                                        <a:srgbClr val="EDEDED"/>
                                      </p:to>
                                    </p:animClr>
                                    <p:set>
                                      <p:cBhvr>
                                        <p:cTn id="120" dur="500" fill="hold"/>
                                        <p:tgtEl>
                                          <p:spTgt spid="16"/>
                                        </p:tgtEl>
                                        <p:attrNameLst>
                                          <p:attrName>stroke.on</p:attrName>
                                        </p:attrNameLst>
                                      </p:cBhvr>
                                      <p:to>
                                        <p:strVal val="true"/>
                                      </p:to>
                                    </p:set>
                                  </p:childTnLst>
                                </p:cTn>
                              </p:par>
                              <p:par>
                                <p:cTn id="121" presetID="7" presetClass="emph" presetSubtype="2" fill="hold" nodeType="withEffect">
                                  <p:stCondLst>
                                    <p:cond delay="0"/>
                                  </p:stCondLst>
                                  <p:childTnLst>
                                    <p:animClr clrSpc="rgb" dir="cw">
                                      <p:cBhvr>
                                        <p:cTn id="122" dur="500" fill="hold"/>
                                        <p:tgtEl>
                                          <p:spTgt spid="242"/>
                                        </p:tgtEl>
                                        <p:attrNameLst>
                                          <p:attrName>stroke.color</p:attrName>
                                        </p:attrNameLst>
                                      </p:cBhvr>
                                      <p:to>
                                        <a:srgbClr val="EDEDED"/>
                                      </p:to>
                                    </p:animClr>
                                    <p:set>
                                      <p:cBhvr>
                                        <p:cTn id="123" dur="500" fill="hold"/>
                                        <p:tgtEl>
                                          <p:spTgt spid="242"/>
                                        </p:tgtEl>
                                        <p:attrNameLst>
                                          <p:attrName>stroke.on</p:attrName>
                                        </p:attrNameLst>
                                      </p:cBhvr>
                                      <p:to>
                                        <p:strVal val="true"/>
                                      </p:to>
                                    </p:set>
                                  </p:childTnLst>
                                </p:cTn>
                              </p:par>
                              <p:par>
                                <p:cTn id="124" presetID="7" presetClass="emph" presetSubtype="2" fill="hold" nodeType="withEffect">
                                  <p:stCondLst>
                                    <p:cond delay="0"/>
                                  </p:stCondLst>
                                  <p:childTnLst>
                                    <p:animClr clrSpc="rgb" dir="cw">
                                      <p:cBhvr>
                                        <p:cTn id="125" dur="500" fill="hold"/>
                                        <p:tgtEl>
                                          <p:spTgt spid="240"/>
                                        </p:tgtEl>
                                        <p:attrNameLst>
                                          <p:attrName>stroke.color</p:attrName>
                                        </p:attrNameLst>
                                      </p:cBhvr>
                                      <p:to>
                                        <a:srgbClr val="EDEDED"/>
                                      </p:to>
                                    </p:animClr>
                                    <p:set>
                                      <p:cBhvr>
                                        <p:cTn id="126" dur="500" fill="hold"/>
                                        <p:tgtEl>
                                          <p:spTgt spid="240"/>
                                        </p:tgtEl>
                                        <p:attrNameLst>
                                          <p:attrName>stroke.on</p:attrName>
                                        </p:attrNameLst>
                                      </p:cBhvr>
                                      <p:to>
                                        <p:strVal val="true"/>
                                      </p:to>
                                    </p:set>
                                  </p:childTnLst>
                                </p:cTn>
                              </p:par>
                              <p:par>
                                <p:cTn id="127" presetID="7" presetClass="emph" presetSubtype="2" fill="hold" nodeType="withEffect">
                                  <p:stCondLst>
                                    <p:cond delay="0"/>
                                  </p:stCondLst>
                                  <p:childTnLst>
                                    <p:animClr clrSpc="rgb" dir="cw">
                                      <p:cBhvr>
                                        <p:cTn id="128" dur="500" fill="hold"/>
                                        <p:tgtEl>
                                          <p:spTgt spid="238"/>
                                        </p:tgtEl>
                                        <p:attrNameLst>
                                          <p:attrName>stroke.color</p:attrName>
                                        </p:attrNameLst>
                                      </p:cBhvr>
                                      <p:to>
                                        <a:srgbClr val="EDEDED"/>
                                      </p:to>
                                    </p:animClr>
                                    <p:set>
                                      <p:cBhvr>
                                        <p:cTn id="129" dur="500" fill="hold"/>
                                        <p:tgtEl>
                                          <p:spTgt spid="238"/>
                                        </p:tgtEl>
                                        <p:attrNameLst>
                                          <p:attrName>stroke.on</p:attrName>
                                        </p:attrNameLst>
                                      </p:cBhvr>
                                      <p:to>
                                        <p:strVal val="true"/>
                                      </p:to>
                                    </p:set>
                                  </p:childTnLst>
                                </p:cTn>
                              </p:par>
                              <p:par>
                                <p:cTn id="130" presetID="7" presetClass="emph" presetSubtype="2" fill="hold" nodeType="withEffect">
                                  <p:stCondLst>
                                    <p:cond delay="0"/>
                                  </p:stCondLst>
                                  <p:childTnLst>
                                    <p:animClr clrSpc="rgb" dir="cw">
                                      <p:cBhvr>
                                        <p:cTn id="131" dur="500" fill="hold"/>
                                        <p:tgtEl>
                                          <p:spTgt spid="236"/>
                                        </p:tgtEl>
                                        <p:attrNameLst>
                                          <p:attrName>stroke.color</p:attrName>
                                        </p:attrNameLst>
                                      </p:cBhvr>
                                      <p:to>
                                        <a:srgbClr val="EDEDED"/>
                                      </p:to>
                                    </p:animClr>
                                    <p:set>
                                      <p:cBhvr>
                                        <p:cTn id="132" dur="500" fill="hold"/>
                                        <p:tgtEl>
                                          <p:spTgt spid="236"/>
                                        </p:tgtEl>
                                        <p:attrNameLst>
                                          <p:attrName>stroke.on</p:attrName>
                                        </p:attrNameLst>
                                      </p:cBhvr>
                                      <p:to>
                                        <p:strVal val="true"/>
                                      </p:to>
                                    </p:set>
                                  </p:childTnLst>
                                </p:cTn>
                              </p:par>
                              <p:par>
                                <p:cTn id="133" presetID="7" presetClass="emph" presetSubtype="2" fill="hold" nodeType="withEffect">
                                  <p:stCondLst>
                                    <p:cond delay="0"/>
                                  </p:stCondLst>
                                  <p:childTnLst>
                                    <p:animClr clrSpc="rgb" dir="cw">
                                      <p:cBhvr>
                                        <p:cTn id="134" dur="500" fill="hold"/>
                                        <p:tgtEl>
                                          <p:spTgt spid="234"/>
                                        </p:tgtEl>
                                        <p:attrNameLst>
                                          <p:attrName>stroke.color</p:attrName>
                                        </p:attrNameLst>
                                      </p:cBhvr>
                                      <p:to>
                                        <a:srgbClr val="EDEDED"/>
                                      </p:to>
                                    </p:animClr>
                                    <p:set>
                                      <p:cBhvr>
                                        <p:cTn id="135" dur="500" fill="hold"/>
                                        <p:tgtEl>
                                          <p:spTgt spid="234"/>
                                        </p:tgtEl>
                                        <p:attrNameLst>
                                          <p:attrName>stroke.on</p:attrName>
                                        </p:attrNameLst>
                                      </p:cBhvr>
                                      <p:to>
                                        <p:strVal val="true"/>
                                      </p:to>
                                    </p:set>
                                  </p:childTnLst>
                                </p:cTn>
                              </p:par>
                              <p:par>
                                <p:cTn id="136" presetID="7" presetClass="emph" presetSubtype="2" fill="hold" nodeType="withEffect">
                                  <p:stCondLst>
                                    <p:cond delay="0"/>
                                  </p:stCondLst>
                                  <p:childTnLst>
                                    <p:animClr clrSpc="rgb" dir="cw">
                                      <p:cBhvr>
                                        <p:cTn id="137" dur="500" fill="hold"/>
                                        <p:tgtEl>
                                          <p:spTgt spid="230"/>
                                        </p:tgtEl>
                                        <p:attrNameLst>
                                          <p:attrName>stroke.color</p:attrName>
                                        </p:attrNameLst>
                                      </p:cBhvr>
                                      <p:to>
                                        <a:srgbClr val="EDEDED"/>
                                      </p:to>
                                    </p:animClr>
                                    <p:set>
                                      <p:cBhvr>
                                        <p:cTn id="138" dur="500" fill="hold"/>
                                        <p:tgtEl>
                                          <p:spTgt spid="230"/>
                                        </p:tgtEl>
                                        <p:attrNameLst>
                                          <p:attrName>stroke.on</p:attrName>
                                        </p:attrNameLst>
                                      </p:cBhvr>
                                      <p:to>
                                        <p:strVal val="true"/>
                                      </p:to>
                                    </p:set>
                                  </p:childTnLst>
                                </p:cTn>
                              </p:par>
                              <p:par>
                                <p:cTn id="139" presetID="7" presetClass="emph" presetSubtype="2" fill="hold" nodeType="withEffect">
                                  <p:stCondLst>
                                    <p:cond delay="0"/>
                                  </p:stCondLst>
                                  <p:childTnLst>
                                    <p:animClr clrSpc="rgb" dir="cw">
                                      <p:cBhvr>
                                        <p:cTn id="140" dur="500" fill="hold"/>
                                        <p:tgtEl>
                                          <p:spTgt spid="19"/>
                                        </p:tgtEl>
                                        <p:attrNameLst>
                                          <p:attrName>stroke.color</p:attrName>
                                        </p:attrNameLst>
                                      </p:cBhvr>
                                      <p:to>
                                        <a:srgbClr val="EDEDED"/>
                                      </p:to>
                                    </p:animClr>
                                    <p:set>
                                      <p:cBhvr>
                                        <p:cTn id="141" dur="500" fill="hold"/>
                                        <p:tgtEl>
                                          <p:spTgt spid="19"/>
                                        </p:tgtEl>
                                        <p:attrNameLst>
                                          <p:attrName>stroke.on</p:attrName>
                                        </p:attrNameLst>
                                      </p:cBhvr>
                                      <p:to>
                                        <p:strVal val="true"/>
                                      </p:to>
                                    </p:set>
                                  </p:childTnLst>
                                </p:cTn>
                              </p:par>
                              <p:par>
                                <p:cTn id="142" presetID="7" presetClass="emph" presetSubtype="2" fill="hold" nodeType="withEffect">
                                  <p:stCondLst>
                                    <p:cond delay="0"/>
                                  </p:stCondLst>
                                  <p:childTnLst>
                                    <p:animClr clrSpc="rgb" dir="cw">
                                      <p:cBhvr>
                                        <p:cTn id="143" dur="500" fill="hold"/>
                                        <p:tgtEl>
                                          <p:spTgt spid="232"/>
                                        </p:tgtEl>
                                        <p:attrNameLst>
                                          <p:attrName>stroke.color</p:attrName>
                                        </p:attrNameLst>
                                      </p:cBhvr>
                                      <p:to>
                                        <a:srgbClr val="EDEDED"/>
                                      </p:to>
                                    </p:animClr>
                                    <p:set>
                                      <p:cBhvr>
                                        <p:cTn id="144" dur="500" fill="hold"/>
                                        <p:tgtEl>
                                          <p:spTgt spid="232"/>
                                        </p:tgtEl>
                                        <p:attrNameLst>
                                          <p:attrName>stroke.on</p:attrName>
                                        </p:attrNameLst>
                                      </p:cBhvr>
                                      <p:to>
                                        <p:strVal val="true"/>
                                      </p:to>
                                    </p:set>
                                  </p:childTnLst>
                                </p:cTn>
                              </p:par>
                            </p:childTnLst>
                          </p:cTn>
                        </p:par>
                        <p:par>
                          <p:cTn id="145" fill="hold">
                            <p:stCondLst>
                              <p:cond delay="5500"/>
                            </p:stCondLst>
                            <p:childTnLst>
                              <p:par>
                                <p:cTn id="146" presetID="42" presetClass="path" presetSubtype="0" accel="50000" decel="50000" fill="hold" grpId="9" nodeType="afterEffect">
                                  <p:stCondLst>
                                    <p:cond delay="0"/>
                                  </p:stCondLst>
                                  <p:childTnLst>
                                    <p:animMotion origin="layout" path="M 0.00105 0.55648 L 0.00261 0.6213 " pathEditMode="relative" rAng="0" ptsTypes="AA">
                                      <p:cBhvr>
                                        <p:cTn id="147" dur="250" fill="hold"/>
                                        <p:tgtEl>
                                          <p:spTgt spid="209"/>
                                        </p:tgtEl>
                                        <p:attrNameLst>
                                          <p:attrName>ppt_x</p:attrName>
                                          <p:attrName>ppt_y</p:attrName>
                                        </p:attrNameLst>
                                      </p:cBhvr>
                                      <p:rCtr x="78" y="3241"/>
                                    </p:animMotion>
                                  </p:childTnLst>
                                </p:cTn>
                              </p:par>
                            </p:childTnLst>
                          </p:cTn>
                        </p:par>
                        <p:par>
                          <p:cTn id="148" fill="hold">
                            <p:stCondLst>
                              <p:cond delay="5750"/>
                            </p:stCondLst>
                            <p:childTnLst>
                              <p:par>
                                <p:cTn id="149" presetID="7" presetClass="emph" presetSubtype="2" fill="hold" nodeType="afterEffect">
                                  <p:stCondLst>
                                    <p:cond delay="0"/>
                                  </p:stCondLst>
                                  <p:childTnLst>
                                    <p:animClr clrSpc="rgb" dir="cw">
                                      <p:cBhvr>
                                        <p:cTn id="150" dur="500" fill="hold"/>
                                        <p:tgtEl>
                                          <p:spTgt spid="11"/>
                                        </p:tgtEl>
                                        <p:attrNameLst>
                                          <p:attrName>stroke.color</p:attrName>
                                        </p:attrNameLst>
                                      </p:cBhvr>
                                      <p:to>
                                        <a:srgbClr val="F3F3F3"/>
                                      </p:to>
                                    </p:animClr>
                                    <p:set>
                                      <p:cBhvr>
                                        <p:cTn id="151" dur="500" fill="hold"/>
                                        <p:tgtEl>
                                          <p:spTgt spid="11"/>
                                        </p:tgtEl>
                                        <p:attrNameLst>
                                          <p:attrName>stroke.on</p:attrName>
                                        </p:attrNameLst>
                                      </p:cBhvr>
                                      <p:to>
                                        <p:strVal val="true"/>
                                      </p:to>
                                    </p:set>
                                  </p:childTnLst>
                                </p:cTn>
                              </p:par>
                              <p:par>
                                <p:cTn id="152" presetID="7" presetClass="emph" presetSubtype="2" fill="hold" nodeType="withEffect">
                                  <p:stCondLst>
                                    <p:cond delay="0"/>
                                  </p:stCondLst>
                                  <p:childTnLst>
                                    <p:animClr clrSpc="rgb" dir="cw">
                                      <p:cBhvr>
                                        <p:cTn id="153" dur="500" fill="hold"/>
                                        <p:tgtEl>
                                          <p:spTgt spid="12"/>
                                        </p:tgtEl>
                                        <p:attrNameLst>
                                          <p:attrName>stroke.color</p:attrName>
                                        </p:attrNameLst>
                                      </p:cBhvr>
                                      <p:to>
                                        <a:srgbClr val="F3F3F3"/>
                                      </p:to>
                                    </p:animClr>
                                    <p:set>
                                      <p:cBhvr>
                                        <p:cTn id="154" dur="500" fill="hold"/>
                                        <p:tgtEl>
                                          <p:spTgt spid="12"/>
                                        </p:tgtEl>
                                        <p:attrNameLst>
                                          <p:attrName>stroke.on</p:attrName>
                                        </p:attrNameLst>
                                      </p:cBhvr>
                                      <p:to>
                                        <p:strVal val="true"/>
                                      </p:to>
                                    </p:set>
                                  </p:childTnLst>
                                </p:cTn>
                              </p:par>
                              <p:par>
                                <p:cTn id="155" presetID="7" presetClass="emph" presetSubtype="2" fill="hold" nodeType="withEffect">
                                  <p:stCondLst>
                                    <p:cond delay="0"/>
                                  </p:stCondLst>
                                  <p:childTnLst>
                                    <p:animClr clrSpc="rgb" dir="cw">
                                      <p:cBhvr>
                                        <p:cTn id="156" dur="500" fill="hold"/>
                                        <p:tgtEl>
                                          <p:spTgt spid="13"/>
                                        </p:tgtEl>
                                        <p:attrNameLst>
                                          <p:attrName>stroke.color</p:attrName>
                                        </p:attrNameLst>
                                      </p:cBhvr>
                                      <p:to>
                                        <a:srgbClr val="F3F3F3"/>
                                      </p:to>
                                    </p:animClr>
                                    <p:set>
                                      <p:cBhvr>
                                        <p:cTn id="157" dur="500" fill="hold"/>
                                        <p:tgtEl>
                                          <p:spTgt spid="13"/>
                                        </p:tgtEl>
                                        <p:attrNameLst>
                                          <p:attrName>stroke.on</p:attrName>
                                        </p:attrNameLst>
                                      </p:cBhvr>
                                      <p:to>
                                        <p:strVal val="true"/>
                                      </p:to>
                                    </p:set>
                                  </p:childTnLst>
                                </p:cTn>
                              </p:par>
                            </p:childTnLst>
                          </p:cTn>
                        </p:par>
                        <p:par>
                          <p:cTn id="158" fill="hold">
                            <p:stCondLst>
                              <p:cond delay="6250"/>
                            </p:stCondLst>
                            <p:childTnLst>
                              <p:par>
                                <p:cTn id="159" presetID="42" presetClass="path" presetSubtype="0" accel="50000" decel="50000" fill="hold" grpId="10" nodeType="afterEffect">
                                  <p:stCondLst>
                                    <p:cond delay="0"/>
                                  </p:stCondLst>
                                  <p:childTnLst>
                                    <p:animMotion origin="layout" path="M 0.00261 0.6213 L 0.00196 0.75278 " pathEditMode="relative" rAng="0" ptsTypes="AA">
                                      <p:cBhvr>
                                        <p:cTn id="160" dur="250" fill="hold"/>
                                        <p:tgtEl>
                                          <p:spTgt spid="209"/>
                                        </p:tgtEl>
                                        <p:attrNameLst>
                                          <p:attrName>ppt_x</p:attrName>
                                          <p:attrName>ppt_y</p:attrName>
                                        </p:attrNameLst>
                                      </p:cBhvr>
                                      <p:rCtr x="-39" y="6574"/>
                                    </p:animMotion>
                                  </p:childTnLst>
                                </p:cTn>
                              </p:par>
                            </p:childTnLst>
                          </p:cTn>
                        </p:par>
                        <p:par>
                          <p:cTn id="161" fill="hold">
                            <p:stCondLst>
                              <p:cond delay="6500"/>
                            </p:stCondLst>
                            <p:childTnLst>
                              <p:par>
                                <p:cTn id="162" presetID="7" presetClass="emph" presetSubtype="2" fill="hold" nodeType="afterEffect">
                                  <p:stCondLst>
                                    <p:cond delay="0"/>
                                  </p:stCondLst>
                                  <p:childTnLst>
                                    <p:animClr clrSpc="rgb" dir="cw">
                                      <p:cBhvr>
                                        <p:cTn id="163" dur="500" fill="hold"/>
                                        <p:tgtEl>
                                          <p:spTgt spid="68"/>
                                        </p:tgtEl>
                                        <p:attrNameLst>
                                          <p:attrName>stroke.color</p:attrName>
                                        </p:attrNameLst>
                                      </p:cBhvr>
                                      <p:to>
                                        <a:srgbClr val="F7F7F7"/>
                                      </p:to>
                                    </p:animClr>
                                    <p:set>
                                      <p:cBhvr>
                                        <p:cTn id="164" dur="500" fill="hold"/>
                                        <p:tgtEl>
                                          <p:spTgt spid="68"/>
                                        </p:tgtEl>
                                        <p:attrNameLst>
                                          <p:attrName>stroke.on</p:attrName>
                                        </p:attrNameLst>
                                      </p:cBhvr>
                                      <p:to>
                                        <p:strVal val="true"/>
                                      </p:to>
                                    </p:set>
                                  </p:childTnLst>
                                </p:cTn>
                              </p:par>
                              <p:par>
                                <p:cTn id="165" presetID="7" presetClass="emph" presetSubtype="2" fill="hold" nodeType="withEffect">
                                  <p:stCondLst>
                                    <p:cond delay="0"/>
                                  </p:stCondLst>
                                  <p:childTnLst>
                                    <p:animClr clrSpc="rgb" dir="cw">
                                      <p:cBhvr>
                                        <p:cTn id="166" dur="500" fill="hold"/>
                                        <p:tgtEl>
                                          <p:spTgt spid="69"/>
                                        </p:tgtEl>
                                        <p:attrNameLst>
                                          <p:attrName>stroke.color</p:attrName>
                                        </p:attrNameLst>
                                      </p:cBhvr>
                                      <p:to>
                                        <a:srgbClr val="F7F7F7"/>
                                      </p:to>
                                    </p:animClr>
                                    <p:set>
                                      <p:cBhvr>
                                        <p:cTn id="167" dur="500" fill="hold"/>
                                        <p:tgtEl>
                                          <p:spTgt spid="69"/>
                                        </p:tgtEl>
                                        <p:attrNameLst>
                                          <p:attrName>stroke.on</p:attrName>
                                        </p:attrNameLst>
                                      </p:cBhvr>
                                      <p:to>
                                        <p:strVal val="true"/>
                                      </p:to>
                                    </p:set>
                                  </p:childTnLst>
                                </p:cTn>
                              </p:par>
                            </p:childTnLst>
                          </p:cTn>
                        </p:par>
                        <p:par>
                          <p:cTn id="168" fill="hold">
                            <p:stCondLst>
                              <p:cond delay="7000"/>
                            </p:stCondLst>
                            <p:childTnLst>
                              <p:par>
                                <p:cTn id="169" presetID="42" presetClass="path" presetSubtype="0" accel="50000" decel="50000" fill="hold" grpId="11" nodeType="afterEffect">
                                  <p:stCondLst>
                                    <p:cond delay="0"/>
                                  </p:stCondLst>
                                  <p:childTnLst>
                                    <p:animMotion origin="layout" path="M 0.00196 0.75278 L 0.00118 0.78426 " pathEditMode="relative" rAng="0" ptsTypes="AA">
                                      <p:cBhvr>
                                        <p:cTn id="170" dur="250" fill="hold"/>
                                        <p:tgtEl>
                                          <p:spTgt spid="209"/>
                                        </p:tgtEl>
                                        <p:attrNameLst>
                                          <p:attrName>ppt_x</p:attrName>
                                          <p:attrName>ppt_y</p:attrName>
                                        </p:attrNameLst>
                                      </p:cBhvr>
                                      <p:rCtr x="-39" y="1574"/>
                                    </p:animMotion>
                                  </p:childTnLst>
                                </p:cTn>
                              </p:par>
                            </p:childTnLst>
                          </p:cTn>
                        </p:par>
                        <p:par>
                          <p:cTn id="171" fill="hold">
                            <p:stCondLst>
                              <p:cond delay="7250"/>
                            </p:stCondLst>
                            <p:childTnLst>
                              <p:par>
                                <p:cTn id="172" presetID="42" presetClass="path" presetSubtype="0" accel="50000" decel="50000" fill="hold" grpId="12" nodeType="afterEffect">
                                  <p:stCondLst>
                                    <p:cond delay="0"/>
                                  </p:stCondLst>
                                  <p:childTnLst>
                                    <p:animMotion origin="layout" path="M 0.00118 0.78426 L 0.00196 0.81482 " pathEditMode="relative" rAng="0" ptsTypes="AA">
                                      <p:cBhvr>
                                        <p:cTn id="173" dur="250" fill="hold"/>
                                        <p:tgtEl>
                                          <p:spTgt spid="209"/>
                                        </p:tgtEl>
                                        <p:attrNameLst>
                                          <p:attrName>ppt_x</p:attrName>
                                          <p:attrName>ppt_y</p:attrName>
                                        </p:attrNameLst>
                                      </p:cBhvr>
                                      <p:rCtr x="39" y="1528"/>
                                    </p:animMotion>
                                  </p:childTnLst>
                                </p:cTn>
                              </p:par>
                            </p:childTnLst>
                          </p:cTn>
                        </p:par>
                        <p:par>
                          <p:cTn id="174" fill="hold">
                            <p:stCondLst>
                              <p:cond delay="7500"/>
                            </p:stCondLst>
                            <p:childTnLst>
                              <p:par>
                                <p:cTn id="175" presetID="1" presetClass="exit" presetSubtype="0" fill="hold" grpId="13" nodeType="afterEffect">
                                  <p:stCondLst>
                                    <p:cond delay="0"/>
                                  </p:stCondLst>
                                  <p:childTnLst>
                                    <p:set>
                                      <p:cBhvr>
                                        <p:cTn id="176" dur="1" fill="hold">
                                          <p:stCondLst>
                                            <p:cond delay="0"/>
                                          </p:stCondLst>
                                        </p:cTn>
                                        <p:tgtEl>
                                          <p:spTgt spid="209"/>
                                        </p:tgtEl>
                                        <p:attrNameLst>
                                          <p:attrName>style.visibility</p:attrName>
                                        </p:attrNameLst>
                                      </p:cBhvr>
                                      <p:to>
                                        <p:strVal val="hidden"/>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nodeType="clickEffect">
                                  <p:stCondLst>
                                    <p:cond delay="0"/>
                                  </p:stCondLst>
                                  <p:childTnLst>
                                    <p:set>
                                      <p:cBhvr>
                                        <p:cTn id="18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233"/>
                                        </p:tgtEl>
                                        <p:attrNameLst>
                                          <p:attrName>style.visibility</p:attrName>
                                        </p:attrNameLst>
                                      </p:cBhvr>
                                      <p:to>
                                        <p:strVal val="visible"/>
                                      </p:to>
                                    </p:set>
                                  </p:childTnLst>
                                </p:cTn>
                              </p:par>
                            </p:childTnLst>
                          </p:cTn>
                        </p:par>
                        <p:par>
                          <p:cTn id="185" fill="hold">
                            <p:stCondLst>
                              <p:cond delay="0"/>
                            </p:stCondLst>
                            <p:childTnLst>
                              <p:par>
                                <p:cTn id="186" presetID="42" presetClass="path" presetSubtype="0" accel="50000" decel="50000" fill="hold" grpId="1" nodeType="afterEffect">
                                  <p:stCondLst>
                                    <p:cond delay="0"/>
                                  </p:stCondLst>
                                  <p:childTnLst>
                                    <p:animMotion origin="layout" path="M -3.125E-6 -4.44444E-6 L -0.00013 0.06505 " pathEditMode="relative" rAng="0" ptsTypes="AA">
                                      <p:cBhvr>
                                        <p:cTn id="187" dur="250" fill="hold"/>
                                        <p:tgtEl>
                                          <p:spTgt spid="233"/>
                                        </p:tgtEl>
                                        <p:attrNameLst>
                                          <p:attrName>ppt_x</p:attrName>
                                          <p:attrName>ppt_y</p:attrName>
                                        </p:attrNameLst>
                                      </p:cBhvr>
                                      <p:rCtr x="-13" y="3241"/>
                                    </p:animMotion>
                                  </p:childTnLst>
                                </p:cTn>
                              </p:par>
                            </p:childTnLst>
                          </p:cTn>
                        </p:par>
                        <p:par>
                          <p:cTn id="188" fill="hold">
                            <p:stCondLst>
                              <p:cond delay="250"/>
                            </p:stCondLst>
                            <p:childTnLst>
                              <p:par>
                                <p:cTn id="189" presetID="42" presetClass="path" presetSubtype="0" accel="50000" decel="50000" fill="hold" grpId="2" nodeType="afterEffect">
                                  <p:stCondLst>
                                    <p:cond delay="0"/>
                                  </p:stCondLst>
                                  <p:childTnLst>
                                    <p:animMotion origin="layout" path="M -0.00013 0.06505 L -0.00013 0.09723 " pathEditMode="relative" rAng="0" ptsTypes="AA">
                                      <p:cBhvr>
                                        <p:cTn id="190" dur="250" fill="hold"/>
                                        <p:tgtEl>
                                          <p:spTgt spid="233"/>
                                        </p:tgtEl>
                                        <p:attrNameLst>
                                          <p:attrName>ppt_x</p:attrName>
                                          <p:attrName>ppt_y</p:attrName>
                                        </p:attrNameLst>
                                      </p:cBhvr>
                                      <p:rCtr x="0" y="1597"/>
                                    </p:animMotion>
                                  </p:childTnLst>
                                </p:cTn>
                              </p:par>
                            </p:childTnLst>
                          </p:cTn>
                        </p:par>
                        <p:par>
                          <p:cTn id="191" fill="hold">
                            <p:stCondLst>
                              <p:cond delay="500"/>
                            </p:stCondLst>
                            <p:childTnLst>
                              <p:par>
                                <p:cTn id="192" presetID="22" presetClass="exit" presetSubtype="2" fill="hold" nodeType="afterEffect">
                                  <p:stCondLst>
                                    <p:cond delay="0"/>
                                  </p:stCondLst>
                                  <p:childTnLst>
                                    <p:animEffect transition="out" filter="wipe(right)">
                                      <p:cBhvr>
                                        <p:cTn id="193" dur="500"/>
                                        <p:tgtEl>
                                          <p:spTgt spid="45"/>
                                        </p:tgtEl>
                                      </p:cBhvr>
                                    </p:animEffect>
                                    <p:set>
                                      <p:cBhvr>
                                        <p:cTn id="194" dur="1" fill="hold">
                                          <p:stCondLst>
                                            <p:cond delay="499"/>
                                          </p:stCondLst>
                                        </p:cTn>
                                        <p:tgtEl>
                                          <p:spTgt spid="45"/>
                                        </p:tgtEl>
                                        <p:attrNameLst>
                                          <p:attrName>style.visibility</p:attrName>
                                        </p:attrNameLst>
                                      </p:cBhvr>
                                      <p:to>
                                        <p:strVal val="hidden"/>
                                      </p:to>
                                    </p:set>
                                  </p:childTnLst>
                                </p:cTn>
                              </p:par>
                              <p:par>
                                <p:cTn id="195" presetID="22" presetClass="exit" presetSubtype="1" fill="hold" nodeType="withEffect">
                                  <p:stCondLst>
                                    <p:cond delay="0"/>
                                  </p:stCondLst>
                                  <p:childTnLst>
                                    <p:animEffect transition="out" filter="wipe(up)">
                                      <p:cBhvr>
                                        <p:cTn id="196" dur="500"/>
                                        <p:tgtEl>
                                          <p:spTgt spid="232"/>
                                        </p:tgtEl>
                                      </p:cBhvr>
                                    </p:animEffect>
                                    <p:set>
                                      <p:cBhvr>
                                        <p:cTn id="197" dur="1" fill="hold">
                                          <p:stCondLst>
                                            <p:cond delay="499"/>
                                          </p:stCondLst>
                                        </p:cTn>
                                        <p:tgtEl>
                                          <p:spTgt spid="232"/>
                                        </p:tgtEl>
                                        <p:attrNameLst>
                                          <p:attrName>style.visibility</p:attrName>
                                        </p:attrNameLst>
                                      </p:cBhvr>
                                      <p:to>
                                        <p:strVal val="hidden"/>
                                      </p:to>
                                    </p:set>
                                  </p:childTnLst>
                                </p:cTn>
                              </p:par>
                            </p:childTnLst>
                          </p:cTn>
                        </p:par>
                        <p:par>
                          <p:cTn id="198" fill="hold">
                            <p:stCondLst>
                              <p:cond delay="1000"/>
                            </p:stCondLst>
                            <p:childTnLst>
                              <p:par>
                                <p:cTn id="199" presetID="42" presetClass="path" presetSubtype="0" accel="50000" decel="50000" fill="hold" grpId="3" nodeType="afterEffect">
                                  <p:stCondLst>
                                    <p:cond delay="0"/>
                                  </p:stCondLst>
                                  <p:childTnLst>
                                    <p:animMotion origin="layout" path="M -0.00013 0.09723 L -0.00013 0.16343 " pathEditMode="relative" rAng="0" ptsTypes="AA">
                                      <p:cBhvr>
                                        <p:cTn id="200" dur="250" fill="hold"/>
                                        <p:tgtEl>
                                          <p:spTgt spid="233"/>
                                        </p:tgtEl>
                                        <p:attrNameLst>
                                          <p:attrName>ppt_x</p:attrName>
                                          <p:attrName>ppt_y</p:attrName>
                                        </p:attrNameLst>
                                      </p:cBhvr>
                                      <p:rCtr x="0" y="3310"/>
                                    </p:animMotion>
                                  </p:childTnLst>
                                </p:cTn>
                              </p:par>
                            </p:childTnLst>
                          </p:cTn>
                        </p:par>
                        <p:par>
                          <p:cTn id="201" fill="hold">
                            <p:stCondLst>
                              <p:cond delay="1250"/>
                            </p:stCondLst>
                            <p:childTnLst>
                              <p:par>
                                <p:cTn id="202" presetID="22" presetClass="exit" presetSubtype="2" fill="hold" nodeType="afterEffect">
                                  <p:stCondLst>
                                    <p:cond delay="0"/>
                                  </p:stCondLst>
                                  <p:childTnLst>
                                    <p:animEffect transition="out" filter="wipe(right)">
                                      <p:cBhvr>
                                        <p:cTn id="203" dur="500"/>
                                        <p:tgtEl>
                                          <p:spTgt spid="43"/>
                                        </p:tgtEl>
                                      </p:cBhvr>
                                    </p:animEffect>
                                    <p:set>
                                      <p:cBhvr>
                                        <p:cTn id="204" dur="1" fill="hold">
                                          <p:stCondLst>
                                            <p:cond delay="499"/>
                                          </p:stCondLst>
                                        </p:cTn>
                                        <p:tgtEl>
                                          <p:spTgt spid="43"/>
                                        </p:tgtEl>
                                        <p:attrNameLst>
                                          <p:attrName>style.visibility</p:attrName>
                                        </p:attrNameLst>
                                      </p:cBhvr>
                                      <p:to>
                                        <p:strVal val="hidden"/>
                                      </p:to>
                                    </p:set>
                                  </p:childTnLst>
                                </p:cTn>
                              </p:par>
                              <p:par>
                                <p:cTn id="205" presetID="22" presetClass="exit" presetSubtype="1" fill="hold" nodeType="withEffect">
                                  <p:stCondLst>
                                    <p:cond delay="0"/>
                                  </p:stCondLst>
                                  <p:childTnLst>
                                    <p:animEffect transition="out" filter="wipe(up)">
                                      <p:cBhvr>
                                        <p:cTn id="206" dur="500"/>
                                        <p:tgtEl>
                                          <p:spTgt spid="19"/>
                                        </p:tgtEl>
                                      </p:cBhvr>
                                    </p:animEffect>
                                    <p:set>
                                      <p:cBhvr>
                                        <p:cTn id="207" dur="1" fill="hold">
                                          <p:stCondLst>
                                            <p:cond delay="499"/>
                                          </p:stCondLst>
                                        </p:cTn>
                                        <p:tgtEl>
                                          <p:spTgt spid="19"/>
                                        </p:tgtEl>
                                        <p:attrNameLst>
                                          <p:attrName>style.visibility</p:attrName>
                                        </p:attrNameLst>
                                      </p:cBhvr>
                                      <p:to>
                                        <p:strVal val="hidden"/>
                                      </p:to>
                                    </p:set>
                                  </p:childTnLst>
                                </p:cTn>
                              </p:par>
                            </p:childTnLst>
                          </p:cTn>
                        </p:par>
                        <p:par>
                          <p:cTn id="208" fill="hold">
                            <p:stCondLst>
                              <p:cond delay="1750"/>
                            </p:stCondLst>
                            <p:childTnLst>
                              <p:par>
                                <p:cTn id="209" presetID="42" presetClass="path" presetSubtype="0" accel="50000" decel="50000" fill="hold" grpId="4" nodeType="afterEffect">
                                  <p:stCondLst>
                                    <p:cond delay="0"/>
                                  </p:stCondLst>
                                  <p:childTnLst>
                                    <p:animMotion origin="layout" path="M -0.00013 0.16343 L -0.00013 0.19468 " pathEditMode="relative" rAng="0" ptsTypes="AA">
                                      <p:cBhvr>
                                        <p:cTn id="210" dur="250" fill="hold"/>
                                        <p:tgtEl>
                                          <p:spTgt spid="233"/>
                                        </p:tgtEl>
                                        <p:attrNameLst>
                                          <p:attrName>ppt_x</p:attrName>
                                          <p:attrName>ppt_y</p:attrName>
                                        </p:attrNameLst>
                                      </p:cBhvr>
                                      <p:rCtr x="0" y="1551"/>
                                    </p:animMotion>
                                  </p:childTnLst>
                                </p:cTn>
                              </p:par>
                            </p:childTnLst>
                          </p:cTn>
                        </p:par>
                        <p:par>
                          <p:cTn id="211" fill="hold">
                            <p:stCondLst>
                              <p:cond delay="2000"/>
                            </p:stCondLst>
                            <p:childTnLst>
                              <p:par>
                                <p:cTn id="212" presetID="22" presetClass="exit" presetSubtype="1" fill="hold" nodeType="afterEffect">
                                  <p:stCondLst>
                                    <p:cond delay="0"/>
                                  </p:stCondLst>
                                  <p:childTnLst>
                                    <p:animEffect transition="out" filter="wipe(up)">
                                      <p:cBhvr>
                                        <p:cTn id="213" dur="500"/>
                                        <p:tgtEl>
                                          <p:spTgt spid="230"/>
                                        </p:tgtEl>
                                      </p:cBhvr>
                                    </p:animEffect>
                                    <p:set>
                                      <p:cBhvr>
                                        <p:cTn id="214" dur="1" fill="hold">
                                          <p:stCondLst>
                                            <p:cond delay="499"/>
                                          </p:stCondLst>
                                        </p:cTn>
                                        <p:tgtEl>
                                          <p:spTgt spid="230"/>
                                        </p:tgtEl>
                                        <p:attrNameLst>
                                          <p:attrName>style.visibility</p:attrName>
                                        </p:attrNameLst>
                                      </p:cBhvr>
                                      <p:to>
                                        <p:strVal val="hidden"/>
                                      </p:to>
                                    </p:set>
                                  </p:childTnLst>
                                </p:cTn>
                              </p:par>
                            </p:childTnLst>
                          </p:cTn>
                        </p:par>
                        <p:par>
                          <p:cTn id="215" fill="hold">
                            <p:stCondLst>
                              <p:cond delay="2500"/>
                            </p:stCondLst>
                            <p:childTnLst>
                              <p:par>
                                <p:cTn id="216" presetID="42" presetClass="path" presetSubtype="0" accel="50000" decel="50000" fill="hold" grpId="5" nodeType="afterEffect">
                                  <p:stCondLst>
                                    <p:cond delay="0"/>
                                  </p:stCondLst>
                                  <p:childTnLst>
                                    <p:animMotion origin="layout" path="M -0.00013 0.19468 L -0.00013 0.22825 " pathEditMode="relative" rAng="0" ptsTypes="AA">
                                      <p:cBhvr>
                                        <p:cTn id="217" dur="250" fill="hold"/>
                                        <p:tgtEl>
                                          <p:spTgt spid="233"/>
                                        </p:tgtEl>
                                        <p:attrNameLst>
                                          <p:attrName>ppt_x</p:attrName>
                                          <p:attrName>ppt_y</p:attrName>
                                        </p:attrNameLst>
                                      </p:cBhvr>
                                      <p:rCtr x="0" y="1667"/>
                                    </p:animMotion>
                                  </p:childTnLst>
                                </p:cTn>
                              </p:par>
                            </p:childTnLst>
                          </p:cTn>
                        </p:par>
                        <p:par>
                          <p:cTn id="218" fill="hold">
                            <p:stCondLst>
                              <p:cond delay="2750"/>
                            </p:stCondLst>
                            <p:childTnLst>
                              <p:par>
                                <p:cTn id="219" presetID="22" presetClass="exit" presetSubtype="1" fill="hold" nodeType="afterEffect">
                                  <p:stCondLst>
                                    <p:cond delay="0"/>
                                  </p:stCondLst>
                                  <p:childTnLst>
                                    <p:animEffect transition="out" filter="wipe(up)">
                                      <p:cBhvr>
                                        <p:cTn id="220" dur="500"/>
                                        <p:tgtEl>
                                          <p:spTgt spid="234"/>
                                        </p:tgtEl>
                                      </p:cBhvr>
                                    </p:animEffect>
                                    <p:set>
                                      <p:cBhvr>
                                        <p:cTn id="221" dur="1" fill="hold">
                                          <p:stCondLst>
                                            <p:cond delay="499"/>
                                          </p:stCondLst>
                                        </p:cTn>
                                        <p:tgtEl>
                                          <p:spTgt spid="234"/>
                                        </p:tgtEl>
                                        <p:attrNameLst>
                                          <p:attrName>style.visibility</p:attrName>
                                        </p:attrNameLst>
                                      </p:cBhvr>
                                      <p:to>
                                        <p:strVal val="hidden"/>
                                      </p:to>
                                    </p:set>
                                  </p:childTnLst>
                                </p:cTn>
                              </p:par>
                              <p:par>
                                <p:cTn id="222" presetID="22" presetClass="exit" presetSubtype="4" fill="hold" nodeType="withEffect">
                                  <p:stCondLst>
                                    <p:cond delay="0"/>
                                  </p:stCondLst>
                                  <p:childTnLst>
                                    <p:animEffect transition="out" filter="wipe(down)">
                                      <p:cBhvr>
                                        <p:cTn id="223" dur="500"/>
                                        <p:tgtEl>
                                          <p:spTgt spid="39"/>
                                        </p:tgtEl>
                                      </p:cBhvr>
                                    </p:animEffect>
                                    <p:set>
                                      <p:cBhvr>
                                        <p:cTn id="224" dur="1" fill="hold">
                                          <p:stCondLst>
                                            <p:cond delay="499"/>
                                          </p:stCondLst>
                                        </p:cTn>
                                        <p:tgtEl>
                                          <p:spTgt spid="39"/>
                                        </p:tgtEl>
                                        <p:attrNameLst>
                                          <p:attrName>style.visibility</p:attrName>
                                        </p:attrNameLst>
                                      </p:cBhvr>
                                      <p:to>
                                        <p:strVal val="hidden"/>
                                      </p:to>
                                    </p:set>
                                  </p:childTnLst>
                                </p:cTn>
                              </p:par>
                            </p:childTnLst>
                          </p:cTn>
                        </p:par>
                        <p:par>
                          <p:cTn id="225" fill="hold">
                            <p:stCondLst>
                              <p:cond delay="3250"/>
                            </p:stCondLst>
                            <p:childTnLst>
                              <p:par>
                                <p:cTn id="226" presetID="42" presetClass="path" presetSubtype="0" accel="50000" decel="50000" fill="hold" grpId="6" nodeType="afterEffect">
                                  <p:stCondLst>
                                    <p:cond delay="0"/>
                                  </p:stCondLst>
                                  <p:childTnLst>
                                    <p:animMotion origin="layout" path="M -0.00013 0.22825 L -0.00013 0.26181 " pathEditMode="relative" rAng="0" ptsTypes="AA">
                                      <p:cBhvr>
                                        <p:cTn id="227" dur="250" fill="hold"/>
                                        <p:tgtEl>
                                          <p:spTgt spid="233"/>
                                        </p:tgtEl>
                                        <p:attrNameLst>
                                          <p:attrName>ppt_x</p:attrName>
                                          <p:attrName>ppt_y</p:attrName>
                                        </p:attrNameLst>
                                      </p:cBhvr>
                                      <p:rCtr x="0" y="1667"/>
                                    </p:animMotion>
                                  </p:childTnLst>
                                </p:cTn>
                              </p:par>
                            </p:childTnLst>
                          </p:cTn>
                        </p:par>
                        <p:par>
                          <p:cTn id="228" fill="hold">
                            <p:stCondLst>
                              <p:cond delay="3500"/>
                            </p:stCondLst>
                            <p:childTnLst>
                              <p:par>
                                <p:cTn id="229" presetID="22" presetClass="exit" presetSubtype="1" fill="hold" nodeType="afterEffect">
                                  <p:stCondLst>
                                    <p:cond delay="0"/>
                                  </p:stCondLst>
                                  <p:childTnLst>
                                    <p:animEffect transition="out" filter="wipe(up)">
                                      <p:cBhvr>
                                        <p:cTn id="230" dur="500"/>
                                        <p:tgtEl>
                                          <p:spTgt spid="236"/>
                                        </p:tgtEl>
                                      </p:cBhvr>
                                    </p:animEffect>
                                    <p:set>
                                      <p:cBhvr>
                                        <p:cTn id="231" dur="1" fill="hold">
                                          <p:stCondLst>
                                            <p:cond delay="499"/>
                                          </p:stCondLst>
                                        </p:cTn>
                                        <p:tgtEl>
                                          <p:spTgt spid="236"/>
                                        </p:tgtEl>
                                        <p:attrNameLst>
                                          <p:attrName>style.visibility</p:attrName>
                                        </p:attrNameLst>
                                      </p:cBhvr>
                                      <p:to>
                                        <p:strVal val="hidden"/>
                                      </p:to>
                                    </p:set>
                                  </p:childTnLst>
                                </p:cTn>
                              </p:par>
                            </p:childTnLst>
                          </p:cTn>
                        </p:par>
                        <p:par>
                          <p:cTn id="232" fill="hold">
                            <p:stCondLst>
                              <p:cond delay="4000"/>
                            </p:stCondLst>
                            <p:childTnLst>
                              <p:par>
                                <p:cTn id="233" presetID="42" presetClass="path" presetSubtype="0" accel="50000" decel="50000" fill="hold" grpId="7" nodeType="afterEffect">
                                  <p:stCondLst>
                                    <p:cond delay="0"/>
                                  </p:stCondLst>
                                  <p:childTnLst>
                                    <p:animMotion origin="layout" path="M -0.00013 0.26181 L 0.00013 0.29399 " pathEditMode="relative" rAng="0" ptsTypes="AA">
                                      <p:cBhvr>
                                        <p:cTn id="234" dur="250" fill="hold"/>
                                        <p:tgtEl>
                                          <p:spTgt spid="233"/>
                                        </p:tgtEl>
                                        <p:attrNameLst>
                                          <p:attrName>ppt_x</p:attrName>
                                          <p:attrName>ppt_y</p:attrName>
                                        </p:attrNameLst>
                                      </p:cBhvr>
                                      <p:rCtr x="13" y="1597"/>
                                    </p:animMotion>
                                  </p:childTnLst>
                                </p:cTn>
                              </p:par>
                            </p:childTnLst>
                          </p:cTn>
                        </p:par>
                        <p:par>
                          <p:cTn id="235" fill="hold">
                            <p:stCondLst>
                              <p:cond delay="4250"/>
                            </p:stCondLst>
                            <p:childTnLst>
                              <p:par>
                                <p:cTn id="236" presetID="22" presetClass="exit" presetSubtype="2" fill="hold" nodeType="afterEffect">
                                  <p:stCondLst>
                                    <p:cond delay="0"/>
                                  </p:stCondLst>
                                  <p:childTnLst>
                                    <p:animEffect transition="out" filter="wipe(right)">
                                      <p:cBhvr>
                                        <p:cTn id="237" dur="500"/>
                                        <p:tgtEl>
                                          <p:spTgt spid="238"/>
                                        </p:tgtEl>
                                      </p:cBhvr>
                                    </p:animEffect>
                                    <p:set>
                                      <p:cBhvr>
                                        <p:cTn id="238" dur="1" fill="hold">
                                          <p:stCondLst>
                                            <p:cond delay="499"/>
                                          </p:stCondLst>
                                        </p:cTn>
                                        <p:tgtEl>
                                          <p:spTgt spid="238"/>
                                        </p:tgtEl>
                                        <p:attrNameLst>
                                          <p:attrName>style.visibility</p:attrName>
                                        </p:attrNameLst>
                                      </p:cBhvr>
                                      <p:to>
                                        <p:strVal val="hidden"/>
                                      </p:to>
                                    </p:set>
                                  </p:childTnLst>
                                </p:cTn>
                              </p:par>
                            </p:childTnLst>
                          </p:cTn>
                        </p:par>
                        <p:par>
                          <p:cTn id="239" fill="hold">
                            <p:stCondLst>
                              <p:cond delay="4750"/>
                            </p:stCondLst>
                            <p:childTnLst>
                              <p:par>
                                <p:cTn id="240" presetID="42" presetClass="path" presetSubtype="0" accel="50000" decel="50000" fill="hold" grpId="8" nodeType="afterEffect">
                                  <p:stCondLst>
                                    <p:cond delay="0"/>
                                  </p:stCondLst>
                                  <p:childTnLst>
                                    <p:animMotion origin="layout" path="M 0.00013 0.29399 L 0.00104 0.32639 " pathEditMode="relative" rAng="0" ptsTypes="AA">
                                      <p:cBhvr>
                                        <p:cTn id="241" dur="250" fill="hold"/>
                                        <p:tgtEl>
                                          <p:spTgt spid="233"/>
                                        </p:tgtEl>
                                        <p:attrNameLst>
                                          <p:attrName>ppt_x</p:attrName>
                                          <p:attrName>ppt_y</p:attrName>
                                        </p:attrNameLst>
                                      </p:cBhvr>
                                      <p:rCtr x="39" y="1620"/>
                                    </p:animMotion>
                                  </p:childTnLst>
                                </p:cTn>
                              </p:par>
                            </p:childTnLst>
                          </p:cTn>
                        </p:par>
                        <p:par>
                          <p:cTn id="242" fill="hold">
                            <p:stCondLst>
                              <p:cond delay="5000"/>
                            </p:stCondLst>
                            <p:childTnLst>
                              <p:par>
                                <p:cTn id="243" presetID="42" presetClass="path" presetSubtype="0" accel="50000" decel="50000" fill="hold" grpId="9" nodeType="afterEffect">
                                  <p:stCondLst>
                                    <p:cond delay="0"/>
                                  </p:stCondLst>
                                  <p:childTnLst>
                                    <p:animMotion origin="layout" path="M 0.00104 0.32639 L 0.00104 0.35764 " pathEditMode="relative" rAng="0" ptsTypes="AA">
                                      <p:cBhvr>
                                        <p:cTn id="244" dur="250" fill="hold"/>
                                        <p:tgtEl>
                                          <p:spTgt spid="233"/>
                                        </p:tgtEl>
                                        <p:attrNameLst>
                                          <p:attrName>ppt_x</p:attrName>
                                          <p:attrName>ppt_y</p:attrName>
                                        </p:attrNameLst>
                                      </p:cBhvr>
                                      <p:rCtr x="0" y="1551"/>
                                    </p:animMotion>
                                  </p:childTnLst>
                                </p:cTn>
                              </p:par>
                            </p:childTnLst>
                          </p:cTn>
                        </p:par>
                        <p:par>
                          <p:cTn id="245" fill="hold">
                            <p:stCondLst>
                              <p:cond delay="5250"/>
                            </p:stCondLst>
                            <p:childTnLst>
                              <p:par>
                                <p:cTn id="246" presetID="22" presetClass="exit" presetSubtype="4" fill="hold" nodeType="afterEffect">
                                  <p:stCondLst>
                                    <p:cond delay="0"/>
                                  </p:stCondLst>
                                  <p:childTnLst>
                                    <p:animEffect transition="out" filter="wipe(down)">
                                      <p:cBhvr>
                                        <p:cTn id="247" dur="500"/>
                                        <p:tgtEl>
                                          <p:spTgt spid="46"/>
                                        </p:tgtEl>
                                      </p:cBhvr>
                                    </p:animEffect>
                                    <p:set>
                                      <p:cBhvr>
                                        <p:cTn id="248" dur="1" fill="hold">
                                          <p:stCondLst>
                                            <p:cond delay="499"/>
                                          </p:stCondLst>
                                        </p:cTn>
                                        <p:tgtEl>
                                          <p:spTgt spid="46"/>
                                        </p:tgtEl>
                                        <p:attrNameLst>
                                          <p:attrName>style.visibility</p:attrName>
                                        </p:attrNameLst>
                                      </p:cBhvr>
                                      <p:to>
                                        <p:strVal val="hidden"/>
                                      </p:to>
                                    </p:set>
                                  </p:childTnLst>
                                </p:cTn>
                              </p:par>
                              <p:par>
                                <p:cTn id="249" presetID="22" presetClass="exit" presetSubtype="1" fill="hold" nodeType="withEffect">
                                  <p:stCondLst>
                                    <p:cond delay="0"/>
                                  </p:stCondLst>
                                  <p:childTnLst>
                                    <p:animEffect transition="out" filter="wipe(up)">
                                      <p:cBhvr>
                                        <p:cTn id="250" dur="500"/>
                                        <p:tgtEl>
                                          <p:spTgt spid="240"/>
                                        </p:tgtEl>
                                      </p:cBhvr>
                                    </p:animEffect>
                                    <p:set>
                                      <p:cBhvr>
                                        <p:cTn id="251" dur="1" fill="hold">
                                          <p:stCondLst>
                                            <p:cond delay="499"/>
                                          </p:stCondLst>
                                        </p:cTn>
                                        <p:tgtEl>
                                          <p:spTgt spid="240"/>
                                        </p:tgtEl>
                                        <p:attrNameLst>
                                          <p:attrName>style.visibility</p:attrName>
                                        </p:attrNameLst>
                                      </p:cBhvr>
                                      <p:to>
                                        <p:strVal val="hidden"/>
                                      </p:to>
                                    </p:set>
                                  </p:childTnLst>
                                </p:cTn>
                              </p:par>
                            </p:childTnLst>
                          </p:cTn>
                        </p:par>
                        <p:par>
                          <p:cTn id="252" fill="hold">
                            <p:stCondLst>
                              <p:cond delay="5750"/>
                            </p:stCondLst>
                            <p:childTnLst>
                              <p:par>
                                <p:cTn id="253" presetID="42" presetClass="path" presetSubtype="0" accel="50000" decel="50000" fill="hold" grpId="10" nodeType="afterEffect">
                                  <p:stCondLst>
                                    <p:cond delay="0"/>
                                  </p:stCondLst>
                                  <p:childTnLst>
                                    <p:animMotion origin="layout" path="M 0.00104 0.35764 L 0.00104 0.38959 " pathEditMode="relative" rAng="0" ptsTypes="AA">
                                      <p:cBhvr>
                                        <p:cTn id="254" dur="250" fill="hold"/>
                                        <p:tgtEl>
                                          <p:spTgt spid="233"/>
                                        </p:tgtEl>
                                        <p:attrNameLst>
                                          <p:attrName>ppt_x</p:attrName>
                                          <p:attrName>ppt_y</p:attrName>
                                        </p:attrNameLst>
                                      </p:cBhvr>
                                      <p:rCtr x="0" y="1597"/>
                                    </p:animMotion>
                                  </p:childTnLst>
                                </p:cTn>
                              </p:par>
                            </p:childTnLst>
                          </p:cTn>
                        </p:par>
                        <p:par>
                          <p:cTn id="255" fill="hold">
                            <p:stCondLst>
                              <p:cond delay="6000"/>
                            </p:stCondLst>
                            <p:childTnLst>
                              <p:par>
                                <p:cTn id="256" presetID="22" presetClass="exit" presetSubtype="2" fill="hold" nodeType="afterEffect">
                                  <p:stCondLst>
                                    <p:cond delay="0"/>
                                  </p:stCondLst>
                                  <p:childTnLst>
                                    <p:animEffect transition="out" filter="wipe(right)">
                                      <p:cBhvr>
                                        <p:cTn id="257" dur="500"/>
                                        <p:tgtEl>
                                          <p:spTgt spid="50"/>
                                        </p:tgtEl>
                                      </p:cBhvr>
                                    </p:animEffect>
                                    <p:set>
                                      <p:cBhvr>
                                        <p:cTn id="258" dur="1" fill="hold">
                                          <p:stCondLst>
                                            <p:cond delay="499"/>
                                          </p:stCondLst>
                                        </p:cTn>
                                        <p:tgtEl>
                                          <p:spTgt spid="50"/>
                                        </p:tgtEl>
                                        <p:attrNameLst>
                                          <p:attrName>style.visibility</p:attrName>
                                        </p:attrNameLst>
                                      </p:cBhvr>
                                      <p:to>
                                        <p:strVal val="hidden"/>
                                      </p:to>
                                    </p:set>
                                  </p:childTnLst>
                                </p:cTn>
                              </p:par>
                            </p:childTnLst>
                          </p:cTn>
                        </p:par>
                        <p:par>
                          <p:cTn id="259" fill="hold">
                            <p:stCondLst>
                              <p:cond delay="6500"/>
                            </p:stCondLst>
                            <p:childTnLst>
                              <p:par>
                                <p:cTn id="260" presetID="42" presetClass="path" presetSubtype="0" accel="50000" decel="50000" fill="hold" grpId="11" nodeType="afterEffect">
                                  <p:stCondLst>
                                    <p:cond delay="0"/>
                                  </p:stCondLst>
                                  <p:childTnLst>
                                    <p:animMotion origin="layout" path="M 0.00104 0.38959 L 0.00196 0.425 " pathEditMode="relative" rAng="0" ptsTypes="AA">
                                      <p:cBhvr>
                                        <p:cTn id="261" dur="250" fill="hold"/>
                                        <p:tgtEl>
                                          <p:spTgt spid="233"/>
                                        </p:tgtEl>
                                        <p:attrNameLst>
                                          <p:attrName>ppt_x</p:attrName>
                                          <p:attrName>ppt_y</p:attrName>
                                        </p:attrNameLst>
                                      </p:cBhvr>
                                      <p:rCtr x="39" y="1759"/>
                                    </p:animMotion>
                                  </p:childTnLst>
                                </p:cTn>
                              </p:par>
                            </p:childTnLst>
                          </p:cTn>
                        </p:par>
                        <p:par>
                          <p:cTn id="262" fill="hold">
                            <p:stCondLst>
                              <p:cond delay="6750"/>
                            </p:stCondLst>
                            <p:childTnLst>
                              <p:par>
                                <p:cTn id="263" presetID="42" presetClass="path" presetSubtype="0" accel="50000" decel="50000" fill="hold" grpId="12" nodeType="afterEffect">
                                  <p:stCondLst>
                                    <p:cond delay="0"/>
                                  </p:stCondLst>
                                  <p:childTnLst>
                                    <p:animMotion origin="layout" path="M 0.00196 0.425 L 0.00157 0.45903 " pathEditMode="relative" rAng="0" ptsTypes="AA">
                                      <p:cBhvr>
                                        <p:cTn id="264" dur="250" fill="hold"/>
                                        <p:tgtEl>
                                          <p:spTgt spid="233"/>
                                        </p:tgtEl>
                                        <p:attrNameLst>
                                          <p:attrName>ppt_x</p:attrName>
                                          <p:attrName>ppt_y</p:attrName>
                                        </p:attrNameLst>
                                      </p:cBhvr>
                                      <p:rCtr x="-26" y="1690"/>
                                    </p:animMotion>
                                  </p:childTnLst>
                                </p:cTn>
                              </p:par>
                            </p:childTnLst>
                          </p:cTn>
                        </p:par>
                        <p:par>
                          <p:cTn id="265" fill="hold">
                            <p:stCondLst>
                              <p:cond delay="7000"/>
                            </p:stCondLst>
                            <p:childTnLst>
                              <p:par>
                                <p:cTn id="266" presetID="22" presetClass="exit" presetSubtype="4" fill="hold" nodeType="afterEffect">
                                  <p:stCondLst>
                                    <p:cond delay="0"/>
                                  </p:stCondLst>
                                  <p:childTnLst>
                                    <p:animEffect transition="out" filter="wipe(down)">
                                      <p:cBhvr>
                                        <p:cTn id="267" dur="500"/>
                                        <p:tgtEl>
                                          <p:spTgt spid="49"/>
                                        </p:tgtEl>
                                      </p:cBhvr>
                                    </p:animEffect>
                                    <p:set>
                                      <p:cBhvr>
                                        <p:cTn id="268" dur="1" fill="hold">
                                          <p:stCondLst>
                                            <p:cond delay="499"/>
                                          </p:stCondLst>
                                        </p:cTn>
                                        <p:tgtEl>
                                          <p:spTgt spid="49"/>
                                        </p:tgtEl>
                                        <p:attrNameLst>
                                          <p:attrName>style.visibility</p:attrName>
                                        </p:attrNameLst>
                                      </p:cBhvr>
                                      <p:to>
                                        <p:strVal val="hidden"/>
                                      </p:to>
                                    </p:set>
                                  </p:childTnLst>
                                </p:cTn>
                              </p:par>
                            </p:childTnLst>
                          </p:cTn>
                        </p:par>
                        <p:par>
                          <p:cTn id="269" fill="hold">
                            <p:stCondLst>
                              <p:cond delay="7500"/>
                            </p:stCondLst>
                            <p:childTnLst>
                              <p:par>
                                <p:cTn id="270" presetID="42" presetClass="path" presetSubtype="0" accel="50000" decel="50000" fill="hold" grpId="13" nodeType="afterEffect">
                                  <p:stCondLst>
                                    <p:cond delay="0"/>
                                  </p:stCondLst>
                                  <p:childTnLst>
                                    <p:animMotion origin="layout" path="M 0.00157 0.45903 L 0.00157 0.49167 " pathEditMode="relative" rAng="0" ptsTypes="AA">
                                      <p:cBhvr>
                                        <p:cTn id="271" dur="250" fill="hold"/>
                                        <p:tgtEl>
                                          <p:spTgt spid="233"/>
                                        </p:tgtEl>
                                        <p:attrNameLst>
                                          <p:attrName>ppt_x</p:attrName>
                                          <p:attrName>ppt_y</p:attrName>
                                        </p:attrNameLst>
                                      </p:cBhvr>
                                      <p:rCtr x="0" y="1620"/>
                                    </p:animMotion>
                                  </p:childTnLst>
                                </p:cTn>
                              </p:par>
                            </p:childTnLst>
                          </p:cTn>
                        </p:par>
                        <p:par>
                          <p:cTn id="272" fill="hold">
                            <p:stCondLst>
                              <p:cond delay="7750"/>
                            </p:stCondLst>
                            <p:childTnLst>
                              <p:par>
                                <p:cTn id="273" presetID="22" presetClass="exit" presetSubtype="4" fill="hold" nodeType="afterEffect">
                                  <p:stCondLst>
                                    <p:cond delay="0"/>
                                  </p:stCondLst>
                                  <p:childTnLst>
                                    <p:animEffect transition="out" filter="wipe(down)">
                                      <p:cBhvr>
                                        <p:cTn id="274" dur="500"/>
                                        <p:tgtEl>
                                          <p:spTgt spid="62"/>
                                        </p:tgtEl>
                                      </p:cBhvr>
                                    </p:animEffect>
                                    <p:set>
                                      <p:cBhvr>
                                        <p:cTn id="275" dur="1" fill="hold">
                                          <p:stCondLst>
                                            <p:cond delay="499"/>
                                          </p:stCondLst>
                                        </p:cTn>
                                        <p:tgtEl>
                                          <p:spTgt spid="62"/>
                                        </p:tgtEl>
                                        <p:attrNameLst>
                                          <p:attrName>style.visibility</p:attrName>
                                        </p:attrNameLst>
                                      </p:cBhvr>
                                      <p:to>
                                        <p:strVal val="hidden"/>
                                      </p:to>
                                    </p:set>
                                  </p:childTnLst>
                                </p:cTn>
                              </p:par>
                            </p:childTnLst>
                          </p:cTn>
                        </p:par>
                        <p:par>
                          <p:cTn id="276" fill="hold">
                            <p:stCondLst>
                              <p:cond delay="8250"/>
                            </p:stCondLst>
                            <p:childTnLst>
                              <p:par>
                                <p:cTn id="277" presetID="42" presetClass="path" presetSubtype="0" accel="50000" decel="50000" fill="hold" grpId="14" nodeType="afterEffect">
                                  <p:stCondLst>
                                    <p:cond delay="0"/>
                                  </p:stCondLst>
                                  <p:childTnLst>
                                    <p:animMotion origin="layout" path="M 0.00157 0.49167 L 0.00196 0.52153 " pathEditMode="relative" rAng="0" ptsTypes="AA">
                                      <p:cBhvr>
                                        <p:cTn id="278" dur="250" fill="hold"/>
                                        <p:tgtEl>
                                          <p:spTgt spid="233"/>
                                        </p:tgtEl>
                                        <p:attrNameLst>
                                          <p:attrName>ppt_x</p:attrName>
                                          <p:attrName>ppt_y</p:attrName>
                                        </p:attrNameLst>
                                      </p:cBhvr>
                                      <p:rCtr x="13" y="1481"/>
                                    </p:animMotion>
                                  </p:childTnLst>
                                </p:cTn>
                              </p:par>
                            </p:childTnLst>
                          </p:cTn>
                        </p:par>
                        <p:par>
                          <p:cTn id="279" fill="hold">
                            <p:stCondLst>
                              <p:cond delay="8500"/>
                            </p:stCondLst>
                            <p:childTnLst>
                              <p:par>
                                <p:cTn id="280" presetID="42" presetClass="path" presetSubtype="0" accel="50000" decel="50000" fill="hold" grpId="15" nodeType="afterEffect">
                                  <p:stCondLst>
                                    <p:cond delay="0"/>
                                  </p:stCondLst>
                                  <p:childTnLst>
                                    <p:animMotion origin="layout" path="M 0.00196 0.52153 L 0.00157 0.55487 " pathEditMode="relative" rAng="0" ptsTypes="AA">
                                      <p:cBhvr>
                                        <p:cTn id="281" dur="250" fill="hold"/>
                                        <p:tgtEl>
                                          <p:spTgt spid="233"/>
                                        </p:tgtEl>
                                        <p:attrNameLst>
                                          <p:attrName>ppt_x</p:attrName>
                                          <p:attrName>ppt_y</p:attrName>
                                        </p:attrNameLst>
                                      </p:cBhvr>
                                      <p:rCtr x="-26" y="1667"/>
                                    </p:animMotion>
                                  </p:childTnLst>
                                </p:cTn>
                              </p:par>
                            </p:childTnLst>
                          </p:cTn>
                        </p:par>
                        <p:par>
                          <p:cTn id="282" fill="hold">
                            <p:stCondLst>
                              <p:cond delay="8750"/>
                            </p:stCondLst>
                            <p:childTnLst>
                              <p:par>
                                <p:cTn id="283" presetID="22" presetClass="exit" presetSubtype="2" fill="hold" nodeType="afterEffect">
                                  <p:stCondLst>
                                    <p:cond delay="0"/>
                                  </p:stCondLst>
                                  <p:childTnLst>
                                    <p:animEffect transition="out" filter="wipe(right)">
                                      <p:cBhvr>
                                        <p:cTn id="284" dur="500"/>
                                        <p:tgtEl>
                                          <p:spTgt spid="16"/>
                                        </p:tgtEl>
                                      </p:cBhvr>
                                    </p:animEffect>
                                    <p:set>
                                      <p:cBhvr>
                                        <p:cTn id="285" dur="1" fill="hold">
                                          <p:stCondLst>
                                            <p:cond delay="499"/>
                                          </p:stCondLst>
                                        </p:cTn>
                                        <p:tgtEl>
                                          <p:spTgt spid="16"/>
                                        </p:tgtEl>
                                        <p:attrNameLst>
                                          <p:attrName>style.visibility</p:attrName>
                                        </p:attrNameLst>
                                      </p:cBhvr>
                                      <p:to>
                                        <p:strVal val="hidden"/>
                                      </p:to>
                                    </p:set>
                                  </p:childTnLst>
                                </p:cTn>
                              </p:par>
                            </p:childTnLst>
                          </p:cTn>
                        </p:par>
                        <p:par>
                          <p:cTn id="286" fill="hold">
                            <p:stCondLst>
                              <p:cond delay="9250"/>
                            </p:stCondLst>
                            <p:childTnLst>
                              <p:par>
                                <p:cTn id="287" presetID="42" presetClass="path" presetSubtype="0" accel="50000" decel="50000" fill="hold" grpId="16" nodeType="afterEffect">
                                  <p:stCondLst>
                                    <p:cond delay="0"/>
                                  </p:stCondLst>
                                  <p:childTnLst>
                                    <p:animMotion origin="layout" path="M 0.00157 0.55487 L 0.00196 0.58727 " pathEditMode="relative" rAng="0" ptsTypes="AA">
                                      <p:cBhvr>
                                        <p:cTn id="288" dur="250" fill="hold"/>
                                        <p:tgtEl>
                                          <p:spTgt spid="233"/>
                                        </p:tgtEl>
                                        <p:attrNameLst>
                                          <p:attrName>ppt_x</p:attrName>
                                          <p:attrName>ppt_y</p:attrName>
                                        </p:attrNameLst>
                                      </p:cBhvr>
                                      <p:rCtr x="13" y="1620"/>
                                    </p:animMotion>
                                  </p:childTnLst>
                                </p:cTn>
                              </p:par>
                            </p:childTnLst>
                          </p:cTn>
                        </p:par>
                        <p:par>
                          <p:cTn id="289" fill="hold">
                            <p:stCondLst>
                              <p:cond delay="9500"/>
                            </p:stCondLst>
                            <p:childTnLst>
                              <p:par>
                                <p:cTn id="290" presetID="22" presetClass="exit" presetSubtype="2" fill="hold" nodeType="afterEffect">
                                  <p:stCondLst>
                                    <p:cond delay="0"/>
                                  </p:stCondLst>
                                  <p:childTnLst>
                                    <p:animEffect transition="out" filter="wipe(right)">
                                      <p:cBhvr>
                                        <p:cTn id="291" dur="500"/>
                                        <p:tgtEl>
                                          <p:spTgt spid="17"/>
                                        </p:tgtEl>
                                      </p:cBhvr>
                                    </p:animEffect>
                                    <p:set>
                                      <p:cBhvr>
                                        <p:cTn id="292" dur="1" fill="hold">
                                          <p:stCondLst>
                                            <p:cond delay="499"/>
                                          </p:stCondLst>
                                        </p:cTn>
                                        <p:tgtEl>
                                          <p:spTgt spid="17"/>
                                        </p:tgtEl>
                                        <p:attrNameLst>
                                          <p:attrName>style.visibility</p:attrName>
                                        </p:attrNameLst>
                                      </p:cBhvr>
                                      <p:to>
                                        <p:strVal val="hidden"/>
                                      </p:to>
                                    </p:set>
                                  </p:childTnLst>
                                </p:cTn>
                              </p:par>
                            </p:childTnLst>
                          </p:cTn>
                        </p:par>
                        <p:par>
                          <p:cTn id="293" fill="hold">
                            <p:stCondLst>
                              <p:cond delay="10000"/>
                            </p:stCondLst>
                            <p:childTnLst>
                              <p:par>
                                <p:cTn id="294" presetID="42" presetClass="path" presetSubtype="0" accel="50000" decel="50000" fill="hold" grpId="17" nodeType="afterEffect">
                                  <p:stCondLst>
                                    <p:cond delay="0"/>
                                  </p:stCondLst>
                                  <p:childTnLst>
                                    <p:animMotion origin="layout" path="M 0.00196 0.58727 L 0.00235 0.62061 " pathEditMode="relative" rAng="0" ptsTypes="AA">
                                      <p:cBhvr>
                                        <p:cTn id="295" dur="250" fill="hold"/>
                                        <p:tgtEl>
                                          <p:spTgt spid="233"/>
                                        </p:tgtEl>
                                        <p:attrNameLst>
                                          <p:attrName>ppt_x</p:attrName>
                                          <p:attrName>ppt_y</p:attrName>
                                        </p:attrNameLst>
                                      </p:cBhvr>
                                      <p:rCtr x="13" y="1667"/>
                                    </p:animMotion>
                                  </p:childTnLst>
                                </p:cTn>
                              </p:par>
                            </p:childTnLst>
                          </p:cTn>
                        </p:par>
                        <p:par>
                          <p:cTn id="296" fill="hold">
                            <p:stCondLst>
                              <p:cond delay="10250"/>
                            </p:stCondLst>
                            <p:childTnLst>
                              <p:par>
                                <p:cTn id="297" presetID="22" presetClass="exit" presetSubtype="2" fill="hold" nodeType="afterEffect">
                                  <p:stCondLst>
                                    <p:cond delay="0"/>
                                  </p:stCondLst>
                                  <p:childTnLst>
                                    <p:animEffect transition="out" filter="wipe(right)">
                                      <p:cBhvr>
                                        <p:cTn id="298" dur="500"/>
                                        <p:tgtEl>
                                          <p:spTgt spid="18"/>
                                        </p:tgtEl>
                                      </p:cBhvr>
                                    </p:animEffect>
                                    <p:set>
                                      <p:cBhvr>
                                        <p:cTn id="299" dur="1" fill="hold">
                                          <p:stCondLst>
                                            <p:cond delay="499"/>
                                          </p:stCondLst>
                                        </p:cTn>
                                        <p:tgtEl>
                                          <p:spTgt spid="18"/>
                                        </p:tgtEl>
                                        <p:attrNameLst>
                                          <p:attrName>style.visibility</p:attrName>
                                        </p:attrNameLst>
                                      </p:cBhvr>
                                      <p:to>
                                        <p:strVal val="hidden"/>
                                      </p:to>
                                    </p:set>
                                  </p:childTnLst>
                                </p:cTn>
                              </p:par>
                            </p:childTnLst>
                          </p:cTn>
                        </p:par>
                        <p:par>
                          <p:cTn id="300" fill="hold">
                            <p:stCondLst>
                              <p:cond delay="10750"/>
                            </p:stCondLst>
                            <p:childTnLst>
                              <p:par>
                                <p:cTn id="301" presetID="42" presetClass="path" presetSubtype="0" accel="50000" decel="50000" fill="hold" grpId="18" nodeType="afterEffect">
                                  <p:stCondLst>
                                    <p:cond delay="0"/>
                                  </p:stCondLst>
                                  <p:childTnLst>
                                    <p:animMotion origin="layout" path="M 0.00235 0.62061 L 0.00274 0.65325 " pathEditMode="relative" rAng="0" ptsTypes="AA">
                                      <p:cBhvr>
                                        <p:cTn id="302" dur="250" fill="hold"/>
                                        <p:tgtEl>
                                          <p:spTgt spid="233"/>
                                        </p:tgtEl>
                                        <p:attrNameLst>
                                          <p:attrName>ppt_x</p:attrName>
                                          <p:attrName>ppt_y</p:attrName>
                                        </p:attrNameLst>
                                      </p:cBhvr>
                                      <p:rCtr x="13" y="1620"/>
                                    </p:animMotion>
                                  </p:childTnLst>
                                </p:cTn>
                              </p:par>
                            </p:childTnLst>
                          </p:cTn>
                        </p:par>
                        <p:par>
                          <p:cTn id="303" fill="hold">
                            <p:stCondLst>
                              <p:cond delay="11000"/>
                            </p:stCondLst>
                            <p:childTnLst>
                              <p:par>
                                <p:cTn id="304" presetID="22" presetClass="exit" presetSubtype="4" fill="hold" nodeType="afterEffect">
                                  <p:stCondLst>
                                    <p:cond delay="0"/>
                                  </p:stCondLst>
                                  <p:childTnLst>
                                    <p:animEffect transition="out" filter="wipe(down)">
                                      <p:cBhvr>
                                        <p:cTn id="305" dur="500"/>
                                        <p:tgtEl>
                                          <p:spTgt spid="15"/>
                                        </p:tgtEl>
                                      </p:cBhvr>
                                    </p:animEffect>
                                    <p:set>
                                      <p:cBhvr>
                                        <p:cTn id="306" dur="1" fill="hold">
                                          <p:stCondLst>
                                            <p:cond delay="499"/>
                                          </p:stCondLst>
                                        </p:cTn>
                                        <p:tgtEl>
                                          <p:spTgt spid="15"/>
                                        </p:tgtEl>
                                        <p:attrNameLst>
                                          <p:attrName>style.visibility</p:attrName>
                                        </p:attrNameLst>
                                      </p:cBhvr>
                                      <p:to>
                                        <p:strVal val="hidden"/>
                                      </p:to>
                                    </p:set>
                                  </p:childTnLst>
                                </p:cTn>
                              </p:par>
                            </p:childTnLst>
                          </p:cTn>
                        </p:par>
                        <p:par>
                          <p:cTn id="307" fill="hold">
                            <p:stCondLst>
                              <p:cond delay="11500"/>
                            </p:stCondLst>
                            <p:childTnLst>
                              <p:par>
                                <p:cTn id="308" presetID="42" presetClass="path" presetSubtype="0" accel="50000" decel="50000" fill="hold" grpId="19" nodeType="afterEffect">
                                  <p:stCondLst>
                                    <p:cond delay="0"/>
                                  </p:stCondLst>
                                  <p:childTnLst>
                                    <p:animMotion origin="layout" path="M 0.00274 0.65325 L 0.00235 0.68658 " pathEditMode="relative" rAng="0" ptsTypes="AA">
                                      <p:cBhvr>
                                        <p:cTn id="309" dur="250" fill="hold"/>
                                        <p:tgtEl>
                                          <p:spTgt spid="233"/>
                                        </p:tgtEl>
                                        <p:attrNameLst>
                                          <p:attrName>ppt_x</p:attrName>
                                          <p:attrName>ppt_y</p:attrName>
                                        </p:attrNameLst>
                                      </p:cBhvr>
                                      <p:rCtr x="-26" y="1667"/>
                                    </p:animMotion>
                                  </p:childTnLst>
                                </p:cTn>
                              </p:par>
                            </p:childTnLst>
                          </p:cTn>
                        </p:par>
                        <p:par>
                          <p:cTn id="310" fill="hold">
                            <p:stCondLst>
                              <p:cond delay="11750"/>
                            </p:stCondLst>
                            <p:childTnLst>
                              <p:par>
                                <p:cTn id="311" presetID="22" presetClass="exit" presetSubtype="2" fill="hold" nodeType="afterEffect">
                                  <p:stCondLst>
                                    <p:cond delay="0"/>
                                  </p:stCondLst>
                                  <p:childTnLst>
                                    <p:animEffect transition="out" filter="wipe(right)">
                                      <p:cBhvr>
                                        <p:cTn id="312" dur="500"/>
                                        <p:tgtEl>
                                          <p:spTgt spid="11"/>
                                        </p:tgtEl>
                                      </p:cBhvr>
                                    </p:animEffect>
                                    <p:set>
                                      <p:cBhvr>
                                        <p:cTn id="313" dur="1" fill="hold">
                                          <p:stCondLst>
                                            <p:cond delay="499"/>
                                          </p:stCondLst>
                                        </p:cTn>
                                        <p:tgtEl>
                                          <p:spTgt spid="11"/>
                                        </p:tgtEl>
                                        <p:attrNameLst>
                                          <p:attrName>style.visibility</p:attrName>
                                        </p:attrNameLst>
                                      </p:cBhvr>
                                      <p:to>
                                        <p:strVal val="hidden"/>
                                      </p:to>
                                    </p:set>
                                  </p:childTnLst>
                                </p:cTn>
                              </p:par>
                            </p:childTnLst>
                          </p:cTn>
                        </p:par>
                        <p:par>
                          <p:cTn id="314" fill="hold">
                            <p:stCondLst>
                              <p:cond delay="12250"/>
                            </p:stCondLst>
                            <p:childTnLst>
                              <p:par>
                                <p:cTn id="315" presetID="42" presetClass="path" presetSubtype="0" accel="50000" decel="50000" fill="hold" grpId="20" nodeType="afterEffect">
                                  <p:stCondLst>
                                    <p:cond delay="0"/>
                                  </p:stCondLst>
                                  <p:childTnLst>
                                    <p:animMotion origin="layout" path="M 0.00235 0.68658 L 0.00235 0.71922 " pathEditMode="relative" rAng="0" ptsTypes="AA">
                                      <p:cBhvr>
                                        <p:cTn id="316" dur="250" fill="hold"/>
                                        <p:tgtEl>
                                          <p:spTgt spid="233"/>
                                        </p:tgtEl>
                                        <p:attrNameLst>
                                          <p:attrName>ppt_x</p:attrName>
                                          <p:attrName>ppt_y</p:attrName>
                                        </p:attrNameLst>
                                      </p:cBhvr>
                                      <p:rCtr x="0" y="1620"/>
                                    </p:animMotion>
                                  </p:childTnLst>
                                </p:cTn>
                              </p:par>
                            </p:childTnLst>
                          </p:cTn>
                        </p:par>
                        <p:par>
                          <p:cTn id="317" fill="hold">
                            <p:stCondLst>
                              <p:cond delay="12500"/>
                            </p:stCondLst>
                            <p:childTnLst>
                              <p:par>
                                <p:cTn id="318" presetID="22" presetClass="exit" presetSubtype="2" fill="hold" nodeType="afterEffect">
                                  <p:stCondLst>
                                    <p:cond delay="0"/>
                                  </p:stCondLst>
                                  <p:childTnLst>
                                    <p:animEffect transition="out" filter="wipe(right)">
                                      <p:cBhvr>
                                        <p:cTn id="319" dur="500"/>
                                        <p:tgtEl>
                                          <p:spTgt spid="12"/>
                                        </p:tgtEl>
                                      </p:cBhvr>
                                    </p:animEffect>
                                    <p:set>
                                      <p:cBhvr>
                                        <p:cTn id="320" dur="1" fill="hold">
                                          <p:stCondLst>
                                            <p:cond delay="499"/>
                                          </p:stCondLst>
                                        </p:cTn>
                                        <p:tgtEl>
                                          <p:spTgt spid="12"/>
                                        </p:tgtEl>
                                        <p:attrNameLst>
                                          <p:attrName>style.visibility</p:attrName>
                                        </p:attrNameLst>
                                      </p:cBhvr>
                                      <p:to>
                                        <p:strVal val="hidden"/>
                                      </p:to>
                                    </p:set>
                                  </p:childTnLst>
                                </p:cTn>
                              </p:par>
                            </p:childTnLst>
                          </p:cTn>
                        </p:par>
                        <p:par>
                          <p:cTn id="321" fill="hold">
                            <p:stCondLst>
                              <p:cond delay="13000"/>
                            </p:stCondLst>
                            <p:childTnLst>
                              <p:par>
                                <p:cTn id="322" presetID="42" presetClass="path" presetSubtype="0" accel="50000" decel="50000" fill="hold" grpId="21" nodeType="afterEffect">
                                  <p:stCondLst>
                                    <p:cond delay="0"/>
                                  </p:stCondLst>
                                  <p:childTnLst>
                                    <p:animMotion origin="layout" path="M 0.00235 0.71922 L 0.00274 0.75255 " pathEditMode="relative" rAng="0" ptsTypes="AA">
                                      <p:cBhvr>
                                        <p:cTn id="323" dur="250" fill="hold"/>
                                        <p:tgtEl>
                                          <p:spTgt spid="233"/>
                                        </p:tgtEl>
                                        <p:attrNameLst>
                                          <p:attrName>ppt_x</p:attrName>
                                          <p:attrName>ppt_y</p:attrName>
                                        </p:attrNameLst>
                                      </p:cBhvr>
                                      <p:rCtr x="13" y="1667"/>
                                    </p:animMotion>
                                  </p:childTnLst>
                                </p:cTn>
                              </p:par>
                            </p:childTnLst>
                          </p:cTn>
                        </p:par>
                        <p:par>
                          <p:cTn id="324" fill="hold">
                            <p:stCondLst>
                              <p:cond delay="13250"/>
                            </p:stCondLst>
                            <p:childTnLst>
                              <p:par>
                                <p:cTn id="325" presetID="22" presetClass="exit" presetSubtype="2" fill="hold" nodeType="afterEffect">
                                  <p:stCondLst>
                                    <p:cond delay="0"/>
                                  </p:stCondLst>
                                  <p:childTnLst>
                                    <p:animEffect transition="out" filter="wipe(right)">
                                      <p:cBhvr>
                                        <p:cTn id="326" dur="500"/>
                                        <p:tgtEl>
                                          <p:spTgt spid="68"/>
                                        </p:tgtEl>
                                      </p:cBhvr>
                                    </p:animEffect>
                                    <p:set>
                                      <p:cBhvr>
                                        <p:cTn id="327" dur="1" fill="hold">
                                          <p:stCondLst>
                                            <p:cond delay="499"/>
                                          </p:stCondLst>
                                        </p:cTn>
                                        <p:tgtEl>
                                          <p:spTgt spid="68"/>
                                        </p:tgtEl>
                                        <p:attrNameLst>
                                          <p:attrName>style.visibility</p:attrName>
                                        </p:attrNameLst>
                                      </p:cBhvr>
                                      <p:to>
                                        <p:strVal val="hidden"/>
                                      </p:to>
                                    </p:set>
                                  </p:childTnLst>
                                </p:cTn>
                              </p:par>
                            </p:childTnLst>
                          </p:cTn>
                        </p:par>
                        <p:par>
                          <p:cTn id="328" fill="hold">
                            <p:stCondLst>
                              <p:cond delay="13750"/>
                            </p:stCondLst>
                            <p:childTnLst>
                              <p:par>
                                <p:cTn id="329" presetID="42" presetClass="path" presetSubtype="0" accel="50000" decel="50000" fill="hold" grpId="22" nodeType="afterEffect">
                                  <p:stCondLst>
                                    <p:cond delay="0"/>
                                  </p:stCondLst>
                                  <p:childTnLst>
                                    <p:animMotion origin="layout" path="M 0.00274 0.75255 L 0.00274 0.7845 " pathEditMode="relative" rAng="0" ptsTypes="AA">
                                      <p:cBhvr>
                                        <p:cTn id="330" dur="250" fill="hold"/>
                                        <p:tgtEl>
                                          <p:spTgt spid="233"/>
                                        </p:tgtEl>
                                        <p:attrNameLst>
                                          <p:attrName>ppt_x</p:attrName>
                                          <p:attrName>ppt_y</p:attrName>
                                        </p:attrNameLst>
                                      </p:cBhvr>
                                      <p:rCtr x="0" y="1597"/>
                                    </p:animMotion>
                                  </p:childTnLst>
                                </p:cTn>
                              </p:par>
                            </p:childTnLst>
                          </p:cTn>
                        </p:par>
                        <p:par>
                          <p:cTn id="331" fill="hold">
                            <p:stCondLst>
                              <p:cond delay="14000"/>
                            </p:stCondLst>
                            <p:childTnLst>
                              <p:par>
                                <p:cTn id="332" presetID="22" presetClass="exit" presetSubtype="4" fill="hold" nodeType="afterEffect">
                                  <p:stCondLst>
                                    <p:cond delay="0"/>
                                  </p:stCondLst>
                                  <p:childTnLst>
                                    <p:animEffect transition="out" filter="wipe(down)">
                                      <p:cBhvr>
                                        <p:cTn id="333" dur="500"/>
                                        <p:tgtEl>
                                          <p:spTgt spid="13"/>
                                        </p:tgtEl>
                                      </p:cBhvr>
                                    </p:animEffect>
                                    <p:set>
                                      <p:cBhvr>
                                        <p:cTn id="334" dur="1" fill="hold">
                                          <p:stCondLst>
                                            <p:cond delay="499"/>
                                          </p:stCondLst>
                                        </p:cTn>
                                        <p:tgtEl>
                                          <p:spTgt spid="13"/>
                                        </p:tgtEl>
                                        <p:attrNameLst>
                                          <p:attrName>style.visibility</p:attrName>
                                        </p:attrNameLst>
                                      </p:cBhvr>
                                      <p:to>
                                        <p:strVal val="hidden"/>
                                      </p:to>
                                    </p:set>
                                  </p:childTnLst>
                                </p:cTn>
                              </p:par>
                            </p:childTnLst>
                          </p:cTn>
                        </p:par>
                        <p:par>
                          <p:cTn id="335" fill="hold">
                            <p:stCondLst>
                              <p:cond delay="14500"/>
                            </p:stCondLst>
                            <p:childTnLst>
                              <p:par>
                                <p:cTn id="336" presetID="42" presetClass="path" presetSubtype="0" accel="50000" decel="50000" fill="hold" grpId="23" nodeType="afterEffect">
                                  <p:stCondLst>
                                    <p:cond delay="0"/>
                                  </p:stCondLst>
                                  <p:childTnLst>
                                    <p:animMotion origin="layout" path="M 0.00274 0.7845 L 0.00352 0.81852 " pathEditMode="relative" rAng="0" ptsTypes="AA">
                                      <p:cBhvr>
                                        <p:cTn id="337" dur="250" fill="hold"/>
                                        <p:tgtEl>
                                          <p:spTgt spid="233"/>
                                        </p:tgtEl>
                                        <p:attrNameLst>
                                          <p:attrName>ppt_x</p:attrName>
                                          <p:attrName>ppt_y</p:attrName>
                                        </p:attrNameLst>
                                      </p:cBhvr>
                                      <p:rCtr x="39" y="1690"/>
                                    </p:animMotion>
                                  </p:childTnLst>
                                </p:cTn>
                              </p:par>
                            </p:childTnLst>
                          </p:cTn>
                        </p:par>
                        <p:par>
                          <p:cTn id="338" fill="hold">
                            <p:stCondLst>
                              <p:cond delay="14750"/>
                            </p:stCondLst>
                            <p:childTnLst>
                              <p:par>
                                <p:cTn id="339" presetID="22" presetClass="exit" presetSubtype="2" fill="hold" nodeType="afterEffect">
                                  <p:stCondLst>
                                    <p:cond delay="0"/>
                                  </p:stCondLst>
                                  <p:childTnLst>
                                    <p:animEffect transition="out" filter="wipe(right)">
                                      <p:cBhvr>
                                        <p:cTn id="340" dur="500"/>
                                        <p:tgtEl>
                                          <p:spTgt spid="69"/>
                                        </p:tgtEl>
                                      </p:cBhvr>
                                    </p:animEffect>
                                    <p:set>
                                      <p:cBhvr>
                                        <p:cTn id="341" dur="1" fill="hold">
                                          <p:stCondLst>
                                            <p:cond delay="499"/>
                                          </p:stCondLst>
                                        </p:cTn>
                                        <p:tgtEl>
                                          <p:spTgt spid="69"/>
                                        </p:tgtEl>
                                        <p:attrNameLst>
                                          <p:attrName>style.visibility</p:attrName>
                                        </p:attrNameLst>
                                      </p:cBhvr>
                                      <p:to>
                                        <p:strVal val="hidden"/>
                                      </p:to>
                                    </p:set>
                                  </p:childTnLst>
                                </p:cTn>
                              </p:par>
                            </p:childTnLst>
                          </p:cTn>
                        </p:par>
                        <p:par>
                          <p:cTn id="342" fill="hold">
                            <p:stCondLst>
                              <p:cond delay="15250"/>
                            </p:stCondLst>
                            <p:childTnLst>
                              <p:par>
                                <p:cTn id="343" presetID="1" presetClass="exit" presetSubtype="0" fill="hold" grpId="24" nodeType="afterEffect">
                                  <p:stCondLst>
                                    <p:cond delay="0"/>
                                  </p:stCondLst>
                                  <p:childTnLst>
                                    <p:set>
                                      <p:cBhvr>
                                        <p:cTn id="344"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General Workflow</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22</a:t>
            </a:fld>
            <a:endParaRPr lang="en-US" noProof="0"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noProof="0" dirty="0"/>
              <a:t>Preparing the Data (search and base table) </a:t>
            </a:r>
          </a:p>
          <a:p>
            <a:pPr lvl="1">
              <a:buClr>
                <a:srgbClr val="00AAE5"/>
              </a:buClr>
            </a:pPr>
            <a:r>
              <a:rPr lang="en-US" noProof="0" dirty="0"/>
              <a:t>Establish congruency between the tables regarding data representation by joining or splitting field contents if necessary (address ↔ street, postcode, city).</a:t>
            </a:r>
          </a:p>
          <a:p>
            <a:pPr lvl="1">
              <a:buClr>
                <a:srgbClr val="00AAE5"/>
              </a:buClr>
            </a:pPr>
            <a:r>
              <a:rPr lang="en-US" noProof="0" dirty="0"/>
              <a:t>Harmonize idiosyncratic disparities between the datasets, like consistently using different kinds of abbreviations.</a:t>
            </a:r>
            <a:br>
              <a:rPr lang="en-US" noProof="0" dirty="0"/>
            </a:br>
            <a:r>
              <a:rPr lang="en-US" noProof="0" dirty="0"/>
              <a:t>“Univ” vs. “University” vs. “Uni”, “limited” vs. “ltd”, “Strasse” vs. “Str.” and so on</a:t>
            </a:r>
            <a:br>
              <a:rPr lang="en-US" noProof="0" dirty="0"/>
            </a:br>
            <a:r>
              <a:rPr lang="en-US" noProof="0" dirty="0"/>
              <a:t>Optionally: development of custom Preparers (there are already some in the “preparer” directory)</a:t>
            </a:r>
          </a:p>
          <a:p>
            <a:pPr lvl="1">
              <a:buClr>
                <a:srgbClr val="00AAE5"/>
              </a:buClr>
            </a:pPr>
            <a:r>
              <a:rPr lang="en-US" noProof="0" dirty="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noProof="0" dirty="0"/>
              <a:t>The </a:t>
            </a:r>
            <a:r>
              <a:rPr lang="en-US" noProof="0" dirty="0" err="1"/>
              <a:t>SearchEngine</a:t>
            </a:r>
            <a:r>
              <a:rPr lang="en-US" noProof="0" dirty="0"/>
              <a:t> imports tab-delimited text files with column headers (not too fancy). Avoid unnecessary fields! Avoid control characters in the data!</a:t>
            </a:r>
          </a:p>
          <a:p>
            <a:pPr>
              <a:buClr>
                <a:srgbClr val="00AAE5"/>
              </a:buClr>
            </a:pPr>
            <a:r>
              <a:rPr lang="en-US" noProof="0" dirty="0"/>
              <a:t>Create the </a:t>
            </a:r>
            <a:r>
              <a:rPr lang="en-US" noProof="0" dirty="0" err="1"/>
              <a:t>SearchEngine</a:t>
            </a:r>
            <a:endParaRPr lang="en-US" noProof="0" dirty="0"/>
          </a:p>
          <a:p>
            <a:pPr lvl="1">
              <a:buClr>
                <a:srgbClr val="00AAE5"/>
              </a:buClr>
            </a:pPr>
            <a:r>
              <a:rPr lang="en-US" noProof="0" dirty="0"/>
              <a:t>Choose the base table by balancing the following priorities: being more focused, having more clutter, being significantly larger</a:t>
            </a:r>
          </a:p>
          <a:p>
            <a:pPr lvl="1">
              <a:buClr>
                <a:srgbClr val="00AAE5"/>
              </a:buClr>
            </a:pPr>
            <a:r>
              <a:rPr lang="en-US" noProof="0" dirty="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noProof="0" dirty="0"/>
              <a:t>Search Strategy for Firm Matching</a:t>
            </a:r>
          </a:p>
          <a:p>
            <a:pPr lvl="1">
              <a:buClr>
                <a:srgbClr val="00AAE5"/>
              </a:buClr>
            </a:pPr>
            <a:r>
              <a:rPr lang="en-US" noProof="0" dirty="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noProof="0" dirty="0">
                <a:solidFill>
                  <a:srgbClr val="7AD0C4"/>
                </a:solidFill>
              </a:rPr>
              <a:t>Incremental</a:t>
            </a:r>
            <a:r>
              <a:rPr lang="en-US" noProof="0" dirty="0"/>
              <a:t>: complete search terms without candidates from earlier runs, gradually reduce retrieval restrictions, Darwinian (keep only the best)</a:t>
            </a:r>
          </a:p>
          <a:p>
            <a:pPr lvl="2">
              <a:buClr>
                <a:srgbClr val="00AAE5"/>
              </a:buClr>
            </a:pPr>
            <a:r>
              <a:rPr lang="en-US" noProof="0" dirty="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noProof="0" dirty="0"/>
              <a:t>Switch to destructive search types by shifting the corresponding weights and perform two search runs, one with log smoothing and one without smoothing of the destructive search types.</a:t>
            </a:r>
          </a:p>
          <a:p>
            <a:pPr lvl="2">
              <a:buClr>
                <a:srgbClr val="00AAE5"/>
              </a:buClr>
            </a:pPr>
            <a:r>
              <a:rPr lang="en-US" noProof="0" dirty="0"/>
              <a:t>Lower the threshold forfeiting the necessity of auxiliary fields and repeat the search steps.</a:t>
            </a:r>
          </a:p>
          <a:p>
            <a:pPr lvl="1">
              <a:buClr>
                <a:srgbClr val="00AAE5"/>
              </a:buClr>
            </a:pPr>
            <a:r>
              <a:rPr lang="en-US" noProof="0" dirty="0">
                <a:solidFill>
                  <a:srgbClr val="BADA15"/>
                </a:solidFill>
              </a:rPr>
              <a:t>Compound</a:t>
            </a:r>
            <a:r>
              <a:rPr lang="en-US" noProof="0" dirty="0"/>
              <a:t>: merge search runs based on a reasonably low threshold</a:t>
            </a:r>
          </a:p>
          <a:p>
            <a:pPr lvl="2">
              <a:buClr>
                <a:srgbClr val="00AAE5"/>
              </a:buClr>
            </a:pPr>
            <a:r>
              <a:rPr lang="en-US" noProof="0" dirty="0"/>
              <a:t>Start with a conventional search run by setting the weights of the destructive search types to zero. You may even prelude with a run based on log smoothed conventional search types for the relevant fields followed by a non-smoothed version.</a:t>
            </a:r>
          </a:p>
          <a:p>
            <a:pPr lvl="2">
              <a:buClr>
                <a:srgbClr val="00AAE5"/>
              </a:buClr>
            </a:pPr>
            <a:r>
              <a:rPr lang="en-US" noProof="0" dirty="0"/>
              <a:t>If misspellings are of concern, switch to destructive search types by shifting the corresponding weights and perform two search runs, one with log smoothing and one without smoothing of the destructive search types.</a:t>
            </a:r>
          </a:p>
          <a:p>
            <a:pPr lvl="2">
              <a:buClr>
                <a:srgbClr val="00AAE5"/>
              </a:buClr>
            </a:pPr>
            <a:r>
              <a:rPr lang="en-US" noProof="0" dirty="0"/>
              <a:t>Apply Inverse Darwinian Cutoff if search table is </a:t>
            </a:r>
            <a:r>
              <a:rPr lang="en-US" noProof="0" dirty="0">
                <a:solidFill>
                  <a:srgbClr val="7AD0C4"/>
                </a:solidFill>
              </a:rPr>
              <a:t>focused</a:t>
            </a:r>
            <a:r>
              <a:rPr lang="en-US" noProof="0" dirty="0"/>
              <a:t>.  Use research to repeat the search steps with log-smoothing and added feedback maximizing the identity and strip the candidates of redundant search terms.</a:t>
            </a:r>
          </a:p>
          <a:p>
            <a:pPr marL="216000" lvl="1">
              <a:buClr>
                <a:srgbClr val="00AAE5"/>
              </a:buClr>
            </a:pPr>
            <a:r>
              <a:rPr lang="en-US" noProof="0" dirty="0"/>
              <a:t>Concentrate on appropriate retrieval and less on identity refinement because the identity will be replaced by the meta vector carrying much more similarity indicators for the </a:t>
            </a:r>
            <a:r>
              <a:rPr lang="en-US" noProof="0" dirty="0" err="1"/>
              <a:t>SearchEngine</a:t>
            </a:r>
            <a:r>
              <a:rPr lang="en-US" noProof="0" dirty="0"/>
              <a:t> Machine Learning approach </a:t>
            </a:r>
            <a:r>
              <a:rPr lang="en-US" noProof="0" dirty="0">
                <a:solidFill>
                  <a:srgbClr val="00AAE5"/>
                </a:solidFill>
              </a:rPr>
              <a:t>SEML</a:t>
            </a:r>
            <a:r>
              <a:rPr lang="en-US" noProof="0" dirty="0"/>
              <a:t>.</a:t>
            </a:r>
          </a:p>
        </p:txBody>
      </p:sp>
    </p:spTree>
    <p:extLst>
      <p:ext uri="{BB962C8B-B14F-4D97-AF65-F5344CB8AC3E}">
        <p14:creationId xmlns:p14="http://schemas.microsoft.com/office/powerpoint/2010/main" val="829637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Components</a:t>
            </a:r>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noProof="0" dirty="0">
                <a:solidFill>
                  <a:prstClr val="black"/>
                </a:solidFill>
              </a:rPr>
              <a:t>Threshold</a:t>
            </a:r>
          </a:p>
          <a:p>
            <a:pPr lvl="1">
              <a:spcBef>
                <a:spcPts val="0"/>
              </a:spcBef>
              <a:buClr>
                <a:srgbClr val="00AAE5"/>
              </a:buClr>
            </a:pPr>
            <a:r>
              <a:rPr lang="en-US" sz="1400" noProof="0" dirty="0">
                <a:solidFill>
                  <a:prstClr val="black"/>
                </a:solidFill>
              </a:rPr>
              <a:t>Interaction with the search type weights constitutes the search strategy</a:t>
            </a:r>
          </a:p>
          <a:p>
            <a:pPr lvl="1">
              <a:spcBef>
                <a:spcPts val="0"/>
              </a:spcBef>
              <a:buClr>
                <a:srgbClr val="00AAE5"/>
              </a:buClr>
            </a:pPr>
            <a:r>
              <a:rPr lang="en-US" sz="1400" noProof="0" dirty="0">
                <a:solidFill>
                  <a:prstClr val="black"/>
                </a:solidFill>
              </a:rPr>
              <a:t>A threshold above the firm name weight enforces partial address similarity</a:t>
            </a:r>
          </a:p>
          <a:p>
            <a:pPr lvl="1">
              <a:spcBef>
                <a:spcPts val="0"/>
              </a:spcBef>
              <a:buClr>
                <a:srgbClr val="00AAE5"/>
              </a:buClr>
            </a:pPr>
            <a:r>
              <a:rPr lang="en-US" sz="1400" noProof="0" dirty="0">
                <a:solidFill>
                  <a:prstClr val="black"/>
                </a:solidFill>
              </a:rPr>
              <a:t>If the threshold is below the firm name weight, similarity in the address increases the leeway</a:t>
            </a:r>
          </a:p>
          <a:p>
            <a:pPr marL="216000" lvl="0">
              <a:spcBef>
                <a:spcPts val="600"/>
              </a:spcBef>
              <a:buClr>
                <a:srgbClr val="00AAE5"/>
              </a:buClr>
            </a:pPr>
            <a:r>
              <a:rPr lang="en-US" sz="1400" noProof="0" dirty="0">
                <a:solidFill>
                  <a:prstClr val="black"/>
                </a:solidFill>
              </a:rPr>
              <a:t>Redistribution of search type weights</a:t>
            </a:r>
          </a:p>
          <a:p>
            <a:pPr lvl="1">
              <a:spcBef>
                <a:spcPts val="0"/>
              </a:spcBef>
              <a:buClr>
                <a:srgbClr val="00AAE5"/>
              </a:buClr>
            </a:pPr>
            <a:r>
              <a:rPr lang="en-US" sz="1400" noProof="0" dirty="0">
                <a:solidFill>
                  <a:prstClr val="black"/>
                </a:solidFill>
              </a:rPr>
              <a:t>Increasing/decreasing the impact of search types on the relative Identity</a:t>
            </a:r>
          </a:p>
          <a:p>
            <a:pPr lvl="1">
              <a:spcBef>
                <a:spcPts val="0"/>
              </a:spcBef>
              <a:buClr>
                <a:srgbClr val="00AAE5"/>
              </a:buClr>
            </a:pPr>
            <a:r>
              <a:rPr lang="en-US" sz="1400" noProof="0" dirty="0">
                <a:solidFill>
                  <a:prstClr val="black"/>
                </a:solidFill>
              </a:rPr>
              <a:t>The more weight on address search types, the higher the leeway for the firm name</a:t>
            </a:r>
          </a:p>
          <a:p>
            <a:pPr lvl="1">
              <a:spcBef>
                <a:spcPts val="0"/>
              </a:spcBef>
              <a:buClr>
                <a:srgbClr val="00AAE5"/>
              </a:buClr>
            </a:pPr>
            <a:r>
              <a:rPr lang="en-US" sz="1400" noProof="0" dirty="0">
                <a:solidFill>
                  <a:prstClr val="black"/>
                </a:solidFill>
              </a:rPr>
              <a:t>A weight of zero deactivates a search type for strategies with dedicated misspelling steps:</a:t>
            </a:r>
          </a:p>
          <a:p>
            <a:pPr lvl="2">
              <a:spcBef>
                <a:spcPts val="0"/>
              </a:spcBef>
              <a:buClr>
                <a:srgbClr val="00AAE5"/>
              </a:buClr>
            </a:pPr>
            <a:r>
              <a:rPr lang="en-US" sz="1400" noProof="0" dirty="0">
                <a:solidFill>
                  <a:prstClr val="black"/>
                </a:solidFill>
              </a:rPr>
              <a:t>Start with runs not capturing misspellings → associated search types (n-grams) has a weight of zero</a:t>
            </a:r>
          </a:p>
          <a:p>
            <a:pPr lvl="2">
              <a:spcBef>
                <a:spcPts val="0"/>
              </a:spcBef>
              <a:buClr>
                <a:srgbClr val="00AAE5"/>
              </a:buClr>
            </a:pPr>
            <a:r>
              <a:rPr lang="en-US" sz="1400" noProof="0" dirty="0">
                <a:solidFill>
                  <a:prstClr val="black"/>
                </a:solidFill>
              </a:rPr>
              <a:t>Continue with misspelling runs → switch weight to linguistic search types, set conventional to zero</a:t>
            </a:r>
          </a:p>
          <a:p>
            <a:pPr marL="72000">
              <a:spcBef>
                <a:spcPts val="600"/>
              </a:spcBef>
              <a:buClr>
                <a:srgbClr val="00AAE5"/>
              </a:buClr>
            </a:pPr>
            <a:r>
              <a:rPr lang="en-US" sz="1400" noProof="0" dirty="0">
                <a:solidFill>
                  <a:prstClr val="black"/>
                </a:solidFill>
              </a:rPr>
              <a:t>Containment</a:t>
            </a:r>
          </a:p>
          <a:p>
            <a:pPr lvl="1">
              <a:spcBef>
                <a:spcPts val="0"/>
              </a:spcBef>
              <a:buClr>
                <a:srgbClr val="00AAE5"/>
              </a:buClr>
            </a:pPr>
            <a:r>
              <a:rPr lang="en-US" sz="1400" noProof="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noProof="0" dirty="0">
                <a:solidFill>
                  <a:prstClr val="black"/>
                </a:solidFill>
              </a:rPr>
              <a:t>Capturing misspellings</a:t>
            </a:r>
          </a:p>
          <a:p>
            <a:pPr lvl="1">
              <a:spcBef>
                <a:spcPts val="0"/>
              </a:spcBef>
              <a:buClr>
                <a:srgbClr val="00AAE5"/>
              </a:buClr>
            </a:pPr>
            <a:r>
              <a:rPr lang="en-US" sz="1400" noProof="0" dirty="0">
                <a:solidFill>
                  <a:prstClr val="black"/>
                </a:solidFill>
              </a:rPr>
              <a:t>Activating linguistic search types (n-grams) by assigning a weight &gt; 0 and deactivating the corresponding conventional search type</a:t>
            </a:r>
          </a:p>
          <a:p>
            <a:pPr lvl="1">
              <a:spcBef>
                <a:spcPts val="0"/>
              </a:spcBef>
              <a:buClr>
                <a:srgbClr val="00AAE5"/>
              </a:buClr>
            </a:pPr>
            <a:r>
              <a:rPr lang="en-US" sz="1400" noProof="0" dirty="0">
                <a:solidFill>
                  <a:prstClr val="black"/>
                </a:solidFill>
              </a:rPr>
              <a:t>Usually only relevant search fields like the firm name are equipped with linguistic preparer</a:t>
            </a:r>
          </a:p>
          <a:p>
            <a:pPr marL="216000" lvl="0">
              <a:spcBef>
                <a:spcPts val="600"/>
              </a:spcBef>
              <a:buClr>
                <a:srgbClr val="00AAE5"/>
              </a:buClr>
            </a:pPr>
            <a:r>
              <a:rPr lang="en-US" sz="1400" noProof="0" dirty="0">
                <a:solidFill>
                  <a:prstClr val="black"/>
                </a:solidFill>
              </a:rPr>
              <a:t>Smoothing of the </a:t>
            </a:r>
            <a:r>
              <a:rPr lang="en-US" sz="1400" noProof="0" dirty="0" err="1">
                <a:solidFill>
                  <a:prstClr val="black"/>
                </a:solidFill>
              </a:rPr>
              <a:t>rIP</a:t>
            </a:r>
            <a:r>
              <a:rPr lang="en-US" sz="1400" noProof="0" dirty="0">
                <a:solidFill>
                  <a:prstClr val="black"/>
                </a:solidFill>
              </a:rPr>
              <a:t> distribution</a:t>
            </a:r>
          </a:p>
          <a:p>
            <a:pPr lvl="1">
              <a:spcBef>
                <a:spcPts val="0"/>
              </a:spcBef>
              <a:buClr>
                <a:srgbClr val="00AAE5"/>
              </a:buClr>
            </a:pPr>
            <a:r>
              <a:rPr lang="en-US" sz="1400" noProof="0" dirty="0">
                <a:solidFill>
                  <a:prstClr val="black"/>
                </a:solidFill>
              </a:rPr>
              <a:t>A smoothed distribution requires more words to match → dominant words lose dominance</a:t>
            </a:r>
          </a:p>
          <a:p>
            <a:pPr lvl="1">
              <a:spcBef>
                <a:spcPts val="0"/>
              </a:spcBef>
              <a:buClr>
                <a:srgbClr val="00AAE5"/>
              </a:buClr>
            </a:pPr>
            <a:r>
              <a:rPr lang="en-US" sz="1400" noProof="0" dirty="0">
                <a:solidFill>
                  <a:prstClr val="black"/>
                </a:solidFill>
              </a:rPr>
              <a:t>Higher precision at the expense of recall → readjusting the identity with the research function without losing candidates (Inverse Darwinian Stripping)</a:t>
            </a:r>
          </a:p>
          <a:p>
            <a:pPr lvl="1">
              <a:spcBef>
                <a:spcPts val="0"/>
              </a:spcBef>
              <a:buClr>
                <a:srgbClr val="00AAE5"/>
              </a:buClr>
            </a:pPr>
            <a:r>
              <a:rPr lang="en-US" sz="1400" noProof="0" dirty="0">
                <a:solidFill>
                  <a:prstClr val="black"/>
                </a:solidFill>
              </a:rPr>
              <a:t>Some search contexts fare better with smoothing, i.e. street addresses or person names</a:t>
            </a:r>
          </a:p>
          <a:p>
            <a:pPr lvl="1">
              <a:spcBef>
                <a:spcPts val="0"/>
              </a:spcBef>
              <a:buClr>
                <a:srgbClr val="00AAE5"/>
              </a:buClr>
            </a:pPr>
            <a:r>
              <a:rPr lang="en-US" sz="1400" noProof="0" dirty="0">
                <a:solidFill>
                  <a:prstClr val="black"/>
                </a:solidFill>
              </a:rPr>
              <a:t>N-grams covering misspellings may become dominant preventing matches → two search runs: one with and one without smoothing</a:t>
            </a:r>
          </a:p>
          <a:p>
            <a:pPr marL="72000">
              <a:spcBef>
                <a:spcPts val="600"/>
              </a:spcBef>
              <a:buClr>
                <a:srgbClr val="00AAE5"/>
              </a:buClr>
            </a:pPr>
            <a:r>
              <a:rPr lang="en-US" sz="1400" noProof="0" dirty="0">
                <a:solidFill>
                  <a:prstClr val="black"/>
                </a:solidFill>
              </a:rPr>
              <a:t>Strategies over multiple search steps</a:t>
            </a:r>
          </a:p>
          <a:p>
            <a:pPr lvl="1">
              <a:spcBef>
                <a:spcPts val="0"/>
              </a:spcBef>
              <a:buClr>
                <a:srgbClr val="00AAE5"/>
              </a:buClr>
            </a:pPr>
            <a:r>
              <a:rPr lang="en-US" sz="1400" noProof="0" dirty="0">
                <a:solidFill>
                  <a:srgbClr val="7AD0C4"/>
                </a:solidFill>
              </a:rPr>
              <a:t>Incremental</a:t>
            </a:r>
            <a:r>
              <a:rPr lang="en-US" sz="1400" noProof="0" dirty="0">
                <a:solidFill>
                  <a:prstClr val="black"/>
                </a:solidFill>
              </a:rPr>
              <a:t>: exclude search records with candidates from subsequent search runs, Darwinian (keeping only the best candidates) → </a:t>
            </a:r>
            <a:r>
              <a:rPr lang="en-US" sz="1400" noProof="0" dirty="0">
                <a:solidFill>
                  <a:srgbClr val="7CD2C6"/>
                </a:solidFill>
              </a:rPr>
              <a:t>Focused Base Table</a:t>
            </a:r>
          </a:p>
          <a:p>
            <a:pPr lvl="1">
              <a:spcBef>
                <a:spcPts val="0"/>
              </a:spcBef>
              <a:buClr>
                <a:srgbClr val="00AAE5"/>
              </a:buClr>
            </a:pPr>
            <a:r>
              <a:rPr lang="en-US" sz="1400" noProof="0" dirty="0">
                <a:solidFill>
                  <a:srgbClr val="BADA15"/>
                </a:solidFill>
              </a:rPr>
              <a:t>Compound</a:t>
            </a:r>
            <a:r>
              <a:rPr lang="en-US" sz="1400" noProof="0" dirty="0">
                <a:solidFill>
                  <a:prstClr val="black"/>
                </a:solidFill>
              </a:rPr>
              <a:t>: candidates of subsequent runs are merged (union of candidate sets) → </a:t>
            </a:r>
            <a:r>
              <a:rPr lang="en-US" sz="1400" noProof="0" dirty="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noProof="0" dirty="0"/>
              <a:t>Inverse Darwinian Stripping if</a:t>
            </a:r>
            <a:r>
              <a:rPr lang="en-US" sz="1400" noProof="0" dirty="0">
                <a:solidFill>
                  <a:srgbClr val="BADA15"/>
                </a:solidFill>
              </a:rPr>
              <a:t> </a:t>
            </a:r>
            <a:r>
              <a:rPr lang="en-US" sz="1400" noProof="0" dirty="0">
                <a:solidFill>
                  <a:srgbClr val="7AD0C4"/>
                </a:solidFill>
              </a:rPr>
              <a:t>Focused Search Table</a:t>
            </a:r>
          </a:p>
          <a:p>
            <a:pPr marL="504000" lvl="1">
              <a:spcBef>
                <a:spcPts val="0"/>
              </a:spcBef>
              <a:buClr>
                <a:srgbClr val="00AAE5"/>
              </a:buClr>
            </a:pPr>
            <a:endParaRPr lang="en-US" sz="1400" noProof="0" dirty="0"/>
          </a:p>
          <a:p>
            <a:pPr lvl="0" indent="0">
              <a:spcBef>
                <a:spcPts val="600"/>
              </a:spcBef>
              <a:buClr>
                <a:srgbClr val="00AAE5"/>
              </a:buClr>
              <a:buNone/>
            </a:pPr>
            <a:endParaRPr lang="en-US" sz="1400" noProof="0" dirty="0">
              <a:solidFill>
                <a:prstClr val="black"/>
              </a:solidFill>
            </a:endParaRPr>
          </a:p>
          <a:p>
            <a:endParaRPr lang="en-US" sz="1400" noProof="0" dirty="0"/>
          </a:p>
        </p:txBody>
      </p:sp>
      <p:sp>
        <p:nvSpPr>
          <p:cNvPr id="5" name="Foliennummernplatzhalter 4"/>
          <p:cNvSpPr>
            <a:spLocks noGrp="1"/>
          </p:cNvSpPr>
          <p:nvPr>
            <p:ph type="sldNum" sz="quarter" idx="10"/>
          </p:nvPr>
        </p:nvSpPr>
        <p:spPr/>
        <p:txBody>
          <a:bodyPr/>
          <a:lstStyle/>
          <a:p>
            <a:fld id="{A29D8577-601D-4845-9C29-D9E13FE3E8DB}" type="slidenum">
              <a:rPr lang="en-US" noProof="0" smtClean="0"/>
              <a:pPr/>
              <a:t>23</a:t>
            </a:fld>
            <a:endParaRPr lang="en-US" noProof="0" dirty="0"/>
          </a:p>
        </p:txBody>
      </p:sp>
    </p:spTree>
    <p:extLst>
      <p:ext uri="{BB962C8B-B14F-4D97-AF65-F5344CB8AC3E}">
        <p14:creationId xmlns:p14="http://schemas.microsoft.com/office/powerpoint/2010/main" val="110064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Data</a:t>
            </a:r>
          </a:p>
          <a:p>
            <a:pPr marL="504000" lvl="1">
              <a:spcBef>
                <a:spcPts val="0"/>
              </a:spcBef>
              <a:buClr>
                <a:srgbClr val="00AAE5"/>
              </a:buClr>
            </a:pPr>
            <a:r>
              <a:rPr lang="en-US" noProof="0" dirty="0">
                <a:solidFill>
                  <a:prstClr val="black"/>
                </a:solidFill>
              </a:rPr>
              <a:t>Mannheimer </a:t>
            </a:r>
            <a:r>
              <a:rPr lang="en-US" noProof="0" dirty="0" err="1">
                <a:solidFill>
                  <a:prstClr val="black"/>
                </a:solidFill>
              </a:rPr>
              <a:t>Unternehmens</a:t>
            </a:r>
            <a:r>
              <a:rPr lang="en-US" noProof="0" dirty="0">
                <a:solidFill>
                  <a:prstClr val="black"/>
                </a:solidFill>
              </a:rPr>
              <a:t> Panel (MUP 2000-2021, German Company Panel)</a:t>
            </a:r>
          </a:p>
          <a:p>
            <a:pPr marL="792000" lvl="2">
              <a:spcBef>
                <a:spcPts val="0"/>
              </a:spcBef>
              <a:buClr>
                <a:srgbClr val="00B0F0"/>
              </a:buClr>
            </a:pPr>
            <a:r>
              <a:rPr lang="en-US" noProof="0" dirty="0">
                <a:solidFill>
                  <a:prstClr val="black"/>
                </a:solidFill>
              </a:rPr>
              <a:t>Removing duplicates → firm name &amp; address aggregates: 24 million</a:t>
            </a:r>
          </a:p>
          <a:p>
            <a:pPr marL="504000" lvl="1">
              <a:spcBef>
                <a:spcPts val="0"/>
              </a:spcBef>
              <a:buClr>
                <a:srgbClr val="00AAE5"/>
              </a:buClr>
            </a:pPr>
            <a:r>
              <a:rPr lang="en-US" noProof="0" dirty="0" err="1">
                <a:solidFill>
                  <a:prstClr val="black"/>
                </a:solidFill>
              </a:rPr>
              <a:t>Betriebsdatenpanel</a:t>
            </a:r>
            <a:r>
              <a:rPr lang="en-US" noProof="0" dirty="0">
                <a:solidFill>
                  <a:prstClr val="black"/>
                </a:solidFill>
              </a:rPr>
              <a:t> (Establishment Panel 2000-2020)</a:t>
            </a:r>
          </a:p>
          <a:p>
            <a:pPr marL="792000" lvl="2">
              <a:spcBef>
                <a:spcPts val="0"/>
              </a:spcBef>
              <a:buClr>
                <a:srgbClr val="00B0F0"/>
              </a:buClr>
            </a:pPr>
            <a:r>
              <a:rPr lang="en-US" noProof="0" dirty="0">
                <a:solidFill>
                  <a:prstClr val="black"/>
                </a:solidFill>
              </a:rPr>
              <a:t>Harmonizing street addresses due to systematic changes over years</a:t>
            </a:r>
          </a:p>
          <a:p>
            <a:pPr marL="792000" lvl="2">
              <a:spcBef>
                <a:spcPts val="0"/>
              </a:spcBef>
              <a:buClr>
                <a:srgbClr val="00B0F0"/>
              </a:buClr>
            </a:pPr>
            <a:r>
              <a:rPr lang="en-US" noProof="0" dirty="0">
                <a:solidFill>
                  <a:prstClr val="black"/>
                </a:solidFill>
              </a:rPr>
              <a:t>Removing duplicates → establishment &amp; address aggregates: 21 million</a:t>
            </a:r>
          </a:p>
          <a:p>
            <a:pPr marL="216000" lvl="0">
              <a:spcBef>
                <a:spcPts val="1200"/>
              </a:spcBef>
              <a:buClr>
                <a:srgbClr val="00AAE5"/>
              </a:buClr>
            </a:pPr>
            <a:r>
              <a:rPr lang="en-US" noProof="0" dirty="0" err="1">
                <a:solidFill>
                  <a:prstClr val="black"/>
                </a:solidFill>
              </a:rPr>
              <a:t>SearchEngine</a:t>
            </a:r>
            <a:endParaRPr lang="en-US" noProof="0" dirty="0">
              <a:solidFill>
                <a:prstClr val="black"/>
              </a:solidFill>
            </a:endParaRPr>
          </a:p>
          <a:p>
            <a:pPr marL="504000" lvl="1">
              <a:spcBef>
                <a:spcPts val="0"/>
              </a:spcBef>
              <a:buClr>
                <a:srgbClr val="00AAE5"/>
              </a:buClr>
            </a:pPr>
            <a:r>
              <a:rPr lang="en-US" noProof="0" dirty="0">
                <a:solidFill>
                  <a:prstClr val="black"/>
                </a:solidFill>
              </a:rPr>
              <a:t>Base table: MUP </a:t>
            </a:r>
          </a:p>
          <a:p>
            <a:pPr marL="504000" lvl="1">
              <a:spcBef>
                <a:spcPts val="0"/>
              </a:spcBef>
              <a:buClr>
                <a:srgbClr val="00AAE5"/>
              </a:buClr>
            </a:pPr>
            <a:r>
              <a:rPr lang="en-US" noProof="0" dirty="0">
                <a:solidFill>
                  <a:prstClr val="black"/>
                </a:solidFill>
              </a:rPr>
              <a:t>Search types: name FIRMA, name FIRMA GRAM3, street STRASSE, zip, city</a:t>
            </a:r>
          </a:p>
          <a:p>
            <a:pPr marL="504000" lvl="1">
              <a:spcBef>
                <a:spcPts val="0"/>
              </a:spcBef>
              <a:buClr>
                <a:srgbClr val="00AAE5"/>
              </a:buClr>
            </a:pPr>
            <a:r>
              <a:rPr lang="en-US" noProof="0" dirty="0">
                <a:solidFill>
                  <a:prstClr val="black"/>
                </a:solidFill>
              </a:rPr>
              <a:t>Darwinian search mode: pick only the candidates with the highest Identity</a:t>
            </a:r>
          </a:p>
          <a:p>
            <a:pPr marL="504000" lvl="1">
              <a:spcBef>
                <a:spcPts val="0"/>
              </a:spcBef>
              <a:buClr>
                <a:srgbClr val="00AAE5"/>
              </a:buClr>
            </a:pPr>
            <a:r>
              <a:rPr lang="en-US" noProof="0" dirty="0">
                <a:solidFill>
                  <a:prstClr val="black"/>
                </a:solidFill>
              </a:rPr>
              <a:t>Incremental: skip search records with candidates in subsequent search runs</a:t>
            </a:r>
          </a:p>
          <a:p>
            <a:pPr marL="216000" lvl="0">
              <a:spcBef>
                <a:spcPts val="1200"/>
              </a:spcBef>
              <a:buClr>
                <a:srgbClr val="00AAE5"/>
              </a:buClr>
            </a:pPr>
            <a:r>
              <a:rPr lang="en-US" noProof="0" dirty="0">
                <a:solidFill>
                  <a:prstClr val="black"/>
                </a:solidFill>
              </a:rPr>
              <a:t>Strategy</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870850183"/>
              </p:ext>
            </p:extLst>
          </p:nvPr>
        </p:nvGraphicFramePr>
        <p:xfrm>
          <a:off x="635357" y="4054448"/>
          <a:ext cx="7632000" cy="1966840"/>
        </p:xfrm>
        <a:graphic>
          <a:graphicData uri="http://schemas.openxmlformats.org/drawingml/2006/table">
            <a:tbl>
              <a:tblPr firstRow="1" firstCol="1" bandRow="1"/>
              <a:tblGrid>
                <a:gridCol w="540000">
                  <a:extLst>
                    <a:ext uri="{9D8B030D-6E8A-4147-A177-3AD203B41FA5}">
                      <a16:colId xmlns:a16="http://schemas.microsoft.com/office/drawing/2014/main" val="20000"/>
                    </a:ext>
                  </a:extLst>
                </a:gridCol>
                <a:gridCol w="4032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gridCol w="1080000">
                  <a:extLst>
                    <a:ext uri="{9D8B030D-6E8A-4147-A177-3AD203B41FA5}">
                      <a16:colId xmlns:a16="http://schemas.microsoft.com/office/drawing/2014/main" val="20004"/>
                    </a:ext>
                  </a:extLst>
                </a:gridCol>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run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description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threshold</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establishments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candidates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9,393,950</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14,531,161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294,805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356,327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32,075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39,234</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70 -9999999,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841,062</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1,296,231</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6,964,399</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43,400,697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571,931</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801,739</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141,064</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202,351</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18,239,286</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60,627,740</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noProof="0" smtClean="0"/>
              <a:pPr/>
              <a:t>24</a:t>
            </a:fld>
            <a:endParaRPr lang="en-US" noProof="0" dirty="0"/>
          </a:p>
        </p:txBody>
      </p:sp>
    </p:spTree>
    <p:extLst>
      <p:ext uri="{BB962C8B-B14F-4D97-AF65-F5344CB8AC3E}">
        <p14:creationId xmlns:p14="http://schemas.microsoft.com/office/powerpoint/2010/main" val="6505458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01901445"/>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rgbClr val="000000"/>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cnt</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Munich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Rathausplatz</a:t>
                      </a:r>
                      <a:r>
                        <a:rPr lang="en-US" sz="800" b="0" i="0" u="none" strike="noStrike" noProof="0" dirty="0">
                          <a:solidFill>
                            <a:srgbClr val="000000"/>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Theatinerstr</a:t>
                      </a:r>
                      <a:r>
                        <a:rPr lang="en-US" sz="800" b="0" i="0" u="none" strike="noStrike" noProof="0" dirty="0">
                          <a:solidFill>
                            <a:srgbClr val="000000"/>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Lichtenbergstr</a:t>
                      </a:r>
                      <a:r>
                        <a:rPr lang="en-US" sz="800" b="0" i="0" u="none" strike="noStrike" noProof="0" dirty="0">
                          <a:solidFill>
                            <a:srgbClr val="000000"/>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Schleißheimer</a:t>
                      </a:r>
                      <a:r>
                        <a:rPr lang="en-US" sz="800" b="0" i="0" u="none" strike="noStrike" noProof="0" dirty="0">
                          <a:solidFill>
                            <a:srgbClr val="000000"/>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Keplerstrasse</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Motorsportgruppe</a:t>
                      </a:r>
                      <a:r>
                        <a:rPr lang="en-US" sz="800" b="0" i="0" u="none" strike="noStrike" noProof="0" dirty="0">
                          <a:solidFill>
                            <a:srgbClr val="000000"/>
                          </a:solidFill>
                          <a:effectLst/>
                          <a:latin typeface="Calibri" panose="020F0502020204030204" pitchFamily="34" charset="0"/>
                        </a:rPr>
                        <a:t>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Vereinigung</a:t>
                      </a:r>
                      <a:r>
                        <a:rPr lang="en-US" sz="800" b="0" i="0" u="none" strike="noStrike" noProof="0" dirty="0">
                          <a:solidFill>
                            <a:srgbClr val="000000"/>
                          </a:solidFill>
                          <a:effectLst/>
                          <a:latin typeface="Calibri" panose="020F0502020204030204" pitchFamily="34" charset="0"/>
                        </a:rPr>
                        <a:t> von </a:t>
                      </a:r>
                      <a:r>
                        <a:rPr lang="en-US" sz="800" b="0" i="0" u="none" strike="noStrike" noProof="0" dirty="0" err="1">
                          <a:solidFill>
                            <a:srgbClr val="000000"/>
                          </a:solidFill>
                          <a:effectLst/>
                          <a:latin typeface="Calibri" panose="020F0502020204030204" pitchFamily="34" charset="0"/>
                        </a:rPr>
                        <a:t>Freunden</a:t>
                      </a:r>
                      <a:r>
                        <a:rPr lang="en-US" sz="800" b="0" i="0" u="none" strike="noStrike" noProof="0" dirty="0">
                          <a:solidFill>
                            <a:srgbClr val="000000"/>
                          </a:solidFill>
                          <a:effectLst/>
                          <a:latin typeface="Calibri" panose="020F0502020204030204" pitchFamily="34" charset="0"/>
                        </a:rPr>
                        <a:t>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Förderkreis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Betriebswirtschaft</a:t>
                      </a:r>
                      <a:r>
                        <a:rPr lang="en-US" sz="800" b="0" i="0" u="none" strike="noStrike" noProof="0" dirty="0">
                          <a:solidFill>
                            <a:srgbClr val="000000"/>
                          </a:solidFill>
                          <a:effectLst/>
                          <a:latin typeface="Calibri" panose="020F0502020204030204" pitchFamily="34" charset="0"/>
                        </a:rPr>
                        <a: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Gesellschaft </a:t>
                      </a:r>
                      <a:r>
                        <a:rPr lang="en-US" sz="800" b="0" i="0" u="none" strike="noStrike" noProof="0" dirty="0" err="1">
                          <a:solidFill>
                            <a:srgbClr val="000000"/>
                          </a:solidFill>
                          <a:effectLst/>
                          <a:latin typeface="Calibri" panose="020F0502020204030204" pitchFamily="34" charset="0"/>
                        </a:rPr>
                        <a:t>mit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beschränkter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Haftung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Engesserstrasse</a:t>
                      </a:r>
                      <a:r>
                        <a:rPr lang="en-US" sz="800" b="0" i="0" u="none" strike="noStrike" noProof="0" dirty="0">
                          <a:solidFill>
                            <a:srgbClr val="000000"/>
                          </a:solidFill>
                          <a:effectLst/>
                          <a:latin typeface="Calibri" panose="020F0502020204030204" pitchFamily="34" charset="0"/>
                        </a:rPr>
                        <a:t> 8 </a:t>
                      </a:r>
                      <a:r>
                        <a:rPr lang="en-US" sz="800" b="0" i="0" u="none" strike="noStrike" noProof="0" dirty="0" err="1">
                          <a:solidFill>
                            <a:srgbClr val="000000"/>
                          </a:solidFill>
                          <a:effectLst/>
                          <a:latin typeface="Calibri" panose="020F0502020204030204" pitchFamily="34" charset="0"/>
                        </a:rPr>
                        <a:t>Postfach</a:t>
                      </a:r>
                      <a:r>
                        <a:rPr lang="en-US" sz="800" b="0" i="0" u="none" strike="noStrike" noProof="0" dirty="0">
                          <a:solidFill>
                            <a:srgbClr val="000000"/>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Engesserstrasse</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Rhodia </a:t>
                      </a:r>
                      <a:r>
                        <a:rPr lang="en-US" sz="800" b="0" i="0" u="none" strike="noStrike" noProof="0" dirty="0" err="1">
                          <a:solidFill>
                            <a:srgbClr val="000000"/>
                          </a:solidFill>
                          <a:effectLst/>
                          <a:latin typeface="Calibri" panose="020F0502020204030204" pitchFamily="34" charset="0"/>
                        </a:rPr>
                        <a:t>Acetow</a:t>
                      </a:r>
                      <a:r>
                        <a:rPr lang="en-US" sz="800" b="0" i="0" u="none" strike="noStrike" noProof="0"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Körperschaft</a:t>
                      </a:r>
                      <a:r>
                        <a:rPr lang="en-US" sz="800" b="0" i="0" u="none" strike="noStrike" noProof="0" dirty="0">
                          <a:solidFill>
                            <a:srgbClr val="000000"/>
                          </a:solidFill>
                          <a:effectLst/>
                          <a:latin typeface="Calibri" panose="020F0502020204030204" pitchFamily="34" charset="0"/>
                        </a:rPr>
                        <a:t> des </a:t>
                      </a:r>
                      <a:r>
                        <a:rPr lang="en-US" sz="800" b="0" i="0" u="none" strike="noStrike" noProof="0" dirty="0" err="1">
                          <a:solidFill>
                            <a:srgbClr val="000000"/>
                          </a:solidFill>
                          <a:effectLst/>
                          <a:latin typeface="Calibri" panose="020F0502020204030204" pitchFamily="34" charset="0"/>
                        </a:rPr>
                        <a:t>öffentlichen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Rechts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Kaiserstrasse</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Fliegergruppe am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Fliegergruppe am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KIT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 </a:t>
                      </a:r>
                      <a:r>
                        <a:rPr lang="en-US" sz="800" b="0" i="0" u="none" strike="noStrike" noProof="0" dirty="0" err="1">
                          <a:solidFill>
                            <a:srgbClr val="000000"/>
                          </a:solidFill>
                          <a:effectLst/>
                          <a:latin typeface="Calibri" panose="020F0502020204030204" pitchFamily="34" charset="0"/>
                        </a:rPr>
                        <a:t>Brotzmann</a:t>
                      </a:r>
                      <a:r>
                        <a:rPr lang="en-US" sz="800" b="0" i="0" u="none" strike="noStrike" noProof="0" dirty="0">
                          <a:solidFill>
                            <a:srgbClr val="000000"/>
                          </a:solidFill>
                          <a:effectLst/>
                          <a:latin typeface="Calibri" panose="020F0502020204030204" pitchFamily="34" charset="0"/>
                        </a:rPr>
                        <a:t>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 a r l B r o t z m a n </a:t>
                      </a:r>
                      <a:r>
                        <a:rPr lang="en-US" sz="800" b="0" i="0" u="none" strike="noStrike" noProof="0" dirty="0" err="1">
                          <a:solidFill>
                            <a:srgbClr val="000000"/>
                          </a:solidFill>
                          <a:effectLst/>
                          <a:latin typeface="Calibri" panose="020F0502020204030204" pitchFamily="34" charset="0"/>
                        </a:rPr>
                        <a:t>n</a:t>
                      </a:r>
                      <a:r>
                        <a:rPr lang="en-US" sz="800" b="0" i="0" u="none" strike="noStrike" noProof="0" dirty="0">
                          <a:solidFill>
                            <a:srgbClr val="000000"/>
                          </a:solidFill>
                          <a:effectLst/>
                          <a:latin typeface="Calibri" panose="020F0502020204030204" pitchFamily="34" charset="0"/>
                        </a:rPr>
                        <a:t> C o n s u l t </a:t>
                      </a:r>
                      <a:r>
                        <a:rPr lang="en-US" sz="800" b="0" i="0" u="none" strike="noStrike" noProof="0" dirty="0" err="1">
                          <a:solidFill>
                            <a:srgbClr val="000000"/>
                          </a:solidFill>
                          <a:effectLst/>
                          <a:latin typeface="Calibri" panose="020F0502020204030204" pitchFamily="34" charset="0"/>
                        </a:rPr>
                        <a:t>i</a:t>
                      </a:r>
                      <a:r>
                        <a:rPr lang="en-US" sz="800" b="0" i="0" u="none" strike="noStrike" noProof="0" dirty="0">
                          <a:solidFill>
                            <a:srgbClr val="000000"/>
                          </a:solidFill>
                          <a:effectLst/>
                          <a:latin typeface="Calibri" panose="020F0502020204030204" pitchFamily="34" charset="0"/>
                        </a:rPr>
                        <a:t>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Eerec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Borntalstrasse</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r>
                        <a:rPr lang="en-US" sz="800" b="0" i="0" u="none" strike="noStrike" noProof="0" dirty="0">
                          <a:solidFill>
                            <a:srgbClr val="000000"/>
                          </a:solidFill>
                          <a:effectLst/>
                          <a:latin typeface="Calibri" panose="020F0502020204030204" pitchFamily="34" charset="0"/>
                        </a:rPr>
                        <a:t>/Thür.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EuRec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r>
                        <a:rPr lang="en-US" sz="800" b="0" i="0" u="none" strike="noStrike" noProof="0" dirty="0">
                          <a:solidFill>
                            <a:srgbClr val="000000"/>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EuRec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Ohmder</a:t>
                      </a:r>
                      <a:r>
                        <a:rPr lang="en-US" sz="800" b="0" i="0" u="none" strike="noStrike" noProof="0" dirty="0">
                          <a:solidFill>
                            <a:srgbClr val="000000"/>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ALMÜ </a:t>
                      </a:r>
                      <a:r>
                        <a:rPr lang="en-US" sz="800" b="0" i="0" u="none" strike="noStrike" noProof="0" dirty="0" err="1">
                          <a:solidFill>
                            <a:srgbClr val="000000"/>
                          </a:solidFill>
                          <a:effectLst/>
                          <a:latin typeface="Calibri" panose="020F0502020204030204" pitchFamily="34" charset="0"/>
                        </a:rPr>
                        <a:t>Präzisions-Werkzeug</a:t>
                      </a:r>
                      <a:r>
                        <a:rPr lang="en-US" sz="800" b="0" i="0" u="none" strike="noStrike" noProof="0" dirty="0">
                          <a:solidFill>
                            <a:srgbClr val="000000"/>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Ohmder</a:t>
                      </a:r>
                      <a:r>
                        <a:rPr lang="en-US" sz="800" b="0" i="0" u="none" strike="noStrike" noProof="0" dirty="0">
                          <a:solidFill>
                            <a:srgbClr val="000000"/>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Gesellschaft </a:t>
                      </a:r>
                      <a:r>
                        <a:rPr lang="en-US" sz="800" b="0" i="0" u="none" strike="noStrike" noProof="0" dirty="0" err="1">
                          <a:solidFill>
                            <a:srgbClr val="000000"/>
                          </a:solidFill>
                          <a:effectLst/>
                          <a:latin typeface="Calibri" panose="020F0502020204030204" pitchFamily="34" charset="0"/>
                        </a:rPr>
                        <a:t>zur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Förderung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angewandter</a:t>
                      </a:r>
                      <a:r>
                        <a:rPr lang="en-US" sz="800" b="0" i="0" u="none" strike="noStrike" noProof="0" dirty="0">
                          <a:solidFill>
                            <a:srgbClr val="000000"/>
                          </a:solidFill>
                          <a:effectLst/>
                          <a:latin typeface="Calibri" panose="020F0502020204030204" pitchFamily="34" charset="0"/>
                        </a:rPr>
                        <a:t> Optik, </a:t>
                      </a:r>
                      <a:r>
                        <a:rPr lang="en-US" sz="800" b="0" i="0" u="none" strike="noStrike" noProof="0" dirty="0" err="1">
                          <a:solidFill>
                            <a:srgbClr val="000000"/>
                          </a:solidFill>
                          <a:effectLst/>
                          <a:latin typeface="Calibri" panose="020F0502020204030204" pitchFamily="34" charset="0"/>
                        </a:rPr>
                        <a:t>Optoelektronik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Quantenelektronik</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Spektroskopie</a:t>
                      </a:r>
                      <a:r>
                        <a:rPr lang="en-US" sz="800" b="0" i="0" u="none" strike="noStrike" noProof="0" dirty="0">
                          <a:solidFill>
                            <a:srgbClr val="000000"/>
                          </a:solidFill>
                          <a:effectLst/>
                          <a:latin typeface="Calibri" panose="020F0502020204030204" pitchFamily="34" charset="0"/>
                        </a:rPr>
                        <a: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Rudower</a:t>
                      </a:r>
                      <a:r>
                        <a:rPr lang="en-US" sz="800" b="0" i="0" u="none" strike="noStrike" noProof="0" dirty="0">
                          <a:solidFill>
                            <a:srgbClr val="000000"/>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OPTOSENS </a:t>
                      </a:r>
                      <a:r>
                        <a:rPr lang="en-US" sz="800" b="0" i="0" u="none" strike="noStrike" noProof="0" dirty="0" err="1">
                          <a:solidFill>
                            <a:srgbClr val="000000"/>
                          </a:solidFill>
                          <a:effectLst/>
                          <a:latin typeface="Calibri" panose="020F0502020204030204" pitchFamily="34" charset="0"/>
                        </a:rPr>
                        <a:t>Optische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Spektroskopie</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Sensortechnik</a:t>
                      </a:r>
                      <a:r>
                        <a:rPr lang="en-US" sz="800" b="0" i="0" u="none" strike="noStrike" noProof="0" dirty="0">
                          <a:solidFill>
                            <a:srgbClr val="000000"/>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Rudower</a:t>
                      </a:r>
                      <a:r>
                        <a:rPr lang="en-US" sz="800" b="0" i="0" u="none" strike="noStrike" noProof="0" dirty="0">
                          <a:solidFill>
                            <a:srgbClr val="000000"/>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sp>
        <p:nvSpPr>
          <p:cNvPr id="2" name="Titel 1"/>
          <p:cNvSpPr>
            <a:spLocks noGrp="1"/>
          </p:cNvSpPr>
          <p:nvPr>
            <p:ph type="title"/>
          </p:nvPr>
        </p:nvSpPr>
        <p:spPr/>
        <p:txBody>
          <a:bodyPr/>
          <a:lstStyle/>
          <a:p>
            <a:r>
              <a:rPr lang="en-US" noProof="0" dirty="0"/>
              <a:t>Training Data</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25</a:t>
            </a:fld>
            <a:endParaRPr lang="en-US" noProof="0" dirty="0"/>
          </a:p>
        </p:txBody>
      </p:sp>
      <p:graphicFrame>
        <p:nvGraphicFramePr>
          <p:cNvPr id="3" name="Tabelle 2"/>
          <p:cNvGraphicFramePr>
            <a:graphicFrameLocks noGrp="1"/>
          </p:cNvGraphicFramePr>
          <p:nvPr>
            <p:extLst>
              <p:ext uri="{D42A27DB-BD31-4B8C-83A1-F6EECF244321}">
                <p14:modId xmlns:p14="http://schemas.microsoft.com/office/powerpoint/2010/main" val="4275501392"/>
              </p:ext>
            </p:extLst>
          </p:nvPr>
        </p:nvGraphicFramePr>
        <p:xfrm>
          <a:off x="1584700" y="872783"/>
          <a:ext cx="288000" cy="5280960"/>
        </p:xfrm>
        <a:graphic>
          <a:graphicData uri="http://schemas.openxmlformats.org/drawingml/2006/table">
            <a:tbl>
              <a:tblPr/>
              <a:tblGrid>
                <a:gridCol w="288000">
                  <a:extLst>
                    <a:ext uri="{9D8B030D-6E8A-4147-A177-3AD203B41FA5}">
                      <a16:colId xmlns:a16="http://schemas.microsoft.com/office/drawing/2014/main" val="20000"/>
                    </a:ext>
                  </a:extLst>
                </a:gridCol>
              </a:tblGrid>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080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Meta Vector Components</a:t>
            </a:r>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noProof="0" dirty="0"/>
              <a:t>Relatively slim parameter set per observation (around 110 variables) </a:t>
            </a:r>
          </a:p>
          <a:p>
            <a:pPr lvl="1">
              <a:spcBef>
                <a:spcPts val="0"/>
              </a:spcBef>
              <a:buClr>
                <a:srgbClr val="00B050"/>
              </a:buClr>
            </a:pPr>
            <a:r>
              <a:rPr lang="en-US" noProof="0" dirty="0"/>
              <a:t>Low risk of over-specification: having too many variables for too little data</a:t>
            </a:r>
          </a:p>
          <a:p>
            <a:pPr>
              <a:buClr>
                <a:srgbClr val="FF0000"/>
              </a:buClr>
            </a:pPr>
            <a:r>
              <a:rPr lang="en-US" noProof="0" dirty="0"/>
              <a:t>No semantics </a:t>
            </a:r>
          </a:p>
          <a:p>
            <a:pPr lvl="1">
              <a:spcBef>
                <a:spcPts val="0"/>
              </a:spcBef>
              <a:buClr>
                <a:srgbClr val="FF0000"/>
              </a:buClr>
            </a:pPr>
            <a:r>
              <a:rPr lang="en-US" noProof="0" dirty="0"/>
              <a:t>“second hand metal wares” and “scrapyard” are not identified as tantamount</a:t>
            </a:r>
          </a:p>
          <a:p>
            <a:pPr lvl="1">
              <a:spcBef>
                <a:spcPts val="0"/>
              </a:spcBef>
              <a:buClr>
                <a:srgbClr val="FF0000"/>
              </a:buClr>
              <a:buFont typeface="Calibri" panose="020F0502020204030204" pitchFamily="34" charset="0"/>
              <a:buChar char="→"/>
            </a:pPr>
            <a:r>
              <a:rPr lang="en-US" noProof="0" dirty="0"/>
              <a:t>Lenient labeling required (use post-processing with core data to settle ambiguities) </a:t>
            </a:r>
          </a:p>
        </p:txBody>
      </p:sp>
      <p:sp>
        <p:nvSpPr>
          <p:cNvPr id="5" name="Foliennummernplatzhalter 4"/>
          <p:cNvSpPr>
            <a:spLocks noGrp="1"/>
          </p:cNvSpPr>
          <p:nvPr>
            <p:ph type="sldNum" sz="quarter" idx="10"/>
          </p:nvPr>
        </p:nvSpPr>
        <p:spPr/>
        <p:txBody>
          <a:bodyPr/>
          <a:lstStyle/>
          <a:p>
            <a:fld id="{A29D8577-601D-4845-9C29-D9E13FE3E8DB}" type="slidenum">
              <a:rPr lang="en-US" noProof="0" smtClean="0">
                <a:solidFill>
                  <a:prstClr val="white">
                    <a:lumMod val="50000"/>
                  </a:prstClr>
                </a:solidFill>
              </a:rPr>
              <a:pPr/>
              <a:t>26</a:t>
            </a:fld>
            <a:endParaRPr lang="en-US" noProof="0"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noProof="0" dirty="0">
                    <a:solidFill>
                      <a:prstClr val="black"/>
                    </a:solidFill>
                  </a:rPr>
                  <a:t>Absolute Identification Potential: </a:t>
                </a:r>
                <a14:m>
                  <m:oMath xmlns:m="http://schemas.openxmlformats.org/officeDocument/2006/math">
                    <m:r>
                      <a:rPr lang="en-US" sz="1600" i="1" noProof="0" smtClean="0">
                        <a:solidFill>
                          <a:prstClr val="black"/>
                        </a:solidFill>
                        <a:latin typeface="Cambria Math" panose="02040503050406030204" pitchFamily="18" charset="0"/>
                      </a:rPr>
                      <m:t>𝑎𝐼𝑃</m:t>
                    </m:r>
                    <m:d>
                      <m:dPr>
                        <m:ctrlPr>
                          <a:rPr lang="en-US" sz="1600" i="1" noProof="0" smtClean="0">
                            <a:solidFill>
                              <a:prstClr val="black"/>
                            </a:solidFill>
                            <a:latin typeface="Cambria Math" panose="02040503050406030204" pitchFamily="18" charset="0"/>
                          </a:rPr>
                        </m:ctrlPr>
                      </m:dPr>
                      <m:e>
                        <m:r>
                          <a:rPr lang="en-US" sz="1600" i="1" noProof="0" smtClean="0">
                            <a:solidFill>
                              <a:prstClr val="black"/>
                            </a:solidFill>
                            <a:latin typeface="Cambria Math" panose="02040503050406030204" pitchFamily="18" charset="0"/>
                          </a:rPr>
                          <m:t>𝑤</m:t>
                        </m:r>
                      </m:e>
                    </m:d>
                    <m:r>
                      <a:rPr lang="en-US" sz="1600" i="1" noProof="0" smtClean="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1−</m:t>
                    </m:r>
                    <m:r>
                      <a:rPr lang="en-US" sz="1600" i="1" noProof="0">
                        <a:solidFill>
                          <a:prstClr val="black"/>
                        </a:solidFill>
                        <a:latin typeface="Cambria Math" panose="02040503050406030204" pitchFamily="18" charset="0"/>
                      </a:rPr>
                      <m:t>𝑙𝑛</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𝑜𝑐𝑐</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𝑤</m:t>
                    </m:r>
                    <m:r>
                      <a:rPr lang="en-US" sz="1600" i="1" noProof="0">
                        <a:solidFill>
                          <a:prstClr val="black"/>
                        </a:solidFill>
                        <a:latin typeface="Cambria Math" panose="02040503050406030204" pitchFamily="18" charset="0"/>
                      </a:rPr>
                      <m:t>,</m:t>
                    </m:r>
                    <m:sSub>
                      <m:sSubPr>
                        <m:ctrlPr>
                          <a:rPr lang="en-US" sz="1600" i="1" noProof="0" smtClean="0">
                            <a:solidFill>
                              <a:prstClr val="black"/>
                            </a:solidFill>
                            <a:latin typeface="Cambria Math" panose="02040503050406030204" pitchFamily="18" charset="0"/>
                          </a:rPr>
                        </m:ctrlPr>
                      </m:sSubPr>
                      <m:e>
                        <m:r>
                          <a:rPr lang="en-US" sz="1600" i="1" noProof="0" smtClean="0">
                            <a:solidFill>
                              <a:prstClr val="black"/>
                            </a:solidFill>
                            <a:latin typeface="Cambria Math" panose="02040503050406030204" pitchFamily="18" charset="0"/>
                          </a:rPr>
                          <m:t>𝑠𝑡</m:t>
                        </m:r>
                      </m:e>
                      <m:sub>
                        <m:r>
                          <a:rPr lang="en-US" sz="1600" i="1" noProof="0" smtClean="0">
                            <a:solidFill>
                              <a:prstClr val="black"/>
                            </a:solidFill>
                            <a:latin typeface="Cambria Math" panose="02040503050406030204" pitchFamily="18" charset="0"/>
                          </a:rPr>
                          <m:t>𝑤</m:t>
                        </m:r>
                      </m:sub>
                    </m:sSub>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𝑙𝑛</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𝑚𝑎𝑥𝑜𝑐𝑐</m:t>
                    </m:r>
                    <m:r>
                      <a:rPr lang="en-US" sz="1600" i="1" noProof="0">
                        <a:solidFill>
                          <a:prstClr val="black"/>
                        </a:solidFill>
                        <a:latin typeface="Cambria Math" panose="02040503050406030204" pitchFamily="18" charset="0"/>
                      </a:rPr>
                      <m:t>(</m:t>
                    </m:r>
                    <m:sSub>
                      <m:sSubPr>
                        <m:ctrlPr>
                          <a:rPr lang="en-US" sz="1600" i="1" noProof="0" smtClean="0">
                            <a:solidFill>
                              <a:prstClr val="black"/>
                            </a:solidFill>
                            <a:latin typeface="Cambria Math" panose="02040503050406030204" pitchFamily="18" charset="0"/>
                          </a:rPr>
                        </m:ctrlPr>
                      </m:sSubPr>
                      <m:e>
                        <m:r>
                          <a:rPr lang="en-US" sz="1600" i="1" noProof="0" smtClean="0">
                            <a:solidFill>
                              <a:prstClr val="black"/>
                            </a:solidFill>
                            <a:latin typeface="Cambria Math" panose="02040503050406030204" pitchFamily="18" charset="0"/>
                          </a:rPr>
                          <m:t>𝑠𝑡</m:t>
                        </m:r>
                      </m:e>
                      <m:sub>
                        <m:r>
                          <a:rPr lang="en-US" sz="1600" i="1" noProof="0" smtClean="0">
                            <a:solidFill>
                              <a:prstClr val="black"/>
                            </a:solidFill>
                            <a:latin typeface="Cambria Math" panose="02040503050406030204" pitchFamily="18" charset="0"/>
                          </a:rPr>
                          <m:t>𝑤</m:t>
                        </m:r>
                      </m:sub>
                    </m:sSub>
                    <m:r>
                      <a:rPr lang="en-US" sz="1600" i="1" noProof="0">
                        <a:solidFill>
                          <a:prstClr val="black"/>
                        </a:solidFill>
                        <a:latin typeface="Cambria Math" panose="02040503050406030204" pitchFamily="18" charset="0"/>
                      </a:rPr>
                      <m:t>))</m:t>
                    </m:r>
                  </m:oMath>
                </a14:m>
                <a:r>
                  <a:rPr lang="en-US" sz="1600" i="1" noProof="0" dirty="0">
                    <a:solidFill>
                      <a:prstClr val="black"/>
                    </a:solidFill>
                  </a:rPr>
                  <a:t> </a:t>
                </a:r>
                <a:br>
                  <a:rPr lang="en-US" sz="1600" i="1" noProof="0" dirty="0">
                    <a:solidFill>
                      <a:prstClr val="black"/>
                    </a:solidFill>
                  </a:rPr>
                </a:br>
                <a:r>
                  <a:rPr lang="en-US" sz="1600" noProof="0" dirty="0">
                    <a:solidFill>
                      <a:prstClr val="black"/>
                    </a:solidFill>
                  </a:rPr>
                  <a:t>Report only the </a:t>
                </a:r>
                <a:r>
                  <a:rPr lang="en-US" sz="1600" noProof="0" dirty="0">
                    <a:solidFill>
                      <a:srgbClr val="0078D7"/>
                    </a:solidFill>
                  </a:rPr>
                  <a:t>n</a:t>
                </a:r>
                <a:r>
                  <a:rPr lang="en-US" sz="1600" noProof="0" dirty="0">
                    <a:solidFill>
                      <a:prstClr val="black"/>
                    </a:solidFill>
                  </a:rPr>
                  <a:t> largest </a:t>
                </a:r>
                <a:r>
                  <a:rPr lang="en-US" sz="1600" noProof="0" dirty="0" err="1">
                    <a:solidFill>
                      <a:prstClr val="black"/>
                    </a:solidFill>
                  </a:rPr>
                  <a:t>aIP</a:t>
                </a:r>
                <a:r>
                  <a:rPr lang="en-US" sz="1600" noProof="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noProof="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noProof="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noProof="0" dirty="0">
                    <a:solidFill>
                      <a:srgbClr val="FF0000"/>
                    </a:solidFill>
                  </a:rPr>
                  <a:t>words exclusive to the search term </a:t>
                </a:r>
                <a:r>
                  <a:rPr lang="en-US" sz="1600" noProof="0" dirty="0">
                    <a:solidFill>
                      <a:prstClr val="black"/>
                    </a:solidFill>
                  </a:rPr>
                  <a:t>(requires auxiliary registry of the search table)</a:t>
                </a:r>
              </a:p>
              <a:p>
                <a:pPr lvl="0" indent="0">
                  <a:spcBef>
                    <a:spcPts val="0"/>
                  </a:spcBef>
                  <a:buClr>
                    <a:srgbClr val="00AAE5"/>
                  </a:buClr>
                  <a:buNone/>
                </a:pPr>
                <a:r>
                  <a:rPr lang="en-US" sz="1600" noProof="0" dirty="0">
                    <a:solidFill>
                      <a:prstClr val="black"/>
                    </a:solidFill>
                  </a:rPr>
                  <a:t>for all search types, i.e.: name = </a:t>
                </a:r>
                <a:r>
                  <a:rPr lang="en-US" sz="1600" noProof="0" dirty="0">
                    <a:solidFill>
                      <a:srgbClr val="0078D7"/>
                    </a:solidFill>
                  </a:rPr>
                  <a:t>5</a:t>
                </a:r>
                <a:r>
                  <a:rPr lang="en-US" sz="1600" noProof="0" dirty="0">
                    <a:solidFill>
                      <a:prstClr val="black"/>
                    </a:solidFill>
                  </a:rPr>
                  <a:t>, name GRAM3 = </a:t>
                </a:r>
                <a:r>
                  <a:rPr lang="en-US" sz="1600" noProof="0" dirty="0">
                    <a:solidFill>
                      <a:srgbClr val="0078D7"/>
                    </a:solidFill>
                  </a:rPr>
                  <a:t>15</a:t>
                </a:r>
                <a:r>
                  <a:rPr lang="en-US" sz="1600" noProof="0" dirty="0">
                    <a:solidFill>
                      <a:prstClr val="black"/>
                    </a:solidFill>
                  </a:rPr>
                  <a:t>, street = </a:t>
                </a:r>
                <a:r>
                  <a:rPr lang="en-US" sz="1600" noProof="0" dirty="0">
                    <a:solidFill>
                      <a:srgbClr val="0078D7"/>
                    </a:solidFill>
                  </a:rPr>
                  <a:t>3</a:t>
                </a:r>
                <a:r>
                  <a:rPr lang="en-US" sz="1600" noProof="0" dirty="0">
                    <a:solidFill>
                      <a:prstClr val="black"/>
                    </a:solidFill>
                  </a:rPr>
                  <a:t>, zip = </a:t>
                </a:r>
                <a:r>
                  <a:rPr lang="en-US" sz="1600" noProof="0" dirty="0">
                    <a:solidFill>
                      <a:srgbClr val="0078D7"/>
                    </a:solidFill>
                  </a:rPr>
                  <a:t>1</a:t>
                </a:r>
                <a:r>
                  <a:rPr lang="en-US" sz="1600" noProof="0" dirty="0">
                    <a:solidFill>
                      <a:prstClr val="black"/>
                    </a:solidFill>
                  </a:rPr>
                  <a:t>, city = </a:t>
                </a:r>
                <a:r>
                  <a:rPr lang="en-US" sz="1600" noProof="0" dirty="0">
                    <a:solidFill>
                      <a:srgbClr val="0078D7"/>
                    </a:solidFill>
                  </a:rPr>
                  <a:t>2</a:t>
                </a:r>
              </a:p>
              <a:p>
                <a:pPr lvl="0" indent="0">
                  <a:spcBef>
                    <a:spcPts val="1200"/>
                  </a:spcBef>
                  <a:buClr>
                    <a:srgbClr val="00AAE5"/>
                  </a:buClr>
                  <a:buNone/>
                </a:pPr>
                <a:r>
                  <a:rPr lang="en-US" sz="1600" noProof="0" dirty="0">
                    <a:solidFill>
                      <a:prstClr val="black"/>
                    </a:solidFill>
                  </a:rPr>
                  <a:t>Asymmetric string distances based on maximizing word-by-word comparisons between search term and candidate and vice versa for all search fields (independent of the positioning of words).</a:t>
                </a:r>
              </a:p>
              <a:p>
                <a:pPr lvl="0" indent="0">
                  <a:spcBef>
                    <a:spcPts val="1200"/>
                  </a:spcBef>
                  <a:buClr>
                    <a:srgbClr val="00AAE5"/>
                  </a:buClr>
                  <a:buNone/>
                </a:pPr>
                <a:r>
                  <a:rPr lang="en-US" sz="1600" noProof="0" dirty="0">
                    <a:solidFill>
                      <a:prstClr val="black"/>
                    </a:solidFill>
                  </a:rPr>
                  <a:t>Similarities between search field components, i.e. city name repeats in firm name</a:t>
                </a:r>
              </a:p>
              <a:p>
                <a:pPr lvl="0" indent="0">
                  <a:spcBef>
                    <a:spcPts val="1200"/>
                  </a:spcBef>
                  <a:buClr>
                    <a:srgbClr val="00AAE5"/>
                  </a:buClr>
                  <a:buNone/>
                </a:pPr>
                <a:r>
                  <a:rPr lang="en-US" sz="1600" noProof="0" dirty="0">
                    <a:solidFill>
                      <a:prstClr val="black"/>
                    </a:solidFill>
                  </a:rPr>
                  <a:t>Candidate block statistics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Standard deviations of the string distances (calculated externally)</a:t>
                </a:r>
              </a:p>
              <a:p>
                <a:endParaRPr lang="en-US" noProof="0"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noProof="0" dirty="0">
                <a:solidFill>
                  <a:srgbClr val="00B0F0"/>
                </a:solidFill>
              </a:rPr>
              <a:t>Heuristic</a:t>
            </a: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noProof="0" dirty="0">
                <a:solidFill>
                  <a:srgbClr val="00B0F0"/>
                </a:solidFill>
              </a:rPr>
              <a:t>Visual</a:t>
            </a: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noProof="0" dirty="0">
                <a:solidFill>
                  <a:srgbClr val="00B0F0"/>
                </a:solidFill>
              </a:rPr>
              <a:t>Overlap</a:t>
            </a: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noProof="0" dirty="0">
                <a:solidFill>
                  <a:srgbClr val="00B0F0"/>
                </a:solidFill>
              </a:rPr>
              <a:t>Descriptive</a:t>
            </a: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SEML (</a:t>
            </a:r>
            <a:r>
              <a:rPr lang="en-US" noProof="0" dirty="0" err="1"/>
              <a:t>SearchEngine</a:t>
            </a:r>
            <a:r>
              <a:rPr lang="en-US" noProof="0" dirty="0"/>
              <a:t> Machine Learning): Establishments vs. Company Panel </a:t>
            </a:r>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noProof="0" dirty="0">
                <a:solidFill>
                  <a:prstClr val="black"/>
                </a:solidFill>
              </a:rPr>
              <a:t>SEML components</a:t>
            </a:r>
          </a:p>
          <a:p>
            <a:pPr lvl="1">
              <a:spcBef>
                <a:spcPts val="0"/>
              </a:spcBef>
              <a:buClr>
                <a:srgbClr val="00AAE5"/>
              </a:buClr>
            </a:pPr>
            <a:r>
              <a:rPr lang="en-US" noProof="0" dirty="0">
                <a:solidFill>
                  <a:srgbClr val="00AAE5"/>
                </a:solidFill>
                <a:cs typeface="Courier New" panose="02070309020205020404" pitchFamily="49" charset="0"/>
              </a:rPr>
              <a:t>seml.py</a:t>
            </a:r>
            <a:r>
              <a:rPr lang="en-US" noProof="0" dirty="0">
                <a:solidFill>
                  <a:prstClr val="black"/>
                </a:solidFill>
                <a:cs typeface="Courier New" panose="02070309020205020404" pitchFamily="49" charset="0"/>
              </a:rPr>
              <a:t> (python) using Tensor Flow/</a:t>
            </a:r>
            <a:r>
              <a:rPr lang="en-US" noProof="0" dirty="0" err="1">
                <a:solidFill>
                  <a:prstClr val="black"/>
                </a:solidFill>
                <a:cs typeface="Courier New" panose="02070309020205020404" pitchFamily="49" charset="0"/>
              </a:rPr>
              <a:t>Keras</a:t>
            </a:r>
            <a:r>
              <a:rPr lang="en-US" noProof="0" dirty="0">
                <a:solidFill>
                  <a:prstClr val="black"/>
                </a:solidFill>
                <a:cs typeface="Courier New" panose="02070309020205020404" pitchFamily="49" charset="0"/>
              </a:rPr>
              <a:t> or </a:t>
            </a:r>
            <a:r>
              <a:rPr lang="en-US" noProof="0" dirty="0">
                <a:solidFill>
                  <a:srgbClr val="00AAE5"/>
                </a:solidFill>
                <a:cs typeface="Courier New" panose="02070309020205020404" pitchFamily="49" charset="0"/>
              </a:rPr>
              <a:t>seml.do</a:t>
            </a:r>
            <a:r>
              <a:rPr lang="en-US" noProof="0" dirty="0">
                <a:solidFill>
                  <a:prstClr val="black"/>
                </a:solidFill>
                <a:cs typeface="Courier New" panose="02070309020205020404" pitchFamily="49" charset="0"/>
              </a:rPr>
              <a:t> (</a:t>
            </a:r>
            <a:r>
              <a:rPr lang="en-US" noProof="0" dirty="0" err="1">
                <a:solidFill>
                  <a:prstClr val="black"/>
                </a:solidFill>
                <a:cs typeface="Courier New" panose="02070309020205020404" pitchFamily="49" charset="0"/>
              </a:rPr>
              <a:t>stata</a:t>
            </a:r>
            <a:r>
              <a:rPr lang="en-US" noProof="0" dirty="0">
                <a:solidFill>
                  <a:prstClr val="black"/>
                </a:solidFill>
                <a:cs typeface="Courier New" panose="02070309020205020404" pitchFamily="49" charset="0"/>
              </a:rPr>
              <a:t>) using </a:t>
            </a:r>
            <a:r>
              <a:rPr lang="en-US" noProof="0" dirty="0" err="1">
                <a:solidFill>
                  <a:prstClr val="black"/>
                </a:solidFill>
                <a:cs typeface="Courier New" panose="02070309020205020404" pitchFamily="49" charset="0"/>
              </a:rPr>
              <a:t>brain.ado</a:t>
            </a:r>
            <a:r>
              <a:rPr lang="en-US" noProof="0" dirty="0">
                <a:solidFill>
                  <a:prstClr val="black"/>
                </a:solidFill>
                <a:cs typeface="Courier New" panose="02070309020205020404" pitchFamily="49" charset="0"/>
              </a:rPr>
              <a:t> or</a:t>
            </a:r>
          </a:p>
          <a:p>
            <a:pPr lvl="2">
              <a:spcBef>
                <a:spcPts val="0"/>
              </a:spcBef>
              <a:buClr>
                <a:srgbClr val="00B0F0"/>
              </a:buClr>
            </a:pPr>
            <a:r>
              <a:rPr lang="en-US" noProof="0" dirty="0">
                <a:solidFill>
                  <a:prstClr val="black"/>
                </a:solidFill>
                <a:cs typeface="Courier New" panose="02070309020205020404" pitchFamily="49" charset="0"/>
              </a:rPr>
              <a:t>Iterates h</a:t>
            </a:r>
            <a:r>
              <a:rPr lang="en-US" noProof="0" dirty="0">
                <a:solidFill>
                  <a:prstClr val="black"/>
                </a:solidFill>
              </a:rPr>
              <a:t>idden neuron setups: [25], [50], [100], [25x25], [50x50], [100x100]</a:t>
            </a:r>
          </a:p>
          <a:p>
            <a:pPr lvl="2">
              <a:spcBef>
                <a:spcPts val="0"/>
              </a:spcBef>
              <a:buClr>
                <a:srgbClr val="00B0F0"/>
              </a:buClr>
            </a:pPr>
            <a:r>
              <a:rPr lang="en-US" noProof="0" dirty="0">
                <a:solidFill>
                  <a:prstClr val="black"/>
                </a:solidFill>
              </a:rPr>
              <a:t>Reports the best performing NN pertaining out-of-sample prediction</a:t>
            </a:r>
          </a:p>
          <a:p>
            <a:pPr marL="648000" lvl="1">
              <a:spcBef>
                <a:spcPts val="0"/>
              </a:spcBef>
              <a:buClr>
                <a:srgbClr val="00AAE5"/>
              </a:buClr>
            </a:pPr>
            <a:r>
              <a:rPr lang="en-US" noProof="0" dirty="0">
                <a:solidFill>
                  <a:prstClr val="black"/>
                </a:solidFill>
                <a:cs typeface="Courier New" panose="02070309020205020404" pitchFamily="49" charset="0"/>
              </a:rPr>
              <a:t>I</a:t>
            </a:r>
            <a:r>
              <a:rPr lang="en-US" noProof="0" dirty="0">
                <a:solidFill>
                  <a:prstClr val="black"/>
                </a:solidFill>
              </a:rPr>
              <a:t>mplements the winning NN setup on the whole meta data</a:t>
            </a:r>
          </a:p>
          <a:p>
            <a:pPr marL="504000" lvl="1">
              <a:spcBef>
                <a:spcPts val="0"/>
              </a:spcBef>
              <a:buClr>
                <a:srgbClr val="00AAE5"/>
              </a:buClr>
            </a:pPr>
            <a:r>
              <a:rPr lang="en-US" noProof="0" dirty="0">
                <a:solidFill>
                  <a:prstClr val="black"/>
                </a:solidFill>
              </a:rPr>
              <a:t>BYOD – bring your own device for your preferred method/environment</a:t>
            </a:r>
          </a:p>
          <a:p>
            <a:pPr marL="216000" lvl="0">
              <a:spcBef>
                <a:spcPts val="1200"/>
              </a:spcBef>
              <a:buClr>
                <a:srgbClr val="00AAE5"/>
              </a:buClr>
            </a:pPr>
            <a:r>
              <a:rPr lang="en-US" noProof="0" dirty="0">
                <a:solidFill>
                  <a:prstClr val="black"/>
                </a:solidFill>
              </a:rPr>
              <a:t>Training sample</a:t>
            </a:r>
          </a:p>
          <a:p>
            <a:pPr marL="504000" lvl="1">
              <a:spcBef>
                <a:spcPts val="0"/>
              </a:spcBef>
              <a:buClr>
                <a:srgbClr val="00AAE5"/>
              </a:buClr>
            </a:pPr>
            <a:r>
              <a:rPr lang="en-US" noProof="0"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noProof="0" dirty="0">
                <a:solidFill>
                  <a:prstClr val="black"/>
                </a:solidFill>
              </a:rPr>
              <a:t>569 pairings retained for out-of-sample prediction</a:t>
            </a:r>
          </a:p>
          <a:p>
            <a:pPr marL="216000" lvl="0">
              <a:spcBef>
                <a:spcPts val="1200"/>
              </a:spcBef>
              <a:buClr>
                <a:srgbClr val="00AAE5"/>
              </a:buClr>
            </a:pPr>
            <a:r>
              <a:rPr lang="en-US" noProof="0" dirty="0">
                <a:solidFill>
                  <a:prstClr val="black"/>
                </a:solidFill>
              </a:rPr>
              <a:t>Confusion matrix</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450385917"/>
              </p:ext>
            </p:extLst>
          </p:nvPr>
        </p:nvGraphicFramePr>
        <p:xfrm>
          <a:off x="611560" y="3613398"/>
          <a:ext cx="5418259" cy="1620000"/>
        </p:xfrm>
        <a:graphic>
          <a:graphicData uri="http://schemas.openxmlformats.org/drawingml/2006/table">
            <a:tbl>
              <a:tblPr firstRow="1" firstCol="1" bandRow="1"/>
              <a:tblGrid>
                <a:gridCol w="97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792000">
                  <a:extLst>
                    <a:ext uri="{9D8B030D-6E8A-4147-A177-3AD203B41FA5}">
                      <a16:colId xmlns:a16="http://schemas.microsoft.com/office/drawing/2014/main" val="20002"/>
                    </a:ext>
                  </a:extLst>
                </a:gridCol>
                <a:gridCol w="306259">
                  <a:extLst>
                    <a:ext uri="{9D8B030D-6E8A-4147-A177-3AD203B41FA5}">
                      <a16:colId xmlns:a16="http://schemas.microsoft.com/office/drawing/2014/main" val="20003"/>
                    </a:ext>
                  </a:extLst>
                </a:gridCol>
                <a:gridCol w="972000">
                  <a:extLst>
                    <a:ext uri="{9D8B030D-6E8A-4147-A177-3AD203B41FA5}">
                      <a16:colId xmlns:a16="http://schemas.microsoft.com/office/drawing/2014/main" val="20004"/>
                    </a:ext>
                  </a:extLst>
                </a:gridCol>
                <a:gridCol w="792000">
                  <a:extLst>
                    <a:ext uri="{9D8B030D-6E8A-4147-A177-3AD203B41FA5}">
                      <a16:colId xmlns:a16="http://schemas.microsoft.com/office/drawing/2014/main" val="20005"/>
                    </a:ext>
                  </a:extLst>
                </a:gridCol>
                <a:gridCol w="792000">
                  <a:extLst>
                    <a:ext uri="{9D8B030D-6E8A-4147-A177-3AD203B41FA5}">
                      <a16:colId xmlns:a16="http://schemas.microsoft.com/office/drawing/2014/main" val="20006"/>
                    </a:ext>
                  </a:extLst>
                </a:gridCol>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mn-lt"/>
                          <a:ea typeface="Calibri" panose="020F0502020204030204" pitchFamily="34" charset="0"/>
                          <a:cs typeface="Times New Roman" panose="02020603050405020304" pitchFamily="18" charset="0"/>
                        </a:rPr>
                        <a:t>Probit</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NN[25x25]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180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184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367</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12</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374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8</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97.35%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94.74%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96.83%</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98.40%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97.91%</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96.13%</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98.07%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0005"/>
                  </a:ext>
                </a:extLst>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noProof="0" smtClean="0"/>
              <a:pPr/>
              <a:t>27</a:t>
            </a:fld>
            <a:endParaRPr lang="en-US" noProof="0" dirty="0"/>
          </a:p>
        </p:txBody>
      </p:sp>
      <p:sp>
        <p:nvSpPr>
          <p:cNvPr id="8" name="Inhaltsplatzhalter 1"/>
          <p:cNvSpPr txBox="1">
            <a:spLocks/>
          </p:cNvSpPr>
          <p:nvPr/>
        </p:nvSpPr>
        <p:spPr>
          <a:xfrm>
            <a:off x="130276" y="5326355"/>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Quality assessment</a:t>
            </a:r>
          </a:p>
          <a:p>
            <a:pPr lvl="1"/>
            <a:r>
              <a:rPr lang="en-US" noProof="0" dirty="0">
                <a:solidFill>
                  <a:prstClr val="black"/>
                </a:solidFill>
              </a:rPr>
              <a:t>85% of the establishments matched to a company</a:t>
            </a:r>
          </a:p>
          <a:p>
            <a:pPr lvl="1"/>
            <a:r>
              <a:rPr lang="en-US" noProof="0" dirty="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German EPO Firm Applicants 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28</a:t>
            </a:fld>
            <a:endParaRPr lang="en-US" noProof="0" dirty="0"/>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Preparation</a:t>
            </a:r>
          </a:p>
          <a:p>
            <a:pPr marL="504000" lvl="1">
              <a:spcBef>
                <a:spcPts val="0"/>
              </a:spcBef>
              <a:buClr>
                <a:srgbClr val="00AAE5"/>
              </a:buClr>
            </a:pPr>
            <a:r>
              <a:rPr lang="en-US" noProof="0" dirty="0">
                <a:solidFill>
                  <a:prstClr val="black"/>
                </a:solidFill>
              </a:rPr>
              <a:t>Mannheimer </a:t>
            </a:r>
            <a:r>
              <a:rPr lang="en-US" noProof="0" dirty="0" err="1">
                <a:solidFill>
                  <a:prstClr val="black"/>
                </a:solidFill>
              </a:rPr>
              <a:t>Unternehmens</a:t>
            </a:r>
            <a:r>
              <a:rPr lang="en-US" noProof="0" dirty="0">
                <a:solidFill>
                  <a:prstClr val="black"/>
                </a:solidFill>
              </a:rPr>
              <a:t> Panel (MUP 2000-2021, German Company Panel)</a:t>
            </a:r>
          </a:p>
          <a:p>
            <a:pPr marL="792000" lvl="2">
              <a:spcBef>
                <a:spcPts val="0"/>
              </a:spcBef>
              <a:buClr>
                <a:srgbClr val="00B0F0"/>
              </a:buClr>
            </a:pPr>
            <a:r>
              <a:rPr lang="en-US" noProof="0" dirty="0">
                <a:solidFill>
                  <a:prstClr val="black"/>
                </a:solidFill>
              </a:rPr>
              <a:t>Removing duplicates → firm &amp; address aggregates: 24 million</a:t>
            </a:r>
          </a:p>
          <a:p>
            <a:pPr marL="504000" lvl="1">
              <a:spcBef>
                <a:spcPts val="0"/>
              </a:spcBef>
              <a:buClr>
                <a:srgbClr val="00AAE5"/>
              </a:buClr>
            </a:pPr>
            <a:r>
              <a:rPr lang="en-US" noProof="0" dirty="0">
                <a:solidFill>
                  <a:prstClr val="black"/>
                </a:solidFill>
              </a:rPr>
              <a:t>German EPO Applicants (</a:t>
            </a:r>
            <a:r>
              <a:rPr lang="en-US" noProof="0" dirty="0" err="1">
                <a:solidFill>
                  <a:prstClr val="black"/>
                </a:solidFill>
              </a:rPr>
              <a:t>Patstat</a:t>
            </a:r>
            <a:r>
              <a:rPr lang="en-US" noProof="0" dirty="0">
                <a:solidFill>
                  <a:prstClr val="black"/>
                </a:solidFill>
              </a:rPr>
              <a:t> 2021)</a:t>
            </a:r>
          </a:p>
          <a:p>
            <a:pPr marL="792000" lvl="2">
              <a:spcBef>
                <a:spcPts val="0"/>
              </a:spcBef>
              <a:buClr>
                <a:srgbClr val="00B0F0"/>
              </a:buClr>
            </a:pPr>
            <a:r>
              <a:rPr lang="en-US" noProof="0" dirty="0">
                <a:solidFill>
                  <a:prstClr val="black"/>
                </a:solidFill>
              </a:rPr>
              <a:t>Removing person owned patents with less than 10 patents</a:t>
            </a:r>
          </a:p>
          <a:p>
            <a:pPr marL="792000" lvl="2">
              <a:spcBef>
                <a:spcPts val="0"/>
              </a:spcBef>
              <a:buClr>
                <a:srgbClr val="00B0F0"/>
              </a:buClr>
            </a:pPr>
            <a:r>
              <a:rPr lang="en-US" noProof="0" dirty="0">
                <a:solidFill>
                  <a:prstClr val="black"/>
                </a:solidFill>
              </a:rPr>
              <a:t>Removing duplicates → firm &amp; address aggregates: 62,036</a:t>
            </a:r>
          </a:p>
          <a:p>
            <a:pPr marL="216000" lvl="0">
              <a:spcBef>
                <a:spcPts val="600"/>
              </a:spcBef>
              <a:buClr>
                <a:srgbClr val="00AAE5"/>
              </a:buClr>
            </a:pPr>
            <a:r>
              <a:rPr lang="en-US" noProof="0" dirty="0" err="1">
                <a:solidFill>
                  <a:prstClr val="black"/>
                </a:solidFill>
              </a:rPr>
              <a:t>SearchEngine</a:t>
            </a:r>
            <a:endParaRPr lang="en-US" noProof="0" dirty="0">
              <a:solidFill>
                <a:prstClr val="black"/>
              </a:solidFill>
            </a:endParaRPr>
          </a:p>
          <a:p>
            <a:pPr marL="504000" lvl="1">
              <a:spcBef>
                <a:spcPts val="0"/>
              </a:spcBef>
              <a:buClr>
                <a:srgbClr val="00AAE5"/>
              </a:buClr>
            </a:pPr>
            <a:r>
              <a:rPr lang="en-US" noProof="0" dirty="0">
                <a:solidFill>
                  <a:prstClr val="black"/>
                </a:solidFill>
              </a:rPr>
              <a:t>Base table: MUP </a:t>
            </a:r>
          </a:p>
          <a:p>
            <a:pPr marL="504000" lvl="1">
              <a:spcBef>
                <a:spcPts val="0"/>
              </a:spcBef>
              <a:buClr>
                <a:srgbClr val="00AAE5"/>
              </a:buClr>
            </a:pPr>
            <a:r>
              <a:rPr lang="en-US" noProof="0" dirty="0">
                <a:solidFill>
                  <a:prstClr val="black"/>
                </a:solidFill>
              </a:rPr>
              <a:t>Search types: name FIRMA, name FIRMA GRAM3, street STRASSE, zip, city</a:t>
            </a:r>
          </a:p>
          <a:p>
            <a:pPr marL="504000" lvl="1">
              <a:spcBef>
                <a:spcPts val="0"/>
              </a:spcBef>
              <a:buClr>
                <a:srgbClr val="00AAE5"/>
              </a:buClr>
            </a:pPr>
            <a:r>
              <a:rPr lang="en-US" noProof="0" dirty="0">
                <a:solidFill>
                  <a:prstClr val="black"/>
                </a:solidFill>
              </a:rPr>
              <a:t>Darwinian search mode: pick only the candidates with the highest Identity</a:t>
            </a:r>
          </a:p>
          <a:p>
            <a:pPr marL="504000" lvl="1">
              <a:spcBef>
                <a:spcPts val="0"/>
              </a:spcBef>
              <a:buClr>
                <a:srgbClr val="00AAE5"/>
              </a:buClr>
            </a:pPr>
            <a:r>
              <a:rPr lang="en-US" noProof="0" dirty="0">
                <a:solidFill>
                  <a:prstClr val="black"/>
                </a:solidFill>
              </a:rPr>
              <a:t>Incremental: skip search records with candidates in subsequent search runs</a:t>
            </a:r>
          </a:p>
          <a:p>
            <a:pPr marL="216000" lvl="0">
              <a:spcBef>
                <a:spcPts val="600"/>
              </a:spcBef>
              <a:buClr>
                <a:srgbClr val="00AAE5"/>
              </a:buClr>
            </a:pPr>
            <a:r>
              <a:rPr lang="en-US" noProof="0" dirty="0">
                <a:solidFill>
                  <a:prstClr val="black"/>
                </a:solidFill>
              </a:rPr>
              <a:t>Strategy</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1445977139"/>
              </p:ext>
            </p:extLst>
          </p:nvPr>
        </p:nvGraphicFramePr>
        <p:xfrm>
          <a:off x="636318" y="3920375"/>
          <a:ext cx="7777101" cy="2398640"/>
        </p:xfrm>
        <a:graphic>
          <a:graphicData uri="http://schemas.openxmlformats.org/drawingml/2006/table">
            <a:tbl>
              <a:tblPr firstRow="1" firstCol="1" bandRow="1"/>
              <a:tblGrid>
                <a:gridCol w="685101">
                  <a:extLst>
                    <a:ext uri="{9D8B030D-6E8A-4147-A177-3AD203B41FA5}">
                      <a16:colId xmlns:a16="http://schemas.microsoft.com/office/drawing/2014/main" val="20000"/>
                    </a:ext>
                  </a:extLst>
                </a:gridCol>
                <a:gridCol w="4032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gridCol w="1080000">
                  <a:extLst>
                    <a:ext uri="{9D8B030D-6E8A-4147-A177-3AD203B41FA5}">
                      <a16:colId xmlns:a16="http://schemas.microsoft.com/office/drawing/2014/main" val="20004"/>
                    </a:ext>
                  </a:extLst>
                </a:gridCol>
              </a:tblGrid>
              <a:tr h="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run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description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threshold</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applicants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candidates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56,603</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108,775</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682</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977</a:t>
                      </a:r>
                    </a:p>
                  </a:txBody>
                  <a:tcPr marL="68580" marR="68580" marT="0" marB="0" anchor="ctr">
                    <a:lnL>
                      <a:noFill/>
                    </a:lnL>
                    <a:lnR>
                      <a:noFill/>
                    </a:lnR>
                    <a:lnT>
                      <a:noFill/>
                    </a:lnT>
                    <a:lnB>
                      <a:noFill/>
                    </a:lnB>
                  </a:tcPr>
                </a:tc>
                <a:extLst>
                  <a:ext uri="{0D108BD9-81ED-4DB2-BD59-A6C34878D82A}">
                    <a16:rowId xmlns:a16="http://schemas.microsoft.com/office/drawing/2014/main" val="10002"/>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275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385</a:t>
                      </a:r>
                    </a:p>
                  </a:txBody>
                  <a:tcPr marL="68580" marR="68580" marT="0" marB="0" anchor="ctr">
                    <a:lnL>
                      <a:noFill/>
                    </a:lnL>
                    <a:lnR>
                      <a:noFill/>
                    </a:lnR>
                    <a:lnT>
                      <a:noFill/>
                    </a:lnT>
                    <a:lnB>
                      <a:noFill/>
                    </a:lnB>
                  </a:tcPr>
                </a:tc>
                <a:extLst>
                  <a:ext uri="{0D108BD9-81ED-4DB2-BD59-A6C34878D82A}">
                    <a16:rowId xmlns:a16="http://schemas.microsoft.com/office/drawing/2014/main" val="10003"/>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70 -9999999,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167</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358</a:t>
                      </a:r>
                    </a:p>
                  </a:txBody>
                  <a:tcPr marL="68580" marR="68580" marT="0" marB="0" anchor="ctr">
                    <a:lnL>
                      <a:noFill/>
                    </a:lnL>
                    <a:lnR>
                      <a:noFill/>
                    </a:lnR>
                    <a:lnT>
                      <a:noFill/>
                    </a:lnT>
                    <a:lnB>
                      <a:noFill/>
                    </a:lnB>
                  </a:tcPr>
                </a:tc>
                <a:extLst>
                  <a:ext uri="{0D108BD9-81ED-4DB2-BD59-A6C34878D82A}">
                    <a16:rowId xmlns:a16="http://schemas.microsoft.com/office/drawing/2014/main" val="10004"/>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3,078</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8,251</a:t>
                      </a:r>
                    </a:p>
                  </a:txBody>
                  <a:tcPr marL="68580" marR="68580" marT="0" marB="0" anchor="ctr">
                    <a:lnL>
                      <a:noFill/>
                    </a:lnL>
                    <a:lnR>
                      <a:noFill/>
                    </a:lnR>
                    <a:lnT>
                      <a:noFill/>
                    </a:lnT>
                    <a:lnB>
                      <a:noFill/>
                    </a:lnB>
                  </a:tcPr>
                </a:tc>
                <a:extLst>
                  <a:ext uri="{0D108BD9-81ED-4DB2-BD59-A6C34878D82A}">
                    <a16:rowId xmlns:a16="http://schemas.microsoft.com/office/drawing/2014/main" val="10005"/>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log,</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134</a:t>
                      </a:r>
                    </a:p>
                  </a:txBody>
                  <a:tcPr marL="68580" marR="68580" marT="0" marB="0" anchor="ctr">
                    <a:lnL>
                      <a:noFill/>
                    </a:lnL>
                    <a:lnR>
                      <a:noFill/>
                    </a:lnR>
                    <a:lnT>
                      <a:noFill/>
                    </a:lnT>
                    <a:lnB>
                      <a:noFill/>
                    </a:lnB>
                  </a:tcPr>
                </a:tc>
                <a:extLst>
                  <a:ext uri="{0D108BD9-81ED-4DB2-BD59-A6C34878D82A}">
                    <a16:rowId xmlns:a16="http://schemas.microsoft.com/office/drawing/2014/main" val="10006"/>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17</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20</a:t>
                      </a:r>
                    </a:p>
                  </a:txBody>
                  <a:tcPr marL="68580" marR="68580" marT="0" marB="0" anchor="ctr">
                    <a:lnL>
                      <a:noFill/>
                    </a:lnL>
                    <a:lnR>
                      <a:noFill/>
                    </a:lnR>
                    <a:lnT>
                      <a:noFill/>
                    </a:lnT>
                    <a:lnB>
                      <a:noFill/>
                    </a:lnB>
                  </a:tcPr>
                </a:tc>
                <a:extLst>
                  <a:ext uri="{0D108BD9-81ED-4DB2-BD59-A6C34878D82A}">
                    <a16:rowId xmlns:a16="http://schemas.microsoft.com/office/drawing/2014/main" val="10007"/>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log,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34</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53</a:t>
                      </a:r>
                    </a:p>
                  </a:txBody>
                  <a:tcPr marL="68580" marR="68580" marT="0" marB="0" anchor="ctr">
                    <a:lnL>
                      <a:noFill/>
                    </a:lnL>
                    <a:lnR>
                      <a:noFill/>
                    </a:lnR>
                    <a:lnT>
                      <a:noFill/>
                    </a:lnT>
                    <a:lnB>
                      <a:noFill/>
                    </a:lnB>
                  </a:tcPr>
                </a:tc>
                <a:extLst>
                  <a:ext uri="{0D108BD9-81ED-4DB2-BD59-A6C34878D82A}">
                    <a16:rowId xmlns:a16="http://schemas.microsoft.com/office/drawing/2014/main" val="10008"/>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a:t>
                      </a: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zealous</a:t>
                      </a: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a:t>
                      </a: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61</a:t>
                      </a: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215900">
                <a:tc>
                  <a:txBody>
                    <a:bodyPr/>
                    <a:lstStyle/>
                    <a:p>
                      <a:pPr algn="ctr">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60,960</a:t>
                      </a: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119,014</a:t>
                      </a: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22413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Training sample</a:t>
            </a:r>
          </a:p>
          <a:p>
            <a:pPr marL="504000" lvl="1">
              <a:spcBef>
                <a:spcPts val="0"/>
              </a:spcBef>
              <a:buClr>
                <a:srgbClr val="00AAE5"/>
              </a:buClr>
            </a:pPr>
            <a:r>
              <a:rPr lang="en-US" noProof="0" dirty="0">
                <a:solidFill>
                  <a:prstClr val="black"/>
                </a:solidFill>
              </a:rPr>
              <a:t> 3,264 applicants paired with 6,535 candidates</a:t>
            </a:r>
          </a:p>
          <a:p>
            <a:pPr marL="504000" lvl="1">
              <a:spcBef>
                <a:spcPts val="0"/>
              </a:spcBef>
              <a:buClr>
                <a:srgbClr val="00AAE5"/>
              </a:buClr>
              <a:buFont typeface="Calibri" panose="020F0502020204030204" pitchFamily="34" charset="0"/>
              <a:buChar char="−"/>
            </a:pPr>
            <a:r>
              <a:rPr lang="en-US" noProof="0" dirty="0">
                <a:solidFill>
                  <a:prstClr val="black"/>
                </a:solidFill>
              </a:rPr>
              <a:t>677 pairings retained for out-of-sample prediction</a:t>
            </a:r>
          </a:p>
          <a:p>
            <a:pPr marL="504000" lvl="1">
              <a:spcBef>
                <a:spcPts val="0"/>
              </a:spcBef>
              <a:buClr>
                <a:srgbClr val="00AAE5"/>
              </a:buClr>
              <a:buFont typeface="Calibri" panose="020F0502020204030204" pitchFamily="34" charset="0"/>
              <a:buChar char="+"/>
            </a:pPr>
            <a:r>
              <a:rPr lang="en-US" noProof="0" dirty="0">
                <a:solidFill>
                  <a:prstClr val="black"/>
                </a:solidFill>
              </a:rPr>
              <a:t>completely scrutinized search runs 4 &amp; 6 to 9 due to marginal representation</a:t>
            </a:r>
          </a:p>
          <a:p>
            <a:r>
              <a:rPr lang="en-US" noProof="0" dirty="0"/>
              <a:t>Confusion matrix</a:t>
            </a:r>
          </a:p>
        </p:txBody>
      </p:sp>
      <p:sp>
        <p:nvSpPr>
          <p:cNvPr id="6" name="Foliennummernplatzhalter 5"/>
          <p:cNvSpPr>
            <a:spLocks noGrp="1"/>
          </p:cNvSpPr>
          <p:nvPr>
            <p:ph type="sldNum" sz="quarter" idx="10"/>
          </p:nvPr>
        </p:nvSpPr>
        <p:spPr/>
        <p:txBody>
          <a:bodyPr/>
          <a:lstStyle/>
          <a:p>
            <a:fld id="{A29D8577-601D-4845-9C29-D9E13FE3E8DB}" type="slidenum">
              <a:rPr lang="en-US" noProof="0" smtClean="0"/>
              <a:pPr/>
              <a:t>29</a:t>
            </a:fld>
            <a:endParaRPr lang="en-US" noProof="0" dirty="0"/>
          </a:p>
        </p:txBody>
      </p:sp>
      <p:graphicFrame>
        <p:nvGraphicFramePr>
          <p:cNvPr id="7" name="Tabelle 6"/>
          <p:cNvGraphicFramePr>
            <a:graphicFrameLocks noGrp="1"/>
          </p:cNvGraphicFramePr>
          <p:nvPr>
            <p:extLst>
              <p:ext uri="{D42A27DB-BD31-4B8C-83A1-F6EECF244321}">
                <p14:modId xmlns:p14="http://schemas.microsoft.com/office/powerpoint/2010/main" val="965471550"/>
              </p:ext>
            </p:extLst>
          </p:nvPr>
        </p:nvGraphicFramePr>
        <p:xfrm>
          <a:off x="611560" y="2224877"/>
          <a:ext cx="5418518" cy="1620000"/>
        </p:xfrm>
        <a:graphic>
          <a:graphicData uri="http://schemas.openxmlformats.org/drawingml/2006/table">
            <a:tbl>
              <a:tblPr firstRow="1" firstCol="1" bandRow="1"/>
              <a:tblGrid>
                <a:gridCol w="97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792000">
                  <a:extLst>
                    <a:ext uri="{9D8B030D-6E8A-4147-A177-3AD203B41FA5}">
                      <a16:colId xmlns:a16="http://schemas.microsoft.com/office/drawing/2014/main" val="20002"/>
                    </a:ext>
                  </a:extLst>
                </a:gridCol>
                <a:gridCol w="306518">
                  <a:extLst>
                    <a:ext uri="{9D8B030D-6E8A-4147-A177-3AD203B41FA5}">
                      <a16:colId xmlns:a16="http://schemas.microsoft.com/office/drawing/2014/main" val="20003"/>
                    </a:ext>
                  </a:extLst>
                </a:gridCol>
                <a:gridCol w="972000">
                  <a:extLst>
                    <a:ext uri="{9D8B030D-6E8A-4147-A177-3AD203B41FA5}">
                      <a16:colId xmlns:a16="http://schemas.microsoft.com/office/drawing/2014/main" val="20004"/>
                    </a:ext>
                  </a:extLst>
                </a:gridCol>
                <a:gridCol w="792000">
                  <a:extLst>
                    <a:ext uri="{9D8B030D-6E8A-4147-A177-3AD203B41FA5}">
                      <a16:colId xmlns:a16="http://schemas.microsoft.com/office/drawing/2014/main" val="20005"/>
                    </a:ext>
                  </a:extLst>
                </a:gridCol>
                <a:gridCol w="792000">
                  <a:extLst>
                    <a:ext uri="{9D8B030D-6E8A-4147-A177-3AD203B41FA5}">
                      <a16:colId xmlns:a16="http://schemas.microsoft.com/office/drawing/2014/main" val="20006"/>
                    </a:ext>
                  </a:extLst>
                </a:gridCol>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Probit</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NN[25]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575</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13</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590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19</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78</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84.34%</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93.98%</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78.65%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99.16%</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95.12%</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95.27%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98.67%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0005"/>
                  </a:ext>
                </a:extLst>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Quality assessment</a:t>
            </a:r>
          </a:p>
          <a:p>
            <a:pPr lvl="1"/>
            <a:r>
              <a:rPr lang="en-US" noProof="0" dirty="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22BB3-703B-8813-E721-A864B8E822F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9E7DF52-94BD-02EA-26B8-23D8643DDDE3}"/>
              </a:ext>
            </a:extLst>
          </p:cNvPr>
          <p:cNvSpPr>
            <a:spLocks noGrp="1"/>
          </p:cNvSpPr>
          <p:nvPr>
            <p:ph type="title"/>
          </p:nvPr>
        </p:nvSpPr>
        <p:spPr/>
        <p:txBody>
          <a:bodyPr/>
          <a:lstStyle/>
          <a:p>
            <a:r>
              <a:rPr lang="en-US" noProof="0" dirty="0"/>
              <a:t>Entity Resolution: Search Table = Base Table</a:t>
            </a:r>
          </a:p>
        </p:txBody>
      </p:sp>
      <p:sp>
        <p:nvSpPr>
          <p:cNvPr id="3" name="Foliennummernplatzhalter 2">
            <a:extLst>
              <a:ext uri="{FF2B5EF4-FFF2-40B4-BE49-F238E27FC236}">
                <a16:creationId xmlns:a16="http://schemas.microsoft.com/office/drawing/2014/main" id="{F2ACC62D-287C-ECFA-5986-9C48EB233A17}"/>
              </a:ext>
            </a:extLst>
          </p:cNvPr>
          <p:cNvSpPr>
            <a:spLocks noGrp="1"/>
          </p:cNvSpPr>
          <p:nvPr>
            <p:ph type="sldNum" sz="quarter" idx="10"/>
          </p:nvPr>
        </p:nvSpPr>
        <p:spPr/>
        <p:txBody>
          <a:bodyPr/>
          <a:lstStyle/>
          <a:p>
            <a:fld id="{A29D8577-601D-4845-9C29-D9E13FE3E8DB}" type="slidenum">
              <a:rPr lang="en-US" noProof="0" smtClean="0"/>
              <a:pPr/>
              <a:t>30</a:t>
            </a:fld>
            <a:endParaRPr lang="en-US" noProof="0" dirty="0"/>
          </a:p>
        </p:txBody>
      </p:sp>
      <p:graphicFrame>
        <p:nvGraphicFramePr>
          <p:cNvPr id="26" name="Table 5">
            <a:extLst>
              <a:ext uri="{FF2B5EF4-FFF2-40B4-BE49-F238E27FC236}">
                <a16:creationId xmlns:a16="http://schemas.microsoft.com/office/drawing/2014/main" id="{C5AA9A1E-08E7-1D1F-6600-8210B2D20A8B}"/>
              </a:ext>
            </a:extLst>
          </p:cNvPr>
          <p:cNvGraphicFramePr>
            <a:graphicFrameLocks noGrp="1"/>
          </p:cNvGraphicFramePr>
          <p:nvPr>
            <p:extLst>
              <p:ext uri="{D42A27DB-BD31-4B8C-83A1-F6EECF244321}">
                <p14:modId xmlns:p14="http://schemas.microsoft.com/office/powerpoint/2010/main" val="4229243136"/>
              </p:ext>
            </p:extLst>
          </p:nvPr>
        </p:nvGraphicFramePr>
        <p:xfrm>
          <a:off x="1031544" y="662469"/>
          <a:ext cx="8347359" cy="5630813"/>
        </p:xfrm>
        <a:graphic>
          <a:graphicData uri="http://schemas.openxmlformats.org/drawingml/2006/table">
            <a:tbl>
              <a:tblPr/>
              <a:tblGrid>
                <a:gridCol w="468000">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25972">
                  <a:extLst>
                    <a:ext uri="{9D8B030D-6E8A-4147-A177-3AD203B41FA5}">
                      <a16:colId xmlns:a16="http://schemas.microsoft.com/office/drawing/2014/main" val="20002"/>
                    </a:ext>
                  </a:extLst>
                </a:gridCol>
                <a:gridCol w="396000">
                  <a:extLst>
                    <a:ext uri="{9D8B030D-6E8A-4147-A177-3AD203B41FA5}">
                      <a16:colId xmlns:a16="http://schemas.microsoft.com/office/drawing/2014/main" val="20003"/>
                    </a:ext>
                  </a:extLst>
                </a:gridCol>
                <a:gridCol w="2393557">
                  <a:extLst>
                    <a:ext uri="{9D8B030D-6E8A-4147-A177-3AD203B41FA5}">
                      <a16:colId xmlns:a16="http://schemas.microsoft.com/office/drawing/2014/main" val="20004"/>
                    </a:ext>
                  </a:extLst>
                </a:gridCol>
                <a:gridCol w="396000">
                  <a:extLst>
                    <a:ext uri="{9D8B030D-6E8A-4147-A177-3AD203B41FA5}">
                      <a16:colId xmlns:a16="http://schemas.microsoft.com/office/drawing/2014/main" val="20005"/>
                    </a:ext>
                  </a:extLst>
                </a:gridCol>
                <a:gridCol w="936000">
                  <a:extLst>
                    <a:ext uri="{9D8B030D-6E8A-4147-A177-3AD203B41FA5}">
                      <a16:colId xmlns:a16="http://schemas.microsoft.com/office/drawing/2014/main" val="20006"/>
                    </a:ext>
                  </a:extLst>
                </a:gridCol>
                <a:gridCol w="2448000">
                  <a:extLst>
                    <a:ext uri="{9D8B030D-6E8A-4147-A177-3AD203B41FA5}">
                      <a16:colId xmlns:a16="http://schemas.microsoft.com/office/drawing/2014/main" val="20007"/>
                    </a:ext>
                  </a:extLst>
                </a:gridCol>
                <a:gridCol w="415830">
                  <a:extLst>
                    <a:ext uri="{9D8B030D-6E8A-4147-A177-3AD203B41FA5}">
                      <a16:colId xmlns:a16="http://schemas.microsoft.com/office/drawing/2014/main" val="20008"/>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noProof="0"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5"/>
                  </a:ext>
                </a:extLst>
              </a:tr>
              <a:tr h="150605">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3"/>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8"/>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9"/>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3"/>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6"/>
                  </a:ext>
                </a:extLst>
              </a:tr>
            </a:tbl>
          </a:graphicData>
        </a:graphic>
      </p:graphicFrame>
      <p:sp>
        <p:nvSpPr>
          <p:cNvPr id="42" name="Rechteck 41">
            <a:extLst>
              <a:ext uri="{FF2B5EF4-FFF2-40B4-BE49-F238E27FC236}">
                <a16:creationId xmlns:a16="http://schemas.microsoft.com/office/drawing/2014/main" id="{A40B21F6-5CCC-891E-E979-C0924B2D3C8B}"/>
              </a:ext>
            </a:extLst>
          </p:cNvPr>
          <p:cNvSpPr/>
          <p:nvPr/>
        </p:nvSpPr>
        <p:spPr>
          <a:xfrm>
            <a:off x="1149192" y="1455476"/>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0" name="Rechteck 39">
            <a:extLst>
              <a:ext uri="{FF2B5EF4-FFF2-40B4-BE49-F238E27FC236}">
                <a16:creationId xmlns:a16="http://schemas.microsoft.com/office/drawing/2014/main" id="{D1FD83E5-0091-BA04-38E4-EF49DEE56D46}"/>
              </a:ext>
            </a:extLst>
          </p:cNvPr>
          <p:cNvSpPr/>
          <p:nvPr/>
        </p:nvSpPr>
        <p:spPr>
          <a:xfrm>
            <a:off x="1130992" y="832230"/>
            <a:ext cx="8120527" cy="335089"/>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4" name="Rechteck 43">
            <a:extLst>
              <a:ext uri="{FF2B5EF4-FFF2-40B4-BE49-F238E27FC236}">
                <a16:creationId xmlns:a16="http://schemas.microsoft.com/office/drawing/2014/main" id="{48E2F0CD-5CD5-C632-354E-BC9552A50FA7}"/>
              </a:ext>
            </a:extLst>
          </p:cNvPr>
          <p:cNvSpPr/>
          <p:nvPr/>
        </p:nvSpPr>
        <p:spPr>
          <a:xfrm>
            <a:off x="1130992" y="2215199"/>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6" name="Rechteck 45">
            <a:extLst>
              <a:ext uri="{FF2B5EF4-FFF2-40B4-BE49-F238E27FC236}">
                <a16:creationId xmlns:a16="http://schemas.microsoft.com/office/drawing/2014/main" id="{8EFEE61F-C2D2-943E-BF9F-A7D2B3F1C519}"/>
              </a:ext>
            </a:extLst>
          </p:cNvPr>
          <p:cNvSpPr/>
          <p:nvPr/>
        </p:nvSpPr>
        <p:spPr>
          <a:xfrm>
            <a:off x="1130992" y="4346531"/>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8" name="Rechteck 47">
            <a:extLst>
              <a:ext uri="{FF2B5EF4-FFF2-40B4-BE49-F238E27FC236}">
                <a16:creationId xmlns:a16="http://schemas.microsoft.com/office/drawing/2014/main" id="{DC1D78B4-546D-5A30-41BA-BB69D23E5316}"/>
              </a:ext>
            </a:extLst>
          </p:cNvPr>
          <p:cNvSpPr/>
          <p:nvPr/>
        </p:nvSpPr>
        <p:spPr>
          <a:xfrm>
            <a:off x="1130992" y="5256384"/>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50" name="Textfeld 49">
                <a:extLst>
                  <a:ext uri="{FF2B5EF4-FFF2-40B4-BE49-F238E27FC236}">
                    <a16:creationId xmlns:a16="http://schemas.microsoft.com/office/drawing/2014/main" id="{94918D25-A7D6-166C-0BC1-A35708EDA679}"/>
                  </a:ext>
                </a:extLst>
              </p:cNvPr>
              <p:cNvSpPr txBox="1"/>
              <p:nvPr/>
            </p:nvSpPr>
            <p:spPr>
              <a:xfrm>
                <a:off x="9378903" y="864757"/>
                <a:ext cx="2706190" cy="1600438"/>
              </a:xfrm>
              <a:prstGeom prst="rect">
                <a:avLst/>
              </a:prstGeom>
              <a:noFill/>
            </p:spPr>
            <p:txBody>
              <a:bodyPr wrap="square" rtlCol="0">
                <a:spAutoFit/>
              </a:bodyPr>
              <a:lstStyle/>
              <a:p>
                <a:r>
                  <a:rPr lang="en-US" sz="1400" noProof="0" dirty="0">
                    <a:solidFill>
                      <a:srgbClr val="00B0F0"/>
                    </a:solidFill>
                  </a:rPr>
                  <a:t>Mono</a:t>
                </a:r>
              </a:p>
              <a:p>
                <a:r>
                  <a:rPr lang="en-US" sz="1400" noProof="0" dirty="0" err="1"/>
                  <a:t>SearchEngine</a:t>
                </a:r>
                <a:r>
                  <a:rPr lang="en-US" sz="1400" noProof="0" dirty="0"/>
                  <a:t> switches to </a:t>
                </a:r>
                <a:r>
                  <a:rPr lang="en-US" sz="1400" noProof="0" dirty="0">
                    <a:solidFill>
                      <a:srgbClr val="00B0F0"/>
                    </a:solidFill>
                  </a:rPr>
                  <a:t>mono</a:t>
                </a:r>
                <a:r>
                  <a:rPr lang="en-US" sz="1400" noProof="0" dirty="0"/>
                  <a:t> mode, when Search and Base Table are the same. As </a:t>
                </a:r>
                <a:r>
                  <a:rPr lang="en-US" sz="1400" noProof="0" dirty="0">
                    <a:solidFill>
                      <a:srgbClr val="00B0F0"/>
                    </a:solidFill>
                  </a:rPr>
                  <a:t>searched</a:t>
                </a:r>
                <a:r>
                  <a:rPr lang="en-US" sz="1400" noProof="0" dirty="0"/>
                  <a:t> and </a:t>
                </a:r>
                <a:r>
                  <a:rPr lang="en-US" sz="1400" noProof="0" dirty="0">
                    <a:solidFill>
                      <a:srgbClr val="00B0F0"/>
                    </a:solidFill>
                  </a:rPr>
                  <a:t>found</a:t>
                </a:r>
                <a:r>
                  <a:rPr lang="en-US" sz="1400" noProof="0" dirty="0"/>
                  <a:t> reference the same data, </a:t>
                </a:r>
                <a14:m>
                  <m:oMath xmlns:m="http://schemas.openxmlformats.org/officeDocument/2006/math">
                    <m:r>
                      <a:rPr lang="en-US" sz="1400" b="0" i="1" noProof="0" smtClean="0">
                        <a:latin typeface="Cambria Math" panose="02040503050406030204" pitchFamily="18" charset="0"/>
                      </a:rPr>
                      <m:t>𝑠𝑒𝑎𝑟𝑐ℎ𝑒𝑑</m:t>
                    </m:r>
                    <m:r>
                      <a:rPr lang="en-US" sz="1400" b="0" i="1" noProof="0" smtClean="0">
                        <a:latin typeface="Cambria Math" panose="02040503050406030204" pitchFamily="18" charset="0"/>
                      </a:rPr>
                      <m:t>=</m:t>
                    </m:r>
                    <m:r>
                      <a:rPr lang="en-US" sz="1400" b="0" i="1" noProof="0" smtClean="0">
                        <a:latin typeface="Cambria Math" panose="02040503050406030204" pitchFamily="18" charset="0"/>
                      </a:rPr>
                      <m:t>𝑓𝑜𝑢𝑛𝑑</m:t>
                    </m:r>
                  </m:oMath>
                </a14:m>
                <a:r>
                  <a:rPr lang="en-US" sz="1400" noProof="0" dirty="0"/>
                  <a:t> is redundant and will be omitted.</a:t>
                </a:r>
              </a:p>
            </p:txBody>
          </p:sp>
        </mc:Choice>
        <mc:Fallback xmlns="">
          <p:sp>
            <p:nvSpPr>
              <p:cNvPr id="50" name="Textfeld 49">
                <a:extLst>
                  <a:ext uri="{FF2B5EF4-FFF2-40B4-BE49-F238E27FC236}">
                    <a16:creationId xmlns:a16="http://schemas.microsoft.com/office/drawing/2014/main" id="{94918D25-A7D6-166C-0BC1-A35708EDA679}"/>
                  </a:ext>
                </a:extLst>
              </p:cNvPr>
              <p:cNvSpPr txBox="1">
                <a:spLocks noRot="1" noChangeAspect="1" noMove="1" noResize="1" noEditPoints="1" noAdjustHandles="1" noChangeArrowheads="1" noChangeShapeType="1" noTextEdit="1"/>
              </p:cNvSpPr>
              <p:nvPr/>
            </p:nvSpPr>
            <p:spPr>
              <a:xfrm>
                <a:off x="9378903" y="864757"/>
                <a:ext cx="2706190" cy="1600438"/>
              </a:xfrm>
              <a:prstGeom prst="rect">
                <a:avLst/>
              </a:prstGeom>
              <a:blipFill>
                <a:blip r:embed="rId2"/>
                <a:stretch>
                  <a:fillRect l="-677" t="-763" b="-3053"/>
                </a:stretch>
              </a:blipFill>
            </p:spPr>
            <p:txBody>
              <a:bodyPr/>
              <a:lstStyle/>
              <a:p>
                <a:r>
                  <a:rPr lang="en-US">
                    <a:noFill/>
                  </a:rPr>
                  <a:t> </a:t>
                </a:r>
              </a:p>
            </p:txBody>
          </p:sp>
        </mc:Fallback>
      </mc:AlternateContent>
      <p:graphicFrame>
        <p:nvGraphicFramePr>
          <p:cNvPr id="4" name="Tabelle 3">
            <a:extLst>
              <a:ext uri="{FF2B5EF4-FFF2-40B4-BE49-F238E27FC236}">
                <a16:creationId xmlns:a16="http://schemas.microsoft.com/office/drawing/2014/main" id="{822B446D-EA5A-0A2A-25EE-FEEF02140565}"/>
              </a:ext>
            </a:extLst>
          </p:cNvPr>
          <p:cNvGraphicFramePr>
            <a:graphicFrameLocks noGrp="1"/>
          </p:cNvGraphicFramePr>
          <p:nvPr>
            <p:extLst>
              <p:ext uri="{D42A27DB-BD31-4B8C-83A1-F6EECF244321}">
                <p14:modId xmlns:p14="http://schemas.microsoft.com/office/powerpoint/2010/main" val="661476007"/>
              </p:ext>
            </p:extLst>
          </p:nvPr>
        </p:nvGraphicFramePr>
        <p:xfrm>
          <a:off x="1031544" y="1578543"/>
          <a:ext cx="8347359" cy="302833"/>
        </p:xfrm>
        <a:graphic>
          <a:graphicData uri="http://schemas.openxmlformats.org/drawingml/2006/table">
            <a:tbl>
              <a:tblPr/>
              <a:tblGrid>
                <a:gridCol w="468000">
                  <a:extLst>
                    <a:ext uri="{9D8B030D-6E8A-4147-A177-3AD203B41FA5}">
                      <a16:colId xmlns:a16="http://schemas.microsoft.com/office/drawing/2014/main" val="2139022589"/>
                    </a:ext>
                  </a:extLst>
                </a:gridCol>
                <a:gridCol w="468000">
                  <a:extLst>
                    <a:ext uri="{9D8B030D-6E8A-4147-A177-3AD203B41FA5}">
                      <a16:colId xmlns:a16="http://schemas.microsoft.com/office/drawing/2014/main" val="3172779861"/>
                    </a:ext>
                  </a:extLst>
                </a:gridCol>
                <a:gridCol w="425972">
                  <a:extLst>
                    <a:ext uri="{9D8B030D-6E8A-4147-A177-3AD203B41FA5}">
                      <a16:colId xmlns:a16="http://schemas.microsoft.com/office/drawing/2014/main" val="4238091933"/>
                    </a:ext>
                  </a:extLst>
                </a:gridCol>
                <a:gridCol w="396000">
                  <a:extLst>
                    <a:ext uri="{9D8B030D-6E8A-4147-A177-3AD203B41FA5}">
                      <a16:colId xmlns:a16="http://schemas.microsoft.com/office/drawing/2014/main" val="3811961477"/>
                    </a:ext>
                  </a:extLst>
                </a:gridCol>
                <a:gridCol w="2393557">
                  <a:extLst>
                    <a:ext uri="{9D8B030D-6E8A-4147-A177-3AD203B41FA5}">
                      <a16:colId xmlns:a16="http://schemas.microsoft.com/office/drawing/2014/main" val="2100895534"/>
                    </a:ext>
                  </a:extLst>
                </a:gridCol>
                <a:gridCol w="396000">
                  <a:extLst>
                    <a:ext uri="{9D8B030D-6E8A-4147-A177-3AD203B41FA5}">
                      <a16:colId xmlns:a16="http://schemas.microsoft.com/office/drawing/2014/main" val="4267253387"/>
                    </a:ext>
                  </a:extLst>
                </a:gridCol>
                <a:gridCol w="936000">
                  <a:extLst>
                    <a:ext uri="{9D8B030D-6E8A-4147-A177-3AD203B41FA5}">
                      <a16:colId xmlns:a16="http://schemas.microsoft.com/office/drawing/2014/main" val="3944492098"/>
                    </a:ext>
                  </a:extLst>
                </a:gridCol>
                <a:gridCol w="2448000">
                  <a:extLst>
                    <a:ext uri="{9D8B030D-6E8A-4147-A177-3AD203B41FA5}">
                      <a16:colId xmlns:a16="http://schemas.microsoft.com/office/drawing/2014/main" val="1650670998"/>
                    </a:ext>
                  </a:extLst>
                </a:gridCol>
                <a:gridCol w="415830">
                  <a:extLst>
                    <a:ext uri="{9D8B030D-6E8A-4147-A177-3AD203B41FA5}">
                      <a16:colId xmlns:a16="http://schemas.microsoft.com/office/drawing/2014/main" val="2794002080"/>
                    </a:ext>
                  </a:extLst>
                </a:gridCol>
              </a:tblGrid>
              <a:tr h="150605">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66486</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4621559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2394181"/>
                  </a:ext>
                </a:extLst>
              </a:tr>
            </a:tbl>
          </a:graphicData>
        </a:graphic>
      </p:graphicFrame>
      <p:graphicFrame>
        <p:nvGraphicFramePr>
          <p:cNvPr id="10" name="Tabelle 9">
            <a:extLst>
              <a:ext uri="{FF2B5EF4-FFF2-40B4-BE49-F238E27FC236}">
                <a16:creationId xmlns:a16="http://schemas.microsoft.com/office/drawing/2014/main" id="{C8E2512C-515E-EE7E-AE1A-2FBFA896FF7C}"/>
              </a:ext>
            </a:extLst>
          </p:cNvPr>
          <p:cNvGraphicFramePr>
            <a:graphicFrameLocks noGrp="1"/>
          </p:cNvGraphicFramePr>
          <p:nvPr>
            <p:extLst>
              <p:ext uri="{D42A27DB-BD31-4B8C-83A1-F6EECF244321}">
                <p14:modId xmlns:p14="http://schemas.microsoft.com/office/powerpoint/2010/main" val="4088575835"/>
              </p:ext>
            </p:extLst>
          </p:nvPr>
        </p:nvGraphicFramePr>
        <p:xfrm>
          <a:off x="1031074" y="2337122"/>
          <a:ext cx="8347359" cy="1674508"/>
        </p:xfrm>
        <a:graphic>
          <a:graphicData uri="http://schemas.openxmlformats.org/drawingml/2006/table">
            <a:tbl>
              <a:tblPr/>
              <a:tblGrid>
                <a:gridCol w="468000">
                  <a:extLst>
                    <a:ext uri="{9D8B030D-6E8A-4147-A177-3AD203B41FA5}">
                      <a16:colId xmlns:a16="http://schemas.microsoft.com/office/drawing/2014/main" val="1675056686"/>
                    </a:ext>
                  </a:extLst>
                </a:gridCol>
                <a:gridCol w="468000">
                  <a:extLst>
                    <a:ext uri="{9D8B030D-6E8A-4147-A177-3AD203B41FA5}">
                      <a16:colId xmlns:a16="http://schemas.microsoft.com/office/drawing/2014/main" val="2907024892"/>
                    </a:ext>
                  </a:extLst>
                </a:gridCol>
                <a:gridCol w="425972">
                  <a:extLst>
                    <a:ext uri="{9D8B030D-6E8A-4147-A177-3AD203B41FA5}">
                      <a16:colId xmlns:a16="http://schemas.microsoft.com/office/drawing/2014/main" val="324378256"/>
                    </a:ext>
                  </a:extLst>
                </a:gridCol>
                <a:gridCol w="396000">
                  <a:extLst>
                    <a:ext uri="{9D8B030D-6E8A-4147-A177-3AD203B41FA5}">
                      <a16:colId xmlns:a16="http://schemas.microsoft.com/office/drawing/2014/main" val="2704396416"/>
                    </a:ext>
                  </a:extLst>
                </a:gridCol>
                <a:gridCol w="2393557">
                  <a:extLst>
                    <a:ext uri="{9D8B030D-6E8A-4147-A177-3AD203B41FA5}">
                      <a16:colId xmlns:a16="http://schemas.microsoft.com/office/drawing/2014/main" val="3642740903"/>
                    </a:ext>
                  </a:extLst>
                </a:gridCol>
                <a:gridCol w="396000">
                  <a:extLst>
                    <a:ext uri="{9D8B030D-6E8A-4147-A177-3AD203B41FA5}">
                      <a16:colId xmlns:a16="http://schemas.microsoft.com/office/drawing/2014/main" val="187132855"/>
                    </a:ext>
                  </a:extLst>
                </a:gridCol>
                <a:gridCol w="936000">
                  <a:extLst>
                    <a:ext uri="{9D8B030D-6E8A-4147-A177-3AD203B41FA5}">
                      <a16:colId xmlns:a16="http://schemas.microsoft.com/office/drawing/2014/main" val="2875536511"/>
                    </a:ext>
                  </a:extLst>
                </a:gridCol>
                <a:gridCol w="2448000">
                  <a:extLst>
                    <a:ext uri="{9D8B030D-6E8A-4147-A177-3AD203B41FA5}">
                      <a16:colId xmlns:a16="http://schemas.microsoft.com/office/drawing/2014/main" val="882786072"/>
                    </a:ext>
                  </a:extLst>
                </a:gridCol>
                <a:gridCol w="415830">
                  <a:extLst>
                    <a:ext uri="{9D8B030D-6E8A-4147-A177-3AD203B41FA5}">
                      <a16:colId xmlns:a16="http://schemas.microsoft.com/office/drawing/2014/main" val="1002208717"/>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9426529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73534759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42584959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422651387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68163888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303857</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81333416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423898995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264</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65241604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74732730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171208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65891965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847299414"/>
                  </a:ext>
                </a:extLst>
              </a:tr>
            </a:tbl>
          </a:graphicData>
        </a:graphic>
      </p:graphicFrame>
      <p:graphicFrame>
        <p:nvGraphicFramePr>
          <p:cNvPr id="17" name="Tabelle 16">
            <a:extLst>
              <a:ext uri="{FF2B5EF4-FFF2-40B4-BE49-F238E27FC236}">
                <a16:creationId xmlns:a16="http://schemas.microsoft.com/office/drawing/2014/main" id="{0822BAFC-3E53-5834-048E-2EEE8326062F}"/>
              </a:ext>
            </a:extLst>
          </p:cNvPr>
          <p:cNvGraphicFramePr>
            <a:graphicFrameLocks noGrp="1"/>
          </p:cNvGraphicFramePr>
          <p:nvPr>
            <p:extLst>
              <p:ext uri="{D42A27DB-BD31-4B8C-83A1-F6EECF244321}">
                <p14:modId xmlns:p14="http://schemas.microsoft.com/office/powerpoint/2010/main" val="3406281461"/>
              </p:ext>
            </p:extLst>
          </p:nvPr>
        </p:nvGraphicFramePr>
        <p:xfrm>
          <a:off x="1031129" y="4467224"/>
          <a:ext cx="8347359" cy="456684"/>
        </p:xfrm>
        <a:graphic>
          <a:graphicData uri="http://schemas.openxmlformats.org/drawingml/2006/table">
            <a:tbl>
              <a:tblPr/>
              <a:tblGrid>
                <a:gridCol w="468000">
                  <a:extLst>
                    <a:ext uri="{9D8B030D-6E8A-4147-A177-3AD203B41FA5}">
                      <a16:colId xmlns:a16="http://schemas.microsoft.com/office/drawing/2014/main" val="2429484096"/>
                    </a:ext>
                  </a:extLst>
                </a:gridCol>
                <a:gridCol w="468000">
                  <a:extLst>
                    <a:ext uri="{9D8B030D-6E8A-4147-A177-3AD203B41FA5}">
                      <a16:colId xmlns:a16="http://schemas.microsoft.com/office/drawing/2014/main" val="128328412"/>
                    </a:ext>
                  </a:extLst>
                </a:gridCol>
                <a:gridCol w="425972">
                  <a:extLst>
                    <a:ext uri="{9D8B030D-6E8A-4147-A177-3AD203B41FA5}">
                      <a16:colId xmlns:a16="http://schemas.microsoft.com/office/drawing/2014/main" val="2915790641"/>
                    </a:ext>
                  </a:extLst>
                </a:gridCol>
                <a:gridCol w="396000">
                  <a:extLst>
                    <a:ext uri="{9D8B030D-6E8A-4147-A177-3AD203B41FA5}">
                      <a16:colId xmlns:a16="http://schemas.microsoft.com/office/drawing/2014/main" val="15988888"/>
                    </a:ext>
                  </a:extLst>
                </a:gridCol>
                <a:gridCol w="2393557">
                  <a:extLst>
                    <a:ext uri="{9D8B030D-6E8A-4147-A177-3AD203B41FA5}">
                      <a16:colId xmlns:a16="http://schemas.microsoft.com/office/drawing/2014/main" val="839490735"/>
                    </a:ext>
                  </a:extLst>
                </a:gridCol>
                <a:gridCol w="396000">
                  <a:extLst>
                    <a:ext uri="{9D8B030D-6E8A-4147-A177-3AD203B41FA5}">
                      <a16:colId xmlns:a16="http://schemas.microsoft.com/office/drawing/2014/main" val="3480823297"/>
                    </a:ext>
                  </a:extLst>
                </a:gridCol>
                <a:gridCol w="936000">
                  <a:extLst>
                    <a:ext uri="{9D8B030D-6E8A-4147-A177-3AD203B41FA5}">
                      <a16:colId xmlns:a16="http://schemas.microsoft.com/office/drawing/2014/main" val="2287822729"/>
                    </a:ext>
                  </a:extLst>
                </a:gridCol>
                <a:gridCol w="2448000">
                  <a:extLst>
                    <a:ext uri="{9D8B030D-6E8A-4147-A177-3AD203B41FA5}">
                      <a16:colId xmlns:a16="http://schemas.microsoft.com/office/drawing/2014/main" val="561126851"/>
                    </a:ext>
                  </a:extLst>
                </a:gridCol>
                <a:gridCol w="415830">
                  <a:extLst>
                    <a:ext uri="{9D8B030D-6E8A-4147-A177-3AD203B41FA5}">
                      <a16:colId xmlns:a16="http://schemas.microsoft.com/office/drawing/2014/main" val="3317104046"/>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79430945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8337869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94.68</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910266520"/>
                  </a:ext>
                </a:extLst>
              </a:tr>
            </a:tbl>
          </a:graphicData>
        </a:graphic>
      </p:graphicFrame>
      <p:graphicFrame>
        <p:nvGraphicFramePr>
          <p:cNvPr id="18" name="Tabelle 17">
            <a:extLst>
              <a:ext uri="{FF2B5EF4-FFF2-40B4-BE49-F238E27FC236}">
                <a16:creationId xmlns:a16="http://schemas.microsoft.com/office/drawing/2014/main" id="{30692243-A0C8-57C8-9A3C-6E54C3CB2949}"/>
              </a:ext>
            </a:extLst>
          </p:cNvPr>
          <p:cNvGraphicFramePr>
            <a:graphicFrameLocks noGrp="1"/>
          </p:cNvGraphicFramePr>
          <p:nvPr>
            <p:extLst>
              <p:ext uri="{D42A27DB-BD31-4B8C-83A1-F6EECF244321}">
                <p14:modId xmlns:p14="http://schemas.microsoft.com/office/powerpoint/2010/main" val="1591582411"/>
              </p:ext>
            </p:extLst>
          </p:nvPr>
        </p:nvGraphicFramePr>
        <p:xfrm>
          <a:off x="1030927" y="5383348"/>
          <a:ext cx="8347359" cy="913368"/>
        </p:xfrm>
        <a:graphic>
          <a:graphicData uri="http://schemas.openxmlformats.org/drawingml/2006/table">
            <a:tbl>
              <a:tblPr/>
              <a:tblGrid>
                <a:gridCol w="468000">
                  <a:extLst>
                    <a:ext uri="{9D8B030D-6E8A-4147-A177-3AD203B41FA5}">
                      <a16:colId xmlns:a16="http://schemas.microsoft.com/office/drawing/2014/main" val="936165940"/>
                    </a:ext>
                  </a:extLst>
                </a:gridCol>
                <a:gridCol w="468000">
                  <a:extLst>
                    <a:ext uri="{9D8B030D-6E8A-4147-A177-3AD203B41FA5}">
                      <a16:colId xmlns:a16="http://schemas.microsoft.com/office/drawing/2014/main" val="3693209406"/>
                    </a:ext>
                  </a:extLst>
                </a:gridCol>
                <a:gridCol w="425972">
                  <a:extLst>
                    <a:ext uri="{9D8B030D-6E8A-4147-A177-3AD203B41FA5}">
                      <a16:colId xmlns:a16="http://schemas.microsoft.com/office/drawing/2014/main" val="332065773"/>
                    </a:ext>
                  </a:extLst>
                </a:gridCol>
                <a:gridCol w="396000">
                  <a:extLst>
                    <a:ext uri="{9D8B030D-6E8A-4147-A177-3AD203B41FA5}">
                      <a16:colId xmlns:a16="http://schemas.microsoft.com/office/drawing/2014/main" val="3268520661"/>
                    </a:ext>
                  </a:extLst>
                </a:gridCol>
                <a:gridCol w="2393557">
                  <a:extLst>
                    <a:ext uri="{9D8B030D-6E8A-4147-A177-3AD203B41FA5}">
                      <a16:colId xmlns:a16="http://schemas.microsoft.com/office/drawing/2014/main" val="3831431133"/>
                    </a:ext>
                  </a:extLst>
                </a:gridCol>
                <a:gridCol w="396000">
                  <a:extLst>
                    <a:ext uri="{9D8B030D-6E8A-4147-A177-3AD203B41FA5}">
                      <a16:colId xmlns:a16="http://schemas.microsoft.com/office/drawing/2014/main" val="533151105"/>
                    </a:ext>
                  </a:extLst>
                </a:gridCol>
                <a:gridCol w="936000">
                  <a:extLst>
                    <a:ext uri="{9D8B030D-6E8A-4147-A177-3AD203B41FA5}">
                      <a16:colId xmlns:a16="http://schemas.microsoft.com/office/drawing/2014/main" val="84593588"/>
                    </a:ext>
                  </a:extLst>
                </a:gridCol>
                <a:gridCol w="2448000">
                  <a:extLst>
                    <a:ext uri="{9D8B030D-6E8A-4147-A177-3AD203B41FA5}">
                      <a16:colId xmlns:a16="http://schemas.microsoft.com/office/drawing/2014/main" val="1511224713"/>
                    </a:ext>
                  </a:extLst>
                </a:gridCol>
                <a:gridCol w="415830">
                  <a:extLst>
                    <a:ext uri="{9D8B030D-6E8A-4147-A177-3AD203B41FA5}">
                      <a16:colId xmlns:a16="http://schemas.microsoft.com/office/drawing/2014/main" val="2176939680"/>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72518544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01561259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95098663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441578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0383562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7132254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736692043"/>
                  </a:ext>
                </a:extLst>
              </a:tr>
            </a:tbl>
          </a:graphicData>
        </a:graphic>
      </p:graphicFrame>
      <p:sp>
        <p:nvSpPr>
          <p:cNvPr id="19" name="Rechteck 18">
            <a:extLst>
              <a:ext uri="{FF2B5EF4-FFF2-40B4-BE49-F238E27FC236}">
                <a16:creationId xmlns:a16="http://schemas.microsoft.com/office/drawing/2014/main" id="{B58E1E03-1484-9E5E-917E-B7F377939F25}"/>
              </a:ext>
            </a:extLst>
          </p:cNvPr>
          <p:cNvSpPr/>
          <p:nvPr/>
        </p:nvSpPr>
        <p:spPr>
          <a:xfrm>
            <a:off x="1102322" y="830729"/>
            <a:ext cx="8120527" cy="335089"/>
          </a:xfrm>
          <a:prstGeom prst="rect">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Tree>
    <p:extLst>
      <p:ext uri="{BB962C8B-B14F-4D97-AF65-F5344CB8AC3E}">
        <p14:creationId xmlns:p14="http://schemas.microsoft.com/office/powerpoint/2010/main" val="1011952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22" presetClass="entr" presetSubtype="8"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animEffect transition="in" filter="wipe(left)">
                                      <p:cBhvr>
                                        <p:cTn id="9" dur="500"/>
                                        <p:tgtEl>
                                          <p:spTgt spid="40"/>
                                        </p:tgtEl>
                                      </p:cBhvr>
                                    </p:animEffect>
                                  </p:childTnLst>
                                </p:cTn>
                              </p:par>
                              <p:par>
                                <p:cTn id="10" presetID="22" presetClass="entr" presetSubtype="8" fill="hold" grpId="0" nodeType="with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wipe(left)">
                                      <p:cBhvr>
                                        <p:cTn id="12" dur="500"/>
                                        <p:tgtEl>
                                          <p:spTgt spid="44"/>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animEffect transition="in" filter="wipe(left)">
                                      <p:cBhvr>
                                        <p:cTn id="15" dur="500"/>
                                        <p:tgtEl>
                                          <p:spTgt spid="46"/>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500"/>
                                        <p:tgtEl>
                                          <p:spTgt spid="48"/>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2"/>
                                        </p:tgtEl>
                                        <p:attrNameLst>
                                          <p:attrName>style.visibility</p:attrName>
                                        </p:attrNameLst>
                                      </p:cBhvr>
                                      <p:to>
                                        <p:strVal val="visible"/>
                                      </p:to>
                                    </p:set>
                                    <p:animEffect transition="in" filter="wipe(left)">
                                      <p:cBhvr>
                                        <p:cTn id="21" dur="500"/>
                                        <p:tgtEl>
                                          <p:spTgt spid="42"/>
                                        </p:tgtEl>
                                      </p:cBhvr>
                                    </p:animEffect>
                                  </p:childTnLst>
                                </p:cTn>
                              </p:par>
                            </p:childTnLst>
                          </p:cTn>
                        </p:par>
                        <p:par>
                          <p:cTn id="22" fill="hold">
                            <p:stCondLst>
                              <p:cond delay="500"/>
                            </p:stCondLst>
                            <p:childTnLst>
                              <p:par>
                                <p:cTn id="23" presetID="42" presetClass="path" presetSubtype="0" accel="50000" decel="50000" fill="hold" nodeType="afterEffect">
                                  <p:stCondLst>
                                    <p:cond delay="0"/>
                                  </p:stCondLst>
                                  <p:childTnLst>
                                    <p:animMotion origin="layout" path="M -3.125E-6 -3.33333E-6 L 0.00026 -0.02129 " pathEditMode="relative" rAng="0" ptsTypes="AA">
                                      <p:cBhvr>
                                        <p:cTn id="24" dur="2000" fill="hold"/>
                                        <p:tgtEl>
                                          <p:spTgt spid="4"/>
                                        </p:tgtEl>
                                        <p:attrNameLst>
                                          <p:attrName>ppt_x</p:attrName>
                                          <p:attrName>ppt_y</p:attrName>
                                        </p:attrNameLst>
                                      </p:cBhvr>
                                      <p:rCtr x="13" y="-1065"/>
                                    </p:animMotion>
                                  </p:childTnLst>
                                </p:cTn>
                              </p:par>
                              <p:par>
                                <p:cTn id="25" presetID="42" presetClass="path" presetSubtype="0" accel="50000" decel="50000" fill="hold" nodeType="withEffect">
                                  <p:stCondLst>
                                    <p:cond delay="0"/>
                                  </p:stCondLst>
                                  <p:childTnLst>
                                    <p:animMotion origin="layout" path="M -2.91667E-6 -1.48148E-6 L 0.00039 -0.02268 " pathEditMode="relative" rAng="0" ptsTypes="AA">
                                      <p:cBhvr>
                                        <p:cTn id="26" dur="2000" fill="hold"/>
                                        <p:tgtEl>
                                          <p:spTgt spid="10"/>
                                        </p:tgtEl>
                                        <p:attrNameLst>
                                          <p:attrName>ppt_x</p:attrName>
                                          <p:attrName>ppt_y</p:attrName>
                                        </p:attrNameLst>
                                      </p:cBhvr>
                                      <p:rCtr x="13" y="-1134"/>
                                    </p:animMotion>
                                  </p:childTnLst>
                                </p:cTn>
                              </p:par>
                              <p:par>
                                <p:cTn id="27" presetID="64" presetClass="path" presetSubtype="0" accel="50000" decel="50000" fill="hold" nodeType="withEffect">
                                  <p:stCondLst>
                                    <p:cond delay="0"/>
                                  </p:stCondLst>
                                  <p:childTnLst>
                                    <p:animMotion origin="layout" path="M -3.125E-6 -2.22222E-6 L -3.125E-6 -0.02106 " pathEditMode="relative" rAng="0" ptsTypes="AA">
                                      <p:cBhvr>
                                        <p:cTn id="28" dur="2000" fill="hold"/>
                                        <p:tgtEl>
                                          <p:spTgt spid="17"/>
                                        </p:tgtEl>
                                        <p:attrNameLst>
                                          <p:attrName>ppt_x</p:attrName>
                                          <p:attrName>ppt_y</p:attrName>
                                        </p:attrNameLst>
                                      </p:cBhvr>
                                      <p:rCtr x="0" y="-1065"/>
                                    </p:animMotion>
                                  </p:childTnLst>
                                </p:cTn>
                              </p:par>
                              <p:par>
                                <p:cTn id="29" presetID="64" presetClass="path" presetSubtype="0" accel="50000" decel="50000" fill="hold" nodeType="withEffect">
                                  <p:stCondLst>
                                    <p:cond delay="0"/>
                                  </p:stCondLst>
                                  <p:childTnLst>
                                    <p:animMotion origin="layout" path="M -0.00013 -0.00116 L -0.00039 -0.02292 " pathEditMode="relative" rAng="0" ptsTypes="AA">
                                      <p:cBhvr>
                                        <p:cTn id="30" dur="2000" fill="hold"/>
                                        <p:tgtEl>
                                          <p:spTgt spid="18"/>
                                        </p:tgtEl>
                                        <p:attrNameLst>
                                          <p:attrName>ppt_x</p:attrName>
                                          <p:attrName>ppt_y</p:attrName>
                                        </p:attrNameLst>
                                      </p:cBhvr>
                                      <p:rCtr x="-13" y="-1088"/>
                                    </p:animMotion>
                                  </p:childTnLst>
                                </p:cTn>
                              </p:par>
                              <p:par>
                                <p:cTn id="31" presetID="22" presetClass="entr" presetSubtype="4"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down)">
                                      <p:cBhvr>
                                        <p:cTn id="33"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0" grpId="0" animBg="1"/>
      <p:bldP spid="44" grpId="0" animBg="1"/>
      <p:bldP spid="46" grpId="0" animBg="1"/>
      <p:bldP spid="48" grpId="0" animBg="1"/>
      <p:bldP spid="50" grpId="0"/>
      <p:bldP spid="1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063A-B162-A976-0210-04CB9F5556F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E460A9-8C70-D597-C839-010B8D3367CB}"/>
              </a:ext>
            </a:extLst>
          </p:cNvPr>
          <p:cNvSpPr>
            <a:spLocks noGrp="1"/>
          </p:cNvSpPr>
          <p:nvPr>
            <p:ph type="title"/>
          </p:nvPr>
        </p:nvSpPr>
        <p:spPr/>
        <p:txBody>
          <a:bodyPr/>
          <a:lstStyle/>
          <a:p>
            <a:r>
              <a:rPr lang="en-US" noProof="0" dirty="0"/>
              <a:t>Intransitive Similarity Network</a:t>
            </a:r>
          </a:p>
        </p:txBody>
      </p:sp>
      <p:sp>
        <p:nvSpPr>
          <p:cNvPr id="3" name="Foliennummernplatzhalter 2">
            <a:extLst>
              <a:ext uri="{FF2B5EF4-FFF2-40B4-BE49-F238E27FC236}">
                <a16:creationId xmlns:a16="http://schemas.microsoft.com/office/drawing/2014/main" id="{B47F0CD1-A74C-ADF5-5E58-7A030D7114AE}"/>
              </a:ext>
            </a:extLst>
          </p:cNvPr>
          <p:cNvSpPr>
            <a:spLocks noGrp="1"/>
          </p:cNvSpPr>
          <p:nvPr>
            <p:ph type="sldNum" sz="quarter" idx="10"/>
          </p:nvPr>
        </p:nvSpPr>
        <p:spPr/>
        <p:txBody>
          <a:bodyPr/>
          <a:lstStyle/>
          <a:p>
            <a:fld id="{A29D8577-601D-4845-9C29-D9E13FE3E8DB}" type="slidenum">
              <a:rPr lang="en-US" noProof="0" smtClean="0"/>
              <a:pPr/>
              <a:t>31</a:t>
            </a:fld>
            <a:endParaRPr lang="en-US" noProof="0" dirty="0"/>
          </a:p>
        </p:txBody>
      </p:sp>
      <p:graphicFrame>
        <p:nvGraphicFramePr>
          <p:cNvPr id="26" name="Table 5">
            <a:extLst>
              <a:ext uri="{FF2B5EF4-FFF2-40B4-BE49-F238E27FC236}">
                <a16:creationId xmlns:a16="http://schemas.microsoft.com/office/drawing/2014/main" id="{5FA3BDD1-9599-EAB1-AAC5-97AFC26E6FED}"/>
              </a:ext>
            </a:extLst>
          </p:cNvPr>
          <p:cNvGraphicFramePr>
            <a:graphicFrameLocks noGrp="1"/>
          </p:cNvGraphicFramePr>
          <p:nvPr>
            <p:extLst>
              <p:ext uri="{D42A27DB-BD31-4B8C-83A1-F6EECF244321}">
                <p14:modId xmlns:p14="http://schemas.microsoft.com/office/powerpoint/2010/main" val="487822243"/>
              </p:ext>
            </p:extLst>
          </p:nvPr>
        </p:nvGraphicFramePr>
        <p:xfrm>
          <a:off x="1031544" y="662469"/>
          <a:ext cx="8347359" cy="5630813"/>
        </p:xfrm>
        <a:graphic>
          <a:graphicData uri="http://schemas.openxmlformats.org/drawingml/2006/table">
            <a:tbl>
              <a:tblPr/>
              <a:tblGrid>
                <a:gridCol w="468000">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25972">
                  <a:extLst>
                    <a:ext uri="{9D8B030D-6E8A-4147-A177-3AD203B41FA5}">
                      <a16:colId xmlns:a16="http://schemas.microsoft.com/office/drawing/2014/main" val="20002"/>
                    </a:ext>
                  </a:extLst>
                </a:gridCol>
                <a:gridCol w="396000">
                  <a:extLst>
                    <a:ext uri="{9D8B030D-6E8A-4147-A177-3AD203B41FA5}">
                      <a16:colId xmlns:a16="http://schemas.microsoft.com/office/drawing/2014/main" val="20003"/>
                    </a:ext>
                  </a:extLst>
                </a:gridCol>
                <a:gridCol w="2393557">
                  <a:extLst>
                    <a:ext uri="{9D8B030D-6E8A-4147-A177-3AD203B41FA5}">
                      <a16:colId xmlns:a16="http://schemas.microsoft.com/office/drawing/2014/main" val="20004"/>
                    </a:ext>
                  </a:extLst>
                </a:gridCol>
                <a:gridCol w="396000">
                  <a:extLst>
                    <a:ext uri="{9D8B030D-6E8A-4147-A177-3AD203B41FA5}">
                      <a16:colId xmlns:a16="http://schemas.microsoft.com/office/drawing/2014/main" val="20005"/>
                    </a:ext>
                  </a:extLst>
                </a:gridCol>
                <a:gridCol w="936000">
                  <a:extLst>
                    <a:ext uri="{9D8B030D-6E8A-4147-A177-3AD203B41FA5}">
                      <a16:colId xmlns:a16="http://schemas.microsoft.com/office/drawing/2014/main" val="20006"/>
                    </a:ext>
                  </a:extLst>
                </a:gridCol>
                <a:gridCol w="2448000">
                  <a:extLst>
                    <a:ext uri="{9D8B030D-6E8A-4147-A177-3AD203B41FA5}">
                      <a16:colId xmlns:a16="http://schemas.microsoft.com/office/drawing/2014/main" val="20007"/>
                    </a:ext>
                  </a:extLst>
                </a:gridCol>
                <a:gridCol w="415830">
                  <a:extLst>
                    <a:ext uri="{9D8B030D-6E8A-4147-A177-3AD203B41FA5}">
                      <a16:colId xmlns:a16="http://schemas.microsoft.com/office/drawing/2014/main" val="20008"/>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noProof="0"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66486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5"/>
                  </a:ext>
                </a:extLst>
              </a:tr>
              <a:tr h="150605">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7"/>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6"/>
                  </a:ext>
                </a:extLst>
              </a:tr>
            </a:tbl>
          </a:graphicData>
        </a:graphic>
      </p:graphicFrame>
      <mc:AlternateContent xmlns:mc="http://schemas.openxmlformats.org/markup-compatibility/2006" xmlns:a14="http://schemas.microsoft.com/office/drawing/2010/main">
        <mc:Choice Requires="a14">
          <p:sp>
            <p:nvSpPr>
              <p:cNvPr id="5" name="Textfeld 4">
                <a:extLst>
                  <a:ext uri="{FF2B5EF4-FFF2-40B4-BE49-F238E27FC236}">
                    <a16:creationId xmlns:a16="http://schemas.microsoft.com/office/drawing/2014/main" id="{DCEDBDAE-9668-699A-36E1-25792B8859A9}"/>
                  </a:ext>
                </a:extLst>
              </p:cNvPr>
              <p:cNvSpPr txBox="1"/>
              <p:nvPr/>
            </p:nvSpPr>
            <p:spPr>
              <a:xfrm>
                <a:off x="9378903" y="864757"/>
                <a:ext cx="2706190" cy="1600438"/>
              </a:xfrm>
              <a:prstGeom prst="rect">
                <a:avLst/>
              </a:prstGeom>
              <a:noFill/>
            </p:spPr>
            <p:txBody>
              <a:bodyPr wrap="square" rtlCol="0">
                <a:spAutoFit/>
              </a:bodyPr>
              <a:lstStyle/>
              <a:p>
                <a:r>
                  <a:rPr lang="en-US" sz="1400" noProof="0" dirty="0">
                    <a:solidFill>
                      <a:srgbClr val="00B0F0"/>
                    </a:solidFill>
                  </a:rPr>
                  <a:t>Mono</a:t>
                </a:r>
              </a:p>
              <a:p>
                <a:r>
                  <a:rPr lang="en-US" sz="1400" noProof="0" dirty="0" err="1"/>
                  <a:t>SearchEngine</a:t>
                </a:r>
                <a:r>
                  <a:rPr lang="en-US" sz="1400" noProof="0" dirty="0"/>
                  <a:t> switches to </a:t>
                </a:r>
                <a:r>
                  <a:rPr lang="en-US" sz="1400" noProof="0" dirty="0">
                    <a:solidFill>
                      <a:srgbClr val="00B0F0"/>
                    </a:solidFill>
                  </a:rPr>
                  <a:t>mono</a:t>
                </a:r>
                <a:r>
                  <a:rPr lang="en-US" sz="1400" noProof="0" dirty="0"/>
                  <a:t> mode, when Search and Base Table are equal. As </a:t>
                </a:r>
                <a:r>
                  <a:rPr lang="en-US" sz="1400" noProof="0" dirty="0">
                    <a:solidFill>
                      <a:srgbClr val="00B0F0"/>
                    </a:solidFill>
                  </a:rPr>
                  <a:t>searched</a:t>
                </a:r>
                <a:r>
                  <a:rPr lang="en-US" sz="1400" noProof="0" dirty="0"/>
                  <a:t> and </a:t>
                </a:r>
                <a:r>
                  <a:rPr lang="en-US" sz="1400" noProof="0" dirty="0">
                    <a:solidFill>
                      <a:srgbClr val="00B0F0"/>
                    </a:solidFill>
                  </a:rPr>
                  <a:t>found</a:t>
                </a:r>
                <a:r>
                  <a:rPr lang="en-US" sz="1400" noProof="0" dirty="0"/>
                  <a:t> address the same data, </a:t>
                </a:r>
                <a14:m>
                  <m:oMath xmlns:m="http://schemas.openxmlformats.org/officeDocument/2006/math">
                    <m:r>
                      <a:rPr lang="en-US" sz="1400" b="0" i="1" noProof="0" smtClean="0">
                        <a:latin typeface="Cambria Math" panose="02040503050406030204" pitchFamily="18" charset="0"/>
                      </a:rPr>
                      <m:t>𝑠𝑒𝑎𝑟𝑐ℎ𝑒𝑑</m:t>
                    </m:r>
                    <m:r>
                      <a:rPr lang="en-US" sz="1400" b="0" i="1" noProof="0" smtClean="0">
                        <a:latin typeface="Cambria Math" panose="02040503050406030204" pitchFamily="18" charset="0"/>
                      </a:rPr>
                      <m:t>=</m:t>
                    </m:r>
                    <m:r>
                      <a:rPr lang="en-US" sz="1400" b="0" i="1" noProof="0" smtClean="0">
                        <a:latin typeface="Cambria Math" panose="02040503050406030204" pitchFamily="18" charset="0"/>
                      </a:rPr>
                      <m:t>𝑓𝑜𝑢𝑛𝑑</m:t>
                    </m:r>
                  </m:oMath>
                </a14:m>
                <a:r>
                  <a:rPr lang="en-US" sz="1400" noProof="0" dirty="0"/>
                  <a:t> is redundant and will be omitted.</a:t>
                </a:r>
              </a:p>
            </p:txBody>
          </p:sp>
        </mc:Choice>
        <mc:Fallback xmlns="">
          <p:sp>
            <p:nvSpPr>
              <p:cNvPr id="5" name="Textfeld 4">
                <a:extLst>
                  <a:ext uri="{FF2B5EF4-FFF2-40B4-BE49-F238E27FC236}">
                    <a16:creationId xmlns:a16="http://schemas.microsoft.com/office/drawing/2014/main" id="{DCEDBDAE-9668-699A-36E1-25792B8859A9}"/>
                  </a:ext>
                </a:extLst>
              </p:cNvPr>
              <p:cNvSpPr txBox="1">
                <a:spLocks noRot="1" noChangeAspect="1" noMove="1" noResize="1" noEditPoints="1" noAdjustHandles="1" noChangeArrowheads="1" noChangeShapeType="1" noTextEdit="1"/>
              </p:cNvSpPr>
              <p:nvPr/>
            </p:nvSpPr>
            <p:spPr>
              <a:xfrm>
                <a:off x="9378903" y="864757"/>
                <a:ext cx="2706190" cy="1600438"/>
              </a:xfrm>
              <a:prstGeom prst="rect">
                <a:avLst/>
              </a:prstGeom>
              <a:blipFill>
                <a:blip r:embed="rId2"/>
                <a:stretch>
                  <a:fillRect l="-677" t="-763" b="-3053"/>
                </a:stretch>
              </a:blipFill>
            </p:spPr>
            <p:txBody>
              <a:bodyPr/>
              <a:lstStyle/>
              <a:p>
                <a:r>
                  <a:rPr lang="en-US">
                    <a:noFill/>
                  </a:rPr>
                  <a:t> </a:t>
                </a:r>
              </a:p>
            </p:txBody>
          </p:sp>
        </mc:Fallback>
      </mc:AlternateContent>
      <p:sp>
        <p:nvSpPr>
          <p:cNvPr id="4" name="Rechteck: abgerundete Ecken 3">
            <a:extLst>
              <a:ext uri="{FF2B5EF4-FFF2-40B4-BE49-F238E27FC236}">
                <a16:creationId xmlns:a16="http://schemas.microsoft.com/office/drawing/2014/main" id="{90883FCC-5B87-DDD6-6CE5-A04FB29BFD2B}"/>
              </a:ext>
            </a:extLst>
          </p:cNvPr>
          <p:cNvSpPr/>
          <p:nvPr/>
        </p:nvSpPr>
        <p:spPr>
          <a:xfrm>
            <a:off x="1113349" y="1282700"/>
            <a:ext cx="972000" cy="4699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Verbinder: gekrümmt 7">
            <a:extLst>
              <a:ext uri="{FF2B5EF4-FFF2-40B4-BE49-F238E27FC236}">
                <a16:creationId xmlns:a16="http://schemas.microsoft.com/office/drawing/2014/main" id="{1ADF8F3B-D645-00EF-C725-1BA29E277113}"/>
              </a:ext>
            </a:extLst>
          </p:cNvPr>
          <p:cNvCxnSpPr>
            <a:cxnSpLocks/>
            <a:stCxn id="53" idx="1"/>
            <a:endCxn id="4" idx="1"/>
          </p:cNvCxnSpPr>
          <p:nvPr/>
        </p:nvCxnSpPr>
        <p:spPr>
          <a:xfrm rot="10800000">
            <a:off x="1113349" y="1517650"/>
            <a:ext cx="431564" cy="1969998"/>
          </a:xfrm>
          <a:prstGeom prst="curvedConnector3">
            <a:avLst>
              <a:gd name="adj1" fmla="val 205724"/>
            </a:avLst>
          </a:prstGeom>
          <a:ln w="22225">
            <a:solidFill>
              <a:srgbClr val="00B0F0"/>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1" name="Rechteck: abgerundete Ecken 10">
            <a:extLst>
              <a:ext uri="{FF2B5EF4-FFF2-40B4-BE49-F238E27FC236}">
                <a16:creationId xmlns:a16="http://schemas.microsoft.com/office/drawing/2014/main" id="{835A607A-12FB-ECB6-BC99-28FBA0349A30}"/>
              </a:ext>
            </a:extLst>
          </p:cNvPr>
          <p:cNvSpPr/>
          <p:nvPr/>
        </p:nvSpPr>
        <p:spPr>
          <a:xfrm>
            <a:off x="1544913" y="22030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echteck: abgerundete Ecken 12">
            <a:extLst>
              <a:ext uri="{FF2B5EF4-FFF2-40B4-BE49-F238E27FC236}">
                <a16:creationId xmlns:a16="http://schemas.microsoft.com/office/drawing/2014/main" id="{FA9B2157-3C6F-22AB-1B55-5E3287A57B17}"/>
              </a:ext>
            </a:extLst>
          </p:cNvPr>
          <p:cNvSpPr/>
          <p:nvPr/>
        </p:nvSpPr>
        <p:spPr>
          <a:xfrm>
            <a:off x="1544913" y="46414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8" name="Verbinder: gekrümmt 17">
            <a:extLst>
              <a:ext uri="{FF2B5EF4-FFF2-40B4-BE49-F238E27FC236}">
                <a16:creationId xmlns:a16="http://schemas.microsoft.com/office/drawing/2014/main" id="{EC6E076A-F70D-2AC4-EA16-B84ABEB5A8E2}"/>
              </a:ext>
            </a:extLst>
          </p:cNvPr>
          <p:cNvCxnSpPr>
            <a:cxnSpLocks/>
            <a:stCxn id="11" idx="3"/>
            <a:endCxn id="13" idx="3"/>
          </p:cNvCxnSpPr>
          <p:nvPr/>
        </p:nvCxnSpPr>
        <p:spPr>
          <a:xfrm>
            <a:off x="2014813" y="2266575"/>
            <a:ext cx="12700" cy="2438400"/>
          </a:xfrm>
          <a:prstGeom prst="curvedConnector3">
            <a:avLst>
              <a:gd name="adj1" fmla="val 7001638"/>
            </a:avLst>
          </a:prstGeom>
          <a:noFill/>
          <a:ln w="25400" cap="sq" cmpd="sng" algn="ctr">
            <a:solidFill>
              <a:srgbClr val="00B0F0"/>
            </a:solidFill>
            <a:prstDash val="solid"/>
            <a:miter lim="800000"/>
            <a:headEnd type="oval"/>
            <a:tailEnd type="oval"/>
          </a:ln>
          <a:effectLst/>
        </p:spPr>
      </p:cxnSp>
      <p:sp>
        <p:nvSpPr>
          <p:cNvPr id="25" name="Rechteck: abgerundete Ecken 24">
            <a:extLst>
              <a:ext uri="{FF2B5EF4-FFF2-40B4-BE49-F238E27FC236}">
                <a16:creationId xmlns:a16="http://schemas.microsoft.com/office/drawing/2014/main" id="{4772E9A2-8AB2-961C-129E-708A84BE4ACA}"/>
              </a:ext>
            </a:extLst>
          </p:cNvPr>
          <p:cNvSpPr/>
          <p:nvPr/>
        </p:nvSpPr>
        <p:spPr>
          <a:xfrm>
            <a:off x="1544913" y="2661026"/>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Rechteck: abgerundete Ecken 27">
            <a:extLst>
              <a:ext uri="{FF2B5EF4-FFF2-40B4-BE49-F238E27FC236}">
                <a16:creationId xmlns:a16="http://schemas.microsoft.com/office/drawing/2014/main" id="{7D0C9F6B-6D75-7052-4F89-00B63F946564}"/>
              </a:ext>
            </a:extLst>
          </p:cNvPr>
          <p:cNvSpPr/>
          <p:nvPr/>
        </p:nvSpPr>
        <p:spPr>
          <a:xfrm>
            <a:off x="1113349" y="4128246"/>
            <a:ext cx="972000" cy="719419"/>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7" name="Verbinder: gekrümmt 36">
            <a:extLst>
              <a:ext uri="{FF2B5EF4-FFF2-40B4-BE49-F238E27FC236}">
                <a16:creationId xmlns:a16="http://schemas.microsoft.com/office/drawing/2014/main" id="{10F2E796-4BD1-5130-C6D6-402B922D16ED}"/>
              </a:ext>
            </a:extLst>
          </p:cNvPr>
          <p:cNvCxnSpPr>
            <a:stCxn id="25" idx="1"/>
            <a:endCxn id="28" idx="1"/>
          </p:cNvCxnSpPr>
          <p:nvPr/>
        </p:nvCxnSpPr>
        <p:spPr>
          <a:xfrm rot="10800000" flipV="1">
            <a:off x="1113349" y="2724526"/>
            <a:ext cx="431564" cy="1763430"/>
          </a:xfrm>
          <a:prstGeom prst="curvedConnector3">
            <a:avLst>
              <a:gd name="adj1" fmla="val 208318"/>
            </a:avLst>
          </a:prstGeom>
          <a:noFill/>
          <a:ln w="25400" cap="sq" cmpd="sng" algn="ctr">
            <a:solidFill>
              <a:srgbClr val="00B0F0"/>
            </a:solidFill>
            <a:prstDash val="solid"/>
            <a:miter lim="800000"/>
            <a:headEnd type="oval"/>
            <a:tailEnd type="triangle"/>
          </a:ln>
          <a:effectLst/>
        </p:spPr>
      </p:cxnSp>
      <p:sp>
        <p:nvSpPr>
          <p:cNvPr id="40" name="Rechteck: abgerundete Ecken 39">
            <a:extLst>
              <a:ext uri="{FF2B5EF4-FFF2-40B4-BE49-F238E27FC236}">
                <a16:creationId xmlns:a16="http://schemas.microsoft.com/office/drawing/2014/main" id="{C43201F2-8D0F-C871-2103-88784B98AD3C}"/>
              </a:ext>
            </a:extLst>
          </p:cNvPr>
          <p:cNvSpPr/>
          <p:nvPr/>
        </p:nvSpPr>
        <p:spPr>
          <a:xfrm>
            <a:off x="1544913" y="37270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Rechteck: abgerundete Ecken 43">
            <a:extLst>
              <a:ext uri="{FF2B5EF4-FFF2-40B4-BE49-F238E27FC236}">
                <a16:creationId xmlns:a16="http://schemas.microsoft.com/office/drawing/2014/main" id="{5897B8DE-F6EC-AC9C-B578-826309CFEA75}"/>
              </a:ext>
            </a:extLst>
          </p:cNvPr>
          <p:cNvSpPr/>
          <p:nvPr/>
        </p:nvSpPr>
        <p:spPr>
          <a:xfrm>
            <a:off x="1544913" y="449131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6" name="Verbinder: gekrümmt 45">
            <a:extLst>
              <a:ext uri="{FF2B5EF4-FFF2-40B4-BE49-F238E27FC236}">
                <a16:creationId xmlns:a16="http://schemas.microsoft.com/office/drawing/2014/main" id="{AE259F07-5D78-CFF0-6138-D06CB8F90B00}"/>
              </a:ext>
            </a:extLst>
          </p:cNvPr>
          <p:cNvCxnSpPr>
            <a:stCxn id="40" idx="3"/>
            <a:endCxn id="44" idx="3"/>
          </p:cNvCxnSpPr>
          <p:nvPr/>
        </p:nvCxnSpPr>
        <p:spPr>
          <a:xfrm>
            <a:off x="2014813" y="3790575"/>
            <a:ext cx="12700" cy="764242"/>
          </a:xfrm>
          <a:prstGeom prst="curvedConnector3">
            <a:avLst>
              <a:gd name="adj1" fmla="val 1800000"/>
            </a:avLst>
          </a:prstGeom>
          <a:noFill/>
          <a:ln w="25400" cap="sq" cmpd="sng" algn="ctr">
            <a:solidFill>
              <a:srgbClr val="00B0F0"/>
            </a:solidFill>
            <a:prstDash val="solid"/>
            <a:miter lim="800000"/>
            <a:headEnd type="oval"/>
            <a:tailEnd type="oval"/>
          </a:ln>
          <a:effectLst/>
        </p:spPr>
      </p:cxnSp>
      <p:sp>
        <p:nvSpPr>
          <p:cNvPr id="53" name="Rechteck: abgerundete Ecken 52">
            <a:extLst>
              <a:ext uri="{FF2B5EF4-FFF2-40B4-BE49-F238E27FC236}">
                <a16:creationId xmlns:a16="http://schemas.microsoft.com/office/drawing/2014/main" id="{5FD44DCA-6676-B9E3-4F0F-A26ED690C622}"/>
              </a:ext>
            </a:extLst>
          </p:cNvPr>
          <p:cNvSpPr/>
          <p:nvPr/>
        </p:nvSpPr>
        <p:spPr>
          <a:xfrm>
            <a:off x="1544913" y="3427510"/>
            <a:ext cx="462876" cy="120276"/>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 name="Rechteck: abgerundete Ecken 57">
            <a:extLst>
              <a:ext uri="{FF2B5EF4-FFF2-40B4-BE49-F238E27FC236}">
                <a16:creationId xmlns:a16="http://schemas.microsoft.com/office/drawing/2014/main" id="{0963999C-4B07-C964-70AB-81E7CBE9E163}"/>
              </a:ext>
            </a:extLst>
          </p:cNvPr>
          <p:cNvSpPr/>
          <p:nvPr/>
        </p:nvSpPr>
        <p:spPr>
          <a:xfrm>
            <a:off x="1544913" y="4343398"/>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Rechteck: abgerundete Ecken 59">
            <a:extLst>
              <a:ext uri="{FF2B5EF4-FFF2-40B4-BE49-F238E27FC236}">
                <a16:creationId xmlns:a16="http://schemas.microsoft.com/office/drawing/2014/main" id="{C4DA0AE3-84C1-64C5-2696-A3B43037F509}"/>
              </a:ext>
            </a:extLst>
          </p:cNvPr>
          <p:cNvSpPr/>
          <p:nvPr/>
        </p:nvSpPr>
        <p:spPr>
          <a:xfrm>
            <a:off x="1544913" y="311971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4" name="Verbinder: gekrümmt 63">
            <a:extLst>
              <a:ext uri="{FF2B5EF4-FFF2-40B4-BE49-F238E27FC236}">
                <a16:creationId xmlns:a16="http://schemas.microsoft.com/office/drawing/2014/main" id="{C3084CDD-153D-7B82-CF17-0BB575A9DB21}"/>
              </a:ext>
            </a:extLst>
          </p:cNvPr>
          <p:cNvCxnSpPr>
            <a:stCxn id="60" idx="3"/>
            <a:endCxn id="58" idx="3"/>
          </p:cNvCxnSpPr>
          <p:nvPr/>
        </p:nvCxnSpPr>
        <p:spPr>
          <a:xfrm>
            <a:off x="2014813" y="3183217"/>
            <a:ext cx="12700" cy="1223681"/>
          </a:xfrm>
          <a:prstGeom prst="curvedConnector3">
            <a:avLst>
              <a:gd name="adj1" fmla="val 2475921"/>
            </a:avLst>
          </a:prstGeom>
          <a:noFill/>
          <a:ln w="25400" cap="sq" cmpd="sng" algn="ctr">
            <a:solidFill>
              <a:srgbClr val="00B0F0"/>
            </a:solidFill>
            <a:prstDash val="solid"/>
            <a:miter lim="800000"/>
            <a:headEnd type="oval"/>
            <a:tailEnd type="oval"/>
          </a:ln>
          <a:effectLst/>
        </p:spPr>
      </p:cxnSp>
      <p:sp>
        <p:nvSpPr>
          <p:cNvPr id="68" name="Rechteck: abgerundete Ecken 67">
            <a:extLst>
              <a:ext uri="{FF2B5EF4-FFF2-40B4-BE49-F238E27FC236}">
                <a16:creationId xmlns:a16="http://schemas.microsoft.com/office/drawing/2014/main" id="{056D9690-CDD7-A7A8-F867-4197E4589626}"/>
              </a:ext>
            </a:extLst>
          </p:cNvPr>
          <p:cNvSpPr/>
          <p:nvPr/>
        </p:nvSpPr>
        <p:spPr>
          <a:xfrm>
            <a:off x="1544913" y="5248833"/>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2" name="Verbinder: gekrümmt 71">
            <a:extLst>
              <a:ext uri="{FF2B5EF4-FFF2-40B4-BE49-F238E27FC236}">
                <a16:creationId xmlns:a16="http://schemas.microsoft.com/office/drawing/2014/main" id="{3ECBBF05-BE87-BFF7-728D-74F6730FC15C}"/>
              </a:ext>
            </a:extLst>
          </p:cNvPr>
          <p:cNvCxnSpPr>
            <a:stCxn id="68" idx="3"/>
            <a:endCxn id="58" idx="3"/>
          </p:cNvCxnSpPr>
          <p:nvPr/>
        </p:nvCxnSpPr>
        <p:spPr>
          <a:xfrm flipV="1">
            <a:off x="2014813" y="4406898"/>
            <a:ext cx="12700" cy="905435"/>
          </a:xfrm>
          <a:prstGeom prst="curvedConnector3">
            <a:avLst>
              <a:gd name="adj1" fmla="val 1800000"/>
            </a:avLst>
          </a:prstGeom>
          <a:noFill/>
          <a:ln w="25400" cap="sq" cmpd="sng" algn="ctr">
            <a:solidFill>
              <a:srgbClr val="00B0F0"/>
            </a:solidFill>
            <a:prstDash val="solid"/>
            <a:miter lim="800000"/>
            <a:headEnd type="oval"/>
            <a:tailEnd type="oval"/>
          </a:ln>
          <a:effectLst/>
        </p:spPr>
      </p:cxnSp>
      <p:cxnSp>
        <p:nvCxnSpPr>
          <p:cNvPr id="75" name="Verbinder: gekrümmt 74">
            <a:extLst>
              <a:ext uri="{FF2B5EF4-FFF2-40B4-BE49-F238E27FC236}">
                <a16:creationId xmlns:a16="http://schemas.microsoft.com/office/drawing/2014/main" id="{A564DC50-5041-32C4-36AA-EB8721339837}"/>
              </a:ext>
            </a:extLst>
          </p:cNvPr>
          <p:cNvCxnSpPr>
            <a:stCxn id="68" idx="3"/>
            <a:endCxn id="60" idx="3"/>
          </p:cNvCxnSpPr>
          <p:nvPr/>
        </p:nvCxnSpPr>
        <p:spPr>
          <a:xfrm flipV="1">
            <a:off x="2014813" y="3183217"/>
            <a:ext cx="12700" cy="2129116"/>
          </a:xfrm>
          <a:prstGeom prst="curvedConnector3">
            <a:avLst>
              <a:gd name="adj1" fmla="val 5150205"/>
            </a:avLst>
          </a:prstGeom>
          <a:noFill/>
          <a:ln w="25400" cap="sq" cmpd="sng" algn="ctr">
            <a:solidFill>
              <a:srgbClr val="00B0F0"/>
            </a:solidFill>
            <a:prstDash val="solid"/>
            <a:miter lim="800000"/>
            <a:headEnd type="oval"/>
            <a:tailEnd type="oval"/>
          </a:ln>
          <a:effectLst/>
        </p:spPr>
      </p:cxnSp>
      <p:sp>
        <p:nvSpPr>
          <p:cNvPr id="82" name="Rechteck: abgerundete Ecken 81">
            <a:extLst>
              <a:ext uri="{FF2B5EF4-FFF2-40B4-BE49-F238E27FC236}">
                <a16:creationId xmlns:a16="http://schemas.microsoft.com/office/drawing/2014/main" id="{C3A56D40-7E3A-80DA-9B0D-20769BA418AD}"/>
              </a:ext>
            </a:extLst>
          </p:cNvPr>
          <p:cNvSpPr/>
          <p:nvPr/>
        </p:nvSpPr>
        <p:spPr>
          <a:xfrm>
            <a:off x="1544400" y="555363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6" name="Freihandform: Form 105">
            <a:extLst>
              <a:ext uri="{FF2B5EF4-FFF2-40B4-BE49-F238E27FC236}">
                <a16:creationId xmlns:a16="http://schemas.microsoft.com/office/drawing/2014/main" id="{B8F5C24E-AAE3-24EC-8968-13E7692D8871}"/>
              </a:ext>
            </a:extLst>
          </p:cNvPr>
          <p:cNvSpPr/>
          <p:nvPr/>
        </p:nvSpPr>
        <p:spPr>
          <a:xfrm>
            <a:off x="2016032" y="3794568"/>
            <a:ext cx="1100645" cy="1819580"/>
          </a:xfrm>
          <a:custGeom>
            <a:avLst/>
            <a:gdLst>
              <a:gd name="csX0" fmla="*/ 0 w 1100645"/>
              <a:gd name="csY0" fmla="*/ 0 h 1819580"/>
              <a:gd name="csX1" fmla="*/ 1002833 w 1100645"/>
              <a:gd name="csY1" fmla="*/ 622792 h 1819580"/>
              <a:gd name="csX2" fmla="*/ 949044 w 1100645"/>
              <a:gd name="csY2" fmla="*/ 1449786 h 1819580"/>
              <a:gd name="csX3" fmla="*/ 21197 w 1100645"/>
              <a:gd name="csY3" fmla="*/ 1819580 h 1819580"/>
            </a:gdLst>
            <a:ahLst/>
            <a:cxnLst>
              <a:cxn ang="0">
                <a:pos x="csX0" y="csY0"/>
              </a:cxn>
              <a:cxn ang="0">
                <a:pos x="csX1" y="csY1"/>
              </a:cxn>
              <a:cxn ang="0">
                <a:pos x="csX2" y="csY2"/>
              </a:cxn>
              <a:cxn ang="0">
                <a:pos x="csX3" y="csY3"/>
              </a:cxn>
            </a:cxnLst>
            <a:rect l="l" t="t" r="r" b="b"/>
            <a:pathLst>
              <a:path w="1100645" h="1819580">
                <a:moveTo>
                  <a:pt x="0" y="0"/>
                </a:moveTo>
                <a:cubicBezTo>
                  <a:pt x="416298" y="47032"/>
                  <a:pt x="844659" y="381161"/>
                  <a:pt x="1002833" y="622792"/>
                </a:cubicBezTo>
                <a:cubicBezTo>
                  <a:pt x="1161007" y="864423"/>
                  <a:pt x="1116012" y="1250321"/>
                  <a:pt x="949044" y="1449786"/>
                </a:cubicBezTo>
                <a:cubicBezTo>
                  <a:pt x="782076" y="1649251"/>
                  <a:pt x="411721" y="1734415"/>
                  <a:pt x="21197" y="1819580"/>
                </a:cubicBezTo>
              </a:path>
            </a:pathLst>
          </a:custGeom>
          <a:noFill/>
          <a:ln w="25400">
            <a:solidFill>
              <a:srgbClr val="00B0F0"/>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8" name="Rechteck: abgerundete Ecken 107">
            <a:extLst>
              <a:ext uri="{FF2B5EF4-FFF2-40B4-BE49-F238E27FC236}">
                <a16:creationId xmlns:a16="http://schemas.microsoft.com/office/drawing/2014/main" id="{00DFAA68-2594-EB84-E8DB-5FFA749026D1}"/>
              </a:ext>
            </a:extLst>
          </p:cNvPr>
          <p:cNvSpPr/>
          <p:nvPr/>
        </p:nvSpPr>
        <p:spPr>
          <a:xfrm>
            <a:off x="1553876" y="600964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3" name="Rechteck: abgerundete Ecken 112">
            <a:extLst>
              <a:ext uri="{FF2B5EF4-FFF2-40B4-BE49-F238E27FC236}">
                <a16:creationId xmlns:a16="http://schemas.microsoft.com/office/drawing/2014/main" id="{8ED5E6A2-B343-466B-3F49-E6F88C252AC3}"/>
              </a:ext>
            </a:extLst>
          </p:cNvPr>
          <p:cNvSpPr/>
          <p:nvPr/>
        </p:nvSpPr>
        <p:spPr>
          <a:xfrm>
            <a:off x="1544400" y="5402422"/>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6" name="Freihandform: Form 115">
            <a:extLst>
              <a:ext uri="{FF2B5EF4-FFF2-40B4-BE49-F238E27FC236}">
                <a16:creationId xmlns:a16="http://schemas.microsoft.com/office/drawing/2014/main" id="{0903D013-409E-A33C-8CBD-388126D12805}"/>
              </a:ext>
            </a:extLst>
          </p:cNvPr>
          <p:cNvSpPr/>
          <p:nvPr/>
        </p:nvSpPr>
        <p:spPr>
          <a:xfrm>
            <a:off x="462368" y="4469733"/>
            <a:ext cx="1085354" cy="998877"/>
          </a:xfrm>
          <a:custGeom>
            <a:avLst/>
            <a:gdLst>
              <a:gd name="csX0" fmla="*/ 1085354 w 1085354"/>
              <a:gd name="csY0" fmla="*/ 998877 h 998877"/>
              <a:gd name="csX1" fmla="*/ 420012 w 1085354"/>
              <a:gd name="csY1" fmla="*/ 902812 h 998877"/>
              <a:gd name="csX2" fmla="*/ 110468 w 1085354"/>
              <a:gd name="csY2" fmla="*/ 806746 h 998877"/>
              <a:gd name="csX3" fmla="*/ 122 w 1085354"/>
              <a:gd name="csY3" fmla="*/ 537872 h 998877"/>
              <a:gd name="csX4" fmla="*/ 95248 w 1085354"/>
              <a:gd name="csY4" fmla="*/ 195288 h 998877"/>
              <a:gd name="csX5" fmla="*/ 362195 w 1085354"/>
              <a:gd name="csY5" fmla="*/ 59552 h 998877"/>
              <a:gd name="csX6" fmla="*/ 652024 w 1085354"/>
              <a:gd name="csY6" fmla="*/ 0 h 99887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5354" h="998877">
                <a:moveTo>
                  <a:pt x="1085354" y="998877"/>
                </a:moveTo>
                <a:cubicBezTo>
                  <a:pt x="833923" y="966855"/>
                  <a:pt x="582493" y="934834"/>
                  <a:pt x="420012" y="902812"/>
                </a:cubicBezTo>
                <a:cubicBezTo>
                  <a:pt x="257531" y="870790"/>
                  <a:pt x="180450" y="867569"/>
                  <a:pt x="110468" y="806746"/>
                </a:cubicBezTo>
                <a:cubicBezTo>
                  <a:pt x="40486" y="745923"/>
                  <a:pt x="2659" y="639782"/>
                  <a:pt x="122" y="537872"/>
                </a:cubicBezTo>
                <a:cubicBezTo>
                  <a:pt x="-2415" y="435962"/>
                  <a:pt x="34903" y="275008"/>
                  <a:pt x="95248" y="195288"/>
                </a:cubicBezTo>
                <a:cubicBezTo>
                  <a:pt x="155593" y="115568"/>
                  <a:pt x="362195" y="59552"/>
                  <a:pt x="362195" y="59552"/>
                </a:cubicBezTo>
                <a:lnTo>
                  <a:pt x="652024" y="0"/>
                </a:lnTo>
              </a:path>
            </a:pathLst>
          </a:custGeom>
          <a:noFill/>
          <a:ln w="25400">
            <a:solidFill>
              <a:srgbClr val="00B0F0"/>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18" name="Rechteck: abgerundete Ecken 117">
            <a:extLst>
              <a:ext uri="{FF2B5EF4-FFF2-40B4-BE49-F238E27FC236}">
                <a16:creationId xmlns:a16="http://schemas.microsoft.com/office/drawing/2014/main" id="{82D8FA3B-858B-9BE5-C933-DFD5FE58E552}"/>
              </a:ext>
            </a:extLst>
          </p:cNvPr>
          <p:cNvSpPr/>
          <p:nvPr/>
        </p:nvSpPr>
        <p:spPr>
          <a:xfrm>
            <a:off x="1113349" y="5022326"/>
            <a:ext cx="972000" cy="1218454"/>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25" name="Verbinder: gekrümmt 124">
            <a:extLst>
              <a:ext uri="{FF2B5EF4-FFF2-40B4-BE49-F238E27FC236}">
                <a16:creationId xmlns:a16="http://schemas.microsoft.com/office/drawing/2014/main" id="{8945656D-094C-800B-6B92-47D667152D0C}"/>
              </a:ext>
            </a:extLst>
          </p:cNvPr>
          <p:cNvCxnSpPr>
            <a:stCxn id="11" idx="3"/>
            <a:endCxn id="108" idx="3"/>
          </p:cNvCxnSpPr>
          <p:nvPr/>
        </p:nvCxnSpPr>
        <p:spPr>
          <a:xfrm>
            <a:off x="2014813" y="2266575"/>
            <a:ext cx="8963" cy="3806572"/>
          </a:xfrm>
          <a:prstGeom prst="curvedConnector3">
            <a:avLst>
              <a:gd name="adj1" fmla="val 16849916"/>
            </a:avLst>
          </a:prstGeom>
          <a:noFill/>
          <a:ln w="25400" cap="sq" cmpd="sng" algn="ctr">
            <a:solidFill>
              <a:srgbClr val="00B0F0"/>
            </a:solidFill>
            <a:prstDash val="solid"/>
            <a:miter lim="800000"/>
            <a:headEnd type="oval"/>
            <a:tailEnd type="oval"/>
          </a:ln>
          <a:effectLst/>
        </p:spPr>
      </p:cxnSp>
      <p:sp>
        <p:nvSpPr>
          <p:cNvPr id="130" name="Rechteck: abgerundete Ecken 129">
            <a:extLst>
              <a:ext uri="{FF2B5EF4-FFF2-40B4-BE49-F238E27FC236}">
                <a16:creationId xmlns:a16="http://schemas.microsoft.com/office/drawing/2014/main" id="{7A93460F-D5D2-2327-EB6A-CA71DBE0044F}"/>
              </a:ext>
            </a:extLst>
          </p:cNvPr>
          <p:cNvSpPr/>
          <p:nvPr/>
        </p:nvSpPr>
        <p:spPr>
          <a:xfrm>
            <a:off x="1113349" y="1987753"/>
            <a:ext cx="972000" cy="19869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2" name="Freihandform: Form 141">
            <a:extLst>
              <a:ext uri="{FF2B5EF4-FFF2-40B4-BE49-F238E27FC236}">
                <a16:creationId xmlns:a16="http://schemas.microsoft.com/office/drawing/2014/main" id="{71145F72-13DC-BDC6-3979-608D5A3574C7}"/>
              </a:ext>
            </a:extLst>
          </p:cNvPr>
          <p:cNvSpPr/>
          <p:nvPr/>
        </p:nvSpPr>
        <p:spPr>
          <a:xfrm>
            <a:off x="2023051" y="4557787"/>
            <a:ext cx="592489" cy="1056534"/>
          </a:xfrm>
          <a:custGeom>
            <a:avLst/>
            <a:gdLst>
              <a:gd name="csX0" fmla="*/ 4738 w 592489"/>
              <a:gd name="csY0" fmla="*/ 1056534 h 1056534"/>
              <a:gd name="csX1" fmla="*/ 416928 w 592489"/>
              <a:gd name="csY1" fmla="*/ 867021 h 1056534"/>
              <a:gd name="csX2" fmla="*/ 592228 w 592489"/>
              <a:gd name="csY2" fmla="*/ 464306 h 1056534"/>
              <a:gd name="csX3" fmla="*/ 383764 w 592489"/>
              <a:gd name="csY3" fmla="*/ 99494 h 1056534"/>
              <a:gd name="csX4" fmla="*/ 0 w 592489"/>
              <a:gd name="csY4" fmla="*/ 0 h 1056534"/>
            </a:gdLst>
            <a:ahLst/>
            <a:cxnLst>
              <a:cxn ang="0">
                <a:pos x="csX0" y="csY0"/>
              </a:cxn>
              <a:cxn ang="0">
                <a:pos x="csX1" y="csY1"/>
              </a:cxn>
              <a:cxn ang="0">
                <a:pos x="csX2" y="csY2"/>
              </a:cxn>
              <a:cxn ang="0">
                <a:pos x="csX3" y="csY3"/>
              </a:cxn>
              <a:cxn ang="0">
                <a:pos x="csX4" y="csY4"/>
              </a:cxn>
            </a:cxnLst>
            <a:rect l="l" t="t" r="r" b="b"/>
            <a:pathLst>
              <a:path w="592489" h="1056534">
                <a:moveTo>
                  <a:pt x="4738" y="1056534"/>
                </a:moveTo>
                <a:cubicBezTo>
                  <a:pt x="161875" y="1011130"/>
                  <a:pt x="319013" y="965726"/>
                  <a:pt x="416928" y="867021"/>
                </a:cubicBezTo>
                <a:cubicBezTo>
                  <a:pt x="514843" y="768316"/>
                  <a:pt x="597755" y="592227"/>
                  <a:pt x="592228" y="464306"/>
                </a:cubicBezTo>
                <a:cubicBezTo>
                  <a:pt x="586701" y="336385"/>
                  <a:pt x="482469" y="176878"/>
                  <a:pt x="383764" y="99494"/>
                </a:cubicBezTo>
                <a:cubicBezTo>
                  <a:pt x="285059" y="22110"/>
                  <a:pt x="142529" y="11055"/>
                  <a:pt x="0" y="0"/>
                </a:cubicBezTo>
              </a:path>
            </a:pathLst>
          </a:custGeom>
          <a:noFill/>
          <a:ln w="25400">
            <a:solidFill>
              <a:srgbClr val="00B0F0"/>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44" name="Verbinder: gekrümmt 143">
            <a:extLst>
              <a:ext uri="{FF2B5EF4-FFF2-40B4-BE49-F238E27FC236}">
                <a16:creationId xmlns:a16="http://schemas.microsoft.com/office/drawing/2014/main" id="{2FDCC8CF-867A-C26B-DBBC-3CE58E522FDF}"/>
              </a:ext>
            </a:extLst>
          </p:cNvPr>
          <p:cNvCxnSpPr>
            <a:stCxn id="13" idx="3"/>
            <a:endCxn id="108" idx="3"/>
          </p:cNvCxnSpPr>
          <p:nvPr/>
        </p:nvCxnSpPr>
        <p:spPr>
          <a:xfrm>
            <a:off x="2014813" y="4704975"/>
            <a:ext cx="8963" cy="1368172"/>
          </a:xfrm>
          <a:prstGeom prst="curvedConnector3">
            <a:avLst>
              <a:gd name="adj1" fmla="val 5822080"/>
            </a:avLst>
          </a:prstGeom>
          <a:noFill/>
          <a:ln w="25400" cap="sq" cmpd="sng" algn="ctr">
            <a:solidFill>
              <a:srgbClr val="00B0F0"/>
            </a:solidFill>
            <a:prstDash val="solid"/>
            <a:miter lim="800000"/>
            <a:headEnd type="oval"/>
            <a:tailEnd type="oval"/>
          </a:ln>
          <a:effectLst/>
        </p:spPr>
      </p:cxnSp>
      <p:sp>
        <p:nvSpPr>
          <p:cNvPr id="147" name="Textfeld 146">
            <a:extLst>
              <a:ext uri="{FF2B5EF4-FFF2-40B4-BE49-F238E27FC236}">
                <a16:creationId xmlns:a16="http://schemas.microsoft.com/office/drawing/2014/main" id="{F27913B2-37B1-5379-F55D-C0A627A2D7DC}"/>
              </a:ext>
            </a:extLst>
          </p:cNvPr>
          <p:cNvSpPr txBox="1"/>
          <p:nvPr/>
        </p:nvSpPr>
        <p:spPr>
          <a:xfrm>
            <a:off x="9378903" y="2383699"/>
            <a:ext cx="2706190" cy="738664"/>
          </a:xfrm>
          <a:prstGeom prst="rect">
            <a:avLst/>
          </a:prstGeom>
          <a:noFill/>
        </p:spPr>
        <p:txBody>
          <a:bodyPr wrap="square" rtlCol="0">
            <a:spAutoFit/>
          </a:bodyPr>
          <a:lstStyle/>
          <a:p>
            <a:r>
              <a:rPr lang="en-US" sz="1400" dirty="0"/>
              <a:t>The remaining tuple define edges of a directed graph forming an </a:t>
            </a:r>
            <a:r>
              <a:rPr lang="en-US" sz="1400" dirty="0">
                <a:solidFill>
                  <a:srgbClr val="00B0F0"/>
                </a:solidFill>
              </a:rPr>
              <a:t>Intransitive Similarity Network</a:t>
            </a:r>
            <a:r>
              <a:rPr lang="en-US" sz="1400" dirty="0"/>
              <a:t>.</a:t>
            </a:r>
            <a:endParaRPr lang="en-US" sz="1400" noProof="0" dirty="0">
              <a:solidFill>
                <a:srgbClr val="00B0F0"/>
              </a:solidFill>
            </a:endParaRPr>
          </a:p>
        </p:txBody>
      </p:sp>
      <p:sp>
        <p:nvSpPr>
          <p:cNvPr id="148" name="Textfeld 147">
            <a:extLst>
              <a:ext uri="{FF2B5EF4-FFF2-40B4-BE49-F238E27FC236}">
                <a16:creationId xmlns:a16="http://schemas.microsoft.com/office/drawing/2014/main" id="{85B54FBE-8626-2DFD-5E2E-A9327CD22621}"/>
              </a:ext>
            </a:extLst>
          </p:cNvPr>
          <p:cNvSpPr txBox="1"/>
          <p:nvPr/>
        </p:nvSpPr>
        <p:spPr>
          <a:xfrm>
            <a:off x="9378902" y="3215830"/>
            <a:ext cx="2813097" cy="2108269"/>
          </a:xfrm>
          <a:prstGeom prst="rect">
            <a:avLst/>
          </a:prstGeom>
          <a:noFill/>
        </p:spPr>
        <p:txBody>
          <a:bodyPr wrap="square" rtlCol="0">
            <a:spAutoFit/>
          </a:bodyPr>
          <a:lstStyle/>
          <a:p>
            <a:pPr>
              <a:spcAft>
                <a:spcPts val="600"/>
              </a:spcAft>
            </a:pPr>
            <a:r>
              <a:rPr lang="en-US" sz="1400" dirty="0"/>
              <a:t>The  </a:t>
            </a:r>
            <a:r>
              <a:rPr lang="en-US" sz="1400" dirty="0" err="1"/>
              <a:t>SearchEngine</a:t>
            </a:r>
            <a:r>
              <a:rPr lang="en-US" sz="1400" dirty="0"/>
              <a:t> provides to methods to handle these networks:</a:t>
            </a:r>
            <a:endParaRPr lang="en-US" sz="1400" dirty="0">
              <a:solidFill>
                <a:srgbClr val="00B0F0"/>
              </a:solidFill>
            </a:endParaRPr>
          </a:p>
          <a:p>
            <a:pPr marL="180000" indent="-180000">
              <a:buFont typeface="+mj-lt"/>
              <a:buAutoNum type="arabicPeriod"/>
            </a:pPr>
            <a:r>
              <a:rPr lang="en-US" sz="1400" dirty="0">
                <a:solidFill>
                  <a:srgbClr val="00B0F0"/>
                </a:solidFill>
              </a:rPr>
              <a:t>SEML based Traversal</a:t>
            </a:r>
            <a:r>
              <a:rPr lang="en-US" sz="1400" dirty="0"/>
              <a:t> </a:t>
            </a:r>
            <a:br>
              <a:rPr lang="en-US" sz="1400" dirty="0"/>
            </a:br>
            <a:r>
              <a:rPr lang="en-US" sz="1400" dirty="0"/>
              <a:t>ML identifies false edges</a:t>
            </a:r>
            <a:br>
              <a:rPr lang="en-US" sz="1400" dirty="0"/>
            </a:br>
            <a:r>
              <a:rPr lang="en-US" sz="1400" dirty="0"/>
              <a:t>Recursive traversal of valid edges</a:t>
            </a:r>
          </a:p>
          <a:p>
            <a:pPr marL="180000" indent="-180000">
              <a:buFont typeface="+mj-lt"/>
              <a:buAutoNum type="arabicPeriod"/>
            </a:pPr>
            <a:r>
              <a:rPr lang="en-US" sz="1400" dirty="0">
                <a:solidFill>
                  <a:srgbClr val="00B0F0"/>
                </a:solidFill>
              </a:rPr>
              <a:t>Nested Cascaded Traversal</a:t>
            </a:r>
            <a:br>
              <a:rPr lang="en-US" sz="1400" dirty="0">
                <a:solidFill>
                  <a:srgbClr val="00B0F0"/>
                </a:solidFill>
              </a:rPr>
            </a:br>
            <a:r>
              <a:rPr lang="en-US" sz="1400" dirty="0"/>
              <a:t>Rule-based traversal using arbitrary thresholds</a:t>
            </a:r>
            <a:br>
              <a:rPr lang="en-US" sz="1400" dirty="0"/>
            </a:br>
            <a:endParaRPr lang="en-US" sz="1400" dirty="0"/>
          </a:p>
        </p:txBody>
      </p:sp>
    </p:spTree>
    <p:extLst>
      <p:ext uri="{BB962C8B-B14F-4D97-AF65-F5344CB8AC3E}">
        <p14:creationId xmlns:p14="http://schemas.microsoft.com/office/powerpoint/2010/main" val="3686394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par>
                          <p:cTn id="11" fill="hold">
                            <p:stCondLst>
                              <p:cond delay="0"/>
                            </p:stCondLst>
                            <p:childTnLst>
                              <p:par>
                                <p:cTn id="12" presetID="22" presetClass="entr" presetSubtype="1" fill="hold" nodeType="after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up)">
                                      <p:cBhvr>
                                        <p:cTn id="14" dur="500"/>
                                        <p:tgtEl>
                                          <p:spTgt spid="18"/>
                                        </p:tgtEl>
                                      </p:cBhvr>
                                    </p:animEffect>
                                  </p:childTnLst>
                                </p:cTn>
                              </p:par>
                            </p:childTnLst>
                          </p:cTn>
                        </p:par>
                        <p:par>
                          <p:cTn id="15" fill="hold">
                            <p:stCondLst>
                              <p:cond delay="500"/>
                            </p:stCondLst>
                            <p:childTnLst>
                              <p:par>
                                <p:cTn id="16" presetID="1" presetClass="entr" presetSubtype="0" fill="hold" grpId="0" nodeType="after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125"/>
                                        </p:tgtEl>
                                        <p:attrNameLst>
                                          <p:attrName>style.visibility</p:attrName>
                                        </p:attrNameLst>
                                      </p:cBhvr>
                                      <p:to>
                                        <p:strVal val="visible"/>
                                      </p:to>
                                    </p:set>
                                    <p:animEffect transition="in" filter="wipe(up)">
                                      <p:cBhvr>
                                        <p:cTn id="21" dur="500"/>
                                        <p:tgtEl>
                                          <p:spTgt spid="125"/>
                                        </p:tgtEl>
                                      </p:cBhvr>
                                    </p:animEffect>
                                  </p:childTnLst>
                                </p:cTn>
                              </p:par>
                              <p:par>
                                <p:cTn id="22" presetID="22" presetClass="entr" presetSubtype="1" fill="hold" nodeType="withEffect">
                                  <p:stCondLst>
                                    <p:cond delay="0"/>
                                  </p:stCondLst>
                                  <p:childTnLst>
                                    <p:set>
                                      <p:cBhvr>
                                        <p:cTn id="23" dur="1" fill="hold">
                                          <p:stCondLst>
                                            <p:cond delay="0"/>
                                          </p:stCondLst>
                                        </p:cTn>
                                        <p:tgtEl>
                                          <p:spTgt spid="144"/>
                                        </p:tgtEl>
                                        <p:attrNameLst>
                                          <p:attrName>style.visibility</p:attrName>
                                        </p:attrNameLst>
                                      </p:cBhvr>
                                      <p:to>
                                        <p:strVal val="visible"/>
                                      </p:to>
                                    </p:set>
                                    <p:animEffect transition="in" filter="wipe(up)">
                                      <p:cBhvr>
                                        <p:cTn id="24" dur="500"/>
                                        <p:tgtEl>
                                          <p:spTgt spid="144"/>
                                        </p:tgtEl>
                                      </p:cBhvr>
                                    </p:animEffect>
                                  </p:childTnLst>
                                </p:cTn>
                              </p:par>
                            </p:childTnLst>
                          </p:cTn>
                        </p:par>
                        <p:par>
                          <p:cTn id="25" fill="hold">
                            <p:stCondLst>
                              <p:cond delay="1000"/>
                            </p:stCondLst>
                            <p:childTnLst>
                              <p:par>
                                <p:cTn id="26" presetID="1" presetClass="entr" presetSubtype="0" fill="hold" grpId="0" nodeType="afterEffect">
                                  <p:stCondLst>
                                    <p:cond delay="0"/>
                                  </p:stCondLst>
                                  <p:childTnLst>
                                    <p:set>
                                      <p:cBhvr>
                                        <p:cTn id="27" dur="1" fill="hold">
                                          <p:stCondLst>
                                            <p:cond delay="0"/>
                                          </p:stCondLst>
                                        </p:cTn>
                                        <p:tgtEl>
                                          <p:spTgt spid="108"/>
                                        </p:tgtEl>
                                        <p:attrNameLst>
                                          <p:attrName>style.visibility</p:attrName>
                                        </p:attrNameLst>
                                      </p:cBhvr>
                                      <p:to>
                                        <p:strVal val="visible"/>
                                      </p:to>
                                    </p:set>
                                  </p:childTnLst>
                                </p:cTn>
                              </p:par>
                            </p:childTnLst>
                          </p:cTn>
                        </p:par>
                        <p:par>
                          <p:cTn id="28" fill="hold">
                            <p:stCondLst>
                              <p:cond delay="1000"/>
                            </p:stCondLst>
                            <p:childTnLst>
                              <p:par>
                                <p:cTn id="29" presetID="1" presetClass="entr" presetSubtype="0" fill="hold" grpId="0" nodeType="after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childTnLst>
                          </p:cTn>
                        </p:par>
                        <p:par>
                          <p:cTn id="31" fill="hold">
                            <p:stCondLst>
                              <p:cond delay="1000"/>
                            </p:stCondLst>
                            <p:childTnLst>
                              <p:par>
                                <p:cTn id="32" presetID="22" presetClass="entr" presetSubtype="1" fill="hold" nodeType="after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wipe(up)">
                                      <p:cBhvr>
                                        <p:cTn id="34" dur="500"/>
                                        <p:tgtEl>
                                          <p:spTgt spid="64"/>
                                        </p:tgtEl>
                                      </p:cBhvr>
                                    </p:animEffect>
                                  </p:childTnLst>
                                </p:cTn>
                              </p:par>
                            </p:childTnLst>
                          </p:cTn>
                        </p:par>
                        <p:par>
                          <p:cTn id="35" fill="hold">
                            <p:stCondLst>
                              <p:cond delay="1500"/>
                            </p:stCondLst>
                            <p:childTnLst>
                              <p:par>
                                <p:cTn id="36" presetID="1" presetClass="entr" presetSubtype="0" fill="hold" grpId="0" nodeType="after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childTnLst>
                          </p:cTn>
                        </p:par>
                        <p:par>
                          <p:cTn id="38" fill="hold">
                            <p:stCondLst>
                              <p:cond delay="1500"/>
                            </p:stCondLst>
                            <p:childTnLst>
                              <p:par>
                                <p:cTn id="39" presetID="22" presetClass="entr" presetSubtype="1"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up)">
                                      <p:cBhvr>
                                        <p:cTn id="41" dur="500"/>
                                        <p:tgtEl>
                                          <p:spTgt spid="72"/>
                                        </p:tgtEl>
                                      </p:cBhvr>
                                    </p:animEffect>
                                  </p:childTnLst>
                                </p:cTn>
                              </p:par>
                              <p:par>
                                <p:cTn id="42" presetID="22" presetClass="entr" presetSubtype="1" fill="hold" nodeType="withEffect">
                                  <p:stCondLst>
                                    <p:cond delay="0"/>
                                  </p:stCondLst>
                                  <p:childTnLst>
                                    <p:set>
                                      <p:cBhvr>
                                        <p:cTn id="43" dur="1" fill="hold">
                                          <p:stCondLst>
                                            <p:cond delay="0"/>
                                          </p:stCondLst>
                                        </p:cTn>
                                        <p:tgtEl>
                                          <p:spTgt spid="75"/>
                                        </p:tgtEl>
                                        <p:attrNameLst>
                                          <p:attrName>style.visibility</p:attrName>
                                        </p:attrNameLst>
                                      </p:cBhvr>
                                      <p:to>
                                        <p:strVal val="visible"/>
                                      </p:to>
                                    </p:set>
                                    <p:animEffect transition="in" filter="wipe(up)">
                                      <p:cBhvr>
                                        <p:cTn id="44" dur="500"/>
                                        <p:tgtEl>
                                          <p:spTgt spid="75"/>
                                        </p:tgtEl>
                                      </p:cBhvr>
                                    </p:animEffect>
                                  </p:childTnLst>
                                </p:cTn>
                              </p:par>
                            </p:childTnLst>
                          </p:cTn>
                        </p:par>
                        <p:par>
                          <p:cTn id="45" fill="hold">
                            <p:stCondLst>
                              <p:cond delay="2000"/>
                            </p:stCondLst>
                            <p:childTnLst>
                              <p:par>
                                <p:cTn id="46" presetID="1" presetClass="entr" presetSubtype="0" fill="hold" grpId="0" nodeType="afterEffect">
                                  <p:stCondLst>
                                    <p:cond delay="0"/>
                                  </p:stCondLst>
                                  <p:childTnLst>
                                    <p:set>
                                      <p:cBhvr>
                                        <p:cTn id="47" dur="1" fill="hold">
                                          <p:stCondLst>
                                            <p:cond delay="0"/>
                                          </p:stCondLst>
                                        </p:cTn>
                                        <p:tgtEl>
                                          <p:spTgt spid="68"/>
                                        </p:tgtEl>
                                        <p:attrNameLst>
                                          <p:attrName>style.visibility</p:attrName>
                                        </p:attrNameLst>
                                      </p:cBhvr>
                                      <p:to>
                                        <p:strVal val="visible"/>
                                      </p:to>
                                    </p:set>
                                  </p:childTnLst>
                                </p:cTn>
                              </p:par>
                            </p:childTnLst>
                          </p:cTn>
                        </p:par>
                        <p:par>
                          <p:cTn id="48" fill="hold">
                            <p:stCondLst>
                              <p:cond delay="2000"/>
                            </p:stCondLst>
                            <p:childTnLst>
                              <p:par>
                                <p:cTn id="49" presetID="1" presetClass="entr" presetSubtype="0" fill="hold" grpId="0" nodeType="afterEffect">
                                  <p:stCondLst>
                                    <p:cond delay="0"/>
                                  </p:stCondLst>
                                  <p:childTnLst>
                                    <p:set>
                                      <p:cBhvr>
                                        <p:cTn id="50" dur="1" fill="hold">
                                          <p:stCondLst>
                                            <p:cond delay="0"/>
                                          </p:stCondLst>
                                        </p:cTn>
                                        <p:tgtEl>
                                          <p:spTgt spid="40"/>
                                        </p:tgtEl>
                                        <p:attrNameLst>
                                          <p:attrName>style.visibility</p:attrName>
                                        </p:attrNameLst>
                                      </p:cBhvr>
                                      <p:to>
                                        <p:strVal val="visible"/>
                                      </p:to>
                                    </p:set>
                                  </p:childTnLst>
                                </p:cTn>
                              </p:par>
                            </p:childTnLst>
                          </p:cTn>
                        </p:par>
                        <p:par>
                          <p:cTn id="51" fill="hold">
                            <p:stCondLst>
                              <p:cond delay="2000"/>
                            </p:stCondLst>
                            <p:childTnLst>
                              <p:par>
                                <p:cTn id="52" presetID="22" presetClass="entr" presetSubtype="1" fill="hold" nodeType="afterEffect">
                                  <p:stCondLst>
                                    <p:cond delay="0"/>
                                  </p:stCondLst>
                                  <p:childTnLst>
                                    <p:set>
                                      <p:cBhvr>
                                        <p:cTn id="53" dur="1" fill="hold">
                                          <p:stCondLst>
                                            <p:cond delay="0"/>
                                          </p:stCondLst>
                                        </p:cTn>
                                        <p:tgtEl>
                                          <p:spTgt spid="46"/>
                                        </p:tgtEl>
                                        <p:attrNameLst>
                                          <p:attrName>style.visibility</p:attrName>
                                        </p:attrNameLst>
                                      </p:cBhvr>
                                      <p:to>
                                        <p:strVal val="visible"/>
                                      </p:to>
                                    </p:set>
                                    <p:animEffect transition="in" filter="wipe(up)">
                                      <p:cBhvr>
                                        <p:cTn id="54" dur="500"/>
                                        <p:tgtEl>
                                          <p:spTgt spid="46"/>
                                        </p:tgtEl>
                                      </p:cBhvr>
                                    </p:animEffect>
                                  </p:childTnLst>
                                </p:cTn>
                              </p:par>
                            </p:childTnLst>
                          </p:cTn>
                        </p:par>
                        <p:par>
                          <p:cTn id="55" fill="hold">
                            <p:stCondLst>
                              <p:cond delay="2500"/>
                            </p:stCondLst>
                            <p:childTnLst>
                              <p:par>
                                <p:cTn id="56" presetID="1" presetClass="entr" presetSubtype="0" fill="hold" grpId="0" nodeType="afterEffect">
                                  <p:stCondLst>
                                    <p:cond delay="0"/>
                                  </p:stCondLst>
                                  <p:childTnLst>
                                    <p:set>
                                      <p:cBhvr>
                                        <p:cTn id="57" dur="1" fill="hold">
                                          <p:stCondLst>
                                            <p:cond delay="0"/>
                                          </p:stCondLst>
                                        </p:cTn>
                                        <p:tgtEl>
                                          <p:spTgt spid="44"/>
                                        </p:tgtEl>
                                        <p:attrNameLst>
                                          <p:attrName>style.visibility</p:attrName>
                                        </p:attrNameLst>
                                      </p:cBhvr>
                                      <p:to>
                                        <p:strVal val="visible"/>
                                      </p:to>
                                    </p:set>
                                  </p:childTnLst>
                                </p:cTn>
                              </p:par>
                            </p:childTnLst>
                          </p:cTn>
                        </p:par>
                        <p:par>
                          <p:cTn id="58" fill="hold">
                            <p:stCondLst>
                              <p:cond delay="2500"/>
                            </p:stCondLst>
                            <p:childTnLst>
                              <p:par>
                                <p:cTn id="59" presetID="22" presetClass="entr" presetSubtype="1" fill="hold" grpId="0" nodeType="afterEffect">
                                  <p:stCondLst>
                                    <p:cond delay="0"/>
                                  </p:stCondLst>
                                  <p:childTnLst>
                                    <p:set>
                                      <p:cBhvr>
                                        <p:cTn id="60" dur="1" fill="hold">
                                          <p:stCondLst>
                                            <p:cond delay="0"/>
                                          </p:stCondLst>
                                        </p:cTn>
                                        <p:tgtEl>
                                          <p:spTgt spid="142"/>
                                        </p:tgtEl>
                                        <p:attrNameLst>
                                          <p:attrName>style.visibility</p:attrName>
                                        </p:attrNameLst>
                                      </p:cBhvr>
                                      <p:to>
                                        <p:strVal val="visible"/>
                                      </p:to>
                                    </p:set>
                                    <p:animEffect transition="in" filter="wipe(up)">
                                      <p:cBhvr>
                                        <p:cTn id="61" dur="500"/>
                                        <p:tgtEl>
                                          <p:spTgt spid="142"/>
                                        </p:tgtEl>
                                      </p:cBhvr>
                                    </p:animEffect>
                                  </p:childTnLst>
                                </p:cTn>
                              </p:par>
                              <p:par>
                                <p:cTn id="62" presetID="22" presetClass="entr" presetSubtype="1" fill="hold" grpId="0" nodeType="withEffect">
                                  <p:stCondLst>
                                    <p:cond delay="0"/>
                                  </p:stCondLst>
                                  <p:childTnLst>
                                    <p:set>
                                      <p:cBhvr>
                                        <p:cTn id="63" dur="1" fill="hold">
                                          <p:stCondLst>
                                            <p:cond delay="0"/>
                                          </p:stCondLst>
                                        </p:cTn>
                                        <p:tgtEl>
                                          <p:spTgt spid="106"/>
                                        </p:tgtEl>
                                        <p:attrNameLst>
                                          <p:attrName>style.visibility</p:attrName>
                                        </p:attrNameLst>
                                      </p:cBhvr>
                                      <p:to>
                                        <p:strVal val="visible"/>
                                      </p:to>
                                    </p:set>
                                    <p:animEffect transition="in" filter="wipe(up)">
                                      <p:cBhvr>
                                        <p:cTn id="64" dur="500"/>
                                        <p:tgtEl>
                                          <p:spTgt spid="106"/>
                                        </p:tgtEl>
                                      </p:cBhvr>
                                    </p:animEffect>
                                  </p:childTnLst>
                                </p:cTn>
                              </p:par>
                            </p:childTnLst>
                          </p:cTn>
                        </p:par>
                        <p:par>
                          <p:cTn id="65" fill="hold">
                            <p:stCondLst>
                              <p:cond delay="3000"/>
                            </p:stCondLst>
                            <p:childTnLst>
                              <p:par>
                                <p:cTn id="66" presetID="1" presetClass="entr" presetSubtype="0" fill="hold" grpId="0" nodeType="afterEffect">
                                  <p:stCondLst>
                                    <p:cond delay="0"/>
                                  </p:stCondLst>
                                  <p:childTnLst>
                                    <p:set>
                                      <p:cBhvr>
                                        <p:cTn id="67" dur="1" fill="hold">
                                          <p:stCondLst>
                                            <p:cond delay="0"/>
                                          </p:stCondLst>
                                        </p:cTn>
                                        <p:tgtEl>
                                          <p:spTgt spid="82"/>
                                        </p:tgtEl>
                                        <p:attrNameLst>
                                          <p:attrName>style.visibility</p:attrName>
                                        </p:attrNameLst>
                                      </p:cBhvr>
                                      <p:to>
                                        <p:strVal val="visible"/>
                                      </p:to>
                                    </p:set>
                                  </p:childTnLst>
                                </p:cTn>
                              </p:par>
                            </p:childTnLst>
                          </p:cTn>
                        </p:par>
                        <p:par>
                          <p:cTn id="68" fill="hold">
                            <p:stCondLst>
                              <p:cond delay="3000"/>
                            </p:stCondLst>
                            <p:childTnLst>
                              <p:par>
                                <p:cTn id="69" presetID="1" presetClass="entr" presetSubtype="0"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1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18"/>
                                        </p:tgtEl>
                                        <p:attrNameLst>
                                          <p:attrName>style.visibility</p:attrName>
                                        </p:attrNameLst>
                                      </p:cBhvr>
                                      <p:to>
                                        <p:strVal val="visible"/>
                                      </p:to>
                                    </p:set>
                                  </p:childTnLst>
                                </p:cTn>
                              </p:par>
                            </p:childTnLst>
                          </p:cTn>
                        </p:par>
                        <p:par>
                          <p:cTn id="77" fill="hold">
                            <p:stCondLst>
                              <p:cond delay="3000"/>
                            </p:stCondLst>
                            <p:childTnLst>
                              <p:par>
                                <p:cTn id="78" presetID="22" presetClass="entr" presetSubtype="1" fill="hold" nodeType="after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wipe(up)">
                                      <p:cBhvr>
                                        <p:cTn id="80" dur="500"/>
                                        <p:tgtEl>
                                          <p:spTgt spid="37"/>
                                        </p:tgtEl>
                                      </p:cBhvr>
                                    </p:animEffect>
                                  </p:childTnLst>
                                </p:cTn>
                              </p:par>
                              <p:par>
                                <p:cTn id="81" presetID="22" presetClass="entr" presetSubtype="4" fill="hold" grpId="0" nodeType="withEffect">
                                  <p:stCondLst>
                                    <p:cond delay="0"/>
                                  </p:stCondLst>
                                  <p:childTnLst>
                                    <p:set>
                                      <p:cBhvr>
                                        <p:cTn id="82" dur="1" fill="hold">
                                          <p:stCondLst>
                                            <p:cond delay="0"/>
                                          </p:stCondLst>
                                        </p:cTn>
                                        <p:tgtEl>
                                          <p:spTgt spid="116"/>
                                        </p:tgtEl>
                                        <p:attrNameLst>
                                          <p:attrName>style.visibility</p:attrName>
                                        </p:attrNameLst>
                                      </p:cBhvr>
                                      <p:to>
                                        <p:strVal val="visible"/>
                                      </p:to>
                                    </p:set>
                                    <p:animEffect transition="in" filter="wipe(down)">
                                      <p:cBhvr>
                                        <p:cTn id="83" dur="500"/>
                                        <p:tgtEl>
                                          <p:spTgt spid="116"/>
                                        </p:tgtEl>
                                      </p:cBhvr>
                                    </p:animEffect>
                                  </p:childTnLst>
                                </p:cTn>
                              </p:par>
                            </p:childTnLst>
                          </p:cTn>
                        </p:par>
                        <p:par>
                          <p:cTn id="84" fill="hold">
                            <p:stCondLst>
                              <p:cond delay="3500"/>
                            </p:stCondLst>
                            <p:childTnLst>
                              <p:par>
                                <p:cTn id="85" presetID="1" presetClass="entr" presetSubtype="0" fill="hold" grpId="0" nodeType="afterEffect">
                                  <p:stCondLst>
                                    <p:cond delay="0"/>
                                  </p:stCondLst>
                                  <p:childTnLst>
                                    <p:set>
                                      <p:cBhvr>
                                        <p:cTn id="86" dur="1" fill="hold">
                                          <p:stCondLst>
                                            <p:cond delay="0"/>
                                          </p:stCondLst>
                                        </p:cTn>
                                        <p:tgtEl>
                                          <p:spTgt spid="28"/>
                                        </p:tgtEl>
                                        <p:attrNameLst>
                                          <p:attrName>style.visibility</p:attrName>
                                        </p:attrNameLst>
                                      </p:cBhvr>
                                      <p:to>
                                        <p:strVal val="visible"/>
                                      </p:to>
                                    </p:set>
                                  </p:childTnLst>
                                </p:cTn>
                              </p:par>
                            </p:childTnLst>
                          </p:cTn>
                        </p:par>
                        <p:par>
                          <p:cTn id="87" fill="hold">
                            <p:stCondLst>
                              <p:cond delay="3500"/>
                            </p:stCondLst>
                            <p:childTnLst>
                              <p:par>
                                <p:cTn id="88" presetID="1" presetClass="entr" presetSubtype="0" fill="hold" grpId="0" nodeType="afterEffect">
                                  <p:stCondLst>
                                    <p:cond delay="0"/>
                                  </p:stCondLst>
                                  <p:childTnLst>
                                    <p:set>
                                      <p:cBhvr>
                                        <p:cTn id="89" dur="1" fill="hold">
                                          <p:stCondLst>
                                            <p:cond delay="0"/>
                                          </p:stCondLst>
                                        </p:cTn>
                                        <p:tgtEl>
                                          <p:spTgt spid="53"/>
                                        </p:tgtEl>
                                        <p:attrNameLst>
                                          <p:attrName>style.visibility</p:attrName>
                                        </p:attrNameLst>
                                      </p:cBhvr>
                                      <p:to>
                                        <p:strVal val="visible"/>
                                      </p:to>
                                    </p:set>
                                  </p:childTnLst>
                                </p:cTn>
                              </p:par>
                            </p:childTnLst>
                          </p:cTn>
                        </p:par>
                        <p:par>
                          <p:cTn id="90" fill="hold">
                            <p:stCondLst>
                              <p:cond delay="3500"/>
                            </p:stCondLst>
                            <p:childTnLst>
                              <p:par>
                                <p:cTn id="91" presetID="22" presetClass="entr" presetSubtype="4" fill="hold" nodeType="afterEffect">
                                  <p:stCondLst>
                                    <p:cond delay="0"/>
                                  </p:stCondLst>
                                  <p:childTnLst>
                                    <p:set>
                                      <p:cBhvr>
                                        <p:cTn id="92" dur="1" fill="hold">
                                          <p:stCondLst>
                                            <p:cond delay="0"/>
                                          </p:stCondLst>
                                        </p:cTn>
                                        <p:tgtEl>
                                          <p:spTgt spid="8"/>
                                        </p:tgtEl>
                                        <p:attrNameLst>
                                          <p:attrName>style.visibility</p:attrName>
                                        </p:attrNameLst>
                                      </p:cBhvr>
                                      <p:to>
                                        <p:strVal val="visible"/>
                                      </p:to>
                                    </p:set>
                                    <p:animEffect transition="in" filter="wipe(down)">
                                      <p:cBhvr>
                                        <p:cTn id="93" dur="500"/>
                                        <p:tgtEl>
                                          <p:spTgt spid="8"/>
                                        </p:tgtEl>
                                      </p:cBhvr>
                                    </p:animEffect>
                                  </p:childTnLst>
                                </p:cTn>
                              </p:par>
                            </p:childTnLst>
                          </p:cTn>
                        </p:par>
                        <p:par>
                          <p:cTn id="94" fill="hold">
                            <p:stCondLst>
                              <p:cond delay="4000"/>
                            </p:stCondLst>
                            <p:childTnLst>
                              <p:par>
                                <p:cTn id="95" presetID="1" presetClass="entr" presetSubtype="0" fill="hold" grpId="0" nodeType="afterEffect">
                                  <p:stCondLst>
                                    <p:cond delay="0"/>
                                  </p:stCondLst>
                                  <p:childTnLst>
                                    <p:set>
                                      <p:cBhvr>
                                        <p:cTn id="96" dur="1" fill="hold">
                                          <p:stCondLst>
                                            <p:cond delay="0"/>
                                          </p:stCondLst>
                                        </p:cTn>
                                        <p:tgtEl>
                                          <p:spTgt spid="4"/>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1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3" grpId="0" animBg="1"/>
      <p:bldP spid="25" grpId="0" animBg="1"/>
      <p:bldP spid="28" grpId="0" animBg="1"/>
      <p:bldP spid="40" grpId="0" animBg="1"/>
      <p:bldP spid="44" grpId="0" animBg="1"/>
      <p:bldP spid="53" grpId="0" animBg="1"/>
      <p:bldP spid="58" grpId="0" animBg="1"/>
      <p:bldP spid="60" grpId="0" animBg="1"/>
      <p:bldP spid="68" grpId="0" animBg="1"/>
      <p:bldP spid="82" grpId="0" animBg="1"/>
      <p:bldP spid="106" grpId="0" animBg="1"/>
      <p:bldP spid="108" grpId="0" animBg="1"/>
      <p:bldP spid="113" grpId="0" animBg="1"/>
      <p:bldP spid="116" grpId="0" animBg="1"/>
      <p:bldP spid="118" grpId="0" animBg="1"/>
      <p:bldP spid="130" grpId="0" animBg="1"/>
      <p:bldP spid="142" grpId="0" animBg="1"/>
      <p:bldP spid="147" grpId="0"/>
      <p:bldP spid="14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9F60BB-04D8-DB20-E73D-54E2FC3AA0C4}"/>
              </a:ext>
            </a:extLst>
          </p:cNvPr>
          <p:cNvSpPr>
            <a:spLocks noGrp="1"/>
          </p:cNvSpPr>
          <p:nvPr>
            <p:ph type="title"/>
          </p:nvPr>
        </p:nvSpPr>
        <p:spPr/>
        <p:txBody>
          <a:bodyPr/>
          <a:lstStyle/>
          <a:p>
            <a:r>
              <a:rPr lang="en-US" dirty="0"/>
              <a:t>SEML based Traversal</a:t>
            </a:r>
          </a:p>
        </p:txBody>
      </p:sp>
      <p:sp>
        <p:nvSpPr>
          <p:cNvPr id="3" name="Foliennummernplatzhalter 2">
            <a:extLst>
              <a:ext uri="{FF2B5EF4-FFF2-40B4-BE49-F238E27FC236}">
                <a16:creationId xmlns:a16="http://schemas.microsoft.com/office/drawing/2014/main" id="{935DAB6D-FCC8-DFD8-0C42-4660616C73BD}"/>
              </a:ext>
            </a:extLst>
          </p:cNvPr>
          <p:cNvSpPr>
            <a:spLocks noGrp="1"/>
          </p:cNvSpPr>
          <p:nvPr>
            <p:ph type="sldNum" sz="quarter" idx="10"/>
          </p:nvPr>
        </p:nvSpPr>
        <p:spPr/>
        <p:txBody>
          <a:bodyPr/>
          <a:lstStyle/>
          <a:p>
            <a:fld id="{A29D8577-601D-4845-9C29-D9E13FE3E8DB}" type="slidenum">
              <a:rPr lang="en-US" smtClean="0"/>
              <a:pPr/>
              <a:t>32</a:t>
            </a:fld>
            <a:endParaRPr lang="en-US" dirty="0"/>
          </a:p>
        </p:txBody>
      </p:sp>
      <mc:AlternateContent xmlns:mc="http://schemas.openxmlformats.org/markup-compatibility/2006" xmlns:a14="http://schemas.microsoft.com/office/drawing/2010/main">
        <mc:Choice Requires="a14">
          <p:sp>
            <p:nvSpPr>
              <p:cNvPr id="4" name="Inhaltsplatzhalter 3">
                <a:extLst>
                  <a:ext uri="{FF2B5EF4-FFF2-40B4-BE49-F238E27FC236}">
                    <a16:creationId xmlns:a16="http://schemas.microsoft.com/office/drawing/2014/main" id="{E6C4E531-592C-F1D1-8B0F-8FECB538EC9E}"/>
                  </a:ext>
                </a:extLst>
              </p:cNvPr>
              <p:cNvSpPr>
                <a:spLocks noGrp="1"/>
              </p:cNvSpPr>
              <p:nvPr>
                <p:ph idx="1"/>
              </p:nvPr>
            </p:nvSpPr>
            <p:spPr/>
            <p:txBody>
              <a:bodyPr/>
              <a:lstStyle/>
              <a:p>
                <a:r>
                  <a:rPr lang="en-US" dirty="0"/>
                  <a:t>Standard SEML approach</a:t>
                </a:r>
              </a:p>
              <a:p>
                <a:pPr lvl="1"/>
                <a:r>
                  <a:rPr lang="en-US" dirty="0"/>
                  <a:t>Extract meta data from all tuples in the result table</a:t>
                </a:r>
              </a:p>
              <a:p>
                <a:pPr lvl="1"/>
                <a:r>
                  <a:rPr lang="en-US" dirty="0"/>
                  <a:t>Draw and label training sample</a:t>
                </a:r>
              </a:p>
              <a:p>
                <a:pPr lvl="1"/>
                <a:r>
                  <a:rPr lang="en-US" dirty="0"/>
                  <a:t>SEML creates an output file based on training and meta data (seml.txt, seml.csv)</a:t>
                </a:r>
                <a:br>
                  <a:rPr lang="en-US" dirty="0"/>
                </a:br>
                <a:r>
                  <a:rPr lang="en-US" dirty="0"/>
                  <a:t>All tuples are classified according to the probability variable </a:t>
                </a:r>
                <a:r>
                  <a:rPr lang="en-US" dirty="0">
                    <a:solidFill>
                      <a:srgbClr val="00B0F0"/>
                    </a:solidFill>
                  </a:rPr>
                  <a:t>brain</a:t>
                </a:r>
                <a14:m>
                  <m:oMath xmlns:m="http://schemas.openxmlformats.org/officeDocument/2006/math">
                    <m:r>
                      <a:rPr lang="de-DE" b="0" i="0" smtClean="0">
                        <a:solidFill>
                          <a:srgbClr val="00B0F0"/>
                        </a:solidFill>
                        <a:latin typeface="Cambria Math" panose="02040503050406030204" pitchFamily="18" charset="0"/>
                      </a:rPr>
                      <m:t> </m:t>
                    </m:r>
                  </m:oMath>
                </a14:m>
                <a:endParaRPr lang="de-DE" b="0" i="0" dirty="0">
                  <a:solidFill>
                    <a:srgbClr val="00B0F0"/>
                  </a:solidFill>
                  <a:latin typeface="Cambria Math" panose="02040503050406030204" pitchFamily="18" charset="0"/>
                </a:endParaRPr>
              </a:p>
              <a:p>
                <a:pPr lvl="2"/>
                <a14:m>
                  <m:oMath xmlns:m="http://schemas.openxmlformats.org/officeDocument/2006/math">
                    <m:r>
                      <a:rPr lang="de-DE" b="0" i="1" smtClean="0">
                        <a:solidFill>
                          <a:srgbClr val="00B0F0"/>
                        </a:solidFill>
                        <a:latin typeface="Cambria Math" panose="02040503050406030204" pitchFamily="18" charset="0"/>
                      </a:rPr>
                      <m:t>𝑏𝑟𝑎𝑖𝑛</m:t>
                    </m:r>
                    <m:r>
                      <a:rPr lang="de-DE" b="0" i="1" smtClean="0">
                        <a:solidFill>
                          <a:schemeClr val="tx1"/>
                        </a:solidFill>
                        <a:latin typeface="Cambria Math" panose="02040503050406030204" pitchFamily="18" charset="0"/>
                      </a:rPr>
                      <m:t>&gt;0.5 →</m:t>
                    </m:r>
                    <m:r>
                      <a:rPr lang="de-DE" b="0" i="1" smtClean="0">
                        <a:solidFill>
                          <a:srgbClr val="00B0F0"/>
                        </a:solidFill>
                        <a:latin typeface="Cambria Math" panose="02040503050406030204" pitchFamily="18" charset="0"/>
                        <a:ea typeface="Cambria Math" panose="02040503050406030204" pitchFamily="18" charset="0"/>
                      </a:rPr>
                      <m:t>𝑒𝑞𝑢𝑎𝑙</m:t>
                    </m:r>
                    <m:r>
                      <a:rPr lang="de-DE" b="0" i="1" smtClean="0">
                        <a:solidFill>
                          <a:schemeClr val="tx1"/>
                        </a:solidFill>
                        <a:latin typeface="Cambria Math" panose="02040503050406030204" pitchFamily="18" charset="0"/>
                        <a:ea typeface="Cambria Math" panose="02040503050406030204" pitchFamily="18" charset="0"/>
                      </a:rPr>
                      <m:t>=1 (</m:t>
                    </m:r>
                    <m:r>
                      <a:rPr lang="de-DE" b="0" i="1" smtClean="0">
                        <a:solidFill>
                          <a:schemeClr val="tx1"/>
                        </a:solidFill>
                        <a:latin typeface="Cambria Math" panose="02040503050406030204" pitchFamily="18" charset="0"/>
                        <a:ea typeface="Cambria Math" panose="02040503050406030204" pitchFamily="18" charset="0"/>
                      </a:rPr>
                      <m:t>𝑡𝑟𝑢𝑒</m:t>
                    </m:r>
                    <m:r>
                      <a:rPr lang="de-DE" b="0" i="1" smtClean="0">
                        <a:solidFill>
                          <a:schemeClr val="tx1"/>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𝑝𝑟𝑜𝑠𝑖𝑡𝑖𝑣𝑒</m:t>
                    </m:r>
                    <m:r>
                      <a:rPr lang="de-DE" b="0" i="1" smtClean="0">
                        <a:solidFill>
                          <a:schemeClr val="tx1"/>
                        </a:solidFill>
                        <a:latin typeface="Cambria Math" panose="02040503050406030204" pitchFamily="18" charset="0"/>
                        <a:ea typeface="Cambria Math" panose="02040503050406030204" pitchFamily="18" charset="0"/>
                      </a:rPr>
                      <m:t>)</m:t>
                    </m:r>
                  </m:oMath>
                </a14:m>
                <a:endParaRPr lang="de-DE" b="0" i="1" dirty="0">
                  <a:solidFill>
                    <a:schemeClr val="tx1"/>
                  </a:solidFill>
                  <a:latin typeface="Cambria Math" panose="02040503050406030204" pitchFamily="18" charset="0"/>
                  <a:ea typeface="Cambria Math" panose="02040503050406030204" pitchFamily="18" charset="0"/>
                </a:endParaRPr>
              </a:p>
              <a:p>
                <a:pPr lvl="2"/>
                <a14:m>
                  <m:oMath xmlns:m="http://schemas.openxmlformats.org/officeDocument/2006/math">
                    <m:r>
                      <a:rPr lang="de-DE" b="0" i="1" smtClean="0">
                        <a:solidFill>
                          <a:srgbClr val="00B0F0"/>
                        </a:solidFill>
                        <a:latin typeface="Cambria Math" panose="02040503050406030204" pitchFamily="18" charset="0"/>
                        <a:ea typeface="Cambria Math" panose="02040503050406030204" pitchFamily="18" charset="0"/>
                      </a:rPr>
                      <m:t>𝑏𝑟𝑎𝑖𝑛</m:t>
                    </m:r>
                    <m:r>
                      <a:rPr lang="de-DE" b="0" i="1" smtClean="0">
                        <a:solidFill>
                          <a:schemeClr val="tx1"/>
                        </a:solidFill>
                        <a:latin typeface="Cambria Math" panose="02040503050406030204" pitchFamily="18" charset="0"/>
                        <a:ea typeface="Cambria Math" panose="02040503050406030204" pitchFamily="18" charset="0"/>
                      </a:rPr>
                      <m:t>≤0.5</m:t>
                    </m:r>
                    <m:r>
                      <a:rPr lang="de-DE" b="0" i="1" smtClean="0">
                        <a:solidFill>
                          <a:srgbClr val="00B0F0"/>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m:t>
                    </m:r>
                    <m:r>
                      <a:rPr lang="de-DE" b="0" i="1" smtClean="0">
                        <a:solidFill>
                          <a:srgbClr val="00B0F0"/>
                        </a:solidFill>
                        <a:latin typeface="Cambria Math" panose="02040503050406030204" pitchFamily="18" charset="0"/>
                        <a:ea typeface="Cambria Math" panose="02040503050406030204" pitchFamily="18" charset="0"/>
                      </a:rPr>
                      <m:t>𝑒𝑞𝑢𝑎𝑙</m:t>
                    </m:r>
                    <m:r>
                      <a:rPr lang="de-DE" b="0" i="1" smtClean="0">
                        <a:solidFill>
                          <a:schemeClr val="tx1"/>
                        </a:solidFill>
                        <a:latin typeface="Cambria Math" panose="02040503050406030204" pitchFamily="18" charset="0"/>
                        <a:ea typeface="Cambria Math" panose="02040503050406030204" pitchFamily="18" charset="0"/>
                      </a:rPr>
                      <m:t>=9 (</m:t>
                    </m:r>
                    <m:r>
                      <a:rPr lang="de-DE" b="0" i="1" smtClean="0">
                        <a:solidFill>
                          <a:schemeClr val="tx1"/>
                        </a:solidFill>
                        <a:latin typeface="Cambria Math" panose="02040503050406030204" pitchFamily="18" charset="0"/>
                        <a:ea typeface="Cambria Math" panose="02040503050406030204" pitchFamily="18" charset="0"/>
                      </a:rPr>
                      <m:t>𝑓𝑎𝑙𝑠𝑒</m:t>
                    </m:r>
                    <m:r>
                      <a:rPr lang="de-DE" b="0" i="1" smtClean="0">
                        <a:solidFill>
                          <a:schemeClr val="tx1"/>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𝑝𝑜𝑠𝑖𝑡𝑖𝑣𝑒</m:t>
                    </m:r>
                    <m:r>
                      <a:rPr lang="de-DE" b="0" i="1" smtClean="0">
                        <a:solidFill>
                          <a:schemeClr val="tx1"/>
                        </a:solidFill>
                        <a:latin typeface="Cambria Math" panose="02040503050406030204" pitchFamily="18" charset="0"/>
                        <a:ea typeface="Cambria Math" panose="02040503050406030204" pitchFamily="18" charset="0"/>
                      </a:rPr>
                      <m:t>)</m:t>
                    </m:r>
                  </m:oMath>
                </a14:m>
                <a:endParaRPr lang="en-US" dirty="0"/>
              </a:p>
              <a:p>
                <a:r>
                  <a:rPr lang="en-US" dirty="0"/>
                  <a:t>Recursive Traversal</a:t>
                </a:r>
              </a:p>
              <a:p>
                <a:pPr lvl="1"/>
                <a:r>
                  <a:rPr lang="en-US" dirty="0"/>
                  <a:t>Import SEML output file as new result table:</a:t>
                </a:r>
                <a:br>
                  <a:rPr lang="en-US" dirty="0"/>
                </a:br>
                <a:r>
                  <a:rPr lang="en-US" dirty="0"/>
                  <a:t>Transforms </a:t>
                </a:r>
                <a:r>
                  <a:rPr lang="en-US" dirty="0">
                    <a:solidFill>
                      <a:srgbClr val="00B0F0"/>
                    </a:solidFill>
                  </a:rPr>
                  <a:t>brain</a:t>
                </a:r>
                <a:r>
                  <a:rPr lang="en-US" dirty="0"/>
                  <a:t> to </a:t>
                </a:r>
                <a:r>
                  <a:rPr lang="en-US" dirty="0">
                    <a:solidFill>
                      <a:srgbClr val="00B0F0"/>
                    </a:solidFill>
                  </a:rPr>
                  <a:t>identity</a:t>
                </a:r>
                <a:r>
                  <a:rPr lang="en-US" dirty="0"/>
                  <a:t> and removes false positives (</a:t>
                </a:r>
                <a14:m>
                  <m:oMath xmlns:m="http://schemas.openxmlformats.org/officeDocument/2006/math">
                    <m:r>
                      <a:rPr lang="de-DE" b="0" i="1" smtClean="0">
                        <a:latin typeface="Cambria Math" panose="02040503050406030204" pitchFamily="18" charset="0"/>
                      </a:rPr>
                      <m:t>𝑖𝑑𝑒𝑛𝑡𝑖𝑡𝑦</m:t>
                    </m:r>
                    <m:r>
                      <a:rPr lang="de-DE" b="0" i="1" smtClean="0">
                        <a:latin typeface="Cambria Math" panose="02040503050406030204" pitchFamily="18" charset="0"/>
                        <a:ea typeface="Cambria Math" panose="02040503050406030204" pitchFamily="18" charset="0"/>
                      </a:rPr>
                      <m:t>≤50%</m:t>
                    </m:r>
                  </m:oMath>
                </a14:m>
                <a:r>
                  <a:rPr lang="en-US" dirty="0"/>
                  <a:t>)</a:t>
                </a:r>
              </a:p>
              <a:p>
                <a:pPr lvl="1"/>
                <a:r>
                  <a:rPr lang="en-US" dirty="0"/>
                  <a:t>Recursive traversal along valid edges clustering similarity:</a:t>
                </a:r>
                <a:br>
                  <a:rPr lang="en-US" dirty="0"/>
                </a:br>
                <a:r>
                  <a:rPr lang="en-US" dirty="0"/>
                  <a:t>Directed graph will be transformed into an undirected graph with minimum identity </a:t>
                </a:r>
                <a:r>
                  <a:rPr lang="en-US" i="1" dirty="0">
                    <a:solidFill>
                      <a:srgbClr val="00B0F0"/>
                    </a:solidFill>
                    <a:latin typeface="Cambria Math" panose="02040503050406030204" pitchFamily="18" charset="0"/>
                    <a:ea typeface="Cambria Math" panose="02040503050406030204" pitchFamily="18" charset="0"/>
                  </a:rPr>
                  <a:t>min</a:t>
                </a:r>
                <a:r>
                  <a:rPr lang="en-US" dirty="0"/>
                  <a:t> as edge attribute</a:t>
                </a:r>
              </a:p>
              <a:p>
                <a:pPr lvl="2"/>
                <a:r>
                  <a:rPr lang="en-US" dirty="0"/>
                  <a:t>Generous</a:t>
                </a:r>
                <a:r>
                  <a:rPr lang="en-US" dirty="0">
                    <a:solidFill>
                      <a:srgbClr val="00B0F0"/>
                    </a:solidFill>
                  </a:rPr>
                  <a:t> </a:t>
                </a:r>
                <a:r>
                  <a:rPr lang="en-US" dirty="0">
                    <a:solidFill>
                      <a:srgbClr val="FF8000"/>
                    </a:solidFill>
                  </a:rPr>
                  <a:t>intransitive</a:t>
                </a:r>
                <a:r>
                  <a:rPr lang="en-US" dirty="0"/>
                  <a:t> clustering: </a:t>
                </a:r>
                <a14:m>
                  <m:oMath xmlns:m="http://schemas.openxmlformats.org/officeDocument/2006/math">
                    <m:r>
                      <a:rPr lang="de-DE" b="0" i="1" smtClean="0">
                        <a:latin typeface="Cambria Math" panose="02040503050406030204" pitchFamily="18" charset="0"/>
                      </a:rPr>
                      <m:t>𝑠𝑒𝑎𝑟𝑐ℎ𝑒𝑑</m:t>
                    </m:r>
                    <m:r>
                      <a:rPr lang="de-DE" b="0" i="1" smtClean="0">
                        <a:solidFill>
                          <a:srgbClr val="FF8000"/>
                        </a:solidFill>
                        <a:latin typeface="Cambria Math" panose="02040503050406030204" pitchFamily="18" charset="0"/>
                        <a:ea typeface="Cambria Math" panose="02040503050406030204" pitchFamily="18" charset="0"/>
                      </a:rPr>
                      <m:t>→</m:t>
                    </m:r>
                    <m:r>
                      <a:rPr lang="de-DE" b="0" i="1" smtClean="0">
                        <a:latin typeface="Cambria Math" panose="02040503050406030204" pitchFamily="18" charset="0"/>
                        <a:ea typeface="Cambria Math" panose="02040503050406030204" pitchFamily="18" charset="0"/>
                      </a:rPr>
                      <m:t>𝑓𝑜𝑢𝑛𝑑</m:t>
                    </m:r>
                  </m:oMath>
                </a14:m>
                <a:r>
                  <a:rPr lang="en-US" dirty="0"/>
                  <a:t> is sufficient; </a:t>
                </a:r>
                <a14:m>
                  <m:oMath xmlns:m="http://schemas.openxmlformats.org/officeDocument/2006/math">
                    <m:r>
                      <a:rPr lang="de-DE" b="0" i="1" smtClean="0">
                        <a:solidFill>
                          <a:srgbClr val="00B0F0"/>
                        </a:solidFill>
                        <a:latin typeface="Cambria Math" panose="02040503050406030204" pitchFamily="18" charset="0"/>
                      </a:rPr>
                      <m:t>𝑚𝑖𝑛</m:t>
                    </m:r>
                    <m:r>
                      <a:rPr lang="de-DE" b="0" i="1" smtClean="0">
                        <a:latin typeface="Cambria Math" panose="02040503050406030204" pitchFamily="18" charset="0"/>
                        <a:ea typeface="Cambria Math" panose="02040503050406030204" pitchFamily="18" charset="0"/>
                      </a:rPr>
                      <m:t>≥0</m:t>
                    </m:r>
                  </m:oMath>
                </a14:m>
                <a:r>
                  <a:rPr lang="en-US" dirty="0"/>
                  <a:t> (default)</a:t>
                </a:r>
              </a:p>
              <a:p>
                <a:pPr lvl="2"/>
                <a:r>
                  <a:rPr lang="en-US" dirty="0"/>
                  <a:t>Tight</a:t>
                </a:r>
                <a:r>
                  <a:rPr lang="en-US" dirty="0">
                    <a:solidFill>
                      <a:srgbClr val="00B0F0"/>
                    </a:solidFill>
                  </a:rPr>
                  <a:t> transitive</a:t>
                </a:r>
                <a:r>
                  <a:rPr lang="en-US" dirty="0"/>
                  <a:t> clustering: </a:t>
                </a:r>
                <a14:m>
                  <m:oMath xmlns:m="http://schemas.openxmlformats.org/officeDocument/2006/math">
                    <m:r>
                      <a:rPr lang="de-DE" i="1">
                        <a:latin typeface="Cambria Math" panose="02040503050406030204" pitchFamily="18" charset="0"/>
                      </a:rPr>
                      <m:t>𝑠𝑒𝑎𝑟𝑐ℎ𝑒𝑑</m:t>
                    </m:r>
                    <m:r>
                      <a:rPr lang="de-DE" i="1" smtClean="0">
                        <a:solidFill>
                          <a:srgbClr val="00B0F0"/>
                        </a:solidFill>
                        <a:latin typeface="Cambria Math" panose="02040503050406030204" pitchFamily="18" charset="0"/>
                        <a:ea typeface="Cambria Math" panose="02040503050406030204" pitchFamily="18" charset="0"/>
                      </a:rPr>
                      <m:t>↔</m:t>
                    </m:r>
                    <m:r>
                      <a:rPr lang="de-DE" i="1">
                        <a:latin typeface="Cambria Math" panose="02040503050406030204" pitchFamily="18" charset="0"/>
                        <a:ea typeface="Cambria Math" panose="02040503050406030204" pitchFamily="18" charset="0"/>
                      </a:rPr>
                      <m:t>𝑓𝑜𝑢𝑛𝑑</m:t>
                    </m:r>
                  </m:oMath>
                </a14:m>
                <a:r>
                  <a:rPr lang="en-US" dirty="0"/>
                  <a:t> is necessary; </a:t>
                </a:r>
                <a14:m>
                  <m:oMath xmlns:m="http://schemas.openxmlformats.org/officeDocument/2006/math">
                    <m:r>
                      <a:rPr lang="de-DE" i="1">
                        <a:solidFill>
                          <a:srgbClr val="00B0F0"/>
                        </a:solidFill>
                        <a:latin typeface="Cambria Math" panose="02040503050406030204" pitchFamily="18" charset="0"/>
                      </a:rPr>
                      <m:t>𝑚𝑖𝑛</m:t>
                    </m:r>
                    <m:r>
                      <a:rPr lang="de-DE" i="1" smtClean="0">
                        <a:latin typeface="Cambria Math" panose="02040503050406030204" pitchFamily="18" charset="0"/>
                        <a:ea typeface="Cambria Math" panose="02040503050406030204" pitchFamily="18" charset="0"/>
                      </a:rPr>
                      <m:t>&gt;</m:t>
                    </m:r>
                    <m:r>
                      <a:rPr lang="de-DE" b="0" i="1" smtClean="0">
                        <a:latin typeface="Cambria Math" panose="02040503050406030204" pitchFamily="18" charset="0"/>
                        <a:ea typeface="Cambria Math" panose="02040503050406030204" pitchFamily="18" charset="0"/>
                      </a:rPr>
                      <m:t>50</m:t>
                    </m:r>
                  </m:oMath>
                </a14:m>
                <a:endParaRPr lang="en-US" dirty="0"/>
              </a:p>
            </p:txBody>
          </p:sp>
        </mc:Choice>
        <mc:Fallback xmlns="">
          <p:sp>
            <p:nvSpPr>
              <p:cNvPr id="4" name="Inhaltsplatzhalter 3">
                <a:extLst>
                  <a:ext uri="{FF2B5EF4-FFF2-40B4-BE49-F238E27FC236}">
                    <a16:creationId xmlns:a16="http://schemas.microsoft.com/office/drawing/2014/main" id="{E6C4E531-592C-F1D1-8B0F-8FECB538EC9E}"/>
                  </a:ext>
                </a:extLst>
              </p:cNvPr>
              <p:cNvSpPr>
                <a:spLocks noGrp="1" noRot="1" noChangeAspect="1" noMove="1" noResize="1" noEditPoints="1" noAdjustHandles="1" noChangeArrowheads="1" noChangeShapeType="1" noTextEdit="1"/>
              </p:cNvSpPr>
              <p:nvPr>
                <p:ph idx="1"/>
              </p:nvPr>
            </p:nvSpPr>
            <p:spPr>
              <a:blipFill>
                <a:blip r:embed="rId2"/>
                <a:stretch>
                  <a:fillRect l="-205" t="-332"/>
                </a:stretch>
              </a:blipFill>
            </p:spPr>
            <p:txBody>
              <a:bodyPr/>
              <a:lstStyle/>
              <a:p>
                <a:r>
                  <a:rPr lang="en-US">
                    <a:noFill/>
                  </a:rPr>
                  <a:t> </a:t>
                </a:r>
              </a:p>
            </p:txBody>
          </p:sp>
        </mc:Fallback>
      </mc:AlternateContent>
      <p:grpSp>
        <p:nvGrpSpPr>
          <p:cNvPr id="8" name="Gruppieren 7">
            <a:extLst>
              <a:ext uri="{FF2B5EF4-FFF2-40B4-BE49-F238E27FC236}">
                <a16:creationId xmlns:a16="http://schemas.microsoft.com/office/drawing/2014/main" id="{FE3D6ECE-F75E-DE2C-0D78-EFB3B32512BE}"/>
              </a:ext>
            </a:extLst>
          </p:cNvPr>
          <p:cNvGrpSpPr/>
          <p:nvPr/>
        </p:nvGrpSpPr>
        <p:grpSpPr>
          <a:xfrm rot="20685098">
            <a:off x="8311569" y="1235174"/>
            <a:ext cx="3464287" cy="2138227"/>
            <a:chOff x="7346308" y="3875735"/>
            <a:chExt cx="3464287" cy="2138227"/>
          </a:xfrm>
        </p:grpSpPr>
        <p:grpSp>
          <p:nvGrpSpPr>
            <p:cNvPr id="6" name="Gruppieren 5">
              <a:extLst>
                <a:ext uri="{FF2B5EF4-FFF2-40B4-BE49-F238E27FC236}">
                  <a16:creationId xmlns:a16="http://schemas.microsoft.com/office/drawing/2014/main" id="{0BD8FDBA-F804-625A-88A4-9226A414FDC5}"/>
                </a:ext>
              </a:extLst>
            </p:cNvPr>
            <p:cNvGrpSpPr/>
            <p:nvPr/>
          </p:nvGrpSpPr>
          <p:grpSpPr>
            <a:xfrm>
              <a:off x="7613423" y="3875735"/>
              <a:ext cx="2831019" cy="2138227"/>
              <a:chOff x="7613423" y="3875735"/>
              <a:chExt cx="2831019" cy="2138227"/>
            </a:xfrm>
          </p:grpSpPr>
          <p:sp>
            <p:nvSpPr>
              <p:cNvPr id="5" name="Ellipse 4">
                <a:extLst>
                  <a:ext uri="{FF2B5EF4-FFF2-40B4-BE49-F238E27FC236}">
                    <a16:creationId xmlns:a16="http://schemas.microsoft.com/office/drawing/2014/main" id="{81814167-B115-AC9F-D2A9-61C9D963B508}"/>
                  </a:ext>
                </a:extLst>
              </p:cNvPr>
              <p:cNvSpPr/>
              <p:nvPr/>
            </p:nvSpPr>
            <p:spPr>
              <a:xfrm rot="20247381">
                <a:off x="7860541" y="5012664"/>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Ellipse 6">
                <a:extLst>
                  <a:ext uri="{FF2B5EF4-FFF2-40B4-BE49-F238E27FC236}">
                    <a16:creationId xmlns:a16="http://schemas.microsoft.com/office/drawing/2014/main" id="{8F6FF348-E5A0-E4F3-7098-9DBD5658B462}"/>
                  </a:ext>
                </a:extLst>
              </p:cNvPr>
              <p:cNvSpPr/>
              <p:nvPr/>
            </p:nvSpPr>
            <p:spPr>
              <a:xfrm rot="20247381">
                <a:off x="8110461" y="5678611"/>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Ellipse 8">
                <a:extLst>
                  <a:ext uri="{FF2B5EF4-FFF2-40B4-BE49-F238E27FC236}">
                    <a16:creationId xmlns:a16="http://schemas.microsoft.com/office/drawing/2014/main" id="{0E8079DF-290D-39A7-57FF-164F3CC80C3B}"/>
                  </a:ext>
                </a:extLst>
              </p:cNvPr>
              <p:cNvSpPr/>
              <p:nvPr/>
            </p:nvSpPr>
            <p:spPr>
              <a:xfrm rot="20247381">
                <a:off x="8770929" y="5387610"/>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Ellipse 10">
                <a:extLst>
                  <a:ext uri="{FF2B5EF4-FFF2-40B4-BE49-F238E27FC236}">
                    <a16:creationId xmlns:a16="http://schemas.microsoft.com/office/drawing/2014/main" id="{8819D9A1-3408-C5CF-B2F3-046C98F0794F}"/>
                  </a:ext>
                </a:extLst>
              </p:cNvPr>
              <p:cNvSpPr/>
              <p:nvPr/>
            </p:nvSpPr>
            <p:spPr>
              <a:xfrm rot="20247381">
                <a:off x="8493855" y="4687682"/>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Ellipse 12">
                <a:extLst>
                  <a:ext uri="{FF2B5EF4-FFF2-40B4-BE49-F238E27FC236}">
                    <a16:creationId xmlns:a16="http://schemas.microsoft.com/office/drawing/2014/main" id="{4D904FB6-818E-960B-8C9C-5AF7BD6329AD}"/>
                  </a:ext>
                </a:extLst>
              </p:cNvPr>
              <p:cNvSpPr/>
              <p:nvPr/>
            </p:nvSpPr>
            <p:spPr>
              <a:xfrm rot="1001253">
                <a:off x="9190403" y="4264050"/>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Ellipse 14">
                <a:extLst>
                  <a:ext uri="{FF2B5EF4-FFF2-40B4-BE49-F238E27FC236}">
                    <a16:creationId xmlns:a16="http://schemas.microsoft.com/office/drawing/2014/main" id="{31CF8A0E-8D2D-6426-ACE6-EA35990410F7}"/>
                  </a:ext>
                </a:extLst>
              </p:cNvPr>
              <p:cNvSpPr/>
              <p:nvPr/>
            </p:nvSpPr>
            <p:spPr>
              <a:xfrm rot="18717592">
                <a:off x="9714297" y="4666202"/>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Ellipse 16">
                <a:extLst>
                  <a:ext uri="{FF2B5EF4-FFF2-40B4-BE49-F238E27FC236}">
                    <a16:creationId xmlns:a16="http://schemas.microsoft.com/office/drawing/2014/main" id="{BBA26215-2C9C-6269-B81F-4EF8DCF203EF}"/>
                  </a:ext>
                </a:extLst>
              </p:cNvPr>
              <p:cNvSpPr/>
              <p:nvPr/>
            </p:nvSpPr>
            <p:spPr>
              <a:xfrm rot="20247381">
                <a:off x="9848270" y="3950554"/>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9" name="Gerade Verbindung mit Pfeil 18">
                <a:extLst>
                  <a:ext uri="{FF2B5EF4-FFF2-40B4-BE49-F238E27FC236}">
                    <a16:creationId xmlns:a16="http://schemas.microsoft.com/office/drawing/2014/main" id="{8D42FB1F-FE99-8487-22AE-9B3B19DACFC4}"/>
                  </a:ext>
                </a:extLst>
              </p:cNvPr>
              <p:cNvCxnSpPr>
                <a:stCxn id="7" idx="7"/>
                <a:endCxn id="11" idx="3"/>
              </p:cNvCxnSpPr>
              <p:nvPr/>
            </p:nvCxnSpPr>
            <p:spPr>
              <a:xfrm rot="20247381" flipV="1">
                <a:off x="8088794" y="4952676"/>
                <a:ext cx="606728" cy="640941"/>
              </a:xfrm>
              <a:prstGeom prst="straightConnector1">
                <a:avLst/>
              </a:prstGeom>
              <a:noFill/>
              <a:ln w="25400" cap="sq" cmpd="sng" algn="ctr">
                <a:solidFill>
                  <a:srgbClr val="00B0F0"/>
                </a:solidFill>
                <a:prstDash val="solid"/>
                <a:miter lim="800000"/>
                <a:headEnd type="triangle"/>
                <a:tailEnd type="triangle"/>
              </a:ln>
              <a:effectLst/>
            </p:spPr>
          </p:cxnSp>
          <p:cxnSp>
            <p:nvCxnSpPr>
              <p:cNvPr id="21" name="Gerade Verbindung mit Pfeil 20">
                <a:extLst>
                  <a:ext uri="{FF2B5EF4-FFF2-40B4-BE49-F238E27FC236}">
                    <a16:creationId xmlns:a16="http://schemas.microsoft.com/office/drawing/2014/main" id="{C6841D22-FFEC-AC2D-B881-97EB8662350B}"/>
                  </a:ext>
                </a:extLst>
              </p:cNvPr>
              <p:cNvCxnSpPr>
                <a:stCxn id="5" idx="5"/>
                <a:endCxn id="9" idx="1"/>
              </p:cNvCxnSpPr>
              <p:nvPr/>
            </p:nvCxnSpPr>
            <p:spPr>
              <a:xfrm rot="20247381">
                <a:off x="8120838" y="5006114"/>
                <a:ext cx="569793" cy="568046"/>
              </a:xfrm>
              <a:prstGeom prst="straightConnector1">
                <a:avLst/>
              </a:prstGeom>
              <a:noFill/>
              <a:ln w="25400" cap="sq" cmpd="sng" algn="ctr">
                <a:solidFill>
                  <a:srgbClr val="00B0F0"/>
                </a:solidFill>
                <a:prstDash val="solid"/>
                <a:miter lim="800000"/>
                <a:headEnd type="triangle"/>
                <a:tailEnd type="triangle"/>
              </a:ln>
              <a:effectLst/>
            </p:spPr>
          </p:cxnSp>
          <p:cxnSp>
            <p:nvCxnSpPr>
              <p:cNvPr id="23" name="Gerade Verbindung mit Pfeil 22">
                <a:extLst>
                  <a:ext uri="{FF2B5EF4-FFF2-40B4-BE49-F238E27FC236}">
                    <a16:creationId xmlns:a16="http://schemas.microsoft.com/office/drawing/2014/main" id="{407EF88A-64BD-6DFC-04E2-D7D17A749F89}"/>
                  </a:ext>
                </a:extLst>
              </p:cNvPr>
              <p:cNvCxnSpPr>
                <a:stCxn id="7" idx="0"/>
                <a:endCxn id="5" idx="4"/>
              </p:cNvCxnSpPr>
              <p:nvPr/>
            </p:nvCxnSpPr>
            <p:spPr>
              <a:xfrm rot="20247381" flipV="1">
                <a:off x="8063255" y="5170199"/>
                <a:ext cx="24493" cy="530876"/>
              </a:xfrm>
              <a:prstGeom prst="straightConnector1">
                <a:avLst/>
              </a:prstGeom>
              <a:noFill/>
              <a:ln w="25400" cap="sq" cmpd="sng" algn="ctr">
                <a:solidFill>
                  <a:srgbClr val="00B0F0"/>
                </a:solidFill>
                <a:prstDash val="solid"/>
                <a:miter lim="800000"/>
                <a:headEnd type="triangle"/>
                <a:tailEnd type="triangle"/>
              </a:ln>
              <a:effectLst/>
            </p:spPr>
          </p:cxnSp>
          <p:cxnSp>
            <p:nvCxnSpPr>
              <p:cNvPr id="25" name="Gerade Verbindung mit Pfeil 24">
                <a:extLst>
                  <a:ext uri="{FF2B5EF4-FFF2-40B4-BE49-F238E27FC236}">
                    <a16:creationId xmlns:a16="http://schemas.microsoft.com/office/drawing/2014/main" id="{34461F14-ED7A-5101-E6DE-0CBCF1FD65BA}"/>
                  </a:ext>
                </a:extLst>
              </p:cNvPr>
              <p:cNvCxnSpPr>
                <a:stCxn id="5" idx="7"/>
                <a:endCxn id="11" idx="2"/>
              </p:cNvCxnSpPr>
              <p:nvPr/>
            </p:nvCxnSpPr>
            <p:spPr>
              <a:xfrm rot="20247381">
                <a:off x="7964889" y="4912690"/>
                <a:ext cx="555875" cy="6295"/>
              </a:xfrm>
              <a:prstGeom prst="straightConnector1">
                <a:avLst/>
              </a:prstGeom>
              <a:noFill/>
              <a:ln w="25400" cap="sq" cmpd="sng" algn="ctr">
                <a:solidFill>
                  <a:srgbClr val="00B0F0"/>
                </a:solidFill>
                <a:prstDash val="solid"/>
                <a:miter lim="800000"/>
                <a:headEnd type="triangle"/>
                <a:tailEnd type="triangle"/>
              </a:ln>
              <a:effectLst/>
            </p:spPr>
          </p:cxnSp>
          <p:cxnSp>
            <p:nvCxnSpPr>
              <p:cNvPr id="27" name="Gerade Verbindung mit Pfeil 26">
                <a:extLst>
                  <a:ext uri="{FF2B5EF4-FFF2-40B4-BE49-F238E27FC236}">
                    <a16:creationId xmlns:a16="http://schemas.microsoft.com/office/drawing/2014/main" id="{27B4B816-33F6-A15D-85B5-0FAD45F7C916}"/>
                  </a:ext>
                </a:extLst>
              </p:cNvPr>
              <p:cNvCxnSpPr>
                <a:stCxn id="11" idx="4"/>
                <a:endCxn id="9" idx="0"/>
              </p:cNvCxnSpPr>
              <p:nvPr/>
            </p:nvCxnSpPr>
            <p:spPr>
              <a:xfrm rot="20247381" flipH="1">
                <a:off x="8716171" y="4841310"/>
                <a:ext cx="12442" cy="572671"/>
              </a:xfrm>
              <a:prstGeom prst="straightConnector1">
                <a:avLst/>
              </a:prstGeom>
              <a:noFill/>
              <a:ln w="25400" cap="sq" cmpd="sng" algn="ctr">
                <a:solidFill>
                  <a:srgbClr val="00B0F0"/>
                </a:solidFill>
                <a:prstDash val="solid"/>
                <a:miter lim="800000"/>
                <a:headEnd type="triangle"/>
                <a:tailEnd type="triangle"/>
              </a:ln>
              <a:effectLst/>
            </p:spPr>
          </p:cxnSp>
          <p:cxnSp>
            <p:nvCxnSpPr>
              <p:cNvPr id="29" name="Gerade Verbindung mit Pfeil 28">
                <a:extLst>
                  <a:ext uri="{FF2B5EF4-FFF2-40B4-BE49-F238E27FC236}">
                    <a16:creationId xmlns:a16="http://schemas.microsoft.com/office/drawing/2014/main" id="{7F91CC91-28C8-1471-47C0-34185871AE0A}"/>
                  </a:ext>
                </a:extLst>
              </p:cNvPr>
              <p:cNvCxnSpPr>
                <a:cxnSpLocks/>
                <a:stCxn id="7" idx="6"/>
                <a:endCxn id="9" idx="2"/>
              </p:cNvCxnSpPr>
              <p:nvPr/>
            </p:nvCxnSpPr>
            <p:spPr>
              <a:xfrm rot="20247381" flipV="1">
                <a:off x="8259912" y="5615335"/>
                <a:ext cx="541566" cy="15550"/>
              </a:xfrm>
              <a:prstGeom prst="straightConnector1">
                <a:avLst/>
              </a:prstGeom>
              <a:noFill/>
              <a:ln w="25400" cap="sq" cmpd="sng" algn="ctr">
                <a:solidFill>
                  <a:srgbClr val="00B0F0"/>
                </a:solidFill>
                <a:prstDash val="solid"/>
                <a:miter lim="800000"/>
                <a:headEnd type="triangle"/>
                <a:tailEnd type="triangle"/>
              </a:ln>
              <a:effectLst/>
            </p:spPr>
          </p:cxnSp>
          <p:cxnSp>
            <p:nvCxnSpPr>
              <p:cNvPr id="32" name="Gerade Verbindung mit Pfeil 31">
                <a:extLst>
                  <a:ext uri="{FF2B5EF4-FFF2-40B4-BE49-F238E27FC236}">
                    <a16:creationId xmlns:a16="http://schemas.microsoft.com/office/drawing/2014/main" id="{56E048FE-A0E9-30BD-B747-5266CF0A1D71}"/>
                  </a:ext>
                </a:extLst>
              </p:cNvPr>
              <p:cNvCxnSpPr>
                <a:cxnSpLocks/>
                <a:stCxn id="13" idx="6"/>
                <a:endCxn id="15" idx="0"/>
              </p:cNvCxnSpPr>
              <p:nvPr/>
            </p:nvCxnSpPr>
            <p:spPr>
              <a:xfrm rot="20247381">
                <a:off x="9441379" y="4320900"/>
                <a:ext cx="221227" cy="434121"/>
              </a:xfrm>
              <a:prstGeom prst="straightConnector1">
                <a:avLst/>
              </a:prstGeom>
              <a:noFill/>
              <a:ln w="25400" cap="sq" cmpd="sng" algn="ctr">
                <a:solidFill>
                  <a:srgbClr val="00B0F0"/>
                </a:solidFill>
                <a:prstDash val="solid"/>
                <a:miter lim="800000"/>
                <a:headEnd type="triangle"/>
                <a:tailEnd type="triangle"/>
              </a:ln>
              <a:effectLst/>
            </p:spPr>
          </p:cxnSp>
          <p:cxnSp>
            <p:nvCxnSpPr>
              <p:cNvPr id="34" name="Gerade Verbindung mit Pfeil 33">
                <a:extLst>
                  <a:ext uri="{FF2B5EF4-FFF2-40B4-BE49-F238E27FC236}">
                    <a16:creationId xmlns:a16="http://schemas.microsoft.com/office/drawing/2014/main" id="{6631949B-0856-BAE9-72C7-837C539B8FBF}"/>
                  </a:ext>
                </a:extLst>
              </p:cNvPr>
              <p:cNvCxnSpPr>
                <a:cxnSpLocks/>
                <a:stCxn id="17" idx="3"/>
                <a:endCxn id="15" idx="7"/>
              </p:cNvCxnSpPr>
              <p:nvPr/>
            </p:nvCxnSpPr>
            <p:spPr>
              <a:xfrm rot="20247381" flipH="1">
                <a:off x="9699499" y="4164467"/>
                <a:ext cx="304418" cy="461124"/>
              </a:xfrm>
              <a:prstGeom prst="straightConnector1">
                <a:avLst/>
              </a:prstGeom>
              <a:noFill/>
              <a:ln w="25400" cap="sq" cmpd="sng" algn="ctr">
                <a:solidFill>
                  <a:srgbClr val="00B0F0"/>
                </a:solidFill>
                <a:prstDash val="solid"/>
                <a:miter lim="800000"/>
                <a:headEnd type="triangle"/>
                <a:tailEnd type="triangle"/>
              </a:ln>
              <a:effectLst/>
            </p:spPr>
          </p:cxnSp>
          <p:cxnSp>
            <p:nvCxnSpPr>
              <p:cNvPr id="36" name="Gerade Verbindung mit Pfeil 35">
                <a:extLst>
                  <a:ext uri="{FF2B5EF4-FFF2-40B4-BE49-F238E27FC236}">
                    <a16:creationId xmlns:a16="http://schemas.microsoft.com/office/drawing/2014/main" id="{F469DA89-DE01-2707-1003-76266D1533AD}"/>
                  </a:ext>
                </a:extLst>
              </p:cNvPr>
              <p:cNvCxnSpPr>
                <a:stCxn id="13" idx="7"/>
                <a:endCxn id="17" idx="2"/>
              </p:cNvCxnSpPr>
              <p:nvPr/>
            </p:nvCxnSpPr>
            <p:spPr>
              <a:xfrm rot="20247381" flipV="1">
                <a:off x="9333271" y="4179073"/>
                <a:ext cx="548243" cy="28277"/>
              </a:xfrm>
              <a:prstGeom prst="straightConnector1">
                <a:avLst/>
              </a:prstGeom>
              <a:noFill/>
              <a:ln w="25400" cap="sq" cmpd="sng" algn="ctr">
                <a:solidFill>
                  <a:srgbClr val="00B0F0"/>
                </a:solidFill>
                <a:prstDash val="solid"/>
                <a:miter lim="800000"/>
                <a:headEnd type="triangle"/>
                <a:tailEnd type="triangle"/>
              </a:ln>
              <a:effectLst/>
            </p:spPr>
          </p:cxnSp>
          <p:cxnSp>
            <p:nvCxnSpPr>
              <p:cNvPr id="46" name="Gerade Verbindung mit Pfeil 45">
                <a:extLst>
                  <a:ext uri="{FF2B5EF4-FFF2-40B4-BE49-F238E27FC236}">
                    <a16:creationId xmlns:a16="http://schemas.microsoft.com/office/drawing/2014/main" id="{B5564923-855C-28C6-4089-03046CCF9D05}"/>
                  </a:ext>
                </a:extLst>
              </p:cNvPr>
              <p:cNvCxnSpPr>
                <a:cxnSpLocks/>
                <a:stCxn id="11" idx="6"/>
                <a:endCxn id="13" idx="3"/>
              </p:cNvCxnSpPr>
              <p:nvPr/>
            </p:nvCxnSpPr>
            <p:spPr>
              <a:xfrm rot="20247381" flipV="1">
                <a:off x="8620977" y="4512372"/>
                <a:ext cx="626193" cy="115168"/>
              </a:xfrm>
              <a:prstGeom prst="straightConnector1">
                <a:avLst/>
              </a:prstGeom>
              <a:noFill/>
              <a:ln w="25400" cap="sq" cmpd="sng" algn="ctr">
                <a:solidFill>
                  <a:srgbClr val="FF8000"/>
                </a:solidFill>
                <a:prstDash val="solid"/>
                <a:miter lim="800000"/>
                <a:headEnd type="none"/>
                <a:tailEnd type="triangle"/>
              </a:ln>
              <a:effectLst/>
            </p:spPr>
          </p:cxnSp>
          <p:sp>
            <p:nvSpPr>
              <p:cNvPr id="52" name="Freihandform: Form 51">
                <a:extLst>
                  <a:ext uri="{FF2B5EF4-FFF2-40B4-BE49-F238E27FC236}">
                    <a16:creationId xmlns:a16="http://schemas.microsoft.com/office/drawing/2014/main" id="{F6E1935C-8C1D-AEA7-DAE4-A89B778B3339}"/>
                  </a:ext>
                </a:extLst>
              </p:cNvPr>
              <p:cNvSpPr/>
              <p:nvPr/>
            </p:nvSpPr>
            <p:spPr>
              <a:xfrm rot="20247381">
                <a:off x="7613423" y="4542896"/>
                <a:ext cx="1525829" cy="1471066"/>
              </a:xfrm>
              <a:custGeom>
                <a:avLst/>
                <a:gdLst>
                  <a:gd name="csX0" fmla="*/ 697132 w 1525829"/>
                  <a:gd name="csY0" fmla="*/ 28758 h 1471066"/>
                  <a:gd name="csX1" fmla="*/ 106582 w 1525829"/>
                  <a:gd name="csY1" fmla="*/ 228783 h 1471066"/>
                  <a:gd name="csX2" fmla="*/ 1807 w 1525829"/>
                  <a:gd name="csY2" fmla="*/ 762183 h 1471066"/>
                  <a:gd name="csX3" fmla="*/ 87532 w 1525829"/>
                  <a:gd name="csY3" fmla="*/ 1219383 h 1471066"/>
                  <a:gd name="csX4" fmla="*/ 592357 w 1525829"/>
                  <a:gd name="csY4" fmla="*/ 1457508 h 1471066"/>
                  <a:gd name="csX5" fmla="*/ 1287682 w 1525829"/>
                  <a:gd name="csY5" fmla="*/ 1400358 h 1471066"/>
                  <a:gd name="csX6" fmla="*/ 1525807 w 1525829"/>
                  <a:gd name="csY6" fmla="*/ 1057458 h 1471066"/>
                  <a:gd name="csX7" fmla="*/ 1278157 w 1525829"/>
                  <a:gd name="csY7" fmla="*/ 114483 h 1471066"/>
                  <a:gd name="csX8" fmla="*/ 697132 w 1525829"/>
                  <a:gd name="csY8" fmla="*/ 28758 h 14710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25829" h="1471066">
                    <a:moveTo>
                      <a:pt x="697132" y="28758"/>
                    </a:moveTo>
                    <a:cubicBezTo>
                      <a:pt x="501870" y="47808"/>
                      <a:pt x="222470" y="106545"/>
                      <a:pt x="106582" y="228783"/>
                    </a:cubicBezTo>
                    <a:cubicBezTo>
                      <a:pt x="-9306" y="351021"/>
                      <a:pt x="4982" y="597083"/>
                      <a:pt x="1807" y="762183"/>
                    </a:cubicBezTo>
                    <a:cubicBezTo>
                      <a:pt x="-1368" y="927283"/>
                      <a:pt x="-10893" y="1103496"/>
                      <a:pt x="87532" y="1219383"/>
                    </a:cubicBezTo>
                    <a:cubicBezTo>
                      <a:pt x="185957" y="1335271"/>
                      <a:pt x="392332" y="1427346"/>
                      <a:pt x="592357" y="1457508"/>
                    </a:cubicBezTo>
                    <a:cubicBezTo>
                      <a:pt x="792382" y="1487670"/>
                      <a:pt x="1132107" y="1467033"/>
                      <a:pt x="1287682" y="1400358"/>
                    </a:cubicBezTo>
                    <a:cubicBezTo>
                      <a:pt x="1443257" y="1333683"/>
                      <a:pt x="1527394" y="1271770"/>
                      <a:pt x="1525807" y="1057458"/>
                    </a:cubicBezTo>
                    <a:cubicBezTo>
                      <a:pt x="1524220" y="843146"/>
                      <a:pt x="1416270" y="285933"/>
                      <a:pt x="1278157" y="114483"/>
                    </a:cubicBezTo>
                    <a:cubicBezTo>
                      <a:pt x="1140045" y="-56967"/>
                      <a:pt x="892394" y="9708"/>
                      <a:pt x="697132" y="28758"/>
                    </a:cubicBezTo>
                    <a:close/>
                  </a:path>
                </a:pathLst>
              </a:cu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ihandform: Form 52">
                <a:extLst>
                  <a:ext uri="{FF2B5EF4-FFF2-40B4-BE49-F238E27FC236}">
                    <a16:creationId xmlns:a16="http://schemas.microsoft.com/office/drawing/2014/main" id="{6B737E6E-ACD0-E26E-6865-1462D857A823}"/>
                  </a:ext>
                </a:extLst>
              </p:cNvPr>
              <p:cNvSpPr/>
              <p:nvPr/>
            </p:nvSpPr>
            <p:spPr>
              <a:xfrm rot="20247381">
                <a:off x="9028601" y="3875735"/>
                <a:ext cx="1415841" cy="1198928"/>
              </a:xfrm>
              <a:custGeom>
                <a:avLst/>
                <a:gdLst>
                  <a:gd name="csX0" fmla="*/ 306666 w 1415841"/>
                  <a:gd name="csY0" fmla="*/ 55915 h 1198928"/>
                  <a:gd name="csX1" fmla="*/ 59016 w 1415841"/>
                  <a:gd name="csY1" fmla="*/ 179740 h 1198928"/>
                  <a:gd name="csX2" fmla="*/ 49491 w 1415841"/>
                  <a:gd name="csY2" fmla="*/ 475015 h 1198928"/>
                  <a:gd name="csX3" fmla="*/ 620991 w 1415841"/>
                  <a:gd name="csY3" fmla="*/ 1198915 h 1198928"/>
                  <a:gd name="csX4" fmla="*/ 1402041 w 1415841"/>
                  <a:gd name="csY4" fmla="*/ 455965 h 1198928"/>
                  <a:gd name="csX5" fmla="*/ 1059141 w 1415841"/>
                  <a:gd name="csY5" fmla="*/ 27340 h 1198928"/>
                  <a:gd name="csX6" fmla="*/ 306666 w 1415841"/>
                  <a:gd name="csY6" fmla="*/ 55915 h 11989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15841" h="1198928">
                    <a:moveTo>
                      <a:pt x="306666" y="55915"/>
                    </a:moveTo>
                    <a:cubicBezTo>
                      <a:pt x="139979" y="81315"/>
                      <a:pt x="101879" y="109890"/>
                      <a:pt x="59016" y="179740"/>
                    </a:cubicBezTo>
                    <a:cubicBezTo>
                      <a:pt x="16153" y="249590"/>
                      <a:pt x="-44171" y="305153"/>
                      <a:pt x="49491" y="475015"/>
                    </a:cubicBezTo>
                    <a:cubicBezTo>
                      <a:pt x="143153" y="644877"/>
                      <a:pt x="395566" y="1202090"/>
                      <a:pt x="620991" y="1198915"/>
                    </a:cubicBezTo>
                    <a:cubicBezTo>
                      <a:pt x="846416" y="1195740"/>
                      <a:pt x="1329016" y="651227"/>
                      <a:pt x="1402041" y="455965"/>
                    </a:cubicBezTo>
                    <a:cubicBezTo>
                      <a:pt x="1475066" y="260703"/>
                      <a:pt x="1243291" y="92428"/>
                      <a:pt x="1059141" y="27340"/>
                    </a:cubicBezTo>
                    <a:cubicBezTo>
                      <a:pt x="874991" y="-37748"/>
                      <a:pt x="473353" y="30515"/>
                      <a:pt x="306666" y="55915"/>
                    </a:cubicBezTo>
                    <a:close/>
                  </a:path>
                </a:pathLst>
              </a:cu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sp>
          <p:nvSpPr>
            <p:cNvPr id="54" name="Freihandform: Form 53">
              <a:extLst>
                <a:ext uri="{FF2B5EF4-FFF2-40B4-BE49-F238E27FC236}">
                  <a16:creationId xmlns:a16="http://schemas.microsoft.com/office/drawing/2014/main" id="{300C3453-5E96-DC8C-C01F-7D995150B98F}"/>
                </a:ext>
              </a:extLst>
            </p:cNvPr>
            <p:cNvSpPr/>
            <p:nvPr/>
          </p:nvSpPr>
          <p:spPr>
            <a:xfrm rot="20247381">
              <a:off x="7346308" y="4013194"/>
              <a:ext cx="3464287" cy="1924068"/>
            </a:xfrm>
            <a:custGeom>
              <a:avLst/>
              <a:gdLst>
                <a:gd name="csX0" fmla="*/ 1444577 w 3464287"/>
                <a:gd name="csY0" fmla="*/ 56561 h 1924068"/>
                <a:gd name="csX1" fmla="*/ 301577 w 3464287"/>
                <a:gd name="csY1" fmla="*/ 180386 h 1924068"/>
                <a:gd name="csX2" fmla="*/ 15827 w 3464287"/>
                <a:gd name="csY2" fmla="*/ 732836 h 1924068"/>
                <a:gd name="csX3" fmla="*/ 86715 w 3464287"/>
                <a:gd name="csY3" fmla="*/ 1472862 h 1924068"/>
                <a:gd name="csX4" fmla="*/ 502944 w 3464287"/>
                <a:gd name="csY4" fmla="*/ 1811294 h 1924068"/>
                <a:gd name="csX5" fmla="*/ 1005649 w 3464287"/>
                <a:gd name="csY5" fmla="*/ 1917183 h 1924068"/>
                <a:gd name="csX6" fmla="*/ 1469437 w 3464287"/>
                <a:gd name="csY6" fmla="*/ 1913195 h 1924068"/>
                <a:gd name="csX7" fmla="*/ 2444702 w 3464287"/>
                <a:gd name="csY7" fmla="*/ 1628186 h 1924068"/>
                <a:gd name="csX8" fmla="*/ 3263852 w 3464287"/>
                <a:gd name="csY8" fmla="*/ 970961 h 1924068"/>
                <a:gd name="csX9" fmla="*/ 3463877 w 3464287"/>
                <a:gd name="csY9" fmla="*/ 485186 h 1924068"/>
                <a:gd name="csX10" fmla="*/ 3235277 w 3464287"/>
                <a:gd name="csY10" fmla="*/ 151811 h 1924068"/>
                <a:gd name="csX11" fmla="*/ 2930477 w 3464287"/>
                <a:gd name="csY11" fmla="*/ 18461 h 1924068"/>
                <a:gd name="csX12" fmla="*/ 2235152 w 3464287"/>
                <a:gd name="csY12" fmla="*/ 8936 h 1924068"/>
                <a:gd name="csX13" fmla="*/ 1444577 w 3464287"/>
                <a:gd name="csY13" fmla="*/ 56561 h 1924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464287" h="1924068">
                  <a:moveTo>
                    <a:pt x="1444577" y="56561"/>
                  </a:moveTo>
                  <a:cubicBezTo>
                    <a:pt x="1122315" y="85136"/>
                    <a:pt x="539702" y="67674"/>
                    <a:pt x="301577" y="180386"/>
                  </a:cubicBezTo>
                  <a:cubicBezTo>
                    <a:pt x="63452" y="293098"/>
                    <a:pt x="51637" y="517423"/>
                    <a:pt x="15827" y="732836"/>
                  </a:cubicBezTo>
                  <a:cubicBezTo>
                    <a:pt x="-19983" y="948249"/>
                    <a:pt x="5529" y="1293119"/>
                    <a:pt x="86715" y="1472862"/>
                  </a:cubicBezTo>
                  <a:cubicBezTo>
                    <a:pt x="167901" y="1652605"/>
                    <a:pt x="349788" y="1737241"/>
                    <a:pt x="502944" y="1811294"/>
                  </a:cubicBezTo>
                  <a:cubicBezTo>
                    <a:pt x="656100" y="1885348"/>
                    <a:pt x="844567" y="1900199"/>
                    <a:pt x="1005649" y="1917183"/>
                  </a:cubicBezTo>
                  <a:cubicBezTo>
                    <a:pt x="1166731" y="1934167"/>
                    <a:pt x="1166521" y="1914552"/>
                    <a:pt x="1469437" y="1913195"/>
                  </a:cubicBezTo>
                  <a:cubicBezTo>
                    <a:pt x="1772353" y="1911838"/>
                    <a:pt x="2145633" y="1785225"/>
                    <a:pt x="2444702" y="1628186"/>
                  </a:cubicBezTo>
                  <a:cubicBezTo>
                    <a:pt x="2743771" y="1471147"/>
                    <a:pt x="3093990" y="1161461"/>
                    <a:pt x="3263852" y="970961"/>
                  </a:cubicBezTo>
                  <a:cubicBezTo>
                    <a:pt x="3433714" y="780461"/>
                    <a:pt x="3468640" y="621711"/>
                    <a:pt x="3463877" y="485186"/>
                  </a:cubicBezTo>
                  <a:cubicBezTo>
                    <a:pt x="3459115" y="348661"/>
                    <a:pt x="3324177" y="229599"/>
                    <a:pt x="3235277" y="151811"/>
                  </a:cubicBezTo>
                  <a:cubicBezTo>
                    <a:pt x="3146377" y="74024"/>
                    <a:pt x="3033664" y="47036"/>
                    <a:pt x="2930477" y="18461"/>
                  </a:cubicBezTo>
                  <a:cubicBezTo>
                    <a:pt x="2827290" y="-10114"/>
                    <a:pt x="2487564" y="999"/>
                    <a:pt x="2235152" y="8936"/>
                  </a:cubicBezTo>
                  <a:cubicBezTo>
                    <a:pt x="1982740" y="16873"/>
                    <a:pt x="1766839" y="27986"/>
                    <a:pt x="1444577" y="56561"/>
                  </a:cubicBezTo>
                  <a:close/>
                </a:path>
              </a:pathLst>
            </a:custGeom>
            <a:ln w="25400">
              <a:solidFill>
                <a:srgbClr val="FF8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spTree>
    <p:extLst>
      <p:ext uri="{BB962C8B-B14F-4D97-AF65-F5344CB8AC3E}">
        <p14:creationId xmlns:p14="http://schemas.microsoft.com/office/powerpoint/2010/main" val="104972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Directed Graph</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33</a:t>
            </a:fld>
            <a:endParaRPr lang="en-US" noProof="0"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100" noProof="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en-US" sz="4000" noProof="0" dirty="0"/>
              <a:t>A</a:t>
            </a:r>
            <a:r>
              <a:rPr lang="en-US" sz="2000" noProof="0" dirty="0"/>
              <a:t>B</a:t>
            </a:r>
            <a:r>
              <a:rPr lang="en-US" sz="1000" noProof="0" dirty="0"/>
              <a:t>Y</a:t>
            </a:r>
          </a:p>
        </p:txBody>
      </p:sp>
      <p:sp>
        <p:nvSpPr>
          <p:cNvPr id="82" name="Textfeld 35"/>
          <p:cNvSpPr txBox="1"/>
          <p:nvPr/>
        </p:nvSpPr>
        <p:spPr>
          <a:xfrm>
            <a:off x="7445062" y="4544956"/>
            <a:ext cx="689612" cy="769441"/>
          </a:xfrm>
          <a:prstGeom prst="rect">
            <a:avLst/>
          </a:prstGeom>
          <a:noFill/>
        </p:spPr>
        <p:txBody>
          <a:bodyPr wrap="none" rtlCol="0">
            <a:spAutoFit/>
          </a:bodyPr>
          <a:lstStyle/>
          <a:p>
            <a:r>
              <a:rPr lang="en-US" sz="4400" noProof="0" dirty="0"/>
              <a:t>B</a:t>
            </a:r>
            <a:r>
              <a:rPr lang="en-US" sz="2400" noProof="0" dirty="0"/>
              <a:t>Y</a:t>
            </a:r>
            <a:r>
              <a:rPr lang="en-US" sz="800" noProof="0" dirty="0"/>
              <a:t>Z</a:t>
            </a:r>
          </a:p>
        </p:txBody>
      </p:sp>
      <p:sp>
        <p:nvSpPr>
          <p:cNvPr id="83" name="Textfeld 36"/>
          <p:cNvSpPr txBox="1"/>
          <p:nvPr/>
        </p:nvSpPr>
        <p:spPr>
          <a:xfrm>
            <a:off x="5127920" y="4492161"/>
            <a:ext cx="696024" cy="830997"/>
          </a:xfrm>
          <a:prstGeom prst="rect">
            <a:avLst/>
          </a:prstGeom>
          <a:noFill/>
        </p:spPr>
        <p:txBody>
          <a:bodyPr wrap="none" rtlCol="0">
            <a:spAutoFit/>
          </a:bodyPr>
          <a:lstStyle/>
          <a:p>
            <a:r>
              <a:rPr lang="en-US" sz="4800" noProof="0" dirty="0"/>
              <a:t>A</a:t>
            </a:r>
            <a:r>
              <a:rPr lang="en-US" sz="1200" noProof="0" dirty="0"/>
              <a:t>XY</a:t>
            </a:r>
          </a:p>
        </p:txBody>
      </p:sp>
      <p:sp>
        <p:nvSpPr>
          <p:cNvPr id="84" name="Textfeld 37"/>
          <p:cNvSpPr txBox="1"/>
          <p:nvPr/>
        </p:nvSpPr>
        <p:spPr>
          <a:xfrm>
            <a:off x="3391453" y="3044133"/>
            <a:ext cx="702436" cy="769441"/>
          </a:xfrm>
          <a:prstGeom prst="rect">
            <a:avLst/>
          </a:prstGeom>
          <a:noFill/>
        </p:spPr>
        <p:txBody>
          <a:bodyPr wrap="none" rtlCol="0">
            <a:spAutoFit/>
          </a:bodyPr>
          <a:lstStyle/>
          <a:p>
            <a:r>
              <a:rPr lang="en-US" sz="4400" noProof="0" dirty="0"/>
              <a:t>A</a:t>
            </a:r>
            <a:r>
              <a:rPr lang="en-US" sz="1100" noProof="0" dirty="0"/>
              <a:t>XY</a:t>
            </a:r>
            <a:r>
              <a:rPr lang="en-US" sz="800" noProof="0" dirty="0"/>
              <a:t>Z</a:t>
            </a:r>
          </a:p>
        </p:txBody>
      </p:sp>
      <p:sp>
        <p:nvSpPr>
          <p:cNvPr id="85" name="Textfeld 38"/>
          <p:cNvSpPr txBox="1"/>
          <p:nvPr/>
        </p:nvSpPr>
        <p:spPr>
          <a:xfrm>
            <a:off x="1073569" y="3002724"/>
            <a:ext cx="647934" cy="830997"/>
          </a:xfrm>
          <a:prstGeom prst="rect">
            <a:avLst/>
          </a:prstGeom>
          <a:noFill/>
        </p:spPr>
        <p:txBody>
          <a:bodyPr wrap="none" rtlCol="0">
            <a:spAutoFit/>
          </a:bodyPr>
          <a:lstStyle/>
          <a:p>
            <a:r>
              <a:rPr lang="en-US" sz="4800" noProof="0" dirty="0"/>
              <a:t>X</a:t>
            </a:r>
            <a:r>
              <a:rPr lang="en-US" sz="2400" noProof="0" dirty="0"/>
              <a:t>Z</a:t>
            </a:r>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88" name="Textfeld 44"/>
          <p:cNvSpPr txBox="1"/>
          <p:nvPr/>
        </p:nvSpPr>
        <p:spPr>
          <a:xfrm>
            <a:off x="5591103" y="3270871"/>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95%</a:t>
            </a: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en-US" sz="1600" noProof="0" dirty="0">
                <a:latin typeface="Cambria Math" panose="02040503050406030204" pitchFamily="18" charset="0"/>
                <a:ea typeface="Cambria Math" panose="02040503050406030204" pitchFamily="18" charset="0"/>
              </a:rPr>
              <a:t>94%</a:t>
            </a:r>
          </a:p>
        </p:txBody>
      </p:sp>
      <p:sp>
        <p:nvSpPr>
          <p:cNvPr id="93" name="Textfeld 49"/>
          <p:cNvSpPr txBox="1"/>
          <p:nvPr/>
        </p:nvSpPr>
        <p:spPr>
          <a:xfrm>
            <a:off x="2222735" y="3043078"/>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94" name="Textfeld 68"/>
          <p:cNvSpPr txBox="1"/>
          <p:nvPr/>
        </p:nvSpPr>
        <p:spPr>
          <a:xfrm>
            <a:off x="6368115" y="1985271"/>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43%</a:t>
            </a:r>
          </a:p>
        </p:txBody>
      </p:sp>
      <p:sp>
        <p:nvSpPr>
          <p:cNvPr id="95" name="Textfeld 69"/>
          <p:cNvSpPr txBox="1"/>
          <p:nvPr/>
        </p:nvSpPr>
        <p:spPr>
          <a:xfrm>
            <a:off x="4796125" y="3259574"/>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71%</a:t>
            </a: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71%</a:t>
            </a:r>
          </a:p>
        </p:txBody>
      </p:sp>
      <p:sp>
        <p:nvSpPr>
          <p:cNvPr id="97" name="Textfeld 71"/>
          <p:cNvSpPr txBox="1"/>
          <p:nvPr/>
        </p:nvSpPr>
        <p:spPr>
          <a:xfrm>
            <a:off x="2294885" y="3554449"/>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23%</a:t>
            </a: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en-US" sz="4800" noProof="0" dirty="0"/>
              <a:t>B</a:t>
            </a:r>
            <a:r>
              <a:rPr lang="en-US" sz="2400" noProof="0" dirty="0"/>
              <a:t>Y</a:t>
            </a:r>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95%</a:t>
            </a: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en-US" sz="4400" noProof="0" dirty="0"/>
              <a:t>A</a:t>
            </a:r>
            <a:r>
              <a:rPr lang="en-US" sz="1100" noProof="0" dirty="0"/>
              <a:t>XY</a:t>
            </a:r>
            <a:r>
              <a:rPr lang="en-US" sz="800" noProof="0" dirty="0"/>
              <a:t>V</a:t>
            </a:r>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noProof="0" dirty="0">
                <a:solidFill>
                  <a:srgbClr val="00B0F0"/>
                </a:solidFill>
              </a:rPr>
              <a:t>Search</a:t>
            </a:r>
          </a:p>
          <a:p>
            <a:pPr marL="216000" indent="-216000">
              <a:buClr>
                <a:srgbClr val="00B0F0"/>
              </a:buClr>
              <a:buFont typeface="Wingdings" panose="05000000000000000000" pitchFamily="2" charset="2"/>
              <a:buChar char="§"/>
            </a:pPr>
            <a:r>
              <a:rPr lang="en-US" sz="1400" noProof="0" dirty="0"/>
              <a:t>Required: high Threshold, i.e. 90%</a:t>
            </a:r>
          </a:p>
          <a:p>
            <a:pPr marL="216000" indent="-216000">
              <a:buClr>
                <a:srgbClr val="00B0F0"/>
              </a:buClr>
              <a:buFont typeface="Wingdings" panose="05000000000000000000" pitchFamily="2" charset="2"/>
              <a:buChar char="§"/>
            </a:pPr>
            <a:r>
              <a:rPr lang="en-US" sz="1400" noProof="0" dirty="0"/>
              <a:t>Connections in both directions enable transitivity</a:t>
            </a:r>
          </a:p>
          <a:p>
            <a:pPr marL="216000" indent="-216000">
              <a:buClr>
                <a:srgbClr val="00B0F0"/>
              </a:buClr>
              <a:buFont typeface="Wingdings" panose="05000000000000000000" pitchFamily="2" charset="2"/>
              <a:buChar char="§"/>
            </a:pPr>
            <a:r>
              <a:rPr lang="en-US" sz="1400" noProof="0" dirty="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noProof="0" dirty="0">
                <a:solidFill>
                  <a:srgbClr val="00B0F0"/>
                </a:solidFill>
              </a:rPr>
              <a:t>Mirroring</a:t>
            </a:r>
            <a:r>
              <a:rPr lang="en-US" sz="1400" noProof="0" dirty="0"/>
              <a:t>*</a:t>
            </a:r>
            <a:endParaRPr lang="en-US" sz="1400" baseline="30000" noProof="0" dirty="0"/>
          </a:p>
          <a:p>
            <a:pPr marL="216000" indent="-216000">
              <a:buClr>
                <a:srgbClr val="00B0F0"/>
              </a:buClr>
              <a:buFont typeface="Wingdings" panose="05000000000000000000" pitchFamily="2" charset="2"/>
              <a:buChar char="§"/>
            </a:pPr>
            <a:r>
              <a:rPr lang="en-US" sz="1400" noProof="0" dirty="0"/>
              <a:t>Creates a </a:t>
            </a:r>
            <a:r>
              <a:rPr lang="en-US" sz="1400" noProof="0" dirty="0">
                <a:solidFill>
                  <a:srgbClr val="00B0F0"/>
                </a:solidFill>
              </a:rPr>
              <a:t>dummy run n </a:t>
            </a:r>
            <a:r>
              <a:rPr lang="en-US" sz="1400" noProof="0" dirty="0"/>
              <a:t>for all  reversed connections not yet established</a:t>
            </a:r>
          </a:p>
          <a:p>
            <a:pPr marL="216000" indent="-216000">
              <a:buClr>
                <a:srgbClr val="00B0F0"/>
              </a:buClr>
              <a:buFont typeface="Wingdings" panose="05000000000000000000" pitchFamily="2" charset="2"/>
              <a:buChar char="§"/>
            </a:pPr>
            <a:r>
              <a:rPr lang="en-US" sz="1400" noProof="0" dirty="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4" name="Textfeld 69"/>
          <p:cNvSpPr txBox="1"/>
          <p:nvPr/>
        </p:nvSpPr>
        <p:spPr>
          <a:xfrm>
            <a:off x="4898144" y="3255796"/>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5" name="Textfeld 69"/>
          <p:cNvSpPr txBox="1"/>
          <p:nvPr/>
        </p:nvSpPr>
        <p:spPr>
          <a:xfrm>
            <a:off x="6493936" y="1995032"/>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noProof="0" dirty="0">
                <a:solidFill>
                  <a:srgbClr val="00B0F0"/>
                </a:solidFill>
              </a:rPr>
              <a:t>Research</a:t>
            </a:r>
            <a:r>
              <a:rPr lang="en-US" sz="1400" noProof="0" dirty="0"/>
              <a:t>*</a:t>
            </a:r>
            <a:endParaRPr lang="en-US" sz="1400" baseline="30000" noProof="0" dirty="0"/>
          </a:p>
          <a:p>
            <a:pPr marL="216000" indent="-216000">
              <a:buClr>
                <a:srgbClr val="00B0F0"/>
              </a:buClr>
              <a:buFont typeface="Wingdings" panose="05000000000000000000" pitchFamily="2" charset="2"/>
              <a:buChar char="§"/>
            </a:pPr>
            <a:r>
              <a:rPr lang="en-US" sz="1400" noProof="0" dirty="0"/>
              <a:t>Re-evaluates Identity for selected runs given current settings</a:t>
            </a:r>
          </a:p>
          <a:p>
            <a:pPr marL="216000" indent="-216000">
              <a:buClr>
                <a:srgbClr val="00B0F0"/>
              </a:buClr>
              <a:buFont typeface="Wingdings" panose="05000000000000000000" pitchFamily="2" charset="2"/>
              <a:buChar char="§"/>
            </a:pPr>
            <a:r>
              <a:rPr lang="en-US" sz="1400" noProof="0" dirty="0"/>
              <a:t>Apply on </a:t>
            </a:r>
            <a:r>
              <a:rPr lang="en-US" sz="1400" noProof="0" dirty="0">
                <a:solidFill>
                  <a:srgbClr val="00B0F0"/>
                </a:solidFill>
              </a:rPr>
              <a:t>dummy run n</a:t>
            </a:r>
          </a:p>
          <a:p>
            <a:pPr marL="216000" indent="-216000">
              <a:buClr>
                <a:srgbClr val="00B0F0"/>
              </a:buClr>
              <a:buFont typeface="Wingdings" panose="05000000000000000000" pitchFamily="2" charset="2"/>
              <a:buChar char="§"/>
            </a:pPr>
            <a:r>
              <a:rPr lang="en-US" sz="1400" noProof="0" dirty="0"/>
              <a:t>Log-smoothing on critical search types is advised as retrieval is of no concern</a:t>
            </a:r>
            <a:br>
              <a:rPr lang="en-US" sz="1400" noProof="0" dirty="0"/>
            </a:br>
            <a:r>
              <a:rPr lang="en-US" sz="4000" noProof="0" dirty="0"/>
              <a:t>A</a:t>
            </a:r>
            <a:r>
              <a:rPr lang="en-US" sz="2000" noProof="0" dirty="0"/>
              <a:t>B</a:t>
            </a:r>
            <a:r>
              <a:rPr lang="en-US" sz="1000" noProof="0" dirty="0"/>
              <a:t>Y</a:t>
            </a:r>
            <a:r>
              <a:rPr lang="en-US" sz="2400" noProof="0" dirty="0"/>
              <a:t>→</a:t>
            </a:r>
            <a:r>
              <a:rPr lang="en-US" sz="2800" noProof="0" dirty="0"/>
              <a:t>A</a:t>
            </a:r>
            <a:r>
              <a:rPr lang="en-US" sz="2400" noProof="0" dirty="0"/>
              <a:t>B</a:t>
            </a:r>
            <a:r>
              <a:rPr lang="en-US" sz="1600" noProof="0" dirty="0"/>
              <a:t>Y</a:t>
            </a:r>
          </a:p>
        </p:txBody>
      </p:sp>
      <p:sp>
        <p:nvSpPr>
          <p:cNvPr id="4" name="Textfeld 3">
            <a:extLst>
              <a:ext uri="{FF2B5EF4-FFF2-40B4-BE49-F238E27FC236}">
                <a16:creationId xmlns:a16="http://schemas.microsoft.com/office/drawing/2014/main" id="{083D2629-9C53-C41B-D9A1-C3246F279165}"/>
              </a:ext>
            </a:extLst>
          </p:cNvPr>
          <p:cNvSpPr txBox="1"/>
          <p:nvPr/>
        </p:nvSpPr>
        <p:spPr>
          <a:xfrm>
            <a:off x="8305800" y="5972175"/>
            <a:ext cx="3855607" cy="369332"/>
          </a:xfrm>
          <a:prstGeom prst="rect">
            <a:avLst/>
          </a:prstGeom>
          <a:noFill/>
        </p:spPr>
        <p:txBody>
          <a:bodyPr wrap="none" rtlCol="0">
            <a:spAutoFit/>
          </a:bodyPr>
          <a:lstStyle/>
          <a:p>
            <a:r>
              <a:rPr lang="en-US" dirty="0"/>
              <a:t>*not required for </a:t>
            </a:r>
            <a:r>
              <a:rPr lang="en-US" dirty="0">
                <a:solidFill>
                  <a:srgbClr val="00B0F0"/>
                </a:solidFill>
              </a:rPr>
              <a:t>SEML</a:t>
            </a:r>
            <a:r>
              <a:rPr lang="en-US" dirty="0"/>
              <a:t> based Traversal</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grpId="0" nodeType="clickEffect">
                                  <p:stCondLst>
                                    <p:cond delay="0"/>
                                  </p:stCondLst>
                                  <p:childTnLst>
                                    <p:set>
                                      <p:cBhvr>
                                        <p:cTn id="36" dur="1" fill="hold">
                                          <p:stCondLst>
                                            <p:cond delay="0"/>
                                          </p:stCondLst>
                                        </p:cTn>
                                        <p:tgtEl>
                                          <p:spTgt spid="94"/>
                                        </p:tgtEl>
                                        <p:attrNameLst>
                                          <p:attrName>style.visibility</p:attrName>
                                        </p:attrNameLst>
                                      </p:cBhvr>
                                      <p:to>
                                        <p:strVal val="visible"/>
                                      </p:to>
                                    </p:set>
                                    <p:animEffect transition="in" filter="wipe(up)">
                                      <p:cBhvr>
                                        <p:cTn id="37" dur="500"/>
                                        <p:tgtEl>
                                          <p:spTgt spid="94"/>
                                        </p:tgtEl>
                                      </p:cBhvr>
                                    </p:animEffect>
                                  </p:childTnLst>
                                </p:cTn>
                              </p:par>
                              <p:par>
                                <p:cTn id="38" presetID="22" presetClass="entr" presetSubtype="2"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wipe(right)">
                                      <p:cBhvr>
                                        <p:cTn id="40" dur="500"/>
                                        <p:tgtEl>
                                          <p:spTgt spid="95"/>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96"/>
                                        </p:tgtEl>
                                        <p:attrNameLst>
                                          <p:attrName>style.visibility</p:attrName>
                                        </p:attrNameLst>
                                      </p:cBhvr>
                                      <p:to>
                                        <p:strVal val="visible"/>
                                      </p:to>
                                    </p:set>
                                    <p:animEffect transition="in" filter="wipe(left)">
                                      <p:cBhvr>
                                        <p:cTn id="43" dur="500"/>
                                        <p:tgtEl>
                                          <p:spTgt spid="96"/>
                                        </p:tgtEl>
                                      </p:cBhvr>
                                    </p:animEffect>
                                  </p:childTnLst>
                                </p:cTn>
                              </p:par>
                              <p:par>
                                <p:cTn id="44" presetID="22" presetClass="entr" presetSubtype="1" fill="hold" grpId="0" nodeType="withEffect">
                                  <p:stCondLst>
                                    <p:cond delay="0"/>
                                  </p:stCondLst>
                                  <p:childTnLst>
                                    <p:set>
                                      <p:cBhvr>
                                        <p:cTn id="45" dur="1" fill="hold">
                                          <p:stCondLst>
                                            <p:cond delay="0"/>
                                          </p:stCondLst>
                                        </p:cTn>
                                        <p:tgtEl>
                                          <p:spTgt spid="97"/>
                                        </p:tgtEl>
                                        <p:attrNameLst>
                                          <p:attrName>style.visibility</p:attrName>
                                        </p:attrNameLst>
                                      </p:cBhvr>
                                      <p:to>
                                        <p:strVal val="visible"/>
                                      </p:to>
                                    </p:set>
                                    <p:animEffect transition="in" filter="wipe(up)">
                                      <p:cBhvr>
                                        <p:cTn id="46" dur="500"/>
                                        <p:tgtEl>
                                          <p:spTgt spid="97"/>
                                        </p:tgtEl>
                                      </p:cBhvr>
                                    </p:animEffect>
                                  </p:childTnLst>
                                </p:cTn>
                              </p:par>
                              <p:par>
                                <p:cTn id="47" presetID="1" presetClass="exit" presetSubtype="0" fill="hold" grpId="1" nodeType="withEffect">
                                  <p:stCondLst>
                                    <p:cond delay="0"/>
                                  </p:stCondLst>
                                  <p:childTnLst>
                                    <p:set>
                                      <p:cBhvr>
                                        <p:cTn id="48" dur="1" fill="hold">
                                          <p:stCondLst>
                                            <p:cond delay="0"/>
                                          </p:stCondLst>
                                        </p:cTn>
                                        <p:tgtEl>
                                          <p:spTgt spid="132"/>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3"/>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4"/>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135"/>
                                        </p:tgtEl>
                                        <p:attrNameLst>
                                          <p:attrName>style.visibility</p:attrName>
                                        </p:attrNameLst>
                                      </p:cBhvr>
                                      <p:to>
                                        <p:strVal val="hidden"/>
                                      </p:to>
                                    </p:set>
                                  </p:childTnLst>
                                </p:cTn>
                              </p:par>
                              <p:par>
                                <p:cTn id="55" presetID="1" presetClass="entr" presetSubtype="0" fill="hold" grpId="0" nodeType="withEffect">
                                  <p:stCondLst>
                                    <p:cond delay="0"/>
                                  </p:stCondLst>
                                  <p:childTnLst>
                                    <p:set>
                                      <p:cBhvr>
                                        <p:cTn id="56"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Undirected Graph</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34</a:t>
            </a:fld>
            <a:endParaRPr lang="en-US" noProof="0"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noProof="0" dirty="0">
                <a:solidFill>
                  <a:srgbClr val="00B0F0"/>
                </a:solidFill>
              </a:rPr>
              <a:t>p = Score Percentile</a:t>
            </a:r>
          </a:p>
          <a:p>
            <a:pPr>
              <a:buClr>
                <a:srgbClr val="00B0F0"/>
              </a:buClr>
            </a:pPr>
            <a:r>
              <a:rPr lang="en-US" sz="1400" noProof="0" dirty="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4</m:t>
                                </m:r>
                                <m:r>
                                  <a:rPr lang="en-US" sz="1400" i="1" noProof="0" smtClean="0">
                                    <a:solidFill>
                                      <a:srgbClr val="00AAE5"/>
                                    </a:solidFill>
                                    <a:latin typeface="Cambria Math" panose="02040503050406030204" pitchFamily="18" charset="0"/>
                                  </a:rPr>
                                  <m:t>3%</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60</m:t>
                                </m:r>
                              </m:e>
                              <m:e>
                                <m:r>
                                  <a:rPr lang="en-US" sz="1400" i="1" noProof="0" smtClean="0">
                                    <a:latin typeface="Cambria Math" panose="02040503050406030204" pitchFamily="18" charset="0"/>
                                  </a:rPr>
                                  <m:t>37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7</m:t>
                                </m:r>
                                <m:r>
                                  <a:rPr lang="en-US" sz="1400" i="1" noProof="0" smtClean="0">
                                    <a:solidFill>
                                      <a:srgbClr val="00AAE5"/>
                                    </a:solidFill>
                                    <a:latin typeface="Cambria Math" panose="02040503050406030204" pitchFamily="18" charset="0"/>
                                  </a:rPr>
                                  <m:t>1%</m:t>
                                </m:r>
                              </m:e>
                              <m:e>
                                <m:r>
                                  <a:rPr lang="en-US" sz="1400" i="1" noProof="0" smtClean="0">
                                    <a:latin typeface="Cambria Math" panose="02040503050406030204" pitchFamily="18" charset="0"/>
                                  </a:rPr>
                                  <m:t>94%</m:t>
                                </m:r>
                              </m:e>
                            </m:mr>
                            <m:mr>
                              <m:e>
                                <m:r>
                                  <a:rPr lang="en-US" sz="1400" i="1" noProof="0" smtClean="0">
                                    <a:latin typeface="Cambria Math" panose="02040503050406030204" pitchFamily="18" charset="0"/>
                                  </a:rPr>
                                  <m:t>140</m:t>
                                </m:r>
                              </m:e>
                              <m:e>
                                <m:r>
                                  <a:rPr lang="en-US" sz="1400" i="1" noProof="0" smtClean="0">
                                    <a:latin typeface="Cambria Math" panose="02040503050406030204" pitchFamily="18" charset="0"/>
                                  </a:rPr>
                                  <m:t>89</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7</m:t>
                                </m:r>
                                <m:r>
                                  <a:rPr lang="en-US" sz="1400" i="1" noProof="0" smtClean="0">
                                    <a:solidFill>
                                      <a:srgbClr val="00AAE5"/>
                                    </a:solidFill>
                                    <a:latin typeface="Cambria Math" panose="02040503050406030204" pitchFamily="18" charset="0"/>
                                  </a:rPr>
                                  <m:t>1%</m:t>
                                </m:r>
                              </m:e>
                              <m:e>
                                <m:r>
                                  <a:rPr lang="en-US" sz="1400" i="1" noProof="0" smtClean="0">
                                    <a:latin typeface="Cambria Math" panose="02040503050406030204" pitchFamily="18" charset="0"/>
                                  </a:rPr>
                                  <m:t>95%</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600" i="1" noProof="0">
                              <a:latin typeface="Cambria Math" panose="02040503050406030204" pitchFamily="18" charset="0"/>
                            </a:rPr>
                          </m:ctrlPr>
                        </m:dPr>
                        <m:e>
                          <m:m>
                            <m:mPr>
                              <m:mcs>
                                <m:mc>
                                  <m:mcPr>
                                    <m:count m:val="2"/>
                                    <m:mcJc m:val="center"/>
                                  </m:mcPr>
                                </m:mc>
                              </m:mcs>
                              <m:ctrlPr>
                                <a:rPr lang="en-US" sz="1600" i="1" noProof="0">
                                  <a:latin typeface="Cambria Math" panose="02040503050406030204" pitchFamily="18" charset="0"/>
                                </a:rPr>
                              </m:ctrlPr>
                            </m:mPr>
                            <m:mr>
                              <m:e>
                                <m:r>
                                  <a:rPr lang="en-US" sz="1600" i="1" noProof="0" smtClean="0">
                                    <a:latin typeface="Cambria Math" panose="02040503050406030204" pitchFamily="18" charset="0"/>
                                  </a:rPr>
                                  <m:t>𝑚𝑖𝑛</m:t>
                                </m:r>
                              </m:e>
                              <m:e>
                                <m:r>
                                  <a:rPr lang="en-US" sz="1600" i="1" noProof="0" smtClean="0">
                                    <a:latin typeface="Cambria Math" panose="02040503050406030204" pitchFamily="18" charset="0"/>
                                  </a:rPr>
                                  <m:t>𝑚𝑎𝑥</m:t>
                                </m:r>
                              </m:e>
                            </m:mr>
                            <m:mr>
                              <m:e>
                                <m:r>
                                  <a:rPr lang="en-US" sz="1600" i="1" noProof="0" smtClean="0">
                                    <a:latin typeface="Cambria Math" panose="02040503050406030204" pitchFamily="18" charset="0"/>
                                  </a:rPr>
                                  <m:t>𝑠</m:t>
                                </m:r>
                              </m:e>
                              <m:e>
                                <m:r>
                                  <a:rPr lang="en-US" sz="1600" i="1" noProof="0" smtClean="0">
                                    <a:latin typeface="Cambria Math" panose="02040503050406030204" pitchFamily="18" charset="0"/>
                                  </a:rPr>
                                  <m:t>𝑝</m:t>
                                </m:r>
                              </m:e>
                            </m:mr>
                          </m:m>
                        </m:e>
                      </m:d>
                    </m:oMath>
                  </m:oMathPara>
                </a14:m>
                <a:endParaRPr lang="en-US" sz="1600" noProof="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2</m:t>
                                </m:r>
                                <m:r>
                                  <a:rPr lang="en-US" sz="1400" i="1" noProof="0" smtClean="0">
                                    <a:solidFill>
                                      <a:srgbClr val="00AAE5"/>
                                    </a:solidFill>
                                    <a:latin typeface="Cambria Math" panose="02040503050406030204" pitchFamily="18" charset="0"/>
                                  </a:rPr>
                                  <m:t>3%</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30</m:t>
                                </m:r>
                              </m:e>
                              <m:e>
                                <m:r>
                                  <a:rPr lang="en-US" sz="1400" i="1" noProof="0" smtClean="0">
                                    <a:latin typeface="Cambria Math" panose="02040503050406030204" pitchFamily="18" charset="0"/>
                                  </a:rPr>
                                  <m:t>13</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100" noProof="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en-US" sz="4000" noProof="0" dirty="0"/>
              <a:t>A</a:t>
            </a:r>
            <a:r>
              <a:rPr lang="en-US" sz="2000" noProof="0" dirty="0"/>
              <a:t>B</a:t>
            </a:r>
            <a:r>
              <a:rPr lang="en-US" sz="1000" noProof="0" dirty="0"/>
              <a:t>Y</a:t>
            </a:r>
          </a:p>
        </p:txBody>
      </p:sp>
      <p:sp>
        <p:nvSpPr>
          <p:cNvPr id="154" name="Textfeld 51"/>
          <p:cNvSpPr txBox="1"/>
          <p:nvPr/>
        </p:nvSpPr>
        <p:spPr>
          <a:xfrm>
            <a:off x="7439129" y="1456083"/>
            <a:ext cx="670376" cy="830997"/>
          </a:xfrm>
          <a:prstGeom prst="rect">
            <a:avLst/>
          </a:prstGeom>
          <a:noFill/>
        </p:spPr>
        <p:txBody>
          <a:bodyPr wrap="none" rtlCol="0">
            <a:spAutoFit/>
          </a:bodyPr>
          <a:lstStyle/>
          <a:p>
            <a:r>
              <a:rPr lang="en-US" sz="4800" noProof="0" dirty="0"/>
              <a:t>B</a:t>
            </a:r>
            <a:r>
              <a:rPr lang="en-US" sz="2400" noProof="0" dirty="0"/>
              <a:t>Y</a:t>
            </a:r>
          </a:p>
        </p:txBody>
      </p:sp>
      <p:sp>
        <p:nvSpPr>
          <p:cNvPr id="155" name="Textfeld 52"/>
          <p:cNvSpPr txBox="1"/>
          <p:nvPr/>
        </p:nvSpPr>
        <p:spPr>
          <a:xfrm>
            <a:off x="5124170" y="4492161"/>
            <a:ext cx="696024" cy="830997"/>
          </a:xfrm>
          <a:prstGeom prst="rect">
            <a:avLst/>
          </a:prstGeom>
          <a:noFill/>
        </p:spPr>
        <p:txBody>
          <a:bodyPr wrap="none" rtlCol="0">
            <a:spAutoFit/>
          </a:bodyPr>
          <a:lstStyle/>
          <a:p>
            <a:r>
              <a:rPr lang="en-US" sz="4800" noProof="0" dirty="0"/>
              <a:t>A</a:t>
            </a:r>
            <a:r>
              <a:rPr lang="en-US" sz="1200" noProof="0" dirty="0"/>
              <a:t>XY</a:t>
            </a:r>
          </a:p>
        </p:txBody>
      </p:sp>
      <p:sp>
        <p:nvSpPr>
          <p:cNvPr id="156" name="Textfeld 53"/>
          <p:cNvSpPr txBox="1"/>
          <p:nvPr/>
        </p:nvSpPr>
        <p:spPr>
          <a:xfrm>
            <a:off x="3387703" y="3044133"/>
            <a:ext cx="702436" cy="769441"/>
          </a:xfrm>
          <a:prstGeom prst="rect">
            <a:avLst/>
          </a:prstGeom>
          <a:noFill/>
        </p:spPr>
        <p:txBody>
          <a:bodyPr wrap="none" rtlCol="0">
            <a:spAutoFit/>
          </a:bodyPr>
          <a:lstStyle/>
          <a:p>
            <a:r>
              <a:rPr lang="en-US" sz="4400" noProof="0" dirty="0"/>
              <a:t>A</a:t>
            </a:r>
            <a:r>
              <a:rPr lang="en-US" sz="1100" noProof="0" dirty="0"/>
              <a:t>XY</a:t>
            </a:r>
            <a:r>
              <a:rPr lang="en-US" sz="800" noProof="0" dirty="0"/>
              <a:t>Z</a:t>
            </a:r>
          </a:p>
        </p:txBody>
      </p:sp>
      <p:sp>
        <p:nvSpPr>
          <p:cNvPr id="157" name="Textfeld 54"/>
          <p:cNvSpPr txBox="1"/>
          <p:nvPr/>
        </p:nvSpPr>
        <p:spPr>
          <a:xfrm>
            <a:off x="1069819" y="3002724"/>
            <a:ext cx="647934" cy="830997"/>
          </a:xfrm>
          <a:prstGeom prst="rect">
            <a:avLst/>
          </a:prstGeom>
          <a:noFill/>
        </p:spPr>
        <p:txBody>
          <a:bodyPr wrap="none" rtlCol="0">
            <a:spAutoFit/>
          </a:bodyPr>
          <a:lstStyle/>
          <a:p>
            <a:r>
              <a:rPr lang="en-US" sz="4800" noProof="0" dirty="0"/>
              <a:t>X</a:t>
            </a:r>
            <a:r>
              <a:rPr lang="en-US" sz="2400" noProof="0" dirty="0"/>
              <a:t>Z</a:t>
            </a:r>
          </a:p>
        </p:txBody>
      </p:sp>
      <p:sp>
        <p:nvSpPr>
          <p:cNvPr id="158" name="Textfeld 26"/>
          <p:cNvSpPr txBox="1"/>
          <p:nvPr/>
        </p:nvSpPr>
        <p:spPr>
          <a:xfrm>
            <a:off x="7441312" y="4544956"/>
            <a:ext cx="689612" cy="769441"/>
          </a:xfrm>
          <a:prstGeom prst="rect">
            <a:avLst/>
          </a:prstGeom>
          <a:noFill/>
        </p:spPr>
        <p:txBody>
          <a:bodyPr wrap="none" rtlCol="0">
            <a:spAutoFit/>
          </a:bodyPr>
          <a:lstStyle/>
          <a:p>
            <a:r>
              <a:rPr lang="en-US" sz="4400" noProof="0" dirty="0"/>
              <a:t>B</a:t>
            </a:r>
            <a:r>
              <a:rPr lang="en-US" sz="2400" noProof="0" dirty="0"/>
              <a:t>Y</a:t>
            </a:r>
            <a:r>
              <a:rPr lang="en-US" sz="800" noProof="0" dirty="0"/>
              <a:t>Z</a:t>
            </a:r>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en-US" sz="4400" noProof="0" dirty="0"/>
              <a:t>A</a:t>
            </a:r>
            <a:r>
              <a:rPr lang="en-US" sz="1100" noProof="0" dirty="0"/>
              <a:t>XY</a:t>
            </a:r>
            <a:r>
              <a:rPr lang="en-US" sz="800" noProof="0" dirty="0"/>
              <a:t>V</a:t>
            </a:r>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130</m:t>
                                </m:r>
                              </m:e>
                              <m:e>
                                <m:r>
                                  <a:rPr lang="en-US" sz="1400" i="1" noProof="0" smtClean="0">
                                    <a:latin typeface="Cambria Math" panose="02040503050406030204" pitchFamily="18" charset="0"/>
                                  </a:rPr>
                                  <m:t>88</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5%</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64</m:t>
                                </m:r>
                              </m:e>
                              <m:e>
                                <m:r>
                                  <a:rPr lang="en-US" sz="1400" i="1" noProof="0" smtClean="0">
                                    <a:latin typeface="Cambria Math" panose="02040503050406030204" pitchFamily="18" charset="0"/>
                                  </a:rPr>
                                  <m:t>38</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noProof="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noProof="0" dirty="0">
                <a:solidFill>
                  <a:srgbClr val="00B0F0"/>
                </a:solidFill>
              </a:rPr>
              <a:t>s = Score</a:t>
            </a:r>
          </a:p>
          <a:p>
            <a:r>
              <a:rPr lang="en-US" sz="1400" noProof="0" dirty="0"/>
              <a:t>The score of a word is its associated weight divided by its frequency. The score of a search term is the sum off all word scores.</a:t>
            </a:r>
          </a:p>
          <a:p>
            <a:r>
              <a:rPr lang="en-US" sz="1400" noProof="0" dirty="0"/>
              <a:t>The minimum score of both involved search terms is used.</a:t>
            </a:r>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noProof="0" dirty="0">
                <a:solidFill>
                  <a:srgbClr val="00B0F0"/>
                </a:solidFill>
              </a:rPr>
              <a:t>min, max of the identities</a:t>
            </a:r>
          </a:p>
          <a:p>
            <a:r>
              <a:rPr lang="en-US" sz="1400" noProof="0" dirty="0"/>
              <a:t>of both directions</a:t>
            </a:r>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
                      <m:r>
                        <a:rPr lang="en-US" sz="3000" b="0" i="1" noProof="0" smtClean="0">
                          <a:latin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m:t>
                      </m:r>
                      <m:r>
                        <m:rPr>
                          <m:sty m:val="p"/>
                        </m:rPr>
                        <a:rPr lang="en-US" sz="3000" b="0" i="0" noProof="0" smtClean="0">
                          <a:latin typeface="Cambria Math" panose="02040503050406030204" pitchFamily="18" charset="0"/>
                          <a:ea typeface="Cambria Math" panose="02040503050406030204" pitchFamily="18" charset="0"/>
                        </a:rPr>
                        <m:t>or</m:t>
                      </m:r>
                      <m:r>
                        <a:rPr lang="en-US" sz="3000" b="0" i="1" noProof="0" smtClean="0">
                          <a:latin typeface="Cambria Math" panose="02040503050406030204" pitchFamily="18" charset="0"/>
                          <a:ea typeface="Cambria Math" panose="02040503050406030204" pitchFamily="18" charset="0"/>
                        </a:rPr>
                        <m:t> </m:t>
                      </m:r>
                      <m:r>
                        <a:rPr lang="en-US" sz="3000" b="0" i="1" noProof="0" smtClean="0">
                          <a:latin typeface="Cambria Math" panose="02040503050406030204" pitchFamily="18" charset="0"/>
                          <a:ea typeface="Cambria Math" panose="02040503050406030204" pitchFamily="18" charset="0"/>
                        </a:rPr>
                        <m:t>𝑝</m:t>
                      </m:r>
                      <m:r>
                        <a:rPr lang="en-US" sz="3000" b="0" i="1" noProof="0" smtClean="0">
                          <a:latin typeface="Cambria Math" panose="02040503050406030204" pitchFamily="18" charset="0"/>
                          <a:ea typeface="Cambria Math" panose="02040503050406030204" pitchFamily="18" charset="0"/>
                        </a:rPr>
                        <m:t>≥70 </m:t>
                      </m:r>
                      <m:r>
                        <m:rPr>
                          <m:sty m:val="p"/>
                        </m:rPr>
                        <a:rPr lang="en-US" sz="3000" b="0" i="0" noProof="0" smtClean="0">
                          <a:latin typeface="Cambria Math" panose="02040503050406030204" pitchFamily="18" charset="0"/>
                          <a:ea typeface="Cambria Math" panose="02040503050406030204" pitchFamily="18" charset="0"/>
                        </a:rPr>
                        <m:t>and</m:t>
                      </m:r>
                      <m:r>
                        <a:rPr lang="en-US" sz="3000" b="0" i="1" noProof="0" smtClean="0">
                          <a:latin typeface="Cambria Math" panose="02040503050406030204" pitchFamily="18" charset="0"/>
                          <a:ea typeface="Cambria Math" panose="02040503050406030204" pitchFamily="18" charset="0"/>
                        </a:rPr>
                        <m:t>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≥70 @ 0 ,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 21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 4</m:t>
                      </m:r>
                    </m:oMath>
                  </m:oMathPara>
                </a14:m>
                <a:endParaRPr lang="en-US" sz="3000" noProof="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noProof="0" dirty="0"/>
              <a:t>Nested Cascaded Traversal</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35</a:t>
            </a:fld>
            <a:endParaRPr lang="en-US" noProof="0"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noProof="0" dirty="0">
                  <a:solidFill>
                    <a:srgbClr val="00B0F0"/>
                  </a:solidFill>
                </a:rPr>
                <a:t>Rule</a:t>
              </a:r>
              <a:r>
                <a:rPr lang="en-US" noProof="0" dirty="0"/>
                <a:t> </a:t>
              </a:r>
            </a:p>
            <a:p>
              <a:pPr algn="just"/>
              <a:r>
                <a:rPr lang="en-US" sz="1400" noProof="0" dirty="0"/>
                <a:t>Imposes restrictions on the validity of connections based on the quality attributes. During traversal, these imply the boundaries of the resulting cluster.</a:t>
              </a:r>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noProof="0" dirty="0">
                  <a:solidFill>
                    <a:srgbClr val="00B0F0"/>
                  </a:solidFill>
                </a:rPr>
                <a:t>Cluster Threshold</a:t>
              </a:r>
            </a:p>
            <a:p>
              <a:pPr algn="just"/>
              <a:r>
                <a:rPr lang="en-US" sz="1400" noProof="0" dirty="0"/>
                <a:t>Forces the activation of the associated Rule when the intermediate cluster size attains the number. Resets the traversal to the starting node under the new regime.</a:t>
              </a:r>
              <a:endParaRPr lang="en-US" noProof="0"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
                      <m:r>
                        <a:rPr lang="en-US" sz="3000" b="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noProof="0" dirty="0"/>
              <a:t>Separates cascaded Rules. Current rule is active unless the threshold of the subsequent rule is breached. Each new rule has to be more restrictive than the previous one to guarantee non-overlapping clusters.</a:t>
            </a:r>
          </a:p>
          <a:p>
            <a:pPr algn="ctr"/>
            <a:r>
              <a:rPr lang="en-US" noProof="0" dirty="0">
                <a:solidFill>
                  <a:srgbClr val="00B0F0"/>
                </a:solidFill>
              </a:rPr>
              <a:t>Comma</a:t>
            </a: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noProof="0" dirty="0"/>
              <a:t>Separates cascades. Consolidates the clusters into hyper-nodes. The quality attributes of connections between encased nodes of different hyper-nodes are aggregated to the respective maximum forming a hyper-network. </a:t>
            </a:r>
          </a:p>
          <a:p>
            <a:pPr marL="540000" algn="just"/>
            <a:r>
              <a:rPr lang="en-US" noProof="0" dirty="0">
                <a:solidFill>
                  <a:srgbClr val="00B0F0"/>
                </a:solidFill>
              </a:rPr>
              <a:t>Semicolon</a:t>
            </a: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noProof="0" dirty="0">
                <a:solidFill>
                  <a:srgbClr val="00B0F0"/>
                </a:solidFill>
              </a:rPr>
              <a:t>Hyper-Network</a:t>
            </a: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 4</m:t>
                      </m:r>
                    </m:oMath>
                  </m:oMathPara>
                </a14:m>
                <a:endParaRPr lang="en-US" sz="3000" noProof="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noProof="0" dirty="0"/>
              <a:t>It is like Spelunking!</a:t>
            </a:r>
          </a:p>
          <a:p>
            <a:pPr marL="216000" indent="-216000" algn="just">
              <a:buClr>
                <a:srgbClr val="00B0F0"/>
              </a:buClr>
              <a:buFont typeface="Wingdings" panose="05000000000000000000" pitchFamily="2" charset="2"/>
              <a:buChar char="§"/>
            </a:pPr>
            <a:r>
              <a:rPr lang="en-US" sz="1400" noProof="0" dirty="0"/>
              <a:t>Choose an entrance to an unexplored cave (starting node).</a:t>
            </a:r>
          </a:p>
          <a:p>
            <a:pPr marL="216000" indent="-216000" algn="just">
              <a:buClr>
                <a:srgbClr val="00B0F0"/>
              </a:buClr>
              <a:buFont typeface="Wingdings" panose="05000000000000000000" pitchFamily="2" charset="2"/>
              <a:buChar char="§"/>
            </a:pPr>
            <a:r>
              <a:rPr lang="en-US" sz="1400" noProof="0" dirty="0"/>
              <a:t>Shine with your flashlight into all tunnels (connections) branching out 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noProof="0" dirty="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noProof="0" dirty="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noProof="0" dirty="0"/>
              <a:t>The threshold refers to hyper-nodes. In this example, three unobserved transitions between hyper-nodes are condoned until the Rule kicks in to enforce transitivity. </a:t>
            </a:r>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First cascade establishes transitive clusters of high coherence</a:t>
            </a:r>
          </a:p>
          <a:p>
            <a:pPr marL="216000" indent="-216000">
              <a:buClr>
                <a:srgbClr val="00B0F0"/>
              </a:buClr>
              <a:buFont typeface="Wingdings" panose="05000000000000000000" pitchFamily="2" charset="2"/>
              <a:buChar char="§"/>
            </a:pPr>
            <a:r>
              <a:rPr lang="en-US" sz="1400" noProof="0" dirty="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sp>
        <p:nvSpPr>
          <p:cNvPr id="2" name="Titel 1"/>
          <p:cNvSpPr>
            <a:spLocks noGrp="1"/>
          </p:cNvSpPr>
          <p:nvPr>
            <p:ph type="title"/>
          </p:nvPr>
        </p:nvSpPr>
        <p:spPr/>
        <p:txBody>
          <a:bodyPr/>
          <a:lstStyle/>
          <a:p>
            <a:r>
              <a:rPr lang="en-US" noProof="0" dirty="0"/>
              <a:t>Nested Cascaded Clustering of German EPO Applicants by Name</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36</a:t>
            </a:fld>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2521330244"/>
              </p:ext>
            </p:extLst>
          </p:nvPr>
        </p:nvGraphicFramePr>
        <p:xfrm>
          <a:off x="251009" y="799460"/>
          <a:ext cx="8008313" cy="1524000"/>
        </p:xfrm>
        <a:graphic>
          <a:graphicData uri="http://schemas.openxmlformats.org/drawingml/2006/table">
            <a:tbl>
              <a:tblPr/>
              <a:tblGrid>
                <a:gridCol w="79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6424313">
                  <a:extLst>
                    <a:ext uri="{9D8B030D-6E8A-4147-A177-3AD203B41FA5}">
                      <a16:colId xmlns:a16="http://schemas.microsoft.com/office/drawing/2014/main" val="20002"/>
                    </a:ext>
                  </a:extLst>
                </a:gridCol>
              </a:tblGrid>
              <a:tr h="190500">
                <a:tc>
                  <a:txBody>
                    <a:bodyPr/>
                    <a:lstStyle/>
                    <a:p>
                      <a:pPr algn="ctr" fontAlgn="b"/>
                      <a:r>
                        <a:rPr lang="en-US" sz="1100" b="0" i="0" u="none" strike="noStrike" noProof="0" dirty="0">
                          <a:solidFill>
                            <a:srgbClr val="000000"/>
                          </a:solidFill>
                          <a:effectLst/>
                          <a:latin typeface="Calibri" panose="020F0502020204030204" pitchFamily="34" charset="0"/>
                        </a:rPr>
                        <a:t>2.</a:t>
                      </a:r>
                      <a:r>
                        <a:rPr lang="en-US" sz="1100" b="0" i="0" u="none" strike="noStrike" baseline="0" noProof="0" dirty="0">
                          <a:solidFill>
                            <a:srgbClr val="000000"/>
                          </a:solidFill>
                          <a:effectLst/>
                          <a:latin typeface="Calibri" panose="020F0502020204030204" pitchFamily="34" charset="0"/>
                        </a:rPr>
                        <a:t> Cascade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 Cascade</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603731987"/>
              </p:ext>
            </p:extLst>
          </p:nvPr>
        </p:nvGraphicFramePr>
        <p:xfrm>
          <a:off x="251009" y="2545133"/>
          <a:ext cx="7205973" cy="1524000"/>
        </p:xfrm>
        <a:graphic>
          <a:graphicData uri="http://schemas.openxmlformats.org/drawingml/2006/table">
            <a:tbl>
              <a:tblPr/>
              <a:tblGrid>
                <a:gridCol w="79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5621973">
                  <a:extLst>
                    <a:ext uri="{9D8B030D-6E8A-4147-A177-3AD203B41FA5}">
                      <a16:colId xmlns:a16="http://schemas.microsoft.com/office/drawing/2014/main" val="20002"/>
                    </a:ext>
                  </a:extLst>
                </a:gridCol>
              </a:tblGrid>
              <a:tr h="190500">
                <a:tc>
                  <a:txBody>
                    <a:bodyPr/>
                    <a:lstStyle/>
                    <a:p>
                      <a:pPr algn="ctr" fontAlgn="b"/>
                      <a:r>
                        <a:rPr lang="en-US" sz="1100" b="0" i="0" u="none" strike="noStrike" noProof="0" dirty="0">
                          <a:solidFill>
                            <a:srgbClr val="000000"/>
                          </a:solidFill>
                          <a:effectLst/>
                          <a:latin typeface="Calibri" panose="020F0502020204030204" pitchFamily="34" charset="0"/>
                        </a:rPr>
                        <a:t>2. Cascade</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 Cascade</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prstClr val="white"/>
                  </a:solidFill>
                  <a:effectLst>
                    <a:glow rad="127000">
                      <a:prstClr val="white">
                        <a:alpha val="60000"/>
                      </a:prstClr>
                    </a:glow>
                  </a:effectLst>
                  <a:uLnTx/>
                  <a:uFillTx/>
                  <a:latin typeface="Impact" panose="020B0806030902050204" pitchFamily="34" charset="0"/>
                </a:rPr>
                <a:t>Search</a:t>
              </a:r>
              <a:r>
                <a:rPr kumimoji="0" lang="en-US" sz="1800" b="0" i="0" u="none" strike="noStrike" kern="0" cap="none" spc="0" normalizeH="0" baseline="0" noProof="0" dirty="0" err="1">
                  <a:ln>
                    <a:noFill/>
                  </a:ln>
                  <a:solidFill>
                    <a:srgbClr val="19F54B"/>
                  </a:solidFill>
                  <a:effectLst>
                    <a:glow rad="127000">
                      <a:srgbClr val="1FFF53">
                        <a:alpha val="60000"/>
                      </a:srgbClr>
                    </a:glow>
                  </a:effectLst>
                  <a:uLnTx/>
                  <a:uFillTx/>
                  <a:latin typeface="Impact" panose="020B0806030902050204" pitchFamily="34" charset="0"/>
                </a:rPr>
                <a:t>Engine</a:t>
              </a:r>
              <a:endParaRPr kumimoji="0" lang="en-US" sz="1800" b="0" i="0" u="none" strike="noStrike" kern="0" cap="none" spc="0" normalizeH="0" baseline="0" noProof="0" dirty="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by </a:t>
              </a: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Thorsten </a:t>
              </a: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powered </a:t>
              </a:r>
              <a:r>
                <a:rPr kumimoji="0" lang="en-US" sz="900" b="0" i="0" u="none" strike="noStrike" kern="0" cap="none" spc="0" normalizeH="0" baseline="0" noProof="0" dirty="0">
                  <a:ln>
                    <a:noFill/>
                  </a:ln>
                  <a:solidFill>
                    <a:srgbClr val="1FFF53"/>
                  </a:solidFill>
                  <a:effectLst/>
                  <a:uLnTx/>
                  <a:uFillTx/>
                  <a:latin typeface="Impact" panose="020B0806030902050204" pitchFamily="34" charset="0"/>
                </a:rPr>
                <a:t>by</a:t>
              </a: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 FoxPro </a:t>
              </a: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&amp; </a:t>
              </a:r>
              <a:r>
                <a:rPr kumimoji="0" lang="en-US" sz="900" b="0" i="0" u="none" strike="noStrike" kern="0" cap="none" spc="0" normalizeH="0" baseline="0" noProof="0" dirty="0" err="1">
                  <a:ln>
                    <a:noFill/>
                  </a:ln>
                  <a:solidFill>
                    <a:prstClr val="white"/>
                  </a:solidFill>
                  <a:effectLst/>
                  <a:uLnTx/>
                  <a:uFillTx/>
                  <a:latin typeface="Impact" panose="020B0806030902050204" pitchFamily="34" charset="0"/>
                </a:rPr>
                <a:t>ParallelFox</a:t>
              </a:r>
              <a:endParaRPr kumimoji="0" lang="en-US" sz="1800" b="0" i="0" u="none" strike="noStrike" kern="0" cap="none" spc="0" normalizeH="0" baseline="0" noProof="0" dirty="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AAE5"/>
                  </a:solidFill>
                  <a:effectLst/>
                  <a:uLnTx/>
                  <a:uFillTx/>
                </a:rPr>
                <a:t> </a:t>
              </a:r>
              <a:r>
                <a:rPr kumimoji="0" lang="en-US" sz="1800" b="0" i="0" u="none" strike="noStrike" kern="0" cap="none" spc="0" normalizeH="0" baseline="0" noProof="0" dirty="0" err="1">
                  <a:ln>
                    <a:noFill/>
                  </a:ln>
                  <a:solidFill>
                    <a:srgbClr val="00AAE5"/>
                  </a:solidFill>
                  <a:effectLst/>
                  <a:uLnTx/>
                  <a:uFillTx/>
                </a:rPr>
                <a:t>SearchEngine</a:t>
              </a:r>
              <a:endParaRPr kumimoji="0" lang="en-US" sz="1800" b="0" i="0" u="none" strike="noStrike" kern="0" cap="none" spc="0" normalizeH="0" baseline="0" noProof="0" dirty="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a:t>
              </a:r>
              <a:r>
                <a:rPr kumimoji="0" lang="en-US" sz="1800" b="0" i="0" u="none" strike="noStrike" kern="0" cap="none" spc="0" normalizeH="0" baseline="0" noProof="0" dirty="0" err="1">
                  <a:ln>
                    <a:noFill/>
                  </a:ln>
                  <a:solidFill>
                    <a:srgbClr val="000000"/>
                  </a:solidFill>
                  <a:effectLst/>
                  <a:uLnTx/>
                  <a:uFillTx/>
                </a:rPr>
                <a:t>ssc</a:t>
              </a:r>
              <a:r>
                <a:rPr kumimoji="0" lang="en-US" sz="1800" b="0" i="0" u="none" strike="noStrike" kern="0" cap="none" spc="0" normalizeH="0" baseline="0" noProof="0" dirty="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noProof="0" dirty="0">
                <a:solidFill>
                  <a:schemeClr val="bg1"/>
                </a:solidFill>
              </a:rPr>
              <a:t>Thank you for your attention</a:t>
            </a:r>
          </a:p>
          <a:p>
            <a:r>
              <a:rPr lang="en-US" sz="2400" noProof="0" dirty="0">
                <a:solidFill>
                  <a:schemeClr val="bg1"/>
                </a:solidFill>
              </a:rPr>
              <a:t>Time for questions</a:t>
            </a:r>
            <a:endParaRPr lang="en-US" sz="2400" noProof="0" dirty="0"/>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37</a:t>
            </a:fld>
            <a:endParaRPr lang="en-US" noProof="0"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25400" cap="sq" cmpd="sng" algn="ctr">
          <a:solidFill>
            <a:srgbClr val="00B0F0"/>
          </a:solidFill>
          <a:prstDash val="solid"/>
          <a:miter lim="800000"/>
          <a:headEnd type="triangle"/>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14862</Words>
  <Application>Microsoft Office PowerPoint</Application>
  <PresentationFormat>Breitbild</PresentationFormat>
  <Paragraphs>5589</Paragraphs>
  <Slides>37</Slides>
  <Notes>1</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37</vt:i4>
      </vt:variant>
    </vt:vector>
  </HeadingPairs>
  <TitlesOfParts>
    <vt:vector size="48" baseType="lpstr">
      <vt:lpstr>Microsoft YaHei UI</vt:lpstr>
      <vt:lpstr>Angsana New</vt:lpstr>
      <vt:lpstr>Arial</vt:lpstr>
      <vt:lpstr>Calibri</vt:lpstr>
      <vt:lpstr>Cambria Math</vt:lpstr>
      <vt:lpstr>Courier New</vt:lpstr>
      <vt:lpstr>Harrington</vt:lpstr>
      <vt:lpstr>Impact</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PAU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vt:lpstr>
      <vt:lpstr>SEML based Traversal</vt:lpstr>
      <vt:lpstr>Directed Graph</vt:lpstr>
      <vt:lpstr>Undirected Graph</vt:lpstr>
      <vt:lpstr>Nested Cascaded Traversal</vt:lpstr>
      <vt:lpstr>Nested Cascaded Clustering of German EPO Applicants by Name</vt:lpstr>
      <vt:lpstr>PowerPoint-Präsentation</vt:lpstr>
    </vt:vector>
  </TitlesOfParts>
  <Company>ZEW GmbH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484</cp:revision>
  <dcterms:created xsi:type="dcterms:W3CDTF">2023-08-28T14:05:43Z</dcterms:created>
  <dcterms:modified xsi:type="dcterms:W3CDTF">2026-09-25T15:30:05Z</dcterms:modified>
</cp:coreProperties>
</file>