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52" r:id="rId2"/>
  </p:sldMasterIdLst>
  <p:notesMasterIdLst>
    <p:notesMasterId r:id="rId39"/>
  </p:notesMasterIdLst>
  <p:sldIdLst>
    <p:sldId id="281" r:id="rId3"/>
    <p:sldId id="257" r:id="rId4"/>
    <p:sldId id="258" r:id="rId5"/>
    <p:sldId id="259" r:id="rId6"/>
    <p:sldId id="260" r:id="rId7"/>
    <p:sldId id="289" r:id="rId8"/>
    <p:sldId id="262" r:id="rId9"/>
    <p:sldId id="267" r:id="rId10"/>
    <p:sldId id="271" r:id="rId11"/>
    <p:sldId id="317" r:id="rId12"/>
    <p:sldId id="318" r:id="rId13"/>
    <p:sldId id="282" r:id="rId14"/>
    <p:sldId id="284" r:id="rId15"/>
    <p:sldId id="283" r:id="rId16"/>
    <p:sldId id="286" r:id="rId17"/>
    <p:sldId id="287" r:id="rId18"/>
    <p:sldId id="285" r:id="rId19"/>
    <p:sldId id="263" r:id="rId20"/>
    <p:sldId id="272" r:id="rId21"/>
    <p:sldId id="290" r:id="rId22"/>
    <p:sldId id="312" r:id="rId23"/>
    <p:sldId id="313" r:id="rId24"/>
    <p:sldId id="304" r:id="rId25"/>
    <p:sldId id="266" r:id="rId26"/>
    <p:sldId id="274" r:id="rId27"/>
    <p:sldId id="276" r:id="rId28"/>
    <p:sldId id="303" r:id="rId29"/>
    <p:sldId id="278" r:id="rId30"/>
    <p:sldId id="301" r:id="rId31"/>
    <p:sldId id="273" r:id="rId32"/>
    <p:sldId id="295" r:id="rId33"/>
    <p:sldId id="296" r:id="rId34"/>
    <p:sldId id="297" r:id="rId35"/>
    <p:sldId id="299" r:id="rId36"/>
    <p:sldId id="300" r:id="rId37"/>
    <p:sldId id="279" r:id="rId3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AAE5"/>
    <a:srgbClr val="7AD0C4"/>
    <a:srgbClr val="BADA15"/>
    <a:srgbClr val="A6C313"/>
    <a:srgbClr val="AFE3DC"/>
    <a:srgbClr val="00B0F0"/>
    <a:srgbClr val="1FFF53"/>
    <a:srgbClr val="0078D7"/>
    <a:srgbClr val="7FD7F7"/>
    <a:srgbClr val="1FBAF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7461" autoAdjust="0"/>
  </p:normalViewPr>
  <p:slideViewPr>
    <p:cSldViewPr snapToGrid="0" snapToObjects="1">
      <p:cViewPr>
        <p:scale>
          <a:sx n="220" d="100"/>
          <a:sy n="220" d="100"/>
        </p:scale>
        <p:origin x="-7770" y="-27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DB121D-32F5-4997-A950-71A64B715CA4}" type="datetimeFigureOut">
              <a:rPr lang="en-US" smtClean="0"/>
              <a:t>9/25/2025</a:t>
            </a:fld>
            <a:endParaRPr lang="en-US"/>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910747-B825-480B-9FB0-03884B683AA7}" type="slidenum">
              <a:rPr lang="en-US" smtClean="0"/>
              <a:t>‹Nr.›</a:t>
            </a:fld>
            <a:endParaRPr lang="en-US"/>
          </a:p>
        </p:txBody>
      </p:sp>
    </p:spTree>
    <p:extLst>
      <p:ext uri="{BB962C8B-B14F-4D97-AF65-F5344CB8AC3E}">
        <p14:creationId xmlns:p14="http://schemas.microsoft.com/office/powerpoint/2010/main" val="1294833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10"/>
          </p:nvPr>
        </p:nvSpPr>
        <p:spPr/>
        <p:txBody>
          <a:bodyPr/>
          <a:lstStyle/>
          <a:p>
            <a:fld id="{67910747-B825-480B-9FB0-03884B683AA7}" type="slidenum">
              <a:rPr lang="en-US" smtClean="0"/>
              <a:t>1</a:t>
            </a:fld>
            <a:endParaRPr lang="en-US"/>
          </a:p>
        </p:txBody>
      </p:sp>
    </p:spTree>
    <p:extLst>
      <p:ext uri="{BB962C8B-B14F-4D97-AF65-F5344CB8AC3E}">
        <p14:creationId xmlns:p14="http://schemas.microsoft.com/office/powerpoint/2010/main" val="38904122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pPr/>
              <a:t>‹Nr.›</a:t>
            </a:fld>
            <a:endParaRPr lang="en-US" dirty="0"/>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93001283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pPr/>
              <a:t>‹Nr.›</a:t>
            </a:fld>
            <a:endParaRPr lang="en-US" dirty="0"/>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293001682"/>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solidFill>
                  <a:prstClr val="white">
                    <a:lumMod val="50000"/>
                  </a:prstClr>
                </a:solidFill>
              </a:rPr>
              <a:pPr/>
              <a:t>‹Nr.›</a:t>
            </a:fld>
            <a:endParaRPr lang="en-US" dirty="0">
              <a:solidFill>
                <a:prstClr val="white">
                  <a:lumMod val="50000"/>
                </a:prstClr>
              </a:solidFill>
            </a:endParaRPr>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569649828"/>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solidFill>
                  <a:prstClr val="white">
                    <a:lumMod val="50000"/>
                  </a:prstClr>
                </a:solidFill>
              </a:rPr>
              <a:pPr/>
              <a:t>‹Nr.›</a:t>
            </a:fld>
            <a:endParaRPr lang="en-US" dirty="0">
              <a:solidFill>
                <a:prstClr val="white">
                  <a:lumMod val="50000"/>
                </a:prstClr>
              </a:solidFill>
            </a:endParaRPr>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lvl1pPr>
              <a:buClr>
                <a:srgbClr val="00AAE5"/>
              </a:buClr>
              <a:defRPr/>
            </a:lvl1pPr>
            <a:lvl2pPr>
              <a:buClr>
                <a:srgbClr val="00AAE5"/>
              </a:buClr>
              <a:defRPr/>
            </a:lvl2pPr>
            <a:lvl3pPr>
              <a:buClr>
                <a:srgbClr val="00AAE5"/>
              </a:buClr>
              <a:defRPr/>
            </a:lvl3pPr>
            <a:lvl4pPr>
              <a:buClr>
                <a:srgbClr val="00AAE5"/>
              </a:buClr>
              <a:defRPr/>
            </a:lvl4pPr>
            <a:lvl5pPr>
              <a:buClr>
                <a:srgbClr val="00AAE5"/>
              </a:buClr>
              <a:defRPr/>
            </a:lvl5p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513294382"/>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2.emf"/><Relationship Id="rId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5" Type="http://schemas.openxmlformats.org/officeDocument/2006/relationships/image" Target="../media/image2.emf"/><Relationship Id="rId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1" name="Bild 4" descr="Leibniz__Logo_DE_Blau-Schwarz_100mm.jpg"/>
          <p:cNvPicPr>
            <a:picLocks/>
          </p:cNvPicPr>
          <p:nvPr userDrawn="1"/>
        </p:nvPicPr>
        <p:blipFill>
          <a:blip r:embed="rId4" cstate="print">
            <a:extLst>
              <a:ext uri="{28A0092B-C50C-407E-A947-70E740481C1C}">
                <a14:useLocalDpi xmlns:a14="http://schemas.microsoft.com/office/drawing/2010/main" val="0"/>
              </a:ext>
            </a:extLst>
          </a:blip>
          <a:stretch>
            <a:fillRect/>
          </a:stretch>
        </p:blipFill>
        <p:spPr>
          <a:xfrm>
            <a:off x="11446401" y="6321725"/>
            <a:ext cx="627611" cy="499299"/>
          </a:xfrm>
          <a:prstGeom prst="rect">
            <a:avLst/>
          </a:prstGeom>
        </p:spPr>
      </p:pic>
      <p:pic>
        <p:nvPicPr>
          <p:cNvPr id="22" name="Bild 5" descr="standard_quadrate.eps"/>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8" name="Titelplatzhalter 27"/>
          <p:cNvSpPr>
            <a:spLocks noGrp="1"/>
          </p:cNvSpPr>
          <p:nvPr>
            <p:ph type="title"/>
          </p:nvPr>
        </p:nvSpPr>
        <p:spPr>
          <a:xfrm>
            <a:off x="0" y="99118"/>
            <a:ext cx="12192000" cy="482773"/>
          </a:xfrm>
          <a:prstGeom prst="rect">
            <a:avLst/>
          </a:prstGeom>
          <a:noFill/>
          <a:effectLst>
            <a:glow>
              <a:schemeClr val="accent1">
                <a:alpha val="40000"/>
              </a:schemeClr>
            </a:glow>
          </a:effectLst>
        </p:spPr>
        <p:txBody>
          <a:bodyPr vert="horz" lIns="91440" tIns="45720" rIns="91440" bIns="45720" rtlCol="0" anchor="ctr">
            <a:normAutofit/>
          </a:bodyPr>
          <a:lstStyle/>
          <a:p>
            <a:r>
              <a:rPr lang="de-DE" dirty="0" smtClean="0"/>
              <a:t>Titelmasterformat durch Klicken bearbeiten</a:t>
            </a:r>
            <a:endParaRPr lang="en-US" dirty="0"/>
          </a:p>
        </p:txBody>
      </p:sp>
      <p:sp>
        <p:nvSpPr>
          <p:cNvPr id="29" name="Textplatzhalter 28"/>
          <p:cNvSpPr>
            <a:spLocks noGrp="1"/>
          </p:cNvSpPr>
          <p:nvPr>
            <p:ph type="body"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1347394406"/>
      </p:ext>
    </p:extLst>
  </p:cSld>
  <p:clrMap bg1="lt1" tx1="dk1" bg2="lt2" tx2="dk2" accent1="accent1" accent2="accent2" accent3="accent3" accent4="accent4" accent5="accent5" accent6="accent6" hlink="hlink" folHlink="folHlink"/>
  <p:sldLayoutIdLst>
    <p:sldLayoutId id="2147483650" r:id="rId1"/>
    <p:sldLayoutId id="2147483651" r:id="rId2"/>
  </p:sldLayoutIdLst>
  <p:timing>
    <p:tnLst>
      <p:par>
        <p:cTn id="1" dur="indefinite" restart="never" nodeType="tmRoot"/>
      </p:par>
    </p:tnLst>
  </p:timing>
  <p:hf hdr="0" ftr="0" dt="0"/>
  <p:txStyles>
    <p:titleStyle>
      <a:lvl1pPr algn="l" defTabSz="914400" rtl="0" eaLnBrk="1" latinLnBrk="0" hangingPunct="1">
        <a:lnSpc>
          <a:spcPct val="90000"/>
        </a:lnSpc>
        <a:spcBef>
          <a:spcPct val="0"/>
        </a:spcBef>
        <a:buNone/>
        <a:defRPr sz="2400" kern="1200">
          <a:ln>
            <a:noFill/>
          </a:ln>
          <a:solidFill>
            <a:srgbClr val="00B0F0"/>
          </a:solidFill>
          <a:latin typeface="+mn-lt"/>
          <a:ea typeface="+mj-ea"/>
          <a:cs typeface="+mj-cs"/>
        </a:defRPr>
      </a:lvl1pPr>
    </p:titleStyle>
    <p:bodyStyle>
      <a:lvl1pPr marL="0" indent="-216000" algn="l" defTabSz="914400" rtl="0" eaLnBrk="1" latinLnBrk="0" hangingPunct="1">
        <a:lnSpc>
          <a:spcPct val="100000"/>
        </a:lnSpc>
        <a:spcBef>
          <a:spcPts val="1000"/>
        </a:spcBef>
        <a:buClr>
          <a:schemeClr val="accent1"/>
        </a:buClr>
        <a:buFont typeface="Wingdings" panose="05000000000000000000" pitchFamily="2" charset="2"/>
        <a:buChar char="§"/>
        <a:defRPr sz="1600" kern="1200">
          <a:solidFill>
            <a:schemeClr val="tx1"/>
          </a:solidFill>
          <a:latin typeface="+mn-lt"/>
          <a:ea typeface="+mn-ea"/>
          <a:cs typeface="+mn-cs"/>
        </a:defRPr>
      </a:lvl1pPr>
      <a:lvl2pPr marL="432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2pPr>
      <a:lvl3pPr marL="648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3pPr>
      <a:lvl4pPr marL="864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4pPr>
      <a:lvl5pPr marL="1080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1" name="Bild 4" descr="Leibniz__Logo_DE_Blau-Schwarz_100mm.jpg"/>
          <p:cNvPicPr>
            <a:picLocks/>
          </p:cNvPicPr>
          <p:nvPr userDrawn="1"/>
        </p:nvPicPr>
        <p:blipFill>
          <a:blip r:embed="rId4" cstate="print">
            <a:extLst>
              <a:ext uri="{28A0092B-C50C-407E-A947-70E740481C1C}">
                <a14:useLocalDpi xmlns:a14="http://schemas.microsoft.com/office/drawing/2010/main" val="0"/>
              </a:ext>
            </a:extLst>
          </a:blip>
          <a:stretch>
            <a:fillRect/>
          </a:stretch>
        </p:blipFill>
        <p:spPr>
          <a:xfrm>
            <a:off x="11446401" y="6321725"/>
            <a:ext cx="627611" cy="499299"/>
          </a:xfrm>
          <a:prstGeom prst="rect">
            <a:avLst/>
          </a:prstGeom>
        </p:spPr>
      </p:pic>
      <p:pic>
        <p:nvPicPr>
          <p:cNvPr id="22" name="Bild 5" descr="standard_quadrate.eps"/>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8" name="Titelplatzhalter 27"/>
          <p:cNvSpPr>
            <a:spLocks noGrp="1"/>
          </p:cNvSpPr>
          <p:nvPr>
            <p:ph type="title"/>
          </p:nvPr>
        </p:nvSpPr>
        <p:spPr>
          <a:xfrm>
            <a:off x="0" y="99118"/>
            <a:ext cx="12192000" cy="482773"/>
          </a:xfrm>
          <a:prstGeom prst="rect">
            <a:avLst/>
          </a:prstGeom>
          <a:noFill/>
          <a:effectLst>
            <a:glow>
              <a:schemeClr val="accent1">
                <a:alpha val="40000"/>
              </a:schemeClr>
            </a:glow>
          </a:effectLst>
        </p:spPr>
        <p:txBody>
          <a:bodyPr vert="horz" lIns="91440" tIns="45720" rIns="91440" bIns="45720" rtlCol="0" anchor="ctr">
            <a:normAutofit/>
          </a:bodyPr>
          <a:lstStyle/>
          <a:p>
            <a:r>
              <a:rPr lang="de-DE" dirty="0" smtClean="0"/>
              <a:t>Titelmasterformat durch Klicken bearbeiten</a:t>
            </a:r>
            <a:endParaRPr lang="en-US" dirty="0"/>
          </a:p>
        </p:txBody>
      </p:sp>
      <p:sp>
        <p:nvSpPr>
          <p:cNvPr id="29" name="Textplatzhalter 28"/>
          <p:cNvSpPr>
            <a:spLocks noGrp="1"/>
          </p:cNvSpPr>
          <p:nvPr>
            <p:ph type="body"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4247017048"/>
      </p:ext>
    </p:extLst>
  </p:cSld>
  <p:clrMap bg1="lt1" tx1="dk1" bg2="lt2" tx2="dk2" accent1="accent1" accent2="accent2" accent3="accent3" accent4="accent4" accent5="accent5" accent6="accent6" hlink="hlink" folHlink="folHlink"/>
  <p:sldLayoutIdLst>
    <p:sldLayoutId id="2147483653" r:id="rId1"/>
    <p:sldLayoutId id="2147483654" r:id="rId2"/>
  </p:sldLayoutIdLst>
  <p:timing>
    <p:tnLst>
      <p:par>
        <p:cTn id="1" dur="indefinite" restart="never" nodeType="tmRoot"/>
      </p:par>
    </p:tnLst>
  </p:timing>
  <p:hf hdr="0" ftr="0" dt="0"/>
  <p:txStyles>
    <p:titleStyle>
      <a:lvl1pPr algn="l" defTabSz="914400" rtl="0" eaLnBrk="1" latinLnBrk="0" hangingPunct="1">
        <a:lnSpc>
          <a:spcPct val="90000"/>
        </a:lnSpc>
        <a:spcBef>
          <a:spcPct val="0"/>
        </a:spcBef>
        <a:buNone/>
        <a:defRPr sz="2400" kern="1200">
          <a:ln>
            <a:noFill/>
          </a:ln>
          <a:solidFill>
            <a:srgbClr val="00B0F0"/>
          </a:solidFill>
          <a:latin typeface="+mn-lt"/>
          <a:ea typeface="+mj-ea"/>
          <a:cs typeface="+mj-cs"/>
        </a:defRPr>
      </a:lvl1pPr>
    </p:titleStyle>
    <p:bodyStyle>
      <a:lvl1pPr marL="0" indent="-216000" algn="l" defTabSz="914400" rtl="0" eaLnBrk="1" latinLnBrk="0" hangingPunct="1">
        <a:lnSpc>
          <a:spcPct val="100000"/>
        </a:lnSpc>
        <a:spcBef>
          <a:spcPts val="1000"/>
        </a:spcBef>
        <a:buClr>
          <a:schemeClr val="accent1"/>
        </a:buClr>
        <a:buFont typeface="Wingdings" panose="05000000000000000000" pitchFamily="2" charset="2"/>
        <a:buChar char="§"/>
        <a:defRPr sz="1600" kern="1200">
          <a:solidFill>
            <a:schemeClr val="tx1"/>
          </a:solidFill>
          <a:latin typeface="+mn-lt"/>
          <a:ea typeface="+mn-ea"/>
          <a:cs typeface="+mn-cs"/>
        </a:defRPr>
      </a:lvl1pPr>
      <a:lvl2pPr marL="432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2pPr>
      <a:lvl3pPr marL="648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3pPr>
      <a:lvl4pPr marL="864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4pPr>
      <a:lvl5pPr marL="1080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1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image" Target="../media/image340.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34.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7.png"/><Relationship Id="rId2" Type="http://schemas.openxmlformats.org/officeDocument/2006/relationships/image" Target="../media/image34.jpeg"/><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1" y="0"/>
            <a:ext cx="12192001" cy="1196752"/>
            <a:chOff x="395536" y="2914734"/>
            <a:chExt cx="8352928" cy="576000"/>
          </a:xfrm>
        </p:grpSpPr>
        <p:sp>
          <p:nvSpPr>
            <p:cNvPr id="6" name="Rectangle 6"/>
            <p:cNvSpPr/>
            <p:nvPr/>
          </p:nvSpPr>
          <p:spPr>
            <a:xfrm>
              <a:off x="534010" y="2914734"/>
              <a:ext cx="8214454" cy="576000"/>
            </a:xfrm>
            <a:prstGeom prst="rect">
              <a:avLst/>
            </a:prstGeom>
            <a:gradFill flip="none" rotWithShape="1">
              <a:gsLst>
                <a:gs pos="99000">
                  <a:schemeClr val="bg1"/>
                </a:gs>
                <a:gs pos="0">
                  <a:srgbClr val="00AAE5"/>
                </a:gs>
                <a:gs pos="25000">
                  <a:srgbClr val="00AAE5">
                    <a:alpha val="75000"/>
                  </a:srgbClr>
                </a:gs>
              </a:gsLst>
              <a:lin ang="0" scaled="1"/>
              <a:tileRect/>
            </a:grad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95000"/>
                    <a:lumOff val="5000"/>
                  </a:schemeClr>
                </a:solidFill>
              </a:endParaRPr>
            </a:p>
          </p:txBody>
        </p:sp>
        <p:sp>
          <p:nvSpPr>
            <p:cNvPr id="7" name="Rectangle 7"/>
            <p:cNvSpPr/>
            <p:nvPr/>
          </p:nvSpPr>
          <p:spPr>
            <a:xfrm>
              <a:off x="395536" y="2914734"/>
              <a:ext cx="144016" cy="576000"/>
            </a:xfrm>
            <a:prstGeom prst="rect">
              <a:avLst/>
            </a:prstGeom>
            <a:solidFill>
              <a:srgbClr val="00AAE5"/>
            </a:solid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95000"/>
                    <a:lumOff val="5000"/>
                  </a:schemeClr>
                </a:solidFill>
              </a:endParaRPr>
            </a:p>
          </p:txBody>
        </p:sp>
      </p:grpSp>
      <p:sp>
        <p:nvSpPr>
          <p:cNvPr id="8" name="Title 1"/>
          <p:cNvSpPr>
            <a:spLocks noGrp="1"/>
          </p:cNvSpPr>
          <p:nvPr>
            <p:ph type="title"/>
          </p:nvPr>
        </p:nvSpPr>
        <p:spPr>
          <a:xfrm>
            <a:off x="35496" y="273422"/>
            <a:ext cx="8496944" cy="576064"/>
          </a:xfrm>
        </p:spPr>
        <p:txBody>
          <a:bodyPr>
            <a:noAutofit/>
          </a:bodyPr>
          <a:lstStyle/>
          <a:p>
            <a:r>
              <a:rPr lang="en-US" sz="2800" dirty="0" err="1" smtClean="0">
                <a:solidFill>
                  <a:schemeClr val="bg1"/>
                </a:solidFill>
              </a:rPr>
              <a:t>SearchEngine</a:t>
            </a:r>
            <a:r>
              <a:rPr lang="en-US" sz="2800" dirty="0" smtClean="0">
                <a:solidFill>
                  <a:schemeClr val="bg1"/>
                </a:solidFill>
              </a:rPr>
              <a:t>: a Holistic Approach to Matching</a:t>
            </a:r>
            <a:endParaRPr lang="en-US" sz="2800" dirty="0">
              <a:solidFill>
                <a:schemeClr val="bg1"/>
              </a:solidFill>
            </a:endParaRPr>
          </a:p>
        </p:txBody>
      </p:sp>
      <p:grpSp>
        <p:nvGrpSpPr>
          <p:cNvPr id="9" name="Gruppieren 8"/>
          <p:cNvGrpSpPr>
            <a:grpSpLocks noChangeAspect="1"/>
          </p:cNvGrpSpPr>
          <p:nvPr/>
        </p:nvGrpSpPr>
        <p:grpSpPr>
          <a:xfrm>
            <a:off x="4082433" y="2014043"/>
            <a:ext cx="4027134" cy="4223269"/>
            <a:chOff x="4817500" y="2088232"/>
            <a:chExt cx="2557001" cy="2681537"/>
          </a:xfrm>
          <a:effectLst/>
        </p:grpSpPr>
        <p:cxnSp>
          <p:nvCxnSpPr>
            <p:cNvPr id="10" name="Gerader Verbinder 9"/>
            <p:cNvCxnSpPr/>
            <p:nvPr/>
          </p:nvCxnSpPr>
          <p:spPr>
            <a:xfrm flipV="1">
              <a:off x="6395085" y="3192704"/>
              <a:ext cx="378754" cy="229122"/>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 name="Gerader Verbinder 10"/>
            <p:cNvCxnSpPr/>
            <p:nvPr/>
          </p:nvCxnSpPr>
          <p:spPr>
            <a:xfrm>
              <a:off x="5189536" y="3825331"/>
              <a:ext cx="120691" cy="7207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 name="Gerader Verbinder 11"/>
            <p:cNvCxnSpPr/>
            <p:nvPr/>
          </p:nvCxnSpPr>
          <p:spPr>
            <a:xfrm>
              <a:off x="5674294" y="2789612"/>
              <a:ext cx="840019" cy="658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3" name="Gruppieren 12"/>
            <p:cNvGrpSpPr/>
            <p:nvPr/>
          </p:nvGrpSpPr>
          <p:grpSpPr>
            <a:xfrm>
              <a:off x="4922203" y="3307648"/>
              <a:ext cx="616527" cy="1136072"/>
              <a:chOff x="6248400" y="2583873"/>
              <a:chExt cx="616527" cy="1136072"/>
            </a:xfrm>
          </p:grpSpPr>
          <p:cxnSp>
            <p:nvCxnSpPr>
              <p:cNvPr id="215" name="Gerader Verbinder 214"/>
              <p:cNvCxnSpPr/>
              <p:nvPr/>
            </p:nvCxnSpPr>
            <p:spPr>
              <a:xfrm flipH="1">
                <a:off x="6396254" y="2583873"/>
                <a:ext cx="39182" cy="47402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6" name="Gerader Verbinder 215"/>
              <p:cNvCxnSpPr/>
              <p:nvPr/>
            </p:nvCxnSpPr>
            <p:spPr>
              <a:xfrm flipH="1">
                <a:off x="6248400" y="3068782"/>
                <a:ext cx="145473" cy="49876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7" name="Gerader Verbinder 216"/>
              <p:cNvCxnSpPr/>
              <p:nvPr/>
            </p:nvCxnSpPr>
            <p:spPr>
              <a:xfrm flipV="1">
                <a:off x="6435436" y="3567545"/>
                <a:ext cx="429491" cy="1524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8" name="Gerader Verbinder 217"/>
              <p:cNvCxnSpPr/>
              <p:nvPr/>
            </p:nvCxnSpPr>
            <p:spPr>
              <a:xfrm flipV="1">
                <a:off x="6260522" y="3490913"/>
                <a:ext cx="240291" cy="727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9" name="Gerader Verbinder 218"/>
              <p:cNvCxnSpPr/>
              <p:nvPr/>
            </p:nvCxnSpPr>
            <p:spPr>
              <a:xfrm flipH="1">
                <a:off x="6435436" y="3490913"/>
                <a:ext cx="65377" cy="22166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14" name="Gruppieren 13"/>
            <p:cNvGrpSpPr/>
            <p:nvPr/>
          </p:nvGrpSpPr>
          <p:grpSpPr>
            <a:xfrm>
              <a:off x="5519896" y="4238500"/>
              <a:ext cx="562394" cy="466442"/>
              <a:chOff x="6838950" y="3514725"/>
              <a:chExt cx="562394" cy="466442"/>
            </a:xfrm>
          </p:grpSpPr>
          <p:cxnSp>
            <p:nvCxnSpPr>
              <p:cNvPr id="212" name="Gerader Verbinder 211"/>
              <p:cNvCxnSpPr/>
              <p:nvPr/>
            </p:nvCxnSpPr>
            <p:spPr>
              <a:xfrm>
                <a:off x="6838950" y="3514725"/>
                <a:ext cx="185738" cy="32146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3" name="Gerader Verbinder 212"/>
              <p:cNvCxnSpPr/>
              <p:nvPr/>
            </p:nvCxnSpPr>
            <p:spPr>
              <a:xfrm>
                <a:off x="7024688" y="3836194"/>
                <a:ext cx="123825" cy="1143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4" name="Gerader Verbinder 213"/>
              <p:cNvCxnSpPr/>
              <p:nvPr/>
            </p:nvCxnSpPr>
            <p:spPr>
              <a:xfrm>
                <a:off x="7150893" y="3950494"/>
                <a:ext cx="250451" cy="3067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15" name="Gruppieren 14"/>
            <p:cNvGrpSpPr/>
            <p:nvPr/>
          </p:nvGrpSpPr>
          <p:grpSpPr>
            <a:xfrm flipH="1">
              <a:off x="6098079" y="4239389"/>
              <a:ext cx="571961" cy="465553"/>
              <a:chOff x="6838950" y="3514725"/>
              <a:chExt cx="571961" cy="465553"/>
            </a:xfrm>
          </p:grpSpPr>
          <p:cxnSp>
            <p:nvCxnSpPr>
              <p:cNvPr id="209" name="Gerader Verbinder 208"/>
              <p:cNvCxnSpPr/>
              <p:nvPr/>
            </p:nvCxnSpPr>
            <p:spPr>
              <a:xfrm>
                <a:off x="6838950" y="3514725"/>
                <a:ext cx="185738" cy="32146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0" name="Gerader Verbinder 209"/>
              <p:cNvCxnSpPr/>
              <p:nvPr/>
            </p:nvCxnSpPr>
            <p:spPr>
              <a:xfrm>
                <a:off x="7024688" y="3836194"/>
                <a:ext cx="123825" cy="1143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1" name="Gerader Verbinder 210"/>
              <p:cNvCxnSpPr/>
              <p:nvPr/>
            </p:nvCxnSpPr>
            <p:spPr>
              <a:xfrm>
                <a:off x="7148512" y="3949605"/>
                <a:ext cx="262399" cy="3067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6" name="Gerader Verbinder 15"/>
            <p:cNvCxnSpPr/>
            <p:nvPr/>
          </p:nvCxnSpPr>
          <p:spPr>
            <a:xfrm>
              <a:off x="6087824" y="4617119"/>
              <a:ext cx="0" cy="63738"/>
            </a:xfrm>
            <a:prstGeom prst="line">
              <a:avLst/>
            </a:prstGeom>
            <a:ln w="5715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7" name="Ellipse 16"/>
            <p:cNvSpPr/>
            <p:nvPr/>
          </p:nvSpPr>
          <p:spPr>
            <a:xfrm>
              <a:off x="5910639" y="4367520"/>
              <a:ext cx="345063" cy="232930"/>
            </a:xfrm>
            <a:prstGeom prst="ellipse">
              <a:avLst/>
            </a:prstGeom>
            <a:no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8" name="Gerader Verbinder 17"/>
            <p:cNvCxnSpPr>
              <a:endCxn id="145" idx="3"/>
            </p:cNvCxnSpPr>
            <p:nvPr/>
          </p:nvCxnSpPr>
          <p:spPr>
            <a:xfrm flipV="1">
              <a:off x="5747334" y="3828925"/>
              <a:ext cx="79743" cy="361562"/>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 name="Gerader Verbinder 18"/>
            <p:cNvCxnSpPr/>
            <p:nvPr/>
          </p:nvCxnSpPr>
          <p:spPr>
            <a:xfrm flipH="1" flipV="1">
              <a:off x="6365672" y="3839215"/>
              <a:ext cx="79743" cy="361562"/>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 name="Gerader Verbinder 19"/>
            <p:cNvCxnSpPr/>
            <p:nvPr/>
          </p:nvCxnSpPr>
          <p:spPr>
            <a:xfrm flipH="1" flipV="1">
              <a:off x="5747334" y="4200777"/>
              <a:ext cx="205949" cy="198457"/>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21" name="Gruppieren 20"/>
            <p:cNvGrpSpPr/>
            <p:nvPr/>
          </p:nvGrpSpPr>
          <p:grpSpPr>
            <a:xfrm>
              <a:off x="5436227" y="4359944"/>
              <a:ext cx="513402" cy="292556"/>
              <a:chOff x="6752900" y="3636169"/>
              <a:chExt cx="513402" cy="292556"/>
            </a:xfrm>
          </p:grpSpPr>
          <p:cxnSp>
            <p:nvCxnSpPr>
              <p:cNvPr id="203" name="Gerader Verbinder 202"/>
              <p:cNvCxnSpPr/>
              <p:nvPr/>
            </p:nvCxnSpPr>
            <p:spPr>
              <a:xfrm flipH="1" flipV="1">
                <a:off x="7035650" y="3636171"/>
                <a:ext cx="186898" cy="900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4" name="Gerader Verbinder 203"/>
              <p:cNvCxnSpPr/>
              <p:nvPr/>
            </p:nvCxnSpPr>
            <p:spPr>
              <a:xfrm flipH="1">
                <a:off x="6752900" y="3636169"/>
                <a:ext cx="278933" cy="90254"/>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5" name="Gerader Verbinder 204"/>
              <p:cNvCxnSpPr/>
              <p:nvPr/>
            </p:nvCxnSpPr>
            <p:spPr>
              <a:xfrm flipH="1" flipV="1">
                <a:off x="7060607" y="3750675"/>
                <a:ext cx="157305" cy="32464"/>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6" name="Gerader Verbinder 205"/>
              <p:cNvCxnSpPr/>
              <p:nvPr/>
            </p:nvCxnSpPr>
            <p:spPr>
              <a:xfrm flipH="1">
                <a:off x="6796088" y="3748908"/>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7" name="Gerader Verbinder 206"/>
              <p:cNvCxnSpPr/>
              <p:nvPr/>
            </p:nvCxnSpPr>
            <p:spPr>
              <a:xfrm flipH="1">
                <a:off x="6835024" y="3846387"/>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8" name="Gerader Verbinder 207"/>
              <p:cNvCxnSpPr/>
              <p:nvPr/>
            </p:nvCxnSpPr>
            <p:spPr>
              <a:xfrm flipH="1">
                <a:off x="7093390" y="3836079"/>
                <a:ext cx="172912" cy="883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22" name="Gruppieren 21"/>
            <p:cNvGrpSpPr/>
            <p:nvPr/>
          </p:nvGrpSpPr>
          <p:grpSpPr>
            <a:xfrm>
              <a:off x="5867174" y="4680123"/>
              <a:ext cx="455588" cy="89646"/>
              <a:chOff x="7188657" y="4057767"/>
              <a:chExt cx="455588" cy="89646"/>
            </a:xfrm>
          </p:grpSpPr>
          <p:cxnSp>
            <p:nvCxnSpPr>
              <p:cNvPr id="200" name="Gerader Verbinder 199"/>
              <p:cNvCxnSpPr/>
              <p:nvPr/>
            </p:nvCxnSpPr>
            <p:spPr>
              <a:xfrm>
                <a:off x="7188657" y="4057767"/>
                <a:ext cx="82071" cy="8245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1" name="Gerader Verbinder 200"/>
              <p:cNvCxnSpPr/>
              <p:nvPr/>
            </p:nvCxnSpPr>
            <p:spPr>
              <a:xfrm flipV="1">
                <a:off x="7276951" y="4146584"/>
                <a:ext cx="285223" cy="82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2" name="Gerader Verbinder 201"/>
              <p:cNvCxnSpPr/>
              <p:nvPr/>
            </p:nvCxnSpPr>
            <p:spPr>
              <a:xfrm flipH="1">
                <a:off x="7562174" y="4064129"/>
                <a:ext cx="82071" cy="8245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23" name="Gerader Verbinder 22"/>
            <p:cNvCxnSpPr/>
            <p:nvPr/>
          </p:nvCxnSpPr>
          <p:spPr>
            <a:xfrm>
              <a:off x="5859387" y="4147927"/>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24" name="Ellipse 23"/>
            <p:cNvSpPr>
              <a:spLocks noChangeAspect="1"/>
            </p:cNvSpPr>
            <p:nvPr/>
          </p:nvSpPr>
          <p:spPr>
            <a:xfrm>
              <a:off x="5822390" y="4109283"/>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25" name="Ellipse 24"/>
            <p:cNvSpPr>
              <a:spLocks noChangeAspect="1"/>
            </p:cNvSpPr>
            <p:nvPr/>
          </p:nvSpPr>
          <p:spPr>
            <a:xfrm>
              <a:off x="5974790" y="4261683"/>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26" name="Gerader Verbinder 25"/>
            <p:cNvCxnSpPr/>
            <p:nvPr/>
          </p:nvCxnSpPr>
          <p:spPr>
            <a:xfrm>
              <a:off x="5905356" y="3788031"/>
              <a:ext cx="48881" cy="7747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7" name="Gerader Verbinder 26"/>
            <p:cNvCxnSpPr/>
            <p:nvPr/>
          </p:nvCxnSpPr>
          <p:spPr>
            <a:xfrm flipH="1">
              <a:off x="5954255" y="3872832"/>
              <a:ext cx="315" cy="20096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p:nvCxnSpPr>
          <p:spPr>
            <a:xfrm>
              <a:off x="5955567" y="4077103"/>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29" name="Ellipse 28"/>
            <p:cNvSpPr>
              <a:spLocks noChangeAspect="1"/>
            </p:cNvSpPr>
            <p:nvPr/>
          </p:nvSpPr>
          <p:spPr>
            <a:xfrm>
              <a:off x="5918570" y="403845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30" name="Ellipse 29"/>
            <p:cNvSpPr>
              <a:spLocks noChangeAspect="1"/>
            </p:cNvSpPr>
            <p:nvPr/>
          </p:nvSpPr>
          <p:spPr>
            <a:xfrm>
              <a:off x="6070970" y="419085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1" name="Gerader Verbinder 30"/>
            <p:cNvCxnSpPr/>
            <p:nvPr/>
          </p:nvCxnSpPr>
          <p:spPr>
            <a:xfrm flipH="1">
              <a:off x="6202067" y="3682128"/>
              <a:ext cx="127160" cy="22004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2" name="Gerader Verbinder 31"/>
            <p:cNvCxnSpPr/>
            <p:nvPr/>
          </p:nvCxnSpPr>
          <p:spPr>
            <a:xfrm>
              <a:off x="6199798" y="3904202"/>
              <a:ext cx="0" cy="2485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p:nvCxnSpPr>
          <p:spPr>
            <a:xfrm>
              <a:off x="6047287" y="4003733"/>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34" name="Ellipse 33"/>
            <p:cNvSpPr>
              <a:spLocks noChangeAspect="1"/>
            </p:cNvSpPr>
            <p:nvPr/>
          </p:nvSpPr>
          <p:spPr>
            <a:xfrm>
              <a:off x="6010290" y="39650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35" name="Ellipse 34"/>
            <p:cNvSpPr>
              <a:spLocks noChangeAspect="1"/>
            </p:cNvSpPr>
            <p:nvPr/>
          </p:nvSpPr>
          <p:spPr>
            <a:xfrm>
              <a:off x="6162690" y="41174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6" name="Gerader Verbinder 35"/>
            <p:cNvCxnSpPr/>
            <p:nvPr/>
          </p:nvCxnSpPr>
          <p:spPr>
            <a:xfrm flipH="1" flipV="1">
              <a:off x="6288998" y="3925836"/>
              <a:ext cx="79743" cy="361562"/>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7" name="Gerader Verbinder 36"/>
            <p:cNvCxnSpPr>
              <a:endCxn id="17" idx="7"/>
            </p:cNvCxnSpPr>
            <p:nvPr/>
          </p:nvCxnSpPr>
          <p:spPr>
            <a:xfrm flipH="1">
              <a:off x="6205169" y="4291320"/>
              <a:ext cx="159882" cy="110312"/>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38" name="Ellipse 37"/>
            <p:cNvSpPr>
              <a:spLocks noChangeAspect="1"/>
            </p:cNvSpPr>
            <p:nvPr/>
          </p:nvSpPr>
          <p:spPr>
            <a:xfrm>
              <a:off x="6163970" y="436435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9" name="Gerader Verbinder 38"/>
            <p:cNvCxnSpPr/>
            <p:nvPr/>
          </p:nvCxnSpPr>
          <p:spPr>
            <a:xfrm>
              <a:off x="7083030" y="3308081"/>
              <a:ext cx="39182" cy="474021"/>
            </a:xfrm>
            <a:prstGeom prst="line">
              <a:avLst/>
            </a:prstGeom>
            <a:ln w="25400" cap="rnd">
              <a:solidFill>
                <a:srgbClr val="19F54B"/>
              </a:solidFill>
              <a:round/>
              <a:tailEnd type="none"/>
            </a:ln>
            <a:effectLst>
              <a:glow>
                <a:schemeClr val="accent1">
                  <a:alpha val="40000"/>
                </a:schemeClr>
              </a:glow>
            </a:effectLst>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0" name="Gerader Verbinder 39"/>
            <p:cNvCxnSpPr/>
            <p:nvPr/>
          </p:nvCxnSpPr>
          <p:spPr>
            <a:xfrm>
              <a:off x="7127081" y="3793331"/>
              <a:ext cx="142985" cy="498422"/>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1" name="Gerader Verbinder 40"/>
            <p:cNvCxnSpPr/>
            <p:nvPr/>
          </p:nvCxnSpPr>
          <p:spPr>
            <a:xfrm flipH="1" flipV="1">
              <a:off x="6653539" y="4291753"/>
              <a:ext cx="429491" cy="1524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2" name="Gerader Verbinder 41"/>
            <p:cNvCxnSpPr/>
            <p:nvPr/>
          </p:nvCxnSpPr>
          <p:spPr>
            <a:xfrm flipH="1" flipV="1">
              <a:off x="7017653" y="4215121"/>
              <a:ext cx="240291" cy="727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3" name="Gerader Verbinder 42"/>
            <p:cNvCxnSpPr/>
            <p:nvPr/>
          </p:nvCxnSpPr>
          <p:spPr>
            <a:xfrm>
              <a:off x="7017653" y="4215121"/>
              <a:ext cx="65377" cy="22166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44" name="Gruppieren 43"/>
            <p:cNvGrpSpPr/>
            <p:nvPr/>
          </p:nvGrpSpPr>
          <p:grpSpPr>
            <a:xfrm>
              <a:off x="4817500" y="2088232"/>
              <a:ext cx="901078" cy="1212273"/>
              <a:chOff x="6139729" y="1364457"/>
              <a:chExt cx="901078" cy="1212273"/>
            </a:xfrm>
          </p:grpSpPr>
          <p:grpSp>
            <p:nvGrpSpPr>
              <p:cNvPr id="190" name="Gruppieren 189"/>
              <p:cNvGrpSpPr/>
              <p:nvPr/>
            </p:nvGrpSpPr>
            <p:grpSpPr>
              <a:xfrm>
                <a:off x="6139729" y="1364457"/>
                <a:ext cx="901078" cy="1212273"/>
                <a:chOff x="6144491" y="1371600"/>
                <a:chExt cx="901078" cy="1212273"/>
              </a:xfrm>
            </p:grpSpPr>
            <p:cxnSp>
              <p:nvCxnSpPr>
                <p:cNvPr id="195" name="Gerader Verbinder 194"/>
                <p:cNvCxnSpPr/>
                <p:nvPr/>
              </p:nvCxnSpPr>
              <p:spPr>
                <a:xfrm>
                  <a:off x="6241473" y="1371600"/>
                  <a:ext cx="699871" cy="47863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96" name="Gruppieren 195"/>
                <p:cNvGrpSpPr/>
                <p:nvPr/>
              </p:nvGrpSpPr>
              <p:grpSpPr>
                <a:xfrm>
                  <a:off x="6144491" y="1371600"/>
                  <a:ext cx="901078" cy="1212273"/>
                  <a:chOff x="6144491" y="1371600"/>
                  <a:chExt cx="901078" cy="1212273"/>
                </a:xfrm>
              </p:grpSpPr>
              <p:cxnSp>
                <p:nvCxnSpPr>
                  <p:cNvPr id="197" name="Gerader Verbinder 196"/>
                  <p:cNvCxnSpPr/>
                  <p:nvPr/>
                </p:nvCxnSpPr>
                <p:spPr>
                  <a:xfrm flipH="1" flipV="1">
                    <a:off x="6144491" y="1849582"/>
                    <a:ext cx="290945" cy="73429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8" name="Gerader Verbinder 197"/>
                  <p:cNvCxnSpPr/>
                  <p:nvPr/>
                </p:nvCxnSpPr>
                <p:spPr>
                  <a:xfrm flipV="1">
                    <a:off x="6144491" y="1371600"/>
                    <a:ext cx="96767" cy="4779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9" name="Gerader Verbinder 198"/>
                  <p:cNvCxnSpPr/>
                  <p:nvPr/>
                </p:nvCxnSpPr>
                <p:spPr>
                  <a:xfrm>
                    <a:off x="6941127" y="1849582"/>
                    <a:ext cx="104442" cy="4325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191" name="Gruppieren 190"/>
              <p:cNvGrpSpPr/>
              <p:nvPr/>
            </p:nvGrpSpPr>
            <p:grpSpPr>
              <a:xfrm rot="18325257">
                <a:off x="6253557" y="1581051"/>
                <a:ext cx="296884" cy="193946"/>
                <a:chOff x="6816694" y="1369905"/>
                <a:chExt cx="327056" cy="193946"/>
              </a:xfrm>
            </p:grpSpPr>
            <p:cxnSp>
              <p:nvCxnSpPr>
                <p:cNvPr id="192" name="Gerader Verbinder 191"/>
                <p:cNvCxnSpPr/>
                <p:nvPr/>
              </p:nvCxnSpPr>
              <p:spPr>
                <a:xfrm flipH="1" flipV="1">
                  <a:off x="6818698" y="1562210"/>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3" name="Gerader Verbinder 192"/>
                <p:cNvCxnSpPr/>
                <p:nvPr/>
              </p:nvCxnSpPr>
              <p:spPr>
                <a:xfrm flipH="1" flipV="1">
                  <a:off x="6818698" y="1467478"/>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4" name="Gerader Verbinder 193"/>
                <p:cNvCxnSpPr/>
                <p:nvPr/>
              </p:nvCxnSpPr>
              <p:spPr>
                <a:xfrm flipH="1" flipV="1">
                  <a:off x="6816694" y="1369905"/>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45" name="Gruppieren 44"/>
            <p:cNvGrpSpPr/>
            <p:nvPr/>
          </p:nvGrpSpPr>
          <p:grpSpPr>
            <a:xfrm flipH="1">
              <a:off x="6473423" y="2090716"/>
              <a:ext cx="901078" cy="1212273"/>
              <a:chOff x="6144491" y="1371600"/>
              <a:chExt cx="901078" cy="1212273"/>
            </a:xfrm>
          </p:grpSpPr>
          <p:cxnSp>
            <p:nvCxnSpPr>
              <p:cNvPr id="185" name="Gerader Verbinder 184"/>
              <p:cNvCxnSpPr/>
              <p:nvPr/>
            </p:nvCxnSpPr>
            <p:spPr>
              <a:xfrm>
                <a:off x="6241473" y="1371600"/>
                <a:ext cx="699871" cy="47863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86" name="Gruppieren 185"/>
              <p:cNvGrpSpPr/>
              <p:nvPr/>
            </p:nvGrpSpPr>
            <p:grpSpPr>
              <a:xfrm>
                <a:off x="6144491" y="1371600"/>
                <a:ext cx="901078" cy="1212273"/>
                <a:chOff x="6144491" y="1371600"/>
                <a:chExt cx="901078" cy="1212273"/>
              </a:xfrm>
            </p:grpSpPr>
            <p:cxnSp>
              <p:nvCxnSpPr>
                <p:cNvPr id="187" name="Gerader Verbinder 186"/>
                <p:cNvCxnSpPr/>
                <p:nvPr/>
              </p:nvCxnSpPr>
              <p:spPr>
                <a:xfrm flipH="1" flipV="1">
                  <a:off x="6144491" y="1849582"/>
                  <a:ext cx="290945" cy="73429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8" name="Gerader Verbinder 187"/>
                <p:cNvCxnSpPr/>
                <p:nvPr/>
              </p:nvCxnSpPr>
              <p:spPr>
                <a:xfrm flipV="1">
                  <a:off x="6144491" y="1371600"/>
                  <a:ext cx="96767" cy="4779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9" name="Gerader Verbinder 188"/>
                <p:cNvCxnSpPr/>
                <p:nvPr/>
              </p:nvCxnSpPr>
              <p:spPr>
                <a:xfrm>
                  <a:off x="6941127" y="1849582"/>
                  <a:ext cx="104442" cy="4325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46" name="Gruppieren 45"/>
            <p:cNvGrpSpPr/>
            <p:nvPr/>
          </p:nvGrpSpPr>
          <p:grpSpPr>
            <a:xfrm rot="3274743" flipH="1">
              <a:off x="6963789" y="2307310"/>
              <a:ext cx="296884" cy="193946"/>
              <a:chOff x="6816694" y="1369905"/>
              <a:chExt cx="327056" cy="193946"/>
            </a:xfrm>
          </p:grpSpPr>
          <p:cxnSp>
            <p:nvCxnSpPr>
              <p:cNvPr id="182" name="Gerader Verbinder 181"/>
              <p:cNvCxnSpPr/>
              <p:nvPr/>
            </p:nvCxnSpPr>
            <p:spPr>
              <a:xfrm flipH="1" flipV="1">
                <a:off x="6818698" y="1562210"/>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3" name="Gerader Verbinder 182"/>
              <p:cNvCxnSpPr/>
              <p:nvPr/>
            </p:nvCxnSpPr>
            <p:spPr>
              <a:xfrm flipH="1" flipV="1">
                <a:off x="6818698" y="1467478"/>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4" name="Gerader Verbinder 183"/>
              <p:cNvCxnSpPr/>
              <p:nvPr/>
            </p:nvCxnSpPr>
            <p:spPr>
              <a:xfrm flipH="1" flipV="1">
                <a:off x="6816694" y="1369905"/>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47" name="Gruppieren 46"/>
            <p:cNvGrpSpPr/>
            <p:nvPr/>
          </p:nvGrpSpPr>
          <p:grpSpPr>
            <a:xfrm>
              <a:off x="5122363" y="2429747"/>
              <a:ext cx="873300" cy="1351922"/>
              <a:chOff x="6439592" y="1698940"/>
              <a:chExt cx="873300" cy="1351922"/>
            </a:xfrm>
          </p:grpSpPr>
          <p:cxnSp>
            <p:nvCxnSpPr>
              <p:cNvPr id="168" name="Gerader Verbinder 167"/>
              <p:cNvCxnSpPr/>
              <p:nvPr/>
            </p:nvCxnSpPr>
            <p:spPr>
              <a:xfrm flipH="1" flipV="1">
                <a:off x="7093507" y="2574706"/>
                <a:ext cx="122580" cy="47615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9" name="Gerader Verbinder 168"/>
              <p:cNvCxnSpPr/>
              <p:nvPr/>
            </p:nvCxnSpPr>
            <p:spPr>
              <a:xfrm flipH="1" flipV="1">
                <a:off x="7185987" y="2515408"/>
                <a:ext cx="126905" cy="47145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0" name="Gerader Verbinder 169"/>
              <p:cNvCxnSpPr/>
              <p:nvPr/>
            </p:nvCxnSpPr>
            <p:spPr>
              <a:xfrm flipH="1" flipV="1">
                <a:off x="6774656" y="2374106"/>
                <a:ext cx="311944" cy="1916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1" name="Gerader Verbinder 170"/>
              <p:cNvCxnSpPr/>
              <p:nvPr/>
            </p:nvCxnSpPr>
            <p:spPr>
              <a:xfrm flipH="1" flipV="1">
                <a:off x="6828980" y="2294673"/>
                <a:ext cx="355252" cy="21726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2" name="Gerader Verbinder 171"/>
              <p:cNvCxnSpPr/>
              <p:nvPr/>
            </p:nvCxnSpPr>
            <p:spPr>
              <a:xfrm>
                <a:off x="6600825" y="1735931"/>
                <a:ext cx="245882" cy="170872"/>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3" name="Gerader Verbinder 172"/>
              <p:cNvCxnSpPr/>
              <p:nvPr/>
            </p:nvCxnSpPr>
            <p:spPr>
              <a:xfrm flipH="1" flipV="1">
                <a:off x="6849726" y="1908849"/>
                <a:ext cx="68848" cy="32483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74" name="Ellipse 173"/>
              <p:cNvSpPr>
                <a:spLocks noChangeAspect="1"/>
              </p:cNvSpPr>
              <p:nvPr/>
            </p:nvSpPr>
            <p:spPr>
              <a:xfrm>
                <a:off x="6884558" y="219967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75" name="Ellipse 174"/>
              <p:cNvSpPr>
                <a:spLocks noChangeAspect="1"/>
              </p:cNvSpPr>
              <p:nvPr/>
            </p:nvSpPr>
            <p:spPr>
              <a:xfrm>
                <a:off x="6566654" y="1698940"/>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76" name="Gerader Verbinder 175"/>
              <p:cNvCxnSpPr/>
              <p:nvPr/>
            </p:nvCxnSpPr>
            <p:spPr>
              <a:xfrm>
                <a:off x="6755919" y="1952372"/>
                <a:ext cx="71409" cy="3414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7" name="Gerader Verbinder 176"/>
              <p:cNvCxnSpPr/>
              <p:nvPr/>
            </p:nvCxnSpPr>
            <p:spPr>
              <a:xfrm>
                <a:off x="6534549" y="1821367"/>
                <a:ext cx="218351" cy="13003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8" name="Gerader Verbinder 177"/>
              <p:cNvCxnSpPr/>
              <p:nvPr/>
            </p:nvCxnSpPr>
            <p:spPr>
              <a:xfrm>
                <a:off x="6475330" y="1903397"/>
                <a:ext cx="187988" cy="107531"/>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9" name="Gerader Verbinder 178"/>
              <p:cNvCxnSpPr/>
              <p:nvPr/>
            </p:nvCxnSpPr>
            <p:spPr>
              <a:xfrm flipH="1" flipV="1">
                <a:off x="6663318" y="2011711"/>
                <a:ext cx="57903" cy="282137"/>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80" name="Ellipse 179"/>
              <p:cNvSpPr>
                <a:spLocks noChangeAspect="1"/>
              </p:cNvSpPr>
              <p:nvPr/>
            </p:nvSpPr>
            <p:spPr>
              <a:xfrm>
                <a:off x="6439592" y="186347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81" name="Ellipse 180"/>
              <p:cNvSpPr>
                <a:spLocks noChangeAspect="1"/>
              </p:cNvSpPr>
              <p:nvPr/>
            </p:nvSpPr>
            <p:spPr>
              <a:xfrm>
                <a:off x="6687025" y="225784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sp>
          <p:nvSpPr>
            <p:cNvPr id="48" name="Ellipse 47"/>
            <p:cNvSpPr>
              <a:spLocks noChangeAspect="1"/>
            </p:cNvSpPr>
            <p:nvPr/>
          </p:nvSpPr>
          <p:spPr>
            <a:xfrm>
              <a:off x="5927704" y="436678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49" name="Gerader Verbinder 48"/>
            <p:cNvCxnSpPr/>
            <p:nvPr/>
          </p:nvCxnSpPr>
          <p:spPr>
            <a:xfrm flipV="1">
              <a:off x="6334125" y="3306194"/>
              <a:ext cx="78299" cy="36807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0" name="Gerader Verbinder 49"/>
            <p:cNvCxnSpPr/>
            <p:nvPr/>
          </p:nvCxnSpPr>
          <p:spPr>
            <a:xfrm flipV="1">
              <a:off x="6213111" y="3246896"/>
              <a:ext cx="106838" cy="47077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1" name="Gerader Verbinder 50"/>
            <p:cNvCxnSpPr/>
            <p:nvPr/>
          </p:nvCxnSpPr>
          <p:spPr>
            <a:xfrm flipV="1">
              <a:off x="6419331" y="3105595"/>
              <a:ext cx="311944" cy="1916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2" name="Gerader Verbinder 51"/>
            <p:cNvCxnSpPr/>
            <p:nvPr/>
          </p:nvCxnSpPr>
          <p:spPr>
            <a:xfrm flipV="1">
              <a:off x="6321699" y="3026162"/>
              <a:ext cx="355252" cy="21726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3" name="Gerader Verbinder 52"/>
            <p:cNvCxnSpPr/>
            <p:nvPr/>
          </p:nvCxnSpPr>
          <p:spPr>
            <a:xfrm flipH="1">
              <a:off x="6659224" y="2467420"/>
              <a:ext cx="245882" cy="170872"/>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4" name="Gerader Verbinder 53"/>
            <p:cNvCxnSpPr/>
            <p:nvPr/>
          </p:nvCxnSpPr>
          <p:spPr>
            <a:xfrm flipV="1">
              <a:off x="6587357" y="2640338"/>
              <a:ext cx="68848" cy="32483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55" name="Ellipse 54"/>
            <p:cNvSpPr>
              <a:spLocks noChangeAspect="1"/>
            </p:cNvSpPr>
            <p:nvPr/>
          </p:nvSpPr>
          <p:spPr>
            <a:xfrm flipH="1">
              <a:off x="6549373" y="293116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56" name="Ellipse 55"/>
            <p:cNvSpPr>
              <a:spLocks noChangeAspect="1"/>
            </p:cNvSpPr>
            <p:nvPr/>
          </p:nvSpPr>
          <p:spPr>
            <a:xfrm flipH="1">
              <a:off x="6867277" y="243042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57" name="Gerader Verbinder 56"/>
            <p:cNvCxnSpPr/>
            <p:nvPr/>
          </p:nvCxnSpPr>
          <p:spPr>
            <a:xfrm flipH="1">
              <a:off x="6678603" y="2683861"/>
              <a:ext cx="71409" cy="3414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8" name="Gerader Verbinder 57"/>
            <p:cNvCxnSpPr/>
            <p:nvPr/>
          </p:nvCxnSpPr>
          <p:spPr>
            <a:xfrm flipH="1">
              <a:off x="6753031" y="2552856"/>
              <a:ext cx="218351" cy="13003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9" name="Gerader Verbinder 58"/>
            <p:cNvCxnSpPr/>
            <p:nvPr/>
          </p:nvCxnSpPr>
          <p:spPr>
            <a:xfrm flipH="1">
              <a:off x="6842613" y="2634886"/>
              <a:ext cx="187988" cy="107531"/>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0" name="Gerader Verbinder 59"/>
            <p:cNvCxnSpPr/>
            <p:nvPr/>
          </p:nvCxnSpPr>
          <p:spPr>
            <a:xfrm flipV="1">
              <a:off x="6784710" y="2743200"/>
              <a:ext cx="57903" cy="282137"/>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61" name="Ellipse 60"/>
            <p:cNvSpPr>
              <a:spLocks noChangeAspect="1"/>
            </p:cNvSpPr>
            <p:nvPr/>
          </p:nvSpPr>
          <p:spPr>
            <a:xfrm flipH="1">
              <a:off x="6994339" y="259496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62" name="Ellipse 61"/>
            <p:cNvSpPr>
              <a:spLocks noChangeAspect="1"/>
            </p:cNvSpPr>
            <p:nvPr/>
          </p:nvSpPr>
          <p:spPr>
            <a:xfrm flipH="1">
              <a:off x="6746906" y="2989337"/>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63" name="Gerader Verbinder 62"/>
            <p:cNvCxnSpPr/>
            <p:nvPr/>
          </p:nvCxnSpPr>
          <p:spPr>
            <a:xfrm flipH="1" flipV="1">
              <a:off x="6182731" y="3426362"/>
              <a:ext cx="70494" cy="80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V="1">
              <a:off x="6182731" y="3151008"/>
              <a:ext cx="60459" cy="26395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5" name="Gerader Verbinder 64"/>
            <p:cNvCxnSpPr/>
            <p:nvPr/>
          </p:nvCxnSpPr>
          <p:spPr>
            <a:xfrm flipV="1">
              <a:off x="6242749" y="3005130"/>
              <a:ext cx="226203" cy="14587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66" name="Gruppieren 65"/>
            <p:cNvGrpSpPr/>
            <p:nvPr/>
          </p:nvGrpSpPr>
          <p:grpSpPr>
            <a:xfrm>
              <a:off x="5777681" y="2796355"/>
              <a:ext cx="79969" cy="106879"/>
              <a:chOff x="7106259" y="2072580"/>
              <a:chExt cx="79969" cy="106879"/>
            </a:xfrm>
          </p:grpSpPr>
          <p:cxnSp>
            <p:nvCxnSpPr>
              <p:cNvPr id="166" name="Gerader Verbinder 165"/>
              <p:cNvCxnSpPr/>
              <p:nvPr/>
            </p:nvCxnSpPr>
            <p:spPr>
              <a:xfrm>
                <a:off x="7106259" y="2072580"/>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7" name="Gerader Verbinder 166"/>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7" name="Gruppieren 66"/>
            <p:cNvGrpSpPr/>
            <p:nvPr/>
          </p:nvGrpSpPr>
          <p:grpSpPr>
            <a:xfrm>
              <a:off x="5939275" y="2797116"/>
              <a:ext cx="79969" cy="106118"/>
              <a:chOff x="7106259" y="2074151"/>
              <a:chExt cx="79969" cy="106118"/>
            </a:xfrm>
          </p:grpSpPr>
          <p:cxnSp>
            <p:nvCxnSpPr>
              <p:cNvPr id="164" name="Gerader Verbinder 163"/>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5" name="Gerader Verbinder 164"/>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8" name="Gruppieren 67"/>
            <p:cNvGrpSpPr/>
            <p:nvPr/>
          </p:nvGrpSpPr>
          <p:grpSpPr>
            <a:xfrm>
              <a:off x="6098577" y="2797008"/>
              <a:ext cx="79969" cy="106118"/>
              <a:chOff x="7106259" y="2074151"/>
              <a:chExt cx="79969" cy="106118"/>
            </a:xfrm>
          </p:grpSpPr>
          <p:cxnSp>
            <p:nvCxnSpPr>
              <p:cNvPr id="162" name="Gerader Verbinder 161"/>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3" name="Gerader Verbinder 162"/>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9" name="Gruppieren 68"/>
            <p:cNvGrpSpPr/>
            <p:nvPr/>
          </p:nvGrpSpPr>
          <p:grpSpPr>
            <a:xfrm>
              <a:off x="6258306" y="2796198"/>
              <a:ext cx="79969" cy="106118"/>
              <a:chOff x="7106259" y="2074151"/>
              <a:chExt cx="79969" cy="106118"/>
            </a:xfrm>
          </p:grpSpPr>
          <p:cxnSp>
            <p:nvCxnSpPr>
              <p:cNvPr id="160" name="Gerader Verbinder 159"/>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1" name="Gerader Verbinder 160"/>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70" name="Gerader Verbinder 69"/>
            <p:cNvCxnSpPr/>
            <p:nvPr/>
          </p:nvCxnSpPr>
          <p:spPr>
            <a:xfrm>
              <a:off x="6417536" y="2797356"/>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1" name="Gerader Verbinder 70"/>
            <p:cNvCxnSpPr/>
            <p:nvPr/>
          </p:nvCxnSpPr>
          <p:spPr>
            <a:xfrm flipH="1">
              <a:off x="5625015" y="3007484"/>
              <a:ext cx="96738" cy="6672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2" name="Gerader Verbinder 71"/>
            <p:cNvCxnSpPr/>
            <p:nvPr/>
          </p:nvCxnSpPr>
          <p:spPr>
            <a:xfrm flipH="1">
              <a:off x="5786397" y="2894491"/>
              <a:ext cx="1656" cy="169361"/>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3" name="Gerader Verbinder 72"/>
            <p:cNvCxnSpPr/>
            <p:nvPr/>
          </p:nvCxnSpPr>
          <p:spPr>
            <a:xfrm>
              <a:off x="5789803" y="3067490"/>
              <a:ext cx="163088" cy="10340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4" name="Gerader Verbinder 73"/>
            <p:cNvCxnSpPr/>
            <p:nvPr/>
          </p:nvCxnSpPr>
          <p:spPr>
            <a:xfrm>
              <a:off x="5955590" y="3176942"/>
              <a:ext cx="60625" cy="23848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5" name="Gerader Verbinder 74"/>
            <p:cNvCxnSpPr/>
            <p:nvPr/>
          </p:nvCxnSpPr>
          <p:spPr>
            <a:xfrm flipV="1">
              <a:off x="5947248" y="3421831"/>
              <a:ext cx="70494" cy="80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6" name="Gerader Verbinder 75"/>
            <p:cNvCxnSpPr/>
            <p:nvPr/>
          </p:nvCxnSpPr>
          <p:spPr>
            <a:xfrm>
              <a:off x="5950428" y="2883586"/>
              <a:ext cx="0" cy="16264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7" name="Gerader Verbinder 76"/>
            <p:cNvCxnSpPr/>
            <p:nvPr/>
          </p:nvCxnSpPr>
          <p:spPr>
            <a:xfrm>
              <a:off x="5950261" y="3052663"/>
              <a:ext cx="135606" cy="9675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8" name="Gerader Verbinder 77"/>
            <p:cNvCxnSpPr/>
            <p:nvPr/>
          </p:nvCxnSpPr>
          <p:spPr>
            <a:xfrm>
              <a:off x="6092068" y="3157204"/>
              <a:ext cx="6509" cy="481964"/>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9" name="Gerader Verbinder 78"/>
            <p:cNvCxnSpPr/>
            <p:nvPr/>
          </p:nvCxnSpPr>
          <p:spPr>
            <a:xfrm>
              <a:off x="6349834" y="2892043"/>
              <a:ext cx="0" cy="6319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0" name="Gerader Verbinder 79"/>
            <p:cNvCxnSpPr/>
            <p:nvPr/>
          </p:nvCxnSpPr>
          <p:spPr>
            <a:xfrm flipH="1">
              <a:off x="6247805" y="2957250"/>
              <a:ext cx="102029" cy="6138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1" name="Gerader Verbinder 80"/>
            <p:cNvCxnSpPr/>
            <p:nvPr/>
          </p:nvCxnSpPr>
          <p:spPr>
            <a:xfrm>
              <a:off x="6240287" y="3024655"/>
              <a:ext cx="404" cy="11937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2" name="Gerader Verbinder 81"/>
            <p:cNvCxnSpPr/>
            <p:nvPr/>
          </p:nvCxnSpPr>
          <p:spPr>
            <a:xfrm flipH="1">
              <a:off x="6032951" y="3047837"/>
              <a:ext cx="74901" cy="570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3" name="Gerader Verbinder 82"/>
            <p:cNvCxnSpPr/>
            <p:nvPr/>
          </p:nvCxnSpPr>
          <p:spPr>
            <a:xfrm>
              <a:off x="6109971" y="2883775"/>
              <a:ext cx="0" cy="16264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84" name="Gruppieren 83"/>
            <p:cNvGrpSpPr/>
            <p:nvPr/>
          </p:nvGrpSpPr>
          <p:grpSpPr>
            <a:xfrm>
              <a:off x="4951158" y="2886789"/>
              <a:ext cx="561594" cy="761161"/>
              <a:chOff x="6265450" y="2165395"/>
              <a:chExt cx="561594" cy="761161"/>
            </a:xfrm>
          </p:grpSpPr>
          <p:grpSp>
            <p:nvGrpSpPr>
              <p:cNvPr id="153" name="Gruppieren 152"/>
              <p:cNvGrpSpPr/>
              <p:nvPr/>
            </p:nvGrpSpPr>
            <p:grpSpPr>
              <a:xfrm flipH="1">
                <a:off x="6265450" y="2165395"/>
                <a:ext cx="561594" cy="761161"/>
                <a:chOff x="8006457" y="2167074"/>
                <a:chExt cx="561594" cy="761161"/>
              </a:xfrm>
            </p:grpSpPr>
            <p:cxnSp>
              <p:nvCxnSpPr>
                <p:cNvPr id="157" name="Gerader Verbinder 156"/>
                <p:cNvCxnSpPr>
                  <a:stCxn id="146" idx="3"/>
                </p:cNvCxnSpPr>
                <p:nvPr/>
              </p:nvCxnSpPr>
              <p:spPr>
                <a:xfrm flipV="1">
                  <a:off x="8006457" y="2727405"/>
                  <a:ext cx="292400" cy="20083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8" name="Gerader Verbinder 157"/>
                <p:cNvCxnSpPr/>
                <p:nvPr/>
              </p:nvCxnSpPr>
              <p:spPr>
                <a:xfrm flipV="1">
                  <a:off x="8290436" y="2167320"/>
                  <a:ext cx="159747" cy="411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9" name="Gerader Verbinder 158"/>
                <p:cNvCxnSpPr/>
                <p:nvPr/>
              </p:nvCxnSpPr>
              <p:spPr>
                <a:xfrm>
                  <a:off x="8456852" y="2167074"/>
                  <a:ext cx="111199" cy="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54" name="Gerader Verbinder 153"/>
              <p:cNvCxnSpPr/>
              <p:nvPr/>
            </p:nvCxnSpPr>
            <p:spPr>
              <a:xfrm flipH="1">
                <a:off x="6307288" y="2228777"/>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5" name="Gerader Verbinder 154"/>
              <p:cNvCxnSpPr/>
              <p:nvPr/>
            </p:nvCxnSpPr>
            <p:spPr>
              <a:xfrm flipH="1">
                <a:off x="6331368" y="2307383"/>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6" name="Gerader Verbinder 155"/>
              <p:cNvCxnSpPr/>
              <p:nvPr/>
            </p:nvCxnSpPr>
            <p:spPr>
              <a:xfrm flipH="1">
                <a:off x="6368144" y="2381138"/>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85" name="Gerader Verbinder 84"/>
            <p:cNvCxnSpPr/>
            <p:nvPr/>
          </p:nvCxnSpPr>
          <p:spPr>
            <a:xfrm flipV="1">
              <a:off x="6684096" y="3447118"/>
              <a:ext cx="310243" cy="20767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6" name="Gerader Verbinder 85"/>
            <p:cNvCxnSpPr/>
            <p:nvPr/>
          </p:nvCxnSpPr>
          <p:spPr>
            <a:xfrm>
              <a:off x="7111954" y="2950171"/>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7" name="Gerader Verbinder 86"/>
            <p:cNvCxnSpPr/>
            <p:nvPr/>
          </p:nvCxnSpPr>
          <p:spPr>
            <a:xfrm>
              <a:off x="7080436" y="3026783"/>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8" name="Gerader Verbinder 87"/>
            <p:cNvCxnSpPr/>
            <p:nvPr/>
          </p:nvCxnSpPr>
          <p:spPr>
            <a:xfrm>
              <a:off x="7051098" y="3102532"/>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9" name="Gerader Verbinder 88"/>
            <p:cNvCxnSpPr/>
            <p:nvPr/>
          </p:nvCxnSpPr>
          <p:spPr>
            <a:xfrm flipH="1" flipV="1">
              <a:off x="5415285" y="3184277"/>
              <a:ext cx="290349" cy="17352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90" name="Ellipse 89"/>
            <p:cNvSpPr>
              <a:spLocks noChangeAspect="1"/>
            </p:cNvSpPr>
            <p:nvPr/>
          </p:nvSpPr>
          <p:spPr>
            <a:xfrm>
              <a:off x="5375305" y="314773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91" name="Gerader Verbinder 90"/>
            <p:cNvCxnSpPr/>
            <p:nvPr/>
          </p:nvCxnSpPr>
          <p:spPr>
            <a:xfrm>
              <a:off x="5705634" y="3361656"/>
              <a:ext cx="48352" cy="21205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2" name="Gerader Verbinder 91"/>
            <p:cNvCxnSpPr/>
            <p:nvPr/>
          </p:nvCxnSpPr>
          <p:spPr>
            <a:xfrm>
              <a:off x="5756690" y="3576444"/>
              <a:ext cx="112979" cy="9659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3" name="Gerader Verbinder 92"/>
            <p:cNvCxnSpPr/>
            <p:nvPr/>
          </p:nvCxnSpPr>
          <p:spPr>
            <a:xfrm flipH="1">
              <a:off x="5263919" y="3105025"/>
              <a:ext cx="89290" cy="36799"/>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4" name="Gerader Verbinder 93"/>
            <p:cNvCxnSpPr/>
            <p:nvPr/>
          </p:nvCxnSpPr>
          <p:spPr>
            <a:xfrm flipH="1" flipV="1">
              <a:off x="5125888" y="2813675"/>
              <a:ext cx="128382" cy="33251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5" name="Gerader Verbinder 94"/>
            <p:cNvCxnSpPr/>
            <p:nvPr/>
          </p:nvCxnSpPr>
          <p:spPr>
            <a:xfrm flipH="1">
              <a:off x="4922203" y="2813675"/>
              <a:ext cx="200160" cy="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6" name="Gerader Verbinder 95"/>
            <p:cNvCxnSpPr/>
            <p:nvPr/>
          </p:nvCxnSpPr>
          <p:spPr>
            <a:xfrm>
              <a:off x="6836727" y="3105025"/>
              <a:ext cx="66550" cy="36799"/>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7" name="Gerader Verbinder 96"/>
            <p:cNvCxnSpPr/>
            <p:nvPr/>
          </p:nvCxnSpPr>
          <p:spPr>
            <a:xfrm flipV="1">
              <a:off x="6909793" y="2778970"/>
              <a:ext cx="145802" cy="36285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8" name="Gerader Verbinder 97"/>
            <p:cNvCxnSpPr/>
            <p:nvPr/>
          </p:nvCxnSpPr>
          <p:spPr>
            <a:xfrm>
              <a:off x="7066339" y="2778970"/>
              <a:ext cx="218288" cy="83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a:off x="7014587" y="2903241"/>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0" name="Gerader Verbinder 99"/>
            <p:cNvCxnSpPr/>
            <p:nvPr/>
          </p:nvCxnSpPr>
          <p:spPr>
            <a:xfrm>
              <a:off x="6987934" y="2981714"/>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a:off x="6956091" y="3054710"/>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2" name="Gerader Verbinder 101"/>
            <p:cNvCxnSpPr/>
            <p:nvPr/>
          </p:nvCxnSpPr>
          <p:spPr>
            <a:xfrm flipH="1" flipV="1">
              <a:off x="6782166" y="3183736"/>
              <a:ext cx="204123" cy="11244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03" name="Ellipse 102"/>
            <p:cNvSpPr>
              <a:spLocks noChangeAspect="1"/>
            </p:cNvSpPr>
            <p:nvPr/>
          </p:nvSpPr>
          <p:spPr>
            <a:xfrm flipH="1">
              <a:off x="6748141" y="3149416"/>
              <a:ext cx="72000" cy="74359"/>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04" name="Gerader Verbinder 103"/>
            <p:cNvCxnSpPr/>
            <p:nvPr/>
          </p:nvCxnSpPr>
          <p:spPr>
            <a:xfrm>
              <a:off x="5216574" y="3594010"/>
              <a:ext cx="194731" cy="123661"/>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5" name="Gerader Verbinder 104"/>
            <p:cNvCxnSpPr/>
            <p:nvPr/>
          </p:nvCxnSpPr>
          <p:spPr>
            <a:xfrm>
              <a:off x="5416603" y="3724110"/>
              <a:ext cx="95940" cy="16138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6" name="Gerader Verbinder 105"/>
            <p:cNvCxnSpPr/>
            <p:nvPr/>
          </p:nvCxnSpPr>
          <p:spPr>
            <a:xfrm>
              <a:off x="5520341" y="3890250"/>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7" name="Gerader Verbinder 106"/>
            <p:cNvCxnSpPr/>
            <p:nvPr/>
          </p:nvCxnSpPr>
          <p:spPr>
            <a:xfrm flipH="1">
              <a:off x="5188057" y="3305216"/>
              <a:ext cx="39800" cy="49648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8" name="Gerader Verbinder 107"/>
            <p:cNvCxnSpPr/>
            <p:nvPr/>
          </p:nvCxnSpPr>
          <p:spPr>
            <a:xfrm>
              <a:off x="5199368" y="3702618"/>
              <a:ext cx="159349" cy="9552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9" name="Gerader Verbinder 108"/>
            <p:cNvCxnSpPr/>
            <p:nvPr/>
          </p:nvCxnSpPr>
          <p:spPr>
            <a:xfrm>
              <a:off x="5359658" y="3801628"/>
              <a:ext cx="101063" cy="16819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0" name="Gerader Verbinder 109"/>
            <p:cNvCxnSpPr/>
            <p:nvPr/>
          </p:nvCxnSpPr>
          <p:spPr>
            <a:xfrm>
              <a:off x="5464184" y="3976623"/>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1" name="Gerader Verbinder 110"/>
            <p:cNvCxnSpPr/>
            <p:nvPr/>
          </p:nvCxnSpPr>
          <p:spPr>
            <a:xfrm flipH="1" flipV="1">
              <a:off x="6506255" y="3932754"/>
              <a:ext cx="57791" cy="264650"/>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2" name="Gerader Verbinder 111"/>
            <p:cNvCxnSpPr/>
            <p:nvPr/>
          </p:nvCxnSpPr>
          <p:spPr>
            <a:xfrm flipV="1">
              <a:off x="6755483" y="3697856"/>
              <a:ext cx="4863" cy="7628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3" name="Gerader Verbinder 112"/>
            <p:cNvCxnSpPr/>
            <p:nvPr/>
          </p:nvCxnSpPr>
          <p:spPr>
            <a:xfrm flipV="1">
              <a:off x="6760346" y="3543591"/>
              <a:ext cx="241170" cy="15426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4" name="Gerader Verbinder 113"/>
            <p:cNvCxnSpPr/>
            <p:nvPr/>
          </p:nvCxnSpPr>
          <p:spPr>
            <a:xfrm>
              <a:off x="6990397" y="3302989"/>
              <a:ext cx="39080" cy="51272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5" name="Gerader Verbinder 114"/>
            <p:cNvCxnSpPr>
              <a:endCxn id="118" idx="0"/>
            </p:cNvCxnSpPr>
            <p:nvPr/>
          </p:nvCxnSpPr>
          <p:spPr>
            <a:xfrm>
              <a:off x="5125888" y="3921686"/>
              <a:ext cx="51794" cy="24995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6" name="Gerader Verbinder 115"/>
            <p:cNvCxnSpPr/>
            <p:nvPr/>
          </p:nvCxnSpPr>
          <p:spPr>
            <a:xfrm flipH="1" flipV="1">
              <a:off x="5240706" y="3980202"/>
              <a:ext cx="132068" cy="21418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17" name="Ellipse 116"/>
            <p:cNvSpPr>
              <a:spLocks noChangeAspect="1"/>
            </p:cNvSpPr>
            <p:nvPr/>
          </p:nvSpPr>
          <p:spPr>
            <a:xfrm>
              <a:off x="5148351" y="379686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18" name="Ellipse 117"/>
            <p:cNvSpPr>
              <a:spLocks noChangeAspect="1"/>
            </p:cNvSpPr>
            <p:nvPr/>
          </p:nvSpPr>
          <p:spPr>
            <a:xfrm>
              <a:off x="5141682" y="4171642"/>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19" name="Gerader Verbinder 118"/>
            <p:cNvCxnSpPr/>
            <p:nvPr/>
          </p:nvCxnSpPr>
          <p:spPr>
            <a:xfrm>
              <a:off x="6725248" y="4216939"/>
              <a:ext cx="191736" cy="6552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0" name="Gerader Verbinder 119"/>
            <p:cNvCxnSpPr/>
            <p:nvPr/>
          </p:nvCxnSpPr>
          <p:spPr>
            <a:xfrm>
              <a:off x="6924289" y="3880226"/>
              <a:ext cx="77980" cy="29652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21" name="Ellipse 120"/>
            <p:cNvSpPr>
              <a:spLocks noChangeAspect="1"/>
            </p:cNvSpPr>
            <p:nvPr/>
          </p:nvSpPr>
          <p:spPr>
            <a:xfrm>
              <a:off x="6649505" y="41673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22" name="Ellipse 121"/>
            <p:cNvSpPr>
              <a:spLocks noChangeAspect="1"/>
            </p:cNvSpPr>
            <p:nvPr/>
          </p:nvSpPr>
          <p:spPr>
            <a:xfrm>
              <a:off x="6995680" y="379790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23" name="Ellipse 122"/>
            <p:cNvSpPr>
              <a:spLocks noChangeAspect="1"/>
            </p:cNvSpPr>
            <p:nvPr/>
          </p:nvSpPr>
          <p:spPr>
            <a:xfrm>
              <a:off x="6978587" y="4174890"/>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24" name="Gerader Verbinder 123"/>
            <p:cNvCxnSpPr/>
            <p:nvPr/>
          </p:nvCxnSpPr>
          <p:spPr>
            <a:xfrm>
              <a:off x="5312904" y="3901575"/>
              <a:ext cx="92892" cy="15755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5" name="Gerader Verbinder 124"/>
            <p:cNvCxnSpPr/>
            <p:nvPr/>
          </p:nvCxnSpPr>
          <p:spPr>
            <a:xfrm flipV="1">
              <a:off x="6514313" y="3774145"/>
              <a:ext cx="241170" cy="15426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6" name="Gerader Verbinder 125"/>
            <p:cNvCxnSpPr/>
            <p:nvPr/>
          </p:nvCxnSpPr>
          <p:spPr>
            <a:xfrm flipV="1">
              <a:off x="6760346" y="3826002"/>
              <a:ext cx="4863" cy="7628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7" name="Gerader Verbinder 126"/>
            <p:cNvCxnSpPr/>
            <p:nvPr/>
          </p:nvCxnSpPr>
          <p:spPr>
            <a:xfrm flipV="1">
              <a:off x="6773839" y="3671738"/>
              <a:ext cx="232540" cy="1439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8" name="Gerader Verbinder 127"/>
            <p:cNvCxnSpPr/>
            <p:nvPr/>
          </p:nvCxnSpPr>
          <p:spPr>
            <a:xfrm flipV="1">
              <a:off x="6532742" y="3902292"/>
              <a:ext cx="227604" cy="14650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9" name="Gerader Verbinder 128"/>
            <p:cNvCxnSpPr/>
            <p:nvPr/>
          </p:nvCxnSpPr>
          <p:spPr>
            <a:xfrm flipV="1">
              <a:off x="6757914" y="3906635"/>
              <a:ext cx="2432" cy="12518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0" name="Gerader Verbinder 129"/>
            <p:cNvCxnSpPr/>
            <p:nvPr/>
          </p:nvCxnSpPr>
          <p:spPr>
            <a:xfrm flipV="1">
              <a:off x="6624886" y="4031819"/>
              <a:ext cx="133028" cy="72000"/>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1" name="Gerader Verbinder 130"/>
            <p:cNvCxnSpPr/>
            <p:nvPr/>
          </p:nvCxnSpPr>
          <p:spPr>
            <a:xfrm>
              <a:off x="5411305" y="4063880"/>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32" name="Ellipse 131"/>
            <p:cNvSpPr>
              <a:spLocks noChangeAspect="1"/>
            </p:cNvSpPr>
            <p:nvPr/>
          </p:nvSpPr>
          <p:spPr>
            <a:xfrm>
              <a:off x="5184351" y="391384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nvGrpSpPr>
            <p:cNvPr id="133" name="Gruppieren 132"/>
            <p:cNvGrpSpPr/>
            <p:nvPr/>
          </p:nvGrpSpPr>
          <p:grpSpPr>
            <a:xfrm flipH="1">
              <a:off x="6213111" y="4367107"/>
              <a:ext cx="513402" cy="292556"/>
              <a:chOff x="6752900" y="3636169"/>
              <a:chExt cx="513402" cy="292556"/>
            </a:xfrm>
          </p:grpSpPr>
          <p:cxnSp>
            <p:nvCxnSpPr>
              <p:cNvPr id="147" name="Gerader Verbinder 146"/>
              <p:cNvCxnSpPr/>
              <p:nvPr/>
            </p:nvCxnSpPr>
            <p:spPr>
              <a:xfrm flipH="1" flipV="1">
                <a:off x="7035650" y="3636171"/>
                <a:ext cx="186898" cy="900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48" name="Gerader Verbinder 147"/>
              <p:cNvCxnSpPr/>
              <p:nvPr/>
            </p:nvCxnSpPr>
            <p:spPr>
              <a:xfrm flipH="1">
                <a:off x="6752900" y="3636169"/>
                <a:ext cx="278933" cy="90254"/>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49" name="Gerader Verbinder 148"/>
              <p:cNvCxnSpPr/>
              <p:nvPr/>
            </p:nvCxnSpPr>
            <p:spPr>
              <a:xfrm flipH="1" flipV="1">
                <a:off x="7060607" y="3750675"/>
                <a:ext cx="157305" cy="32464"/>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0" name="Gerader Verbinder 149"/>
              <p:cNvCxnSpPr/>
              <p:nvPr/>
            </p:nvCxnSpPr>
            <p:spPr>
              <a:xfrm flipH="1">
                <a:off x="6796088" y="3748908"/>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1" name="Gerader Verbinder 150"/>
              <p:cNvCxnSpPr/>
              <p:nvPr/>
            </p:nvCxnSpPr>
            <p:spPr>
              <a:xfrm flipH="1">
                <a:off x="6835024" y="3846387"/>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2" name="Gerader Verbinder 151"/>
              <p:cNvCxnSpPr/>
              <p:nvPr/>
            </p:nvCxnSpPr>
            <p:spPr>
              <a:xfrm flipH="1">
                <a:off x="7093390" y="3836079"/>
                <a:ext cx="172912" cy="883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34" name="Gerader Verbinder 133"/>
            <p:cNvCxnSpPr/>
            <p:nvPr/>
          </p:nvCxnSpPr>
          <p:spPr>
            <a:xfrm>
              <a:off x="6835243" y="3913899"/>
              <a:ext cx="86472" cy="36464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5" name="Gerader Verbinder 134"/>
            <p:cNvCxnSpPr>
              <a:endCxn id="136" idx="2"/>
            </p:cNvCxnSpPr>
            <p:nvPr/>
          </p:nvCxnSpPr>
          <p:spPr>
            <a:xfrm>
              <a:off x="5374849" y="4196606"/>
              <a:ext cx="91720" cy="798"/>
            </a:xfrm>
            <a:prstGeom prst="line">
              <a:avLst/>
            </a:prstGeom>
            <a:ln w="25400" cap="rnd">
              <a:solidFill>
                <a:srgbClr val="19F54B"/>
              </a:solidFill>
              <a:round/>
              <a:headEnd type="none"/>
              <a:tailEnd type="none"/>
            </a:ln>
          </p:spPr>
          <p:style>
            <a:lnRef idx="1">
              <a:schemeClr val="accent1"/>
            </a:lnRef>
            <a:fillRef idx="0">
              <a:schemeClr val="accent1"/>
            </a:fillRef>
            <a:effectRef idx="0">
              <a:schemeClr val="accent1"/>
            </a:effectRef>
            <a:fontRef idx="minor">
              <a:schemeClr val="tx1"/>
            </a:fontRef>
          </p:style>
        </p:cxnSp>
        <p:sp>
          <p:nvSpPr>
            <p:cNvPr id="136" name="Ellipse 135"/>
            <p:cNvSpPr>
              <a:spLocks noChangeAspect="1"/>
            </p:cNvSpPr>
            <p:nvPr/>
          </p:nvSpPr>
          <p:spPr>
            <a:xfrm>
              <a:off x="5466569" y="416140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37" name="Ellipse 136"/>
            <p:cNvSpPr>
              <a:spLocks noChangeAspect="1"/>
            </p:cNvSpPr>
            <p:nvPr/>
          </p:nvSpPr>
          <p:spPr>
            <a:xfrm>
              <a:off x="6060513" y="360654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38" name="Gerader Verbinder 137"/>
            <p:cNvCxnSpPr>
              <a:endCxn id="145" idx="3"/>
            </p:cNvCxnSpPr>
            <p:nvPr/>
          </p:nvCxnSpPr>
          <p:spPr>
            <a:xfrm>
              <a:off x="5531279" y="3660405"/>
              <a:ext cx="295798" cy="168520"/>
            </a:xfrm>
            <a:prstGeom prst="line">
              <a:avLst/>
            </a:prstGeom>
            <a:ln w="25400" cap="rnd">
              <a:solidFill>
                <a:schemeClr val="bg1"/>
              </a:solidFill>
              <a:round/>
              <a:headEnd type="none"/>
              <a:tailEnd type="none"/>
            </a:ln>
          </p:spPr>
          <p:style>
            <a:lnRef idx="1">
              <a:schemeClr val="accent1"/>
            </a:lnRef>
            <a:fillRef idx="0">
              <a:schemeClr val="accent1"/>
            </a:fillRef>
            <a:effectRef idx="0">
              <a:schemeClr val="accent1"/>
            </a:effectRef>
            <a:fontRef idx="minor">
              <a:schemeClr val="tx1"/>
            </a:fontRef>
          </p:style>
        </p:cxnSp>
        <p:cxnSp>
          <p:nvCxnSpPr>
            <p:cNvPr id="139" name="Gerader Verbinder 138"/>
            <p:cNvCxnSpPr>
              <a:stCxn id="143" idx="7"/>
            </p:cNvCxnSpPr>
            <p:nvPr/>
          </p:nvCxnSpPr>
          <p:spPr>
            <a:xfrm flipV="1">
              <a:off x="6390683" y="3663210"/>
              <a:ext cx="287803" cy="149036"/>
            </a:xfrm>
            <a:prstGeom prst="line">
              <a:avLst/>
            </a:prstGeom>
            <a:ln w="25400" cap="rnd">
              <a:solidFill>
                <a:schemeClr val="bg1"/>
              </a:solidFill>
              <a:round/>
              <a:headEnd type="none"/>
              <a:tailEnd type="none"/>
            </a:ln>
          </p:spPr>
          <p:style>
            <a:lnRef idx="1">
              <a:schemeClr val="accent1"/>
            </a:lnRef>
            <a:fillRef idx="0">
              <a:schemeClr val="accent1"/>
            </a:fillRef>
            <a:effectRef idx="0">
              <a:schemeClr val="accent1"/>
            </a:effectRef>
            <a:fontRef idx="minor">
              <a:schemeClr val="tx1"/>
            </a:fontRef>
          </p:style>
        </p:cxnSp>
        <p:sp>
          <p:nvSpPr>
            <p:cNvPr id="140" name="Freihandform 139"/>
            <p:cNvSpPr/>
            <p:nvPr/>
          </p:nvSpPr>
          <p:spPr>
            <a:xfrm flipH="1">
              <a:off x="6373084" y="3627586"/>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solidFill>
              <a:schemeClr val="bg1"/>
            </a:solidFill>
            <a:ln w="28575">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1" name="Freihandform 140"/>
            <p:cNvSpPr/>
            <p:nvPr/>
          </p:nvSpPr>
          <p:spPr>
            <a:xfrm flipH="1">
              <a:off x="6370703" y="3660816"/>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solidFill>
              <a:schemeClr val="bg1"/>
            </a:solidFill>
            <a:ln w="28575">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142" name="Gruppieren 141"/>
            <p:cNvGrpSpPr/>
            <p:nvPr/>
          </p:nvGrpSpPr>
          <p:grpSpPr>
            <a:xfrm>
              <a:off x="5509926" y="3621864"/>
              <a:ext cx="317151" cy="209442"/>
              <a:chOff x="6828980" y="2898089"/>
              <a:chExt cx="317151" cy="209442"/>
            </a:xfrm>
            <a:solidFill>
              <a:schemeClr val="bg1"/>
            </a:solidFill>
          </p:grpSpPr>
          <p:sp>
            <p:nvSpPr>
              <p:cNvPr id="145" name="Freihandform 144"/>
              <p:cNvSpPr/>
              <p:nvPr/>
            </p:nvSpPr>
            <p:spPr>
              <a:xfrm>
                <a:off x="6828980" y="2931319"/>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grp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6" name="Freihandform 145"/>
              <p:cNvSpPr/>
              <p:nvPr/>
            </p:nvSpPr>
            <p:spPr>
              <a:xfrm>
                <a:off x="6831806" y="2898089"/>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grp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143" name="Ellipse 142"/>
            <p:cNvSpPr>
              <a:spLocks noChangeAspect="1"/>
            </p:cNvSpPr>
            <p:nvPr/>
          </p:nvSpPr>
          <p:spPr>
            <a:xfrm>
              <a:off x="6329227" y="3801702"/>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44" name="Ellipse 143"/>
            <p:cNvSpPr>
              <a:spLocks noChangeAspect="1"/>
            </p:cNvSpPr>
            <p:nvPr/>
          </p:nvSpPr>
          <p:spPr>
            <a:xfrm>
              <a:off x="5791522" y="379015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sp>
        <p:nvSpPr>
          <p:cNvPr id="221" name="Rechteck 220"/>
          <p:cNvSpPr/>
          <p:nvPr/>
        </p:nvSpPr>
        <p:spPr>
          <a:xfrm>
            <a:off x="0" y="1199345"/>
            <a:ext cx="12192000" cy="369332"/>
          </a:xfrm>
          <a:prstGeom prst="rect">
            <a:avLst/>
          </a:prstGeom>
        </p:spPr>
        <p:txBody>
          <a:bodyPr wrap="square">
            <a:spAutoFit/>
          </a:bodyPr>
          <a:lstStyle/>
          <a:p>
            <a:r>
              <a:rPr lang="en-US" dirty="0">
                <a:solidFill>
                  <a:schemeClr val="bg1">
                    <a:lumMod val="50000"/>
                  </a:schemeClr>
                </a:solidFill>
              </a:rPr>
              <a:t>Thorsten Doherr | Leibniz Centre for European </a:t>
            </a:r>
            <a:r>
              <a:rPr lang="en-US">
                <a:solidFill>
                  <a:schemeClr val="bg1">
                    <a:lumMod val="50000"/>
                  </a:schemeClr>
                </a:solidFill>
              </a:rPr>
              <a:t>Economic Research, Germany | https://github.com/ThorstenDoherr/searchengine</a:t>
            </a:r>
            <a:endParaRPr lang="en-US" dirty="0">
              <a:solidFill>
                <a:schemeClr val="bg1">
                  <a:lumMod val="50000"/>
                </a:schemeClr>
              </a:solidFill>
            </a:endParaRPr>
          </a:p>
        </p:txBody>
      </p:sp>
    </p:spTree>
    <p:extLst>
      <p:ext uri="{BB962C8B-B14F-4D97-AF65-F5344CB8AC3E}">
        <p14:creationId xmlns:p14="http://schemas.microsoft.com/office/powerpoint/2010/main" val="377322074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hteck 4"/>
          <p:cNvSpPr/>
          <p:nvPr/>
        </p:nvSpPr>
        <p:spPr>
          <a:xfrm>
            <a:off x="0" y="6391275"/>
            <a:ext cx="1885950" cy="4667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hteck 5"/>
          <p:cNvSpPr/>
          <p:nvPr/>
        </p:nvSpPr>
        <p:spPr>
          <a:xfrm>
            <a:off x="11268075" y="6248400"/>
            <a:ext cx="923925"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RL"/>
          <p:cNvSpPr/>
          <p:nvPr/>
        </p:nvSpPr>
        <p:spPr>
          <a:xfrm rot="5400000" flipH="1">
            <a:off x="9952643" y="705463"/>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cxnSp>
        <p:nvCxnSpPr>
          <p:cNvPr id="8" name="Gerade Verbindung mit Pfeil 7"/>
          <p:cNvCxnSpPr>
            <a:stCxn id="67" idx="3"/>
            <a:endCxn id="39" idx="1"/>
          </p:cNvCxnSpPr>
          <p:nvPr/>
        </p:nvCxnSpPr>
        <p:spPr>
          <a:xfrm flipV="1">
            <a:off x="10467645" y="744138"/>
            <a:ext cx="1103796" cy="442392"/>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9" name="Gerade Verbindung mit Pfeil 8"/>
          <p:cNvCxnSpPr>
            <a:stCxn id="65" idx="3"/>
            <a:endCxn id="39" idx="1"/>
          </p:cNvCxnSpPr>
          <p:nvPr/>
        </p:nvCxnSpPr>
        <p:spPr>
          <a:xfrm>
            <a:off x="10467645" y="744138"/>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0" name="Gerade Verbindung mit Pfeil 9"/>
          <p:cNvCxnSpPr>
            <a:stCxn id="80" idx="3"/>
            <a:endCxn id="47" idx="1"/>
          </p:cNvCxnSpPr>
          <p:nvPr/>
        </p:nvCxnSpPr>
        <p:spPr>
          <a:xfrm flipV="1">
            <a:off x="10467645" y="2532978"/>
            <a:ext cx="1103796" cy="157085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11" name="Gruppieren 10"/>
          <p:cNvGrpSpPr/>
          <p:nvPr/>
        </p:nvGrpSpPr>
        <p:grpSpPr>
          <a:xfrm>
            <a:off x="10467645" y="4103834"/>
            <a:ext cx="1103796" cy="224408"/>
            <a:chOff x="7380312" y="4094002"/>
            <a:chExt cx="1103796" cy="224408"/>
          </a:xfrm>
        </p:grpSpPr>
        <p:cxnSp>
          <p:nvCxnSpPr>
            <p:cNvPr id="12" name="Gerade Verbindung mit Pfeil 11"/>
            <p:cNvCxnSpPr>
              <a:stCxn id="81" idx="3"/>
              <a:endCxn id="54" idx="1"/>
            </p:cNvCxnSpPr>
            <p:nvPr/>
          </p:nvCxnSpPr>
          <p:spPr>
            <a:xfrm flipV="1">
              <a:off x="7380312" y="4094002"/>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3" name="Gerade Verbindung mit Pfeil 12"/>
            <p:cNvCxnSpPr>
              <a:stCxn id="81" idx="3"/>
              <a:endCxn id="55" idx="1"/>
            </p:cNvCxnSpPr>
            <p:nvPr/>
          </p:nvCxnSpPr>
          <p:spPr>
            <a:xfrm>
              <a:off x="7380312" y="4318410"/>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14" name="Gruppieren 13"/>
          <p:cNvGrpSpPr/>
          <p:nvPr/>
        </p:nvGrpSpPr>
        <p:grpSpPr>
          <a:xfrm>
            <a:off x="10467645" y="2757386"/>
            <a:ext cx="1103796" cy="1795264"/>
            <a:chOff x="7380312" y="2747554"/>
            <a:chExt cx="1103796" cy="1795264"/>
          </a:xfrm>
        </p:grpSpPr>
        <p:cxnSp>
          <p:nvCxnSpPr>
            <p:cNvPr id="15" name="Gerade Verbindung mit Pfeil 14"/>
            <p:cNvCxnSpPr>
              <a:stCxn id="82" idx="3"/>
              <a:endCxn id="48" idx="1"/>
            </p:cNvCxnSpPr>
            <p:nvPr/>
          </p:nvCxnSpPr>
          <p:spPr>
            <a:xfrm flipV="1">
              <a:off x="7380312" y="2747554"/>
              <a:ext cx="1103796" cy="179526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6" name="Gerade Verbindung mit Pfeil 15"/>
            <p:cNvCxnSpPr>
              <a:stCxn id="82" idx="3"/>
              <a:endCxn id="56" idx="1"/>
            </p:cNvCxnSpPr>
            <p:nvPr/>
          </p:nvCxnSpPr>
          <p:spPr>
            <a:xfrm>
              <a:off x="7380312" y="4542818"/>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7" name="Gerade Verbindung mit Pfeil 16"/>
            <p:cNvCxnSpPr>
              <a:stCxn id="82" idx="3"/>
              <a:endCxn id="49" idx="1"/>
            </p:cNvCxnSpPr>
            <p:nvPr/>
          </p:nvCxnSpPr>
          <p:spPr>
            <a:xfrm flipV="1">
              <a:off x="7380312" y="2971962"/>
              <a:ext cx="1103796" cy="157085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cxnSp>
        <p:nvCxnSpPr>
          <p:cNvPr id="18" name="Gerade Verbindung mit Pfeil 17"/>
          <p:cNvCxnSpPr>
            <a:stCxn id="77" idx="3"/>
            <a:endCxn id="45" idx="1"/>
          </p:cNvCxnSpPr>
          <p:nvPr/>
        </p:nvCxnSpPr>
        <p:spPr>
          <a:xfrm flipV="1">
            <a:off x="10467645" y="2084162"/>
            <a:ext cx="1103796" cy="134644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9" name="Gerade Verbindung mit Pfeil 18"/>
          <p:cNvCxnSpPr>
            <a:stCxn id="78" idx="3"/>
            <a:endCxn id="53" idx="1"/>
          </p:cNvCxnSpPr>
          <p:nvPr/>
        </p:nvCxnSpPr>
        <p:spPr>
          <a:xfrm>
            <a:off x="10467645" y="3655018"/>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20" name="Gruppieren 19"/>
          <p:cNvGrpSpPr/>
          <p:nvPr/>
        </p:nvGrpSpPr>
        <p:grpSpPr>
          <a:xfrm>
            <a:off x="10467645" y="4777058"/>
            <a:ext cx="1103796" cy="446742"/>
            <a:chOff x="7380312" y="4767226"/>
            <a:chExt cx="1103796" cy="446742"/>
          </a:xfrm>
        </p:grpSpPr>
        <p:cxnSp>
          <p:nvCxnSpPr>
            <p:cNvPr id="21" name="Gerade Verbindung mit Pfeil 20"/>
            <p:cNvCxnSpPr>
              <a:stCxn id="84" idx="3"/>
              <a:endCxn id="57" idx="1"/>
            </p:cNvCxnSpPr>
            <p:nvPr/>
          </p:nvCxnSpPr>
          <p:spPr>
            <a:xfrm flipV="1">
              <a:off x="7380312" y="4767226"/>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a:stCxn id="84" idx="3"/>
            </p:cNvCxnSpPr>
            <p:nvPr/>
          </p:nvCxnSpPr>
          <p:spPr>
            <a:xfrm>
              <a:off x="7380312" y="4991634"/>
              <a:ext cx="1094756" cy="22233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23" name="Gruppieren 22"/>
          <p:cNvGrpSpPr/>
          <p:nvPr/>
        </p:nvGrpSpPr>
        <p:grpSpPr>
          <a:xfrm>
            <a:off x="10467645" y="4777058"/>
            <a:ext cx="1103796" cy="673224"/>
            <a:chOff x="7380312" y="4767226"/>
            <a:chExt cx="1103796" cy="673224"/>
          </a:xfrm>
        </p:grpSpPr>
        <p:cxnSp>
          <p:nvCxnSpPr>
            <p:cNvPr id="24" name="Gerade Verbindung mit Pfeil 23"/>
            <p:cNvCxnSpPr>
              <a:stCxn id="86" idx="3"/>
              <a:endCxn id="57" idx="1"/>
            </p:cNvCxnSpPr>
            <p:nvPr/>
          </p:nvCxnSpPr>
          <p:spPr>
            <a:xfrm flipV="1">
              <a:off x="7380312" y="4767226"/>
              <a:ext cx="1103796" cy="67322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5" name="Gerade Verbindung mit Pfeil 24"/>
            <p:cNvCxnSpPr>
              <a:stCxn id="86" idx="3"/>
              <a:endCxn id="59" idx="1"/>
            </p:cNvCxnSpPr>
            <p:nvPr/>
          </p:nvCxnSpPr>
          <p:spPr>
            <a:xfrm flipV="1">
              <a:off x="7380312" y="5216042"/>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cxnSp>
        <p:nvCxnSpPr>
          <p:cNvPr id="26" name="Gerade Verbindung mit Pfeil 25"/>
          <p:cNvCxnSpPr>
            <a:stCxn id="85" idx="3"/>
            <a:endCxn id="60" idx="1"/>
          </p:cNvCxnSpPr>
          <p:nvPr/>
        </p:nvCxnSpPr>
        <p:spPr>
          <a:xfrm>
            <a:off x="10467645" y="5225874"/>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7" name="Gerade Verbindung mit Pfeil 26"/>
          <p:cNvCxnSpPr>
            <a:stCxn id="87" idx="3"/>
            <a:endCxn id="61" idx="1"/>
          </p:cNvCxnSpPr>
          <p:nvPr/>
        </p:nvCxnSpPr>
        <p:spPr>
          <a:xfrm>
            <a:off x="10467645" y="5674690"/>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28" name="Gruppieren 27"/>
          <p:cNvGrpSpPr/>
          <p:nvPr/>
        </p:nvGrpSpPr>
        <p:grpSpPr>
          <a:xfrm>
            <a:off x="10467645" y="1410938"/>
            <a:ext cx="1103796" cy="448816"/>
            <a:chOff x="7380312" y="1401106"/>
            <a:chExt cx="1103796" cy="448816"/>
          </a:xfrm>
        </p:grpSpPr>
        <p:cxnSp>
          <p:nvCxnSpPr>
            <p:cNvPr id="29" name="Gerade Verbindung mit Pfeil 28"/>
            <p:cNvCxnSpPr>
              <a:stCxn id="70" idx="3"/>
              <a:endCxn id="42" idx="1"/>
            </p:cNvCxnSpPr>
            <p:nvPr/>
          </p:nvCxnSpPr>
          <p:spPr>
            <a:xfrm flipV="1">
              <a:off x="7380312" y="1401106"/>
              <a:ext cx="1103796" cy="44881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0" name="Gerade Verbindung mit Pfeil 29"/>
            <p:cNvCxnSpPr>
              <a:stCxn id="70" idx="3"/>
              <a:endCxn id="44" idx="1"/>
            </p:cNvCxnSpPr>
            <p:nvPr/>
          </p:nvCxnSpPr>
          <p:spPr>
            <a:xfrm>
              <a:off x="7380312" y="1849922"/>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1" name="Gerade Verbindung mit Pfeil 30"/>
            <p:cNvCxnSpPr>
              <a:stCxn id="70" idx="3"/>
              <a:endCxn id="43" idx="1"/>
            </p:cNvCxnSpPr>
            <p:nvPr/>
          </p:nvCxnSpPr>
          <p:spPr>
            <a:xfrm flipV="1">
              <a:off x="7380312" y="1625514"/>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2" name="Gruppieren 31"/>
          <p:cNvGrpSpPr/>
          <p:nvPr/>
        </p:nvGrpSpPr>
        <p:grpSpPr>
          <a:xfrm>
            <a:off x="10467645" y="5001466"/>
            <a:ext cx="1103796" cy="1122040"/>
            <a:chOff x="7380312" y="4991634"/>
            <a:chExt cx="1103796" cy="1122040"/>
          </a:xfrm>
        </p:grpSpPr>
        <p:cxnSp>
          <p:nvCxnSpPr>
            <p:cNvPr id="33" name="Gerade Verbindung mit Pfeil 32"/>
            <p:cNvCxnSpPr>
              <a:stCxn id="89" idx="3"/>
              <a:endCxn id="63" idx="1"/>
            </p:cNvCxnSpPr>
            <p:nvPr/>
          </p:nvCxnSpPr>
          <p:spPr>
            <a:xfrm>
              <a:off x="7380312" y="6113674"/>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4" name="Gerade Verbindung mit Pfeil 33"/>
            <p:cNvCxnSpPr>
              <a:stCxn id="89" idx="3"/>
              <a:endCxn id="58" idx="1"/>
            </p:cNvCxnSpPr>
            <p:nvPr/>
          </p:nvCxnSpPr>
          <p:spPr>
            <a:xfrm flipV="1">
              <a:off x="7380312" y="4991634"/>
              <a:ext cx="1103796" cy="112204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5" name="Gruppieren 34"/>
          <p:cNvGrpSpPr/>
          <p:nvPr/>
        </p:nvGrpSpPr>
        <p:grpSpPr>
          <a:xfrm>
            <a:off x="10467645" y="3206202"/>
            <a:ext cx="1103796" cy="1122040"/>
            <a:chOff x="7380312" y="3196370"/>
            <a:chExt cx="1103796" cy="1122040"/>
          </a:xfrm>
        </p:grpSpPr>
        <p:cxnSp>
          <p:nvCxnSpPr>
            <p:cNvPr id="36" name="Gerade Verbindung mit Pfeil 35"/>
            <p:cNvCxnSpPr>
              <a:stCxn id="76" idx="3"/>
              <a:endCxn id="55" idx="1"/>
            </p:cNvCxnSpPr>
            <p:nvPr/>
          </p:nvCxnSpPr>
          <p:spPr>
            <a:xfrm>
              <a:off x="7380312" y="3196370"/>
              <a:ext cx="1103796" cy="112204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Gerade Verbindung mit Pfeil 36"/>
            <p:cNvCxnSpPr>
              <a:stCxn id="76" idx="3"/>
              <a:endCxn id="54" idx="1"/>
            </p:cNvCxnSpPr>
            <p:nvPr/>
          </p:nvCxnSpPr>
          <p:spPr>
            <a:xfrm>
              <a:off x="7380312" y="3196370"/>
              <a:ext cx="1103796" cy="897632"/>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8" name="Gruppieren 37"/>
          <p:cNvGrpSpPr/>
          <p:nvPr/>
        </p:nvGrpSpPr>
        <p:grpSpPr>
          <a:xfrm>
            <a:off x="10107605" y="672130"/>
            <a:ext cx="1823876" cy="5747792"/>
            <a:chOff x="267304" y="662298"/>
            <a:chExt cx="1823876" cy="5747792"/>
          </a:xfrm>
        </p:grpSpPr>
        <p:sp>
          <p:nvSpPr>
            <p:cNvPr id="39" name="Rechteck 38"/>
            <p:cNvSpPr/>
            <p:nvPr/>
          </p:nvSpPr>
          <p:spPr>
            <a:xfrm>
              <a:off x="1731140" y="6622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0" name="Rechteck 39"/>
            <p:cNvSpPr/>
            <p:nvPr/>
          </p:nvSpPr>
          <p:spPr>
            <a:xfrm>
              <a:off x="1731140" y="88028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1" name="Rechteck 40"/>
            <p:cNvSpPr/>
            <p:nvPr/>
          </p:nvSpPr>
          <p:spPr>
            <a:xfrm>
              <a:off x="1731140" y="110469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2" name="Rechteck 41"/>
            <p:cNvSpPr/>
            <p:nvPr/>
          </p:nvSpPr>
          <p:spPr>
            <a:xfrm>
              <a:off x="1731140" y="13290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3" name="Rechteck 42"/>
            <p:cNvSpPr/>
            <p:nvPr/>
          </p:nvSpPr>
          <p:spPr>
            <a:xfrm>
              <a:off x="1731140" y="155350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4" name="Rechteck 43"/>
            <p:cNvSpPr/>
            <p:nvPr/>
          </p:nvSpPr>
          <p:spPr>
            <a:xfrm>
              <a:off x="1731140" y="177791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5" name="Rechteck 44"/>
            <p:cNvSpPr/>
            <p:nvPr/>
          </p:nvSpPr>
          <p:spPr>
            <a:xfrm>
              <a:off x="1731140" y="200232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6" name="Rechteck 45"/>
            <p:cNvSpPr/>
            <p:nvPr/>
          </p:nvSpPr>
          <p:spPr>
            <a:xfrm>
              <a:off x="1731140" y="222673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7" name="Rechteck 46"/>
            <p:cNvSpPr/>
            <p:nvPr/>
          </p:nvSpPr>
          <p:spPr>
            <a:xfrm>
              <a:off x="1731140" y="245113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8" name="Rechteck 47"/>
            <p:cNvSpPr/>
            <p:nvPr/>
          </p:nvSpPr>
          <p:spPr>
            <a:xfrm>
              <a:off x="1731140" y="267554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9" name="Rechteck 48"/>
            <p:cNvSpPr/>
            <p:nvPr/>
          </p:nvSpPr>
          <p:spPr>
            <a:xfrm>
              <a:off x="1731140" y="289995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0" name="Rechteck 49"/>
            <p:cNvSpPr/>
            <p:nvPr/>
          </p:nvSpPr>
          <p:spPr>
            <a:xfrm>
              <a:off x="1731140" y="312436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1" name="Rechteck 50"/>
            <p:cNvSpPr/>
            <p:nvPr/>
          </p:nvSpPr>
          <p:spPr>
            <a:xfrm>
              <a:off x="1731140" y="334877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2" name="Rechteck 51"/>
            <p:cNvSpPr/>
            <p:nvPr/>
          </p:nvSpPr>
          <p:spPr>
            <a:xfrm>
              <a:off x="1731140" y="357317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3" name="Rechteck 52"/>
            <p:cNvSpPr/>
            <p:nvPr/>
          </p:nvSpPr>
          <p:spPr>
            <a:xfrm>
              <a:off x="1731140" y="379758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4" name="Rechteck 53"/>
            <p:cNvSpPr/>
            <p:nvPr/>
          </p:nvSpPr>
          <p:spPr>
            <a:xfrm>
              <a:off x="1731140" y="402199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5" name="Rechteck 54"/>
            <p:cNvSpPr/>
            <p:nvPr/>
          </p:nvSpPr>
          <p:spPr>
            <a:xfrm>
              <a:off x="1731140" y="424640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6" name="Rechteck 55"/>
            <p:cNvSpPr/>
            <p:nvPr/>
          </p:nvSpPr>
          <p:spPr>
            <a:xfrm>
              <a:off x="1731140" y="447081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7" name="Rechteck 56"/>
            <p:cNvSpPr/>
            <p:nvPr/>
          </p:nvSpPr>
          <p:spPr>
            <a:xfrm>
              <a:off x="1731140" y="469521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8" name="Rechteck 57"/>
            <p:cNvSpPr/>
            <p:nvPr/>
          </p:nvSpPr>
          <p:spPr>
            <a:xfrm>
              <a:off x="1731140" y="491962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9" name="Rechteck 58"/>
            <p:cNvSpPr/>
            <p:nvPr/>
          </p:nvSpPr>
          <p:spPr>
            <a:xfrm>
              <a:off x="1731140" y="514403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0" name="Rechteck 59"/>
            <p:cNvSpPr/>
            <p:nvPr/>
          </p:nvSpPr>
          <p:spPr>
            <a:xfrm>
              <a:off x="1731140" y="536844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1" name="Rechteck 60"/>
            <p:cNvSpPr/>
            <p:nvPr/>
          </p:nvSpPr>
          <p:spPr>
            <a:xfrm>
              <a:off x="1731140" y="559285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2" name="Rechteck 61"/>
            <p:cNvSpPr/>
            <p:nvPr/>
          </p:nvSpPr>
          <p:spPr>
            <a:xfrm>
              <a:off x="1731140" y="581725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3" name="Rechteck 62"/>
            <p:cNvSpPr/>
            <p:nvPr/>
          </p:nvSpPr>
          <p:spPr>
            <a:xfrm>
              <a:off x="1731140" y="604166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4" name="Rechteck 63"/>
            <p:cNvSpPr/>
            <p:nvPr/>
          </p:nvSpPr>
          <p:spPr>
            <a:xfrm>
              <a:off x="1731140" y="626607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5" name="Rechteck 64"/>
            <p:cNvSpPr/>
            <p:nvPr/>
          </p:nvSpPr>
          <p:spPr>
            <a:xfrm>
              <a:off x="267304" y="6622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6" name="Rechteck 65"/>
            <p:cNvSpPr/>
            <p:nvPr/>
          </p:nvSpPr>
          <p:spPr>
            <a:xfrm>
              <a:off x="267304" y="88028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7" name="Rechteck 66"/>
            <p:cNvSpPr/>
            <p:nvPr/>
          </p:nvSpPr>
          <p:spPr>
            <a:xfrm>
              <a:off x="267304" y="110469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8" name="Rechteck 67"/>
            <p:cNvSpPr/>
            <p:nvPr/>
          </p:nvSpPr>
          <p:spPr>
            <a:xfrm>
              <a:off x="267304" y="13290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9" name="Rechteck 68"/>
            <p:cNvSpPr/>
            <p:nvPr/>
          </p:nvSpPr>
          <p:spPr>
            <a:xfrm>
              <a:off x="267304" y="155350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0" name="Rechteck 69"/>
            <p:cNvSpPr/>
            <p:nvPr/>
          </p:nvSpPr>
          <p:spPr>
            <a:xfrm>
              <a:off x="267304" y="177791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1" name="Rechteck 70"/>
            <p:cNvSpPr/>
            <p:nvPr/>
          </p:nvSpPr>
          <p:spPr>
            <a:xfrm>
              <a:off x="267304" y="200232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2" name="Rechteck 71"/>
            <p:cNvSpPr/>
            <p:nvPr/>
          </p:nvSpPr>
          <p:spPr>
            <a:xfrm>
              <a:off x="267304" y="222673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3" name="Rechteck 72"/>
            <p:cNvSpPr/>
            <p:nvPr/>
          </p:nvSpPr>
          <p:spPr>
            <a:xfrm>
              <a:off x="267304" y="245113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4" name="Rechteck 73"/>
            <p:cNvSpPr/>
            <p:nvPr/>
          </p:nvSpPr>
          <p:spPr>
            <a:xfrm>
              <a:off x="267304" y="267554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5" name="Rechteck 74"/>
            <p:cNvSpPr/>
            <p:nvPr/>
          </p:nvSpPr>
          <p:spPr>
            <a:xfrm>
              <a:off x="267304" y="289995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6" name="Rechteck 75"/>
            <p:cNvSpPr/>
            <p:nvPr/>
          </p:nvSpPr>
          <p:spPr>
            <a:xfrm>
              <a:off x="267304" y="312436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7" name="Rechteck 76"/>
            <p:cNvSpPr/>
            <p:nvPr/>
          </p:nvSpPr>
          <p:spPr>
            <a:xfrm>
              <a:off x="267304" y="334877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8" name="Rechteck 77"/>
            <p:cNvSpPr/>
            <p:nvPr/>
          </p:nvSpPr>
          <p:spPr>
            <a:xfrm>
              <a:off x="267304" y="357317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9" name="Rechteck 78"/>
            <p:cNvSpPr/>
            <p:nvPr/>
          </p:nvSpPr>
          <p:spPr>
            <a:xfrm>
              <a:off x="267304" y="379758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0" name="Rechteck 79"/>
            <p:cNvSpPr/>
            <p:nvPr/>
          </p:nvSpPr>
          <p:spPr>
            <a:xfrm>
              <a:off x="267304" y="402199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1" name="Rechteck 80"/>
            <p:cNvSpPr/>
            <p:nvPr/>
          </p:nvSpPr>
          <p:spPr>
            <a:xfrm>
              <a:off x="267304" y="424640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2" name="Rechteck 81"/>
            <p:cNvSpPr/>
            <p:nvPr/>
          </p:nvSpPr>
          <p:spPr>
            <a:xfrm>
              <a:off x="267304" y="447081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3" name="Rechteck 82"/>
            <p:cNvSpPr/>
            <p:nvPr/>
          </p:nvSpPr>
          <p:spPr>
            <a:xfrm>
              <a:off x="267304" y="469521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4" name="Rechteck 83"/>
            <p:cNvSpPr/>
            <p:nvPr/>
          </p:nvSpPr>
          <p:spPr>
            <a:xfrm>
              <a:off x="267304" y="491962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5" name="Rechteck 84"/>
            <p:cNvSpPr/>
            <p:nvPr/>
          </p:nvSpPr>
          <p:spPr>
            <a:xfrm>
              <a:off x="267304" y="514403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6" name="Rechteck 85"/>
            <p:cNvSpPr/>
            <p:nvPr/>
          </p:nvSpPr>
          <p:spPr>
            <a:xfrm>
              <a:off x="267304" y="536844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7" name="Rechteck 86"/>
            <p:cNvSpPr/>
            <p:nvPr/>
          </p:nvSpPr>
          <p:spPr>
            <a:xfrm>
              <a:off x="267304" y="559285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8" name="Rechteck 87"/>
            <p:cNvSpPr/>
            <p:nvPr/>
          </p:nvSpPr>
          <p:spPr>
            <a:xfrm>
              <a:off x="267304" y="581725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9" name="Rechteck 88"/>
            <p:cNvSpPr/>
            <p:nvPr/>
          </p:nvSpPr>
          <p:spPr>
            <a:xfrm>
              <a:off x="267304" y="604166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90" name="Rechteck 89"/>
            <p:cNvSpPr/>
            <p:nvPr/>
          </p:nvSpPr>
          <p:spPr>
            <a:xfrm>
              <a:off x="267304" y="626607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grpSp>
      <p:grpSp>
        <p:nvGrpSpPr>
          <p:cNvPr id="91" name="Gruppieren 90"/>
          <p:cNvGrpSpPr/>
          <p:nvPr/>
        </p:nvGrpSpPr>
        <p:grpSpPr>
          <a:xfrm>
            <a:off x="10067448" y="628368"/>
            <a:ext cx="1890878" cy="5840454"/>
            <a:chOff x="6980114" y="618536"/>
            <a:chExt cx="1890878" cy="5840454"/>
          </a:xfrm>
        </p:grpSpPr>
        <p:grpSp>
          <p:nvGrpSpPr>
            <p:cNvPr id="92" name="ID1L"/>
            <p:cNvGrpSpPr/>
            <p:nvPr/>
          </p:nvGrpSpPr>
          <p:grpSpPr>
            <a:xfrm>
              <a:off x="6980114" y="623088"/>
              <a:ext cx="279342" cy="667551"/>
              <a:chOff x="212167" y="618969"/>
              <a:chExt cx="279342" cy="667551"/>
            </a:xfrm>
          </p:grpSpPr>
          <p:sp>
            <p:nvSpPr>
              <p:cNvPr id="149" name="Textfeld 148"/>
              <p:cNvSpPr txBox="1"/>
              <p:nvPr/>
            </p:nvSpPr>
            <p:spPr>
              <a:xfrm>
                <a:off x="242723" y="618969"/>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sp>
            <p:nvSpPr>
              <p:cNvPr id="150" name="Textfeld 149"/>
              <p:cNvSpPr txBox="1"/>
              <p:nvPr/>
            </p:nvSpPr>
            <p:spPr>
              <a:xfrm>
                <a:off x="212167" y="83661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sp>
            <p:nvSpPr>
              <p:cNvPr id="151" name="Textfeld 150"/>
              <p:cNvSpPr txBox="1"/>
              <p:nvPr/>
            </p:nvSpPr>
            <p:spPr>
              <a:xfrm>
                <a:off x="212167" y="105568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grpSp>
        <p:sp>
          <p:nvSpPr>
            <p:cNvPr id="93" name="ID1R"/>
            <p:cNvSpPr txBox="1"/>
            <p:nvPr/>
          </p:nvSpPr>
          <p:spPr>
            <a:xfrm>
              <a:off x="8622206" y="61853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grpSp>
          <p:nvGrpSpPr>
            <p:cNvPr id="94" name="ID2L"/>
            <p:cNvGrpSpPr/>
            <p:nvPr/>
          </p:nvGrpSpPr>
          <p:grpSpPr>
            <a:xfrm>
              <a:off x="6980114" y="1290639"/>
              <a:ext cx="248786" cy="1799282"/>
              <a:chOff x="202026" y="1286520"/>
              <a:chExt cx="248786" cy="1799282"/>
            </a:xfrm>
          </p:grpSpPr>
          <p:sp>
            <p:nvSpPr>
              <p:cNvPr id="141" name="Textfeld 140"/>
              <p:cNvSpPr txBox="1"/>
              <p:nvPr/>
            </p:nvSpPr>
            <p:spPr>
              <a:xfrm>
                <a:off x="202026" y="12865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2" name="Textfeld 141"/>
              <p:cNvSpPr txBox="1"/>
              <p:nvPr/>
            </p:nvSpPr>
            <p:spPr>
              <a:xfrm>
                <a:off x="202026" y="15024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3" name="Textfeld 142"/>
              <p:cNvSpPr txBox="1"/>
              <p:nvPr/>
            </p:nvSpPr>
            <p:spPr>
              <a:xfrm>
                <a:off x="202026" y="17310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4" name="Textfeld 143"/>
              <p:cNvSpPr txBox="1"/>
              <p:nvPr/>
            </p:nvSpPr>
            <p:spPr>
              <a:xfrm>
                <a:off x="202026" y="19532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5" name="Textfeld 144"/>
              <p:cNvSpPr txBox="1"/>
              <p:nvPr/>
            </p:nvSpPr>
            <p:spPr>
              <a:xfrm>
                <a:off x="202026" y="24041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6" name="Textfeld 145"/>
              <p:cNvSpPr txBox="1"/>
              <p:nvPr/>
            </p:nvSpPr>
            <p:spPr>
              <a:xfrm>
                <a:off x="202026" y="21796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7" name="Textfeld 146"/>
              <p:cNvSpPr txBox="1"/>
              <p:nvPr/>
            </p:nvSpPr>
            <p:spPr>
              <a:xfrm>
                <a:off x="202026" y="262954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8" name="Textfeld 147"/>
              <p:cNvSpPr txBox="1"/>
              <p:nvPr/>
            </p:nvSpPr>
            <p:spPr>
              <a:xfrm>
                <a:off x="202026" y="28549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grpSp>
        <p:sp>
          <p:nvSpPr>
            <p:cNvPr id="95" name="ID2R"/>
            <p:cNvSpPr txBox="1"/>
            <p:nvPr/>
          </p:nvSpPr>
          <p:spPr>
            <a:xfrm>
              <a:off x="8622206" y="82897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grpSp>
          <p:nvGrpSpPr>
            <p:cNvPr id="96" name="ID3R"/>
            <p:cNvGrpSpPr/>
            <p:nvPr/>
          </p:nvGrpSpPr>
          <p:grpSpPr>
            <a:xfrm>
              <a:off x="8615994" y="2408239"/>
              <a:ext cx="254998" cy="2245762"/>
              <a:chOff x="1843401" y="2404120"/>
              <a:chExt cx="254998" cy="2245762"/>
            </a:xfrm>
          </p:grpSpPr>
          <p:sp>
            <p:nvSpPr>
              <p:cNvPr id="135" name="Textfeld 134"/>
              <p:cNvSpPr txBox="1"/>
              <p:nvPr/>
            </p:nvSpPr>
            <p:spPr>
              <a:xfrm>
                <a:off x="1843401" y="24041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6" name="Textfeld 135"/>
              <p:cNvSpPr txBox="1"/>
              <p:nvPr/>
            </p:nvSpPr>
            <p:spPr>
              <a:xfrm>
                <a:off x="1843401" y="26241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7" name="Textfeld 136"/>
              <p:cNvSpPr txBox="1"/>
              <p:nvPr/>
            </p:nvSpPr>
            <p:spPr>
              <a:xfrm>
                <a:off x="1849613" y="28527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8" name="Textfeld 137"/>
              <p:cNvSpPr txBox="1"/>
              <p:nvPr/>
            </p:nvSpPr>
            <p:spPr>
              <a:xfrm>
                <a:off x="1849613" y="397858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9" name="Textfeld 138"/>
              <p:cNvSpPr txBox="1"/>
              <p:nvPr/>
            </p:nvSpPr>
            <p:spPr>
              <a:xfrm>
                <a:off x="1849613" y="420030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40" name="Textfeld 139"/>
              <p:cNvSpPr txBox="1"/>
              <p:nvPr/>
            </p:nvSpPr>
            <p:spPr>
              <a:xfrm>
                <a:off x="1849613" y="441905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grpSp>
        <p:grpSp>
          <p:nvGrpSpPr>
            <p:cNvPr id="97" name="ID3L"/>
            <p:cNvGrpSpPr/>
            <p:nvPr/>
          </p:nvGrpSpPr>
          <p:grpSpPr>
            <a:xfrm>
              <a:off x="6980114" y="3074989"/>
              <a:ext cx="248786" cy="1811772"/>
              <a:chOff x="215117" y="3070870"/>
              <a:chExt cx="248786" cy="1811772"/>
            </a:xfrm>
          </p:grpSpPr>
          <p:sp>
            <p:nvSpPr>
              <p:cNvPr id="130" name="Textfeld 129"/>
              <p:cNvSpPr txBox="1"/>
              <p:nvPr/>
            </p:nvSpPr>
            <p:spPr>
              <a:xfrm>
                <a:off x="215117" y="30708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1" name="Textfeld 130"/>
              <p:cNvSpPr txBox="1"/>
              <p:nvPr/>
            </p:nvSpPr>
            <p:spPr>
              <a:xfrm>
                <a:off x="215117" y="397515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2" name="Textfeld 131"/>
              <p:cNvSpPr txBox="1"/>
              <p:nvPr/>
            </p:nvSpPr>
            <p:spPr>
              <a:xfrm>
                <a:off x="215117" y="420030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3" name="Textfeld 132"/>
              <p:cNvSpPr txBox="1"/>
              <p:nvPr/>
            </p:nvSpPr>
            <p:spPr>
              <a:xfrm>
                <a:off x="215117" y="441905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4" name="Textfeld 133"/>
              <p:cNvSpPr txBox="1"/>
              <p:nvPr/>
            </p:nvSpPr>
            <p:spPr>
              <a:xfrm>
                <a:off x="215117" y="465181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grpSp>
        <p:grpSp>
          <p:nvGrpSpPr>
            <p:cNvPr id="98" name="ID5L"/>
            <p:cNvGrpSpPr/>
            <p:nvPr/>
          </p:nvGrpSpPr>
          <p:grpSpPr>
            <a:xfrm>
              <a:off x="6980114" y="4879315"/>
              <a:ext cx="248786" cy="1577568"/>
              <a:chOff x="216850" y="4875196"/>
              <a:chExt cx="248786" cy="1577568"/>
            </a:xfrm>
          </p:grpSpPr>
          <p:sp>
            <p:nvSpPr>
              <p:cNvPr id="123" name="Textfeld 122"/>
              <p:cNvSpPr txBox="1"/>
              <p:nvPr/>
            </p:nvSpPr>
            <p:spPr>
              <a:xfrm>
                <a:off x="216850" y="487519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4" name="Textfeld 123"/>
              <p:cNvSpPr txBox="1"/>
              <p:nvPr/>
            </p:nvSpPr>
            <p:spPr>
              <a:xfrm>
                <a:off x="216850" y="510062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5" name="Textfeld 124"/>
              <p:cNvSpPr txBox="1"/>
              <p:nvPr/>
            </p:nvSpPr>
            <p:spPr>
              <a:xfrm>
                <a:off x="216850" y="532503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6" name="Textfeld 125"/>
              <p:cNvSpPr txBox="1"/>
              <p:nvPr/>
            </p:nvSpPr>
            <p:spPr>
              <a:xfrm>
                <a:off x="216850" y="555046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7" name="Textfeld 126"/>
              <p:cNvSpPr txBox="1"/>
              <p:nvPr/>
            </p:nvSpPr>
            <p:spPr>
              <a:xfrm>
                <a:off x="216850" y="577455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8" name="Textfeld 127"/>
              <p:cNvSpPr txBox="1"/>
              <p:nvPr/>
            </p:nvSpPr>
            <p:spPr>
              <a:xfrm>
                <a:off x="216850" y="599998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9" name="Textfeld 128"/>
              <p:cNvSpPr txBox="1"/>
              <p:nvPr/>
            </p:nvSpPr>
            <p:spPr>
              <a:xfrm>
                <a:off x="216850" y="622193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grpSp>
        <p:grpSp>
          <p:nvGrpSpPr>
            <p:cNvPr id="99" name="ID5R"/>
            <p:cNvGrpSpPr/>
            <p:nvPr/>
          </p:nvGrpSpPr>
          <p:grpSpPr>
            <a:xfrm>
              <a:off x="8616719" y="4657065"/>
              <a:ext cx="254273" cy="1801925"/>
              <a:chOff x="1853455" y="4652946"/>
              <a:chExt cx="254273" cy="1801925"/>
            </a:xfrm>
          </p:grpSpPr>
          <p:sp>
            <p:nvSpPr>
              <p:cNvPr id="115" name="Textfeld 114"/>
              <p:cNvSpPr txBox="1"/>
              <p:nvPr/>
            </p:nvSpPr>
            <p:spPr>
              <a:xfrm>
                <a:off x="1853455" y="465294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6" name="Textfeld 115"/>
              <p:cNvSpPr txBox="1"/>
              <p:nvPr/>
            </p:nvSpPr>
            <p:spPr>
              <a:xfrm>
                <a:off x="1853622" y="487837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7" name="Textfeld 116"/>
              <p:cNvSpPr txBox="1"/>
              <p:nvPr/>
            </p:nvSpPr>
            <p:spPr>
              <a:xfrm>
                <a:off x="1853455" y="510278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8" name="Textfeld 117"/>
              <p:cNvSpPr txBox="1"/>
              <p:nvPr/>
            </p:nvSpPr>
            <p:spPr>
              <a:xfrm>
                <a:off x="1853622" y="532821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9" name="Textfeld 118"/>
              <p:cNvSpPr txBox="1"/>
              <p:nvPr/>
            </p:nvSpPr>
            <p:spPr>
              <a:xfrm>
                <a:off x="1853789" y="555230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0" name="Textfeld 119"/>
              <p:cNvSpPr txBox="1"/>
              <p:nvPr/>
            </p:nvSpPr>
            <p:spPr>
              <a:xfrm>
                <a:off x="1853956" y="5774561"/>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1" name="Textfeld 120"/>
              <p:cNvSpPr txBox="1"/>
              <p:nvPr/>
            </p:nvSpPr>
            <p:spPr>
              <a:xfrm>
                <a:off x="1853956" y="599968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2" name="Textfeld 121"/>
              <p:cNvSpPr txBox="1"/>
              <p:nvPr/>
            </p:nvSpPr>
            <p:spPr>
              <a:xfrm>
                <a:off x="1858942" y="6224039"/>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grpSp>
        <p:grpSp>
          <p:nvGrpSpPr>
            <p:cNvPr id="100" name="ID4L"/>
            <p:cNvGrpSpPr/>
            <p:nvPr/>
          </p:nvGrpSpPr>
          <p:grpSpPr>
            <a:xfrm>
              <a:off x="6980114" y="3305821"/>
              <a:ext cx="248786" cy="676884"/>
              <a:chOff x="212167" y="3301702"/>
              <a:chExt cx="248786" cy="676884"/>
            </a:xfrm>
          </p:grpSpPr>
          <p:sp>
            <p:nvSpPr>
              <p:cNvPr id="112" name="Textfeld 111"/>
              <p:cNvSpPr txBox="1"/>
              <p:nvPr/>
            </p:nvSpPr>
            <p:spPr>
              <a:xfrm>
                <a:off x="212167" y="330170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3" name="Textfeld 112"/>
              <p:cNvSpPr txBox="1"/>
              <p:nvPr/>
            </p:nvSpPr>
            <p:spPr>
              <a:xfrm>
                <a:off x="212167" y="353014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4" name="Textfeld 113"/>
              <p:cNvSpPr txBox="1"/>
              <p:nvPr/>
            </p:nvSpPr>
            <p:spPr>
              <a:xfrm>
                <a:off x="212167" y="374775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grpSp>
        <p:grpSp>
          <p:nvGrpSpPr>
            <p:cNvPr id="101" name="ID4R"/>
            <p:cNvGrpSpPr/>
            <p:nvPr/>
          </p:nvGrpSpPr>
          <p:grpSpPr>
            <a:xfrm>
              <a:off x="8606665" y="1059807"/>
              <a:ext cx="264327" cy="2919470"/>
              <a:chOff x="1843401" y="1055688"/>
              <a:chExt cx="264327" cy="2919470"/>
            </a:xfrm>
          </p:grpSpPr>
          <p:sp>
            <p:nvSpPr>
              <p:cNvPr id="102" name="Textfeld 101"/>
              <p:cNvSpPr txBox="1"/>
              <p:nvPr/>
            </p:nvSpPr>
            <p:spPr>
              <a:xfrm>
                <a:off x="1858942" y="217600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3" name="Textfeld 102"/>
              <p:cNvSpPr txBox="1"/>
              <p:nvPr/>
            </p:nvSpPr>
            <p:spPr>
              <a:xfrm>
                <a:off x="1854996" y="195897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4" name="Textfeld 103"/>
              <p:cNvSpPr txBox="1"/>
              <p:nvPr/>
            </p:nvSpPr>
            <p:spPr>
              <a:xfrm>
                <a:off x="1857888" y="173706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5" name="Textfeld 104"/>
              <p:cNvSpPr txBox="1"/>
              <p:nvPr/>
            </p:nvSpPr>
            <p:spPr>
              <a:xfrm>
                <a:off x="1854996" y="150759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6" name="Textfeld 105"/>
              <p:cNvSpPr txBox="1"/>
              <p:nvPr/>
            </p:nvSpPr>
            <p:spPr>
              <a:xfrm>
                <a:off x="1854996" y="128224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7" name="Textfeld 106"/>
              <p:cNvSpPr txBox="1"/>
              <p:nvPr/>
            </p:nvSpPr>
            <p:spPr>
              <a:xfrm>
                <a:off x="1854996" y="105568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8" name="Textfeld 107"/>
              <p:cNvSpPr txBox="1"/>
              <p:nvPr/>
            </p:nvSpPr>
            <p:spPr>
              <a:xfrm>
                <a:off x="1849613" y="30708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9" name="Textfeld 108"/>
              <p:cNvSpPr txBox="1"/>
              <p:nvPr/>
            </p:nvSpPr>
            <p:spPr>
              <a:xfrm>
                <a:off x="1843401" y="329931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0" name="Textfeld 109"/>
              <p:cNvSpPr txBox="1"/>
              <p:nvPr/>
            </p:nvSpPr>
            <p:spPr>
              <a:xfrm>
                <a:off x="1843401" y="352140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1" name="Textfeld 110"/>
              <p:cNvSpPr txBox="1"/>
              <p:nvPr/>
            </p:nvSpPr>
            <p:spPr>
              <a:xfrm>
                <a:off x="1849613" y="374432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grpSp>
      </p:grpSp>
      <p:sp>
        <p:nvSpPr>
          <p:cNvPr id="152" name="DRR"/>
          <p:cNvSpPr/>
          <p:nvPr/>
        </p:nvSpPr>
        <p:spPr>
          <a:xfrm rot="5400000" flipH="1">
            <a:off x="1545446" y="545904"/>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153" name="DRL"/>
          <p:cNvSpPr/>
          <p:nvPr/>
        </p:nvSpPr>
        <p:spPr>
          <a:xfrm rot="16200000">
            <a:off x="622810" y="689920"/>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grpSp>
        <p:nvGrpSpPr>
          <p:cNvPr id="154" name="Gruppieren 153"/>
          <p:cNvGrpSpPr/>
          <p:nvPr/>
        </p:nvGrpSpPr>
        <p:grpSpPr>
          <a:xfrm>
            <a:off x="267306" y="662298"/>
            <a:ext cx="1823876" cy="5747792"/>
            <a:chOff x="267304" y="662298"/>
            <a:chExt cx="1823876" cy="5747792"/>
          </a:xfrm>
        </p:grpSpPr>
        <p:sp>
          <p:nvSpPr>
            <p:cNvPr id="155" name="Rechteck 154"/>
            <p:cNvSpPr/>
            <p:nvPr/>
          </p:nvSpPr>
          <p:spPr>
            <a:xfrm>
              <a:off x="1731140" y="6622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6" name="Rechteck 155"/>
            <p:cNvSpPr/>
            <p:nvPr/>
          </p:nvSpPr>
          <p:spPr>
            <a:xfrm>
              <a:off x="1731140" y="88028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7" name="Rechteck 156"/>
            <p:cNvSpPr/>
            <p:nvPr/>
          </p:nvSpPr>
          <p:spPr>
            <a:xfrm>
              <a:off x="1731140" y="110469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8" name="Rechteck 157"/>
            <p:cNvSpPr/>
            <p:nvPr/>
          </p:nvSpPr>
          <p:spPr>
            <a:xfrm>
              <a:off x="1731140" y="13290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9" name="Rechteck 158"/>
            <p:cNvSpPr/>
            <p:nvPr/>
          </p:nvSpPr>
          <p:spPr>
            <a:xfrm>
              <a:off x="1731140" y="155350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0" name="Rechteck 159"/>
            <p:cNvSpPr/>
            <p:nvPr/>
          </p:nvSpPr>
          <p:spPr>
            <a:xfrm>
              <a:off x="1731140" y="177791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1" name="Rechteck 160"/>
            <p:cNvSpPr/>
            <p:nvPr/>
          </p:nvSpPr>
          <p:spPr>
            <a:xfrm>
              <a:off x="1731140" y="200232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2" name="Rechteck 161"/>
            <p:cNvSpPr/>
            <p:nvPr/>
          </p:nvSpPr>
          <p:spPr>
            <a:xfrm>
              <a:off x="1731140" y="222673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3" name="Rechteck 162"/>
            <p:cNvSpPr/>
            <p:nvPr/>
          </p:nvSpPr>
          <p:spPr>
            <a:xfrm>
              <a:off x="1731140" y="245113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4" name="Rechteck 163"/>
            <p:cNvSpPr/>
            <p:nvPr/>
          </p:nvSpPr>
          <p:spPr>
            <a:xfrm>
              <a:off x="1731140" y="267554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5" name="Rechteck 164"/>
            <p:cNvSpPr/>
            <p:nvPr/>
          </p:nvSpPr>
          <p:spPr>
            <a:xfrm>
              <a:off x="1731140" y="289995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6" name="Rechteck 165"/>
            <p:cNvSpPr/>
            <p:nvPr/>
          </p:nvSpPr>
          <p:spPr>
            <a:xfrm>
              <a:off x="1731140" y="312436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7" name="Rechteck 166"/>
            <p:cNvSpPr/>
            <p:nvPr/>
          </p:nvSpPr>
          <p:spPr>
            <a:xfrm>
              <a:off x="1731140" y="334877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8" name="Rechteck 167"/>
            <p:cNvSpPr/>
            <p:nvPr/>
          </p:nvSpPr>
          <p:spPr>
            <a:xfrm>
              <a:off x="1731140" y="357317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9" name="Rechteck 168"/>
            <p:cNvSpPr/>
            <p:nvPr/>
          </p:nvSpPr>
          <p:spPr>
            <a:xfrm>
              <a:off x="1731140" y="379758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0" name="Rechteck 169"/>
            <p:cNvSpPr/>
            <p:nvPr/>
          </p:nvSpPr>
          <p:spPr>
            <a:xfrm>
              <a:off x="1731140" y="402199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1" name="Rechteck 170"/>
            <p:cNvSpPr/>
            <p:nvPr/>
          </p:nvSpPr>
          <p:spPr>
            <a:xfrm>
              <a:off x="1731140" y="424640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2" name="Rechteck 171"/>
            <p:cNvSpPr/>
            <p:nvPr/>
          </p:nvSpPr>
          <p:spPr>
            <a:xfrm>
              <a:off x="1731140" y="447081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3" name="Rechteck 172"/>
            <p:cNvSpPr/>
            <p:nvPr/>
          </p:nvSpPr>
          <p:spPr>
            <a:xfrm>
              <a:off x="1731140" y="469521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4" name="Rechteck 173"/>
            <p:cNvSpPr/>
            <p:nvPr/>
          </p:nvSpPr>
          <p:spPr>
            <a:xfrm>
              <a:off x="1731140" y="491962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5" name="Rechteck 174"/>
            <p:cNvSpPr/>
            <p:nvPr/>
          </p:nvSpPr>
          <p:spPr>
            <a:xfrm>
              <a:off x="1731140" y="514403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6" name="Rechteck 175"/>
            <p:cNvSpPr/>
            <p:nvPr/>
          </p:nvSpPr>
          <p:spPr>
            <a:xfrm>
              <a:off x="1731140" y="536844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7" name="Rechteck 176"/>
            <p:cNvSpPr/>
            <p:nvPr/>
          </p:nvSpPr>
          <p:spPr>
            <a:xfrm>
              <a:off x="1731140" y="559285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8" name="Rechteck 177"/>
            <p:cNvSpPr/>
            <p:nvPr/>
          </p:nvSpPr>
          <p:spPr>
            <a:xfrm>
              <a:off x="1731140" y="581725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9" name="Rechteck 178"/>
            <p:cNvSpPr/>
            <p:nvPr/>
          </p:nvSpPr>
          <p:spPr>
            <a:xfrm>
              <a:off x="1731140" y="604166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80" name="Rechteck 179"/>
            <p:cNvSpPr/>
            <p:nvPr/>
          </p:nvSpPr>
          <p:spPr>
            <a:xfrm>
              <a:off x="1731140" y="626607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81" name="Rechteck 180"/>
            <p:cNvSpPr/>
            <p:nvPr/>
          </p:nvSpPr>
          <p:spPr>
            <a:xfrm>
              <a:off x="267304" y="6622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2" name="Rechteck 181"/>
            <p:cNvSpPr/>
            <p:nvPr/>
          </p:nvSpPr>
          <p:spPr>
            <a:xfrm>
              <a:off x="267304" y="88028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3" name="Rechteck 182"/>
            <p:cNvSpPr/>
            <p:nvPr/>
          </p:nvSpPr>
          <p:spPr>
            <a:xfrm>
              <a:off x="267304" y="110469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4" name="Rechteck 183"/>
            <p:cNvSpPr/>
            <p:nvPr/>
          </p:nvSpPr>
          <p:spPr>
            <a:xfrm>
              <a:off x="267304" y="13290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5" name="Rechteck 184"/>
            <p:cNvSpPr/>
            <p:nvPr/>
          </p:nvSpPr>
          <p:spPr>
            <a:xfrm>
              <a:off x="267304" y="155350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6" name="Rechteck 185"/>
            <p:cNvSpPr/>
            <p:nvPr/>
          </p:nvSpPr>
          <p:spPr>
            <a:xfrm>
              <a:off x="267304" y="177791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7" name="Rechteck 186"/>
            <p:cNvSpPr/>
            <p:nvPr/>
          </p:nvSpPr>
          <p:spPr>
            <a:xfrm>
              <a:off x="267304" y="200232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8" name="Rechteck 187"/>
            <p:cNvSpPr/>
            <p:nvPr/>
          </p:nvSpPr>
          <p:spPr>
            <a:xfrm>
              <a:off x="267304" y="222673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9" name="Rechteck 188"/>
            <p:cNvSpPr/>
            <p:nvPr/>
          </p:nvSpPr>
          <p:spPr>
            <a:xfrm>
              <a:off x="267304" y="245113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0" name="Rechteck 189"/>
            <p:cNvSpPr/>
            <p:nvPr/>
          </p:nvSpPr>
          <p:spPr>
            <a:xfrm>
              <a:off x="267304" y="267554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1" name="Rechteck 190"/>
            <p:cNvSpPr/>
            <p:nvPr/>
          </p:nvSpPr>
          <p:spPr>
            <a:xfrm>
              <a:off x="267304" y="289995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2" name="Rechteck 191"/>
            <p:cNvSpPr/>
            <p:nvPr/>
          </p:nvSpPr>
          <p:spPr>
            <a:xfrm>
              <a:off x="267304" y="312436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3" name="Rechteck 192"/>
            <p:cNvSpPr/>
            <p:nvPr/>
          </p:nvSpPr>
          <p:spPr>
            <a:xfrm>
              <a:off x="267304" y="334877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4" name="Rechteck 193"/>
            <p:cNvSpPr/>
            <p:nvPr/>
          </p:nvSpPr>
          <p:spPr>
            <a:xfrm>
              <a:off x="267304" y="357317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5" name="Rechteck 194"/>
            <p:cNvSpPr/>
            <p:nvPr/>
          </p:nvSpPr>
          <p:spPr>
            <a:xfrm>
              <a:off x="267304" y="379758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6" name="Rechteck 195"/>
            <p:cNvSpPr/>
            <p:nvPr/>
          </p:nvSpPr>
          <p:spPr>
            <a:xfrm>
              <a:off x="267304" y="402199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7" name="Rechteck 196"/>
            <p:cNvSpPr/>
            <p:nvPr/>
          </p:nvSpPr>
          <p:spPr>
            <a:xfrm>
              <a:off x="267304" y="424640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8" name="Rechteck 197"/>
            <p:cNvSpPr/>
            <p:nvPr/>
          </p:nvSpPr>
          <p:spPr>
            <a:xfrm>
              <a:off x="267304" y="447081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9" name="Rechteck 198"/>
            <p:cNvSpPr/>
            <p:nvPr/>
          </p:nvSpPr>
          <p:spPr>
            <a:xfrm>
              <a:off x="267304" y="469521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0" name="Rechteck 199"/>
            <p:cNvSpPr/>
            <p:nvPr/>
          </p:nvSpPr>
          <p:spPr>
            <a:xfrm>
              <a:off x="267304" y="491962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1" name="Rechteck 200"/>
            <p:cNvSpPr/>
            <p:nvPr/>
          </p:nvSpPr>
          <p:spPr>
            <a:xfrm>
              <a:off x="267304" y="514403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2" name="Rechteck 201"/>
            <p:cNvSpPr/>
            <p:nvPr/>
          </p:nvSpPr>
          <p:spPr>
            <a:xfrm>
              <a:off x="267304" y="536844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3" name="Rechteck 202"/>
            <p:cNvSpPr/>
            <p:nvPr/>
          </p:nvSpPr>
          <p:spPr>
            <a:xfrm>
              <a:off x="267304" y="559285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4" name="Rechteck 203"/>
            <p:cNvSpPr/>
            <p:nvPr/>
          </p:nvSpPr>
          <p:spPr>
            <a:xfrm>
              <a:off x="267304" y="581725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5" name="Rechteck 204"/>
            <p:cNvSpPr/>
            <p:nvPr/>
          </p:nvSpPr>
          <p:spPr>
            <a:xfrm>
              <a:off x="267304" y="604166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6" name="Rechteck 205"/>
            <p:cNvSpPr/>
            <p:nvPr/>
          </p:nvSpPr>
          <p:spPr>
            <a:xfrm>
              <a:off x="267304" y="626607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grpSp>
      <p:grpSp>
        <p:nvGrpSpPr>
          <p:cNvPr id="207" name="ID1L"/>
          <p:cNvGrpSpPr/>
          <p:nvPr/>
        </p:nvGrpSpPr>
        <p:grpSpPr>
          <a:xfrm>
            <a:off x="247408" y="618970"/>
            <a:ext cx="248786" cy="667551"/>
            <a:chOff x="242723" y="618969"/>
            <a:chExt cx="248786" cy="667551"/>
          </a:xfrm>
        </p:grpSpPr>
        <p:sp>
          <p:nvSpPr>
            <p:cNvPr id="208" name="Textfeld 207"/>
            <p:cNvSpPr txBox="1"/>
            <p:nvPr/>
          </p:nvSpPr>
          <p:spPr>
            <a:xfrm>
              <a:off x="242723" y="618969"/>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sp>
          <p:nvSpPr>
            <p:cNvPr id="209" name="Textfeld 208"/>
            <p:cNvSpPr txBox="1"/>
            <p:nvPr/>
          </p:nvSpPr>
          <p:spPr>
            <a:xfrm>
              <a:off x="242723" y="83661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sp>
          <p:nvSpPr>
            <p:cNvPr id="210" name="Textfeld 209"/>
            <p:cNvSpPr txBox="1"/>
            <p:nvPr/>
          </p:nvSpPr>
          <p:spPr>
            <a:xfrm>
              <a:off x="242723" y="105568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grpSp>
      <p:sp>
        <p:nvSpPr>
          <p:cNvPr id="211" name="ID1R"/>
          <p:cNvSpPr txBox="1"/>
          <p:nvPr/>
        </p:nvSpPr>
        <p:spPr>
          <a:xfrm>
            <a:off x="1858944" y="614417"/>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grpSp>
        <p:nvGrpSpPr>
          <p:cNvPr id="212" name="ID2L"/>
          <p:cNvGrpSpPr/>
          <p:nvPr/>
        </p:nvGrpSpPr>
        <p:grpSpPr>
          <a:xfrm>
            <a:off x="241058" y="1286520"/>
            <a:ext cx="255136" cy="1799282"/>
            <a:chOff x="226232" y="1286520"/>
            <a:chExt cx="255136" cy="1799282"/>
          </a:xfrm>
        </p:grpSpPr>
        <p:sp>
          <p:nvSpPr>
            <p:cNvPr id="213" name="Textfeld 212"/>
            <p:cNvSpPr txBox="1"/>
            <p:nvPr/>
          </p:nvSpPr>
          <p:spPr>
            <a:xfrm>
              <a:off x="226232" y="12865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4" name="Textfeld 213"/>
            <p:cNvSpPr txBox="1"/>
            <p:nvPr/>
          </p:nvSpPr>
          <p:spPr>
            <a:xfrm>
              <a:off x="226232" y="15024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5" name="Textfeld 214"/>
            <p:cNvSpPr txBox="1"/>
            <p:nvPr/>
          </p:nvSpPr>
          <p:spPr>
            <a:xfrm>
              <a:off x="226232" y="17310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6" name="Textfeld 215"/>
            <p:cNvSpPr txBox="1"/>
            <p:nvPr/>
          </p:nvSpPr>
          <p:spPr>
            <a:xfrm>
              <a:off x="226232" y="19532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7" name="Textfeld 216"/>
            <p:cNvSpPr txBox="1"/>
            <p:nvPr/>
          </p:nvSpPr>
          <p:spPr>
            <a:xfrm>
              <a:off x="226232" y="24041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8" name="Textfeld 217"/>
            <p:cNvSpPr txBox="1"/>
            <p:nvPr/>
          </p:nvSpPr>
          <p:spPr>
            <a:xfrm>
              <a:off x="226232" y="21796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9" name="Textfeld 218"/>
            <p:cNvSpPr txBox="1"/>
            <p:nvPr/>
          </p:nvSpPr>
          <p:spPr>
            <a:xfrm>
              <a:off x="226232" y="2629545"/>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20" name="Textfeld 219"/>
            <p:cNvSpPr txBox="1"/>
            <p:nvPr/>
          </p:nvSpPr>
          <p:spPr>
            <a:xfrm>
              <a:off x="232582" y="28549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grpSp>
      <p:sp>
        <p:nvSpPr>
          <p:cNvPr id="221" name="ID2R"/>
          <p:cNvSpPr txBox="1"/>
          <p:nvPr/>
        </p:nvSpPr>
        <p:spPr>
          <a:xfrm>
            <a:off x="1858944" y="82485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grpSp>
        <p:nvGrpSpPr>
          <p:cNvPr id="222" name="ID3R"/>
          <p:cNvGrpSpPr/>
          <p:nvPr/>
        </p:nvGrpSpPr>
        <p:grpSpPr>
          <a:xfrm>
            <a:off x="1852732" y="2404120"/>
            <a:ext cx="254998" cy="2245762"/>
            <a:chOff x="1843401" y="2404120"/>
            <a:chExt cx="254998" cy="2245762"/>
          </a:xfrm>
        </p:grpSpPr>
        <p:sp>
          <p:nvSpPr>
            <p:cNvPr id="223" name="Textfeld 222"/>
            <p:cNvSpPr txBox="1"/>
            <p:nvPr/>
          </p:nvSpPr>
          <p:spPr>
            <a:xfrm>
              <a:off x="1843401" y="24041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4" name="Textfeld 223"/>
            <p:cNvSpPr txBox="1"/>
            <p:nvPr/>
          </p:nvSpPr>
          <p:spPr>
            <a:xfrm>
              <a:off x="1843401" y="26241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5" name="Textfeld 224"/>
            <p:cNvSpPr txBox="1"/>
            <p:nvPr/>
          </p:nvSpPr>
          <p:spPr>
            <a:xfrm>
              <a:off x="1849613" y="28527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6" name="Textfeld 225"/>
            <p:cNvSpPr txBox="1"/>
            <p:nvPr/>
          </p:nvSpPr>
          <p:spPr>
            <a:xfrm>
              <a:off x="1849613" y="397858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7" name="Textfeld 226"/>
            <p:cNvSpPr txBox="1"/>
            <p:nvPr/>
          </p:nvSpPr>
          <p:spPr>
            <a:xfrm>
              <a:off x="1849613" y="420030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8" name="Textfeld 227"/>
            <p:cNvSpPr txBox="1"/>
            <p:nvPr/>
          </p:nvSpPr>
          <p:spPr>
            <a:xfrm>
              <a:off x="1849613" y="441905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grpSp>
      <p:grpSp>
        <p:nvGrpSpPr>
          <p:cNvPr id="229" name="ID3L"/>
          <p:cNvGrpSpPr/>
          <p:nvPr/>
        </p:nvGrpSpPr>
        <p:grpSpPr>
          <a:xfrm>
            <a:off x="240668" y="3070870"/>
            <a:ext cx="255527" cy="1811772"/>
            <a:chOff x="238932" y="3070870"/>
            <a:chExt cx="255527" cy="1811772"/>
          </a:xfrm>
        </p:grpSpPr>
        <p:sp>
          <p:nvSpPr>
            <p:cNvPr id="230" name="Textfeld 229"/>
            <p:cNvSpPr txBox="1"/>
            <p:nvPr/>
          </p:nvSpPr>
          <p:spPr>
            <a:xfrm>
              <a:off x="238932" y="30708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1" name="Textfeld 230"/>
            <p:cNvSpPr txBox="1"/>
            <p:nvPr/>
          </p:nvSpPr>
          <p:spPr>
            <a:xfrm>
              <a:off x="245673" y="397515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2" name="Textfeld 231"/>
            <p:cNvSpPr txBox="1"/>
            <p:nvPr/>
          </p:nvSpPr>
          <p:spPr>
            <a:xfrm>
              <a:off x="242723" y="420030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3" name="Textfeld 232"/>
            <p:cNvSpPr txBox="1"/>
            <p:nvPr/>
          </p:nvSpPr>
          <p:spPr>
            <a:xfrm>
              <a:off x="242723" y="441905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4" name="Textfeld 233"/>
            <p:cNvSpPr txBox="1"/>
            <p:nvPr/>
          </p:nvSpPr>
          <p:spPr>
            <a:xfrm>
              <a:off x="242723" y="465181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grpSp>
      <p:grpSp>
        <p:nvGrpSpPr>
          <p:cNvPr id="235" name="ID5L"/>
          <p:cNvGrpSpPr/>
          <p:nvPr/>
        </p:nvGrpSpPr>
        <p:grpSpPr>
          <a:xfrm>
            <a:off x="243732" y="4875196"/>
            <a:ext cx="252462" cy="1577568"/>
            <a:chOff x="243730" y="4875196"/>
            <a:chExt cx="252462" cy="1577568"/>
          </a:xfrm>
        </p:grpSpPr>
        <p:sp>
          <p:nvSpPr>
            <p:cNvPr id="236" name="Textfeld 235"/>
            <p:cNvSpPr txBox="1"/>
            <p:nvPr/>
          </p:nvSpPr>
          <p:spPr>
            <a:xfrm>
              <a:off x="243730" y="487519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7" name="Textfeld 236"/>
            <p:cNvSpPr txBox="1"/>
            <p:nvPr/>
          </p:nvSpPr>
          <p:spPr>
            <a:xfrm>
              <a:off x="243897" y="510062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8" name="Textfeld 237"/>
            <p:cNvSpPr txBox="1"/>
            <p:nvPr/>
          </p:nvSpPr>
          <p:spPr>
            <a:xfrm>
              <a:off x="243730" y="532503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9" name="Textfeld 238"/>
            <p:cNvSpPr txBox="1"/>
            <p:nvPr/>
          </p:nvSpPr>
          <p:spPr>
            <a:xfrm>
              <a:off x="243897" y="555046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0" name="Textfeld 239"/>
            <p:cNvSpPr txBox="1"/>
            <p:nvPr/>
          </p:nvSpPr>
          <p:spPr>
            <a:xfrm>
              <a:off x="244064" y="577455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1" name="Textfeld 240"/>
            <p:cNvSpPr txBox="1"/>
            <p:nvPr/>
          </p:nvSpPr>
          <p:spPr>
            <a:xfrm>
              <a:off x="247406" y="599998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2" name="Textfeld 241"/>
            <p:cNvSpPr txBox="1"/>
            <p:nvPr/>
          </p:nvSpPr>
          <p:spPr>
            <a:xfrm>
              <a:off x="244231" y="622193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grpSp>
      <p:grpSp>
        <p:nvGrpSpPr>
          <p:cNvPr id="243" name="ID5R"/>
          <p:cNvGrpSpPr/>
          <p:nvPr/>
        </p:nvGrpSpPr>
        <p:grpSpPr>
          <a:xfrm>
            <a:off x="1853458" y="4652947"/>
            <a:ext cx="254273" cy="1801925"/>
            <a:chOff x="1853455" y="4652946"/>
            <a:chExt cx="254273" cy="1801925"/>
          </a:xfrm>
        </p:grpSpPr>
        <p:sp>
          <p:nvSpPr>
            <p:cNvPr id="244" name="Textfeld 243"/>
            <p:cNvSpPr txBox="1"/>
            <p:nvPr/>
          </p:nvSpPr>
          <p:spPr>
            <a:xfrm>
              <a:off x="1853455" y="465294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5" name="Textfeld 244"/>
            <p:cNvSpPr txBox="1"/>
            <p:nvPr/>
          </p:nvSpPr>
          <p:spPr>
            <a:xfrm>
              <a:off x="1853622" y="487837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6" name="Textfeld 245"/>
            <p:cNvSpPr txBox="1"/>
            <p:nvPr/>
          </p:nvSpPr>
          <p:spPr>
            <a:xfrm>
              <a:off x="1853455" y="510278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7" name="Textfeld 246"/>
            <p:cNvSpPr txBox="1"/>
            <p:nvPr/>
          </p:nvSpPr>
          <p:spPr>
            <a:xfrm>
              <a:off x="1853622" y="532821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8" name="Textfeld 247"/>
            <p:cNvSpPr txBox="1"/>
            <p:nvPr/>
          </p:nvSpPr>
          <p:spPr>
            <a:xfrm>
              <a:off x="1853789" y="555230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9" name="Textfeld 248"/>
            <p:cNvSpPr txBox="1"/>
            <p:nvPr/>
          </p:nvSpPr>
          <p:spPr>
            <a:xfrm>
              <a:off x="1853956" y="5774561"/>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50" name="Textfeld 249"/>
            <p:cNvSpPr txBox="1"/>
            <p:nvPr/>
          </p:nvSpPr>
          <p:spPr>
            <a:xfrm>
              <a:off x="1853956" y="599968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51" name="Textfeld 250"/>
            <p:cNvSpPr txBox="1"/>
            <p:nvPr/>
          </p:nvSpPr>
          <p:spPr>
            <a:xfrm>
              <a:off x="1858942" y="6224039"/>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grpSp>
      <p:grpSp>
        <p:nvGrpSpPr>
          <p:cNvPr id="252" name="ID4L"/>
          <p:cNvGrpSpPr/>
          <p:nvPr/>
        </p:nvGrpSpPr>
        <p:grpSpPr>
          <a:xfrm>
            <a:off x="244624" y="3301702"/>
            <a:ext cx="251570" cy="676884"/>
            <a:chOff x="239939" y="3301702"/>
            <a:chExt cx="251570" cy="676884"/>
          </a:xfrm>
        </p:grpSpPr>
        <p:sp>
          <p:nvSpPr>
            <p:cNvPr id="253" name="Textfeld 252"/>
            <p:cNvSpPr txBox="1"/>
            <p:nvPr/>
          </p:nvSpPr>
          <p:spPr>
            <a:xfrm>
              <a:off x="242723" y="330170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4" name="Textfeld 253"/>
            <p:cNvSpPr txBox="1"/>
            <p:nvPr/>
          </p:nvSpPr>
          <p:spPr>
            <a:xfrm>
              <a:off x="242723" y="3530145"/>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5" name="Textfeld 254"/>
            <p:cNvSpPr txBox="1"/>
            <p:nvPr/>
          </p:nvSpPr>
          <p:spPr>
            <a:xfrm>
              <a:off x="239939" y="374775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grpSp>
      <p:grpSp>
        <p:nvGrpSpPr>
          <p:cNvPr id="256" name="ID4R"/>
          <p:cNvGrpSpPr/>
          <p:nvPr/>
        </p:nvGrpSpPr>
        <p:grpSpPr>
          <a:xfrm>
            <a:off x="1843404" y="1055688"/>
            <a:ext cx="264327" cy="2919470"/>
            <a:chOff x="1843401" y="1055688"/>
            <a:chExt cx="264327" cy="2919470"/>
          </a:xfrm>
        </p:grpSpPr>
        <p:sp>
          <p:nvSpPr>
            <p:cNvPr id="257" name="Textfeld 256"/>
            <p:cNvSpPr txBox="1"/>
            <p:nvPr/>
          </p:nvSpPr>
          <p:spPr>
            <a:xfrm>
              <a:off x="1858942" y="217600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8" name="Textfeld 257"/>
            <p:cNvSpPr txBox="1"/>
            <p:nvPr/>
          </p:nvSpPr>
          <p:spPr>
            <a:xfrm>
              <a:off x="1854996" y="195897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9" name="Textfeld 258"/>
            <p:cNvSpPr txBox="1"/>
            <p:nvPr/>
          </p:nvSpPr>
          <p:spPr>
            <a:xfrm>
              <a:off x="1857888" y="173706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0" name="Textfeld 259"/>
            <p:cNvSpPr txBox="1"/>
            <p:nvPr/>
          </p:nvSpPr>
          <p:spPr>
            <a:xfrm>
              <a:off x="1854996" y="150759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1" name="Textfeld 260"/>
            <p:cNvSpPr txBox="1"/>
            <p:nvPr/>
          </p:nvSpPr>
          <p:spPr>
            <a:xfrm>
              <a:off x="1854996" y="128224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2" name="Textfeld 261"/>
            <p:cNvSpPr txBox="1"/>
            <p:nvPr/>
          </p:nvSpPr>
          <p:spPr>
            <a:xfrm>
              <a:off x="1854996" y="105568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3" name="Textfeld 262"/>
            <p:cNvSpPr txBox="1"/>
            <p:nvPr/>
          </p:nvSpPr>
          <p:spPr>
            <a:xfrm>
              <a:off x="1849613" y="30708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4" name="Textfeld 263"/>
            <p:cNvSpPr txBox="1"/>
            <p:nvPr/>
          </p:nvSpPr>
          <p:spPr>
            <a:xfrm>
              <a:off x="1843401" y="329931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5" name="Textfeld 264"/>
            <p:cNvSpPr txBox="1"/>
            <p:nvPr/>
          </p:nvSpPr>
          <p:spPr>
            <a:xfrm>
              <a:off x="1843401" y="352140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6" name="Textfeld 265"/>
            <p:cNvSpPr txBox="1"/>
            <p:nvPr/>
          </p:nvSpPr>
          <p:spPr>
            <a:xfrm>
              <a:off x="1849613" y="374432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grpSp>
      <p:grpSp>
        <p:nvGrpSpPr>
          <p:cNvPr id="267" name="Block 5"/>
          <p:cNvGrpSpPr/>
          <p:nvPr/>
        </p:nvGrpSpPr>
        <p:grpSpPr>
          <a:xfrm>
            <a:off x="195368" y="4647353"/>
            <a:ext cx="2000371" cy="1811635"/>
            <a:chOff x="195365" y="4647352"/>
            <a:chExt cx="2000371" cy="1811635"/>
          </a:xfrm>
        </p:grpSpPr>
        <p:cxnSp>
          <p:nvCxnSpPr>
            <p:cNvPr id="268" name="Gerader Verbinder 267"/>
            <p:cNvCxnSpPr/>
            <p:nvPr/>
          </p:nvCxnSpPr>
          <p:spPr>
            <a:xfrm flipH="1">
              <a:off x="201715" y="48810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69" name="Gerader Verbinder 268"/>
            <p:cNvCxnSpPr/>
            <p:nvPr/>
          </p:nvCxnSpPr>
          <p:spPr>
            <a:xfrm flipH="1">
              <a:off x="1611415" y="46524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0" name="Gerader Verbinder 269"/>
            <p:cNvCxnSpPr/>
            <p:nvPr/>
          </p:nvCxnSpPr>
          <p:spPr>
            <a:xfrm flipH="1">
              <a:off x="1611415" y="64589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1" name="Gerader Verbinder 270"/>
            <p:cNvCxnSpPr/>
            <p:nvPr/>
          </p:nvCxnSpPr>
          <p:spPr>
            <a:xfrm flipH="1">
              <a:off x="206641" y="64589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2" name="Gerader Verbinder 271"/>
            <p:cNvCxnSpPr/>
            <p:nvPr/>
          </p:nvCxnSpPr>
          <p:spPr>
            <a:xfrm>
              <a:off x="195365" y="4882642"/>
              <a:ext cx="7835" cy="157634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3" name="Gerader Verbinder 272"/>
            <p:cNvCxnSpPr/>
            <p:nvPr/>
          </p:nvCxnSpPr>
          <p:spPr>
            <a:xfrm>
              <a:off x="776377" y="4881012"/>
              <a:ext cx="411247"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4" name="Gerader Verbinder 273"/>
            <p:cNvCxnSpPr/>
            <p:nvPr/>
          </p:nvCxnSpPr>
          <p:spPr>
            <a:xfrm flipV="1">
              <a:off x="1187624" y="4652412"/>
              <a:ext cx="0" cy="2286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5" name="Gerader Verbinder 274"/>
            <p:cNvCxnSpPr/>
            <p:nvPr/>
          </p:nvCxnSpPr>
          <p:spPr>
            <a:xfrm flipH="1" flipV="1">
              <a:off x="1187624" y="4647352"/>
              <a:ext cx="426966" cy="253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6" name="Gerader Verbinder 275"/>
            <p:cNvCxnSpPr/>
            <p:nvPr/>
          </p:nvCxnSpPr>
          <p:spPr>
            <a:xfrm>
              <a:off x="2181151" y="4652412"/>
              <a:ext cx="14585" cy="180035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7" name="Gerader Verbinder 276"/>
            <p:cNvCxnSpPr/>
            <p:nvPr/>
          </p:nvCxnSpPr>
          <p:spPr>
            <a:xfrm flipH="1">
              <a:off x="776377" y="6458987"/>
              <a:ext cx="83821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78" name="Block 3"/>
          <p:cNvGrpSpPr/>
          <p:nvPr/>
        </p:nvGrpSpPr>
        <p:grpSpPr>
          <a:xfrm>
            <a:off x="195367" y="2410470"/>
            <a:ext cx="1973086" cy="2470542"/>
            <a:chOff x="195365" y="2410470"/>
            <a:chExt cx="1973086" cy="2470542"/>
          </a:xfrm>
        </p:grpSpPr>
        <p:cxnSp>
          <p:nvCxnSpPr>
            <p:cNvPr id="279" name="Gerader Verbinder 278"/>
            <p:cNvCxnSpPr/>
            <p:nvPr/>
          </p:nvCxnSpPr>
          <p:spPr>
            <a:xfrm flipH="1">
              <a:off x="195365" y="33093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0" name="Gerader Verbinder 279"/>
            <p:cNvCxnSpPr/>
            <p:nvPr/>
          </p:nvCxnSpPr>
          <p:spPr>
            <a:xfrm flipH="1">
              <a:off x="195365" y="398566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1" name="Gerader Verbinder 280"/>
            <p:cNvCxnSpPr/>
            <p:nvPr/>
          </p:nvCxnSpPr>
          <p:spPr>
            <a:xfrm flipH="1">
              <a:off x="195365" y="48810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2" name="Gerader Verbinder 281"/>
            <p:cNvCxnSpPr/>
            <p:nvPr/>
          </p:nvCxnSpPr>
          <p:spPr>
            <a:xfrm flipH="1">
              <a:off x="19536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3" name="Gerader Verbinder 282"/>
            <p:cNvCxnSpPr/>
            <p:nvPr/>
          </p:nvCxnSpPr>
          <p:spPr>
            <a:xfrm>
              <a:off x="195365" y="3083570"/>
              <a:ext cx="0" cy="225817"/>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4" name="Gerader Verbinder 283"/>
            <p:cNvCxnSpPr/>
            <p:nvPr/>
          </p:nvCxnSpPr>
          <p:spPr>
            <a:xfrm>
              <a:off x="765101" y="3309387"/>
              <a:ext cx="0" cy="67627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5" name="Gerader Verbinder 284"/>
            <p:cNvCxnSpPr/>
            <p:nvPr/>
          </p:nvCxnSpPr>
          <p:spPr>
            <a:xfrm>
              <a:off x="195365" y="3985662"/>
              <a:ext cx="0" cy="8953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6" name="Gerader Verbinder 285"/>
            <p:cNvCxnSpPr/>
            <p:nvPr/>
          </p:nvCxnSpPr>
          <p:spPr>
            <a:xfrm flipH="1">
              <a:off x="1598715" y="24104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7" name="Gerader Verbinder 286"/>
            <p:cNvCxnSpPr/>
            <p:nvPr/>
          </p:nvCxnSpPr>
          <p:spPr>
            <a:xfrm flipH="1">
              <a:off x="159871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8" name="Gerader Verbinder 287"/>
            <p:cNvCxnSpPr/>
            <p:nvPr/>
          </p:nvCxnSpPr>
          <p:spPr>
            <a:xfrm flipH="1">
              <a:off x="1598715" y="398313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9" name="Gerader Verbinder 288"/>
            <p:cNvCxnSpPr/>
            <p:nvPr/>
          </p:nvCxnSpPr>
          <p:spPr>
            <a:xfrm flipH="1">
              <a:off x="1598715" y="464988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0" name="Gerader Verbinder 289"/>
            <p:cNvCxnSpPr/>
            <p:nvPr/>
          </p:nvCxnSpPr>
          <p:spPr>
            <a:xfrm>
              <a:off x="2168451" y="2410470"/>
              <a:ext cx="0" cy="6731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1" name="Gerader Verbinder 290"/>
            <p:cNvCxnSpPr/>
            <p:nvPr/>
          </p:nvCxnSpPr>
          <p:spPr>
            <a:xfrm>
              <a:off x="2168451" y="3983132"/>
              <a:ext cx="0" cy="6667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2" name="Gerader Verbinder 291"/>
            <p:cNvCxnSpPr/>
            <p:nvPr/>
          </p:nvCxnSpPr>
          <p:spPr>
            <a:xfrm>
              <a:off x="765101" y="3083570"/>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3" name="Gerader Verbinder 292"/>
            <p:cNvCxnSpPr/>
            <p:nvPr/>
          </p:nvCxnSpPr>
          <p:spPr>
            <a:xfrm flipV="1">
              <a:off x="1187624" y="2410470"/>
              <a:ext cx="0" cy="6731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4" name="Gerader Verbinder 293"/>
            <p:cNvCxnSpPr/>
            <p:nvPr/>
          </p:nvCxnSpPr>
          <p:spPr>
            <a:xfrm flipH="1">
              <a:off x="1187624" y="2410470"/>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5" name="Gerader Verbinder 294"/>
            <p:cNvCxnSpPr/>
            <p:nvPr/>
          </p:nvCxnSpPr>
          <p:spPr>
            <a:xfrm>
              <a:off x="1598715" y="3083570"/>
              <a:ext cx="0" cy="89956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6" name="Gerader Verbinder 295"/>
            <p:cNvCxnSpPr/>
            <p:nvPr/>
          </p:nvCxnSpPr>
          <p:spPr>
            <a:xfrm flipH="1">
              <a:off x="1187624" y="4649882"/>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7" name="Gerader Verbinder 296"/>
            <p:cNvCxnSpPr/>
            <p:nvPr/>
          </p:nvCxnSpPr>
          <p:spPr>
            <a:xfrm>
              <a:off x="765101" y="4881012"/>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8" name="Gerader Verbinder 297"/>
            <p:cNvCxnSpPr/>
            <p:nvPr/>
          </p:nvCxnSpPr>
          <p:spPr>
            <a:xfrm flipV="1">
              <a:off x="1187624" y="4649882"/>
              <a:ext cx="0" cy="23113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99" name="Block 4"/>
          <p:cNvGrpSpPr/>
          <p:nvPr/>
        </p:nvGrpSpPr>
        <p:grpSpPr>
          <a:xfrm>
            <a:off x="195367" y="1067446"/>
            <a:ext cx="1973086" cy="2918217"/>
            <a:chOff x="195365" y="1067445"/>
            <a:chExt cx="1973086" cy="2918217"/>
          </a:xfrm>
        </p:grpSpPr>
        <p:cxnSp>
          <p:nvCxnSpPr>
            <p:cNvPr id="300" name="Gerader Verbinder 299"/>
            <p:cNvCxnSpPr/>
            <p:nvPr/>
          </p:nvCxnSpPr>
          <p:spPr>
            <a:xfrm flipH="1">
              <a:off x="198905" y="33093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1" name="Gerader Verbinder 300"/>
            <p:cNvCxnSpPr/>
            <p:nvPr/>
          </p:nvCxnSpPr>
          <p:spPr>
            <a:xfrm flipH="1">
              <a:off x="198905" y="398566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2" name="Gerader Verbinder 301"/>
            <p:cNvCxnSpPr/>
            <p:nvPr/>
          </p:nvCxnSpPr>
          <p:spPr>
            <a:xfrm flipH="1">
              <a:off x="159871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3" name="Gerader Verbinder 302"/>
            <p:cNvCxnSpPr/>
            <p:nvPr/>
          </p:nvCxnSpPr>
          <p:spPr>
            <a:xfrm flipH="1">
              <a:off x="1598715" y="3981639"/>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4" name="Gerader Verbinder 303"/>
            <p:cNvCxnSpPr/>
            <p:nvPr/>
          </p:nvCxnSpPr>
          <p:spPr>
            <a:xfrm flipH="1">
              <a:off x="1598715" y="1067445"/>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5" name="Gerader Verbinder 304"/>
            <p:cNvCxnSpPr/>
            <p:nvPr/>
          </p:nvCxnSpPr>
          <p:spPr>
            <a:xfrm flipH="1">
              <a:off x="1598715" y="241429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6" name="Gerader Verbinder 305"/>
            <p:cNvCxnSpPr/>
            <p:nvPr/>
          </p:nvCxnSpPr>
          <p:spPr>
            <a:xfrm flipH="1">
              <a:off x="195365" y="3309387"/>
              <a:ext cx="3540" cy="67225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7" name="Gerader Verbinder 306"/>
            <p:cNvCxnSpPr/>
            <p:nvPr/>
          </p:nvCxnSpPr>
          <p:spPr>
            <a:xfrm flipV="1">
              <a:off x="2168451" y="3083570"/>
              <a:ext cx="0" cy="90209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8" name="Gerader Verbinder 307"/>
            <p:cNvCxnSpPr/>
            <p:nvPr/>
          </p:nvCxnSpPr>
          <p:spPr>
            <a:xfrm flipV="1">
              <a:off x="2168451" y="1067445"/>
              <a:ext cx="0" cy="134684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9" name="Gerader Verbinder 308"/>
            <p:cNvCxnSpPr/>
            <p:nvPr/>
          </p:nvCxnSpPr>
          <p:spPr>
            <a:xfrm flipV="1">
              <a:off x="768641" y="3981639"/>
              <a:ext cx="830074" cy="4023"/>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0" name="Gerader Verbinder 309"/>
            <p:cNvCxnSpPr/>
            <p:nvPr/>
          </p:nvCxnSpPr>
          <p:spPr>
            <a:xfrm>
              <a:off x="765101" y="3309387"/>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1" name="Gerader Verbinder 310"/>
            <p:cNvCxnSpPr/>
            <p:nvPr/>
          </p:nvCxnSpPr>
          <p:spPr>
            <a:xfrm flipH="1">
              <a:off x="1187624" y="1067445"/>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2" name="Gerader Verbinder 311"/>
            <p:cNvCxnSpPr/>
            <p:nvPr/>
          </p:nvCxnSpPr>
          <p:spPr>
            <a:xfrm flipV="1">
              <a:off x="1187624" y="1067445"/>
              <a:ext cx="0" cy="224194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3" name="Gerader Verbinder 312"/>
            <p:cNvCxnSpPr/>
            <p:nvPr/>
          </p:nvCxnSpPr>
          <p:spPr>
            <a:xfrm>
              <a:off x="1598715" y="2414290"/>
              <a:ext cx="0" cy="66928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14" name="Block 1"/>
          <p:cNvGrpSpPr/>
          <p:nvPr/>
        </p:nvGrpSpPr>
        <p:grpSpPr>
          <a:xfrm>
            <a:off x="187780" y="548680"/>
            <a:ext cx="1990273" cy="737840"/>
            <a:chOff x="187777" y="548680"/>
            <a:chExt cx="1990273" cy="737840"/>
          </a:xfrm>
        </p:grpSpPr>
        <p:cxnSp>
          <p:nvCxnSpPr>
            <p:cNvPr id="315" name="Gerader Verbinder 314"/>
            <p:cNvCxnSpPr/>
            <p:nvPr/>
          </p:nvCxnSpPr>
          <p:spPr>
            <a:xfrm flipH="1">
              <a:off x="187777" y="128652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6" name="Gerader Verbinder 315"/>
            <p:cNvCxnSpPr/>
            <p:nvPr/>
          </p:nvCxnSpPr>
          <p:spPr>
            <a:xfrm flipH="1">
              <a:off x="1598715" y="846113"/>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7" name="Gerader Verbinder 316"/>
            <p:cNvCxnSpPr/>
            <p:nvPr/>
          </p:nvCxnSpPr>
          <p:spPr>
            <a:xfrm flipV="1">
              <a:off x="187777" y="548680"/>
              <a:ext cx="7588" cy="73784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8" name="Gerader Verbinder 317"/>
            <p:cNvCxnSpPr/>
            <p:nvPr/>
          </p:nvCxnSpPr>
          <p:spPr>
            <a:xfrm>
              <a:off x="203200" y="549275"/>
              <a:ext cx="1974850"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9" name="Gerader Verbinder 318"/>
            <p:cNvCxnSpPr/>
            <p:nvPr/>
          </p:nvCxnSpPr>
          <p:spPr>
            <a:xfrm flipH="1">
              <a:off x="2174875" y="565150"/>
              <a:ext cx="3175" cy="2794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0" name="Gerader Verbinder 319"/>
            <p:cNvCxnSpPr/>
            <p:nvPr/>
          </p:nvCxnSpPr>
          <p:spPr>
            <a:xfrm flipV="1">
              <a:off x="757513" y="844550"/>
              <a:ext cx="0" cy="44197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1" name="Gerader Verbinder 320"/>
            <p:cNvCxnSpPr/>
            <p:nvPr/>
          </p:nvCxnSpPr>
          <p:spPr>
            <a:xfrm flipH="1">
              <a:off x="771451" y="844550"/>
              <a:ext cx="811389"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22" name="Block 2"/>
          <p:cNvGrpSpPr/>
          <p:nvPr/>
        </p:nvGrpSpPr>
        <p:grpSpPr>
          <a:xfrm>
            <a:off x="201717" y="846114"/>
            <a:ext cx="1966662" cy="2241277"/>
            <a:chOff x="201715" y="846113"/>
            <a:chExt cx="1966662" cy="2241277"/>
          </a:xfrm>
        </p:grpSpPr>
        <p:cxnSp>
          <p:nvCxnSpPr>
            <p:cNvPr id="323" name="Gerader Verbinder 322"/>
            <p:cNvCxnSpPr/>
            <p:nvPr/>
          </p:nvCxnSpPr>
          <p:spPr>
            <a:xfrm flipH="1">
              <a:off x="201715" y="128652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4" name="Gerader Verbinder 323"/>
            <p:cNvCxnSpPr/>
            <p:nvPr/>
          </p:nvCxnSpPr>
          <p:spPr>
            <a:xfrm flipH="1">
              <a:off x="201715" y="308739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5" name="Gerader Verbinder 324"/>
            <p:cNvCxnSpPr/>
            <p:nvPr/>
          </p:nvCxnSpPr>
          <p:spPr>
            <a:xfrm flipH="1">
              <a:off x="1582840" y="1067445"/>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6" name="Gerader Verbinder 325"/>
            <p:cNvCxnSpPr/>
            <p:nvPr/>
          </p:nvCxnSpPr>
          <p:spPr>
            <a:xfrm>
              <a:off x="201715" y="1286520"/>
              <a:ext cx="0" cy="17970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7" name="Gerader Verbinder 326"/>
            <p:cNvCxnSpPr/>
            <p:nvPr/>
          </p:nvCxnSpPr>
          <p:spPr>
            <a:xfrm>
              <a:off x="771451" y="3087390"/>
              <a:ext cx="41617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8" name="Gerader Verbinder 327"/>
            <p:cNvCxnSpPr/>
            <p:nvPr/>
          </p:nvCxnSpPr>
          <p:spPr>
            <a:xfrm flipV="1">
              <a:off x="1187624" y="1067445"/>
              <a:ext cx="0" cy="201612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9" name="Gerader Verbinder 328"/>
            <p:cNvCxnSpPr/>
            <p:nvPr/>
          </p:nvCxnSpPr>
          <p:spPr>
            <a:xfrm>
              <a:off x="1187624" y="1067445"/>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0" name="Gerader Verbinder 329"/>
            <p:cNvCxnSpPr/>
            <p:nvPr/>
          </p:nvCxnSpPr>
          <p:spPr>
            <a:xfrm flipH="1">
              <a:off x="1579665" y="846113"/>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1" name="Gerader Verbinder 330"/>
            <p:cNvCxnSpPr/>
            <p:nvPr/>
          </p:nvCxnSpPr>
          <p:spPr>
            <a:xfrm flipH="1" flipV="1">
              <a:off x="2165202" y="846113"/>
              <a:ext cx="3175" cy="221333"/>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2" name="Gerader Verbinder 331"/>
            <p:cNvCxnSpPr/>
            <p:nvPr/>
          </p:nvCxnSpPr>
          <p:spPr>
            <a:xfrm>
              <a:off x="771451" y="1286520"/>
              <a:ext cx="12814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3" name="Gerader Verbinder 332"/>
            <p:cNvCxnSpPr/>
            <p:nvPr/>
          </p:nvCxnSpPr>
          <p:spPr>
            <a:xfrm flipV="1">
              <a:off x="899592" y="846113"/>
              <a:ext cx="0" cy="440407"/>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4" name="Gerader Verbinder 333"/>
            <p:cNvCxnSpPr/>
            <p:nvPr/>
          </p:nvCxnSpPr>
          <p:spPr>
            <a:xfrm flipH="1">
              <a:off x="899592" y="846113"/>
              <a:ext cx="68007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336" name="Rechteck 335"/>
          <p:cNvSpPr/>
          <p:nvPr/>
        </p:nvSpPr>
        <p:spPr>
          <a:xfrm>
            <a:off x="0" y="1"/>
            <a:ext cx="12191999" cy="1207277"/>
          </a:xfrm>
          <a:prstGeom prst="rect">
            <a:avLst/>
          </a:prstGeom>
          <a:gradFill flip="none" rotWithShape="1">
            <a:gsLst>
              <a:gs pos="43000">
                <a:srgbClr val="FFFFFF"/>
              </a:gs>
              <a:gs pos="24000">
                <a:srgbClr val="FFFFFF">
                  <a:alpha val="78000"/>
                </a:srgbClr>
              </a:gs>
              <a:gs pos="0">
                <a:schemeClr val="bg1">
                  <a:alpha val="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dirty="0">
              <a:solidFill>
                <a:prstClr val="black"/>
              </a:solidFill>
            </a:endParaRPr>
          </a:p>
        </p:txBody>
      </p:sp>
      <p:sp>
        <p:nvSpPr>
          <p:cNvPr id="337" name="Rechteck 336"/>
          <p:cNvSpPr/>
          <p:nvPr/>
        </p:nvSpPr>
        <p:spPr>
          <a:xfrm flipV="1">
            <a:off x="-2237" y="5817258"/>
            <a:ext cx="4286207" cy="1040742"/>
          </a:xfrm>
          <a:prstGeom prst="rect">
            <a:avLst/>
          </a:prstGeom>
          <a:gradFill flip="none" rotWithShape="1">
            <a:gsLst>
              <a:gs pos="0">
                <a:schemeClr val="bg1">
                  <a:alpha val="0"/>
                </a:schemeClr>
              </a:gs>
              <a:gs pos="23000">
                <a:schemeClr val="bg1">
                  <a:alpha val="75000"/>
                </a:schemeClr>
              </a:gs>
              <a:gs pos="60000">
                <a:schemeClr val="bg1">
                  <a:alpha val="9700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solidFill>
                <a:prstClr val="black"/>
              </a:solidFill>
            </a:endParaRPr>
          </a:p>
        </p:txBody>
      </p:sp>
      <p:pic>
        <p:nvPicPr>
          <p:cNvPr id="338"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7" y="6452764"/>
            <a:ext cx="1244600" cy="254000"/>
          </a:xfrm>
          <a:prstGeom prst="rect">
            <a:avLst/>
          </a:prstGeom>
        </p:spPr>
      </p:pic>
      <p:sp>
        <p:nvSpPr>
          <p:cNvPr id="339" name="Rechteck 338"/>
          <p:cNvSpPr/>
          <p:nvPr/>
        </p:nvSpPr>
        <p:spPr>
          <a:xfrm flipV="1">
            <a:off x="7945127" y="5827090"/>
            <a:ext cx="4286207" cy="1040742"/>
          </a:xfrm>
          <a:prstGeom prst="rect">
            <a:avLst/>
          </a:prstGeom>
          <a:gradFill flip="none" rotWithShape="1">
            <a:gsLst>
              <a:gs pos="0">
                <a:schemeClr val="bg1">
                  <a:alpha val="0"/>
                </a:schemeClr>
              </a:gs>
              <a:gs pos="23000">
                <a:schemeClr val="bg1">
                  <a:alpha val="75000"/>
                </a:schemeClr>
              </a:gs>
              <a:gs pos="60000">
                <a:schemeClr val="bg1">
                  <a:alpha val="9700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solidFill>
                <a:prstClr val="black"/>
              </a:solidFill>
            </a:endParaRPr>
          </a:p>
        </p:txBody>
      </p:sp>
      <p:pic>
        <p:nvPicPr>
          <p:cNvPr id="340" name="Bild 4" descr="Leibniz__Logo_DE_Blau-Schwarz_100mm.jp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452515" y="6331558"/>
            <a:ext cx="629320" cy="499299"/>
          </a:xfrm>
          <a:prstGeom prst="rect">
            <a:avLst/>
          </a:prstGeom>
        </p:spPr>
      </p:pic>
      <p:sp>
        <p:nvSpPr>
          <p:cNvPr id="341" name="DRL 3"/>
          <p:cNvSpPr/>
          <p:nvPr/>
        </p:nvSpPr>
        <p:spPr>
          <a:xfrm rot="16200000">
            <a:off x="641121" y="3154304"/>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sp>
        <p:nvSpPr>
          <p:cNvPr id="342" name="DRR 3"/>
          <p:cNvSpPr/>
          <p:nvPr/>
        </p:nvSpPr>
        <p:spPr>
          <a:xfrm rot="5400000" flipH="1">
            <a:off x="1538456" y="2487142"/>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3" name="DRR 3"/>
          <p:cNvSpPr/>
          <p:nvPr/>
        </p:nvSpPr>
        <p:spPr>
          <a:xfrm rot="5400000" flipH="1">
            <a:off x="1538456" y="2479408"/>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4" name="DRR 3"/>
          <p:cNvSpPr/>
          <p:nvPr/>
        </p:nvSpPr>
        <p:spPr>
          <a:xfrm rot="5400000" flipH="1">
            <a:off x="1535281" y="2479408"/>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5" name="DRR 3"/>
          <p:cNvSpPr/>
          <p:nvPr/>
        </p:nvSpPr>
        <p:spPr>
          <a:xfrm rot="5400000" flipH="1">
            <a:off x="1558735" y="2472617"/>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6" name="DRR 3"/>
          <p:cNvSpPr/>
          <p:nvPr/>
        </p:nvSpPr>
        <p:spPr>
          <a:xfrm rot="5400000" flipH="1">
            <a:off x="1565661" y="2478760"/>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8" name="Textfeld 347"/>
          <p:cNvSpPr txBox="1"/>
          <p:nvPr/>
        </p:nvSpPr>
        <p:spPr>
          <a:xfrm>
            <a:off x="2290040" y="682078"/>
            <a:ext cx="3402249" cy="815608"/>
          </a:xfrm>
          <a:prstGeom prst="rect">
            <a:avLst/>
          </a:prstGeom>
          <a:noFill/>
          <a:ln w="12700">
            <a:noFill/>
          </a:ln>
        </p:spPr>
        <p:txBody>
          <a:bodyPr wrap="square" rtlCol="0">
            <a:spAutoFit/>
          </a:bodyPr>
          <a:lstStyle/>
          <a:p>
            <a:r>
              <a:rPr lang="en-US" sz="1400" dirty="0">
                <a:solidFill>
                  <a:srgbClr val="000000"/>
                </a:solidFill>
              </a:rPr>
              <a:t>Pairwise Comparisons</a:t>
            </a:r>
          </a:p>
          <a:p>
            <a:r>
              <a:rPr lang="en-US" sz="1100" dirty="0">
                <a:solidFill>
                  <a:srgbClr val="A3C206"/>
                </a:solidFill>
              </a:rPr>
              <a:t>21 million </a:t>
            </a:r>
            <a:r>
              <a:rPr lang="en-US" sz="1100" dirty="0" smtClean="0">
                <a:solidFill>
                  <a:srgbClr val="A3C206"/>
                </a:solidFill>
              </a:rPr>
              <a:t>establishment </a:t>
            </a:r>
            <a:r>
              <a:rPr lang="en-US" sz="1100" dirty="0">
                <a:solidFill>
                  <a:srgbClr val="A3C206"/>
                </a:solidFill>
              </a:rPr>
              <a:t>records</a:t>
            </a:r>
          </a:p>
          <a:p>
            <a:r>
              <a:rPr lang="en-US" sz="1100" dirty="0">
                <a:solidFill>
                  <a:srgbClr val="53C5B5"/>
                </a:solidFill>
              </a:rPr>
              <a:t>24 </a:t>
            </a:r>
            <a:r>
              <a:rPr lang="en-US" sz="1100">
                <a:solidFill>
                  <a:srgbClr val="53C5B5"/>
                </a:solidFill>
              </a:rPr>
              <a:t>million </a:t>
            </a:r>
            <a:r>
              <a:rPr lang="en-US" sz="1100" smtClean="0">
                <a:solidFill>
                  <a:srgbClr val="53C5B5"/>
                </a:solidFill>
              </a:rPr>
              <a:t>company </a:t>
            </a:r>
            <a:r>
              <a:rPr lang="en-US" sz="1100" dirty="0">
                <a:solidFill>
                  <a:srgbClr val="53C5B5"/>
                </a:solidFill>
              </a:rPr>
              <a:t>records</a:t>
            </a:r>
          </a:p>
          <a:p>
            <a:r>
              <a:rPr lang="en-US" sz="1100" dirty="0">
                <a:solidFill>
                  <a:srgbClr val="000000"/>
                </a:solidFill>
              </a:rPr>
              <a:t>≈ 500*10</a:t>
            </a:r>
            <a:r>
              <a:rPr lang="en-US" sz="1100" baseline="30000" dirty="0">
                <a:solidFill>
                  <a:srgbClr val="000000"/>
                </a:solidFill>
              </a:rPr>
              <a:t>12</a:t>
            </a:r>
            <a:r>
              <a:rPr lang="en-US" sz="1100" dirty="0">
                <a:solidFill>
                  <a:srgbClr val="000000"/>
                </a:solidFill>
              </a:rPr>
              <a:t>  comparisons</a:t>
            </a:r>
            <a:endParaRPr lang="en-US" sz="1100" dirty="0">
              <a:solidFill>
                <a:srgbClr val="CEE55B"/>
              </a:solidFill>
            </a:endParaRPr>
          </a:p>
        </p:txBody>
      </p:sp>
      <p:sp>
        <p:nvSpPr>
          <p:cNvPr id="349" name="Textfeld 348"/>
          <p:cNvSpPr txBox="1"/>
          <p:nvPr/>
        </p:nvSpPr>
        <p:spPr>
          <a:xfrm>
            <a:off x="2290040" y="1494309"/>
            <a:ext cx="3402247" cy="2000548"/>
          </a:xfrm>
          <a:prstGeom prst="rect">
            <a:avLst/>
          </a:prstGeom>
          <a:noFill/>
          <a:ln w="12700">
            <a:noFill/>
          </a:ln>
        </p:spPr>
        <p:txBody>
          <a:bodyPr wrap="square" rtlCol="0">
            <a:spAutoFit/>
          </a:bodyPr>
          <a:lstStyle/>
          <a:p>
            <a:r>
              <a:rPr lang="en-US" sz="1400" dirty="0">
                <a:solidFill>
                  <a:srgbClr val="000000"/>
                </a:solidFill>
              </a:rPr>
              <a:t>Blocking</a:t>
            </a:r>
            <a:r>
              <a:rPr lang="en-US" sz="1100" dirty="0">
                <a:solidFill>
                  <a:srgbClr val="000000"/>
                </a:solidFill>
              </a:rPr>
              <a:t>  </a:t>
            </a:r>
          </a:p>
          <a:p>
            <a:r>
              <a:rPr lang="en-US" sz="1100" dirty="0">
                <a:solidFill>
                  <a:srgbClr val="000000"/>
                </a:solidFill>
              </a:rPr>
              <a:t>Segmentation of the solution space along arbitrary exclusion restrictions</a:t>
            </a:r>
          </a:p>
          <a:p>
            <a:r>
              <a:rPr lang="en-US" sz="1100" dirty="0">
                <a:solidFill>
                  <a:srgbClr val="000000"/>
                </a:solidFill>
              </a:rPr>
              <a:t>For example:</a:t>
            </a:r>
          </a:p>
          <a:p>
            <a:pPr marL="171450" indent="-171450">
              <a:buClr>
                <a:srgbClr val="00B0F0"/>
              </a:buClr>
              <a:buFont typeface="Wingdings" panose="05000000000000000000" pitchFamily="2" charset="2"/>
              <a:buChar char="§"/>
            </a:pPr>
            <a:r>
              <a:rPr lang="en-US" sz="1100" dirty="0">
                <a:solidFill>
                  <a:srgbClr val="000000"/>
                </a:solidFill>
              </a:rPr>
              <a:t>Address blocking (postal code, city)</a:t>
            </a:r>
          </a:p>
          <a:p>
            <a:pPr marL="171450" indent="-171450">
              <a:buClr>
                <a:srgbClr val="00B0F0"/>
              </a:buClr>
              <a:buFont typeface="Wingdings" panose="05000000000000000000" pitchFamily="2" charset="2"/>
              <a:buChar char="§"/>
            </a:pPr>
            <a:r>
              <a:rPr lang="en-US" sz="1100" dirty="0">
                <a:solidFill>
                  <a:srgbClr val="000000"/>
                </a:solidFill>
              </a:rPr>
              <a:t>Spatial blocking after geocoding</a:t>
            </a:r>
          </a:p>
          <a:p>
            <a:pPr marL="171450" indent="-171450">
              <a:buClr>
                <a:srgbClr val="00B0F0"/>
              </a:buClr>
              <a:buFont typeface="Wingdings" panose="05000000000000000000" pitchFamily="2" charset="2"/>
              <a:buChar char="§"/>
            </a:pPr>
            <a:r>
              <a:rPr lang="en-US" sz="1100" dirty="0">
                <a:solidFill>
                  <a:srgbClr val="000000"/>
                </a:solidFill>
              </a:rPr>
              <a:t>Overlapping Canopies, i.e. based on first 4 characters of any word in the firm name</a:t>
            </a:r>
          </a:p>
          <a:p>
            <a:pPr marL="171450" indent="-171450">
              <a:buClr>
                <a:srgbClr val="00B0F0"/>
              </a:buClr>
              <a:buFont typeface="Wingdings" panose="05000000000000000000" pitchFamily="2" charset="2"/>
              <a:buChar char="§"/>
            </a:pPr>
            <a:r>
              <a:rPr lang="en-US" sz="1100" dirty="0">
                <a:solidFill>
                  <a:srgbClr val="000000"/>
                </a:solidFill>
              </a:rPr>
              <a:t>…</a:t>
            </a:r>
          </a:p>
          <a:p>
            <a:pPr marL="171450" indent="-171450">
              <a:buClr>
                <a:srgbClr val="00B0F0"/>
              </a:buClr>
              <a:buFont typeface="Wingdings" panose="05000000000000000000" pitchFamily="2" charset="2"/>
              <a:buChar char="§"/>
            </a:pPr>
            <a:r>
              <a:rPr lang="en-US" sz="1100" dirty="0">
                <a:solidFill>
                  <a:srgbClr val="000000"/>
                </a:solidFill>
              </a:rPr>
              <a:t>Combination of methods</a:t>
            </a:r>
          </a:p>
          <a:p>
            <a:pPr marL="171450" indent="-171450">
              <a:buClr>
                <a:srgbClr val="00B0F0"/>
              </a:buClr>
              <a:buFont typeface="Wingdings" panose="05000000000000000000" pitchFamily="2" charset="2"/>
              <a:buChar char="§"/>
            </a:pPr>
            <a:r>
              <a:rPr lang="en-US" sz="1100" dirty="0">
                <a:solidFill>
                  <a:srgbClr val="000000"/>
                </a:solidFill>
              </a:rPr>
              <a:t>Overlapping blocks to avoid false negatives</a:t>
            </a:r>
          </a:p>
        </p:txBody>
      </p:sp>
      <p:sp>
        <p:nvSpPr>
          <p:cNvPr id="350" name="Textfeld 349"/>
          <p:cNvSpPr txBox="1"/>
          <p:nvPr/>
        </p:nvSpPr>
        <p:spPr>
          <a:xfrm>
            <a:off x="2290040" y="3495941"/>
            <a:ext cx="3402244" cy="1492716"/>
          </a:xfrm>
          <a:prstGeom prst="rect">
            <a:avLst/>
          </a:prstGeom>
          <a:noFill/>
          <a:ln w="12700">
            <a:noFill/>
          </a:ln>
        </p:spPr>
        <p:txBody>
          <a:bodyPr wrap="square" rtlCol="0">
            <a:spAutoFit/>
          </a:bodyPr>
          <a:lstStyle/>
          <a:p>
            <a:r>
              <a:rPr lang="en-US" sz="1400" dirty="0">
                <a:solidFill>
                  <a:srgbClr val="000000"/>
                </a:solidFill>
              </a:rPr>
              <a:t>Comparisons</a:t>
            </a:r>
          </a:p>
          <a:p>
            <a:r>
              <a:rPr lang="en-US" sz="1100" dirty="0">
                <a:solidFill>
                  <a:srgbClr val="000000"/>
                </a:solidFill>
              </a:rPr>
              <a:t>Scoring based on…</a:t>
            </a:r>
          </a:p>
          <a:p>
            <a:pPr marL="171450" indent="-171450">
              <a:buClr>
                <a:srgbClr val="00B0F0"/>
              </a:buClr>
              <a:buFont typeface="Wingdings" panose="05000000000000000000" pitchFamily="2" charset="2"/>
              <a:buChar char="§"/>
            </a:pPr>
            <a:r>
              <a:rPr lang="en-US" sz="1100" dirty="0">
                <a:solidFill>
                  <a:srgbClr val="000000"/>
                </a:solidFill>
              </a:rPr>
              <a:t>string comparison functions</a:t>
            </a:r>
          </a:p>
          <a:p>
            <a:pPr marL="171450" indent="-171450">
              <a:buClr>
                <a:srgbClr val="00B0F0"/>
              </a:buClr>
              <a:buFont typeface="Wingdings" panose="05000000000000000000" pitchFamily="2" charset="2"/>
              <a:buChar char="§"/>
            </a:pPr>
            <a:r>
              <a:rPr lang="en-US" sz="1100" dirty="0">
                <a:solidFill>
                  <a:srgbClr val="000000"/>
                </a:solidFill>
              </a:rPr>
              <a:t>word or token frequencies</a:t>
            </a:r>
          </a:p>
          <a:p>
            <a:pPr marL="171450" indent="-171450">
              <a:buClr>
                <a:srgbClr val="00B0F0"/>
              </a:buClr>
              <a:buFont typeface="Wingdings" panose="05000000000000000000" pitchFamily="2" charset="2"/>
              <a:buChar char="§"/>
            </a:pPr>
            <a:r>
              <a:rPr lang="en-US" sz="1100" dirty="0">
                <a:solidFill>
                  <a:srgbClr val="000000"/>
                </a:solidFill>
              </a:rPr>
              <a:t>spatial distances</a:t>
            </a:r>
          </a:p>
          <a:p>
            <a:pPr marL="171450" indent="-171450">
              <a:buClr>
                <a:srgbClr val="00B0F0"/>
              </a:buClr>
              <a:buFont typeface="Wingdings" panose="05000000000000000000" pitchFamily="2" charset="2"/>
              <a:buChar char="§"/>
            </a:pPr>
            <a:r>
              <a:rPr lang="en-US" sz="1100" dirty="0">
                <a:solidFill>
                  <a:srgbClr val="000000"/>
                </a:solidFill>
              </a:rPr>
              <a:t>…</a:t>
            </a:r>
          </a:p>
          <a:p>
            <a:r>
              <a:rPr lang="en-US" sz="1100" dirty="0">
                <a:solidFill>
                  <a:srgbClr val="000000"/>
                </a:solidFill>
              </a:rPr>
              <a:t>Multiple scores or vectors require statistical methods like ML to handle curse of dimensionality</a:t>
            </a:r>
          </a:p>
        </p:txBody>
      </p:sp>
      <p:sp>
        <p:nvSpPr>
          <p:cNvPr id="352" name="Textfeld 351"/>
          <p:cNvSpPr txBox="1"/>
          <p:nvPr/>
        </p:nvSpPr>
        <p:spPr>
          <a:xfrm>
            <a:off x="6400800" y="691909"/>
            <a:ext cx="3490781" cy="477054"/>
          </a:xfrm>
          <a:prstGeom prst="rect">
            <a:avLst/>
          </a:prstGeom>
          <a:noFill/>
          <a:ln w="12700">
            <a:noFill/>
          </a:ln>
        </p:spPr>
        <p:txBody>
          <a:bodyPr wrap="square" rtlCol="0">
            <a:spAutoFit/>
          </a:bodyPr>
          <a:lstStyle/>
          <a:p>
            <a:r>
              <a:rPr lang="en-US" sz="1400" dirty="0">
                <a:solidFill>
                  <a:srgbClr val="000000"/>
                </a:solidFill>
              </a:rPr>
              <a:t>Index Based Search</a:t>
            </a:r>
          </a:p>
          <a:p>
            <a:r>
              <a:rPr lang="en-US" sz="1100" dirty="0">
                <a:solidFill>
                  <a:srgbClr val="000000"/>
                </a:solidFill>
              </a:rPr>
              <a:t>Complexity </a:t>
            </a:r>
            <a:r>
              <a:rPr lang="en-US" sz="1100" dirty="0" smtClean="0">
                <a:solidFill>
                  <a:srgbClr val="000000"/>
                </a:solidFill>
              </a:rPr>
              <a:t>increments </a:t>
            </a:r>
            <a:r>
              <a:rPr lang="en-US" sz="1100" dirty="0">
                <a:solidFill>
                  <a:srgbClr val="000000"/>
                </a:solidFill>
              </a:rPr>
              <a:t>close to log</a:t>
            </a:r>
            <a:r>
              <a:rPr lang="en-US" sz="1100" baseline="-25000" dirty="0">
                <a:solidFill>
                  <a:srgbClr val="000000"/>
                </a:solidFill>
              </a:rPr>
              <a:t>2 </a:t>
            </a:r>
          </a:p>
        </p:txBody>
      </p:sp>
      <p:sp>
        <p:nvSpPr>
          <p:cNvPr id="353" name="Textfeld 352"/>
          <p:cNvSpPr txBox="1"/>
          <p:nvPr/>
        </p:nvSpPr>
        <p:spPr>
          <a:xfrm>
            <a:off x="6400800" y="1164512"/>
            <a:ext cx="3490781" cy="1661993"/>
          </a:xfrm>
          <a:prstGeom prst="rect">
            <a:avLst/>
          </a:prstGeom>
          <a:noFill/>
          <a:ln w="12700">
            <a:noFill/>
          </a:ln>
        </p:spPr>
        <p:txBody>
          <a:bodyPr wrap="square" rtlCol="0">
            <a:spAutoFit/>
          </a:bodyPr>
          <a:lstStyle/>
          <a:p>
            <a:r>
              <a:rPr lang="en-US" sz="1400" dirty="0">
                <a:solidFill>
                  <a:srgbClr val="000000"/>
                </a:solidFill>
              </a:rPr>
              <a:t>Search Heuristic</a:t>
            </a:r>
            <a:r>
              <a:rPr lang="en-US" sz="1100" dirty="0">
                <a:solidFill>
                  <a:srgbClr val="000000"/>
                </a:solidFill>
              </a:rPr>
              <a:t>  </a:t>
            </a:r>
          </a:p>
          <a:p>
            <a:r>
              <a:rPr lang="en-US" sz="1100" dirty="0">
                <a:solidFill>
                  <a:srgbClr val="000000"/>
                </a:solidFill>
              </a:rPr>
              <a:t>Word frequency based heuristic identifies candidates</a:t>
            </a:r>
          </a:p>
          <a:p>
            <a:pPr marL="171450" indent="-171450">
              <a:buClr>
                <a:srgbClr val="00B0F0"/>
              </a:buClr>
              <a:buFont typeface="Wingdings" panose="05000000000000000000" pitchFamily="2" charset="2"/>
              <a:buChar char="§"/>
            </a:pPr>
            <a:r>
              <a:rPr lang="en-US" sz="1100" dirty="0">
                <a:solidFill>
                  <a:srgbClr val="6DCEC0"/>
                </a:solidFill>
              </a:rPr>
              <a:t>Base table </a:t>
            </a:r>
            <a:r>
              <a:rPr lang="en-US" sz="1100" dirty="0">
                <a:solidFill>
                  <a:srgbClr val="000000"/>
                </a:solidFill>
              </a:rPr>
              <a:t>defines heuristic meta data and provides candidates</a:t>
            </a:r>
          </a:p>
          <a:p>
            <a:pPr marL="171450" indent="-171450">
              <a:buClr>
                <a:srgbClr val="00B0F0"/>
              </a:buClr>
              <a:buFont typeface="Wingdings" panose="05000000000000000000" pitchFamily="2" charset="2"/>
              <a:buChar char="§"/>
            </a:pPr>
            <a:r>
              <a:rPr lang="en-US" sz="1100" dirty="0">
                <a:solidFill>
                  <a:srgbClr val="A3C206"/>
                </a:solidFill>
              </a:rPr>
              <a:t>Search table</a:t>
            </a:r>
            <a:r>
              <a:rPr lang="en-US" sz="1100" dirty="0">
                <a:solidFill>
                  <a:srgbClr val="C3DF39"/>
                </a:solidFill>
              </a:rPr>
              <a:t> </a:t>
            </a:r>
            <a:r>
              <a:rPr lang="en-US" sz="1100" dirty="0">
                <a:solidFill>
                  <a:prstClr val="black"/>
                </a:solidFill>
              </a:rPr>
              <a:t>provides the search terms</a:t>
            </a:r>
          </a:p>
          <a:p>
            <a:pPr marL="171450" indent="-171450">
              <a:buClr>
                <a:srgbClr val="00B0F0"/>
              </a:buClr>
              <a:buFont typeface="Wingdings" panose="05000000000000000000" pitchFamily="2" charset="2"/>
              <a:buChar char="§"/>
            </a:pPr>
            <a:r>
              <a:rPr lang="en-US" sz="1100" dirty="0">
                <a:solidFill>
                  <a:srgbClr val="000000"/>
                </a:solidFill>
              </a:rPr>
              <a:t>Individual blocking is not bound to exclusion restrictions</a:t>
            </a:r>
          </a:p>
          <a:p>
            <a:pPr marL="171450" indent="-171450">
              <a:buClr>
                <a:srgbClr val="00B0F0"/>
              </a:buClr>
              <a:buFont typeface="Wingdings" panose="05000000000000000000" pitchFamily="2" charset="2"/>
              <a:buChar char="§"/>
            </a:pPr>
            <a:r>
              <a:rPr lang="en-US" sz="1100" dirty="0">
                <a:solidFill>
                  <a:srgbClr val="000000"/>
                </a:solidFill>
              </a:rPr>
              <a:t>Search strategy requires several runs to minimize false negatives</a:t>
            </a:r>
          </a:p>
        </p:txBody>
      </p:sp>
      <p:sp>
        <p:nvSpPr>
          <p:cNvPr id="354" name="Textfeld 353"/>
          <p:cNvSpPr txBox="1"/>
          <p:nvPr/>
        </p:nvSpPr>
        <p:spPr>
          <a:xfrm>
            <a:off x="6400800" y="2825250"/>
            <a:ext cx="3490781" cy="1492716"/>
          </a:xfrm>
          <a:prstGeom prst="rect">
            <a:avLst/>
          </a:prstGeom>
          <a:noFill/>
          <a:ln w="12700">
            <a:noFill/>
          </a:ln>
        </p:spPr>
        <p:txBody>
          <a:bodyPr wrap="square" rtlCol="0">
            <a:spAutoFit/>
          </a:bodyPr>
          <a:lstStyle/>
          <a:p>
            <a:r>
              <a:rPr lang="en-US" sz="1400" dirty="0">
                <a:solidFill>
                  <a:srgbClr val="000000"/>
                </a:solidFill>
              </a:rPr>
              <a:t>Holistic Approach</a:t>
            </a:r>
          </a:p>
          <a:p>
            <a:pPr marL="171450" indent="-171450">
              <a:buClr>
                <a:srgbClr val="00B0F0"/>
              </a:buClr>
              <a:buFont typeface="Wingdings" panose="05000000000000000000" pitchFamily="2" charset="2"/>
              <a:buChar char="§"/>
            </a:pPr>
            <a:r>
              <a:rPr lang="en-US" sz="1100" dirty="0">
                <a:solidFill>
                  <a:srgbClr val="000000"/>
                </a:solidFill>
              </a:rPr>
              <a:t>Similarity between </a:t>
            </a:r>
            <a:r>
              <a:rPr lang="en-US" sz="1100" dirty="0">
                <a:solidFill>
                  <a:srgbClr val="A3C206"/>
                </a:solidFill>
              </a:rPr>
              <a:t>search</a:t>
            </a:r>
            <a:r>
              <a:rPr lang="en-US" sz="1100" dirty="0">
                <a:solidFill>
                  <a:srgbClr val="000000"/>
                </a:solidFill>
              </a:rPr>
              <a:t> record and </a:t>
            </a:r>
            <a:r>
              <a:rPr lang="en-US" sz="1100" dirty="0">
                <a:solidFill>
                  <a:srgbClr val="6DCEC0"/>
                </a:solidFill>
              </a:rPr>
              <a:t>candidates</a:t>
            </a:r>
            <a:r>
              <a:rPr lang="en-US" sz="1100" dirty="0">
                <a:solidFill>
                  <a:srgbClr val="000000"/>
                </a:solidFill>
              </a:rPr>
              <a:t> is already established</a:t>
            </a:r>
          </a:p>
          <a:p>
            <a:pPr marL="171450" indent="-171450">
              <a:buClr>
                <a:srgbClr val="00B0F0"/>
              </a:buClr>
              <a:buFont typeface="Wingdings" panose="05000000000000000000" pitchFamily="2" charset="2"/>
              <a:buChar char="§"/>
            </a:pPr>
            <a:r>
              <a:rPr lang="en-US" sz="1100" dirty="0">
                <a:solidFill>
                  <a:srgbClr val="000000"/>
                </a:solidFill>
              </a:rPr>
              <a:t>Only filtering of false positives is required</a:t>
            </a:r>
          </a:p>
          <a:p>
            <a:pPr marL="171450" indent="-171450">
              <a:buClr>
                <a:srgbClr val="00B0F0"/>
              </a:buClr>
              <a:buFont typeface="Wingdings" panose="05000000000000000000" pitchFamily="2" charset="2"/>
              <a:buChar char="§"/>
            </a:pPr>
            <a:r>
              <a:rPr lang="en-US" sz="1100" dirty="0">
                <a:solidFill>
                  <a:prstClr val="black"/>
                </a:solidFill>
              </a:rPr>
              <a:t>Meta data of the search heuristic is repurposed to create variation</a:t>
            </a:r>
          </a:p>
          <a:p>
            <a:pPr marL="171450" indent="-171450">
              <a:buClr>
                <a:srgbClr val="00B0F0"/>
              </a:buClr>
              <a:buFont typeface="Wingdings" panose="05000000000000000000" pitchFamily="2" charset="2"/>
              <a:buChar char="§"/>
            </a:pPr>
            <a:r>
              <a:rPr lang="en-US" sz="1100" dirty="0">
                <a:solidFill>
                  <a:srgbClr val="000000"/>
                </a:solidFill>
              </a:rPr>
              <a:t>Training sample composition and ML integration is trivial</a:t>
            </a:r>
          </a:p>
        </p:txBody>
      </p:sp>
      <p:sp>
        <p:nvSpPr>
          <p:cNvPr id="355" name="Titel 1"/>
          <p:cNvSpPr txBox="1">
            <a:spLocks/>
          </p:cNvSpPr>
          <p:nvPr/>
        </p:nvSpPr>
        <p:spPr>
          <a:xfrm>
            <a:off x="10755677" y="166562"/>
            <a:ext cx="144016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r>
              <a:rPr lang="en-US" dirty="0"/>
              <a:t>Searching</a:t>
            </a:r>
          </a:p>
        </p:txBody>
      </p:sp>
      <p:sp>
        <p:nvSpPr>
          <p:cNvPr id="356" name="Titel 1"/>
          <p:cNvSpPr txBox="1">
            <a:spLocks/>
          </p:cNvSpPr>
          <p:nvPr/>
        </p:nvSpPr>
        <p:spPr>
          <a:xfrm>
            <a:off x="5771965" y="156730"/>
            <a:ext cx="648071"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r>
              <a:rPr lang="en-US" dirty="0"/>
              <a:t>vs.</a:t>
            </a:r>
          </a:p>
        </p:txBody>
      </p:sp>
      <p:sp>
        <p:nvSpPr>
          <p:cNvPr id="335" name="Titel 1"/>
          <p:cNvSpPr>
            <a:spLocks noGrp="1"/>
          </p:cNvSpPr>
          <p:nvPr>
            <p:ph type="title"/>
          </p:nvPr>
        </p:nvSpPr>
        <p:spPr/>
        <p:txBody>
          <a:bodyPr/>
          <a:lstStyle/>
          <a:p>
            <a:r>
              <a:rPr lang="en-US" dirty="0" smtClean="0"/>
              <a:t>Blocking</a:t>
            </a:r>
            <a:endParaRPr lang="en-US"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2</a:t>
            </a:fld>
            <a:endParaRPr lang="en-US" dirty="0"/>
          </a:p>
        </p:txBody>
      </p:sp>
    </p:spTree>
    <p:extLst>
      <p:ext uri="{BB962C8B-B14F-4D97-AF65-F5344CB8AC3E}">
        <p14:creationId xmlns:p14="http://schemas.microsoft.com/office/powerpoint/2010/main" val="4148933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3"/>
                                        </p:tgtEl>
                                        <p:attrNameLst>
                                          <p:attrName>style.visibility</p:attrName>
                                        </p:attrNameLst>
                                      </p:cBhvr>
                                      <p:to>
                                        <p:strVal val="visible"/>
                                      </p:to>
                                    </p:set>
                                  </p:childTnLst>
                                </p:cTn>
                              </p:par>
                              <p:par>
                                <p:cTn id="7" presetID="1" presetClass="entr" presetSubtype="0" fill="hold" grpId="4" nodeType="withEffect">
                                  <p:stCondLst>
                                    <p:cond delay="0"/>
                                  </p:stCondLst>
                                  <p:childTnLst>
                                    <p:set>
                                      <p:cBhvr>
                                        <p:cTn id="8" dur="1" fill="hold">
                                          <p:stCondLst>
                                            <p:cond delay="0"/>
                                          </p:stCondLst>
                                        </p:cTn>
                                        <p:tgtEl>
                                          <p:spTgt spid="152"/>
                                        </p:tgtEl>
                                        <p:attrNameLst>
                                          <p:attrName>style.visibility</p:attrName>
                                        </p:attrNameLst>
                                      </p:cBhvr>
                                      <p:to>
                                        <p:strVal val="visible"/>
                                      </p:to>
                                    </p:set>
                                  </p:childTnLst>
                                </p:cTn>
                              </p:par>
                              <p:par>
                                <p:cTn id="9" presetID="42" presetClass="path" presetSubtype="0" accel="50000" decel="50000" fill="hold" grpId="0" nodeType="withEffect">
                                  <p:stCondLst>
                                    <p:cond delay="0"/>
                                  </p:stCondLst>
                                  <p:childTnLst>
                                    <p:animMotion origin="layout" path="M -3.33333E-6 -2.22222E-6 L 0.00404 0.86621 " pathEditMode="relative" rAng="0" ptsTypes="AA">
                                      <p:cBhvr>
                                        <p:cTn id="10" dur="1000" fill="hold"/>
                                        <p:tgtEl>
                                          <p:spTgt spid="152"/>
                                        </p:tgtEl>
                                        <p:attrNameLst>
                                          <p:attrName>ppt_x</p:attrName>
                                          <p:attrName>ppt_y</p:attrName>
                                        </p:attrNameLst>
                                      </p:cBhvr>
                                      <p:rCtr x="195" y="43310"/>
                                    </p:animMotion>
                                  </p:childTnLst>
                                </p:cTn>
                              </p:par>
                            </p:childTnLst>
                          </p:cTn>
                        </p:par>
                        <p:par>
                          <p:cTn id="11" fill="hold">
                            <p:stCondLst>
                              <p:cond delay="1000"/>
                            </p:stCondLst>
                            <p:childTnLst>
                              <p:par>
                                <p:cTn id="12" presetID="42" presetClass="path" presetSubtype="0" accel="50000" decel="50000" fill="hold" grpId="1" nodeType="afterEffect">
                                  <p:stCondLst>
                                    <p:cond delay="0"/>
                                  </p:stCondLst>
                                  <p:childTnLst>
                                    <p:animMotion origin="layout" path="M 2.77778E-7 2.96296E-6 L -0.00018 0.03588 " pathEditMode="relative" rAng="0" ptsTypes="AA">
                                      <p:cBhvr>
                                        <p:cTn id="13" dur="250" fill="hold"/>
                                        <p:tgtEl>
                                          <p:spTgt spid="153"/>
                                        </p:tgtEl>
                                        <p:attrNameLst>
                                          <p:attrName>ppt_x</p:attrName>
                                          <p:attrName>ppt_y</p:attrName>
                                        </p:attrNameLst>
                                      </p:cBhvr>
                                      <p:rCtr x="-52" y="1713"/>
                                    </p:animMotion>
                                  </p:childTnLst>
                                </p:cTn>
                              </p:par>
                            </p:childTnLst>
                          </p:cTn>
                        </p:par>
                        <p:par>
                          <p:cTn id="14" fill="hold">
                            <p:stCondLst>
                              <p:cond delay="1250"/>
                            </p:stCondLst>
                            <p:childTnLst>
                              <p:par>
                                <p:cTn id="15" presetID="42" presetClass="path" presetSubtype="0" accel="50000" decel="50000" fill="hold" grpId="1" nodeType="afterEffect">
                                  <p:stCondLst>
                                    <p:cond delay="0"/>
                                  </p:stCondLst>
                                  <p:childTnLst>
                                    <p:animMotion origin="layout" path="M -3.33333E-6 -2.22222E-6 L 0.00404 0.86621 " pathEditMode="relative" rAng="0" ptsTypes="AA">
                                      <p:cBhvr>
                                        <p:cTn id="16" dur="1000" fill="hold"/>
                                        <p:tgtEl>
                                          <p:spTgt spid="152"/>
                                        </p:tgtEl>
                                        <p:attrNameLst>
                                          <p:attrName>ppt_x</p:attrName>
                                          <p:attrName>ppt_y</p:attrName>
                                        </p:attrNameLst>
                                      </p:cBhvr>
                                      <p:rCtr x="195" y="43310"/>
                                    </p:animMotion>
                                  </p:childTnLst>
                                </p:cTn>
                              </p:par>
                            </p:childTnLst>
                          </p:cTn>
                        </p:par>
                        <p:par>
                          <p:cTn id="17" fill="hold">
                            <p:stCondLst>
                              <p:cond delay="2250"/>
                            </p:stCondLst>
                            <p:childTnLst>
                              <p:par>
                                <p:cTn id="18" presetID="42" presetClass="path" presetSubtype="0" accel="50000" decel="50000" fill="hold" grpId="2" nodeType="afterEffect">
                                  <p:stCondLst>
                                    <p:cond delay="0"/>
                                  </p:stCondLst>
                                  <p:childTnLst>
                                    <p:animMotion origin="layout" path="M -0.00017 0.03588 L -0.00052 0.0669 " pathEditMode="relative" rAng="0" ptsTypes="AA">
                                      <p:cBhvr>
                                        <p:cTn id="19" dur="250" fill="hold"/>
                                        <p:tgtEl>
                                          <p:spTgt spid="153"/>
                                        </p:tgtEl>
                                        <p:attrNameLst>
                                          <p:attrName>ppt_x</p:attrName>
                                          <p:attrName>ppt_y</p:attrName>
                                        </p:attrNameLst>
                                      </p:cBhvr>
                                      <p:rCtr x="-17" y="1551"/>
                                    </p:animMotion>
                                  </p:childTnLst>
                                </p:cTn>
                              </p:par>
                              <p:par>
                                <p:cTn id="20" presetID="42" presetClass="path" presetSubtype="0" accel="50000" decel="50000" fill="hold" grpId="2" nodeType="withEffect">
                                  <p:stCondLst>
                                    <p:cond delay="0"/>
                                  </p:stCondLst>
                                  <p:childTnLst>
                                    <p:animMotion origin="layout" path="M -3.33333E-6 -2.22222E-6 L 0.00404 0.86621 " pathEditMode="relative" rAng="0" ptsTypes="AA">
                                      <p:cBhvr>
                                        <p:cTn id="21" dur="1000" fill="hold"/>
                                        <p:tgtEl>
                                          <p:spTgt spid="152"/>
                                        </p:tgtEl>
                                        <p:attrNameLst>
                                          <p:attrName>ppt_x</p:attrName>
                                          <p:attrName>ppt_y</p:attrName>
                                        </p:attrNameLst>
                                      </p:cBhvr>
                                      <p:rCtr x="195" y="43310"/>
                                    </p:animMotion>
                                  </p:childTnLst>
                                </p:cTn>
                              </p:par>
                            </p:childTnLst>
                          </p:cTn>
                        </p:par>
                        <p:par>
                          <p:cTn id="22" fill="hold">
                            <p:stCondLst>
                              <p:cond delay="3250"/>
                            </p:stCondLst>
                            <p:childTnLst>
                              <p:par>
                                <p:cTn id="23" presetID="42" presetClass="path" presetSubtype="0" accel="50000" decel="50000" fill="hold" grpId="3" nodeType="afterEffect">
                                  <p:stCondLst>
                                    <p:cond delay="0"/>
                                  </p:stCondLst>
                                  <p:childTnLst>
                                    <p:animMotion origin="layout" path="M -0.00052 0.0669 L -0.00052 0.09977 " pathEditMode="relative" rAng="0" ptsTypes="AA">
                                      <p:cBhvr>
                                        <p:cTn id="24" dur="250" fill="hold"/>
                                        <p:tgtEl>
                                          <p:spTgt spid="153"/>
                                        </p:tgtEl>
                                        <p:attrNameLst>
                                          <p:attrName>ppt_x</p:attrName>
                                          <p:attrName>ppt_y</p:attrName>
                                        </p:attrNameLst>
                                      </p:cBhvr>
                                      <p:rCtr x="0" y="1644"/>
                                    </p:animMotion>
                                  </p:childTnLst>
                                </p:cTn>
                              </p:par>
                              <p:par>
                                <p:cTn id="25" presetID="42" presetClass="path" presetSubtype="0" accel="50000" decel="50000" fill="hold" grpId="3" nodeType="withEffect">
                                  <p:stCondLst>
                                    <p:cond delay="0"/>
                                  </p:stCondLst>
                                  <p:childTnLst>
                                    <p:animMotion origin="layout" path="M -3.33333E-6 -2.22222E-6 L 0.00404 0.86621 " pathEditMode="relative" rAng="0" ptsTypes="AA">
                                      <p:cBhvr>
                                        <p:cTn id="26" dur="1000" fill="hold"/>
                                        <p:tgtEl>
                                          <p:spTgt spid="152"/>
                                        </p:tgtEl>
                                        <p:attrNameLst>
                                          <p:attrName>ppt_x</p:attrName>
                                          <p:attrName>ppt_y</p:attrName>
                                        </p:attrNameLst>
                                      </p:cBhvr>
                                      <p:rCtr x="195" y="43310"/>
                                    </p:animMotion>
                                  </p:childTnLst>
                                </p:cTn>
                              </p:par>
                            </p:childTnLst>
                          </p:cTn>
                        </p:par>
                        <p:par>
                          <p:cTn id="27" fill="hold">
                            <p:stCondLst>
                              <p:cond delay="4250"/>
                            </p:stCondLst>
                            <p:childTnLst>
                              <p:par>
                                <p:cTn id="28" presetID="42" presetClass="path" presetSubtype="0" accel="50000" decel="50000" fill="hold" grpId="4" nodeType="afterEffect">
                                  <p:stCondLst>
                                    <p:cond delay="0"/>
                                  </p:stCondLst>
                                  <p:childTnLst>
                                    <p:animMotion origin="layout" path="M -0.00052 0.09977 L -0.00017 0.13264 " pathEditMode="relative" rAng="0" ptsTypes="AA">
                                      <p:cBhvr>
                                        <p:cTn id="29" dur="250" fill="hold"/>
                                        <p:tgtEl>
                                          <p:spTgt spid="153"/>
                                        </p:tgtEl>
                                        <p:attrNameLst>
                                          <p:attrName>ppt_x</p:attrName>
                                          <p:attrName>ppt_y</p:attrName>
                                        </p:attrNameLst>
                                      </p:cBhvr>
                                      <p:rCtr x="17" y="1644"/>
                                    </p:animMotion>
                                  </p:childTnLst>
                                </p:cTn>
                              </p:par>
                            </p:childTnLst>
                          </p:cTn>
                        </p:par>
                        <p:par>
                          <p:cTn id="30" fill="hold">
                            <p:stCondLst>
                              <p:cond delay="4500"/>
                            </p:stCondLst>
                            <p:childTnLst>
                              <p:par>
                                <p:cTn id="31" presetID="42" presetClass="path" presetSubtype="0" accel="50000" decel="50000" fill="hold" grpId="5" nodeType="afterEffect">
                                  <p:stCondLst>
                                    <p:cond delay="0"/>
                                  </p:stCondLst>
                                  <p:childTnLst>
                                    <p:animMotion origin="layout" path="M -3.33333E-6 -2.22222E-6 L 0.00404 0.86621 " pathEditMode="relative" rAng="0" ptsTypes="AA">
                                      <p:cBhvr>
                                        <p:cTn id="32" dur="1000" fill="hold"/>
                                        <p:tgtEl>
                                          <p:spTgt spid="152"/>
                                        </p:tgtEl>
                                        <p:attrNameLst>
                                          <p:attrName>ppt_x</p:attrName>
                                          <p:attrName>ppt_y</p:attrName>
                                        </p:attrNameLst>
                                      </p:cBhvr>
                                      <p:rCtr x="195" y="43310"/>
                                    </p:animMotion>
                                  </p:childTnLst>
                                </p:cTn>
                              </p:par>
                            </p:childTnLst>
                          </p:cTn>
                        </p:par>
                        <p:par>
                          <p:cTn id="33" fill="hold">
                            <p:stCondLst>
                              <p:cond delay="5500"/>
                            </p:stCondLst>
                            <p:childTnLst>
                              <p:par>
                                <p:cTn id="34" presetID="42" presetClass="path" presetSubtype="0" accel="50000" decel="50000" fill="hold" grpId="5" nodeType="afterEffect">
                                  <p:stCondLst>
                                    <p:cond delay="0"/>
                                  </p:stCondLst>
                                  <p:childTnLst>
                                    <p:animMotion origin="layout" path="M -0.00017 0.13264 L -0.00017 0.16504 " pathEditMode="relative" rAng="0" ptsTypes="AA">
                                      <p:cBhvr>
                                        <p:cTn id="35" dur="250" fill="hold"/>
                                        <p:tgtEl>
                                          <p:spTgt spid="153"/>
                                        </p:tgtEl>
                                        <p:attrNameLst>
                                          <p:attrName>ppt_x</p:attrName>
                                          <p:attrName>ppt_y</p:attrName>
                                        </p:attrNameLst>
                                      </p:cBhvr>
                                      <p:rCtr x="0" y="1620"/>
                                    </p:animMotion>
                                  </p:childTnLst>
                                </p:cTn>
                              </p:par>
                            </p:childTnLst>
                          </p:cTn>
                        </p:par>
                        <p:par>
                          <p:cTn id="36" fill="hold">
                            <p:stCondLst>
                              <p:cond delay="5750"/>
                            </p:stCondLst>
                            <p:childTnLst>
                              <p:par>
                                <p:cTn id="37" presetID="42" presetClass="path" presetSubtype="0" accel="50000" decel="50000" fill="hold" grpId="6" nodeType="afterEffect">
                                  <p:stCondLst>
                                    <p:cond delay="0"/>
                                  </p:stCondLst>
                                  <p:childTnLst>
                                    <p:animMotion origin="layout" path="M -3.33333E-6 -2.22222E-6 L 0.00404 0.86621 " pathEditMode="relative" rAng="0" ptsTypes="AA">
                                      <p:cBhvr>
                                        <p:cTn id="38" dur="1000" fill="hold"/>
                                        <p:tgtEl>
                                          <p:spTgt spid="152"/>
                                        </p:tgtEl>
                                        <p:attrNameLst>
                                          <p:attrName>ppt_x</p:attrName>
                                          <p:attrName>ppt_y</p:attrName>
                                        </p:attrNameLst>
                                      </p:cBhvr>
                                      <p:rCtr x="195" y="43310"/>
                                    </p:animMotion>
                                  </p:childTnLst>
                                </p:cTn>
                              </p:par>
                            </p:childTnLst>
                          </p:cTn>
                        </p:par>
                        <p:par>
                          <p:cTn id="39" fill="hold">
                            <p:stCondLst>
                              <p:cond delay="6750"/>
                            </p:stCondLst>
                            <p:childTnLst>
                              <p:par>
                                <p:cTn id="40" presetID="42" presetClass="path" presetSubtype="0" accel="50000" decel="50000" fill="hold" grpId="6" nodeType="afterEffect">
                                  <p:stCondLst>
                                    <p:cond delay="0"/>
                                  </p:stCondLst>
                                  <p:childTnLst>
                                    <p:animMotion origin="layout" path="M -0.00017 0.16504 L -0.00017 0.19791 " pathEditMode="relative" rAng="0" ptsTypes="AA">
                                      <p:cBhvr>
                                        <p:cTn id="41" dur="250" fill="hold"/>
                                        <p:tgtEl>
                                          <p:spTgt spid="153"/>
                                        </p:tgtEl>
                                        <p:attrNameLst>
                                          <p:attrName>ppt_x</p:attrName>
                                          <p:attrName>ppt_y</p:attrName>
                                        </p:attrNameLst>
                                      </p:cBhvr>
                                      <p:rCtr x="0" y="1644"/>
                                    </p:animMotion>
                                  </p:childTnLst>
                                </p:cTn>
                              </p:par>
                            </p:childTnLst>
                          </p:cTn>
                        </p:par>
                        <p:par>
                          <p:cTn id="42" fill="hold">
                            <p:stCondLst>
                              <p:cond delay="7000"/>
                            </p:stCondLst>
                            <p:childTnLst>
                              <p:par>
                                <p:cTn id="43" presetID="42" presetClass="path" presetSubtype="0" accel="50000" decel="50000" fill="hold" grpId="7" nodeType="afterEffect">
                                  <p:stCondLst>
                                    <p:cond delay="0"/>
                                  </p:stCondLst>
                                  <p:childTnLst>
                                    <p:animMotion origin="layout" path="M -3.33333E-6 -2.22222E-6 L 0.00404 0.86621 " pathEditMode="relative" rAng="0" ptsTypes="AA">
                                      <p:cBhvr>
                                        <p:cTn id="44" dur="1000" fill="hold"/>
                                        <p:tgtEl>
                                          <p:spTgt spid="152"/>
                                        </p:tgtEl>
                                        <p:attrNameLst>
                                          <p:attrName>ppt_x</p:attrName>
                                          <p:attrName>ppt_y</p:attrName>
                                        </p:attrNameLst>
                                      </p:cBhvr>
                                      <p:rCtr x="195" y="43310"/>
                                    </p:animMotion>
                                  </p:childTnLst>
                                </p:cTn>
                              </p:par>
                            </p:childTnLst>
                          </p:cTn>
                        </p:par>
                        <p:par>
                          <p:cTn id="45" fill="hold">
                            <p:stCondLst>
                              <p:cond delay="8000"/>
                            </p:stCondLst>
                            <p:childTnLst>
                              <p:par>
                                <p:cTn id="46" presetID="42" presetClass="path" presetSubtype="0" accel="50000" decel="50000" fill="hold" grpId="7" nodeType="afterEffect">
                                  <p:stCondLst>
                                    <p:cond delay="0"/>
                                  </p:stCondLst>
                                  <p:childTnLst>
                                    <p:animMotion origin="layout" path="M -0.00017 0.19791 L -0.00017 0.23078 " pathEditMode="relative" rAng="0" ptsTypes="AA">
                                      <p:cBhvr>
                                        <p:cTn id="47" dur="250" fill="hold"/>
                                        <p:tgtEl>
                                          <p:spTgt spid="153"/>
                                        </p:tgtEl>
                                        <p:attrNameLst>
                                          <p:attrName>ppt_x</p:attrName>
                                          <p:attrName>ppt_y</p:attrName>
                                        </p:attrNameLst>
                                      </p:cBhvr>
                                      <p:rCtr x="0" y="1644"/>
                                    </p:animMotion>
                                  </p:childTnLst>
                                </p:cTn>
                              </p:par>
                            </p:childTnLst>
                          </p:cTn>
                        </p:par>
                        <p:par>
                          <p:cTn id="48" fill="hold">
                            <p:stCondLst>
                              <p:cond delay="8250"/>
                            </p:stCondLst>
                            <p:childTnLst>
                              <p:par>
                                <p:cTn id="49" presetID="42" presetClass="path" presetSubtype="0" accel="50000" decel="50000" fill="hold" grpId="8" nodeType="afterEffect">
                                  <p:stCondLst>
                                    <p:cond delay="50"/>
                                  </p:stCondLst>
                                  <p:childTnLst>
                                    <p:animMotion origin="layout" path="M -3.33333E-6 -2.22222E-6 L 0.00404 0.85718 " pathEditMode="relative" rAng="0" ptsTypes="AA">
                                      <p:cBhvr>
                                        <p:cTn id="50" dur="1000" fill="hold"/>
                                        <p:tgtEl>
                                          <p:spTgt spid="152"/>
                                        </p:tgtEl>
                                        <p:attrNameLst>
                                          <p:attrName>ppt_x</p:attrName>
                                          <p:attrName>ppt_y</p:attrName>
                                        </p:attrNameLst>
                                      </p:cBhvr>
                                      <p:rCtr x="195" y="42847"/>
                                    </p:animMotion>
                                  </p:childTnLst>
                                </p:cTn>
                              </p:par>
                            </p:childTnLst>
                          </p:cTn>
                        </p:par>
                        <p:par>
                          <p:cTn id="51" fill="hold">
                            <p:stCondLst>
                              <p:cond delay="9300"/>
                            </p:stCondLst>
                            <p:childTnLst>
                              <p:par>
                                <p:cTn id="52" presetID="42" presetClass="path" presetSubtype="0" accel="50000" decel="50000" fill="hold" grpId="8" nodeType="afterEffect">
                                  <p:stCondLst>
                                    <p:cond delay="0"/>
                                  </p:stCondLst>
                                  <p:childTnLst>
                                    <p:animMotion origin="layout" path="M -0.00017 0.23078 L 0.00017 0.2618 " pathEditMode="relative" rAng="0" ptsTypes="AA">
                                      <p:cBhvr>
                                        <p:cTn id="53" dur="250" fill="hold"/>
                                        <p:tgtEl>
                                          <p:spTgt spid="153"/>
                                        </p:tgtEl>
                                        <p:attrNameLst>
                                          <p:attrName>ppt_x</p:attrName>
                                          <p:attrName>ppt_y</p:attrName>
                                        </p:attrNameLst>
                                      </p:cBhvr>
                                      <p:rCtr x="17" y="1551"/>
                                    </p:animMotion>
                                  </p:childTnLst>
                                </p:cTn>
                              </p:par>
                            </p:childTnLst>
                          </p:cTn>
                        </p:par>
                        <p:par>
                          <p:cTn id="54" fill="hold">
                            <p:stCondLst>
                              <p:cond delay="9550"/>
                            </p:stCondLst>
                            <p:childTnLst>
                              <p:par>
                                <p:cTn id="55" presetID="42" presetClass="path" presetSubtype="0" accel="50000" decel="50000" fill="hold" grpId="9" nodeType="afterEffect">
                                  <p:stCondLst>
                                    <p:cond delay="0"/>
                                  </p:stCondLst>
                                  <p:childTnLst>
                                    <p:animMotion origin="layout" path="M -3.33333E-6 -2.22222E-6 L 0.00404 0.85718 " pathEditMode="relative" rAng="0" ptsTypes="AA">
                                      <p:cBhvr>
                                        <p:cTn id="56" dur="1000" fill="hold"/>
                                        <p:tgtEl>
                                          <p:spTgt spid="152"/>
                                        </p:tgtEl>
                                        <p:attrNameLst>
                                          <p:attrName>ppt_x</p:attrName>
                                          <p:attrName>ppt_y</p:attrName>
                                        </p:attrNameLst>
                                      </p:cBhvr>
                                      <p:rCtr x="195" y="42847"/>
                                    </p:animMotion>
                                  </p:childTnLst>
                                </p:cTn>
                              </p:par>
                            </p:childTnLst>
                          </p:cTn>
                        </p:par>
                        <p:par>
                          <p:cTn id="57" fill="hold">
                            <p:stCondLst>
                              <p:cond delay="10550"/>
                            </p:stCondLst>
                            <p:childTnLst>
                              <p:par>
                                <p:cTn id="58" presetID="42" presetClass="path" presetSubtype="0" accel="50000" decel="50000" fill="hold" grpId="9" nodeType="afterEffect">
                                  <p:stCondLst>
                                    <p:cond delay="0"/>
                                  </p:stCondLst>
                                  <p:childTnLst>
                                    <p:animMotion origin="layout" path="M 0.00017 0.2618 L 0.00017 0.29514 " pathEditMode="relative" rAng="0" ptsTypes="AA">
                                      <p:cBhvr>
                                        <p:cTn id="59" dur="250" fill="hold"/>
                                        <p:tgtEl>
                                          <p:spTgt spid="153"/>
                                        </p:tgtEl>
                                        <p:attrNameLst>
                                          <p:attrName>ppt_x</p:attrName>
                                          <p:attrName>ppt_y</p:attrName>
                                        </p:attrNameLst>
                                      </p:cBhvr>
                                      <p:rCtr x="0" y="1667"/>
                                    </p:animMotion>
                                  </p:childTnLst>
                                </p:cTn>
                              </p:par>
                            </p:childTnLst>
                          </p:cTn>
                        </p:par>
                        <p:par>
                          <p:cTn id="60" fill="hold">
                            <p:stCondLst>
                              <p:cond delay="10800"/>
                            </p:stCondLst>
                            <p:childTnLst>
                              <p:par>
                                <p:cTn id="61" presetID="42" presetClass="path" presetSubtype="0" accel="50000" decel="50000" fill="hold" grpId="10" nodeType="afterEffect">
                                  <p:stCondLst>
                                    <p:cond delay="0"/>
                                  </p:stCondLst>
                                  <p:childTnLst>
                                    <p:animMotion origin="layout" path="M -3.33333E-6 -2.22222E-6 L 0.00404 0.85718 " pathEditMode="relative" rAng="0" ptsTypes="AA">
                                      <p:cBhvr>
                                        <p:cTn id="62" dur="1000" fill="hold"/>
                                        <p:tgtEl>
                                          <p:spTgt spid="152"/>
                                        </p:tgtEl>
                                        <p:attrNameLst>
                                          <p:attrName>ppt_x</p:attrName>
                                          <p:attrName>ppt_y</p:attrName>
                                        </p:attrNameLst>
                                      </p:cBhvr>
                                      <p:rCtr x="195" y="42847"/>
                                    </p:animMotion>
                                  </p:childTnLst>
                                </p:cTn>
                              </p:par>
                            </p:childTnLst>
                          </p:cTn>
                        </p:par>
                        <p:par>
                          <p:cTn id="63" fill="hold">
                            <p:stCondLst>
                              <p:cond delay="11800"/>
                            </p:stCondLst>
                            <p:childTnLst>
                              <p:par>
                                <p:cTn id="64" presetID="42" presetClass="path" presetSubtype="0" accel="50000" decel="50000" fill="hold" grpId="10" nodeType="afterEffect">
                                  <p:stCondLst>
                                    <p:cond delay="0"/>
                                  </p:stCondLst>
                                  <p:childTnLst>
                                    <p:animMotion origin="layout" path="M 0.00017 0.29514 L 0.00087 0.32754 " pathEditMode="relative" rAng="0" ptsTypes="AA">
                                      <p:cBhvr>
                                        <p:cTn id="65" dur="250" fill="hold"/>
                                        <p:tgtEl>
                                          <p:spTgt spid="153"/>
                                        </p:tgtEl>
                                        <p:attrNameLst>
                                          <p:attrName>ppt_x</p:attrName>
                                          <p:attrName>ppt_y</p:attrName>
                                        </p:attrNameLst>
                                      </p:cBhvr>
                                      <p:rCtr x="35" y="1667"/>
                                    </p:animMotion>
                                  </p:childTnLst>
                                </p:cTn>
                              </p:par>
                            </p:childTnLst>
                          </p:cTn>
                        </p:par>
                        <p:par>
                          <p:cTn id="66" fill="hold">
                            <p:stCondLst>
                              <p:cond delay="12050"/>
                            </p:stCondLst>
                            <p:childTnLst>
                              <p:par>
                                <p:cTn id="67" presetID="42" presetClass="path" presetSubtype="0" accel="50000" decel="50000" fill="hold" grpId="11" nodeType="afterEffect">
                                  <p:stCondLst>
                                    <p:cond delay="0"/>
                                  </p:stCondLst>
                                  <p:childTnLst>
                                    <p:animMotion origin="layout" path="M -3.33333E-6 -2.22222E-6 L 0.00404 0.85718 " pathEditMode="relative" rAng="0" ptsTypes="AA">
                                      <p:cBhvr>
                                        <p:cTn id="68" dur="1000" fill="hold"/>
                                        <p:tgtEl>
                                          <p:spTgt spid="152"/>
                                        </p:tgtEl>
                                        <p:attrNameLst>
                                          <p:attrName>ppt_x</p:attrName>
                                          <p:attrName>ppt_y</p:attrName>
                                        </p:attrNameLst>
                                      </p:cBhvr>
                                      <p:rCtr x="195" y="42847"/>
                                    </p:animMotion>
                                  </p:childTnLst>
                                </p:cTn>
                              </p:par>
                            </p:childTnLst>
                          </p:cTn>
                        </p:par>
                        <p:par>
                          <p:cTn id="69" fill="hold">
                            <p:stCondLst>
                              <p:cond delay="13050"/>
                            </p:stCondLst>
                            <p:childTnLst>
                              <p:par>
                                <p:cTn id="70" presetID="42" presetClass="path" presetSubtype="0" accel="50000" decel="50000" fill="hold" grpId="11" nodeType="afterEffect">
                                  <p:stCondLst>
                                    <p:cond delay="0"/>
                                  </p:stCondLst>
                                  <p:childTnLst>
                                    <p:animMotion origin="layout" path="M 0.00087 0.32754 L 0.00122 0.36088 " pathEditMode="relative" rAng="0" ptsTypes="AA">
                                      <p:cBhvr>
                                        <p:cTn id="71" dur="250" fill="hold"/>
                                        <p:tgtEl>
                                          <p:spTgt spid="153"/>
                                        </p:tgtEl>
                                        <p:attrNameLst>
                                          <p:attrName>ppt_x</p:attrName>
                                          <p:attrName>ppt_y</p:attrName>
                                        </p:attrNameLst>
                                      </p:cBhvr>
                                      <p:rCtr x="17" y="1667"/>
                                    </p:animMotion>
                                  </p:childTnLst>
                                </p:cTn>
                              </p:par>
                            </p:childTnLst>
                          </p:cTn>
                        </p:par>
                        <p:par>
                          <p:cTn id="72" fill="hold">
                            <p:stCondLst>
                              <p:cond delay="13300"/>
                            </p:stCondLst>
                            <p:childTnLst>
                              <p:par>
                                <p:cTn id="73" presetID="42" presetClass="path" presetSubtype="0" accel="50000" decel="50000" fill="hold" grpId="12" nodeType="afterEffect">
                                  <p:stCondLst>
                                    <p:cond delay="0"/>
                                  </p:stCondLst>
                                  <p:childTnLst>
                                    <p:animMotion origin="layout" path="M -3.33333E-6 -2.22222E-6 L 0.00404 0.85625 " pathEditMode="relative" rAng="0" ptsTypes="AA">
                                      <p:cBhvr>
                                        <p:cTn id="74" dur="1000" fill="hold"/>
                                        <p:tgtEl>
                                          <p:spTgt spid="152"/>
                                        </p:tgtEl>
                                        <p:attrNameLst>
                                          <p:attrName>ppt_x</p:attrName>
                                          <p:attrName>ppt_y</p:attrName>
                                        </p:attrNameLst>
                                      </p:cBhvr>
                                      <p:rCtr x="195" y="42801"/>
                                    </p:animMotion>
                                  </p:childTnLst>
                                </p:cTn>
                              </p:par>
                            </p:childTnLst>
                          </p:cTn>
                        </p:par>
                        <p:par>
                          <p:cTn id="75" fill="hold">
                            <p:stCondLst>
                              <p:cond delay="14300"/>
                            </p:stCondLst>
                            <p:childTnLst>
                              <p:par>
                                <p:cTn id="76" presetID="42" presetClass="path" presetSubtype="0" accel="50000" decel="50000" fill="hold" grpId="12" nodeType="afterEffect">
                                  <p:stCondLst>
                                    <p:cond delay="0"/>
                                  </p:stCondLst>
                                  <p:childTnLst>
                                    <p:animMotion origin="layout" path="M 0.00122 0.36088 L 0.00087 0.39514 " pathEditMode="relative" rAng="0" ptsTypes="AA">
                                      <p:cBhvr>
                                        <p:cTn id="77" dur="250" fill="hold"/>
                                        <p:tgtEl>
                                          <p:spTgt spid="153"/>
                                        </p:tgtEl>
                                        <p:attrNameLst>
                                          <p:attrName>ppt_x</p:attrName>
                                          <p:attrName>ppt_y</p:attrName>
                                        </p:attrNameLst>
                                      </p:cBhvr>
                                      <p:rCtr x="-17" y="1713"/>
                                    </p:animMotion>
                                  </p:childTnLst>
                                </p:cTn>
                              </p:par>
                            </p:childTnLst>
                          </p:cTn>
                        </p:par>
                        <p:par>
                          <p:cTn id="78" fill="hold">
                            <p:stCondLst>
                              <p:cond delay="14550"/>
                            </p:stCondLst>
                            <p:childTnLst>
                              <p:par>
                                <p:cTn id="79" presetID="42" presetClass="path" presetSubtype="0" accel="50000" decel="50000" fill="hold" grpId="13" nodeType="afterEffect">
                                  <p:stCondLst>
                                    <p:cond delay="0"/>
                                  </p:stCondLst>
                                  <p:childTnLst>
                                    <p:animMotion origin="layout" path="M -3.33333E-6 -2.22222E-6 L 0.00404 0.85625 " pathEditMode="relative" rAng="0" ptsTypes="AA">
                                      <p:cBhvr>
                                        <p:cTn id="80" dur="1000" fill="hold"/>
                                        <p:tgtEl>
                                          <p:spTgt spid="152"/>
                                        </p:tgtEl>
                                        <p:attrNameLst>
                                          <p:attrName>ppt_x</p:attrName>
                                          <p:attrName>ppt_y</p:attrName>
                                        </p:attrNameLst>
                                      </p:cBhvr>
                                      <p:rCtr x="195" y="42801"/>
                                    </p:animMotion>
                                  </p:childTnLst>
                                </p:cTn>
                              </p:par>
                            </p:childTnLst>
                          </p:cTn>
                        </p:par>
                        <p:par>
                          <p:cTn id="81" fill="hold">
                            <p:stCondLst>
                              <p:cond delay="15550"/>
                            </p:stCondLst>
                            <p:childTnLst>
                              <p:par>
                                <p:cTn id="82" presetID="42" presetClass="path" presetSubtype="0" accel="50000" decel="50000" fill="hold" grpId="13" nodeType="afterEffect">
                                  <p:stCondLst>
                                    <p:cond delay="0"/>
                                  </p:stCondLst>
                                  <p:childTnLst>
                                    <p:animMotion origin="layout" path="M 0.00087 0.39514 L 0.00052 0.42569 " pathEditMode="relative" rAng="0" ptsTypes="AA">
                                      <p:cBhvr>
                                        <p:cTn id="83" dur="250" fill="hold"/>
                                        <p:tgtEl>
                                          <p:spTgt spid="153"/>
                                        </p:tgtEl>
                                        <p:attrNameLst>
                                          <p:attrName>ppt_x</p:attrName>
                                          <p:attrName>ppt_y</p:attrName>
                                        </p:attrNameLst>
                                      </p:cBhvr>
                                      <p:rCtr x="-17" y="1528"/>
                                    </p:animMotion>
                                  </p:childTnLst>
                                </p:cTn>
                              </p:par>
                            </p:childTnLst>
                          </p:cTn>
                        </p:par>
                        <p:par>
                          <p:cTn id="84" fill="hold">
                            <p:stCondLst>
                              <p:cond delay="15800"/>
                            </p:stCondLst>
                            <p:childTnLst>
                              <p:par>
                                <p:cTn id="85" presetID="42" presetClass="path" presetSubtype="0" accel="50000" decel="50000" fill="hold" grpId="14" nodeType="afterEffect">
                                  <p:stCondLst>
                                    <p:cond delay="0"/>
                                  </p:stCondLst>
                                  <p:childTnLst>
                                    <p:animMotion origin="layout" path="M -3.33333E-6 -2.22222E-6 L 0.00404 0.85648 " pathEditMode="relative" rAng="0" ptsTypes="AA">
                                      <p:cBhvr>
                                        <p:cTn id="86" dur="1000" fill="hold"/>
                                        <p:tgtEl>
                                          <p:spTgt spid="152"/>
                                        </p:tgtEl>
                                        <p:attrNameLst>
                                          <p:attrName>ppt_x</p:attrName>
                                          <p:attrName>ppt_y</p:attrName>
                                        </p:attrNameLst>
                                      </p:cBhvr>
                                      <p:rCtr x="195" y="42824"/>
                                    </p:animMotion>
                                  </p:childTnLst>
                                </p:cTn>
                              </p:par>
                            </p:childTnLst>
                          </p:cTn>
                        </p:par>
                        <p:par>
                          <p:cTn id="87" fill="hold">
                            <p:stCondLst>
                              <p:cond delay="16800"/>
                            </p:stCondLst>
                            <p:childTnLst>
                              <p:par>
                                <p:cTn id="88" presetID="42" presetClass="path" presetSubtype="0" accel="50000" decel="50000" fill="hold" grpId="14" nodeType="afterEffect">
                                  <p:stCondLst>
                                    <p:cond delay="0"/>
                                  </p:stCondLst>
                                  <p:childTnLst>
                                    <p:animMotion origin="layout" path="M 0.00052 0.42569 L 0.00052 0.45856 " pathEditMode="relative" rAng="0" ptsTypes="AA">
                                      <p:cBhvr>
                                        <p:cTn id="89" dur="250" fill="hold"/>
                                        <p:tgtEl>
                                          <p:spTgt spid="153"/>
                                        </p:tgtEl>
                                        <p:attrNameLst>
                                          <p:attrName>ppt_x</p:attrName>
                                          <p:attrName>ppt_y</p:attrName>
                                        </p:attrNameLst>
                                      </p:cBhvr>
                                      <p:rCtr x="0" y="1644"/>
                                    </p:animMotion>
                                  </p:childTnLst>
                                </p:cTn>
                              </p:par>
                            </p:childTnLst>
                          </p:cTn>
                        </p:par>
                        <p:par>
                          <p:cTn id="90" fill="hold">
                            <p:stCondLst>
                              <p:cond delay="17050"/>
                            </p:stCondLst>
                            <p:childTnLst>
                              <p:par>
                                <p:cTn id="91" presetID="42" presetClass="path" presetSubtype="0" accel="50000" decel="50000" fill="hold" grpId="15" nodeType="afterEffect">
                                  <p:stCondLst>
                                    <p:cond delay="0"/>
                                  </p:stCondLst>
                                  <p:childTnLst>
                                    <p:animMotion origin="layout" path="M -3.33333E-6 -2.22222E-6 L 0.00352 0.86412 " pathEditMode="relative" rAng="0" ptsTypes="AA">
                                      <p:cBhvr>
                                        <p:cTn id="92" dur="1000" fill="hold"/>
                                        <p:tgtEl>
                                          <p:spTgt spid="152"/>
                                        </p:tgtEl>
                                        <p:attrNameLst>
                                          <p:attrName>ppt_x</p:attrName>
                                          <p:attrName>ppt_y</p:attrName>
                                        </p:attrNameLst>
                                      </p:cBhvr>
                                      <p:rCtr x="169" y="43194"/>
                                    </p:animMotion>
                                  </p:childTnLst>
                                </p:cTn>
                              </p:par>
                            </p:childTnLst>
                          </p:cTn>
                        </p:par>
                        <p:par>
                          <p:cTn id="93" fill="hold">
                            <p:stCondLst>
                              <p:cond delay="18050"/>
                            </p:stCondLst>
                            <p:childTnLst>
                              <p:par>
                                <p:cTn id="94" presetID="1" presetClass="exit" presetSubtype="0" fill="hold" grpId="16" nodeType="afterEffect">
                                  <p:stCondLst>
                                    <p:cond delay="0"/>
                                  </p:stCondLst>
                                  <p:childTnLst>
                                    <p:set>
                                      <p:cBhvr>
                                        <p:cTn id="95" dur="1" fill="hold">
                                          <p:stCondLst>
                                            <p:cond delay="0"/>
                                          </p:stCondLst>
                                        </p:cTn>
                                        <p:tgtEl>
                                          <p:spTgt spid="152"/>
                                        </p:tgtEl>
                                        <p:attrNameLst>
                                          <p:attrName>style.visibility</p:attrName>
                                        </p:attrNameLst>
                                      </p:cBhvr>
                                      <p:to>
                                        <p:strVal val="hidden"/>
                                      </p:to>
                                    </p:set>
                                  </p:childTnLst>
                                </p:cTn>
                              </p:par>
                            </p:childTnLst>
                          </p:cTn>
                        </p:par>
                        <p:par>
                          <p:cTn id="96" fill="hold">
                            <p:stCondLst>
                              <p:cond delay="18050"/>
                            </p:stCondLst>
                            <p:childTnLst>
                              <p:par>
                                <p:cTn id="97" presetID="42" presetClass="path" presetSubtype="0" accel="50000" decel="50000" fill="hold" grpId="15" nodeType="afterEffect">
                                  <p:stCondLst>
                                    <p:cond delay="0"/>
                                  </p:stCondLst>
                                  <p:childTnLst>
                                    <p:animMotion origin="layout" path="M 0.00052 0.45856 L 0.00399 0.83541 " pathEditMode="relative" rAng="0" ptsTypes="AA">
                                      <p:cBhvr>
                                        <p:cTn id="98" dur="2000" fill="hold"/>
                                        <p:tgtEl>
                                          <p:spTgt spid="153"/>
                                        </p:tgtEl>
                                        <p:attrNameLst>
                                          <p:attrName>ppt_x</p:attrName>
                                          <p:attrName>ppt_y</p:attrName>
                                        </p:attrNameLst>
                                      </p:cBhvr>
                                      <p:rCtr x="174" y="18843"/>
                                    </p:animMotion>
                                  </p:childTnLst>
                                </p:cTn>
                              </p:par>
                              <p:par>
                                <p:cTn id="99" presetID="10" presetClass="exit" presetSubtype="0" fill="hold" grpId="16" nodeType="withEffect">
                                  <p:stCondLst>
                                    <p:cond delay="0"/>
                                  </p:stCondLst>
                                  <p:childTnLst>
                                    <p:animEffect transition="out" filter="fade">
                                      <p:cBhvr>
                                        <p:cTn id="100" dur="2000"/>
                                        <p:tgtEl>
                                          <p:spTgt spid="153"/>
                                        </p:tgtEl>
                                      </p:cBhvr>
                                    </p:animEffect>
                                    <p:set>
                                      <p:cBhvr>
                                        <p:cTn id="101" dur="1" fill="hold">
                                          <p:stCondLst>
                                            <p:cond delay="1999"/>
                                          </p:stCondLst>
                                        </p:cTn>
                                        <p:tgtEl>
                                          <p:spTgt spid="153"/>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21" presetClass="entr" presetSubtype="3" fill="hold" nodeType="clickEffect">
                                  <p:stCondLst>
                                    <p:cond delay="0"/>
                                  </p:stCondLst>
                                  <p:childTnLst>
                                    <p:set>
                                      <p:cBhvr>
                                        <p:cTn id="105" dur="1" fill="hold">
                                          <p:stCondLst>
                                            <p:cond delay="0"/>
                                          </p:stCondLst>
                                        </p:cTn>
                                        <p:tgtEl>
                                          <p:spTgt spid="314"/>
                                        </p:tgtEl>
                                        <p:attrNameLst>
                                          <p:attrName>style.visibility</p:attrName>
                                        </p:attrNameLst>
                                      </p:cBhvr>
                                      <p:to>
                                        <p:strVal val="visible"/>
                                      </p:to>
                                    </p:set>
                                    <p:animEffect transition="in" filter="wheel(3)">
                                      <p:cBhvr>
                                        <p:cTn id="106" dur="1000"/>
                                        <p:tgtEl>
                                          <p:spTgt spid="314"/>
                                        </p:tgtEl>
                                      </p:cBhvr>
                                    </p:animEffect>
                                  </p:childTnLst>
                                </p:cTn>
                              </p:par>
                              <p:par>
                                <p:cTn id="107" presetID="22" presetClass="entr" presetSubtype="1" fill="hold" grpId="0" nodeType="withEffect">
                                  <p:stCondLst>
                                    <p:cond delay="0"/>
                                  </p:stCondLst>
                                  <p:childTnLst>
                                    <p:set>
                                      <p:cBhvr>
                                        <p:cTn id="108" dur="1" fill="hold">
                                          <p:stCondLst>
                                            <p:cond delay="0"/>
                                          </p:stCondLst>
                                        </p:cTn>
                                        <p:tgtEl>
                                          <p:spTgt spid="211"/>
                                        </p:tgtEl>
                                        <p:attrNameLst>
                                          <p:attrName>style.visibility</p:attrName>
                                        </p:attrNameLst>
                                      </p:cBhvr>
                                      <p:to>
                                        <p:strVal val="visible"/>
                                      </p:to>
                                    </p:set>
                                    <p:animEffect transition="in" filter="wipe(up)">
                                      <p:cBhvr>
                                        <p:cTn id="109" dur="1000"/>
                                        <p:tgtEl>
                                          <p:spTgt spid="211"/>
                                        </p:tgtEl>
                                      </p:cBhvr>
                                    </p:animEffect>
                                  </p:childTnLst>
                                </p:cTn>
                              </p:par>
                              <p:par>
                                <p:cTn id="110" presetID="22" presetClass="entr" presetSubtype="1" fill="hold" nodeType="withEffect">
                                  <p:stCondLst>
                                    <p:cond delay="0"/>
                                  </p:stCondLst>
                                  <p:childTnLst>
                                    <p:set>
                                      <p:cBhvr>
                                        <p:cTn id="111" dur="1" fill="hold">
                                          <p:stCondLst>
                                            <p:cond delay="0"/>
                                          </p:stCondLst>
                                        </p:cTn>
                                        <p:tgtEl>
                                          <p:spTgt spid="207"/>
                                        </p:tgtEl>
                                        <p:attrNameLst>
                                          <p:attrName>style.visibility</p:attrName>
                                        </p:attrNameLst>
                                      </p:cBhvr>
                                      <p:to>
                                        <p:strVal val="visible"/>
                                      </p:to>
                                    </p:set>
                                    <p:animEffect transition="in" filter="wipe(up)">
                                      <p:cBhvr>
                                        <p:cTn id="112" dur="1000"/>
                                        <p:tgtEl>
                                          <p:spTgt spid="207"/>
                                        </p:tgtEl>
                                      </p:cBhvr>
                                    </p:animEffect>
                                  </p:childTnLst>
                                </p:cTn>
                              </p:par>
                            </p:childTnLst>
                          </p:cTn>
                        </p:par>
                        <p:par>
                          <p:cTn id="113" fill="hold">
                            <p:stCondLst>
                              <p:cond delay="1000"/>
                            </p:stCondLst>
                            <p:childTnLst>
                              <p:par>
                                <p:cTn id="114" presetID="10" presetClass="exit" presetSubtype="0" fill="hold" nodeType="afterEffect">
                                  <p:stCondLst>
                                    <p:cond delay="0"/>
                                  </p:stCondLst>
                                  <p:childTnLst>
                                    <p:animEffect transition="out" filter="fade">
                                      <p:cBhvr>
                                        <p:cTn id="115" dur="500"/>
                                        <p:tgtEl>
                                          <p:spTgt spid="314"/>
                                        </p:tgtEl>
                                      </p:cBhvr>
                                    </p:animEffect>
                                    <p:set>
                                      <p:cBhvr>
                                        <p:cTn id="116" dur="1" fill="hold">
                                          <p:stCondLst>
                                            <p:cond delay="499"/>
                                          </p:stCondLst>
                                        </p:cTn>
                                        <p:tgtEl>
                                          <p:spTgt spid="314"/>
                                        </p:tgtEl>
                                        <p:attrNameLst>
                                          <p:attrName>style.visibility</p:attrName>
                                        </p:attrNameLst>
                                      </p:cBhvr>
                                      <p:to>
                                        <p:strVal val="hidden"/>
                                      </p:to>
                                    </p:set>
                                  </p:childTnLst>
                                </p:cTn>
                              </p:par>
                              <p:par>
                                <p:cTn id="117" presetID="21" presetClass="entr" presetSubtype="3" fill="hold" nodeType="withEffect">
                                  <p:stCondLst>
                                    <p:cond delay="0"/>
                                  </p:stCondLst>
                                  <p:childTnLst>
                                    <p:set>
                                      <p:cBhvr>
                                        <p:cTn id="118" dur="1" fill="hold">
                                          <p:stCondLst>
                                            <p:cond delay="0"/>
                                          </p:stCondLst>
                                        </p:cTn>
                                        <p:tgtEl>
                                          <p:spTgt spid="322"/>
                                        </p:tgtEl>
                                        <p:attrNameLst>
                                          <p:attrName>style.visibility</p:attrName>
                                        </p:attrNameLst>
                                      </p:cBhvr>
                                      <p:to>
                                        <p:strVal val="visible"/>
                                      </p:to>
                                    </p:set>
                                    <p:animEffect transition="in" filter="wheel(3)">
                                      <p:cBhvr>
                                        <p:cTn id="119" dur="1000"/>
                                        <p:tgtEl>
                                          <p:spTgt spid="322"/>
                                        </p:tgtEl>
                                      </p:cBhvr>
                                    </p:animEffect>
                                  </p:childTnLst>
                                </p:cTn>
                              </p:par>
                              <p:par>
                                <p:cTn id="120" presetID="22" presetClass="entr" presetSubtype="1" fill="hold" nodeType="withEffect">
                                  <p:stCondLst>
                                    <p:cond delay="0"/>
                                  </p:stCondLst>
                                  <p:childTnLst>
                                    <p:set>
                                      <p:cBhvr>
                                        <p:cTn id="121" dur="1" fill="hold">
                                          <p:stCondLst>
                                            <p:cond delay="0"/>
                                          </p:stCondLst>
                                        </p:cTn>
                                        <p:tgtEl>
                                          <p:spTgt spid="212"/>
                                        </p:tgtEl>
                                        <p:attrNameLst>
                                          <p:attrName>style.visibility</p:attrName>
                                        </p:attrNameLst>
                                      </p:cBhvr>
                                      <p:to>
                                        <p:strVal val="visible"/>
                                      </p:to>
                                    </p:set>
                                    <p:animEffect transition="in" filter="wipe(up)">
                                      <p:cBhvr>
                                        <p:cTn id="122" dur="1000"/>
                                        <p:tgtEl>
                                          <p:spTgt spid="212"/>
                                        </p:tgtEl>
                                      </p:cBhvr>
                                    </p:animEffect>
                                  </p:childTnLst>
                                </p:cTn>
                              </p:par>
                              <p:par>
                                <p:cTn id="123" presetID="22" presetClass="entr" presetSubtype="1" fill="hold" grpId="0" nodeType="withEffect">
                                  <p:stCondLst>
                                    <p:cond delay="0"/>
                                  </p:stCondLst>
                                  <p:childTnLst>
                                    <p:set>
                                      <p:cBhvr>
                                        <p:cTn id="124" dur="1" fill="hold">
                                          <p:stCondLst>
                                            <p:cond delay="0"/>
                                          </p:stCondLst>
                                        </p:cTn>
                                        <p:tgtEl>
                                          <p:spTgt spid="221"/>
                                        </p:tgtEl>
                                        <p:attrNameLst>
                                          <p:attrName>style.visibility</p:attrName>
                                        </p:attrNameLst>
                                      </p:cBhvr>
                                      <p:to>
                                        <p:strVal val="visible"/>
                                      </p:to>
                                    </p:set>
                                    <p:animEffect transition="in" filter="wipe(up)">
                                      <p:cBhvr>
                                        <p:cTn id="125" dur="1000"/>
                                        <p:tgtEl>
                                          <p:spTgt spid="221"/>
                                        </p:tgtEl>
                                      </p:cBhvr>
                                    </p:animEffect>
                                  </p:childTnLst>
                                </p:cTn>
                              </p:par>
                            </p:childTnLst>
                          </p:cTn>
                        </p:par>
                        <p:par>
                          <p:cTn id="126" fill="hold">
                            <p:stCondLst>
                              <p:cond delay="2000"/>
                            </p:stCondLst>
                            <p:childTnLst>
                              <p:par>
                                <p:cTn id="127" presetID="10" presetClass="exit" presetSubtype="0" fill="hold" nodeType="afterEffect">
                                  <p:stCondLst>
                                    <p:cond delay="0"/>
                                  </p:stCondLst>
                                  <p:childTnLst>
                                    <p:animEffect transition="out" filter="fade">
                                      <p:cBhvr>
                                        <p:cTn id="128" dur="500"/>
                                        <p:tgtEl>
                                          <p:spTgt spid="322"/>
                                        </p:tgtEl>
                                      </p:cBhvr>
                                    </p:animEffect>
                                    <p:set>
                                      <p:cBhvr>
                                        <p:cTn id="129" dur="1" fill="hold">
                                          <p:stCondLst>
                                            <p:cond delay="499"/>
                                          </p:stCondLst>
                                        </p:cTn>
                                        <p:tgtEl>
                                          <p:spTgt spid="322"/>
                                        </p:tgtEl>
                                        <p:attrNameLst>
                                          <p:attrName>style.visibility</p:attrName>
                                        </p:attrNameLst>
                                      </p:cBhvr>
                                      <p:to>
                                        <p:strVal val="hidden"/>
                                      </p:to>
                                    </p:set>
                                  </p:childTnLst>
                                </p:cTn>
                              </p:par>
                              <p:par>
                                <p:cTn id="130" presetID="21" presetClass="entr" presetSubtype="3" fill="hold" nodeType="withEffect">
                                  <p:stCondLst>
                                    <p:cond delay="0"/>
                                  </p:stCondLst>
                                  <p:childTnLst>
                                    <p:set>
                                      <p:cBhvr>
                                        <p:cTn id="131" dur="1" fill="hold">
                                          <p:stCondLst>
                                            <p:cond delay="0"/>
                                          </p:stCondLst>
                                        </p:cTn>
                                        <p:tgtEl>
                                          <p:spTgt spid="278"/>
                                        </p:tgtEl>
                                        <p:attrNameLst>
                                          <p:attrName>style.visibility</p:attrName>
                                        </p:attrNameLst>
                                      </p:cBhvr>
                                      <p:to>
                                        <p:strVal val="visible"/>
                                      </p:to>
                                    </p:set>
                                    <p:animEffect transition="in" filter="wheel(3)">
                                      <p:cBhvr>
                                        <p:cTn id="132" dur="1000"/>
                                        <p:tgtEl>
                                          <p:spTgt spid="278"/>
                                        </p:tgtEl>
                                      </p:cBhvr>
                                    </p:animEffect>
                                  </p:childTnLst>
                                </p:cTn>
                              </p:par>
                              <p:par>
                                <p:cTn id="133" presetID="22" presetClass="entr" presetSubtype="1" fill="hold" nodeType="withEffect">
                                  <p:stCondLst>
                                    <p:cond delay="0"/>
                                  </p:stCondLst>
                                  <p:childTnLst>
                                    <p:set>
                                      <p:cBhvr>
                                        <p:cTn id="134" dur="1" fill="hold">
                                          <p:stCondLst>
                                            <p:cond delay="0"/>
                                          </p:stCondLst>
                                        </p:cTn>
                                        <p:tgtEl>
                                          <p:spTgt spid="222"/>
                                        </p:tgtEl>
                                        <p:attrNameLst>
                                          <p:attrName>style.visibility</p:attrName>
                                        </p:attrNameLst>
                                      </p:cBhvr>
                                      <p:to>
                                        <p:strVal val="visible"/>
                                      </p:to>
                                    </p:set>
                                    <p:animEffect transition="in" filter="wipe(up)">
                                      <p:cBhvr>
                                        <p:cTn id="135" dur="1000"/>
                                        <p:tgtEl>
                                          <p:spTgt spid="222"/>
                                        </p:tgtEl>
                                      </p:cBhvr>
                                    </p:animEffect>
                                  </p:childTnLst>
                                </p:cTn>
                              </p:par>
                              <p:par>
                                <p:cTn id="136" presetID="22" presetClass="entr" presetSubtype="1" fill="hold" nodeType="withEffect">
                                  <p:stCondLst>
                                    <p:cond delay="0"/>
                                  </p:stCondLst>
                                  <p:childTnLst>
                                    <p:set>
                                      <p:cBhvr>
                                        <p:cTn id="137" dur="1" fill="hold">
                                          <p:stCondLst>
                                            <p:cond delay="0"/>
                                          </p:stCondLst>
                                        </p:cTn>
                                        <p:tgtEl>
                                          <p:spTgt spid="229"/>
                                        </p:tgtEl>
                                        <p:attrNameLst>
                                          <p:attrName>style.visibility</p:attrName>
                                        </p:attrNameLst>
                                      </p:cBhvr>
                                      <p:to>
                                        <p:strVal val="visible"/>
                                      </p:to>
                                    </p:set>
                                    <p:animEffect transition="in" filter="wipe(up)">
                                      <p:cBhvr>
                                        <p:cTn id="138" dur="1000"/>
                                        <p:tgtEl>
                                          <p:spTgt spid="229"/>
                                        </p:tgtEl>
                                      </p:cBhvr>
                                    </p:animEffect>
                                  </p:childTnLst>
                                </p:cTn>
                              </p:par>
                            </p:childTnLst>
                          </p:cTn>
                        </p:par>
                        <p:par>
                          <p:cTn id="139" fill="hold">
                            <p:stCondLst>
                              <p:cond delay="3000"/>
                            </p:stCondLst>
                            <p:childTnLst>
                              <p:par>
                                <p:cTn id="140" presetID="10" presetClass="exit" presetSubtype="0" fill="hold" nodeType="afterEffect">
                                  <p:stCondLst>
                                    <p:cond delay="0"/>
                                  </p:stCondLst>
                                  <p:childTnLst>
                                    <p:animEffect transition="out" filter="fade">
                                      <p:cBhvr>
                                        <p:cTn id="141" dur="500"/>
                                        <p:tgtEl>
                                          <p:spTgt spid="278"/>
                                        </p:tgtEl>
                                      </p:cBhvr>
                                    </p:animEffect>
                                    <p:set>
                                      <p:cBhvr>
                                        <p:cTn id="142" dur="1" fill="hold">
                                          <p:stCondLst>
                                            <p:cond delay="499"/>
                                          </p:stCondLst>
                                        </p:cTn>
                                        <p:tgtEl>
                                          <p:spTgt spid="278"/>
                                        </p:tgtEl>
                                        <p:attrNameLst>
                                          <p:attrName>style.visibility</p:attrName>
                                        </p:attrNameLst>
                                      </p:cBhvr>
                                      <p:to>
                                        <p:strVal val="hidden"/>
                                      </p:to>
                                    </p:set>
                                  </p:childTnLst>
                                </p:cTn>
                              </p:par>
                              <p:par>
                                <p:cTn id="143" presetID="21" presetClass="entr" presetSubtype="3" fill="hold" nodeType="withEffect">
                                  <p:stCondLst>
                                    <p:cond delay="0"/>
                                  </p:stCondLst>
                                  <p:childTnLst>
                                    <p:set>
                                      <p:cBhvr>
                                        <p:cTn id="144" dur="1" fill="hold">
                                          <p:stCondLst>
                                            <p:cond delay="0"/>
                                          </p:stCondLst>
                                        </p:cTn>
                                        <p:tgtEl>
                                          <p:spTgt spid="299"/>
                                        </p:tgtEl>
                                        <p:attrNameLst>
                                          <p:attrName>style.visibility</p:attrName>
                                        </p:attrNameLst>
                                      </p:cBhvr>
                                      <p:to>
                                        <p:strVal val="visible"/>
                                      </p:to>
                                    </p:set>
                                    <p:animEffect transition="in" filter="wheel(3)">
                                      <p:cBhvr>
                                        <p:cTn id="145" dur="1000"/>
                                        <p:tgtEl>
                                          <p:spTgt spid="299"/>
                                        </p:tgtEl>
                                      </p:cBhvr>
                                    </p:animEffect>
                                  </p:childTnLst>
                                </p:cTn>
                              </p:par>
                              <p:par>
                                <p:cTn id="146" presetID="22" presetClass="entr" presetSubtype="1" fill="hold" nodeType="withEffect">
                                  <p:stCondLst>
                                    <p:cond delay="0"/>
                                  </p:stCondLst>
                                  <p:childTnLst>
                                    <p:set>
                                      <p:cBhvr>
                                        <p:cTn id="147" dur="1" fill="hold">
                                          <p:stCondLst>
                                            <p:cond delay="0"/>
                                          </p:stCondLst>
                                        </p:cTn>
                                        <p:tgtEl>
                                          <p:spTgt spid="256"/>
                                        </p:tgtEl>
                                        <p:attrNameLst>
                                          <p:attrName>style.visibility</p:attrName>
                                        </p:attrNameLst>
                                      </p:cBhvr>
                                      <p:to>
                                        <p:strVal val="visible"/>
                                      </p:to>
                                    </p:set>
                                    <p:animEffect transition="in" filter="wipe(up)">
                                      <p:cBhvr>
                                        <p:cTn id="148" dur="1000"/>
                                        <p:tgtEl>
                                          <p:spTgt spid="256"/>
                                        </p:tgtEl>
                                      </p:cBhvr>
                                    </p:animEffect>
                                  </p:childTnLst>
                                </p:cTn>
                              </p:par>
                              <p:par>
                                <p:cTn id="149" presetID="22" presetClass="entr" presetSubtype="1" fill="hold" nodeType="withEffect">
                                  <p:stCondLst>
                                    <p:cond delay="0"/>
                                  </p:stCondLst>
                                  <p:childTnLst>
                                    <p:set>
                                      <p:cBhvr>
                                        <p:cTn id="150" dur="1" fill="hold">
                                          <p:stCondLst>
                                            <p:cond delay="0"/>
                                          </p:stCondLst>
                                        </p:cTn>
                                        <p:tgtEl>
                                          <p:spTgt spid="252"/>
                                        </p:tgtEl>
                                        <p:attrNameLst>
                                          <p:attrName>style.visibility</p:attrName>
                                        </p:attrNameLst>
                                      </p:cBhvr>
                                      <p:to>
                                        <p:strVal val="visible"/>
                                      </p:to>
                                    </p:set>
                                    <p:animEffect transition="in" filter="wipe(up)">
                                      <p:cBhvr>
                                        <p:cTn id="151" dur="1000"/>
                                        <p:tgtEl>
                                          <p:spTgt spid="252"/>
                                        </p:tgtEl>
                                      </p:cBhvr>
                                    </p:animEffect>
                                  </p:childTnLst>
                                </p:cTn>
                              </p:par>
                            </p:childTnLst>
                          </p:cTn>
                        </p:par>
                        <p:par>
                          <p:cTn id="152" fill="hold">
                            <p:stCondLst>
                              <p:cond delay="4000"/>
                            </p:stCondLst>
                            <p:childTnLst>
                              <p:par>
                                <p:cTn id="153" presetID="10" presetClass="exit" presetSubtype="0" fill="hold" nodeType="afterEffect">
                                  <p:stCondLst>
                                    <p:cond delay="0"/>
                                  </p:stCondLst>
                                  <p:childTnLst>
                                    <p:animEffect transition="out" filter="fade">
                                      <p:cBhvr>
                                        <p:cTn id="154" dur="500"/>
                                        <p:tgtEl>
                                          <p:spTgt spid="299"/>
                                        </p:tgtEl>
                                      </p:cBhvr>
                                    </p:animEffect>
                                    <p:set>
                                      <p:cBhvr>
                                        <p:cTn id="155" dur="1" fill="hold">
                                          <p:stCondLst>
                                            <p:cond delay="499"/>
                                          </p:stCondLst>
                                        </p:cTn>
                                        <p:tgtEl>
                                          <p:spTgt spid="299"/>
                                        </p:tgtEl>
                                        <p:attrNameLst>
                                          <p:attrName>style.visibility</p:attrName>
                                        </p:attrNameLst>
                                      </p:cBhvr>
                                      <p:to>
                                        <p:strVal val="hidden"/>
                                      </p:to>
                                    </p:set>
                                  </p:childTnLst>
                                </p:cTn>
                              </p:par>
                              <p:par>
                                <p:cTn id="156" presetID="21" presetClass="entr" presetSubtype="3" fill="hold" nodeType="withEffect">
                                  <p:stCondLst>
                                    <p:cond delay="0"/>
                                  </p:stCondLst>
                                  <p:childTnLst>
                                    <p:set>
                                      <p:cBhvr>
                                        <p:cTn id="157" dur="1" fill="hold">
                                          <p:stCondLst>
                                            <p:cond delay="0"/>
                                          </p:stCondLst>
                                        </p:cTn>
                                        <p:tgtEl>
                                          <p:spTgt spid="267"/>
                                        </p:tgtEl>
                                        <p:attrNameLst>
                                          <p:attrName>style.visibility</p:attrName>
                                        </p:attrNameLst>
                                      </p:cBhvr>
                                      <p:to>
                                        <p:strVal val="visible"/>
                                      </p:to>
                                    </p:set>
                                    <p:animEffect transition="in" filter="wheel(3)">
                                      <p:cBhvr>
                                        <p:cTn id="158" dur="1000"/>
                                        <p:tgtEl>
                                          <p:spTgt spid="267"/>
                                        </p:tgtEl>
                                      </p:cBhvr>
                                    </p:animEffect>
                                  </p:childTnLst>
                                </p:cTn>
                              </p:par>
                              <p:par>
                                <p:cTn id="159" presetID="22" presetClass="entr" presetSubtype="1" fill="hold" nodeType="withEffect">
                                  <p:stCondLst>
                                    <p:cond delay="0"/>
                                  </p:stCondLst>
                                  <p:childTnLst>
                                    <p:set>
                                      <p:cBhvr>
                                        <p:cTn id="160" dur="1" fill="hold">
                                          <p:stCondLst>
                                            <p:cond delay="0"/>
                                          </p:stCondLst>
                                        </p:cTn>
                                        <p:tgtEl>
                                          <p:spTgt spid="243"/>
                                        </p:tgtEl>
                                        <p:attrNameLst>
                                          <p:attrName>style.visibility</p:attrName>
                                        </p:attrNameLst>
                                      </p:cBhvr>
                                      <p:to>
                                        <p:strVal val="visible"/>
                                      </p:to>
                                    </p:set>
                                    <p:animEffect transition="in" filter="wipe(up)">
                                      <p:cBhvr>
                                        <p:cTn id="161" dur="1000"/>
                                        <p:tgtEl>
                                          <p:spTgt spid="243"/>
                                        </p:tgtEl>
                                      </p:cBhvr>
                                    </p:animEffect>
                                  </p:childTnLst>
                                </p:cTn>
                              </p:par>
                              <p:par>
                                <p:cTn id="162" presetID="22" presetClass="entr" presetSubtype="1" fill="hold" nodeType="withEffect">
                                  <p:stCondLst>
                                    <p:cond delay="0"/>
                                  </p:stCondLst>
                                  <p:childTnLst>
                                    <p:set>
                                      <p:cBhvr>
                                        <p:cTn id="163" dur="1" fill="hold">
                                          <p:stCondLst>
                                            <p:cond delay="0"/>
                                          </p:stCondLst>
                                        </p:cTn>
                                        <p:tgtEl>
                                          <p:spTgt spid="235"/>
                                        </p:tgtEl>
                                        <p:attrNameLst>
                                          <p:attrName>style.visibility</p:attrName>
                                        </p:attrNameLst>
                                      </p:cBhvr>
                                      <p:to>
                                        <p:strVal val="visible"/>
                                      </p:to>
                                    </p:set>
                                    <p:animEffect transition="in" filter="wipe(up)">
                                      <p:cBhvr>
                                        <p:cTn id="164" dur="1000"/>
                                        <p:tgtEl>
                                          <p:spTgt spid="235"/>
                                        </p:tgtEl>
                                      </p:cBhvr>
                                    </p:animEffect>
                                  </p:childTnLst>
                                </p:cTn>
                              </p:par>
                            </p:childTnLst>
                          </p:cTn>
                        </p:par>
                        <p:par>
                          <p:cTn id="165" fill="hold">
                            <p:stCondLst>
                              <p:cond delay="5000"/>
                            </p:stCondLst>
                            <p:childTnLst>
                              <p:par>
                                <p:cTn id="166" presetID="10" presetClass="exit" presetSubtype="0" fill="hold" nodeType="afterEffect">
                                  <p:stCondLst>
                                    <p:cond delay="0"/>
                                  </p:stCondLst>
                                  <p:childTnLst>
                                    <p:animEffect transition="out" filter="fade">
                                      <p:cBhvr>
                                        <p:cTn id="167" dur="500"/>
                                        <p:tgtEl>
                                          <p:spTgt spid="267"/>
                                        </p:tgtEl>
                                      </p:cBhvr>
                                    </p:animEffect>
                                    <p:set>
                                      <p:cBhvr>
                                        <p:cTn id="168" dur="1" fill="hold">
                                          <p:stCondLst>
                                            <p:cond delay="499"/>
                                          </p:stCondLst>
                                        </p:cTn>
                                        <p:tgtEl>
                                          <p:spTgt spid="267"/>
                                        </p:tgtEl>
                                        <p:attrNameLst>
                                          <p:attrName>style.visibility</p:attrName>
                                        </p:attrNameLst>
                                      </p:cBhvr>
                                      <p:to>
                                        <p:strVal val="hidden"/>
                                      </p:to>
                                    </p:set>
                                  </p:childTnLst>
                                </p:cTn>
                              </p:par>
                            </p:childTnLst>
                          </p:cTn>
                        </p:par>
                        <p:par>
                          <p:cTn id="169" fill="hold">
                            <p:stCondLst>
                              <p:cond delay="5500"/>
                            </p:stCondLst>
                            <p:childTnLst>
                              <p:par>
                                <p:cTn id="170" presetID="10" presetClass="entr" presetSubtype="0" fill="hold" nodeType="afterEffect">
                                  <p:stCondLst>
                                    <p:cond delay="0"/>
                                  </p:stCondLst>
                                  <p:childTnLst>
                                    <p:set>
                                      <p:cBhvr>
                                        <p:cTn id="171" dur="1" fill="hold">
                                          <p:stCondLst>
                                            <p:cond delay="0"/>
                                          </p:stCondLst>
                                        </p:cTn>
                                        <p:tgtEl>
                                          <p:spTgt spid="278"/>
                                        </p:tgtEl>
                                        <p:attrNameLst>
                                          <p:attrName>style.visibility</p:attrName>
                                        </p:attrNameLst>
                                      </p:cBhvr>
                                      <p:to>
                                        <p:strVal val="visible"/>
                                      </p:to>
                                    </p:set>
                                    <p:animEffect transition="in" filter="fade">
                                      <p:cBhvr>
                                        <p:cTn id="172" dur="500"/>
                                        <p:tgtEl>
                                          <p:spTgt spid="278"/>
                                        </p:tgtEl>
                                      </p:cBhvr>
                                    </p:animEffect>
                                  </p:childTnLst>
                                </p:cTn>
                              </p:par>
                            </p:childTnLst>
                          </p:cTn>
                        </p:par>
                      </p:childTnLst>
                    </p:cTn>
                  </p:par>
                  <p:par>
                    <p:cTn id="173" fill="hold">
                      <p:stCondLst>
                        <p:cond delay="indefinite"/>
                      </p:stCondLst>
                      <p:childTnLst>
                        <p:par>
                          <p:cTn id="174" fill="hold">
                            <p:stCondLst>
                              <p:cond delay="0"/>
                            </p:stCondLst>
                            <p:childTnLst>
                              <p:par>
                                <p:cTn id="175" presetID="1" presetClass="entr" presetSubtype="0" fill="hold" grpId="0" nodeType="clickEffect">
                                  <p:stCondLst>
                                    <p:cond delay="0"/>
                                  </p:stCondLst>
                                  <p:childTnLst>
                                    <p:set>
                                      <p:cBhvr>
                                        <p:cTn id="176" dur="1" fill="hold">
                                          <p:stCondLst>
                                            <p:cond delay="0"/>
                                          </p:stCondLst>
                                        </p:cTn>
                                        <p:tgtEl>
                                          <p:spTgt spid="341"/>
                                        </p:tgtEl>
                                        <p:attrNameLst>
                                          <p:attrName>style.visibility</p:attrName>
                                        </p:attrNameLst>
                                      </p:cBhvr>
                                      <p:to>
                                        <p:strVal val="visible"/>
                                      </p:to>
                                    </p:set>
                                  </p:childTnLst>
                                </p:cTn>
                              </p:par>
                            </p:childTnLst>
                          </p:cTn>
                        </p:par>
                        <p:par>
                          <p:cTn id="177" fill="hold">
                            <p:stCondLst>
                              <p:cond delay="0"/>
                            </p:stCondLst>
                            <p:childTnLst>
                              <p:par>
                                <p:cTn id="178" presetID="1" presetClass="entr" presetSubtype="0" fill="hold" grpId="3" nodeType="afterEffect">
                                  <p:stCondLst>
                                    <p:cond delay="0"/>
                                  </p:stCondLst>
                                  <p:childTnLst>
                                    <p:set>
                                      <p:cBhvr>
                                        <p:cTn id="179" dur="1" fill="hold">
                                          <p:stCondLst>
                                            <p:cond delay="0"/>
                                          </p:stCondLst>
                                        </p:cTn>
                                        <p:tgtEl>
                                          <p:spTgt spid="342"/>
                                        </p:tgtEl>
                                        <p:attrNameLst>
                                          <p:attrName>style.visibility</p:attrName>
                                        </p:attrNameLst>
                                      </p:cBhvr>
                                      <p:to>
                                        <p:strVal val="visible"/>
                                      </p:to>
                                    </p:set>
                                  </p:childTnLst>
                                </p:cTn>
                              </p:par>
                            </p:childTnLst>
                          </p:cTn>
                        </p:par>
                        <p:par>
                          <p:cTn id="180" fill="hold">
                            <p:stCondLst>
                              <p:cond delay="0"/>
                            </p:stCondLst>
                            <p:childTnLst>
                              <p:par>
                                <p:cTn id="181" presetID="42" presetClass="path" presetSubtype="0" accel="50000" decel="50000" fill="hold" grpId="0" nodeType="afterEffect">
                                  <p:stCondLst>
                                    <p:cond delay="0"/>
                                  </p:stCondLst>
                                  <p:childTnLst>
                                    <p:animMotion origin="layout" path="M 0.00156 -4.07407E-6 L 0.00235 0.06644 " pathEditMode="relative" rAng="0" ptsTypes="AA">
                                      <p:cBhvr>
                                        <p:cTn id="182" dur="500" fill="hold"/>
                                        <p:tgtEl>
                                          <p:spTgt spid="342"/>
                                        </p:tgtEl>
                                        <p:attrNameLst>
                                          <p:attrName>ppt_x</p:attrName>
                                          <p:attrName>ppt_y</p:attrName>
                                        </p:attrNameLst>
                                      </p:cBhvr>
                                      <p:rCtr x="39" y="3310"/>
                                    </p:animMotion>
                                  </p:childTnLst>
                                </p:cTn>
                              </p:par>
                            </p:childTnLst>
                          </p:cTn>
                        </p:par>
                        <p:par>
                          <p:cTn id="183" fill="hold">
                            <p:stCondLst>
                              <p:cond delay="500"/>
                            </p:stCondLst>
                            <p:childTnLst>
                              <p:par>
                                <p:cTn id="184" presetID="42" presetClass="path" presetSubtype="0" accel="50000" decel="50000" fill="hold" grpId="1" nodeType="afterEffect">
                                  <p:stCondLst>
                                    <p:cond delay="0"/>
                                  </p:stCondLst>
                                  <p:childTnLst>
                                    <p:animMotion origin="layout" path="M 0.003 0.22894 L 0.00404 0.29283 " pathEditMode="relative" rAng="0" ptsTypes="AA">
                                      <p:cBhvr>
                                        <p:cTn id="185" dur="500" fill="hold"/>
                                        <p:tgtEl>
                                          <p:spTgt spid="342"/>
                                        </p:tgtEl>
                                        <p:attrNameLst>
                                          <p:attrName>ppt_x</p:attrName>
                                          <p:attrName>ppt_y</p:attrName>
                                        </p:attrNameLst>
                                      </p:cBhvr>
                                      <p:rCtr x="52" y="3194"/>
                                    </p:animMotion>
                                  </p:childTnLst>
                                </p:cTn>
                              </p:par>
                            </p:childTnLst>
                          </p:cTn>
                        </p:par>
                        <p:par>
                          <p:cTn id="186" fill="hold">
                            <p:stCondLst>
                              <p:cond delay="1000"/>
                            </p:stCondLst>
                            <p:childTnLst>
                              <p:par>
                                <p:cTn id="187" presetID="1" presetClass="exit" presetSubtype="0" fill="hold" grpId="2" nodeType="afterEffect">
                                  <p:stCondLst>
                                    <p:cond delay="0"/>
                                  </p:stCondLst>
                                  <p:childTnLst>
                                    <p:set>
                                      <p:cBhvr>
                                        <p:cTn id="188" dur="1" fill="hold">
                                          <p:stCondLst>
                                            <p:cond delay="0"/>
                                          </p:stCondLst>
                                        </p:cTn>
                                        <p:tgtEl>
                                          <p:spTgt spid="342"/>
                                        </p:tgtEl>
                                        <p:attrNameLst>
                                          <p:attrName>style.visibility</p:attrName>
                                        </p:attrNameLst>
                                      </p:cBhvr>
                                      <p:to>
                                        <p:strVal val="hidden"/>
                                      </p:to>
                                    </p:set>
                                  </p:childTnLst>
                                </p:cTn>
                              </p:par>
                            </p:childTnLst>
                          </p:cTn>
                        </p:par>
                        <p:par>
                          <p:cTn id="189" fill="hold">
                            <p:stCondLst>
                              <p:cond delay="1000"/>
                            </p:stCondLst>
                            <p:childTnLst>
                              <p:par>
                                <p:cTn id="190" presetID="42" presetClass="path" presetSubtype="0" accel="50000" decel="50000" fill="hold" grpId="4" nodeType="afterEffect">
                                  <p:stCondLst>
                                    <p:cond delay="0"/>
                                  </p:stCondLst>
                                  <p:childTnLst>
                                    <p:animMotion origin="layout" path="M 5.55556E-7 3.7037E-6 L -0.00017 0.13263 " pathEditMode="relative" rAng="0" ptsTypes="AA">
                                      <p:cBhvr>
                                        <p:cTn id="191" dur="10" fill="hold"/>
                                        <p:tgtEl>
                                          <p:spTgt spid="341"/>
                                        </p:tgtEl>
                                        <p:attrNameLst>
                                          <p:attrName>ppt_x</p:attrName>
                                          <p:attrName>ppt_y</p:attrName>
                                        </p:attrNameLst>
                                      </p:cBhvr>
                                      <p:rCtr x="17" y="6690"/>
                                    </p:animMotion>
                                  </p:childTnLst>
                                </p:cTn>
                              </p:par>
                            </p:childTnLst>
                          </p:cTn>
                        </p:par>
                        <p:par>
                          <p:cTn id="192" fill="hold">
                            <p:stCondLst>
                              <p:cond delay="1010"/>
                            </p:stCondLst>
                            <p:childTnLst>
                              <p:par>
                                <p:cTn id="193" presetID="1" presetClass="entr" presetSubtype="0" fill="hold" grpId="3" nodeType="afterEffect">
                                  <p:stCondLst>
                                    <p:cond delay="0"/>
                                  </p:stCondLst>
                                  <p:childTnLst>
                                    <p:set>
                                      <p:cBhvr>
                                        <p:cTn id="194" dur="1" fill="hold">
                                          <p:stCondLst>
                                            <p:cond delay="0"/>
                                          </p:stCondLst>
                                        </p:cTn>
                                        <p:tgtEl>
                                          <p:spTgt spid="343"/>
                                        </p:tgtEl>
                                        <p:attrNameLst>
                                          <p:attrName>style.visibility</p:attrName>
                                        </p:attrNameLst>
                                      </p:cBhvr>
                                      <p:to>
                                        <p:strVal val="visible"/>
                                      </p:to>
                                    </p:set>
                                  </p:childTnLst>
                                </p:cTn>
                              </p:par>
                            </p:childTnLst>
                          </p:cTn>
                        </p:par>
                        <p:par>
                          <p:cTn id="195" fill="hold">
                            <p:stCondLst>
                              <p:cond delay="1010"/>
                            </p:stCondLst>
                            <p:childTnLst>
                              <p:par>
                                <p:cTn id="196" presetID="42" presetClass="path" presetSubtype="0" accel="50000" decel="50000" fill="hold" grpId="0" nodeType="afterEffect">
                                  <p:stCondLst>
                                    <p:cond delay="0"/>
                                  </p:stCondLst>
                                  <p:childTnLst>
                                    <p:animMotion origin="layout" path="M 0.00156 3.33333E-6 L 0.00235 0.06643 " pathEditMode="relative" rAng="0" ptsTypes="AA">
                                      <p:cBhvr>
                                        <p:cTn id="197" dur="500" fill="hold"/>
                                        <p:tgtEl>
                                          <p:spTgt spid="343"/>
                                        </p:tgtEl>
                                        <p:attrNameLst>
                                          <p:attrName>ppt_x</p:attrName>
                                          <p:attrName>ppt_y</p:attrName>
                                        </p:attrNameLst>
                                      </p:cBhvr>
                                      <p:rCtr x="39" y="3310"/>
                                    </p:animMotion>
                                  </p:childTnLst>
                                </p:cTn>
                              </p:par>
                            </p:childTnLst>
                          </p:cTn>
                        </p:par>
                        <p:par>
                          <p:cTn id="198" fill="hold">
                            <p:stCondLst>
                              <p:cond delay="1510"/>
                            </p:stCondLst>
                            <p:childTnLst>
                              <p:par>
                                <p:cTn id="199" presetID="42" presetClass="path" presetSubtype="0" accel="50000" decel="50000" fill="hold" grpId="1" nodeType="afterEffect">
                                  <p:stCondLst>
                                    <p:cond delay="0"/>
                                  </p:stCondLst>
                                  <p:childTnLst>
                                    <p:animMotion origin="layout" path="M 0.00352 0.22893 L 0.00456 0.29282 " pathEditMode="relative" rAng="0" ptsTypes="AA">
                                      <p:cBhvr>
                                        <p:cTn id="200" dur="500" fill="hold"/>
                                        <p:tgtEl>
                                          <p:spTgt spid="343"/>
                                        </p:tgtEl>
                                        <p:attrNameLst>
                                          <p:attrName>ppt_x</p:attrName>
                                          <p:attrName>ppt_y</p:attrName>
                                        </p:attrNameLst>
                                      </p:cBhvr>
                                      <p:rCtr x="52" y="3194"/>
                                    </p:animMotion>
                                  </p:childTnLst>
                                </p:cTn>
                              </p:par>
                            </p:childTnLst>
                          </p:cTn>
                        </p:par>
                        <p:par>
                          <p:cTn id="201" fill="hold">
                            <p:stCondLst>
                              <p:cond delay="2010"/>
                            </p:stCondLst>
                            <p:childTnLst>
                              <p:par>
                                <p:cTn id="202" presetID="1" presetClass="exit" presetSubtype="0" fill="hold" grpId="2" nodeType="afterEffect">
                                  <p:stCondLst>
                                    <p:cond delay="0"/>
                                  </p:stCondLst>
                                  <p:childTnLst>
                                    <p:set>
                                      <p:cBhvr>
                                        <p:cTn id="203" dur="1" fill="hold">
                                          <p:stCondLst>
                                            <p:cond delay="0"/>
                                          </p:stCondLst>
                                        </p:cTn>
                                        <p:tgtEl>
                                          <p:spTgt spid="343"/>
                                        </p:tgtEl>
                                        <p:attrNameLst>
                                          <p:attrName>style.visibility</p:attrName>
                                        </p:attrNameLst>
                                      </p:cBhvr>
                                      <p:to>
                                        <p:strVal val="hidden"/>
                                      </p:to>
                                    </p:set>
                                  </p:childTnLst>
                                </p:cTn>
                              </p:par>
                            </p:childTnLst>
                          </p:cTn>
                        </p:par>
                        <p:par>
                          <p:cTn id="204" fill="hold">
                            <p:stCondLst>
                              <p:cond delay="2010"/>
                            </p:stCondLst>
                            <p:childTnLst>
                              <p:par>
                                <p:cTn id="205" presetID="42" presetClass="path" presetSubtype="0" accel="50000" decel="50000" fill="hold" grpId="1" nodeType="afterEffect">
                                  <p:stCondLst>
                                    <p:cond delay="0"/>
                                  </p:stCondLst>
                                  <p:childTnLst>
                                    <p:animMotion origin="layout" path="M -0.00017 0.13264 L -0.00017 0.16504 " pathEditMode="relative" rAng="0" ptsTypes="AA">
                                      <p:cBhvr>
                                        <p:cTn id="206" dur="250" fill="hold"/>
                                        <p:tgtEl>
                                          <p:spTgt spid="341"/>
                                        </p:tgtEl>
                                        <p:attrNameLst>
                                          <p:attrName>ppt_x</p:attrName>
                                          <p:attrName>ppt_y</p:attrName>
                                        </p:attrNameLst>
                                      </p:cBhvr>
                                      <p:rCtr x="0" y="1620"/>
                                    </p:animMotion>
                                  </p:childTnLst>
                                </p:cTn>
                              </p:par>
                            </p:childTnLst>
                          </p:cTn>
                        </p:par>
                        <p:par>
                          <p:cTn id="207" fill="hold">
                            <p:stCondLst>
                              <p:cond delay="2260"/>
                            </p:stCondLst>
                            <p:childTnLst>
                              <p:par>
                                <p:cTn id="208" presetID="1" presetClass="entr" presetSubtype="0" fill="hold" grpId="3" nodeType="afterEffect">
                                  <p:stCondLst>
                                    <p:cond delay="0"/>
                                  </p:stCondLst>
                                  <p:childTnLst>
                                    <p:set>
                                      <p:cBhvr>
                                        <p:cTn id="209" dur="1" fill="hold">
                                          <p:stCondLst>
                                            <p:cond delay="0"/>
                                          </p:stCondLst>
                                        </p:cTn>
                                        <p:tgtEl>
                                          <p:spTgt spid="344"/>
                                        </p:tgtEl>
                                        <p:attrNameLst>
                                          <p:attrName>style.visibility</p:attrName>
                                        </p:attrNameLst>
                                      </p:cBhvr>
                                      <p:to>
                                        <p:strVal val="visible"/>
                                      </p:to>
                                    </p:set>
                                  </p:childTnLst>
                                </p:cTn>
                              </p:par>
                            </p:childTnLst>
                          </p:cTn>
                        </p:par>
                        <p:par>
                          <p:cTn id="210" fill="hold">
                            <p:stCondLst>
                              <p:cond delay="2260"/>
                            </p:stCondLst>
                            <p:childTnLst>
                              <p:par>
                                <p:cTn id="211" presetID="42" presetClass="path" presetSubtype="0" accel="50000" decel="50000" fill="hold" grpId="0" nodeType="afterEffect">
                                  <p:stCondLst>
                                    <p:cond delay="0"/>
                                  </p:stCondLst>
                                  <p:childTnLst>
                                    <p:animMotion origin="layout" path="M 0.00261 3.33333E-6 L 0.00352 0.06643 " pathEditMode="relative" rAng="0" ptsTypes="AA">
                                      <p:cBhvr>
                                        <p:cTn id="212" dur="500" fill="hold"/>
                                        <p:tgtEl>
                                          <p:spTgt spid="344"/>
                                        </p:tgtEl>
                                        <p:attrNameLst>
                                          <p:attrName>ppt_x</p:attrName>
                                          <p:attrName>ppt_y</p:attrName>
                                        </p:attrNameLst>
                                      </p:cBhvr>
                                      <p:rCtr x="39" y="3310"/>
                                    </p:animMotion>
                                  </p:childTnLst>
                                </p:cTn>
                              </p:par>
                            </p:childTnLst>
                          </p:cTn>
                        </p:par>
                        <p:par>
                          <p:cTn id="213" fill="hold">
                            <p:stCondLst>
                              <p:cond delay="2760"/>
                            </p:stCondLst>
                            <p:childTnLst>
                              <p:par>
                                <p:cTn id="214" presetID="42" presetClass="path" presetSubtype="0" accel="50000" decel="50000" fill="hold" grpId="1" nodeType="afterEffect">
                                  <p:stCondLst>
                                    <p:cond delay="0"/>
                                  </p:stCondLst>
                                  <p:childTnLst>
                                    <p:animMotion origin="layout" path="M 0.00404 0.22893 L 0.00443 0.29328 " pathEditMode="relative" rAng="0" ptsTypes="AA">
                                      <p:cBhvr>
                                        <p:cTn id="215" dur="500" fill="hold"/>
                                        <p:tgtEl>
                                          <p:spTgt spid="344"/>
                                        </p:tgtEl>
                                        <p:attrNameLst>
                                          <p:attrName>ppt_x</p:attrName>
                                          <p:attrName>ppt_y</p:attrName>
                                        </p:attrNameLst>
                                      </p:cBhvr>
                                      <p:rCtr x="13" y="3218"/>
                                    </p:animMotion>
                                  </p:childTnLst>
                                </p:cTn>
                              </p:par>
                            </p:childTnLst>
                          </p:cTn>
                        </p:par>
                        <p:par>
                          <p:cTn id="216" fill="hold">
                            <p:stCondLst>
                              <p:cond delay="3260"/>
                            </p:stCondLst>
                            <p:childTnLst>
                              <p:par>
                                <p:cTn id="217" presetID="1" presetClass="exit" presetSubtype="0" fill="hold" grpId="2" nodeType="afterEffect">
                                  <p:stCondLst>
                                    <p:cond delay="0"/>
                                  </p:stCondLst>
                                  <p:childTnLst>
                                    <p:set>
                                      <p:cBhvr>
                                        <p:cTn id="218" dur="1" fill="hold">
                                          <p:stCondLst>
                                            <p:cond delay="0"/>
                                          </p:stCondLst>
                                        </p:cTn>
                                        <p:tgtEl>
                                          <p:spTgt spid="344"/>
                                        </p:tgtEl>
                                        <p:attrNameLst>
                                          <p:attrName>style.visibility</p:attrName>
                                        </p:attrNameLst>
                                      </p:cBhvr>
                                      <p:to>
                                        <p:strVal val="hidden"/>
                                      </p:to>
                                    </p:set>
                                  </p:childTnLst>
                                </p:cTn>
                              </p:par>
                            </p:childTnLst>
                          </p:cTn>
                        </p:par>
                        <p:par>
                          <p:cTn id="219" fill="hold">
                            <p:stCondLst>
                              <p:cond delay="3260"/>
                            </p:stCondLst>
                            <p:childTnLst>
                              <p:par>
                                <p:cTn id="220" presetID="42" presetClass="path" presetSubtype="0" accel="50000" decel="50000" fill="hold" grpId="2" nodeType="afterEffect">
                                  <p:stCondLst>
                                    <p:cond delay="0"/>
                                  </p:stCondLst>
                                  <p:childTnLst>
                                    <p:animMotion origin="layout" path="M -0.00017 0.16504 L -0.00017 0.19791 " pathEditMode="relative" rAng="0" ptsTypes="AA">
                                      <p:cBhvr>
                                        <p:cTn id="221" dur="250" fill="hold"/>
                                        <p:tgtEl>
                                          <p:spTgt spid="341"/>
                                        </p:tgtEl>
                                        <p:attrNameLst>
                                          <p:attrName>ppt_x</p:attrName>
                                          <p:attrName>ppt_y</p:attrName>
                                        </p:attrNameLst>
                                      </p:cBhvr>
                                      <p:rCtr x="0" y="1644"/>
                                    </p:animMotion>
                                  </p:childTnLst>
                                </p:cTn>
                              </p:par>
                            </p:childTnLst>
                          </p:cTn>
                        </p:par>
                        <p:par>
                          <p:cTn id="222" fill="hold">
                            <p:stCondLst>
                              <p:cond delay="3510"/>
                            </p:stCondLst>
                            <p:childTnLst>
                              <p:par>
                                <p:cTn id="223" presetID="1" presetClass="entr" presetSubtype="0" fill="hold" grpId="3" nodeType="afterEffect">
                                  <p:stCondLst>
                                    <p:cond delay="0"/>
                                  </p:stCondLst>
                                  <p:childTnLst>
                                    <p:set>
                                      <p:cBhvr>
                                        <p:cTn id="224" dur="1" fill="hold">
                                          <p:stCondLst>
                                            <p:cond delay="0"/>
                                          </p:stCondLst>
                                        </p:cTn>
                                        <p:tgtEl>
                                          <p:spTgt spid="345"/>
                                        </p:tgtEl>
                                        <p:attrNameLst>
                                          <p:attrName>style.visibility</p:attrName>
                                        </p:attrNameLst>
                                      </p:cBhvr>
                                      <p:to>
                                        <p:strVal val="visible"/>
                                      </p:to>
                                    </p:set>
                                  </p:childTnLst>
                                </p:cTn>
                              </p:par>
                            </p:childTnLst>
                          </p:cTn>
                        </p:par>
                        <p:par>
                          <p:cTn id="225" fill="hold">
                            <p:stCondLst>
                              <p:cond delay="3510"/>
                            </p:stCondLst>
                            <p:childTnLst>
                              <p:par>
                                <p:cTn id="226" presetID="42" presetClass="path" presetSubtype="0" accel="50000" decel="50000" fill="hold" grpId="0" nodeType="afterEffect">
                                  <p:stCondLst>
                                    <p:cond delay="0"/>
                                  </p:stCondLst>
                                  <p:childTnLst>
                                    <p:animMotion origin="layout" path="M 5E-6 -7.40741E-7 L 0.00092 0.06644 " pathEditMode="relative" rAng="0" ptsTypes="AA">
                                      <p:cBhvr>
                                        <p:cTn id="227" dur="500" fill="hold"/>
                                        <p:tgtEl>
                                          <p:spTgt spid="345"/>
                                        </p:tgtEl>
                                        <p:attrNameLst>
                                          <p:attrName>ppt_x</p:attrName>
                                          <p:attrName>ppt_y</p:attrName>
                                        </p:attrNameLst>
                                      </p:cBhvr>
                                      <p:rCtr x="39" y="3310"/>
                                    </p:animMotion>
                                  </p:childTnLst>
                                </p:cTn>
                              </p:par>
                            </p:childTnLst>
                          </p:cTn>
                        </p:par>
                        <p:par>
                          <p:cTn id="228" fill="hold">
                            <p:stCondLst>
                              <p:cond delay="4010"/>
                            </p:stCondLst>
                            <p:childTnLst>
                              <p:par>
                                <p:cTn id="229" presetID="42" presetClass="path" presetSubtype="0" accel="50000" decel="50000" fill="hold" grpId="1" nodeType="afterEffect">
                                  <p:stCondLst>
                                    <p:cond delay="0"/>
                                  </p:stCondLst>
                                  <p:childTnLst>
                                    <p:animMotion origin="layout" path="M 0.0017 0.22894 L 0.00196 0.29329 " pathEditMode="relative" rAng="0" ptsTypes="AA">
                                      <p:cBhvr>
                                        <p:cTn id="230" dur="500" fill="hold"/>
                                        <p:tgtEl>
                                          <p:spTgt spid="345"/>
                                        </p:tgtEl>
                                        <p:attrNameLst>
                                          <p:attrName>ppt_x</p:attrName>
                                          <p:attrName>ppt_y</p:attrName>
                                        </p:attrNameLst>
                                      </p:cBhvr>
                                      <p:rCtr x="13" y="3218"/>
                                    </p:animMotion>
                                  </p:childTnLst>
                                </p:cTn>
                              </p:par>
                            </p:childTnLst>
                          </p:cTn>
                        </p:par>
                        <p:par>
                          <p:cTn id="231" fill="hold">
                            <p:stCondLst>
                              <p:cond delay="4510"/>
                            </p:stCondLst>
                            <p:childTnLst>
                              <p:par>
                                <p:cTn id="232" presetID="1" presetClass="exit" presetSubtype="0" fill="hold" grpId="2" nodeType="afterEffect">
                                  <p:stCondLst>
                                    <p:cond delay="0"/>
                                  </p:stCondLst>
                                  <p:childTnLst>
                                    <p:set>
                                      <p:cBhvr>
                                        <p:cTn id="233" dur="1" fill="hold">
                                          <p:stCondLst>
                                            <p:cond delay="0"/>
                                          </p:stCondLst>
                                        </p:cTn>
                                        <p:tgtEl>
                                          <p:spTgt spid="345"/>
                                        </p:tgtEl>
                                        <p:attrNameLst>
                                          <p:attrName>style.visibility</p:attrName>
                                        </p:attrNameLst>
                                      </p:cBhvr>
                                      <p:to>
                                        <p:strVal val="hidden"/>
                                      </p:to>
                                    </p:set>
                                  </p:childTnLst>
                                </p:cTn>
                              </p:par>
                            </p:childTnLst>
                          </p:cTn>
                        </p:par>
                        <p:par>
                          <p:cTn id="234" fill="hold">
                            <p:stCondLst>
                              <p:cond delay="4510"/>
                            </p:stCondLst>
                            <p:childTnLst>
                              <p:par>
                                <p:cTn id="235" presetID="42" presetClass="path" presetSubtype="0" accel="50000" decel="50000" fill="hold" grpId="3" nodeType="afterEffect">
                                  <p:stCondLst>
                                    <p:cond delay="0"/>
                                  </p:stCondLst>
                                  <p:childTnLst>
                                    <p:animMotion origin="layout" path="M -0.00017 0.19791 L -0.00017 0.23078 " pathEditMode="relative" rAng="0" ptsTypes="AA">
                                      <p:cBhvr>
                                        <p:cTn id="236" dur="250" fill="hold"/>
                                        <p:tgtEl>
                                          <p:spTgt spid="341"/>
                                        </p:tgtEl>
                                        <p:attrNameLst>
                                          <p:attrName>ppt_x</p:attrName>
                                          <p:attrName>ppt_y</p:attrName>
                                        </p:attrNameLst>
                                      </p:cBhvr>
                                      <p:rCtr x="0" y="1644"/>
                                    </p:animMotion>
                                  </p:childTnLst>
                                </p:cTn>
                              </p:par>
                            </p:childTnLst>
                          </p:cTn>
                        </p:par>
                        <p:par>
                          <p:cTn id="237" fill="hold">
                            <p:stCondLst>
                              <p:cond delay="4760"/>
                            </p:stCondLst>
                            <p:childTnLst>
                              <p:par>
                                <p:cTn id="238" presetID="1" presetClass="entr" presetSubtype="0" fill="hold" grpId="3" nodeType="afterEffect">
                                  <p:stCondLst>
                                    <p:cond delay="0"/>
                                  </p:stCondLst>
                                  <p:childTnLst>
                                    <p:set>
                                      <p:cBhvr>
                                        <p:cTn id="239" dur="1" fill="hold">
                                          <p:stCondLst>
                                            <p:cond delay="0"/>
                                          </p:stCondLst>
                                        </p:cTn>
                                        <p:tgtEl>
                                          <p:spTgt spid="346"/>
                                        </p:tgtEl>
                                        <p:attrNameLst>
                                          <p:attrName>style.visibility</p:attrName>
                                        </p:attrNameLst>
                                      </p:cBhvr>
                                      <p:to>
                                        <p:strVal val="visible"/>
                                      </p:to>
                                    </p:set>
                                  </p:childTnLst>
                                </p:cTn>
                              </p:par>
                            </p:childTnLst>
                          </p:cTn>
                        </p:par>
                        <p:par>
                          <p:cTn id="240" fill="hold">
                            <p:stCondLst>
                              <p:cond delay="4760"/>
                            </p:stCondLst>
                            <p:childTnLst>
                              <p:par>
                                <p:cTn id="241" presetID="42" presetClass="path" presetSubtype="0" accel="50000" decel="50000" fill="hold" grpId="0" nodeType="afterEffect">
                                  <p:stCondLst>
                                    <p:cond delay="0"/>
                                  </p:stCondLst>
                                  <p:childTnLst>
                                    <p:animMotion origin="layout" path="M 3.95833E-6 3.33333E-6 L 0.00091 0.06643 " pathEditMode="relative" rAng="0" ptsTypes="AA">
                                      <p:cBhvr>
                                        <p:cTn id="242" dur="500" fill="hold"/>
                                        <p:tgtEl>
                                          <p:spTgt spid="346"/>
                                        </p:tgtEl>
                                        <p:attrNameLst>
                                          <p:attrName>ppt_x</p:attrName>
                                          <p:attrName>ppt_y</p:attrName>
                                        </p:attrNameLst>
                                      </p:cBhvr>
                                      <p:rCtr x="39" y="3310"/>
                                    </p:animMotion>
                                  </p:childTnLst>
                                </p:cTn>
                              </p:par>
                            </p:childTnLst>
                          </p:cTn>
                        </p:par>
                        <p:par>
                          <p:cTn id="243" fill="hold">
                            <p:stCondLst>
                              <p:cond delay="5260"/>
                            </p:stCondLst>
                            <p:childTnLst>
                              <p:par>
                                <p:cTn id="244" presetID="42" presetClass="path" presetSubtype="0" accel="50000" decel="50000" fill="hold" grpId="1" nodeType="afterEffect">
                                  <p:stCondLst>
                                    <p:cond delay="0"/>
                                  </p:stCondLst>
                                  <p:childTnLst>
                                    <p:animMotion origin="layout" path="M 0.00091 0.22893 L 0.0013 0.29189 " pathEditMode="relative" rAng="0" ptsTypes="AA">
                                      <p:cBhvr>
                                        <p:cTn id="245" dur="500" fill="hold"/>
                                        <p:tgtEl>
                                          <p:spTgt spid="346"/>
                                        </p:tgtEl>
                                        <p:attrNameLst>
                                          <p:attrName>ppt_x</p:attrName>
                                          <p:attrName>ppt_y</p:attrName>
                                        </p:attrNameLst>
                                      </p:cBhvr>
                                      <p:rCtr x="13" y="3148"/>
                                    </p:animMotion>
                                  </p:childTnLst>
                                </p:cTn>
                              </p:par>
                            </p:childTnLst>
                          </p:cTn>
                        </p:par>
                        <p:par>
                          <p:cTn id="246" fill="hold">
                            <p:stCondLst>
                              <p:cond delay="5760"/>
                            </p:stCondLst>
                            <p:childTnLst>
                              <p:par>
                                <p:cTn id="247" presetID="1" presetClass="exit" presetSubtype="0" fill="hold" grpId="2" nodeType="afterEffect">
                                  <p:stCondLst>
                                    <p:cond delay="0"/>
                                  </p:stCondLst>
                                  <p:childTnLst>
                                    <p:set>
                                      <p:cBhvr>
                                        <p:cTn id="248" dur="1" fill="hold">
                                          <p:stCondLst>
                                            <p:cond delay="0"/>
                                          </p:stCondLst>
                                        </p:cTn>
                                        <p:tgtEl>
                                          <p:spTgt spid="346"/>
                                        </p:tgtEl>
                                        <p:attrNameLst>
                                          <p:attrName>style.visibility</p:attrName>
                                        </p:attrNameLst>
                                      </p:cBhvr>
                                      <p:to>
                                        <p:strVal val="hidden"/>
                                      </p:to>
                                    </p:set>
                                  </p:childTnLst>
                                </p:cTn>
                              </p:par>
                            </p:childTnLst>
                          </p:cTn>
                        </p:par>
                        <p:par>
                          <p:cTn id="249" fill="hold">
                            <p:stCondLst>
                              <p:cond delay="5760"/>
                            </p:stCondLst>
                            <p:childTnLst>
                              <p:par>
                                <p:cTn id="250" presetID="1" presetClass="exit" presetSubtype="0" fill="hold" grpId="5" nodeType="afterEffect">
                                  <p:stCondLst>
                                    <p:cond delay="0"/>
                                  </p:stCondLst>
                                  <p:childTnLst>
                                    <p:set>
                                      <p:cBhvr>
                                        <p:cTn id="251" dur="1" fill="hold">
                                          <p:stCondLst>
                                            <p:cond delay="0"/>
                                          </p:stCondLst>
                                        </p:cTn>
                                        <p:tgtEl>
                                          <p:spTgt spid="341"/>
                                        </p:tgtEl>
                                        <p:attrNameLst>
                                          <p:attrName>style.visibility</p:attrName>
                                        </p:attrNameLst>
                                      </p:cBhvr>
                                      <p:to>
                                        <p:strVal val="hidden"/>
                                      </p:to>
                                    </p:set>
                                  </p:childTnLst>
                                </p:cTn>
                              </p:par>
                            </p:childTnLst>
                          </p:cTn>
                        </p:par>
                      </p:childTnLst>
                    </p:cTn>
                  </p:par>
                  <p:par>
                    <p:cTn id="252" fill="hold">
                      <p:stCondLst>
                        <p:cond delay="indefinite"/>
                      </p:stCondLst>
                      <p:childTnLst>
                        <p:par>
                          <p:cTn id="253" fill="hold">
                            <p:stCondLst>
                              <p:cond delay="0"/>
                            </p:stCondLst>
                            <p:childTnLst>
                              <p:par>
                                <p:cTn id="254" presetID="1" presetClass="entr" presetSubtype="0" fill="hold" grpId="0" nodeType="clickEffect">
                                  <p:stCondLst>
                                    <p:cond delay="0"/>
                                  </p:stCondLst>
                                  <p:childTnLst>
                                    <p:set>
                                      <p:cBhvr>
                                        <p:cTn id="255" dur="1" fill="hold">
                                          <p:stCondLst>
                                            <p:cond delay="0"/>
                                          </p:stCondLst>
                                        </p:cTn>
                                        <p:tgtEl>
                                          <p:spTgt spid="7"/>
                                        </p:tgtEl>
                                        <p:attrNameLst>
                                          <p:attrName>style.visibility</p:attrName>
                                        </p:attrNameLst>
                                      </p:cBhvr>
                                      <p:to>
                                        <p:strVal val="visible"/>
                                      </p:to>
                                    </p:set>
                                  </p:childTnLst>
                                </p:cTn>
                              </p:par>
                              <p:par>
                                <p:cTn id="256" presetID="1" presetClass="entr" presetSubtype="0" fill="hold" nodeType="withEffect">
                                  <p:stCondLst>
                                    <p:cond delay="0"/>
                                  </p:stCondLst>
                                  <p:childTnLst>
                                    <p:set>
                                      <p:cBhvr>
                                        <p:cTn id="257" dur="1" fill="hold">
                                          <p:stCondLst>
                                            <p:cond delay="0"/>
                                          </p:stCondLst>
                                        </p:cTn>
                                        <p:tgtEl>
                                          <p:spTgt spid="91"/>
                                        </p:tgtEl>
                                        <p:attrNameLst>
                                          <p:attrName>style.visibility</p:attrName>
                                        </p:attrNameLst>
                                      </p:cBhvr>
                                      <p:to>
                                        <p:strVal val="visible"/>
                                      </p:to>
                                    </p:set>
                                  </p:childTnLst>
                                </p:cTn>
                              </p:par>
                              <p:par>
                                <p:cTn id="258" presetID="22" presetClass="entr" presetSubtype="8" fill="hold" nodeType="withEffect">
                                  <p:stCondLst>
                                    <p:cond delay="0"/>
                                  </p:stCondLst>
                                  <p:childTnLst>
                                    <p:set>
                                      <p:cBhvr>
                                        <p:cTn id="259" dur="1" fill="hold">
                                          <p:stCondLst>
                                            <p:cond delay="0"/>
                                          </p:stCondLst>
                                        </p:cTn>
                                        <p:tgtEl>
                                          <p:spTgt spid="9"/>
                                        </p:tgtEl>
                                        <p:attrNameLst>
                                          <p:attrName>style.visibility</p:attrName>
                                        </p:attrNameLst>
                                      </p:cBhvr>
                                      <p:to>
                                        <p:strVal val="visible"/>
                                      </p:to>
                                    </p:set>
                                    <p:animEffect transition="in" filter="wipe(left)">
                                      <p:cBhvr>
                                        <p:cTn id="260" dur="250"/>
                                        <p:tgtEl>
                                          <p:spTgt spid="9"/>
                                        </p:tgtEl>
                                      </p:cBhvr>
                                    </p:animEffect>
                                  </p:childTnLst>
                                </p:cTn>
                              </p:par>
                            </p:childTnLst>
                          </p:cTn>
                        </p:par>
                        <p:par>
                          <p:cTn id="261" fill="hold">
                            <p:stCondLst>
                              <p:cond delay="250"/>
                            </p:stCondLst>
                            <p:childTnLst>
                              <p:par>
                                <p:cTn id="262" presetID="42" presetClass="path" presetSubtype="0" accel="50000" decel="50000" fill="hold" grpId="1" nodeType="afterEffect">
                                  <p:stCondLst>
                                    <p:cond delay="0"/>
                                  </p:stCondLst>
                                  <p:childTnLst>
                                    <p:animMotion origin="layout" path="M 1.38889E-6 -2.96296E-6 L -0.00017 0.03588 " pathEditMode="relative" rAng="0" ptsTypes="AA">
                                      <p:cBhvr>
                                        <p:cTn id="263" dur="250" fill="hold"/>
                                        <p:tgtEl>
                                          <p:spTgt spid="7"/>
                                        </p:tgtEl>
                                        <p:attrNameLst>
                                          <p:attrName>ppt_x</p:attrName>
                                          <p:attrName>ppt_y</p:attrName>
                                        </p:attrNameLst>
                                      </p:cBhvr>
                                      <p:rCtr x="-17" y="1782"/>
                                    </p:animMotion>
                                  </p:childTnLst>
                                </p:cTn>
                              </p:par>
                            </p:childTnLst>
                          </p:cTn>
                        </p:par>
                        <p:par>
                          <p:cTn id="264" fill="hold">
                            <p:stCondLst>
                              <p:cond delay="500"/>
                            </p:stCondLst>
                            <p:childTnLst>
                              <p:par>
                                <p:cTn id="265" presetID="42" presetClass="path" presetSubtype="0" accel="50000" decel="50000" fill="hold" grpId="2" nodeType="afterEffect">
                                  <p:stCondLst>
                                    <p:cond delay="0"/>
                                  </p:stCondLst>
                                  <p:childTnLst>
                                    <p:animMotion origin="layout" path="M -0.00017 0.03588 L -0.00052 0.0669 " pathEditMode="relative" rAng="0" ptsTypes="AA">
                                      <p:cBhvr>
                                        <p:cTn id="266" dur="250" fill="hold"/>
                                        <p:tgtEl>
                                          <p:spTgt spid="7"/>
                                        </p:tgtEl>
                                        <p:attrNameLst>
                                          <p:attrName>ppt_x</p:attrName>
                                          <p:attrName>ppt_y</p:attrName>
                                        </p:attrNameLst>
                                      </p:cBhvr>
                                      <p:rCtr x="-17" y="1551"/>
                                    </p:animMotion>
                                  </p:childTnLst>
                                </p:cTn>
                              </p:par>
                            </p:childTnLst>
                          </p:cTn>
                        </p:par>
                        <p:par>
                          <p:cTn id="267" fill="hold">
                            <p:stCondLst>
                              <p:cond delay="750"/>
                            </p:stCondLst>
                            <p:childTnLst>
                              <p:par>
                                <p:cTn id="268" presetID="22" presetClass="entr" presetSubtype="8" fill="hold" nodeType="afterEffect">
                                  <p:stCondLst>
                                    <p:cond delay="0"/>
                                  </p:stCondLst>
                                  <p:childTnLst>
                                    <p:set>
                                      <p:cBhvr>
                                        <p:cTn id="269" dur="1" fill="hold">
                                          <p:stCondLst>
                                            <p:cond delay="0"/>
                                          </p:stCondLst>
                                        </p:cTn>
                                        <p:tgtEl>
                                          <p:spTgt spid="8"/>
                                        </p:tgtEl>
                                        <p:attrNameLst>
                                          <p:attrName>style.visibility</p:attrName>
                                        </p:attrNameLst>
                                      </p:cBhvr>
                                      <p:to>
                                        <p:strVal val="visible"/>
                                      </p:to>
                                    </p:set>
                                    <p:animEffect transition="in" filter="wipe(left)">
                                      <p:cBhvr>
                                        <p:cTn id="270" dur="250"/>
                                        <p:tgtEl>
                                          <p:spTgt spid="8"/>
                                        </p:tgtEl>
                                      </p:cBhvr>
                                    </p:animEffect>
                                  </p:childTnLst>
                                </p:cTn>
                              </p:par>
                            </p:childTnLst>
                          </p:cTn>
                        </p:par>
                        <p:par>
                          <p:cTn id="271" fill="hold">
                            <p:stCondLst>
                              <p:cond delay="1000"/>
                            </p:stCondLst>
                            <p:childTnLst>
                              <p:par>
                                <p:cTn id="272" presetID="42" presetClass="path" presetSubtype="0" accel="50000" decel="50000" fill="hold" grpId="3" nodeType="afterEffect">
                                  <p:stCondLst>
                                    <p:cond delay="0"/>
                                  </p:stCondLst>
                                  <p:childTnLst>
                                    <p:animMotion origin="layout" path="M -0.00052 0.0669 L -0.00052 0.09977 " pathEditMode="relative" rAng="0" ptsTypes="AA">
                                      <p:cBhvr>
                                        <p:cTn id="273" dur="250" fill="hold"/>
                                        <p:tgtEl>
                                          <p:spTgt spid="7"/>
                                        </p:tgtEl>
                                        <p:attrNameLst>
                                          <p:attrName>ppt_x</p:attrName>
                                          <p:attrName>ppt_y</p:attrName>
                                        </p:attrNameLst>
                                      </p:cBhvr>
                                      <p:rCtr x="0" y="1644"/>
                                    </p:animMotion>
                                  </p:childTnLst>
                                </p:cTn>
                              </p:par>
                            </p:childTnLst>
                          </p:cTn>
                        </p:par>
                        <p:par>
                          <p:cTn id="274" fill="hold">
                            <p:stCondLst>
                              <p:cond delay="1250"/>
                            </p:stCondLst>
                            <p:childTnLst>
                              <p:par>
                                <p:cTn id="275" presetID="42" presetClass="path" presetSubtype="0" accel="50000" decel="50000" fill="hold" grpId="4" nodeType="afterEffect">
                                  <p:stCondLst>
                                    <p:cond delay="0"/>
                                  </p:stCondLst>
                                  <p:childTnLst>
                                    <p:animMotion origin="layout" path="M -0.00052 0.09977 L -0.00017 0.13264 " pathEditMode="relative" rAng="0" ptsTypes="AA">
                                      <p:cBhvr>
                                        <p:cTn id="276" dur="250" fill="hold"/>
                                        <p:tgtEl>
                                          <p:spTgt spid="7"/>
                                        </p:tgtEl>
                                        <p:attrNameLst>
                                          <p:attrName>ppt_x</p:attrName>
                                          <p:attrName>ppt_y</p:attrName>
                                        </p:attrNameLst>
                                      </p:cBhvr>
                                      <p:rCtr x="17" y="1644"/>
                                    </p:animMotion>
                                  </p:childTnLst>
                                </p:cTn>
                              </p:par>
                            </p:childTnLst>
                          </p:cTn>
                        </p:par>
                        <p:par>
                          <p:cTn id="277" fill="hold">
                            <p:stCondLst>
                              <p:cond delay="1500"/>
                            </p:stCondLst>
                            <p:childTnLst>
                              <p:par>
                                <p:cTn id="278" presetID="42" presetClass="path" presetSubtype="0" accel="50000" decel="50000" fill="hold" grpId="5" nodeType="afterEffect">
                                  <p:stCondLst>
                                    <p:cond delay="0"/>
                                  </p:stCondLst>
                                  <p:childTnLst>
                                    <p:animMotion origin="layout" path="M -0.00017 0.13264 L -0.00017 0.16505 " pathEditMode="relative" rAng="0" ptsTypes="AA">
                                      <p:cBhvr>
                                        <p:cTn id="279" dur="250" fill="hold"/>
                                        <p:tgtEl>
                                          <p:spTgt spid="7"/>
                                        </p:tgtEl>
                                        <p:attrNameLst>
                                          <p:attrName>ppt_x</p:attrName>
                                          <p:attrName>ppt_y</p:attrName>
                                        </p:attrNameLst>
                                      </p:cBhvr>
                                      <p:rCtr x="0" y="1620"/>
                                    </p:animMotion>
                                  </p:childTnLst>
                                </p:cTn>
                              </p:par>
                            </p:childTnLst>
                          </p:cTn>
                        </p:par>
                        <p:par>
                          <p:cTn id="280" fill="hold">
                            <p:stCondLst>
                              <p:cond delay="1750"/>
                            </p:stCondLst>
                            <p:childTnLst>
                              <p:par>
                                <p:cTn id="281" presetID="22" presetClass="entr" presetSubtype="8" fill="hold" nodeType="afterEffect">
                                  <p:stCondLst>
                                    <p:cond delay="0"/>
                                  </p:stCondLst>
                                  <p:childTnLst>
                                    <p:set>
                                      <p:cBhvr>
                                        <p:cTn id="282" dur="1" fill="hold">
                                          <p:stCondLst>
                                            <p:cond delay="0"/>
                                          </p:stCondLst>
                                        </p:cTn>
                                        <p:tgtEl>
                                          <p:spTgt spid="28"/>
                                        </p:tgtEl>
                                        <p:attrNameLst>
                                          <p:attrName>style.visibility</p:attrName>
                                        </p:attrNameLst>
                                      </p:cBhvr>
                                      <p:to>
                                        <p:strVal val="visible"/>
                                      </p:to>
                                    </p:set>
                                    <p:animEffect transition="in" filter="wipe(left)">
                                      <p:cBhvr>
                                        <p:cTn id="283" dur="250"/>
                                        <p:tgtEl>
                                          <p:spTgt spid="28"/>
                                        </p:tgtEl>
                                      </p:cBhvr>
                                    </p:animEffect>
                                  </p:childTnLst>
                                </p:cTn>
                              </p:par>
                            </p:childTnLst>
                          </p:cTn>
                        </p:par>
                        <p:par>
                          <p:cTn id="284" fill="hold">
                            <p:stCondLst>
                              <p:cond delay="2000"/>
                            </p:stCondLst>
                            <p:childTnLst>
                              <p:par>
                                <p:cTn id="285" presetID="42" presetClass="path" presetSubtype="0" accel="50000" decel="50000" fill="hold" grpId="6" nodeType="afterEffect">
                                  <p:stCondLst>
                                    <p:cond delay="0"/>
                                  </p:stCondLst>
                                  <p:childTnLst>
                                    <p:animMotion origin="layout" path="M -0.00017 0.16505 L -0.00017 0.19792 " pathEditMode="relative" rAng="0" ptsTypes="AA">
                                      <p:cBhvr>
                                        <p:cTn id="286" dur="250" fill="hold"/>
                                        <p:tgtEl>
                                          <p:spTgt spid="7"/>
                                        </p:tgtEl>
                                        <p:attrNameLst>
                                          <p:attrName>ppt_x</p:attrName>
                                          <p:attrName>ppt_y</p:attrName>
                                        </p:attrNameLst>
                                      </p:cBhvr>
                                      <p:rCtr x="0" y="1644"/>
                                    </p:animMotion>
                                  </p:childTnLst>
                                </p:cTn>
                              </p:par>
                            </p:childTnLst>
                          </p:cTn>
                        </p:par>
                        <p:par>
                          <p:cTn id="287" fill="hold">
                            <p:stCondLst>
                              <p:cond delay="2250"/>
                            </p:stCondLst>
                            <p:childTnLst>
                              <p:par>
                                <p:cTn id="288" presetID="42" presetClass="path" presetSubtype="0" accel="50000" decel="50000" fill="hold" grpId="7" nodeType="afterEffect">
                                  <p:stCondLst>
                                    <p:cond delay="0"/>
                                  </p:stCondLst>
                                  <p:childTnLst>
                                    <p:animMotion origin="layout" path="M -0.00017 0.19792 L -0.00017 0.23079 " pathEditMode="relative" rAng="0" ptsTypes="AA">
                                      <p:cBhvr>
                                        <p:cTn id="289" dur="250" fill="hold"/>
                                        <p:tgtEl>
                                          <p:spTgt spid="7"/>
                                        </p:tgtEl>
                                        <p:attrNameLst>
                                          <p:attrName>ppt_x</p:attrName>
                                          <p:attrName>ppt_y</p:attrName>
                                        </p:attrNameLst>
                                      </p:cBhvr>
                                      <p:rCtr x="0" y="1644"/>
                                    </p:animMotion>
                                  </p:childTnLst>
                                </p:cTn>
                              </p:par>
                            </p:childTnLst>
                          </p:cTn>
                        </p:par>
                        <p:par>
                          <p:cTn id="290" fill="hold">
                            <p:stCondLst>
                              <p:cond delay="2500"/>
                            </p:stCondLst>
                            <p:childTnLst>
                              <p:par>
                                <p:cTn id="291" presetID="42" presetClass="path" presetSubtype="0" accel="50000" decel="50000" fill="hold" grpId="8" nodeType="afterEffect">
                                  <p:stCondLst>
                                    <p:cond delay="0"/>
                                  </p:stCondLst>
                                  <p:childTnLst>
                                    <p:animMotion origin="layout" path="M -0.00017 0.23079 L 0.00017 0.26181 " pathEditMode="relative" rAng="0" ptsTypes="AA">
                                      <p:cBhvr>
                                        <p:cTn id="292" dur="250" fill="hold"/>
                                        <p:tgtEl>
                                          <p:spTgt spid="7"/>
                                        </p:tgtEl>
                                        <p:attrNameLst>
                                          <p:attrName>ppt_x</p:attrName>
                                          <p:attrName>ppt_y</p:attrName>
                                        </p:attrNameLst>
                                      </p:cBhvr>
                                      <p:rCtr x="17" y="1551"/>
                                    </p:animMotion>
                                  </p:childTnLst>
                                </p:cTn>
                              </p:par>
                            </p:childTnLst>
                          </p:cTn>
                        </p:par>
                        <p:par>
                          <p:cTn id="293" fill="hold">
                            <p:stCondLst>
                              <p:cond delay="2750"/>
                            </p:stCondLst>
                            <p:childTnLst>
                              <p:par>
                                <p:cTn id="294" presetID="42" presetClass="path" presetSubtype="0" accel="50000" decel="50000" fill="hold" grpId="9" nodeType="afterEffect">
                                  <p:stCondLst>
                                    <p:cond delay="0"/>
                                  </p:stCondLst>
                                  <p:childTnLst>
                                    <p:animMotion origin="layout" path="M 0.00017 0.26181 L 0.00017 0.29514 " pathEditMode="relative" rAng="0" ptsTypes="AA">
                                      <p:cBhvr>
                                        <p:cTn id="295" dur="250" fill="hold"/>
                                        <p:tgtEl>
                                          <p:spTgt spid="7"/>
                                        </p:tgtEl>
                                        <p:attrNameLst>
                                          <p:attrName>ppt_x</p:attrName>
                                          <p:attrName>ppt_y</p:attrName>
                                        </p:attrNameLst>
                                      </p:cBhvr>
                                      <p:rCtr x="0" y="1667"/>
                                    </p:animMotion>
                                  </p:childTnLst>
                                </p:cTn>
                              </p:par>
                            </p:childTnLst>
                          </p:cTn>
                        </p:par>
                        <p:par>
                          <p:cTn id="296" fill="hold">
                            <p:stCondLst>
                              <p:cond delay="3000"/>
                            </p:stCondLst>
                            <p:childTnLst>
                              <p:par>
                                <p:cTn id="297" presetID="42" presetClass="path" presetSubtype="0" accel="50000" decel="50000" fill="hold" grpId="10" nodeType="afterEffect">
                                  <p:stCondLst>
                                    <p:cond delay="0"/>
                                  </p:stCondLst>
                                  <p:childTnLst>
                                    <p:animMotion origin="layout" path="M 0.00013 0.29514 L 0.00013 0.32801 " pathEditMode="relative" rAng="0" ptsTypes="AA">
                                      <p:cBhvr>
                                        <p:cTn id="298" dur="250" fill="hold"/>
                                        <p:tgtEl>
                                          <p:spTgt spid="7"/>
                                        </p:tgtEl>
                                        <p:attrNameLst>
                                          <p:attrName>ppt_x</p:attrName>
                                          <p:attrName>ppt_y</p:attrName>
                                        </p:attrNameLst>
                                      </p:cBhvr>
                                      <p:rCtr x="0" y="1644"/>
                                    </p:animMotion>
                                  </p:childTnLst>
                                </p:cTn>
                              </p:par>
                            </p:childTnLst>
                          </p:cTn>
                        </p:par>
                        <p:par>
                          <p:cTn id="299" fill="hold">
                            <p:stCondLst>
                              <p:cond delay="3250"/>
                            </p:stCondLst>
                            <p:childTnLst>
                              <p:par>
                                <p:cTn id="300" presetID="42" presetClass="path" presetSubtype="0" accel="50000" decel="50000" fill="hold" grpId="11" nodeType="afterEffect">
                                  <p:stCondLst>
                                    <p:cond delay="0"/>
                                  </p:stCondLst>
                                  <p:childTnLst>
                                    <p:animMotion origin="layout" path="M 0.00013 0.32801 L 0.00052 0.36088 " pathEditMode="relative" rAng="0" ptsTypes="AA">
                                      <p:cBhvr>
                                        <p:cTn id="301" dur="250" fill="hold"/>
                                        <p:tgtEl>
                                          <p:spTgt spid="7"/>
                                        </p:tgtEl>
                                        <p:attrNameLst>
                                          <p:attrName>ppt_x</p:attrName>
                                          <p:attrName>ppt_y</p:attrName>
                                        </p:attrNameLst>
                                      </p:cBhvr>
                                      <p:rCtr x="26" y="1644"/>
                                    </p:animMotion>
                                  </p:childTnLst>
                                </p:cTn>
                              </p:par>
                            </p:childTnLst>
                          </p:cTn>
                        </p:par>
                        <p:par>
                          <p:cTn id="302" fill="hold">
                            <p:stCondLst>
                              <p:cond delay="3500"/>
                            </p:stCondLst>
                            <p:childTnLst>
                              <p:par>
                                <p:cTn id="303" presetID="22" presetClass="entr" presetSubtype="8" fill="hold" nodeType="afterEffect">
                                  <p:stCondLst>
                                    <p:cond delay="0"/>
                                  </p:stCondLst>
                                  <p:childTnLst>
                                    <p:set>
                                      <p:cBhvr>
                                        <p:cTn id="304" dur="1" fill="hold">
                                          <p:stCondLst>
                                            <p:cond delay="0"/>
                                          </p:stCondLst>
                                        </p:cTn>
                                        <p:tgtEl>
                                          <p:spTgt spid="35"/>
                                        </p:tgtEl>
                                        <p:attrNameLst>
                                          <p:attrName>style.visibility</p:attrName>
                                        </p:attrNameLst>
                                      </p:cBhvr>
                                      <p:to>
                                        <p:strVal val="visible"/>
                                      </p:to>
                                    </p:set>
                                    <p:animEffect transition="in" filter="wipe(left)">
                                      <p:cBhvr>
                                        <p:cTn id="305" dur="250"/>
                                        <p:tgtEl>
                                          <p:spTgt spid="35"/>
                                        </p:tgtEl>
                                      </p:cBhvr>
                                    </p:animEffect>
                                  </p:childTnLst>
                                </p:cTn>
                              </p:par>
                            </p:childTnLst>
                          </p:cTn>
                        </p:par>
                        <p:par>
                          <p:cTn id="306" fill="hold">
                            <p:stCondLst>
                              <p:cond delay="3750"/>
                            </p:stCondLst>
                            <p:childTnLst>
                              <p:par>
                                <p:cTn id="307" presetID="42" presetClass="path" presetSubtype="0" accel="50000" decel="50000" fill="hold" grpId="12" nodeType="afterEffect">
                                  <p:stCondLst>
                                    <p:cond delay="0"/>
                                  </p:stCondLst>
                                  <p:childTnLst>
                                    <p:animMotion origin="layout" path="M 0.00052 0.36088 L 0.00026 0.39514 " pathEditMode="relative" rAng="0" ptsTypes="AA">
                                      <p:cBhvr>
                                        <p:cTn id="308" dur="250" fill="hold"/>
                                        <p:tgtEl>
                                          <p:spTgt spid="7"/>
                                        </p:tgtEl>
                                        <p:attrNameLst>
                                          <p:attrName>ppt_x</p:attrName>
                                          <p:attrName>ppt_y</p:attrName>
                                        </p:attrNameLst>
                                      </p:cBhvr>
                                      <p:rCtr x="-13" y="1713"/>
                                    </p:animMotion>
                                  </p:childTnLst>
                                </p:cTn>
                              </p:par>
                            </p:childTnLst>
                          </p:cTn>
                        </p:par>
                        <p:par>
                          <p:cTn id="309" fill="hold">
                            <p:stCondLst>
                              <p:cond delay="4000"/>
                            </p:stCondLst>
                            <p:childTnLst>
                              <p:par>
                                <p:cTn id="310" presetID="22" presetClass="entr" presetSubtype="8" fill="hold" nodeType="afterEffect">
                                  <p:stCondLst>
                                    <p:cond delay="0"/>
                                  </p:stCondLst>
                                  <p:childTnLst>
                                    <p:set>
                                      <p:cBhvr>
                                        <p:cTn id="311" dur="1" fill="hold">
                                          <p:stCondLst>
                                            <p:cond delay="0"/>
                                          </p:stCondLst>
                                        </p:cTn>
                                        <p:tgtEl>
                                          <p:spTgt spid="18"/>
                                        </p:tgtEl>
                                        <p:attrNameLst>
                                          <p:attrName>style.visibility</p:attrName>
                                        </p:attrNameLst>
                                      </p:cBhvr>
                                      <p:to>
                                        <p:strVal val="visible"/>
                                      </p:to>
                                    </p:set>
                                    <p:animEffect transition="in" filter="wipe(left)">
                                      <p:cBhvr>
                                        <p:cTn id="312" dur="250"/>
                                        <p:tgtEl>
                                          <p:spTgt spid="18"/>
                                        </p:tgtEl>
                                      </p:cBhvr>
                                    </p:animEffect>
                                  </p:childTnLst>
                                </p:cTn>
                              </p:par>
                            </p:childTnLst>
                          </p:cTn>
                        </p:par>
                        <p:par>
                          <p:cTn id="313" fill="hold">
                            <p:stCondLst>
                              <p:cond delay="4250"/>
                            </p:stCondLst>
                            <p:childTnLst>
                              <p:par>
                                <p:cTn id="314" presetID="42" presetClass="path" presetSubtype="0" accel="50000" decel="50000" fill="hold" grpId="13" nodeType="afterEffect">
                                  <p:stCondLst>
                                    <p:cond delay="0"/>
                                  </p:stCondLst>
                                  <p:childTnLst>
                                    <p:animMotion origin="layout" path="M 0.00039 0.39514 L 3.33333E-6 0.4257 " pathEditMode="relative" rAng="0" ptsTypes="AA">
                                      <p:cBhvr>
                                        <p:cTn id="315" dur="250" fill="hold"/>
                                        <p:tgtEl>
                                          <p:spTgt spid="7"/>
                                        </p:tgtEl>
                                        <p:attrNameLst>
                                          <p:attrName>ppt_x</p:attrName>
                                          <p:attrName>ppt_y</p:attrName>
                                        </p:attrNameLst>
                                      </p:cBhvr>
                                      <p:rCtr x="-26" y="1528"/>
                                    </p:animMotion>
                                  </p:childTnLst>
                                </p:cTn>
                              </p:par>
                            </p:childTnLst>
                          </p:cTn>
                        </p:par>
                        <p:par>
                          <p:cTn id="316" fill="hold">
                            <p:stCondLst>
                              <p:cond delay="4500"/>
                            </p:stCondLst>
                            <p:childTnLst>
                              <p:par>
                                <p:cTn id="317" presetID="22" presetClass="entr" presetSubtype="8" fill="hold" nodeType="afterEffect">
                                  <p:stCondLst>
                                    <p:cond delay="0"/>
                                  </p:stCondLst>
                                  <p:childTnLst>
                                    <p:set>
                                      <p:cBhvr>
                                        <p:cTn id="318" dur="1" fill="hold">
                                          <p:stCondLst>
                                            <p:cond delay="0"/>
                                          </p:stCondLst>
                                        </p:cTn>
                                        <p:tgtEl>
                                          <p:spTgt spid="19"/>
                                        </p:tgtEl>
                                        <p:attrNameLst>
                                          <p:attrName>style.visibility</p:attrName>
                                        </p:attrNameLst>
                                      </p:cBhvr>
                                      <p:to>
                                        <p:strVal val="visible"/>
                                      </p:to>
                                    </p:set>
                                    <p:animEffect transition="in" filter="wipe(left)">
                                      <p:cBhvr>
                                        <p:cTn id="319" dur="250"/>
                                        <p:tgtEl>
                                          <p:spTgt spid="19"/>
                                        </p:tgtEl>
                                      </p:cBhvr>
                                    </p:animEffect>
                                  </p:childTnLst>
                                </p:cTn>
                              </p:par>
                            </p:childTnLst>
                          </p:cTn>
                        </p:par>
                        <p:par>
                          <p:cTn id="320" fill="hold">
                            <p:stCondLst>
                              <p:cond delay="4750"/>
                            </p:stCondLst>
                            <p:childTnLst>
                              <p:par>
                                <p:cTn id="321" presetID="42" presetClass="path" presetSubtype="0" accel="50000" decel="50000" fill="hold" grpId="14" nodeType="afterEffect">
                                  <p:stCondLst>
                                    <p:cond delay="0"/>
                                  </p:stCondLst>
                                  <p:childTnLst>
                                    <p:animMotion origin="layout" path="M 0.00052 0.4257 L 0.00052 0.45857 " pathEditMode="relative" rAng="0" ptsTypes="AA">
                                      <p:cBhvr>
                                        <p:cTn id="322" dur="250" fill="hold"/>
                                        <p:tgtEl>
                                          <p:spTgt spid="7"/>
                                        </p:tgtEl>
                                        <p:attrNameLst>
                                          <p:attrName>ppt_x</p:attrName>
                                          <p:attrName>ppt_y</p:attrName>
                                        </p:attrNameLst>
                                      </p:cBhvr>
                                      <p:rCtr x="0" y="1644"/>
                                    </p:animMotion>
                                  </p:childTnLst>
                                </p:cTn>
                              </p:par>
                            </p:childTnLst>
                          </p:cTn>
                        </p:par>
                        <p:par>
                          <p:cTn id="323" fill="hold">
                            <p:stCondLst>
                              <p:cond delay="5000"/>
                            </p:stCondLst>
                            <p:childTnLst>
                              <p:par>
                                <p:cTn id="324" presetID="42" presetClass="path" presetSubtype="0" accel="50000" decel="50000" fill="hold" grpId="15" nodeType="afterEffect">
                                  <p:stCondLst>
                                    <p:cond delay="0"/>
                                  </p:stCondLst>
                                  <p:childTnLst>
                                    <p:animMotion origin="layout" path="M 0.00052 0.45857 L 0.00017 0.48797 " pathEditMode="relative" rAng="0" ptsTypes="AA">
                                      <p:cBhvr>
                                        <p:cTn id="325" dur="250" fill="hold"/>
                                        <p:tgtEl>
                                          <p:spTgt spid="7"/>
                                        </p:tgtEl>
                                        <p:attrNameLst>
                                          <p:attrName>ppt_x</p:attrName>
                                          <p:attrName>ppt_y</p:attrName>
                                        </p:attrNameLst>
                                      </p:cBhvr>
                                      <p:rCtr x="-17" y="1458"/>
                                    </p:animMotion>
                                  </p:childTnLst>
                                </p:cTn>
                              </p:par>
                            </p:childTnLst>
                          </p:cTn>
                        </p:par>
                        <p:par>
                          <p:cTn id="326" fill="hold">
                            <p:stCondLst>
                              <p:cond delay="5250"/>
                            </p:stCondLst>
                            <p:childTnLst>
                              <p:par>
                                <p:cTn id="327" presetID="22" presetClass="entr" presetSubtype="8" fill="hold" nodeType="afterEffect">
                                  <p:stCondLst>
                                    <p:cond delay="0"/>
                                  </p:stCondLst>
                                  <p:childTnLst>
                                    <p:set>
                                      <p:cBhvr>
                                        <p:cTn id="328" dur="1" fill="hold">
                                          <p:stCondLst>
                                            <p:cond delay="0"/>
                                          </p:stCondLst>
                                        </p:cTn>
                                        <p:tgtEl>
                                          <p:spTgt spid="10"/>
                                        </p:tgtEl>
                                        <p:attrNameLst>
                                          <p:attrName>style.visibility</p:attrName>
                                        </p:attrNameLst>
                                      </p:cBhvr>
                                      <p:to>
                                        <p:strVal val="visible"/>
                                      </p:to>
                                    </p:set>
                                    <p:animEffect transition="in" filter="wipe(left)">
                                      <p:cBhvr>
                                        <p:cTn id="329" dur="250"/>
                                        <p:tgtEl>
                                          <p:spTgt spid="10"/>
                                        </p:tgtEl>
                                      </p:cBhvr>
                                    </p:animEffect>
                                  </p:childTnLst>
                                </p:cTn>
                              </p:par>
                            </p:childTnLst>
                          </p:cTn>
                        </p:par>
                        <p:par>
                          <p:cTn id="330" fill="hold">
                            <p:stCondLst>
                              <p:cond delay="5500"/>
                            </p:stCondLst>
                            <p:childTnLst>
                              <p:par>
                                <p:cTn id="331" presetID="42" presetClass="path" presetSubtype="0" accel="50000" decel="50000" fill="hold" grpId="16" nodeType="afterEffect">
                                  <p:stCondLst>
                                    <p:cond delay="0"/>
                                  </p:stCondLst>
                                  <p:childTnLst>
                                    <p:animMotion origin="layout" path="M 0.00013 0.48796 L 0.00039 0.52176 " pathEditMode="relative" rAng="0" ptsTypes="AA">
                                      <p:cBhvr>
                                        <p:cTn id="332" dur="250" fill="hold"/>
                                        <p:tgtEl>
                                          <p:spTgt spid="7"/>
                                        </p:tgtEl>
                                        <p:attrNameLst>
                                          <p:attrName>ppt_x</p:attrName>
                                          <p:attrName>ppt_y</p:attrName>
                                        </p:attrNameLst>
                                      </p:cBhvr>
                                      <p:rCtr x="0" y="1736"/>
                                    </p:animMotion>
                                  </p:childTnLst>
                                </p:cTn>
                              </p:par>
                            </p:childTnLst>
                          </p:cTn>
                        </p:par>
                        <p:par>
                          <p:cTn id="333" fill="hold">
                            <p:stCondLst>
                              <p:cond delay="5750"/>
                            </p:stCondLst>
                            <p:childTnLst>
                              <p:par>
                                <p:cTn id="334" presetID="22" presetClass="entr" presetSubtype="8" fill="hold" nodeType="afterEffect">
                                  <p:stCondLst>
                                    <p:cond delay="0"/>
                                  </p:stCondLst>
                                  <p:childTnLst>
                                    <p:set>
                                      <p:cBhvr>
                                        <p:cTn id="335" dur="1" fill="hold">
                                          <p:stCondLst>
                                            <p:cond delay="0"/>
                                          </p:stCondLst>
                                        </p:cTn>
                                        <p:tgtEl>
                                          <p:spTgt spid="11"/>
                                        </p:tgtEl>
                                        <p:attrNameLst>
                                          <p:attrName>style.visibility</p:attrName>
                                        </p:attrNameLst>
                                      </p:cBhvr>
                                      <p:to>
                                        <p:strVal val="visible"/>
                                      </p:to>
                                    </p:set>
                                    <p:animEffect transition="in" filter="wipe(left)">
                                      <p:cBhvr>
                                        <p:cTn id="336" dur="250"/>
                                        <p:tgtEl>
                                          <p:spTgt spid="11"/>
                                        </p:tgtEl>
                                      </p:cBhvr>
                                    </p:animEffect>
                                  </p:childTnLst>
                                </p:cTn>
                              </p:par>
                            </p:childTnLst>
                          </p:cTn>
                        </p:par>
                        <p:par>
                          <p:cTn id="337" fill="hold">
                            <p:stCondLst>
                              <p:cond delay="6000"/>
                            </p:stCondLst>
                            <p:childTnLst>
                              <p:par>
                                <p:cTn id="338" presetID="42" presetClass="path" presetSubtype="0" accel="50000" decel="50000" fill="hold" grpId="17" nodeType="afterEffect">
                                  <p:stCondLst>
                                    <p:cond delay="0"/>
                                  </p:stCondLst>
                                  <p:childTnLst>
                                    <p:animMotion origin="layout" path="M 0.00039 0.52176 L 0.00013 0.55648 " pathEditMode="relative" rAng="0" ptsTypes="AA">
                                      <p:cBhvr>
                                        <p:cTn id="339" dur="250" fill="hold"/>
                                        <p:tgtEl>
                                          <p:spTgt spid="7"/>
                                        </p:tgtEl>
                                        <p:attrNameLst>
                                          <p:attrName>ppt_x</p:attrName>
                                          <p:attrName>ppt_y</p:attrName>
                                        </p:attrNameLst>
                                      </p:cBhvr>
                                      <p:rCtr x="-26" y="1759"/>
                                    </p:animMotion>
                                  </p:childTnLst>
                                </p:cTn>
                              </p:par>
                            </p:childTnLst>
                          </p:cTn>
                        </p:par>
                        <p:par>
                          <p:cTn id="340" fill="hold">
                            <p:stCondLst>
                              <p:cond delay="6250"/>
                            </p:stCondLst>
                            <p:childTnLst>
                              <p:par>
                                <p:cTn id="341" presetID="22" presetClass="entr" presetSubtype="8" fill="hold" nodeType="afterEffect">
                                  <p:stCondLst>
                                    <p:cond delay="0"/>
                                  </p:stCondLst>
                                  <p:childTnLst>
                                    <p:set>
                                      <p:cBhvr>
                                        <p:cTn id="342" dur="1" fill="hold">
                                          <p:stCondLst>
                                            <p:cond delay="0"/>
                                          </p:stCondLst>
                                        </p:cTn>
                                        <p:tgtEl>
                                          <p:spTgt spid="14"/>
                                        </p:tgtEl>
                                        <p:attrNameLst>
                                          <p:attrName>style.visibility</p:attrName>
                                        </p:attrNameLst>
                                      </p:cBhvr>
                                      <p:to>
                                        <p:strVal val="visible"/>
                                      </p:to>
                                    </p:set>
                                    <p:animEffect transition="in" filter="wipe(left)">
                                      <p:cBhvr>
                                        <p:cTn id="343" dur="250"/>
                                        <p:tgtEl>
                                          <p:spTgt spid="14"/>
                                        </p:tgtEl>
                                      </p:cBhvr>
                                    </p:animEffect>
                                  </p:childTnLst>
                                </p:cTn>
                              </p:par>
                            </p:childTnLst>
                          </p:cTn>
                        </p:par>
                        <p:par>
                          <p:cTn id="344" fill="hold">
                            <p:stCondLst>
                              <p:cond delay="6500"/>
                            </p:stCondLst>
                            <p:childTnLst>
                              <p:par>
                                <p:cTn id="345" presetID="42" presetClass="path" presetSubtype="0" accel="50000" decel="50000" fill="hold" grpId="18" nodeType="afterEffect">
                                  <p:stCondLst>
                                    <p:cond delay="0"/>
                                  </p:stCondLst>
                                  <p:childTnLst>
                                    <p:animMotion origin="layout" path="M 0.00013 0.55648 L 0.00013 0.58658 " pathEditMode="relative" rAng="0" ptsTypes="AA">
                                      <p:cBhvr>
                                        <p:cTn id="346" dur="250" fill="hold"/>
                                        <p:tgtEl>
                                          <p:spTgt spid="7"/>
                                        </p:tgtEl>
                                        <p:attrNameLst>
                                          <p:attrName>ppt_x</p:attrName>
                                          <p:attrName>ppt_y</p:attrName>
                                        </p:attrNameLst>
                                      </p:cBhvr>
                                      <p:rCtr x="0" y="1505"/>
                                    </p:animMotion>
                                  </p:childTnLst>
                                </p:cTn>
                              </p:par>
                            </p:childTnLst>
                          </p:cTn>
                        </p:par>
                        <p:par>
                          <p:cTn id="347" fill="hold">
                            <p:stCondLst>
                              <p:cond delay="6750"/>
                            </p:stCondLst>
                            <p:childTnLst>
                              <p:par>
                                <p:cTn id="348" presetID="42" presetClass="path" presetSubtype="0" accel="50000" decel="50000" fill="hold" grpId="19" nodeType="afterEffect">
                                  <p:stCondLst>
                                    <p:cond delay="0"/>
                                  </p:stCondLst>
                                  <p:childTnLst>
                                    <p:animMotion origin="layout" path="M 0.00013 0.58658 L 0.00013 0.62176 " pathEditMode="relative" rAng="0" ptsTypes="AA">
                                      <p:cBhvr>
                                        <p:cTn id="349" dur="250" fill="hold"/>
                                        <p:tgtEl>
                                          <p:spTgt spid="7"/>
                                        </p:tgtEl>
                                        <p:attrNameLst>
                                          <p:attrName>ppt_x</p:attrName>
                                          <p:attrName>ppt_y</p:attrName>
                                        </p:attrNameLst>
                                      </p:cBhvr>
                                      <p:rCtr x="0" y="1759"/>
                                    </p:animMotion>
                                  </p:childTnLst>
                                </p:cTn>
                              </p:par>
                            </p:childTnLst>
                          </p:cTn>
                        </p:par>
                        <p:par>
                          <p:cTn id="350" fill="hold">
                            <p:stCondLst>
                              <p:cond delay="7000"/>
                            </p:stCondLst>
                            <p:childTnLst>
                              <p:par>
                                <p:cTn id="351" presetID="22" presetClass="entr" presetSubtype="8" fill="hold" nodeType="afterEffect">
                                  <p:stCondLst>
                                    <p:cond delay="0"/>
                                  </p:stCondLst>
                                  <p:childTnLst>
                                    <p:set>
                                      <p:cBhvr>
                                        <p:cTn id="352" dur="1" fill="hold">
                                          <p:stCondLst>
                                            <p:cond delay="0"/>
                                          </p:stCondLst>
                                        </p:cTn>
                                        <p:tgtEl>
                                          <p:spTgt spid="20"/>
                                        </p:tgtEl>
                                        <p:attrNameLst>
                                          <p:attrName>style.visibility</p:attrName>
                                        </p:attrNameLst>
                                      </p:cBhvr>
                                      <p:to>
                                        <p:strVal val="visible"/>
                                      </p:to>
                                    </p:set>
                                    <p:animEffect transition="in" filter="wipe(left)">
                                      <p:cBhvr>
                                        <p:cTn id="353" dur="250"/>
                                        <p:tgtEl>
                                          <p:spTgt spid="20"/>
                                        </p:tgtEl>
                                      </p:cBhvr>
                                    </p:animEffect>
                                  </p:childTnLst>
                                </p:cTn>
                              </p:par>
                            </p:childTnLst>
                          </p:cTn>
                        </p:par>
                        <p:par>
                          <p:cTn id="354" fill="hold">
                            <p:stCondLst>
                              <p:cond delay="7250"/>
                            </p:stCondLst>
                            <p:childTnLst>
                              <p:par>
                                <p:cTn id="355" presetID="42" presetClass="path" presetSubtype="0" accel="50000" decel="50000" fill="hold" grpId="20" nodeType="afterEffect">
                                  <p:stCondLst>
                                    <p:cond delay="0"/>
                                  </p:stCondLst>
                                  <p:childTnLst>
                                    <p:animMotion origin="layout" path="M 0.00013 0.62176 L 0.00065 0.6537 " pathEditMode="relative" rAng="0" ptsTypes="AA">
                                      <p:cBhvr>
                                        <p:cTn id="356" dur="250" fill="hold"/>
                                        <p:tgtEl>
                                          <p:spTgt spid="7"/>
                                        </p:tgtEl>
                                        <p:attrNameLst>
                                          <p:attrName>ppt_x</p:attrName>
                                          <p:attrName>ppt_y</p:attrName>
                                        </p:attrNameLst>
                                      </p:cBhvr>
                                      <p:rCtr x="0" y="1620"/>
                                    </p:animMotion>
                                  </p:childTnLst>
                                </p:cTn>
                              </p:par>
                            </p:childTnLst>
                          </p:cTn>
                        </p:par>
                        <p:par>
                          <p:cTn id="357" fill="hold">
                            <p:stCondLst>
                              <p:cond delay="7500"/>
                            </p:stCondLst>
                            <p:childTnLst>
                              <p:par>
                                <p:cTn id="358" presetID="22" presetClass="entr" presetSubtype="8" fill="hold" nodeType="afterEffect">
                                  <p:stCondLst>
                                    <p:cond delay="0"/>
                                  </p:stCondLst>
                                  <p:childTnLst>
                                    <p:set>
                                      <p:cBhvr>
                                        <p:cTn id="359" dur="1" fill="hold">
                                          <p:stCondLst>
                                            <p:cond delay="0"/>
                                          </p:stCondLst>
                                        </p:cTn>
                                        <p:tgtEl>
                                          <p:spTgt spid="26"/>
                                        </p:tgtEl>
                                        <p:attrNameLst>
                                          <p:attrName>style.visibility</p:attrName>
                                        </p:attrNameLst>
                                      </p:cBhvr>
                                      <p:to>
                                        <p:strVal val="visible"/>
                                      </p:to>
                                    </p:set>
                                    <p:animEffect transition="in" filter="wipe(left)">
                                      <p:cBhvr>
                                        <p:cTn id="360" dur="250"/>
                                        <p:tgtEl>
                                          <p:spTgt spid="26"/>
                                        </p:tgtEl>
                                      </p:cBhvr>
                                    </p:animEffect>
                                  </p:childTnLst>
                                </p:cTn>
                              </p:par>
                            </p:childTnLst>
                          </p:cTn>
                        </p:par>
                        <p:par>
                          <p:cTn id="361" fill="hold">
                            <p:stCondLst>
                              <p:cond delay="7750"/>
                            </p:stCondLst>
                            <p:childTnLst>
                              <p:par>
                                <p:cTn id="362" presetID="42" presetClass="path" presetSubtype="0" accel="50000" decel="50000" fill="hold" grpId="21" nodeType="afterEffect">
                                  <p:stCondLst>
                                    <p:cond delay="0"/>
                                  </p:stCondLst>
                                  <p:childTnLst>
                                    <p:animMotion origin="layout" path="M 0.00065 0.65371 L 0.00065 0.68704 " pathEditMode="relative" rAng="0" ptsTypes="AA">
                                      <p:cBhvr>
                                        <p:cTn id="363" dur="250" fill="hold"/>
                                        <p:tgtEl>
                                          <p:spTgt spid="7"/>
                                        </p:tgtEl>
                                        <p:attrNameLst>
                                          <p:attrName>ppt_x</p:attrName>
                                          <p:attrName>ppt_y</p:attrName>
                                        </p:attrNameLst>
                                      </p:cBhvr>
                                      <p:rCtr x="0" y="1667"/>
                                    </p:animMotion>
                                  </p:childTnLst>
                                </p:cTn>
                              </p:par>
                            </p:childTnLst>
                          </p:cTn>
                        </p:par>
                        <p:par>
                          <p:cTn id="364" fill="hold">
                            <p:stCondLst>
                              <p:cond delay="8000"/>
                            </p:stCondLst>
                            <p:childTnLst>
                              <p:par>
                                <p:cTn id="365" presetID="22" presetClass="entr" presetSubtype="8" fill="hold" nodeType="afterEffect">
                                  <p:stCondLst>
                                    <p:cond delay="0"/>
                                  </p:stCondLst>
                                  <p:childTnLst>
                                    <p:set>
                                      <p:cBhvr>
                                        <p:cTn id="366" dur="1" fill="hold">
                                          <p:stCondLst>
                                            <p:cond delay="0"/>
                                          </p:stCondLst>
                                        </p:cTn>
                                        <p:tgtEl>
                                          <p:spTgt spid="23"/>
                                        </p:tgtEl>
                                        <p:attrNameLst>
                                          <p:attrName>style.visibility</p:attrName>
                                        </p:attrNameLst>
                                      </p:cBhvr>
                                      <p:to>
                                        <p:strVal val="visible"/>
                                      </p:to>
                                    </p:set>
                                    <p:animEffect transition="in" filter="wipe(left)">
                                      <p:cBhvr>
                                        <p:cTn id="367" dur="250"/>
                                        <p:tgtEl>
                                          <p:spTgt spid="23"/>
                                        </p:tgtEl>
                                      </p:cBhvr>
                                    </p:animEffect>
                                  </p:childTnLst>
                                </p:cTn>
                              </p:par>
                            </p:childTnLst>
                          </p:cTn>
                        </p:par>
                        <p:par>
                          <p:cTn id="368" fill="hold">
                            <p:stCondLst>
                              <p:cond delay="8250"/>
                            </p:stCondLst>
                            <p:childTnLst>
                              <p:par>
                                <p:cTn id="369" presetID="42" presetClass="path" presetSubtype="0" accel="50000" decel="50000" fill="hold" grpId="22" nodeType="afterEffect">
                                  <p:stCondLst>
                                    <p:cond delay="0"/>
                                  </p:stCondLst>
                                  <p:childTnLst>
                                    <p:animMotion origin="layout" path="M 0.00065 0.68704 L 0.00065 0.71852 " pathEditMode="relative" rAng="0" ptsTypes="AA">
                                      <p:cBhvr>
                                        <p:cTn id="370" dur="250" fill="hold"/>
                                        <p:tgtEl>
                                          <p:spTgt spid="7"/>
                                        </p:tgtEl>
                                        <p:attrNameLst>
                                          <p:attrName>ppt_x</p:attrName>
                                          <p:attrName>ppt_y</p:attrName>
                                        </p:attrNameLst>
                                      </p:cBhvr>
                                      <p:rCtr x="0" y="1574"/>
                                    </p:animMotion>
                                  </p:childTnLst>
                                </p:cTn>
                              </p:par>
                              <p:par>
                                <p:cTn id="371" presetID="22" presetClass="entr" presetSubtype="8" fill="hold" nodeType="withEffect">
                                  <p:stCondLst>
                                    <p:cond delay="0"/>
                                  </p:stCondLst>
                                  <p:childTnLst>
                                    <p:set>
                                      <p:cBhvr>
                                        <p:cTn id="372" dur="1" fill="hold">
                                          <p:stCondLst>
                                            <p:cond delay="0"/>
                                          </p:stCondLst>
                                        </p:cTn>
                                        <p:tgtEl>
                                          <p:spTgt spid="27"/>
                                        </p:tgtEl>
                                        <p:attrNameLst>
                                          <p:attrName>style.visibility</p:attrName>
                                        </p:attrNameLst>
                                      </p:cBhvr>
                                      <p:to>
                                        <p:strVal val="visible"/>
                                      </p:to>
                                    </p:set>
                                    <p:animEffect transition="in" filter="wipe(left)">
                                      <p:cBhvr>
                                        <p:cTn id="373" dur="250"/>
                                        <p:tgtEl>
                                          <p:spTgt spid="27"/>
                                        </p:tgtEl>
                                      </p:cBhvr>
                                    </p:animEffect>
                                  </p:childTnLst>
                                </p:cTn>
                              </p:par>
                            </p:childTnLst>
                          </p:cTn>
                        </p:par>
                        <p:par>
                          <p:cTn id="374" fill="hold">
                            <p:stCondLst>
                              <p:cond delay="8500"/>
                            </p:stCondLst>
                            <p:childTnLst>
                              <p:par>
                                <p:cTn id="375" presetID="42" presetClass="path" presetSubtype="0" accel="50000" decel="50000" fill="hold" grpId="23" nodeType="afterEffect">
                                  <p:stCondLst>
                                    <p:cond delay="0"/>
                                  </p:stCondLst>
                                  <p:childTnLst>
                                    <p:animMotion origin="layout" path="M 0.00078 0.71852 L 0.00078 0.75278 " pathEditMode="relative" rAng="0" ptsTypes="AA">
                                      <p:cBhvr>
                                        <p:cTn id="376" dur="250" fill="hold"/>
                                        <p:tgtEl>
                                          <p:spTgt spid="7"/>
                                        </p:tgtEl>
                                        <p:attrNameLst>
                                          <p:attrName>ppt_x</p:attrName>
                                          <p:attrName>ppt_y</p:attrName>
                                        </p:attrNameLst>
                                      </p:cBhvr>
                                      <p:rCtr x="0" y="1713"/>
                                    </p:animMotion>
                                  </p:childTnLst>
                                </p:cTn>
                              </p:par>
                            </p:childTnLst>
                          </p:cTn>
                        </p:par>
                        <p:par>
                          <p:cTn id="377" fill="hold">
                            <p:stCondLst>
                              <p:cond delay="8750"/>
                            </p:stCondLst>
                            <p:childTnLst>
                              <p:par>
                                <p:cTn id="378" presetID="42" presetClass="path" presetSubtype="0" accel="50000" decel="50000" fill="hold" grpId="24" nodeType="afterEffect">
                                  <p:stCondLst>
                                    <p:cond delay="0"/>
                                  </p:stCondLst>
                                  <p:childTnLst>
                                    <p:animMotion origin="layout" path="M 0.00078 0.75278 L 0.00013 0.78426 " pathEditMode="relative" rAng="0" ptsTypes="AA">
                                      <p:cBhvr>
                                        <p:cTn id="379" dur="250" fill="hold"/>
                                        <p:tgtEl>
                                          <p:spTgt spid="7"/>
                                        </p:tgtEl>
                                        <p:attrNameLst>
                                          <p:attrName>ppt_x</p:attrName>
                                          <p:attrName>ppt_y</p:attrName>
                                        </p:attrNameLst>
                                      </p:cBhvr>
                                      <p:rCtr x="-39" y="1667"/>
                                    </p:animMotion>
                                  </p:childTnLst>
                                </p:cTn>
                              </p:par>
                            </p:childTnLst>
                          </p:cTn>
                        </p:par>
                        <p:par>
                          <p:cTn id="380" fill="hold">
                            <p:stCondLst>
                              <p:cond delay="9000"/>
                            </p:stCondLst>
                            <p:childTnLst>
                              <p:par>
                                <p:cTn id="381" presetID="22" presetClass="entr" presetSubtype="8" fill="hold" nodeType="afterEffect">
                                  <p:stCondLst>
                                    <p:cond delay="0"/>
                                  </p:stCondLst>
                                  <p:childTnLst>
                                    <p:set>
                                      <p:cBhvr>
                                        <p:cTn id="382" dur="1" fill="hold">
                                          <p:stCondLst>
                                            <p:cond delay="0"/>
                                          </p:stCondLst>
                                        </p:cTn>
                                        <p:tgtEl>
                                          <p:spTgt spid="32"/>
                                        </p:tgtEl>
                                        <p:attrNameLst>
                                          <p:attrName>style.visibility</p:attrName>
                                        </p:attrNameLst>
                                      </p:cBhvr>
                                      <p:to>
                                        <p:strVal val="visible"/>
                                      </p:to>
                                    </p:set>
                                    <p:animEffect transition="in" filter="wipe(left)">
                                      <p:cBhvr>
                                        <p:cTn id="383" dur="250"/>
                                        <p:tgtEl>
                                          <p:spTgt spid="32"/>
                                        </p:tgtEl>
                                      </p:cBhvr>
                                    </p:animEffect>
                                  </p:childTnLst>
                                </p:cTn>
                              </p:par>
                            </p:childTnLst>
                          </p:cTn>
                        </p:par>
                        <p:par>
                          <p:cTn id="384" fill="hold">
                            <p:stCondLst>
                              <p:cond delay="9250"/>
                            </p:stCondLst>
                            <p:childTnLst>
                              <p:par>
                                <p:cTn id="385" presetID="42" presetClass="path" presetSubtype="0" accel="50000" decel="50000" fill="hold" grpId="25" nodeType="afterEffect">
                                  <p:stCondLst>
                                    <p:cond delay="0"/>
                                  </p:stCondLst>
                                  <p:childTnLst>
                                    <p:animMotion origin="layout" path="M 0.00013 0.78426 L 0.00013 0.81551 " pathEditMode="relative" rAng="0" ptsTypes="AA">
                                      <p:cBhvr>
                                        <p:cTn id="386" dur="250" fill="hold"/>
                                        <p:tgtEl>
                                          <p:spTgt spid="7"/>
                                        </p:tgtEl>
                                        <p:attrNameLst>
                                          <p:attrName>ppt_x</p:attrName>
                                          <p:attrName>ppt_y</p:attrName>
                                        </p:attrNameLst>
                                      </p:cBhvr>
                                      <p:rCtr x="0" y="1551"/>
                                    </p:animMotion>
                                  </p:childTnLst>
                                </p:cTn>
                              </p:par>
                            </p:childTnLst>
                          </p:cTn>
                        </p:par>
                        <p:par>
                          <p:cTn id="387" fill="hold">
                            <p:stCondLst>
                              <p:cond delay="9500"/>
                            </p:stCondLst>
                            <p:childTnLst>
                              <p:par>
                                <p:cTn id="388" presetID="1" presetClass="exit" presetSubtype="0" fill="hold" grpId="26" nodeType="afterEffect">
                                  <p:stCondLst>
                                    <p:cond delay="0"/>
                                  </p:stCondLst>
                                  <p:childTnLst>
                                    <p:set>
                                      <p:cBhvr>
                                        <p:cTn id="389"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P spid="7" grpId="8" animBg="1"/>
      <p:bldP spid="7" grpId="9" animBg="1"/>
      <p:bldP spid="7" grpId="10" animBg="1"/>
      <p:bldP spid="7" grpId="11" animBg="1"/>
      <p:bldP spid="7" grpId="12" animBg="1"/>
      <p:bldP spid="7" grpId="13" animBg="1"/>
      <p:bldP spid="7" grpId="14" animBg="1"/>
      <p:bldP spid="7" grpId="15" animBg="1"/>
      <p:bldP spid="7" grpId="16" animBg="1"/>
      <p:bldP spid="7" grpId="17" animBg="1"/>
      <p:bldP spid="7" grpId="18" animBg="1"/>
      <p:bldP spid="7" grpId="19" animBg="1"/>
      <p:bldP spid="7" grpId="20" animBg="1"/>
      <p:bldP spid="7" grpId="21" animBg="1"/>
      <p:bldP spid="7" grpId="22" animBg="1"/>
      <p:bldP spid="7" grpId="23" animBg="1"/>
      <p:bldP spid="7" grpId="24" animBg="1"/>
      <p:bldP spid="7" grpId="25" animBg="1"/>
      <p:bldP spid="7" grpId="26" animBg="1"/>
      <p:bldP spid="152" grpId="0" animBg="1"/>
      <p:bldP spid="152" grpId="1" animBg="1"/>
      <p:bldP spid="152" grpId="2" animBg="1"/>
      <p:bldP spid="152" grpId="3" animBg="1"/>
      <p:bldP spid="152" grpId="4" animBg="1"/>
      <p:bldP spid="152" grpId="5" animBg="1"/>
      <p:bldP spid="152" grpId="6" animBg="1"/>
      <p:bldP spid="152" grpId="7" animBg="1"/>
      <p:bldP spid="152" grpId="8" animBg="1"/>
      <p:bldP spid="152" grpId="9" animBg="1"/>
      <p:bldP spid="152" grpId="10" animBg="1"/>
      <p:bldP spid="152" grpId="11" animBg="1"/>
      <p:bldP spid="152" grpId="12" animBg="1"/>
      <p:bldP spid="152" grpId="13" animBg="1"/>
      <p:bldP spid="152" grpId="14" animBg="1"/>
      <p:bldP spid="152" grpId="15" animBg="1"/>
      <p:bldP spid="152" grpId="16" animBg="1"/>
      <p:bldP spid="153" grpId="0" animBg="1"/>
      <p:bldP spid="153" grpId="1" animBg="1"/>
      <p:bldP spid="153" grpId="2" animBg="1"/>
      <p:bldP spid="153" grpId="3" animBg="1"/>
      <p:bldP spid="153" grpId="4" animBg="1"/>
      <p:bldP spid="153" grpId="5" animBg="1"/>
      <p:bldP spid="153" grpId="6" animBg="1"/>
      <p:bldP spid="153" grpId="7" animBg="1"/>
      <p:bldP spid="153" grpId="8" animBg="1"/>
      <p:bldP spid="153" grpId="9" animBg="1"/>
      <p:bldP spid="153" grpId="10" animBg="1"/>
      <p:bldP spid="153" grpId="11" animBg="1"/>
      <p:bldP spid="153" grpId="12" animBg="1"/>
      <p:bldP spid="153" grpId="13" animBg="1"/>
      <p:bldP spid="153" grpId="14" animBg="1"/>
      <p:bldP spid="153" grpId="15" animBg="1"/>
      <p:bldP spid="153" grpId="16" animBg="1"/>
      <p:bldP spid="211" grpId="0"/>
      <p:bldP spid="221" grpId="0"/>
      <p:bldP spid="341" grpId="0" animBg="1"/>
      <p:bldP spid="341" grpId="1" animBg="1"/>
      <p:bldP spid="341" grpId="2" animBg="1"/>
      <p:bldP spid="341" grpId="3" animBg="1"/>
      <p:bldP spid="341" grpId="4" animBg="1"/>
      <p:bldP spid="341" grpId="5" animBg="1"/>
      <p:bldP spid="342" grpId="0" animBg="1"/>
      <p:bldP spid="342" grpId="1" animBg="1"/>
      <p:bldP spid="342" grpId="2" animBg="1"/>
      <p:bldP spid="342" grpId="3" animBg="1"/>
      <p:bldP spid="343" grpId="0" animBg="1"/>
      <p:bldP spid="343" grpId="1" animBg="1"/>
      <p:bldP spid="343" grpId="2" animBg="1"/>
      <p:bldP spid="343" grpId="3" animBg="1"/>
      <p:bldP spid="344" grpId="0" animBg="1"/>
      <p:bldP spid="344" grpId="1" animBg="1"/>
      <p:bldP spid="344" grpId="2" animBg="1"/>
      <p:bldP spid="344" grpId="3" animBg="1"/>
      <p:bldP spid="345" grpId="0" animBg="1"/>
      <p:bldP spid="345" grpId="1" animBg="1"/>
      <p:bldP spid="345" grpId="2" animBg="1"/>
      <p:bldP spid="345" grpId="3" animBg="1"/>
      <p:bldP spid="346" grpId="0" animBg="1"/>
      <p:bldP spid="346" grpId="1" animBg="1"/>
      <p:bldP spid="346" grpId="2" animBg="1"/>
      <p:bldP spid="346" grpId="3"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0" y="156730"/>
            <a:ext cx="8784976"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00AAE5"/>
                </a:solidFill>
                <a:effectLst/>
                <a:uLnTx/>
                <a:uFillTx/>
                <a:latin typeface="Calibri"/>
                <a:ea typeface="+mj-ea"/>
                <a:cs typeface="+mj-cs"/>
              </a:rPr>
              <a:t>Components of the </a:t>
            </a:r>
            <a:r>
              <a:rPr kumimoji="0" lang="en-US" sz="2400" b="0" i="0" u="none" strike="noStrike" kern="1200" cap="none" spc="0" normalizeH="0" baseline="0" noProof="0" dirty="0" err="1" smtClean="0">
                <a:ln>
                  <a:noFill/>
                </a:ln>
                <a:solidFill>
                  <a:srgbClr val="00AAE5"/>
                </a:solidFill>
                <a:effectLst/>
                <a:uLnTx/>
                <a:uFillTx/>
                <a:latin typeface="Calibri"/>
                <a:ea typeface="+mj-ea"/>
                <a:cs typeface="+mj-cs"/>
              </a:rPr>
              <a:t>SearchEngine</a:t>
            </a:r>
            <a:endParaRPr kumimoji="0" lang="en-US" sz="2400" b="0" i="0" u="none" strike="noStrike" kern="1200" cap="none" spc="0" normalizeH="0" baseline="0" noProof="0" dirty="0">
              <a:ln>
                <a:noFill/>
              </a:ln>
              <a:solidFill>
                <a:srgbClr val="00AAE5"/>
              </a:solidFill>
              <a:effectLst/>
              <a:uLnTx/>
              <a:uFillTx/>
              <a:latin typeface="Calibri"/>
              <a:ea typeface="+mj-ea"/>
              <a:cs typeface="+mj-cs"/>
            </a:endParaRPr>
          </a:p>
        </p:txBody>
      </p:sp>
      <p:sp>
        <p:nvSpPr>
          <p:cNvPr id="6" name="Freihandform 115"/>
          <p:cNvSpPr/>
          <p:nvPr/>
        </p:nvSpPr>
        <p:spPr>
          <a:xfrm rot="319612">
            <a:off x="1492386" y="1209524"/>
            <a:ext cx="3925377" cy="2824657"/>
          </a:xfrm>
          <a:custGeom>
            <a:avLst/>
            <a:gdLst>
              <a:gd name="connsiteX0" fmla="*/ 3688422 w 3688422"/>
              <a:gd name="connsiteY0" fmla="*/ 2558356 h 2771197"/>
              <a:gd name="connsiteX1" fmla="*/ 852755 w 3688422"/>
              <a:gd name="connsiteY1" fmla="*/ 2722743 h 2771197"/>
              <a:gd name="connsiteX2" fmla="*/ 0 w 3688422"/>
              <a:gd name="connsiteY2" fmla="*/ 1798068 h 2771197"/>
              <a:gd name="connsiteX3" fmla="*/ 852755 w 3688422"/>
              <a:gd name="connsiteY3" fmla="*/ 298042 h 2771197"/>
              <a:gd name="connsiteX4" fmla="*/ 1931541 w 3688422"/>
              <a:gd name="connsiteY4" fmla="*/ 91 h 2771197"/>
              <a:gd name="connsiteX0" fmla="*/ 3998458 w 3998458"/>
              <a:gd name="connsiteY0" fmla="*/ 2576371 h 2775917"/>
              <a:gd name="connsiteX1" fmla="*/ 852755 w 3998458"/>
              <a:gd name="connsiteY1" fmla="*/ 2722743 h 2775917"/>
              <a:gd name="connsiteX2" fmla="*/ 0 w 3998458"/>
              <a:gd name="connsiteY2" fmla="*/ 1798068 h 2775917"/>
              <a:gd name="connsiteX3" fmla="*/ 852755 w 3998458"/>
              <a:gd name="connsiteY3" fmla="*/ 298042 h 2775917"/>
              <a:gd name="connsiteX4" fmla="*/ 1931541 w 3998458"/>
              <a:gd name="connsiteY4" fmla="*/ 91 h 2775917"/>
              <a:gd name="connsiteX0" fmla="*/ 3998472 w 3998472"/>
              <a:gd name="connsiteY0" fmla="*/ 2576371 h 2824188"/>
              <a:gd name="connsiteX1" fmla="*/ 841421 w 3998472"/>
              <a:gd name="connsiteY1" fmla="*/ 2780782 h 2824188"/>
              <a:gd name="connsiteX2" fmla="*/ 14 w 3998472"/>
              <a:gd name="connsiteY2" fmla="*/ 1798068 h 2824188"/>
              <a:gd name="connsiteX3" fmla="*/ 852769 w 3998472"/>
              <a:gd name="connsiteY3" fmla="*/ 298042 h 2824188"/>
              <a:gd name="connsiteX4" fmla="*/ 1931555 w 3998472"/>
              <a:gd name="connsiteY4" fmla="*/ 91 h 2824188"/>
              <a:gd name="connsiteX0" fmla="*/ 3998467 w 3998467"/>
              <a:gd name="connsiteY0" fmla="*/ 2576371 h 2847256"/>
              <a:gd name="connsiteX1" fmla="*/ 841416 w 3998467"/>
              <a:gd name="connsiteY1" fmla="*/ 2780782 h 2847256"/>
              <a:gd name="connsiteX2" fmla="*/ 9 w 3998467"/>
              <a:gd name="connsiteY2" fmla="*/ 1798068 h 2847256"/>
              <a:gd name="connsiteX3" fmla="*/ 852764 w 3998467"/>
              <a:gd name="connsiteY3" fmla="*/ 298042 h 2847256"/>
              <a:gd name="connsiteX4" fmla="*/ 1931550 w 3998467"/>
              <a:gd name="connsiteY4" fmla="*/ 91 h 2847256"/>
              <a:gd name="connsiteX0" fmla="*/ 3998468 w 3998468"/>
              <a:gd name="connsiteY0" fmla="*/ 2576371 h 2824386"/>
              <a:gd name="connsiteX1" fmla="*/ 841417 w 3998468"/>
              <a:gd name="connsiteY1" fmla="*/ 2780782 h 2824386"/>
              <a:gd name="connsiteX2" fmla="*/ 10 w 3998468"/>
              <a:gd name="connsiteY2" fmla="*/ 1798068 h 2824386"/>
              <a:gd name="connsiteX3" fmla="*/ 852765 w 3998468"/>
              <a:gd name="connsiteY3" fmla="*/ 298042 h 2824386"/>
              <a:gd name="connsiteX4" fmla="*/ 1931551 w 3998468"/>
              <a:gd name="connsiteY4" fmla="*/ 91 h 2824386"/>
              <a:gd name="connsiteX0" fmla="*/ 3925377 w 3925377"/>
              <a:gd name="connsiteY0" fmla="*/ 2576371 h 2824657"/>
              <a:gd name="connsiteX1" fmla="*/ 768326 w 3925377"/>
              <a:gd name="connsiteY1" fmla="*/ 2780782 h 2824657"/>
              <a:gd name="connsiteX2" fmla="*/ 23 w 3925377"/>
              <a:gd name="connsiteY2" fmla="*/ 1791252 h 2824657"/>
              <a:gd name="connsiteX3" fmla="*/ 779674 w 3925377"/>
              <a:gd name="connsiteY3" fmla="*/ 298042 h 2824657"/>
              <a:gd name="connsiteX4" fmla="*/ 1858460 w 3925377"/>
              <a:gd name="connsiteY4" fmla="*/ 91 h 28246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25377" h="2824657">
                <a:moveTo>
                  <a:pt x="3925377" y="2576371"/>
                </a:moveTo>
                <a:cubicBezTo>
                  <a:pt x="2814912" y="2721922"/>
                  <a:pt x="1422552" y="2911635"/>
                  <a:pt x="768326" y="2780782"/>
                </a:cubicBezTo>
                <a:cubicBezTo>
                  <a:pt x="114100" y="2649929"/>
                  <a:pt x="-1868" y="2205042"/>
                  <a:pt x="23" y="1791252"/>
                </a:cubicBezTo>
                <a:cubicBezTo>
                  <a:pt x="1914" y="1377462"/>
                  <a:pt x="457751" y="597705"/>
                  <a:pt x="779674" y="298042"/>
                </a:cubicBezTo>
                <a:cubicBezTo>
                  <a:pt x="1101597" y="-1621"/>
                  <a:pt x="1480028" y="-765"/>
                  <a:pt x="1858460" y="91"/>
                </a:cubicBezTo>
              </a:path>
            </a:pathLst>
          </a:custGeom>
          <a:noFill/>
          <a:ln w="190500" cap="rnd" cmpd="sng" algn="ctr">
            <a:solidFill>
              <a:srgbClr val="1F497D">
                <a:lumMod val="20000"/>
                <a:lumOff val="8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 name="Freihandform 116"/>
          <p:cNvSpPr/>
          <p:nvPr/>
        </p:nvSpPr>
        <p:spPr>
          <a:xfrm>
            <a:off x="5326614" y="1134742"/>
            <a:ext cx="2514873" cy="1685787"/>
          </a:xfrm>
          <a:custGeom>
            <a:avLst/>
            <a:gdLst>
              <a:gd name="connsiteX0" fmla="*/ 0 w 2476072"/>
              <a:gd name="connsiteY0" fmla="*/ 138408 h 1576790"/>
              <a:gd name="connsiteX1" fmla="*/ 1695236 w 2476072"/>
              <a:gd name="connsiteY1" fmla="*/ 138408 h 1576790"/>
              <a:gd name="connsiteX2" fmla="*/ 2476072 w 2476072"/>
              <a:gd name="connsiteY2" fmla="*/ 1576790 h 1576790"/>
            </a:gdLst>
            <a:ahLst/>
            <a:cxnLst>
              <a:cxn ang="0">
                <a:pos x="connsiteX0" y="connsiteY0"/>
              </a:cxn>
              <a:cxn ang="0">
                <a:pos x="connsiteX1" y="connsiteY1"/>
              </a:cxn>
              <a:cxn ang="0">
                <a:pos x="connsiteX2" y="connsiteY2"/>
              </a:cxn>
            </a:cxnLst>
            <a:rect l="l" t="t" r="r" b="b"/>
            <a:pathLst>
              <a:path w="2476072" h="1576790">
                <a:moveTo>
                  <a:pt x="0" y="138408"/>
                </a:moveTo>
                <a:cubicBezTo>
                  <a:pt x="641278" y="18543"/>
                  <a:pt x="1282557" y="-101322"/>
                  <a:pt x="1695236" y="138408"/>
                </a:cubicBezTo>
                <a:cubicBezTo>
                  <a:pt x="2107915" y="378138"/>
                  <a:pt x="2291993" y="977464"/>
                  <a:pt x="2476072" y="1576790"/>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 name="Freihandform 117"/>
          <p:cNvSpPr/>
          <p:nvPr/>
        </p:nvSpPr>
        <p:spPr>
          <a:xfrm>
            <a:off x="5326615" y="1243718"/>
            <a:ext cx="2397518" cy="2203622"/>
          </a:xfrm>
          <a:custGeom>
            <a:avLst/>
            <a:gdLst>
              <a:gd name="connsiteX0" fmla="*/ 0 w 2352782"/>
              <a:gd name="connsiteY0" fmla="*/ 39707 h 2104813"/>
              <a:gd name="connsiteX1" fmla="*/ 1592495 w 2352782"/>
              <a:gd name="connsiteY1" fmla="*/ 276013 h 2104813"/>
              <a:gd name="connsiteX2" fmla="*/ 2352782 w 2352782"/>
              <a:gd name="connsiteY2" fmla="*/ 2104813 h 2104813"/>
            </a:gdLst>
            <a:ahLst/>
            <a:cxnLst>
              <a:cxn ang="0">
                <a:pos x="connsiteX0" y="connsiteY0"/>
              </a:cxn>
              <a:cxn ang="0">
                <a:pos x="connsiteX1" y="connsiteY1"/>
              </a:cxn>
              <a:cxn ang="0">
                <a:pos x="connsiteX2" y="connsiteY2"/>
              </a:cxn>
            </a:cxnLst>
            <a:rect l="l" t="t" r="r" b="b"/>
            <a:pathLst>
              <a:path w="2352782" h="2104813">
                <a:moveTo>
                  <a:pt x="0" y="39707"/>
                </a:moveTo>
                <a:cubicBezTo>
                  <a:pt x="600182" y="-14232"/>
                  <a:pt x="1200365" y="-68171"/>
                  <a:pt x="1592495" y="276013"/>
                </a:cubicBezTo>
                <a:cubicBezTo>
                  <a:pt x="1984625" y="620197"/>
                  <a:pt x="2168703" y="1362505"/>
                  <a:pt x="2352782" y="2104813"/>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9" name="Freihandform 118"/>
          <p:cNvSpPr/>
          <p:nvPr/>
        </p:nvSpPr>
        <p:spPr>
          <a:xfrm>
            <a:off x="5336889" y="1292763"/>
            <a:ext cx="2387244" cy="3298210"/>
          </a:xfrm>
          <a:custGeom>
            <a:avLst/>
            <a:gdLst>
              <a:gd name="connsiteX0" fmla="*/ 0 w 2260314"/>
              <a:gd name="connsiteY0" fmla="*/ 11210 h 3093457"/>
              <a:gd name="connsiteX1" fmla="*/ 1263721 w 2260314"/>
              <a:gd name="connsiteY1" fmla="*/ 473547 h 3093457"/>
              <a:gd name="connsiteX2" fmla="*/ 2260314 w 2260314"/>
              <a:gd name="connsiteY2" fmla="*/ 3093457 h 3093457"/>
            </a:gdLst>
            <a:ahLst/>
            <a:cxnLst>
              <a:cxn ang="0">
                <a:pos x="connsiteX0" y="connsiteY0"/>
              </a:cxn>
              <a:cxn ang="0">
                <a:pos x="connsiteX1" y="connsiteY1"/>
              </a:cxn>
              <a:cxn ang="0">
                <a:pos x="connsiteX2" y="connsiteY2"/>
              </a:cxn>
            </a:cxnLst>
            <a:rect l="l" t="t" r="r" b="b"/>
            <a:pathLst>
              <a:path w="2260314" h="3093457">
                <a:moveTo>
                  <a:pt x="0" y="11210"/>
                </a:moveTo>
                <a:cubicBezTo>
                  <a:pt x="443501" y="-14476"/>
                  <a:pt x="887002" y="-40161"/>
                  <a:pt x="1263721" y="473547"/>
                </a:cubicBezTo>
                <a:cubicBezTo>
                  <a:pt x="1640440" y="987255"/>
                  <a:pt x="1950377" y="2040356"/>
                  <a:pt x="2260314" y="3093457"/>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0" name="Freihandform 119"/>
          <p:cNvSpPr/>
          <p:nvPr/>
        </p:nvSpPr>
        <p:spPr>
          <a:xfrm>
            <a:off x="5326615" y="1303973"/>
            <a:ext cx="2375150" cy="4377595"/>
          </a:xfrm>
          <a:custGeom>
            <a:avLst/>
            <a:gdLst>
              <a:gd name="connsiteX0" fmla="*/ 0 w 2363057"/>
              <a:gd name="connsiteY0" fmla="*/ 0 h 4253501"/>
              <a:gd name="connsiteX1" fmla="*/ 1356189 w 2363057"/>
              <a:gd name="connsiteY1" fmla="*/ 1458931 h 4253501"/>
              <a:gd name="connsiteX2" fmla="*/ 2363057 w 2363057"/>
              <a:gd name="connsiteY2" fmla="*/ 4253501 h 4253501"/>
            </a:gdLst>
            <a:ahLst/>
            <a:cxnLst>
              <a:cxn ang="0">
                <a:pos x="connsiteX0" y="connsiteY0"/>
              </a:cxn>
              <a:cxn ang="0">
                <a:pos x="connsiteX1" y="connsiteY1"/>
              </a:cxn>
              <a:cxn ang="0">
                <a:pos x="connsiteX2" y="connsiteY2"/>
              </a:cxn>
            </a:cxnLst>
            <a:rect l="l" t="t" r="r" b="b"/>
            <a:pathLst>
              <a:path w="2363057" h="4253501">
                <a:moveTo>
                  <a:pt x="0" y="0"/>
                </a:moveTo>
                <a:cubicBezTo>
                  <a:pt x="481173" y="375007"/>
                  <a:pt x="962346" y="750014"/>
                  <a:pt x="1356189" y="1458931"/>
                </a:cubicBezTo>
                <a:cubicBezTo>
                  <a:pt x="1750032" y="2167848"/>
                  <a:pt x="2056544" y="3210674"/>
                  <a:pt x="2363057" y="4253501"/>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1" name="Gerader Verbinder 84"/>
          <p:cNvCxnSpPr/>
          <p:nvPr/>
        </p:nvCxnSpPr>
        <p:spPr>
          <a:xfrm>
            <a:off x="6899306" y="2562137"/>
            <a:ext cx="3014963" cy="0"/>
          </a:xfrm>
          <a:prstGeom prst="line">
            <a:avLst/>
          </a:prstGeom>
          <a:noFill/>
          <a:ln w="25400" cap="flat" cmpd="sng" algn="ctr">
            <a:solidFill>
              <a:sysClr val="windowText" lastClr="000000"/>
            </a:solidFill>
            <a:prstDash val="solid"/>
          </a:ln>
          <a:effectLst/>
        </p:spPr>
      </p:cxnSp>
      <p:cxnSp>
        <p:nvCxnSpPr>
          <p:cNvPr id="12" name="Gerader Verbinder 17"/>
          <p:cNvCxnSpPr/>
          <p:nvPr/>
        </p:nvCxnSpPr>
        <p:spPr>
          <a:xfrm>
            <a:off x="2241451" y="2796222"/>
            <a:ext cx="3014963" cy="0"/>
          </a:xfrm>
          <a:prstGeom prst="line">
            <a:avLst/>
          </a:prstGeom>
          <a:noFill/>
          <a:ln w="25400" cap="flat" cmpd="sng" algn="ctr">
            <a:solidFill>
              <a:sysClr val="windowText" lastClr="000000"/>
            </a:solidFill>
            <a:prstDash val="solid"/>
          </a:ln>
          <a:effectLst/>
        </p:spPr>
      </p:cxnSp>
      <p:sp>
        <p:nvSpPr>
          <p:cNvPr id="13" name="Textfeld 18"/>
          <p:cNvSpPr txBox="1"/>
          <p:nvPr/>
        </p:nvSpPr>
        <p:spPr>
          <a:xfrm>
            <a:off x="2194922" y="2463974"/>
            <a:ext cx="71686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name</a:t>
            </a:r>
          </a:p>
        </p:txBody>
      </p:sp>
      <p:sp>
        <p:nvSpPr>
          <p:cNvPr id="14" name="Textfeld 20"/>
          <p:cNvSpPr txBox="1"/>
          <p:nvPr/>
        </p:nvSpPr>
        <p:spPr>
          <a:xfrm>
            <a:off x="4216419" y="2454887"/>
            <a:ext cx="51648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city</a:t>
            </a:r>
          </a:p>
        </p:txBody>
      </p:sp>
      <p:sp>
        <p:nvSpPr>
          <p:cNvPr id="15" name="Textfeld 21"/>
          <p:cNvSpPr txBox="1"/>
          <p:nvPr/>
        </p:nvSpPr>
        <p:spPr>
          <a:xfrm>
            <a:off x="4228903" y="3752578"/>
            <a:ext cx="108234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smtClean="0">
                <a:ln>
                  <a:noFill/>
                </a:ln>
                <a:solidFill>
                  <a:prstClr val="black"/>
                </a:solidFill>
                <a:effectLst/>
                <a:uLnTx/>
                <a:uFillTx/>
              </a:rPr>
              <a:t>München</a:t>
            </a:r>
            <a:endParaRPr kumimoji="0" lang="en-US" sz="1800" b="0" i="0" u="none" strike="noStrike" kern="0" cap="none" spc="0" normalizeH="0" baseline="0" noProof="0" dirty="0" smtClean="0">
              <a:ln>
                <a:noFill/>
              </a:ln>
              <a:solidFill>
                <a:prstClr val="black"/>
              </a:solidFill>
              <a:effectLst/>
              <a:uLnTx/>
              <a:uFillTx/>
            </a:endParaRPr>
          </a:p>
        </p:txBody>
      </p:sp>
      <p:sp>
        <p:nvSpPr>
          <p:cNvPr id="16" name="Textfeld 23"/>
          <p:cNvSpPr txBox="1"/>
          <p:nvPr/>
        </p:nvSpPr>
        <p:spPr>
          <a:xfrm>
            <a:off x="2229037" y="3761830"/>
            <a:ext cx="2119811"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BMW </a:t>
            </a:r>
            <a:r>
              <a:rPr kumimoji="0" lang="en-US" sz="1800" b="0" i="0" u="none" strike="noStrike" kern="0" cap="none" spc="0" normalizeH="0" baseline="0" noProof="0" dirty="0" err="1" smtClean="0">
                <a:ln>
                  <a:noFill/>
                </a:ln>
                <a:solidFill>
                  <a:prstClr val="black"/>
                </a:solidFill>
                <a:effectLst/>
                <a:uLnTx/>
                <a:uFillTx/>
              </a:rPr>
              <a:t>Technik</a:t>
            </a:r>
            <a:r>
              <a:rPr kumimoji="0" lang="en-US" sz="1800" b="0" i="0" u="none" strike="noStrike" kern="0" cap="none" spc="0" normalizeH="0" baseline="0" noProof="0" dirty="0" smtClean="0">
                <a:ln>
                  <a:noFill/>
                </a:ln>
                <a:solidFill>
                  <a:prstClr val="black"/>
                </a:solidFill>
                <a:effectLst/>
                <a:uLnTx/>
                <a:uFillTx/>
              </a:rPr>
              <a:t> GmbH</a:t>
            </a:r>
          </a:p>
        </p:txBody>
      </p:sp>
      <p:cxnSp>
        <p:nvCxnSpPr>
          <p:cNvPr id="17" name="Gerader Verbinder 31"/>
          <p:cNvCxnSpPr/>
          <p:nvPr/>
        </p:nvCxnSpPr>
        <p:spPr>
          <a:xfrm flipH="1">
            <a:off x="4273449" y="2526598"/>
            <a:ext cx="1305" cy="2431605"/>
          </a:xfrm>
          <a:prstGeom prst="line">
            <a:avLst/>
          </a:prstGeom>
          <a:noFill/>
          <a:ln w="25400" cap="flat" cmpd="sng" algn="ctr">
            <a:solidFill>
              <a:sysClr val="windowText" lastClr="000000"/>
            </a:solidFill>
            <a:prstDash val="solid"/>
          </a:ln>
          <a:effectLst/>
        </p:spPr>
      </p:cxnSp>
      <p:sp>
        <p:nvSpPr>
          <p:cNvPr id="18" name="Textfeld 44"/>
          <p:cNvSpPr txBox="1"/>
          <p:nvPr/>
        </p:nvSpPr>
        <p:spPr>
          <a:xfrm>
            <a:off x="1936083" y="2733211"/>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a:t>
            </a:r>
          </a:p>
        </p:txBody>
      </p:sp>
      <p:sp>
        <p:nvSpPr>
          <p:cNvPr id="19" name="Textfeld 45"/>
          <p:cNvSpPr txBox="1"/>
          <p:nvPr/>
        </p:nvSpPr>
        <p:spPr>
          <a:xfrm>
            <a:off x="1301944" y="3147023"/>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10185</a:t>
            </a:r>
          </a:p>
        </p:txBody>
      </p:sp>
      <p:sp>
        <p:nvSpPr>
          <p:cNvPr id="20" name="Textfeld 46"/>
          <p:cNvSpPr txBox="1"/>
          <p:nvPr/>
        </p:nvSpPr>
        <p:spPr>
          <a:xfrm>
            <a:off x="1301944" y="3429900"/>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10186</a:t>
            </a:r>
          </a:p>
        </p:txBody>
      </p:sp>
      <p:sp>
        <p:nvSpPr>
          <p:cNvPr id="21" name="Textfeld 47"/>
          <p:cNvSpPr txBox="1"/>
          <p:nvPr/>
        </p:nvSpPr>
        <p:spPr>
          <a:xfrm>
            <a:off x="1301944" y="4013512"/>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10188</a:t>
            </a:r>
          </a:p>
        </p:txBody>
      </p:sp>
      <p:sp>
        <p:nvSpPr>
          <p:cNvPr id="22" name="Textfeld 48"/>
          <p:cNvSpPr txBox="1"/>
          <p:nvPr/>
        </p:nvSpPr>
        <p:spPr>
          <a:xfrm>
            <a:off x="1301944" y="3726853"/>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p>
        </p:txBody>
      </p:sp>
      <p:sp>
        <p:nvSpPr>
          <p:cNvPr id="23" name="Textfeld 49"/>
          <p:cNvSpPr txBox="1"/>
          <p:nvPr/>
        </p:nvSpPr>
        <p:spPr>
          <a:xfrm>
            <a:off x="1301944" y="4307110"/>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10189</a:t>
            </a:r>
          </a:p>
        </p:txBody>
      </p:sp>
      <p:sp>
        <p:nvSpPr>
          <p:cNvPr id="24" name="Textfeld 50"/>
          <p:cNvSpPr txBox="1"/>
          <p:nvPr/>
        </p:nvSpPr>
        <p:spPr>
          <a:xfrm>
            <a:off x="1301944" y="4594568"/>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10190</a:t>
            </a:r>
          </a:p>
        </p:txBody>
      </p:sp>
      <p:sp>
        <p:nvSpPr>
          <p:cNvPr id="25" name="Textfeld 52"/>
          <p:cNvSpPr txBox="1"/>
          <p:nvPr/>
        </p:nvSpPr>
        <p:spPr>
          <a:xfrm>
            <a:off x="1894405" y="4770089"/>
            <a:ext cx="3433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a:t>
            </a:r>
          </a:p>
        </p:txBody>
      </p:sp>
      <p:sp>
        <p:nvSpPr>
          <p:cNvPr id="26" name="Textfeld 53"/>
          <p:cNvSpPr txBox="1"/>
          <p:nvPr/>
        </p:nvSpPr>
        <p:spPr>
          <a:xfrm>
            <a:off x="1894405" y="2894115"/>
            <a:ext cx="3433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65000"/>
                  </a:prstClr>
                </a:solidFill>
                <a:effectLst/>
                <a:uLnTx/>
                <a:uFillTx/>
              </a:rPr>
              <a:t>…</a:t>
            </a:r>
          </a:p>
        </p:txBody>
      </p:sp>
      <p:sp>
        <p:nvSpPr>
          <p:cNvPr id="27" name="Textfeld 55"/>
          <p:cNvSpPr txBox="1"/>
          <p:nvPr/>
        </p:nvSpPr>
        <p:spPr>
          <a:xfrm>
            <a:off x="1449363" y="2458910"/>
            <a:ext cx="79374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record</a:t>
            </a:r>
          </a:p>
        </p:txBody>
      </p:sp>
      <p:sp>
        <p:nvSpPr>
          <p:cNvPr id="28" name="Textfeld 98"/>
          <p:cNvSpPr txBox="1"/>
          <p:nvPr/>
        </p:nvSpPr>
        <p:spPr>
          <a:xfrm>
            <a:off x="6864523" y="2218377"/>
            <a:ext cx="6030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type</a:t>
            </a:r>
          </a:p>
        </p:txBody>
      </p:sp>
      <p:sp>
        <p:nvSpPr>
          <p:cNvPr id="29" name="Textfeld 99"/>
          <p:cNvSpPr txBox="1"/>
          <p:nvPr/>
        </p:nvSpPr>
        <p:spPr>
          <a:xfrm>
            <a:off x="7386637" y="2214478"/>
            <a:ext cx="68223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entry</a:t>
            </a:r>
          </a:p>
        </p:txBody>
      </p:sp>
      <p:sp>
        <p:nvSpPr>
          <p:cNvPr id="30" name="Textfeld 100"/>
          <p:cNvSpPr txBox="1"/>
          <p:nvPr/>
        </p:nvSpPr>
        <p:spPr>
          <a:xfrm>
            <a:off x="9154761" y="2218377"/>
            <a:ext cx="78983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occurs</a:t>
            </a:r>
          </a:p>
        </p:txBody>
      </p:sp>
      <p:cxnSp>
        <p:nvCxnSpPr>
          <p:cNvPr id="31" name="Gerader Verbinder 102"/>
          <p:cNvCxnSpPr/>
          <p:nvPr/>
        </p:nvCxnSpPr>
        <p:spPr>
          <a:xfrm>
            <a:off x="7396149" y="2258717"/>
            <a:ext cx="3825" cy="3762604"/>
          </a:xfrm>
          <a:prstGeom prst="line">
            <a:avLst/>
          </a:prstGeom>
          <a:noFill/>
          <a:ln w="25400" cap="flat" cmpd="sng" algn="ctr">
            <a:solidFill>
              <a:sysClr val="windowText" lastClr="000000"/>
            </a:solidFill>
            <a:prstDash val="solid"/>
          </a:ln>
          <a:effectLst/>
        </p:spPr>
      </p:cxnSp>
      <p:cxnSp>
        <p:nvCxnSpPr>
          <p:cNvPr id="32" name="Gerader Verbinder 103"/>
          <p:cNvCxnSpPr/>
          <p:nvPr/>
        </p:nvCxnSpPr>
        <p:spPr>
          <a:xfrm>
            <a:off x="9154761" y="2267266"/>
            <a:ext cx="5432" cy="3888357"/>
          </a:xfrm>
          <a:prstGeom prst="line">
            <a:avLst/>
          </a:prstGeom>
          <a:noFill/>
          <a:ln w="25400" cap="flat" cmpd="sng" algn="ctr">
            <a:solidFill>
              <a:sysClr val="windowText" lastClr="000000"/>
            </a:solidFill>
            <a:prstDash val="solid"/>
          </a:ln>
          <a:effectLst/>
        </p:spPr>
      </p:cxnSp>
      <p:sp>
        <p:nvSpPr>
          <p:cNvPr id="33" name="Textfeld 107"/>
          <p:cNvSpPr txBox="1"/>
          <p:nvPr/>
        </p:nvSpPr>
        <p:spPr>
          <a:xfrm>
            <a:off x="7397282" y="3341176"/>
            <a:ext cx="100110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TECHNIK</a:t>
            </a:r>
          </a:p>
        </p:txBody>
      </p:sp>
      <p:sp>
        <p:nvSpPr>
          <p:cNvPr id="34" name="Textfeld 108"/>
          <p:cNvSpPr txBox="1"/>
          <p:nvPr/>
        </p:nvSpPr>
        <p:spPr>
          <a:xfrm>
            <a:off x="7386637" y="2749288"/>
            <a:ext cx="79701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GMBH</a:t>
            </a:r>
          </a:p>
        </p:txBody>
      </p:sp>
      <p:sp>
        <p:nvSpPr>
          <p:cNvPr id="35" name="Textfeld 109"/>
          <p:cNvSpPr txBox="1"/>
          <p:nvPr/>
        </p:nvSpPr>
        <p:spPr>
          <a:xfrm>
            <a:off x="7397282" y="4420501"/>
            <a:ext cx="131959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MUENCHEN</a:t>
            </a:r>
          </a:p>
        </p:txBody>
      </p:sp>
      <p:sp>
        <p:nvSpPr>
          <p:cNvPr id="36" name="Textfeld 110"/>
          <p:cNvSpPr txBox="1"/>
          <p:nvPr/>
        </p:nvSpPr>
        <p:spPr>
          <a:xfrm>
            <a:off x="6090340" y="2222276"/>
            <a:ext cx="79374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record</a:t>
            </a:r>
          </a:p>
        </p:txBody>
      </p:sp>
      <p:sp>
        <p:nvSpPr>
          <p:cNvPr id="37" name="Textfeld 120"/>
          <p:cNvSpPr txBox="1"/>
          <p:nvPr/>
        </p:nvSpPr>
        <p:spPr>
          <a:xfrm>
            <a:off x="9250133" y="2742543"/>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9765</a:t>
            </a:r>
          </a:p>
        </p:txBody>
      </p:sp>
      <p:sp>
        <p:nvSpPr>
          <p:cNvPr id="38" name="Textfeld 123"/>
          <p:cNvSpPr txBox="1"/>
          <p:nvPr/>
        </p:nvSpPr>
        <p:spPr>
          <a:xfrm>
            <a:off x="9366024" y="3341176"/>
            <a:ext cx="53572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123</a:t>
            </a:r>
          </a:p>
        </p:txBody>
      </p:sp>
      <p:sp>
        <p:nvSpPr>
          <p:cNvPr id="39" name="Textfeld 128"/>
          <p:cNvSpPr txBox="1"/>
          <p:nvPr/>
        </p:nvSpPr>
        <p:spPr>
          <a:xfrm>
            <a:off x="9246856" y="4402175"/>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1200</a:t>
            </a:r>
          </a:p>
        </p:txBody>
      </p:sp>
      <p:grpSp>
        <p:nvGrpSpPr>
          <p:cNvPr id="40" name="Gruppieren 140"/>
          <p:cNvGrpSpPr/>
          <p:nvPr/>
        </p:nvGrpSpPr>
        <p:grpSpPr>
          <a:xfrm>
            <a:off x="9364724" y="3332073"/>
            <a:ext cx="991555" cy="372844"/>
            <a:chOff x="8116949" y="3548675"/>
            <a:chExt cx="991555" cy="372844"/>
          </a:xfrm>
        </p:grpSpPr>
        <p:sp>
          <p:nvSpPr>
            <p:cNvPr id="41" name="Textfeld 124"/>
            <p:cNvSpPr txBox="1"/>
            <p:nvPr/>
          </p:nvSpPr>
          <p:spPr>
            <a:xfrm>
              <a:off x="8116949" y="3548675"/>
              <a:ext cx="535724"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124</a:t>
              </a:r>
            </a:p>
          </p:txBody>
        </p:sp>
        <p:sp>
          <p:nvSpPr>
            <p:cNvPr id="42" name="Textfeld 131"/>
            <p:cNvSpPr txBox="1"/>
            <p:nvPr/>
          </p:nvSpPr>
          <p:spPr>
            <a:xfrm>
              <a:off x="8691402" y="3552187"/>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grpSp>
      <p:grpSp>
        <p:nvGrpSpPr>
          <p:cNvPr id="43" name="Gruppieren 141"/>
          <p:cNvGrpSpPr/>
          <p:nvPr/>
        </p:nvGrpSpPr>
        <p:grpSpPr>
          <a:xfrm>
            <a:off x="9252173" y="2727737"/>
            <a:ext cx="1104106" cy="369370"/>
            <a:chOff x="8004398" y="2944339"/>
            <a:chExt cx="1104106" cy="369370"/>
          </a:xfrm>
        </p:grpSpPr>
        <p:sp>
          <p:nvSpPr>
            <p:cNvPr id="44" name="Textfeld 121"/>
            <p:cNvSpPr txBox="1"/>
            <p:nvPr/>
          </p:nvSpPr>
          <p:spPr>
            <a:xfrm>
              <a:off x="8004398" y="2944377"/>
              <a:ext cx="649575" cy="369332"/>
            </a:xfrm>
            <a:prstGeom prst="rect">
              <a:avLst/>
            </a:prstGeom>
            <a:solidFill>
              <a:sysClr val="window" lastClr="FFFFFF"/>
            </a:solid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9766</a:t>
              </a:r>
            </a:p>
          </p:txBody>
        </p:sp>
        <p:sp>
          <p:nvSpPr>
            <p:cNvPr id="45" name="Textfeld 132"/>
            <p:cNvSpPr txBox="1"/>
            <p:nvPr/>
          </p:nvSpPr>
          <p:spPr>
            <a:xfrm>
              <a:off x="8691402" y="2944339"/>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grpSp>
      <p:grpSp>
        <p:nvGrpSpPr>
          <p:cNvPr id="46" name="Gruppieren 142"/>
          <p:cNvGrpSpPr/>
          <p:nvPr/>
        </p:nvGrpSpPr>
        <p:grpSpPr>
          <a:xfrm>
            <a:off x="9246901" y="4401193"/>
            <a:ext cx="1109378" cy="370042"/>
            <a:chOff x="7999126" y="4617795"/>
            <a:chExt cx="1109378" cy="370042"/>
          </a:xfrm>
        </p:grpSpPr>
        <p:sp>
          <p:nvSpPr>
            <p:cNvPr id="47" name="Textfeld 130"/>
            <p:cNvSpPr txBox="1"/>
            <p:nvPr/>
          </p:nvSpPr>
          <p:spPr>
            <a:xfrm>
              <a:off x="8691402" y="4618505"/>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sp>
          <p:nvSpPr>
            <p:cNvPr id="48" name="Textfeld 133"/>
            <p:cNvSpPr txBox="1"/>
            <p:nvPr/>
          </p:nvSpPr>
          <p:spPr>
            <a:xfrm>
              <a:off x="7999126" y="4617795"/>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1201</a:t>
              </a:r>
            </a:p>
          </p:txBody>
        </p:sp>
      </p:grpSp>
      <p:sp>
        <p:nvSpPr>
          <p:cNvPr id="49" name="Textfeld 135"/>
          <p:cNvSpPr txBox="1"/>
          <p:nvPr/>
        </p:nvSpPr>
        <p:spPr>
          <a:xfrm>
            <a:off x="7011565" y="2748530"/>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0" name="Textfeld 136"/>
          <p:cNvSpPr txBox="1"/>
          <p:nvPr/>
        </p:nvSpPr>
        <p:spPr>
          <a:xfrm>
            <a:off x="7014594" y="3332163"/>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1" name="Textfeld 137"/>
          <p:cNvSpPr txBox="1"/>
          <p:nvPr/>
        </p:nvSpPr>
        <p:spPr>
          <a:xfrm>
            <a:off x="7016243" y="4419972"/>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2</a:t>
            </a:r>
          </a:p>
        </p:txBody>
      </p:sp>
      <p:grpSp>
        <p:nvGrpSpPr>
          <p:cNvPr id="52" name="Gruppieren 139"/>
          <p:cNvGrpSpPr/>
          <p:nvPr/>
        </p:nvGrpSpPr>
        <p:grpSpPr>
          <a:xfrm>
            <a:off x="7009625" y="5610192"/>
            <a:ext cx="3346654" cy="374213"/>
            <a:chOff x="5761850" y="5826794"/>
            <a:chExt cx="3346654" cy="374213"/>
          </a:xfrm>
        </p:grpSpPr>
        <p:sp>
          <p:nvSpPr>
            <p:cNvPr id="53" name="Textfeld 106"/>
            <p:cNvSpPr txBox="1"/>
            <p:nvPr/>
          </p:nvSpPr>
          <p:spPr>
            <a:xfrm>
              <a:off x="6123591" y="5826794"/>
              <a:ext cx="71205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BMW</a:t>
              </a:r>
            </a:p>
          </p:txBody>
        </p:sp>
        <p:sp>
          <p:nvSpPr>
            <p:cNvPr id="54" name="Textfeld 125"/>
            <p:cNvSpPr txBox="1"/>
            <p:nvPr/>
          </p:nvSpPr>
          <p:spPr>
            <a:xfrm>
              <a:off x="8349696" y="5831675"/>
              <a:ext cx="301686"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5" name="Textfeld 129"/>
            <p:cNvSpPr txBox="1"/>
            <p:nvPr/>
          </p:nvSpPr>
          <p:spPr>
            <a:xfrm>
              <a:off x="8691402" y="5828844"/>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sp>
          <p:nvSpPr>
            <p:cNvPr id="56" name="Textfeld 138"/>
            <p:cNvSpPr txBox="1"/>
            <p:nvPr/>
          </p:nvSpPr>
          <p:spPr>
            <a:xfrm>
              <a:off x="5761850" y="5828844"/>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grpSp>
      <p:sp>
        <p:nvSpPr>
          <p:cNvPr id="57" name="Textfeld 143"/>
          <p:cNvSpPr txBox="1"/>
          <p:nvPr/>
        </p:nvSpPr>
        <p:spPr>
          <a:xfrm>
            <a:off x="6581504" y="2727737"/>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5</a:t>
            </a:r>
          </a:p>
        </p:txBody>
      </p:sp>
      <p:sp>
        <p:nvSpPr>
          <p:cNvPr id="58" name="Textfeld 144"/>
          <p:cNvSpPr txBox="1"/>
          <p:nvPr/>
        </p:nvSpPr>
        <p:spPr>
          <a:xfrm>
            <a:off x="6464486" y="3331689"/>
            <a:ext cx="41870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93</a:t>
            </a:r>
          </a:p>
        </p:txBody>
      </p:sp>
      <p:sp>
        <p:nvSpPr>
          <p:cNvPr id="59" name="Textfeld 145"/>
          <p:cNvSpPr txBox="1"/>
          <p:nvPr/>
        </p:nvSpPr>
        <p:spPr>
          <a:xfrm>
            <a:off x="6347466" y="4402681"/>
            <a:ext cx="53572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718</a:t>
            </a:r>
          </a:p>
        </p:txBody>
      </p:sp>
      <p:sp>
        <p:nvSpPr>
          <p:cNvPr id="60" name="Textfeld 148"/>
          <p:cNvSpPr txBox="1"/>
          <p:nvPr/>
        </p:nvSpPr>
        <p:spPr>
          <a:xfrm>
            <a:off x="5639030" y="2719427"/>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1" name="Textfeld 149"/>
          <p:cNvSpPr txBox="1"/>
          <p:nvPr/>
        </p:nvSpPr>
        <p:spPr>
          <a:xfrm>
            <a:off x="5514289" y="3322929"/>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2" name="Textfeld 150"/>
          <p:cNvSpPr txBox="1"/>
          <p:nvPr/>
        </p:nvSpPr>
        <p:spPr>
          <a:xfrm>
            <a:off x="5435178" y="4407099"/>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3" name="Textfeld 151"/>
          <p:cNvSpPr txBox="1"/>
          <p:nvPr/>
        </p:nvSpPr>
        <p:spPr>
          <a:xfrm>
            <a:off x="5157249" y="5602823"/>
            <a:ext cx="1725941" cy="646331"/>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r>
              <a:rPr kumimoji="0" lang="en-US" sz="1800" b="0" i="0" u="none" strike="noStrike" kern="0" cap="none" spc="0" normalizeH="0" baseline="0" noProof="0" dirty="0" smtClean="0">
                <a:ln>
                  <a:noFill/>
                </a:ln>
                <a:solidFill>
                  <a:prstClr val="white">
                    <a:lumMod val="50000"/>
                  </a:prstClr>
                </a:solidFill>
                <a:effectLst/>
                <a:uLnTx/>
                <a:uFillTx/>
              </a:rPr>
              <a:t>5784</a:t>
            </a:r>
            <a:br>
              <a:rPr kumimoji="0" lang="en-US" sz="1800" b="0" i="0" u="none" strike="noStrike" kern="0" cap="none" spc="0" normalizeH="0" baseline="0" noProof="0" dirty="0" smtClean="0">
                <a:ln>
                  <a:noFill/>
                </a:ln>
                <a:solidFill>
                  <a:prstClr val="white">
                    <a:lumMod val="50000"/>
                  </a:prstClr>
                </a:solidFill>
                <a:effectLst/>
                <a:uLnTx/>
                <a:uFillTx/>
              </a:rPr>
            </a:br>
            <a:r>
              <a:rPr kumimoji="0" lang="en-US" sz="1800" b="0" i="0" u="none" strike="noStrike" kern="0" cap="none" spc="0" normalizeH="0" baseline="0" noProof="0" dirty="0" smtClean="0">
                <a:ln>
                  <a:noFill/>
                </a:ln>
                <a:solidFill>
                  <a:prstClr val="white">
                    <a:lumMod val="50000"/>
                  </a:prstClr>
                </a:solidFill>
                <a:effectLst/>
                <a:uLnTx/>
                <a:uFillTx/>
              </a:rPr>
              <a:t>record linkage</a:t>
            </a:r>
          </a:p>
        </p:txBody>
      </p:sp>
      <p:sp>
        <p:nvSpPr>
          <p:cNvPr id="64" name="Freihandform 157"/>
          <p:cNvSpPr/>
          <p:nvPr/>
        </p:nvSpPr>
        <p:spPr>
          <a:xfrm>
            <a:off x="5297831" y="3005162"/>
            <a:ext cx="1188515" cy="904268"/>
          </a:xfrm>
          <a:custGeom>
            <a:avLst/>
            <a:gdLst>
              <a:gd name="connsiteX0" fmla="*/ 1162228 w 1162228"/>
              <a:gd name="connsiteY0" fmla="*/ 0 h 897309"/>
              <a:gd name="connsiteX1" fmla="*/ 965675 w 1162228"/>
              <a:gd name="connsiteY1" fmla="*/ 213645 h 897309"/>
              <a:gd name="connsiteX2" fmla="*/ 376015 w 1162228"/>
              <a:gd name="connsiteY2" fmla="*/ 256374 h 897309"/>
              <a:gd name="connsiteX3" fmla="*/ 0 w 1162228"/>
              <a:gd name="connsiteY3" fmla="*/ 897309 h 897309"/>
              <a:gd name="connsiteX0" fmla="*/ 1165689 w 1165689"/>
              <a:gd name="connsiteY0" fmla="*/ 0 h 843755"/>
              <a:gd name="connsiteX1" fmla="*/ 969136 w 1165689"/>
              <a:gd name="connsiteY1" fmla="*/ 213645 h 843755"/>
              <a:gd name="connsiteX2" fmla="*/ 379476 w 1165689"/>
              <a:gd name="connsiteY2" fmla="*/ 256374 h 843755"/>
              <a:gd name="connsiteX3" fmla="*/ 0 w 1165689"/>
              <a:gd name="connsiteY3" fmla="*/ 843755 h 843755"/>
              <a:gd name="connsiteX0" fmla="*/ 1165689 w 1165689"/>
              <a:gd name="connsiteY0" fmla="*/ 0 h 843755"/>
              <a:gd name="connsiteX1" fmla="*/ 969136 w 1165689"/>
              <a:gd name="connsiteY1" fmla="*/ 213645 h 843755"/>
              <a:gd name="connsiteX2" fmla="*/ 379476 w 1165689"/>
              <a:gd name="connsiteY2" fmla="*/ 256374 h 843755"/>
              <a:gd name="connsiteX3" fmla="*/ 0 w 1165689"/>
              <a:gd name="connsiteY3" fmla="*/ 843755 h 843755"/>
              <a:gd name="connsiteX0" fmla="*/ 1182992 w 1182992"/>
              <a:gd name="connsiteY0" fmla="*/ 0 h 870532"/>
              <a:gd name="connsiteX1" fmla="*/ 986439 w 1182992"/>
              <a:gd name="connsiteY1" fmla="*/ 213645 h 870532"/>
              <a:gd name="connsiteX2" fmla="*/ 396779 w 1182992"/>
              <a:gd name="connsiteY2" fmla="*/ 256374 h 870532"/>
              <a:gd name="connsiteX3" fmla="*/ 0 w 1182992"/>
              <a:gd name="connsiteY3" fmla="*/ 870532 h 870532"/>
            </a:gdLst>
            <a:ahLst/>
            <a:cxnLst>
              <a:cxn ang="0">
                <a:pos x="connsiteX0" y="connsiteY0"/>
              </a:cxn>
              <a:cxn ang="0">
                <a:pos x="connsiteX1" y="connsiteY1"/>
              </a:cxn>
              <a:cxn ang="0">
                <a:pos x="connsiteX2" y="connsiteY2"/>
              </a:cxn>
              <a:cxn ang="0">
                <a:pos x="connsiteX3" y="connsiteY3"/>
              </a:cxn>
            </a:cxnLst>
            <a:rect l="l" t="t" r="r" b="b"/>
            <a:pathLst>
              <a:path w="1182992" h="870532">
                <a:moveTo>
                  <a:pt x="1182992" y="0"/>
                </a:moveTo>
                <a:cubicBezTo>
                  <a:pt x="1150233" y="85458"/>
                  <a:pt x="1117474" y="170916"/>
                  <a:pt x="986439" y="213645"/>
                </a:cubicBezTo>
                <a:cubicBezTo>
                  <a:pt x="855403" y="256374"/>
                  <a:pt x="557725" y="142430"/>
                  <a:pt x="396779" y="256374"/>
                </a:cubicBezTo>
                <a:cubicBezTo>
                  <a:pt x="235833" y="370318"/>
                  <a:pt x="169825" y="640507"/>
                  <a:pt x="0" y="870532"/>
                </a:cubicBez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5" name="Freihandform 163"/>
          <p:cNvSpPr/>
          <p:nvPr/>
        </p:nvSpPr>
        <p:spPr>
          <a:xfrm>
            <a:off x="5373218" y="3970837"/>
            <a:ext cx="929832" cy="547816"/>
          </a:xfrm>
          <a:custGeom>
            <a:avLst/>
            <a:gdLst>
              <a:gd name="connsiteX0" fmla="*/ 897308 w 907789"/>
              <a:gd name="connsiteY0" fmla="*/ 504202 h 504202"/>
              <a:gd name="connsiteX1" fmla="*/ 820396 w 907789"/>
              <a:gd name="connsiteY1" fmla="*/ 145279 h 504202"/>
              <a:gd name="connsiteX2" fmla="*/ 256374 w 907789"/>
              <a:gd name="connsiteY2" fmla="*/ 85458 h 504202"/>
              <a:gd name="connsiteX3" fmla="*/ 0 w 907789"/>
              <a:gd name="connsiteY3" fmla="*/ 0 h 504202"/>
              <a:gd name="connsiteX4" fmla="*/ 0 w 907789"/>
              <a:gd name="connsiteY4" fmla="*/ 0 h 504202"/>
              <a:gd name="connsiteX0" fmla="*/ 897308 w 907789"/>
              <a:gd name="connsiteY0" fmla="*/ 504202 h 504202"/>
              <a:gd name="connsiteX1" fmla="*/ 820396 w 907789"/>
              <a:gd name="connsiteY1" fmla="*/ 145279 h 504202"/>
              <a:gd name="connsiteX2" fmla="*/ 256374 w 907789"/>
              <a:gd name="connsiteY2" fmla="*/ 85458 h 504202"/>
              <a:gd name="connsiteX3" fmla="*/ 0 w 907789"/>
              <a:gd name="connsiteY3" fmla="*/ 0 h 504202"/>
              <a:gd name="connsiteX4" fmla="*/ 0 w 907789"/>
              <a:gd name="connsiteY4" fmla="*/ 51199 h 504202"/>
              <a:gd name="connsiteX0" fmla="*/ 925300 w 935781"/>
              <a:gd name="connsiteY0" fmla="*/ 504202 h 504202"/>
              <a:gd name="connsiteX1" fmla="*/ 848388 w 935781"/>
              <a:gd name="connsiteY1" fmla="*/ 145279 h 504202"/>
              <a:gd name="connsiteX2" fmla="*/ 284366 w 935781"/>
              <a:gd name="connsiteY2" fmla="*/ 85458 h 504202"/>
              <a:gd name="connsiteX3" fmla="*/ 27992 w 935781"/>
              <a:gd name="connsiteY3" fmla="*/ 0 h 504202"/>
              <a:gd name="connsiteX4" fmla="*/ 0 w 935781"/>
              <a:gd name="connsiteY4" fmla="*/ 31999 h 504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781" h="504202">
                <a:moveTo>
                  <a:pt x="925300" y="504202"/>
                </a:moveTo>
                <a:cubicBezTo>
                  <a:pt x="940255" y="359636"/>
                  <a:pt x="955210" y="215070"/>
                  <a:pt x="848388" y="145279"/>
                </a:cubicBezTo>
                <a:cubicBezTo>
                  <a:pt x="741566" y="75488"/>
                  <a:pt x="421099" y="109671"/>
                  <a:pt x="284366" y="85458"/>
                </a:cubicBezTo>
                <a:cubicBezTo>
                  <a:pt x="147633" y="61245"/>
                  <a:pt x="27992" y="0"/>
                  <a:pt x="27992" y="0"/>
                </a:cubicBezTo>
                <a:lnTo>
                  <a:pt x="0" y="31999"/>
                </a:ln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6" name="Freihandform 165"/>
          <p:cNvSpPr/>
          <p:nvPr/>
        </p:nvSpPr>
        <p:spPr>
          <a:xfrm>
            <a:off x="5390309" y="3611914"/>
            <a:ext cx="994989" cy="352723"/>
          </a:xfrm>
          <a:custGeom>
            <a:avLst/>
            <a:gdLst>
              <a:gd name="connsiteX0" fmla="*/ 965674 w 967383"/>
              <a:gd name="connsiteY0" fmla="*/ 0 h 351518"/>
              <a:gd name="connsiteX1" fmla="*/ 871671 w 967383"/>
              <a:gd name="connsiteY1" fmla="*/ 350377 h 351518"/>
              <a:gd name="connsiteX2" fmla="*/ 350377 w 967383"/>
              <a:gd name="connsiteY2" fmla="*/ 119641 h 351518"/>
              <a:gd name="connsiteX3" fmla="*/ 0 w 967383"/>
              <a:gd name="connsiteY3" fmla="*/ 333286 h 351518"/>
              <a:gd name="connsiteX4" fmla="*/ 0 w 967383"/>
              <a:gd name="connsiteY4" fmla="*/ 333286 h 351518"/>
              <a:gd name="connsiteX5" fmla="*/ 0 w 967383"/>
              <a:gd name="connsiteY5" fmla="*/ 333286 h 351518"/>
              <a:gd name="connsiteX0" fmla="*/ 965674 w 967175"/>
              <a:gd name="connsiteY0" fmla="*/ 0 h 352723"/>
              <a:gd name="connsiteX1" fmla="*/ 871671 w 967175"/>
              <a:gd name="connsiteY1" fmla="*/ 350377 h 352723"/>
              <a:gd name="connsiteX2" fmla="*/ 364284 w 967175"/>
              <a:gd name="connsiteY2" fmla="*/ 161362 h 352723"/>
              <a:gd name="connsiteX3" fmla="*/ 0 w 967175"/>
              <a:gd name="connsiteY3" fmla="*/ 333286 h 352723"/>
              <a:gd name="connsiteX4" fmla="*/ 0 w 967175"/>
              <a:gd name="connsiteY4" fmla="*/ 333286 h 352723"/>
              <a:gd name="connsiteX5" fmla="*/ 0 w 967175"/>
              <a:gd name="connsiteY5" fmla="*/ 333286 h 352723"/>
              <a:gd name="connsiteX0" fmla="*/ 965674 w 967175"/>
              <a:gd name="connsiteY0" fmla="*/ 0 h 352723"/>
              <a:gd name="connsiteX1" fmla="*/ 871671 w 967175"/>
              <a:gd name="connsiteY1" fmla="*/ 350377 h 352723"/>
              <a:gd name="connsiteX2" fmla="*/ 364284 w 967175"/>
              <a:gd name="connsiteY2" fmla="*/ 161362 h 352723"/>
              <a:gd name="connsiteX3" fmla="*/ 0 w 967175"/>
              <a:gd name="connsiteY3" fmla="*/ 333286 h 352723"/>
              <a:gd name="connsiteX4" fmla="*/ 0 w 967175"/>
              <a:gd name="connsiteY4" fmla="*/ 333286 h 352723"/>
              <a:gd name="connsiteX5" fmla="*/ 0 w 967175"/>
              <a:gd name="connsiteY5" fmla="*/ 333286 h 352723"/>
              <a:gd name="connsiteX0" fmla="*/ 976104 w 977605"/>
              <a:gd name="connsiteY0" fmla="*/ 0 h 352723"/>
              <a:gd name="connsiteX1" fmla="*/ 882101 w 977605"/>
              <a:gd name="connsiteY1" fmla="*/ 350377 h 352723"/>
              <a:gd name="connsiteX2" fmla="*/ 374714 w 977605"/>
              <a:gd name="connsiteY2" fmla="*/ 161362 h 352723"/>
              <a:gd name="connsiteX3" fmla="*/ 10430 w 977605"/>
              <a:gd name="connsiteY3" fmla="*/ 333286 h 352723"/>
              <a:gd name="connsiteX4" fmla="*/ 10430 w 977605"/>
              <a:gd name="connsiteY4" fmla="*/ 333286 h 352723"/>
              <a:gd name="connsiteX5" fmla="*/ 0 w 977605"/>
              <a:gd name="connsiteY5" fmla="*/ 291564 h 352723"/>
              <a:gd name="connsiteX0" fmla="*/ 993488 w 994989"/>
              <a:gd name="connsiteY0" fmla="*/ 0 h 352723"/>
              <a:gd name="connsiteX1" fmla="*/ 899485 w 994989"/>
              <a:gd name="connsiteY1" fmla="*/ 350377 h 352723"/>
              <a:gd name="connsiteX2" fmla="*/ 392098 w 994989"/>
              <a:gd name="connsiteY2" fmla="*/ 161362 h 352723"/>
              <a:gd name="connsiteX3" fmla="*/ 27814 w 994989"/>
              <a:gd name="connsiteY3" fmla="*/ 333286 h 352723"/>
              <a:gd name="connsiteX4" fmla="*/ 27814 w 994989"/>
              <a:gd name="connsiteY4" fmla="*/ 333286 h 352723"/>
              <a:gd name="connsiteX5" fmla="*/ 0 w 994989"/>
              <a:gd name="connsiteY5" fmla="*/ 298517 h 352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94989" h="352723">
                <a:moveTo>
                  <a:pt x="993488" y="0"/>
                </a:moveTo>
                <a:cubicBezTo>
                  <a:pt x="997761" y="165218"/>
                  <a:pt x="999717" y="323483"/>
                  <a:pt x="899485" y="350377"/>
                </a:cubicBezTo>
                <a:cubicBezTo>
                  <a:pt x="799253" y="377271"/>
                  <a:pt x="537376" y="164210"/>
                  <a:pt x="392098" y="161362"/>
                </a:cubicBezTo>
                <a:cubicBezTo>
                  <a:pt x="246820" y="158514"/>
                  <a:pt x="27814" y="333286"/>
                  <a:pt x="27814" y="333286"/>
                </a:cubicBezTo>
                <a:lnTo>
                  <a:pt x="27814" y="333286"/>
                </a:lnTo>
                <a:lnTo>
                  <a:pt x="0" y="298517"/>
                </a:ln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7" name="Freihandform 166"/>
          <p:cNvSpPr/>
          <p:nvPr/>
        </p:nvSpPr>
        <p:spPr>
          <a:xfrm>
            <a:off x="5301080" y="4004013"/>
            <a:ext cx="913977" cy="1667437"/>
          </a:xfrm>
          <a:custGeom>
            <a:avLst/>
            <a:gdLst>
              <a:gd name="connsiteX0" fmla="*/ 811851 w 865301"/>
              <a:gd name="connsiteY0" fmla="*/ 1709159 h 1709159"/>
              <a:gd name="connsiteX1" fmla="*/ 811851 w 865301"/>
              <a:gd name="connsiteY1" fmla="*/ 1128045 h 1709159"/>
              <a:gd name="connsiteX2" fmla="*/ 256374 w 865301"/>
              <a:gd name="connsiteY2" fmla="*/ 820397 h 1709159"/>
              <a:gd name="connsiteX3" fmla="*/ 0 w 865301"/>
              <a:gd name="connsiteY3" fmla="*/ 0 h 1709159"/>
              <a:gd name="connsiteX0" fmla="*/ 836189 w 889639"/>
              <a:gd name="connsiteY0" fmla="*/ 1618762 h 1618762"/>
              <a:gd name="connsiteX1" fmla="*/ 836189 w 889639"/>
              <a:gd name="connsiteY1" fmla="*/ 1037648 h 1618762"/>
              <a:gd name="connsiteX2" fmla="*/ 280712 w 889639"/>
              <a:gd name="connsiteY2" fmla="*/ 730000 h 1618762"/>
              <a:gd name="connsiteX3" fmla="*/ 0 w 889639"/>
              <a:gd name="connsiteY3" fmla="*/ 0 h 1618762"/>
              <a:gd name="connsiteX0" fmla="*/ 836189 w 889639"/>
              <a:gd name="connsiteY0" fmla="*/ 1618762 h 1618762"/>
              <a:gd name="connsiteX1" fmla="*/ 836189 w 889639"/>
              <a:gd name="connsiteY1" fmla="*/ 1037648 h 1618762"/>
              <a:gd name="connsiteX2" fmla="*/ 280712 w 889639"/>
              <a:gd name="connsiteY2" fmla="*/ 730000 h 1618762"/>
              <a:gd name="connsiteX3" fmla="*/ 0 w 889639"/>
              <a:gd name="connsiteY3" fmla="*/ 0 h 1618762"/>
              <a:gd name="connsiteX0" fmla="*/ 860527 w 913977"/>
              <a:gd name="connsiteY0" fmla="*/ 1667437 h 1667437"/>
              <a:gd name="connsiteX1" fmla="*/ 860527 w 913977"/>
              <a:gd name="connsiteY1" fmla="*/ 1086323 h 1667437"/>
              <a:gd name="connsiteX2" fmla="*/ 305050 w 913977"/>
              <a:gd name="connsiteY2" fmla="*/ 778675 h 1667437"/>
              <a:gd name="connsiteX3" fmla="*/ 0 w 913977"/>
              <a:gd name="connsiteY3" fmla="*/ 0 h 1667437"/>
              <a:gd name="connsiteX0" fmla="*/ 860527 w 913977"/>
              <a:gd name="connsiteY0" fmla="*/ 1667437 h 1667437"/>
              <a:gd name="connsiteX1" fmla="*/ 860527 w 913977"/>
              <a:gd name="connsiteY1" fmla="*/ 1086323 h 1667437"/>
              <a:gd name="connsiteX2" fmla="*/ 305050 w 913977"/>
              <a:gd name="connsiteY2" fmla="*/ 778675 h 1667437"/>
              <a:gd name="connsiteX3" fmla="*/ 0 w 913977"/>
              <a:gd name="connsiteY3" fmla="*/ 0 h 1667437"/>
            </a:gdLst>
            <a:ahLst/>
            <a:cxnLst>
              <a:cxn ang="0">
                <a:pos x="connsiteX0" y="connsiteY0"/>
              </a:cxn>
              <a:cxn ang="0">
                <a:pos x="connsiteX1" y="connsiteY1"/>
              </a:cxn>
              <a:cxn ang="0">
                <a:pos x="connsiteX2" y="connsiteY2"/>
              </a:cxn>
              <a:cxn ang="0">
                <a:pos x="connsiteX3" y="connsiteY3"/>
              </a:cxn>
            </a:cxnLst>
            <a:rect l="l" t="t" r="r" b="b"/>
            <a:pathLst>
              <a:path w="913977" h="1667437">
                <a:moveTo>
                  <a:pt x="860527" y="1667437"/>
                </a:moveTo>
                <a:cubicBezTo>
                  <a:pt x="906816" y="1450943"/>
                  <a:pt x="953106" y="1234450"/>
                  <a:pt x="860527" y="1086323"/>
                </a:cubicBezTo>
                <a:cubicBezTo>
                  <a:pt x="767948" y="938196"/>
                  <a:pt x="440358" y="966682"/>
                  <a:pt x="305050" y="778675"/>
                </a:cubicBezTo>
                <a:cubicBezTo>
                  <a:pt x="169742" y="590668"/>
                  <a:pt x="210036" y="218844"/>
                  <a:pt x="0" y="0"/>
                </a:cubicBez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8" name="Textfeld 167"/>
          <p:cNvSpPr txBox="1"/>
          <p:nvPr/>
        </p:nvSpPr>
        <p:spPr>
          <a:xfrm>
            <a:off x="3186549" y="2135150"/>
            <a:ext cx="115005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base table</a:t>
            </a:r>
          </a:p>
        </p:txBody>
      </p:sp>
      <p:sp>
        <p:nvSpPr>
          <p:cNvPr id="69" name="Textfeld 168"/>
          <p:cNvSpPr txBox="1"/>
          <p:nvPr/>
        </p:nvSpPr>
        <p:spPr>
          <a:xfrm>
            <a:off x="7967706" y="1878327"/>
            <a:ext cx="888769"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registry</a:t>
            </a:r>
          </a:p>
        </p:txBody>
      </p:sp>
      <p:grpSp>
        <p:nvGrpSpPr>
          <p:cNvPr id="70" name="Gruppieren 173"/>
          <p:cNvGrpSpPr/>
          <p:nvPr/>
        </p:nvGrpSpPr>
        <p:grpSpPr>
          <a:xfrm>
            <a:off x="3587527" y="620688"/>
            <a:ext cx="1657397" cy="581196"/>
            <a:chOff x="2339752" y="837290"/>
            <a:chExt cx="1657397" cy="581196"/>
          </a:xfrm>
        </p:grpSpPr>
        <p:grpSp>
          <p:nvGrpSpPr>
            <p:cNvPr id="71" name="Gruppieren 74"/>
            <p:cNvGrpSpPr/>
            <p:nvPr/>
          </p:nvGrpSpPr>
          <p:grpSpPr>
            <a:xfrm>
              <a:off x="2339752" y="914430"/>
              <a:ext cx="1657397" cy="504056"/>
              <a:chOff x="4639694" y="2264178"/>
              <a:chExt cx="1657397" cy="504056"/>
            </a:xfrm>
          </p:grpSpPr>
          <p:sp>
            <p:nvSpPr>
              <p:cNvPr id="73" name="Rechteck 69"/>
              <p:cNvSpPr/>
              <p:nvPr/>
            </p:nvSpPr>
            <p:spPr>
              <a:xfrm>
                <a:off x="4639694"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4" name="Rechteck 70"/>
              <p:cNvSpPr/>
              <p:nvPr/>
            </p:nvSpPr>
            <p:spPr>
              <a:xfrm>
                <a:off x="5348828"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5" name="Rechteck 74"/>
              <p:cNvSpPr/>
              <p:nvPr/>
            </p:nvSpPr>
            <p:spPr>
              <a:xfrm>
                <a:off x="6076754"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6" name="Rechteck 68"/>
              <p:cNvSpPr/>
              <p:nvPr/>
            </p:nvSpPr>
            <p:spPr>
              <a:xfrm>
                <a:off x="4860032" y="2264178"/>
                <a:ext cx="495672"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7" name="Rechteck 71"/>
              <p:cNvSpPr/>
              <p:nvPr/>
            </p:nvSpPr>
            <p:spPr>
              <a:xfrm>
                <a:off x="5576534" y="2264178"/>
                <a:ext cx="495672"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72" name="Textfeld 172"/>
            <p:cNvSpPr txBox="1"/>
            <p:nvPr/>
          </p:nvSpPr>
          <p:spPr>
            <a:xfrm>
              <a:off x="2656961" y="837290"/>
              <a:ext cx="10041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rPr>
                <a:t>preparer</a:t>
              </a:r>
            </a:p>
          </p:txBody>
        </p:sp>
      </p:grpSp>
      <p:grpSp>
        <p:nvGrpSpPr>
          <p:cNvPr id="78" name="Gruppieren 175"/>
          <p:cNvGrpSpPr/>
          <p:nvPr/>
        </p:nvGrpSpPr>
        <p:grpSpPr>
          <a:xfrm>
            <a:off x="3591841" y="1430602"/>
            <a:ext cx="1637134" cy="528600"/>
            <a:chOff x="2344066" y="1647204"/>
            <a:chExt cx="1637134" cy="528600"/>
          </a:xfrm>
        </p:grpSpPr>
        <p:grpSp>
          <p:nvGrpSpPr>
            <p:cNvPr id="79" name="Gruppieren 73"/>
            <p:cNvGrpSpPr/>
            <p:nvPr/>
          </p:nvGrpSpPr>
          <p:grpSpPr>
            <a:xfrm>
              <a:off x="2344066" y="1647204"/>
              <a:ext cx="1637134" cy="504056"/>
              <a:chOff x="4644008" y="2996952"/>
              <a:chExt cx="1637134" cy="504056"/>
            </a:xfrm>
          </p:grpSpPr>
          <p:sp>
            <p:nvSpPr>
              <p:cNvPr id="81" name="Rechteck 64"/>
              <p:cNvSpPr/>
              <p:nvPr/>
            </p:nvSpPr>
            <p:spPr>
              <a:xfrm>
                <a:off x="4862469" y="3210589"/>
                <a:ext cx="495672" cy="290419"/>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2" name="Rechteck 66"/>
              <p:cNvSpPr/>
              <p:nvPr/>
            </p:nvSpPr>
            <p:spPr>
              <a:xfrm>
                <a:off x="5569446" y="3210589"/>
                <a:ext cx="495672" cy="290419"/>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3" name="Rechteck 67"/>
              <p:cNvSpPr/>
              <p:nvPr/>
            </p:nvSpPr>
            <p:spPr>
              <a:xfrm>
                <a:off x="6065118"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4" name="Rechteck 65"/>
              <p:cNvSpPr/>
              <p:nvPr/>
            </p:nvSpPr>
            <p:spPr>
              <a:xfrm>
                <a:off x="5360510"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5" name="Rechteck 63"/>
              <p:cNvSpPr/>
              <p:nvPr/>
            </p:nvSpPr>
            <p:spPr>
              <a:xfrm>
                <a:off x="4644008"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80" name="Textfeld 174"/>
            <p:cNvSpPr txBox="1"/>
            <p:nvPr/>
          </p:nvSpPr>
          <p:spPr>
            <a:xfrm>
              <a:off x="2688769" y="1806472"/>
              <a:ext cx="95962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rPr>
                <a:t>gateway</a:t>
              </a:r>
            </a:p>
          </p:txBody>
        </p:sp>
      </p:grpSp>
      <p:cxnSp>
        <p:nvCxnSpPr>
          <p:cNvPr id="86" name="Gerader Verbinder 101"/>
          <p:cNvCxnSpPr/>
          <p:nvPr/>
        </p:nvCxnSpPr>
        <p:spPr>
          <a:xfrm flipH="1">
            <a:off x="6901502" y="2267266"/>
            <a:ext cx="1436" cy="3834417"/>
          </a:xfrm>
          <a:prstGeom prst="line">
            <a:avLst/>
          </a:prstGeom>
          <a:noFill/>
          <a:ln w="25400" cap="sq" cmpd="sng" algn="ctr">
            <a:solidFill>
              <a:sysClr val="windowText" lastClr="000000"/>
            </a:solidFill>
            <a:prstDash val="solid"/>
            <a:round/>
          </a:ln>
          <a:effectLst/>
        </p:spPr>
      </p:cxnSp>
      <p:cxnSp>
        <p:nvCxnSpPr>
          <p:cNvPr id="87" name="Gerader Verbinder 104"/>
          <p:cNvCxnSpPr/>
          <p:nvPr/>
        </p:nvCxnSpPr>
        <p:spPr>
          <a:xfrm>
            <a:off x="9922624" y="2245504"/>
            <a:ext cx="6236" cy="3830109"/>
          </a:xfrm>
          <a:prstGeom prst="line">
            <a:avLst/>
          </a:prstGeom>
          <a:noFill/>
          <a:ln w="25400" cap="flat" cmpd="sng" algn="ctr">
            <a:solidFill>
              <a:sysClr val="windowText" lastClr="000000"/>
            </a:solidFill>
            <a:prstDash val="solid"/>
          </a:ln>
          <a:effectLst/>
        </p:spPr>
      </p:cxnSp>
      <p:cxnSp>
        <p:nvCxnSpPr>
          <p:cNvPr id="88" name="Gerader Verbinder 105"/>
          <p:cNvCxnSpPr/>
          <p:nvPr/>
        </p:nvCxnSpPr>
        <p:spPr>
          <a:xfrm flipV="1">
            <a:off x="6899306" y="2258364"/>
            <a:ext cx="3023923" cy="8902"/>
          </a:xfrm>
          <a:prstGeom prst="line">
            <a:avLst/>
          </a:prstGeom>
          <a:noFill/>
          <a:ln w="25400" cap="flat" cmpd="sng" algn="ctr">
            <a:solidFill>
              <a:sysClr val="windowText" lastClr="000000"/>
            </a:solidFill>
            <a:prstDash val="solid"/>
            <a:round/>
          </a:ln>
          <a:effectLst/>
        </p:spPr>
      </p:cxnSp>
      <p:sp>
        <p:nvSpPr>
          <p:cNvPr id="89" name="Freihandform 11"/>
          <p:cNvSpPr/>
          <p:nvPr/>
        </p:nvSpPr>
        <p:spPr>
          <a:xfrm>
            <a:off x="6910908" y="6008683"/>
            <a:ext cx="3017951" cy="245344"/>
          </a:xfrm>
          <a:custGeom>
            <a:avLst/>
            <a:gdLst>
              <a:gd name="connsiteX0" fmla="*/ 0 w 3012141"/>
              <a:gd name="connsiteY0" fmla="*/ 90991 h 245344"/>
              <a:gd name="connsiteX1" fmla="*/ 453358 w 3012141"/>
              <a:gd name="connsiteY1" fmla="*/ 6466 h 245344"/>
              <a:gd name="connsiteX2" fmla="*/ 1337022 w 3012141"/>
              <a:gd name="connsiteY2" fmla="*/ 244671 h 245344"/>
              <a:gd name="connsiteX3" fmla="*/ 2020901 w 3012141"/>
              <a:gd name="connsiteY3" fmla="*/ 83307 h 245344"/>
              <a:gd name="connsiteX4" fmla="*/ 2535731 w 3012141"/>
              <a:gd name="connsiteY4" fmla="*/ 244671 h 245344"/>
              <a:gd name="connsiteX5" fmla="*/ 3012141 w 3012141"/>
              <a:gd name="connsiteY5" fmla="*/ 67939 h 24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12141" h="245344">
                <a:moveTo>
                  <a:pt x="0" y="90991"/>
                </a:moveTo>
                <a:cubicBezTo>
                  <a:pt x="115260" y="35922"/>
                  <a:pt x="230521" y="-19147"/>
                  <a:pt x="453358" y="6466"/>
                </a:cubicBezTo>
                <a:cubicBezTo>
                  <a:pt x="676195" y="32079"/>
                  <a:pt x="1075765" y="231864"/>
                  <a:pt x="1337022" y="244671"/>
                </a:cubicBezTo>
                <a:cubicBezTo>
                  <a:pt x="1598279" y="257478"/>
                  <a:pt x="1821116" y="83307"/>
                  <a:pt x="2020901" y="83307"/>
                </a:cubicBezTo>
                <a:cubicBezTo>
                  <a:pt x="2220686" y="83307"/>
                  <a:pt x="2370524" y="247232"/>
                  <a:pt x="2535731" y="244671"/>
                </a:cubicBezTo>
                <a:cubicBezTo>
                  <a:pt x="2700938" y="242110"/>
                  <a:pt x="2856539" y="155024"/>
                  <a:pt x="3012141" y="67939"/>
                </a:cubicBezTo>
              </a:path>
            </a:pathLst>
          </a:custGeom>
          <a:noFill/>
          <a:ln w="25400" cap="rnd" cmpd="sng" algn="ctr">
            <a:solidFill>
              <a:sysClr val="windowText" lastClr="000000"/>
            </a:solid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90" name="Gerader Verbinder 112"/>
          <p:cNvCxnSpPr/>
          <p:nvPr/>
        </p:nvCxnSpPr>
        <p:spPr>
          <a:xfrm>
            <a:off x="2241451" y="2526598"/>
            <a:ext cx="3014963" cy="0"/>
          </a:xfrm>
          <a:prstGeom prst="line">
            <a:avLst/>
          </a:prstGeom>
          <a:noFill/>
          <a:ln w="25400" cap="flat" cmpd="sng" algn="ctr">
            <a:solidFill>
              <a:sysClr val="windowText" lastClr="000000"/>
            </a:solidFill>
            <a:prstDash val="solid"/>
          </a:ln>
          <a:effectLst/>
        </p:spPr>
      </p:cxnSp>
      <p:cxnSp>
        <p:nvCxnSpPr>
          <p:cNvPr id="91" name="Gerader Verbinder 113"/>
          <p:cNvCxnSpPr/>
          <p:nvPr/>
        </p:nvCxnSpPr>
        <p:spPr>
          <a:xfrm flipH="1">
            <a:off x="5241552" y="2526598"/>
            <a:ext cx="14654" cy="2467535"/>
          </a:xfrm>
          <a:prstGeom prst="line">
            <a:avLst/>
          </a:prstGeom>
          <a:noFill/>
          <a:ln w="25400" cap="sq" cmpd="sng" algn="ctr">
            <a:solidFill>
              <a:sysClr val="windowText" lastClr="000000"/>
            </a:solidFill>
            <a:prstDash val="solid"/>
          </a:ln>
          <a:effectLst/>
        </p:spPr>
      </p:cxnSp>
      <p:cxnSp>
        <p:nvCxnSpPr>
          <p:cNvPr id="92" name="Gerader Verbinder 114"/>
          <p:cNvCxnSpPr>
            <a:endCxn id="25" idx="3"/>
          </p:cNvCxnSpPr>
          <p:nvPr/>
        </p:nvCxnSpPr>
        <p:spPr>
          <a:xfrm flipH="1">
            <a:off x="2237769" y="2530330"/>
            <a:ext cx="13980" cy="2424425"/>
          </a:xfrm>
          <a:prstGeom prst="line">
            <a:avLst/>
          </a:prstGeom>
          <a:noFill/>
          <a:ln w="25400" cap="sq" cmpd="sng" algn="ctr">
            <a:solidFill>
              <a:sysClr val="windowText" lastClr="000000"/>
            </a:solidFill>
            <a:prstDash val="solid"/>
          </a:ln>
          <a:effectLst/>
        </p:spPr>
      </p:cxnSp>
      <p:sp>
        <p:nvSpPr>
          <p:cNvPr id="93" name="Freihandform 25"/>
          <p:cNvSpPr/>
          <p:nvPr/>
        </p:nvSpPr>
        <p:spPr>
          <a:xfrm>
            <a:off x="2239046" y="4772155"/>
            <a:ext cx="2998694" cy="326219"/>
          </a:xfrm>
          <a:custGeom>
            <a:avLst/>
            <a:gdLst>
              <a:gd name="connsiteX0" fmla="*/ 0 w 2998694"/>
              <a:gd name="connsiteY0" fmla="*/ 191300 h 326219"/>
              <a:gd name="connsiteX1" fmla="*/ 423582 w 2998694"/>
              <a:gd name="connsiteY1" fmla="*/ 3041 h 326219"/>
              <a:gd name="connsiteX2" fmla="*/ 1526241 w 2998694"/>
              <a:gd name="connsiteY2" fmla="*/ 325770 h 326219"/>
              <a:gd name="connsiteX3" fmla="*/ 2380129 w 2998694"/>
              <a:gd name="connsiteY3" fmla="*/ 77000 h 326219"/>
              <a:gd name="connsiteX4" fmla="*/ 2998694 w 2998694"/>
              <a:gd name="connsiteY4" fmla="*/ 231641 h 326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8694" h="326219">
                <a:moveTo>
                  <a:pt x="0" y="191300"/>
                </a:moveTo>
                <a:cubicBezTo>
                  <a:pt x="84604" y="85964"/>
                  <a:pt x="169208" y="-19371"/>
                  <a:pt x="423582" y="3041"/>
                </a:cubicBezTo>
                <a:cubicBezTo>
                  <a:pt x="677956" y="25453"/>
                  <a:pt x="1200150" y="313443"/>
                  <a:pt x="1526241" y="325770"/>
                </a:cubicBezTo>
                <a:cubicBezTo>
                  <a:pt x="1852332" y="338097"/>
                  <a:pt x="2134720" y="92688"/>
                  <a:pt x="2380129" y="77000"/>
                </a:cubicBezTo>
                <a:cubicBezTo>
                  <a:pt x="2625538" y="61312"/>
                  <a:pt x="2812116" y="146476"/>
                  <a:pt x="2998694" y="231641"/>
                </a:cubicBezTo>
              </a:path>
            </a:pathLst>
          </a:custGeom>
          <a:noFill/>
          <a:ln w="25400" cap="rnd" cmpd="sng" algn="ctr">
            <a:solidFill>
              <a:sysClr val="windowText" lastClr="000000"/>
            </a:solid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2" name="Foliennummernplatzhalter 1"/>
          <p:cNvSpPr>
            <a:spLocks noGrp="1"/>
          </p:cNvSpPr>
          <p:nvPr>
            <p:ph type="sldNum" sz="quarter" idx="10"/>
          </p:nvPr>
        </p:nvSpPr>
        <p:spPr/>
        <p:txBody>
          <a:bodyPr/>
          <a:lstStyle/>
          <a:p>
            <a:fld id="{A29D8577-601D-4845-9C29-D9E13FE3E8DB}" type="slidenum">
              <a:rPr lang="en-US" smtClean="0"/>
              <a:pPr/>
              <a:t>3</a:t>
            </a:fld>
            <a:endParaRPr lang="en-US" dirty="0"/>
          </a:p>
        </p:txBody>
      </p:sp>
    </p:spTree>
    <p:extLst>
      <p:ext uri="{BB962C8B-B14F-4D97-AF65-F5344CB8AC3E}">
        <p14:creationId xmlns:p14="http://schemas.microsoft.com/office/powerpoint/2010/main" val="118555542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id="9" presetID="42" presetClass="path" presetSubtype="0" accel="50000" fill="hold" nodeType="afterEffect" p14:presetBounceEnd="40000">
                                      <p:stCondLst>
                                        <p:cond delay="0"/>
                                      </p:stCondLst>
                                      <p:childTnLst>
                                        <p:animMotion origin="layout" path="M 2.22222E-6 -1.85185E-6 L -0.00018 0.03982 " pathEditMode="relative" rAng="0" ptsTypes="AA" p14:bounceEnd="40000">
                                          <p:cBhvr>
                                            <p:cTn id="10" dur="500" fill="hold"/>
                                            <p:tgtEl>
                                              <p:spTgt spid="70"/>
                                            </p:tgtEl>
                                            <p:attrNameLst>
                                              <p:attrName>ppt_x</p:attrName>
                                              <p:attrName>ppt_y</p:attrName>
                                            </p:attrNameLst>
                                          </p:cBhvr>
                                          <p:rCtr x="-17" y="1991"/>
                                        </p:animMotion>
                                      </p:childTnLst>
                                    </p:cTn>
                                  </p:par>
                                  <p:par>
                                    <p:cTn id="11" presetID="42" presetClass="path" presetSubtype="0" accel="50000" fill="hold" nodeType="withEffect" p14:presetBounceEnd="40000">
                                      <p:stCondLst>
                                        <p:cond delay="0"/>
                                      </p:stCondLst>
                                      <p:childTnLst>
                                        <p:animMotion origin="layout" path="M -3.33333E-6 -3.7037E-6 L 0.00018 -0.03009 " pathEditMode="relative" rAng="0" ptsTypes="AA" p14:bounceEnd="40000">
                                          <p:cBhvr>
                                            <p:cTn id="12" dur="500" fill="hold"/>
                                            <p:tgtEl>
                                              <p:spTgt spid="78"/>
                                            </p:tgtEl>
                                            <p:attrNameLst>
                                              <p:attrName>ppt_x</p:attrName>
                                              <p:attrName>ppt_y</p:attrName>
                                            </p:attrNameLst>
                                          </p:cBhvr>
                                          <p:rCtr x="0" y="-1505"/>
                                        </p:animMotion>
                                      </p:childTnLst>
                                    </p:cTn>
                                  </p:par>
                                </p:childTnLst>
                              </p:cTn>
                            </p:par>
                            <p:par>
                              <p:cTn id="13" fill="hold">
                                <p:stCondLst>
                                  <p:cond delay="1000"/>
                                </p:stCondLst>
                                <p:childTnLst>
                                  <p:par>
                                    <p:cTn id="14" presetID="42" presetClass="path" presetSubtype="0" accel="50000" fill="hold" nodeType="afterEffect" p14:presetBounceEnd="40000">
                                      <p:stCondLst>
                                        <p:cond delay="0"/>
                                      </p:stCondLst>
                                      <p:childTnLst>
                                        <p:animMotion origin="layout" path="M -0.00018 0.03982 L 3.05556E-6 2.22222E-6 " pathEditMode="relative" rAng="0" ptsTypes="AA" p14:bounceEnd="40000">
                                          <p:cBhvr>
                                            <p:cTn id="15" dur="500" fill="hold"/>
                                            <p:tgtEl>
                                              <p:spTgt spid="70"/>
                                            </p:tgtEl>
                                            <p:attrNameLst>
                                              <p:attrName>ppt_x</p:attrName>
                                              <p:attrName>ppt_y</p:attrName>
                                            </p:attrNameLst>
                                          </p:cBhvr>
                                          <p:rCtr x="-17" y="-1944"/>
                                        </p:animMotion>
                                      </p:childTnLst>
                                    </p:cTn>
                                  </p:par>
                                  <p:par>
                                    <p:cTn id="16" presetID="42" presetClass="path" presetSubtype="0" accel="50000" fill="hold" nodeType="withEffect" p14:presetBounceEnd="40000">
                                      <p:stCondLst>
                                        <p:cond delay="0"/>
                                      </p:stCondLst>
                                      <p:childTnLst>
                                        <p:animMotion origin="layout" path="M 0.00018 -0.03009 L -4.16667E-6 -3.7037E-6 " pathEditMode="relative" rAng="0" ptsTypes="AA" p14:bounceEnd="40000">
                                          <p:cBhvr>
                                            <p:cTn id="17" dur="500" fill="hold"/>
                                            <p:tgtEl>
                                              <p:spTgt spid="78"/>
                                            </p:tgtEl>
                                            <p:attrNameLst>
                                              <p:attrName>ppt_x</p:attrName>
                                              <p:attrName>ppt_y</p:attrName>
                                            </p:attrNameLst>
                                          </p:cBhvr>
                                          <p:rCtr x="17" y="1505"/>
                                        </p:animMotion>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up)">
                                          <p:cBhvr>
                                            <p:cTn id="21" dur="1000"/>
                                            <p:tgtEl>
                                              <p:spTgt spid="10"/>
                                            </p:tgtEl>
                                          </p:cBhvr>
                                        </p:animEffect>
                                      </p:childTnLst>
                                    </p:cTn>
                                  </p:par>
                                </p:childTnLst>
                              </p:cTn>
                            </p:par>
                            <p:par>
                              <p:cTn id="22" fill="hold">
                                <p:stCondLst>
                                  <p:cond delay="2500"/>
                                </p:stCondLst>
                                <p:childTnLst>
                                  <p:par>
                                    <p:cTn id="23" presetID="1"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26" presetClass="emph" presetSubtype="0" fill="hold" nodeType="withEffect">
                                      <p:stCondLst>
                                        <p:cond delay="0"/>
                                      </p:stCondLst>
                                      <p:childTnLst>
                                        <p:animEffect transition="out" filter="fade">
                                          <p:cBhvr>
                                            <p:cTn id="26" dur="500" tmFilter="0, 0; .2, .5; .8, .5; 1, 0"/>
                                            <p:tgtEl>
                                              <p:spTgt spid="52"/>
                                            </p:tgtEl>
                                          </p:cBhvr>
                                        </p:animEffect>
                                        <p:animScale>
                                          <p:cBhvr>
                                            <p:cTn id="27" dur="250" autoRev="1" fill="hold"/>
                                            <p:tgtEl>
                                              <p:spTgt spid="52"/>
                                            </p:tgtEl>
                                          </p:cBhvr>
                                          <p:by x="105000" y="105000"/>
                                        </p:animScale>
                                      </p:childTnLst>
                                    </p:cTn>
                                  </p:par>
                                </p:childTnLst>
                              </p:cTn>
                            </p:par>
                            <p:par>
                              <p:cTn id="28" fill="hold">
                                <p:stCondLst>
                                  <p:cond delay="3000"/>
                                </p:stCondLst>
                                <p:childTnLst>
                                  <p:par>
                                    <p:cTn id="29" presetID="16" presetClass="entr" presetSubtype="42" fill="hold" grpId="0" nodeType="after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barn(outHorizontal)">
                                          <p:cBhvr>
                                            <p:cTn id="31" dur="500"/>
                                            <p:tgtEl>
                                              <p:spTgt spid="67"/>
                                            </p:tgtEl>
                                          </p:cBhvr>
                                        </p:animEffect>
                                      </p:childTnLst>
                                    </p:cTn>
                                  </p:par>
                                </p:childTnLst>
                              </p:cTn>
                            </p:par>
                            <p:par>
                              <p:cTn id="32" fill="hold">
                                <p:stCondLst>
                                  <p:cond delay="3500"/>
                                </p:stCondLst>
                                <p:childTnLst>
                                  <p:par>
                                    <p:cTn id="33" presetID="1" presetClass="entr" presetSubtype="0" fill="hold" grpId="0" nodeType="after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par>
                                    <p:cTn id="35" presetID="26" presetClass="emph" presetSubtype="0" fill="hold" grpId="1" nodeType="withEffect">
                                      <p:stCondLst>
                                        <p:cond delay="0"/>
                                      </p:stCondLst>
                                      <p:childTnLst>
                                        <p:animEffect transition="out" filter="fade">
                                          <p:cBhvr>
                                            <p:cTn id="36" dur="500" tmFilter="0, 0; .2, .5; .8, .5; 1, 0"/>
                                            <p:tgtEl>
                                              <p:spTgt spid="63"/>
                                            </p:tgtEl>
                                          </p:cBhvr>
                                        </p:animEffect>
                                        <p:animScale>
                                          <p:cBhvr>
                                            <p:cTn id="37" dur="250" autoRev="1" fill="hold"/>
                                            <p:tgtEl>
                                              <p:spTgt spid="63"/>
                                            </p:tgtEl>
                                          </p:cBhvr>
                                          <p:by x="105000" y="105000"/>
                                        </p:animScale>
                                      </p:childTnLst>
                                    </p:cTn>
                                  </p:par>
                                </p:childTnLst>
                              </p:cTn>
                            </p:par>
                            <p:par>
                              <p:cTn id="38" fill="hold">
                                <p:stCondLst>
                                  <p:cond delay="4000"/>
                                </p:stCondLst>
                                <p:childTnLst>
                                  <p:par>
                                    <p:cTn id="39" presetID="42" presetClass="path" presetSubtype="0" accel="50000" fill="hold" nodeType="afterEffect" p14:presetBounceEnd="40000">
                                      <p:stCondLst>
                                        <p:cond delay="0"/>
                                      </p:stCondLst>
                                      <p:childTnLst>
                                        <p:animMotion origin="layout" path="M 2.22222E-6 -3.7037E-7 L -0.00017 0.03982 " pathEditMode="relative" rAng="0" ptsTypes="AA" p14:bounceEnd="40000">
                                          <p:cBhvr>
                                            <p:cTn id="40" dur="500" fill="hold"/>
                                            <p:tgtEl>
                                              <p:spTgt spid="70"/>
                                            </p:tgtEl>
                                            <p:attrNameLst>
                                              <p:attrName>ppt_x</p:attrName>
                                              <p:attrName>ppt_y</p:attrName>
                                            </p:attrNameLst>
                                          </p:cBhvr>
                                          <p:rCtr x="0" y="1782"/>
                                        </p:animMotion>
                                      </p:childTnLst>
                                    </p:cTn>
                                  </p:par>
                                  <p:par>
                                    <p:cTn id="41" presetID="42" presetClass="path" presetSubtype="0" accel="50000" fill="hold" nodeType="withEffect" p14:presetBounceEnd="40000">
                                      <p:stCondLst>
                                        <p:cond delay="0"/>
                                      </p:stCondLst>
                                      <p:childTnLst>
                                        <p:animMotion origin="layout" path="M -3.33333E-6 -7.40741E-7 L 0.00017 -0.0301 " pathEditMode="relative" rAng="0" ptsTypes="AA" p14:bounceEnd="40000">
                                          <p:cBhvr>
                                            <p:cTn id="42" dur="500" fill="hold"/>
                                            <p:tgtEl>
                                              <p:spTgt spid="78"/>
                                            </p:tgtEl>
                                            <p:attrNameLst>
                                              <p:attrName>ppt_x</p:attrName>
                                              <p:attrName>ppt_y</p:attrName>
                                            </p:attrNameLst>
                                          </p:cBhvr>
                                          <p:rCtr x="0" y="-1389"/>
                                        </p:animMotion>
                                      </p:childTnLst>
                                    </p:cTn>
                                  </p:par>
                                </p:childTnLst>
                              </p:cTn>
                            </p:par>
                            <p:par>
                              <p:cTn id="43" fill="hold">
                                <p:stCondLst>
                                  <p:cond delay="4500"/>
                                </p:stCondLst>
                                <p:childTnLst>
                                  <p:par>
                                    <p:cTn id="44" presetID="42" presetClass="path" presetSubtype="0" accel="50000" fill="hold" nodeType="afterEffect" p14:presetBounceEnd="40000">
                                      <p:stCondLst>
                                        <p:cond delay="0"/>
                                      </p:stCondLst>
                                      <p:childTnLst>
                                        <p:animMotion origin="layout" path="M -0.00018 0.03982 L 3.05556E-6 7.40741E-7 " pathEditMode="relative" rAng="0" ptsTypes="AA" p14:bounceEnd="40000">
                                          <p:cBhvr>
                                            <p:cTn id="45" dur="500" fill="hold"/>
                                            <p:tgtEl>
                                              <p:spTgt spid="70"/>
                                            </p:tgtEl>
                                            <p:attrNameLst>
                                              <p:attrName>ppt_x</p:attrName>
                                              <p:attrName>ppt_y</p:attrName>
                                            </p:attrNameLst>
                                          </p:cBhvr>
                                          <p:rCtr x="-17" y="-1921"/>
                                        </p:animMotion>
                                      </p:childTnLst>
                                    </p:cTn>
                                  </p:par>
                                  <p:par>
                                    <p:cTn id="46" presetID="42" presetClass="path" presetSubtype="0" accel="50000" fill="hold" nodeType="withEffect" p14:presetBounceEnd="40000">
                                      <p:stCondLst>
                                        <p:cond delay="0"/>
                                      </p:stCondLst>
                                      <p:childTnLst>
                                        <p:animMotion origin="layout" path="M 0.00017 -0.03009 L -3.33333E-6 -7.40741E-7 " pathEditMode="relative" rAng="0" ptsTypes="AA" p14:bounceEnd="40000">
                                          <p:cBhvr>
                                            <p:cTn id="47" dur="500" fill="hold"/>
                                            <p:tgtEl>
                                              <p:spTgt spid="78"/>
                                            </p:tgtEl>
                                            <p:attrNameLst>
                                              <p:attrName>ppt_x</p:attrName>
                                              <p:attrName>ppt_y</p:attrName>
                                            </p:attrNameLst>
                                          </p:cBhvr>
                                          <p:rCtr x="0" y="1505"/>
                                        </p:animMotion>
                                      </p:childTnLst>
                                    </p:cTn>
                                  </p:par>
                                </p:childTnLst>
                              </p:cTn>
                            </p:par>
                            <p:par>
                              <p:cTn id="48" fill="hold">
                                <p:stCondLst>
                                  <p:cond delay="5000"/>
                                </p:stCondLst>
                                <p:childTnLst>
                                  <p:par>
                                    <p:cTn id="49" presetID="22" presetClass="entr" presetSubtype="8" fill="hold" grpId="0"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wipe(left)">
                                          <p:cBhvr>
                                            <p:cTn id="51" dur="1000"/>
                                            <p:tgtEl>
                                              <p:spTgt spid="8"/>
                                            </p:tgtEl>
                                          </p:cBhvr>
                                        </p:animEffect>
                                      </p:childTnLst>
                                    </p:cTn>
                                  </p:par>
                                </p:childTnLst>
                              </p:cTn>
                            </p:par>
                            <p:par>
                              <p:cTn id="52" fill="hold">
                                <p:stCondLst>
                                  <p:cond delay="6000"/>
                                </p:stCondLst>
                                <p:childTnLst>
                                  <p:par>
                                    <p:cTn id="53" presetID="1" presetClass="entr" presetSubtype="0" fill="hold" nodeType="after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26" presetClass="emph" presetSubtype="0" fill="hold" nodeType="withEffect">
                                      <p:stCondLst>
                                        <p:cond delay="0"/>
                                      </p:stCondLst>
                                      <p:childTnLst>
                                        <p:animEffect transition="out" filter="fade">
                                          <p:cBhvr>
                                            <p:cTn id="56" dur="500" tmFilter="0, 0; .2, .5; .8, .5; 1, 0"/>
                                            <p:tgtEl>
                                              <p:spTgt spid="40"/>
                                            </p:tgtEl>
                                          </p:cBhvr>
                                        </p:animEffect>
                                        <p:animScale>
                                          <p:cBhvr>
                                            <p:cTn id="57" dur="250" autoRev="1" fill="hold"/>
                                            <p:tgtEl>
                                              <p:spTgt spid="40"/>
                                            </p:tgtEl>
                                          </p:cBhvr>
                                          <p:by x="105000" y="105000"/>
                                        </p:animScale>
                                      </p:childTnLst>
                                    </p:cTn>
                                  </p:par>
                                </p:childTnLst>
                              </p:cTn>
                            </p:par>
                            <p:par>
                              <p:cTn id="58" fill="hold">
                                <p:stCondLst>
                                  <p:cond delay="6500"/>
                                </p:stCondLst>
                                <p:childTnLst>
                                  <p:par>
                                    <p:cTn id="59" presetID="16" presetClass="entr" presetSubtype="37" fill="hold" grpId="0" nodeType="afterEffect">
                                      <p:stCondLst>
                                        <p:cond delay="0"/>
                                      </p:stCondLst>
                                      <p:childTnLst>
                                        <p:set>
                                          <p:cBhvr>
                                            <p:cTn id="60" dur="1" fill="hold">
                                              <p:stCondLst>
                                                <p:cond delay="0"/>
                                              </p:stCondLst>
                                            </p:cTn>
                                            <p:tgtEl>
                                              <p:spTgt spid="66"/>
                                            </p:tgtEl>
                                            <p:attrNameLst>
                                              <p:attrName>style.visibility</p:attrName>
                                            </p:attrNameLst>
                                          </p:cBhvr>
                                          <p:to>
                                            <p:strVal val="visible"/>
                                          </p:to>
                                        </p:set>
                                        <p:animEffect transition="in" filter="barn(outVertical)">
                                          <p:cBhvr>
                                            <p:cTn id="61" dur="500"/>
                                            <p:tgtEl>
                                              <p:spTgt spid="66"/>
                                            </p:tgtEl>
                                          </p:cBhvr>
                                        </p:animEffect>
                                      </p:childTnLst>
                                    </p:cTn>
                                  </p:par>
                                </p:childTnLst>
                              </p:cTn>
                            </p:par>
                            <p:par>
                              <p:cTn id="62" fill="hold">
                                <p:stCondLst>
                                  <p:cond delay="7000"/>
                                </p:stCondLst>
                                <p:childTnLst>
                                  <p:par>
                                    <p:cTn id="63" presetID="1" presetClass="entr" presetSubtype="0" fill="hold" grpId="0" nodeType="after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26" presetClass="emph" presetSubtype="0" fill="hold" grpId="1" nodeType="withEffect">
                                      <p:stCondLst>
                                        <p:cond delay="0"/>
                                      </p:stCondLst>
                                      <p:childTnLst>
                                        <p:animEffect transition="out" filter="fade">
                                          <p:cBhvr>
                                            <p:cTn id="66" dur="500" tmFilter="0, 0; .2, .5; .8, .5; 1, 0"/>
                                            <p:tgtEl>
                                              <p:spTgt spid="61"/>
                                            </p:tgtEl>
                                          </p:cBhvr>
                                        </p:animEffect>
                                        <p:animScale>
                                          <p:cBhvr>
                                            <p:cTn id="67" dur="250" autoRev="1" fill="hold"/>
                                            <p:tgtEl>
                                              <p:spTgt spid="61"/>
                                            </p:tgtEl>
                                          </p:cBhvr>
                                          <p:by x="105000" y="105000"/>
                                        </p:animScale>
                                      </p:childTnLst>
                                    </p:cTn>
                                  </p:par>
                                </p:childTnLst>
                              </p:cTn>
                            </p:par>
                            <p:par>
                              <p:cTn id="68" fill="hold">
                                <p:stCondLst>
                                  <p:cond delay="7500"/>
                                </p:stCondLst>
                                <p:childTnLst>
                                  <p:par>
                                    <p:cTn id="69" presetID="42" presetClass="path" presetSubtype="0" accel="50000" fill="hold" nodeType="afterEffect" p14:presetBounceEnd="40000">
                                      <p:stCondLst>
                                        <p:cond delay="0"/>
                                      </p:stCondLst>
                                      <p:childTnLst>
                                        <p:animMotion origin="layout" path="M 2.22222E-6 -3.7037E-7 L -0.00017 0.03982 " pathEditMode="relative" rAng="0" ptsTypes="AA" p14:bounceEnd="40000">
                                          <p:cBhvr>
                                            <p:cTn id="70" dur="500" fill="hold"/>
                                            <p:tgtEl>
                                              <p:spTgt spid="70"/>
                                            </p:tgtEl>
                                            <p:attrNameLst>
                                              <p:attrName>ppt_x</p:attrName>
                                              <p:attrName>ppt_y</p:attrName>
                                            </p:attrNameLst>
                                          </p:cBhvr>
                                          <p:rCtr x="0" y="1921"/>
                                        </p:animMotion>
                                      </p:childTnLst>
                                    </p:cTn>
                                  </p:par>
                                  <p:par>
                                    <p:cTn id="71" presetID="42" presetClass="path" presetSubtype="0" accel="50000" fill="hold" nodeType="withEffect" p14:presetBounceEnd="40000">
                                      <p:stCondLst>
                                        <p:cond delay="0"/>
                                      </p:stCondLst>
                                      <p:childTnLst>
                                        <p:animMotion origin="layout" path="M -3.33333E-6 -7.40741E-7 L 0.00018 -0.0301 " pathEditMode="relative" rAng="0" ptsTypes="AA" p14:bounceEnd="40000">
                                          <p:cBhvr>
                                            <p:cTn id="72" dur="500" fill="hold"/>
                                            <p:tgtEl>
                                              <p:spTgt spid="78"/>
                                            </p:tgtEl>
                                            <p:attrNameLst>
                                              <p:attrName>ppt_x</p:attrName>
                                              <p:attrName>ppt_y</p:attrName>
                                            </p:attrNameLst>
                                          </p:cBhvr>
                                          <p:rCtr x="0" y="-1458"/>
                                        </p:animMotion>
                                      </p:childTnLst>
                                    </p:cTn>
                                  </p:par>
                                </p:childTnLst>
                              </p:cTn>
                            </p:par>
                            <p:par>
                              <p:cTn id="73" fill="hold">
                                <p:stCondLst>
                                  <p:cond delay="8000"/>
                                </p:stCondLst>
                                <p:childTnLst>
                                  <p:par>
                                    <p:cTn id="74" presetID="42" presetClass="path" presetSubtype="0" accel="50000" fill="hold" nodeType="afterEffect" p14:presetBounceEnd="40000">
                                      <p:stCondLst>
                                        <p:cond delay="0"/>
                                      </p:stCondLst>
                                      <p:childTnLst>
                                        <p:animMotion origin="layout" path="M -0.00018 0.03982 L 5E-6 -3.33333E-6 " pathEditMode="relative" rAng="0" ptsTypes="AA" p14:bounceEnd="40000">
                                          <p:cBhvr>
                                            <p:cTn id="75" dur="500" fill="hold"/>
                                            <p:tgtEl>
                                              <p:spTgt spid="70"/>
                                            </p:tgtEl>
                                            <p:attrNameLst>
                                              <p:attrName>ppt_x</p:attrName>
                                              <p:attrName>ppt_y</p:attrName>
                                            </p:attrNameLst>
                                          </p:cBhvr>
                                          <p:rCtr x="17" y="-1968"/>
                                        </p:animMotion>
                                      </p:childTnLst>
                                    </p:cTn>
                                  </p:par>
                                  <p:par>
                                    <p:cTn id="76" presetID="42" presetClass="path" presetSubtype="0" accel="50000" fill="hold" nodeType="withEffect" p14:presetBounceEnd="40000">
                                      <p:stCondLst>
                                        <p:cond delay="0"/>
                                      </p:stCondLst>
                                      <p:childTnLst>
                                        <p:animMotion origin="layout" path="M 0.00018 -0.03009 L 3.05556E-6 -3.7037E-6 " pathEditMode="relative" rAng="0" ptsTypes="AA" p14:bounceEnd="40000">
                                          <p:cBhvr>
                                            <p:cTn id="77" dur="500" fill="hold"/>
                                            <p:tgtEl>
                                              <p:spTgt spid="78"/>
                                            </p:tgtEl>
                                            <p:attrNameLst>
                                              <p:attrName>ppt_x</p:attrName>
                                              <p:attrName>ppt_y</p:attrName>
                                            </p:attrNameLst>
                                          </p:cBhvr>
                                          <p:rCtr x="0" y="1528"/>
                                        </p:animMotion>
                                      </p:childTnLst>
                                    </p:cTn>
                                  </p:par>
                                </p:childTnLst>
                              </p:cTn>
                            </p:par>
                            <p:par>
                              <p:cTn id="78" fill="hold">
                                <p:stCondLst>
                                  <p:cond delay="8500"/>
                                </p:stCondLst>
                                <p:childTnLst>
                                  <p:par>
                                    <p:cTn id="79" presetID="22" presetClass="entr" presetSubtype="8" fill="hold" grpId="0" nodeType="afterEffect">
                                      <p:stCondLst>
                                        <p:cond delay="0"/>
                                      </p:stCondLst>
                                      <p:childTnLst>
                                        <p:set>
                                          <p:cBhvr>
                                            <p:cTn id="80" dur="1" fill="hold">
                                              <p:stCondLst>
                                                <p:cond delay="0"/>
                                              </p:stCondLst>
                                            </p:cTn>
                                            <p:tgtEl>
                                              <p:spTgt spid="7"/>
                                            </p:tgtEl>
                                            <p:attrNameLst>
                                              <p:attrName>style.visibility</p:attrName>
                                            </p:attrNameLst>
                                          </p:cBhvr>
                                          <p:to>
                                            <p:strVal val="visible"/>
                                          </p:to>
                                        </p:set>
                                        <p:animEffect transition="in" filter="wipe(left)">
                                          <p:cBhvr>
                                            <p:cTn id="81" dur="1000"/>
                                            <p:tgtEl>
                                              <p:spTgt spid="7"/>
                                            </p:tgtEl>
                                          </p:cBhvr>
                                        </p:animEffect>
                                      </p:childTnLst>
                                    </p:cTn>
                                  </p:par>
                                </p:childTnLst>
                              </p:cTn>
                            </p:par>
                            <p:par>
                              <p:cTn id="82" fill="hold">
                                <p:stCondLst>
                                  <p:cond delay="9500"/>
                                </p:stCondLst>
                                <p:childTnLst>
                                  <p:par>
                                    <p:cTn id="83" presetID="1" presetClass="entr" presetSubtype="0" fill="hold" nodeType="afterEffect">
                                      <p:stCondLst>
                                        <p:cond delay="0"/>
                                      </p:stCondLst>
                                      <p:childTnLst>
                                        <p:set>
                                          <p:cBhvr>
                                            <p:cTn id="84" dur="1" fill="hold">
                                              <p:stCondLst>
                                                <p:cond delay="0"/>
                                              </p:stCondLst>
                                            </p:cTn>
                                            <p:tgtEl>
                                              <p:spTgt spid="43"/>
                                            </p:tgtEl>
                                            <p:attrNameLst>
                                              <p:attrName>style.visibility</p:attrName>
                                            </p:attrNameLst>
                                          </p:cBhvr>
                                          <p:to>
                                            <p:strVal val="visible"/>
                                          </p:to>
                                        </p:set>
                                      </p:childTnLst>
                                    </p:cTn>
                                  </p:par>
                                  <p:par>
                                    <p:cTn id="85" presetID="26" presetClass="emph" presetSubtype="0" fill="hold" nodeType="withEffect">
                                      <p:stCondLst>
                                        <p:cond delay="0"/>
                                      </p:stCondLst>
                                      <p:childTnLst>
                                        <p:animEffect transition="out" filter="fade">
                                          <p:cBhvr>
                                            <p:cTn id="86" dur="500" tmFilter="0, 0; .2, .5; .8, .5; 1, 0"/>
                                            <p:tgtEl>
                                              <p:spTgt spid="43"/>
                                            </p:tgtEl>
                                          </p:cBhvr>
                                        </p:animEffect>
                                        <p:animScale>
                                          <p:cBhvr>
                                            <p:cTn id="87" dur="250" autoRev="1" fill="hold"/>
                                            <p:tgtEl>
                                              <p:spTgt spid="43"/>
                                            </p:tgtEl>
                                          </p:cBhvr>
                                          <p:by x="105000" y="105000"/>
                                        </p:animScale>
                                      </p:childTnLst>
                                    </p:cTn>
                                  </p:par>
                                </p:childTnLst>
                              </p:cTn>
                            </p:par>
                            <p:par>
                              <p:cTn id="88" fill="hold">
                                <p:stCondLst>
                                  <p:cond delay="10000"/>
                                </p:stCondLst>
                                <p:childTnLst>
                                  <p:par>
                                    <p:cTn id="89" presetID="16" presetClass="entr" presetSubtype="37" fill="hold" grpId="0" nodeType="afterEffect">
                                      <p:stCondLst>
                                        <p:cond delay="0"/>
                                      </p:stCondLst>
                                      <p:childTnLst>
                                        <p:set>
                                          <p:cBhvr>
                                            <p:cTn id="90" dur="1" fill="hold">
                                              <p:stCondLst>
                                                <p:cond delay="0"/>
                                              </p:stCondLst>
                                            </p:cTn>
                                            <p:tgtEl>
                                              <p:spTgt spid="64"/>
                                            </p:tgtEl>
                                            <p:attrNameLst>
                                              <p:attrName>style.visibility</p:attrName>
                                            </p:attrNameLst>
                                          </p:cBhvr>
                                          <p:to>
                                            <p:strVal val="visible"/>
                                          </p:to>
                                        </p:set>
                                        <p:animEffect transition="in" filter="barn(outVertical)">
                                          <p:cBhvr>
                                            <p:cTn id="91" dur="500"/>
                                            <p:tgtEl>
                                              <p:spTgt spid="64"/>
                                            </p:tgtEl>
                                          </p:cBhvr>
                                        </p:animEffect>
                                      </p:childTnLst>
                                    </p:cTn>
                                  </p:par>
                                </p:childTnLst>
                              </p:cTn>
                            </p:par>
                            <p:par>
                              <p:cTn id="92" fill="hold">
                                <p:stCondLst>
                                  <p:cond delay="10500"/>
                                </p:stCondLst>
                                <p:childTnLst>
                                  <p:par>
                                    <p:cTn id="93" presetID="1" presetClass="entr" presetSubtype="0" fill="hold" grpId="0" nodeType="afterEffect">
                                      <p:stCondLst>
                                        <p:cond delay="0"/>
                                      </p:stCondLst>
                                      <p:childTnLst>
                                        <p:set>
                                          <p:cBhvr>
                                            <p:cTn id="94" dur="1" fill="hold">
                                              <p:stCondLst>
                                                <p:cond delay="0"/>
                                              </p:stCondLst>
                                            </p:cTn>
                                            <p:tgtEl>
                                              <p:spTgt spid="60"/>
                                            </p:tgtEl>
                                            <p:attrNameLst>
                                              <p:attrName>style.visibility</p:attrName>
                                            </p:attrNameLst>
                                          </p:cBhvr>
                                          <p:to>
                                            <p:strVal val="visible"/>
                                          </p:to>
                                        </p:set>
                                      </p:childTnLst>
                                    </p:cTn>
                                  </p:par>
                                  <p:par>
                                    <p:cTn id="95" presetID="26" presetClass="emph" presetSubtype="0" fill="hold" grpId="1" nodeType="withEffect">
                                      <p:stCondLst>
                                        <p:cond delay="0"/>
                                      </p:stCondLst>
                                      <p:childTnLst>
                                        <p:animEffect transition="out" filter="fade">
                                          <p:cBhvr>
                                            <p:cTn id="96" dur="500" tmFilter="0, 0; .2, .5; .8, .5; 1, 0"/>
                                            <p:tgtEl>
                                              <p:spTgt spid="60"/>
                                            </p:tgtEl>
                                          </p:cBhvr>
                                        </p:animEffect>
                                        <p:animScale>
                                          <p:cBhvr>
                                            <p:cTn id="97" dur="250" autoRev="1" fill="hold"/>
                                            <p:tgtEl>
                                              <p:spTgt spid="60"/>
                                            </p:tgtEl>
                                          </p:cBhvr>
                                          <p:by x="105000" y="105000"/>
                                        </p:animScale>
                                      </p:childTnLst>
                                    </p:cTn>
                                  </p:par>
                                </p:childTnLst>
                              </p:cTn>
                            </p:par>
                            <p:par>
                              <p:cTn id="98" fill="hold">
                                <p:stCondLst>
                                  <p:cond delay="11000"/>
                                </p:stCondLst>
                                <p:childTnLst>
                                  <p:par>
                                    <p:cTn id="99" presetID="42" presetClass="path" presetSubtype="0" accel="50000" fill="hold" nodeType="afterEffect" p14:presetBounceEnd="40000">
                                      <p:stCondLst>
                                        <p:cond delay="0"/>
                                      </p:stCondLst>
                                      <p:childTnLst>
                                        <p:animMotion origin="layout" path="M 2.22222E-6 -3.7037E-7 L -0.00017 0.03981 " pathEditMode="relative" rAng="0" ptsTypes="AA" p14:bounceEnd="40000">
                                          <p:cBhvr>
                                            <p:cTn id="100" dur="500" fill="hold"/>
                                            <p:tgtEl>
                                              <p:spTgt spid="70"/>
                                            </p:tgtEl>
                                            <p:attrNameLst>
                                              <p:attrName>ppt_x</p:attrName>
                                              <p:attrName>ppt_y</p:attrName>
                                            </p:attrNameLst>
                                          </p:cBhvr>
                                          <p:rCtr x="0" y="1944"/>
                                        </p:animMotion>
                                      </p:childTnLst>
                                    </p:cTn>
                                  </p:par>
                                  <p:par>
                                    <p:cTn id="101" presetID="42" presetClass="path" presetSubtype="0" accel="50000" fill="hold" nodeType="withEffect" p14:presetBounceEnd="40000">
                                      <p:stCondLst>
                                        <p:cond delay="0"/>
                                      </p:stCondLst>
                                      <p:childTnLst>
                                        <p:animMotion origin="layout" path="M 3.05556E-6 -3.7037E-6 L 0.00018 -0.03009 " pathEditMode="relative" rAng="0" ptsTypes="AA" p14:bounceEnd="40000">
                                          <p:cBhvr>
                                            <p:cTn id="102" dur="500" fill="hold"/>
                                            <p:tgtEl>
                                              <p:spTgt spid="78"/>
                                            </p:tgtEl>
                                            <p:attrNameLst>
                                              <p:attrName>ppt_x</p:attrName>
                                              <p:attrName>ppt_y</p:attrName>
                                            </p:attrNameLst>
                                          </p:cBhvr>
                                          <p:rCtr x="0" y="-1528"/>
                                        </p:animMotion>
                                      </p:childTnLst>
                                    </p:cTn>
                                  </p:par>
                                </p:childTnLst>
                              </p:cTn>
                            </p:par>
                            <p:par>
                              <p:cTn id="103" fill="hold">
                                <p:stCondLst>
                                  <p:cond delay="11500"/>
                                </p:stCondLst>
                                <p:childTnLst>
                                  <p:par>
                                    <p:cTn id="104" presetID="42" presetClass="path" presetSubtype="0" accel="50000" fill="hold" nodeType="afterEffect" p14:presetBounceEnd="40000">
                                      <p:stCondLst>
                                        <p:cond delay="0"/>
                                      </p:stCondLst>
                                      <p:childTnLst>
                                        <p:animMotion origin="layout" path="M -0.00018 0.03982 L 1.38889E-6 -1.85185E-6 " pathEditMode="relative" rAng="0" ptsTypes="AA" p14:bounceEnd="40000">
                                          <p:cBhvr>
                                            <p:cTn id="105" dur="500" fill="hold"/>
                                            <p:tgtEl>
                                              <p:spTgt spid="70"/>
                                            </p:tgtEl>
                                            <p:attrNameLst>
                                              <p:attrName>ppt_x</p:attrName>
                                              <p:attrName>ppt_y</p:attrName>
                                            </p:attrNameLst>
                                          </p:cBhvr>
                                          <p:rCtr x="35" y="-1991"/>
                                        </p:animMotion>
                                      </p:childTnLst>
                                    </p:cTn>
                                  </p:par>
                                  <p:par>
                                    <p:cTn id="106" presetID="42" presetClass="path" presetSubtype="0" accel="50000" fill="hold" nodeType="withEffect" p14:presetBounceEnd="40000">
                                      <p:stCondLst>
                                        <p:cond delay="0"/>
                                      </p:stCondLst>
                                      <p:childTnLst>
                                        <p:animMotion origin="layout" path="M 0.00018 -0.03009 L 3.05556E-6 -2.22222E-6 " pathEditMode="relative" rAng="0" ptsTypes="AA" p14:bounceEnd="40000">
                                          <p:cBhvr>
                                            <p:cTn id="107" dur="500" fill="hold"/>
                                            <p:tgtEl>
                                              <p:spTgt spid="78"/>
                                            </p:tgtEl>
                                            <p:attrNameLst>
                                              <p:attrName>ppt_x</p:attrName>
                                              <p:attrName>ppt_y</p:attrName>
                                            </p:attrNameLst>
                                          </p:cBhvr>
                                          <p:rCtr x="0" y="1505"/>
                                        </p:animMotion>
                                      </p:childTnLst>
                                    </p:cTn>
                                  </p:par>
                                </p:childTnLst>
                              </p:cTn>
                            </p:par>
                            <p:par>
                              <p:cTn id="108" fill="hold">
                                <p:stCondLst>
                                  <p:cond delay="12000"/>
                                </p:stCondLst>
                                <p:childTnLst>
                                  <p:par>
                                    <p:cTn id="109" presetID="22" presetClass="entr" presetSubtype="1" fill="hold" grpId="0" nodeType="afterEffect">
                                      <p:stCondLst>
                                        <p:cond delay="0"/>
                                      </p:stCondLst>
                                      <p:childTnLst>
                                        <p:set>
                                          <p:cBhvr>
                                            <p:cTn id="110" dur="1" fill="hold">
                                              <p:stCondLst>
                                                <p:cond delay="0"/>
                                              </p:stCondLst>
                                            </p:cTn>
                                            <p:tgtEl>
                                              <p:spTgt spid="9"/>
                                            </p:tgtEl>
                                            <p:attrNameLst>
                                              <p:attrName>style.visibility</p:attrName>
                                            </p:attrNameLst>
                                          </p:cBhvr>
                                          <p:to>
                                            <p:strVal val="visible"/>
                                          </p:to>
                                        </p:set>
                                        <p:animEffect transition="in" filter="wipe(up)">
                                          <p:cBhvr>
                                            <p:cTn id="111" dur="1000"/>
                                            <p:tgtEl>
                                              <p:spTgt spid="9"/>
                                            </p:tgtEl>
                                          </p:cBhvr>
                                        </p:animEffect>
                                      </p:childTnLst>
                                    </p:cTn>
                                  </p:par>
                                </p:childTnLst>
                              </p:cTn>
                            </p:par>
                            <p:par>
                              <p:cTn id="112" fill="hold">
                                <p:stCondLst>
                                  <p:cond delay="13000"/>
                                </p:stCondLst>
                                <p:childTnLst>
                                  <p:par>
                                    <p:cTn id="113" presetID="1" presetClass="entr" presetSubtype="0" fill="hold" nodeType="afterEffect">
                                      <p:stCondLst>
                                        <p:cond delay="0"/>
                                      </p:stCondLst>
                                      <p:childTnLst>
                                        <p:set>
                                          <p:cBhvr>
                                            <p:cTn id="114" dur="1" fill="hold">
                                              <p:stCondLst>
                                                <p:cond delay="0"/>
                                              </p:stCondLst>
                                            </p:cTn>
                                            <p:tgtEl>
                                              <p:spTgt spid="46"/>
                                            </p:tgtEl>
                                            <p:attrNameLst>
                                              <p:attrName>style.visibility</p:attrName>
                                            </p:attrNameLst>
                                          </p:cBhvr>
                                          <p:to>
                                            <p:strVal val="visible"/>
                                          </p:to>
                                        </p:set>
                                      </p:childTnLst>
                                    </p:cTn>
                                  </p:par>
                                  <p:par>
                                    <p:cTn id="115" presetID="26" presetClass="emph" presetSubtype="0" fill="hold" nodeType="withEffect">
                                      <p:stCondLst>
                                        <p:cond delay="0"/>
                                      </p:stCondLst>
                                      <p:childTnLst>
                                        <p:animEffect transition="out" filter="fade">
                                          <p:cBhvr>
                                            <p:cTn id="116" dur="500" tmFilter="0, 0; .2, .5; .8, .5; 1, 0"/>
                                            <p:tgtEl>
                                              <p:spTgt spid="46"/>
                                            </p:tgtEl>
                                          </p:cBhvr>
                                        </p:animEffect>
                                        <p:animScale>
                                          <p:cBhvr>
                                            <p:cTn id="117" dur="250" autoRev="1" fill="hold"/>
                                            <p:tgtEl>
                                              <p:spTgt spid="46"/>
                                            </p:tgtEl>
                                          </p:cBhvr>
                                          <p:by x="105000" y="105000"/>
                                        </p:animScale>
                                      </p:childTnLst>
                                    </p:cTn>
                                  </p:par>
                                </p:childTnLst>
                              </p:cTn>
                            </p:par>
                            <p:par>
                              <p:cTn id="118" fill="hold">
                                <p:stCondLst>
                                  <p:cond delay="13500"/>
                                </p:stCondLst>
                                <p:childTnLst>
                                  <p:par>
                                    <p:cTn id="119" presetID="16" presetClass="entr" presetSubtype="37" fill="hold" grpId="0" nodeType="afterEffect">
                                      <p:stCondLst>
                                        <p:cond delay="0"/>
                                      </p:stCondLst>
                                      <p:childTnLst>
                                        <p:set>
                                          <p:cBhvr>
                                            <p:cTn id="120" dur="1" fill="hold">
                                              <p:stCondLst>
                                                <p:cond delay="0"/>
                                              </p:stCondLst>
                                            </p:cTn>
                                            <p:tgtEl>
                                              <p:spTgt spid="65"/>
                                            </p:tgtEl>
                                            <p:attrNameLst>
                                              <p:attrName>style.visibility</p:attrName>
                                            </p:attrNameLst>
                                          </p:cBhvr>
                                          <p:to>
                                            <p:strVal val="visible"/>
                                          </p:to>
                                        </p:set>
                                        <p:animEffect transition="in" filter="barn(outVertical)">
                                          <p:cBhvr>
                                            <p:cTn id="121" dur="500"/>
                                            <p:tgtEl>
                                              <p:spTgt spid="65"/>
                                            </p:tgtEl>
                                          </p:cBhvr>
                                        </p:animEffect>
                                      </p:childTnLst>
                                    </p:cTn>
                                  </p:par>
                                </p:childTnLst>
                              </p:cTn>
                            </p:par>
                            <p:par>
                              <p:cTn id="122" fill="hold">
                                <p:stCondLst>
                                  <p:cond delay="14000"/>
                                </p:stCondLst>
                                <p:childTnLst>
                                  <p:par>
                                    <p:cTn id="123" presetID="1" presetClass="entr" presetSubtype="0" fill="hold" grpId="0" nodeType="afterEffect">
                                      <p:stCondLst>
                                        <p:cond delay="0"/>
                                      </p:stCondLst>
                                      <p:childTnLst>
                                        <p:set>
                                          <p:cBhvr>
                                            <p:cTn id="124" dur="1" fill="hold">
                                              <p:stCondLst>
                                                <p:cond delay="0"/>
                                              </p:stCondLst>
                                            </p:cTn>
                                            <p:tgtEl>
                                              <p:spTgt spid="62"/>
                                            </p:tgtEl>
                                            <p:attrNameLst>
                                              <p:attrName>style.visibility</p:attrName>
                                            </p:attrNameLst>
                                          </p:cBhvr>
                                          <p:to>
                                            <p:strVal val="visible"/>
                                          </p:to>
                                        </p:set>
                                      </p:childTnLst>
                                    </p:cTn>
                                  </p:par>
                                </p:childTnLst>
                              </p:cTn>
                            </p:par>
                            <p:par>
                              <p:cTn id="125" fill="hold">
                                <p:stCondLst>
                                  <p:cond delay="14000"/>
                                </p:stCondLst>
                                <p:childTnLst>
                                  <p:par>
                                    <p:cTn id="126" presetID="26" presetClass="emph" presetSubtype="0" fill="hold" grpId="1" nodeType="afterEffect">
                                      <p:stCondLst>
                                        <p:cond delay="0"/>
                                      </p:stCondLst>
                                      <p:childTnLst>
                                        <p:animEffect transition="out" filter="fade">
                                          <p:cBhvr>
                                            <p:cTn id="127" dur="500" tmFilter="0, 0; .2, .5; .8, .5; 1, 0"/>
                                            <p:tgtEl>
                                              <p:spTgt spid="62"/>
                                            </p:tgtEl>
                                          </p:cBhvr>
                                        </p:animEffect>
                                        <p:animScale>
                                          <p:cBhvr>
                                            <p:cTn id="128" dur="250" autoRev="1" fill="hold"/>
                                            <p:tgtEl>
                                              <p:spTgt spid="6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60" grpId="0"/>
          <p:bldP spid="60" grpId="1"/>
          <p:bldP spid="61" grpId="0"/>
          <p:bldP spid="61" grpId="1"/>
          <p:bldP spid="62" grpId="0"/>
          <p:bldP spid="62" grpId="1"/>
          <p:bldP spid="63" grpId="0"/>
          <p:bldP spid="63" grpId="1"/>
          <p:bldP spid="64" grpId="0" animBg="1"/>
          <p:bldP spid="65" grpId="0" animBg="1"/>
          <p:bldP spid="66" grpId="0" animBg="1"/>
          <p:bldP spid="67" grpId="0" animBg="1"/>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id="9" presetID="42" presetClass="path" presetSubtype="0" accel="50000" fill="hold" nodeType="afterEffect">
                                      <p:stCondLst>
                                        <p:cond delay="0"/>
                                      </p:stCondLst>
                                      <p:childTnLst>
                                        <p:animMotion origin="layout" path="M 2.22222E-6 -1.85185E-6 L -0.00018 0.03982 " pathEditMode="relative" rAng="0" ptsTypes="AA">
                                          <p:cBhvr>
                                            <p:cTn id="10" dur="500" fill="hold"/>
                                            <p:tgtEl>
                                              <p:spTgt spid="70"/>
                                            </p:tgtEl>
                                            <p:attrNameLst>
                                              <p:attrName>ppt_x</p:attrName>
                                              <p:attrName>ppt_y</p:attrName>
                                            </p:attrNameLst>
                                          </p:cBhvr>
                                          <p:rCtr x="-17" y="1991"/>
                                        </p:animMotion>
                                      </p:childTnLst>
                                    </p:cTn>
                                  </p:par>
                                  <p:par>
                                    <p:cTn id="11" presetID="42" presetClass="path" presetSubtype="0" accel="50000" fill="hold" nodeType="withEffect">
                                      <p:stCondLst>
                                        <p:cond delay="0"/>
                                      </p:stCondLst>
                                      <p:childTnLst>
                                        <p:animMotion origin="layout" path="M -3.33333E-6 -3.7037E-6 L 0.00018 -0.03009 " pathEditMode="relative" rAng="0" ptsTypes="AA">
                                          <p:cBhvr>
                                            <p:cTn id="12" dur="500" fill="hold"/>
                                            <p:tgtEl>
                                              <p:spTgt spid="78"/>
                                            </p:tgtEl>
                                            <p:attrNameLst>
                                              <p:attrName>ppt_x</p:attrName>
                                              <p:attrName>ppt_y</p:attrName>
                                            </p:attrNameLst>
                                          </p:cBhvr>
                                          <p:rCtr x="0" y="-1505"/>
                                        </p:animMotion>
                                      </p:childTnLst>
                                    </p:cTn>
                                  </p:par>
                                </p:childTnLst>
                              </p:cTn>
                            </p:par>
                            <p:par>
                              <p:cTn id="13" fill="hold">
                                <p:stCondLst>
                                  <p:cond delay="1000"/>
                                </p:stCondLst>
                                <p:childTnLst>
                                  <p:par>
                                    <p:cTn id="14" presetID="42" presetClass="path" presetSubtype="0" accel="50000" fill="hold" nodeType="afterEffect">
                                      <p:stCondLst>
                                        <p:cond delay="0"/>
                                      </p:stCondLst>
                                      <p:childTnLst>
                                        <p:animMotion origin="layout" path="M -0.00018 0.03982 L 3.05556E-6 2.22222E-6 " pathEditMode="relative" rAng="0" ptsTypes="AA">
                                          <p:cBhvr>
                                            <p:cTn id="15" dur="500" fill="hold"/>
                                            <p:tgtEl>
                                              <p:spTgt spid="70"/>
                                            </p:tgtEl>
                                            <p:attrNameLst>
                                              <p:attrName>ppt_x</p:attrName>
                                              <p:attrName>ppt_y</p:attrName>
                                            </p:attrNameLst>
                                          </p:cBhvr>
                                          <p:rCtr x="-17" y="-1944"/>
                                        </p:animMotion>
                                      </p:childTnLst>
                                    </p:cTn>
                                  </p:par>
                                  <p:par>
                                    <p:cTn id="16" presetID="42" presetClass="path" presetSubtype="0" accel="50000" fill="hold" nodeType="withEffect">
                                      <p:stCondLst>
                                        <p:cond delay="0"/>
                                      </p:stCondLst>
                                      <p:childTnLst>
                                        <p:animMotion origin="layout" path="M 0.00018 -0.03009 L -4.16667E-6 -3.7037E-6 " pathEditMode="relative" rAng="0" ptsTypes="AA">
                                          <p:cBhvr>
                                            <p:cTn id="17" dur="500" fill="hold"/>
                                            <p:tgtEl>
                                              <p:spTgt spid="78"/>
                                            </p:tgtEl>
                                            <p:attrNameLst>
                                              <p:attrName>ppt_x</p:attrName>
                                              <p:attrName>ppt_y</p:attrName>
                                            </p:attrNameLst>
                                          </p:cBhvr>
                                          <p:rCtr x="17" y="1505"/>
                                        </p:animMotion>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up)">
                                          <p:cBhvr>
                                            <p:cTn id="21" dur="1000"/>
                                            <p:tgtEl>
                                              <p:spTgt spid="10"/>
                                            </p:tgtEl>
                                          </p:cBhvr>
                                        </p:animEffect>
                                      </p:childTnLst>
                                    </p:cTn>
                                  </p:par>
                                </p:childTnLst>
                              </p:cTn>
                            </p:par>
                            <p:par>
                              <p:cTn id="22" fill="hold">
                                <p:stCondLst>
                                  <p:cond delay="2500"/>
                                </p:stCondLst>
                                <p:childTnLst>
                                  <p:par>
                                    <p:cTn id="23" presetID="1"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26" presetClass="emph" presetSubtype="0" fill="hold" nodeType="withEffect">
                                      <p:stCondLst>
                                        <p:cond delay="0"/>
                                      </p:stCondLst>
                                      <p:childTnLst>
                                        <p:animEffect transition="out" filter="fade">
                                          <p:cBhvr>
                                            <p:cTn id="26" dur="500" tmFilter="0, 0; .2, .5; .8, .5; 1, 0"/>
                                            <p:tgtEl>
                                              <p:spTgt spid="52"/>
                                            </p:tgtEl>
                                          </p:cBhvr>
                                        </p:animEffect>
                                        <p:animScale>
                                          <p:cBhvr>
                                            <p:cTn id="27" dur="250" autoRev="1" fill="hold"/>
                                            <p:tgtEl>
                                              <p:spTgt spid="52"/>
                                            </p:tgtEl>
                                          </p:cBhvr>
                                          <p:by x="105000" y="105000"/>
                                        </p:animScale>
                                      </p:childTnLst>
                                    </p:cTn>
                                  </p:par>
                                </p:childTnLst>
                              </p:cTn>
                            </p:par>
                            <p:par>
                              <p:cTn id="28" fill="hold">
                                <p:stCondLst>
                                  <p:cond delay="3000"/>
                                </p:stCondLst>
                                <p:childTnLst>
                                  <p:par>
                                    <p:cTn id="29" presetID="16" presetClass="entr" presetSubtype="42" fill="hold" grpId="0" nodeType="after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barn(outHorizontal)">
                                          <p:cBhvr>
                                            <p:cTn id="31" dur="500"/>
                                            <p:tgtEl>
                                              <p:spTgt spid="67"/>
                                            </p:tgtEl>
                                          </p:cBhvr>
                                        </p:animEffect>
                                      </p:childTnLst>
                                    </p:cTn>
                                  </p:par>
                                </p:childTnLst>
                              </p:cTn>
                            </p:par>
                            <p:par>
                              <p:cTn id="32" fill="hold">
                                <p:stCondLst>
                                  <p:cond delay="3500"/>
                                </p:stCondLst>
                                <p:childTnLst>
                                  <p:par>
                                    <p:cTn id="33" presetID="1" presetClass="entr" presetSubtype="0" fill="hold" grpId="0" nodeType="after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par>
                                    <p:cTn id="35" presetID="26" presetClass="emph" presetSubtype="0" fill="hold" grpId="1" nodeType="withEffect">
                                      <p:stCondLst>
                                        <p:cond delay="0"/>
                                      </p:stCondLst>
                                      <p:childTnLst>
                                        <p:animEffect transition="out" filter="fade">
                                          <p:cBhvr>
                                            <p:cTn id="36" dur="500" tmFilter="0, 0; .2, .5; .8, .5; 1, 0"/>
                                            <p:tgtEl>
                                              <p:spTgt spid="63"/>
                                            </p:tgtEl>
                                          </p:cBhvr>
                                        </p:animEffect>
                                        <p:animScale>
                                          <p:cBhvr>
                                            <p:cTn id="37" dur="250" autoRev="1" fill="hold"/>
                                            <p:tgtEl>
                                              <p:spTgt spid="63"/>
                                            </p:tgtEl>
                                          </p:cBhvr>
                                          <p:by x="105000" y="105000"/>
                                        </p:animScale>
                                      </p:childTnLst>
                                    </p:cTn>
                                  </p:par>
                                </p:childTnLst>
                              </p:cTn>
                            </p:par>
                            <p:par>
                              <p:cTn id="38" fill="hold">
                                <p:stCondLst>
                                  <p:cond delay="4000"/>
                                </p:stCondLst>
                                <p:childTnLst>
                                  <p:par>
                                    <p:cTn id="39" presetID="42" presetClass="path" presetSubtype="0" accel="50000" fill="hold" nodeType="afterEffect">
                                      <p:stCondLst>
                                        <p:cond delay="0"/>
                                      </p:stCondLst>
                                      <p:childTnLst>
                                        <p:animMotion origin="layout" path="M 2.22222E-6 -3.7037E-7 L -0.00017 0.03982 " pathEditMode="relative" rAng="0" ptsTypes="AA">
                                          <p:cBhvr>
                                            <p:cTn id="40" dur="500" fill="hold"/>
                                            <p:tgtEl>
                                              <p:spTgt spid="70"/>
                                            </p:tgtEl>
                                            <p:attrNameLst>
                                              <p:attrName>ppt_x</p:attrName>
                                              <p:attrName>ppt_y</p:attrName>
                                            </p:attrNameLst>
                                          </p:cBhvr>
                                          <p:rCtr x="0" y="1782"/>
                                        </p:animMotion>
                                      </p:childTnLst>
                                    </p:cTn>
                                  </p:par>
                                  <p:par>
                                    <p:cTn id="41" presetID="42" presetClass="path" presetSubtype="0" accel="50000" fill="hold" nodeType="withEffect">
                                      <p:stCondLst>
                                        <p:cond delay="0"/>
                                      </p:stCondLst>
                                      <p:childTnLst>
                                        <p:animMotion origin="layout" path="M -3.33333E-6 -7.40741E-7 L 0.00017 -0.0301 " pathEditMode="relative" rAng="0" ptsTypes="AA">
                                          <p:cBhvr>
                                            <p:cTn id="42" dur="500" fill="hold"/>
                                            <p:tgtEl>
                                              <p:spTgt spid="78"/>
                                            </p:tgtEl>
                                            <p:attrNameLst>
                                              <p:attrName>ppt_x</p:attrName>
                                              <p:attrName>ppt_y</p:attrName>
                                            </p:attrNameLst>
                                          </p:cBhvr>
                                          <p:rCtr x="0" y="-1389"/>
                                        </p:animMotion>
                                      </p:childTnLst>
                                    </p:cTn>
                                  </p:par>
                                </p:childTnLst>
                              </p:cTn>
                            </p:par>
                            <p:par>
                              <p:cTn id="43" fill="hold">
                                <p:stCondLst>
                                  <p:cond delay="4500"/>
                                </p:stCondLst>
                                <p:childTnLst>
                                  <p:par>
                                    <p:cTn id="44" presetID="42" presetClass="path" presetSubtype="0" accel="50000" fill="hold" nodeType="afterEffect">
                                      <p:stCondLst>
                                        <p:cond delay="0"/>
                                      </p:stCondLst>
                                      <p:childTnLst>
                                        <p:animMotion origin="layout" path="M -0.00018 0.03982 L 3.05556E-6 7.40741E-7 " pathEditMode="relative" rAng="0" ptsTypes="AA">
                                          <p:cBhvr>
                                            <p:cTn id="45" dur="500" fill="hold"/>
                                            <p:tgtEl>
                                              <p:spTgt spid="70"/>
                                            </p:tgtEl>
                                            <p:attrNameLst>
                                              <p:attrName>ppt_x</p:attrName>
                                              <p:attrName>ppt_y</p:attrName>
                                            </p:attrNameLst>
                                          </p:cBhvr>
                                          <p:rCtr x="-17" y="-1921"/>
                                        </p:animMotion>
                                      </p:childTnLst>
                                    </p:cTn>
                                  </p:par>
                                  <p:par>
                                    <p:cTn id="46" presetID="42" presetClass="path" presetSubtype="0" accel="50000" fill="hold" nodeType="withEffect">
                                      <p:stCondLst>
                                        <p:cond delay="0"/>
                                      </p:stCondLst>
                                      <p:childTnLst>
                                        <p:animMotion origin="layout" path="M 0.00017 -0.03009 L -3.33333E-6 -7.40741E-7 " pathEditMode="relative" rAng="0" ptsTypes="AA">
                                          <p:cBhvr>
                                            <p:cTn id="47" dur="500" fill="hold"/>
                                            <p:tgtEl>
                                              <p:spTgt spid="78"/>
                                            </p:tgtEl>
                                            <p:attrNameLst>
                                              <p:attrName>ppt_x</p:attrName>
                                              <p:attrName>ppt_y</p:attrName>
                                            </p:attrNameLst>
                                          </p:cBhvr>
                                          <p:rCtr x="0" y="1505"/>
                                        </p:animMotion>
                                      </p:childTnLst>
                                    </p:cTn>
                                  </p:par>
                                </p:childTnLst>
                              </p:cTn>
                            </p:par>
                            <p:par>
                              <p:cTn id="48" fill="hold">
                                <p:stCondLst>
                                  <p:cond delay="5000"/>
                                </p:stCondLst>
                                <p:childTnLst>
                                  <p:par>
                                    <p:cTn id="49" presetID="22" presetClass="entr" presetSubtype="8" fill="hold" grpId="0"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wipe(left)">
                                          <p:cBhvr>
                                            <p:cTn id="51" dur="1000"/>
                                            <p:tgtEl>
                                              <p:spTgt spid="8"/>
                                            </p:tgtEl>
                                          </p:cBhvr>
                                        </p:animEffect>
                                      </p:childTnLst>
                                    </p:cTn>
                                  </p:par>
                                </p:childTnLst>
                              </p:cTn>
                            </p:par>
                            <p:par>
                              <p:cTn id="52" fill="hold">
                                <p:stCondLst>
                                  <p:cond delay="6000"/>
                                </p:stCondLst>
                                <p:childTnLst>
                                  <p:par>
                                    <p:cTn id="53" presetID="1" presetClass="entr" presetSubtype="0" fill="hold" nodeType="after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26" presetClass="emph" presetSubtype="0" fill="hold" nodeType="withEffect">
                                      <p:stCondLst>
                                        <p:cond delay="0"/>
                                      </p:stCondLst>
                                      <p:childTnLst>
                                        <p:animEffect transition="out" filter="fade">
                                          <p:cBhvr>
                                            <p:cTn id="56" dur="500" tmFilter="0, 0; .2, .5; .8, .5; 1, 0"/>
                                            <p:tgtEl>
                                              <p:spTgt spid="40"/>
                                            </p:tgtEl>
                                          </p:cBhvr>
                                        </p:animEffect>
                                        <p:animScale>
                                          <p:cBhvr>
                                            <p:cTn id="57" dur="250" autoRev="1" fill="hold"/>
                                            <p:tgtEl>
                                              <p:spTgt spid="40"/>
                                            </p:tgtEl>
                                          </p:cBhvr>
                                          <p:by x="105000" y="105000"/>
                                        </p:animScale>
                                      </p:childTnLst>
                                    </p:cTn>
                                  </p:par>
                                </p:childTnLst>
                              </p:cTn>
                            </p:par>
                            <p:par>
                              <p:cTn id="58" fill="hold">
                                <p:stCondLst>
                                  <p:cond delay="6500"/>
                                </p:stCondLst>
                                <p:childTnLst>
                                  <p:par>
                                    <p:cTn id="59" presetID="16" presetClass="entr" presetSubtype="37" fill="hold" grpId="0" nodeType="afterEffect">
                                      <p:stCondLst>
                                        <p:cond delay="0"/>
                                      </p:stCondLst>
                                      <p:childTnLst>
                                        <p:set>
                                          <p:cBhvr>
                                            <p:cTn id="60" dur="1" fill="hold">
                                              <p:stCondLst>
                                                <p:cond delay="0"/>
                                              </p:stCondLst>
                                            </p:cTn>
                                            <p:tgtEl>
                                              <p:spTgt spid="66"/>
                                            </p:tgtEl>
                                            <p:attrNameLst>
                                              <p:attrName>style.visibility</p:attrName>
                                            </p:attrNameLst>
                                          </p:cBhvr>
                                          <p:to>
                                            <p:strVal val="visible"/>
                                          </p:to>
                                        </p:set>
                                        <p:animEffect transition="in" filter="barn(outVertical)">
                                          <p:cBhvr>
                                            <p:cTn id="61" dur="500"/>
                                            <p:tgtEl>
                                              <p:spTgt spid="66"/>
                                            </p:tgtEl>
                                          </p:cBhvr>
                                        </p:animEffect>
                                      </p:childTnLst>
                                    </p:cTn>
                                  </p:par>
                                </p:childTnLst>
                              </p:cTn>
                            </p:par>
                            <p:par>
                              <p:cTn id="62" fill="hold">
                                <p:stCondLst>
                                  <p:cond delay="7000"/>
                                </p:stCondLst>
                                <p:childTnLst>
                                  <p:par>
                                    <p:cTn id="63" presetID="1" presetClass="entr" presetSubtype="0" fill="hold" grpId="0" nodeType="after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26" presetClass="emph" presetSubtype="0" fill="hold" grpId="1" nodeType="withEffect">
                                      <p:stCondLst>
                                        <p:cond delay="0"/>
                                      </p:stCondLst>
                                      <p:childTnLst>
                                        <p:animEffect transition="out" filter="fade">
                                          <p:cBhvr>
                                            <p:cTn id="66" dur="500" tmFilter="0, 0; .2, .5; .8, .5; 1, 0"/>
                                            <p:tgtEl>
                                              <p:spTgt spid="61"/>
                                            </p:tgtEl>
                                          </p:cBhvr>
                                        </p:animEffect>
                                        <p:animScale>
                                          <p:cBhvr>
                                            <p:cTn id="67" dur="250" autoRev="1" fill="hold"/>
                                            <p:tgtEl>
                                              <p:spTgt spid="61"/>
                                            </p:tgtEl>
                                          </p:cBhvr>
                                          <p:by x="105000" y="105000"/>
                                        </p:animScale>
                                      </p:childTnLst>
                                    </p:cTn>
                                  </p:par>
                                </p:childTnLst>
                              </p:cTn>
                            </p:par>
                            <p:par>
                              <p:cTn id="68" fill="hold">
                                <p:stCondLst>
                                  <p:cond delay="7500"/>
                                </p:stCondLst>
                                <p:childTnLst>
                                  <p:par>
                                    <p:cTn id="69" presetID="42" presetClass="path" presetSubtype="0" accel="50000" fill="hold" nodeType="afterEffect">
                                      <p:stCondLst>
                                        <p:cond delay="0"/>
                                      </p:stCondLst>
                                      <p:childTnLst>
                                        <p:animMotion origin="layout" path="M 2.22222E-6 -3.7037E-7 L -0.00017 0.03982 " pathEditMode="relative" rAng="0" ptsTypes="AA">
                                          <p:cBhvr>
                                            <p:cTn id="70" dur="500" fill="hold"/>
                                            <p:tgtEl>
                                              <p:spTgt spid="70"/>
                                            </p:tgtEl>
                                            <p:attrNameLst>
                                              <p:attrName>ppt_x</p:attrName>
                                              <p:attrName>ppt_y</p:attrName>
                                            </p:attrNameLst>
                                          </p:cBhvr>
                                          <p:rCtr x="0" y="1921"/>
                                        </p:animMotion>
                                      </p:childTnLst>
                                    </p:cTn>
                                  </p:par>
                                  <p:par>
                                    <p:cTn id="71" presetID="42" presetClass="path" presetSubtype="0" accel="50000" fill="hold" nodeType="withEffect">
                                      <p:stCondLst>
                                        <p:cond delay="0"/>
                                      </p:stCondLst>
                                      <p:childTnLst>
                                        <p:animMotion origin="layout" path="M -3.33333E-6 -7.40741E-7 L 0.00018 -0.0301 " pathEditMode="relative" rAng="0" ptsTypes="AA">
                                          <p:cBhvr>
                                            <p:cTn id="72" dur="500" fill="hold"/>
                                            <p:tgtEl>
                                              <p:spTgt spid="78"/>
                                            </p:tgtEl>
                                            <p:attrNameLst>
                                              <p:attrName>ppt_x</p:attrName>
                                              <p:attrName>ppt_y</p:attrName>
                                            </p:attrNameLst>
                                          </p:cBhvr>
                                          <p:rCtr x="0" y="-1458"/>
                                        </p:animMotion>
                                      </p:childTnLst>
                                    </p:cTn>
                                  </p:par>
                                </p:childTnLst>
                              </p:cTn>
                            </p:par>
                            <p:par>
                              <p:cTn id="73" fill="hold">
                                <p:stCondLst>
                                  <p:cond delay="8000"/>
                                </p:stCondLst>
                                <p:childTnLst>
                                  <p:par>
                                    <p:cTn id="74" presetID="42" presetClass="path" presetSubtype="0" accel="50000" fill="hold" nodeType="afterEffect">
                                      <p:stCondLst>
                                        <p:cond delay="0"/>
                                      </p:stCondLst>
                                      <p:childTnLst>
                                        <p:animMotion origin="layout" path="M -0.00018 0.03982 L 5E-6 -3.33333E-6 " pathEditMode="relative" rAng="0" ptsTypes="AA">
                                          <p:cBhvr>
                                            <p:cTn id="75" dur="500" fill="hold"/>
                                            <p:tgtEl>
                                              <p:spTgt spid="70"/>
                                            </p:tgtEl>
                                            <p:attrNameLst>
                                              <p:attrName>ppt_x</p:attrName>
                                              <p:attrName>ppt_y</p:attrName>
                                            </p:attrNameLst>
                                          </p:cBhvr>
                                          <p:rCtr x="17" y="-1968"/>
                                        </p:animMotion>
                                      </p:childTnLst>
                                    </p:cTn>
                                  </p:par>
                                  <p:par>
                                    <p:cTn id="76" presetID="42" presetClass="path" presetSubtype="0" accel="50000" fill="hold" nodeType="withEffect">
                                      <p:stCondLst>
                                        <p:cond delay="0"/>
                                      </p:stCondLst>
                                      <p:childTnLst>
                                        <p:animMotion origin="layout" path="M 0.00018 -0.03009 L 3.05556E-6 -3.7037E-6 " pathEditMode="relative" rAng="0" ptsTypes="AA">
                                          <p:cBhvr>
                                            <p:cTn id="77" dur="500" fill="hold"/>
                                            <p:tgtEl>
                                              <p:spTgt spid="78"/>
                                            </p:tgtEl>
                                            <p:attrNameLst>
                                              <p:attrName>ppt_x</p:attrName>
                                              <p:attrName>ppt_y</p:attrName>
                                            </p:attrNameLst>
                                          </p:cBhvr>
                                          <p:rCtr x="0" y="1528"/>
                                        </p:animMotion>
                                      </p:childTnLst>
                                    </p:cTn>
                                  </p:par>
                                </p:childTnLst>
                              </p:cTn>
                            </p:par>
                            <p:par>
                              <p:cTn id="78" fill="hold">
                                <p:stCondLst>
                                  <p:cond delay="8500"/>
                                </p:stCondLst>
                                <p:childTnLst>
                                  <p:par>
                                    <p:cTn id="79" presetID="22" presetClass="entr" presetSubtype="8" fill="hold" grpId="0" nodeType="afterEffect">
                                      <p:stCondLst>
                                        <p:cond delay="0"/>
                                      </p:stCondLst>
                                      <p:childTnLst>
                                        <p:set>
                                          <p:cBhvr>
                                            <p:cTn id="80" dur="1" fill="hold">
                                              <p:stCondLst>
                                                <p:cond delay="0"/>
                                              </p:stCondLst>
                                            </p:cTn>
                                            <p:tgtEl>
                                              <p:spTgt spid="7"/>
                                            </p:tgtEl>
                                            <p:attrNameLst>
                                              <p:attrName>style.visibility</p:attrName>
                                            </p:attrNameLst>
                                          </p:cBhvr>
                                          <p:to>
                                            <p:strVal val="visible"/>
                                          </p:to>
                                        </p:set>
                                        <p:animEffect transition="in" filter="wipe(left)">
                                          <p:cBhvr>
                                            <p:cTn id="81" dur="1000"/>
                                            <p:tgtEl>
                                              <p:spTgt spid="7"/>
                                            </p:tgtEl>
                                          </p:cBhvr>
                                        </p:animEffect>
                                      </p:childTnLst>
                                    </p:cTn>
                                  </p:par>
                                </p:childTnLst>
                              </p:cTn>
                            </p:par>
                            <p:par>
                              <p:cTn id="82" fill="hold">
                                <p:stCondLst>
                                  <p:cond delay="9500"/>
                                </p:stCondLst>
                                <p:childTnLst>
                                  <p:par>
                                    <p:cTn id="83" presetID="1" presetClass="entr" presetSubtype="0" fill="hold" nodeType="afterEffect">
                                      <p:stCondLst>
                                        <p:cond delay="0"/>
                                      </p:stCondLst>
                                      <p:childTnLst>
                                        <p:set>
                                          <p:cBhvr>
                                            <p:cTn id="84" dur="1" fill="hold">
                                              <p:stCondLst>
                                                <p:cond delay="0"/>
                                              </p:stCondLst>
                                            </p:cTn>
                                            <p:tgtEl>
                                              <p:spTgt spid="43"/>
                                            </p:tgtEl>
                                            <p:attrNameLst>
                                              <p:attrName>style.visibility</p:attrName>
                                            </p:attrNameLst>
                                          </p:cBhvr>
                                          <p:to>
                                            <p:strVal val="visible"/>
                                          </p:to>
                                        </p:set>
                                      </p:childTnLst>
                                    </p:cTn>
                                  </p:par>
                                  <p:par>
                                    <p:cTn id="85" presetID="26" presetClass="emph" presetSubtype="0" fill="hold" nodeType="withEffect">
                                      <p:stCondLst>
                                        <p:cond delay="0"/>
                                      </p:stCondLst>
                                      <p:childTnLst>
                                        <p:animEffect transition="out" filter="fade">
                                          <p:cBhvr>
                                            <p:cTn id="86" dur="500" tmFilter="0, 0; .2, .5; .8, .5; 1, 0"/>
                                            <p:tgtEl>
                                              <p:spTgt spid="43"/>
                                            </p:tgtEl>
                                          </p:cBhvr>
                                        </p:animEffect>
                                        <p:animScale>
                                          <p:cBhvr>
                                            <p:cTn id="87" dur="250" autoRev="1" fill="hold"/>
                                            <p:tgtEl>
                                              <p:spTgt spid="43"/>
                                            </p:tgtEl>
                                          </p:cBhvr>
                                          <p:by x="105000" y="105000"/>
                                        </p:animScale>
                                      </p:childTnLst>
                                    </p:cTn>
                                  </p:par>
                                </p:childTnLst>
                              </p:cTn>
                            </p:par>
                            <p:par>
                              <p:cTn id="88" fill="hold">
                                <p:stCondLst>
                                  <p:cond delay="10000"/>
                                </p:stCondLst>
                                <p:childTnLst>
                                  <p:par>
                                    <p:cTn id="89" presetID="16" presetClass="entr" presetSubtype="37" fill="hold" grpId="0" nodeType="afterEffect">
                                      <p:stCondLst>
                                        <p:cond delay="0"/>
                                      </p:stCondLst>
                                      <p:childTnLst>
                                        <p:set>
                                          <p:cBhvr>
                                            <p:cTn id="90" dur="1" fill="hold">
                                              <p:stCondLst>
                                                <p:cond delay="0"/>
                                              </p:stCondLst>
                                            </p:cTn>
                                            <p:tgtEl>
                                              <p:spTgt spid="64"/>
                                            </p:tgtEl>
                                            <p:attrNameLst>
                                              <p:attrName>style.visibility</p:attrName>
                                            </p:attrNameLst>
                                          </p:cBhvr>
                                          <p:to>
                                            <p:strVal val="visible"/>
                                          </p:to>
                                        </p:set>
                                        <p:animEffect transition="in" filter="barn(outVertical)">
                                          <p:cBhvr>
                                            <p:cTn id="91" dur="500"/>
                                            <p:tgtEl>
                                              <p:spTgt spid="64"/>
                                            </p:tgtEl>
                                          </p:cBhvr>
                                        </p:animEffect>
                                      </p:childTnLst>
                                    </p:cTn>
                                  </p:par>
                                </p:childTnLst>
                              </p:cTn>
                            </p:par>
                            <p:par>
                              <p:cTn id="92" fill="hold">
                                <p:stCondLst>
                                  <p:cond delay="10500"/>
                                </p:stCondLst>
                                <p:childTnLst>
                                  <p:par>
                                    <p:cTn id="93" presetID="1" presetClass="entr" presetSubtype="0" fill="hold" grpId="0" nodeType="afterEffect">
                                      <p:stCondLst>
                                        <p:cond delay="0"/>
                                      </p:stCondLst>
                                      <p:childTnLst>
                                        <p:set>
                                          <p:cBhvr>
                                            <p:cTn id="94" dur="1" fill="hold">
                                              <p:stCondLst>
                                                <p:cond delay="0"/>
                                              </p:stCondLst>
                                            </p:cTn>
                                            <p:tgtEl>
                                              <p:spTgt spid="60"/>
                                            </p:tgtEl>
                                            <p:attrNameLst>
                                              <p:attrName>style.visibility</p:attrName>
                                            </p:attrNameLst>
                                          </p:cBhvr>
                                          <p:to>
                                            <p:strVal val="visible"/>
                                          </p:to>
                                        </p:set>
                                      </p:childTnLst>
                                    </p:cTn>
                                  </p:par>
                                  <p:par>
                                    <p:cTn id="95" presetID="26" presetClass="emph" presetSubtype="0" fill="hold" grpId="1" nodeType="withEffect">
                                      <p:stCondLst>
                                        <p:cond delay="0"/>
                                      </p:stCondLst>
                                      <p:childTnLst>
                                        <p:animEffect transition="out" filter="fade">
                                          <p:cBhvr>
                                            <p:cTn id="96" dur="500" tmFilter="0, 0; .2, .5; .8, .5; 1, 0"/>
                                            <p:tgtEl>
                                              <p:spTgt spid="60"/>
                                            </p:tgtEl>
                                          </p:cBhvr>
                                        </p:animEffect>
                                        <p:animScale>
                                          <p:cBhvr>
                                            <p:cTn id="97" dur="250" autoRev="1" fill="hold"/>
                                            <p:tgtEl>
                                              <p:spTgt spid="60"/>
                                            </p:tgtEl>
                                          </p:cBhvr>
                                          <p:by x="105000" y="105000"/>
                                        </p:animScale>
                                      </p:childTnLst>
                                    </p:cTn>
                                  </p:par>
                                </p:childTnLst>
                              </p:cTn>
                            </p:par>
                            <p:par>
                              <p:cTn id="98" fill="hold">
                                <p:stCondLst>
                                  <p:cond delay="11000"/>
                                </p:stCondLst>
                                <p:childTnLst>
                                  <p:par>
                                    <p:cTn id="99" presetID="42" presetClass="path" presetSubtype="0" accel="50000" fill="hold" nodeType="afterEffect">
                                      <p:stCondLst>
                                        <p:cond delay="0"/>
                                      </p:stCondLst>
                                      <p:childTnLst>
                                        <p:animMotion origin="layout" path="M 2.22222E-6 -3.7037E-7 L -0.00017 0.03981 " pathEditMode="relative" rAng="0" ptsTypes="AA">
                                          <p:cBhvr>
                                            <p:cTn id="100" dur="500" fill="hold"/>
                                            <p:tgtEl>
                                              <p:spTgt spid="70"/>
                                            </p:tgtEl>
                                            <p:attrNameLst>
                                              <p:attrName>ppt_x</p:attrName>
                                              <p:attrName>ppt_y</p:attrName>
                                            </p:attrNameLst>
                                          </p:cBhvr>
                                          <p:rCtr x="0" y="1944"/>
                                        </p:animMotion>
                                      </p:childTnLst>
                                    </p:cTn>
                                  </p:par>
                                  <p:par>
                                    <p:cTn id="101" presetID="42" presetClass="path" presetSubtype="0" accel="50000" fill="hold" nodeType="withEffect">
                                      <p:stCondLst>
                                        <p:cond delay="0"/>
                                      </p:stCondLst>
                                      <p:childTnLst>
                                        <p:animMotion origin="layout" path="M 3.05556E-6 -3.7037E-6 L 0.00018 -0.03009 " pathEditMode="relative" rAng="0" ptsTypes="AA">
                                          <p:cBhvr>
                                            <p:cTn id="102" dur="500" fill="hold"/>
                                            <p:tgtEl>
                                              <p:spTgt spid="78"/>
                                            </p:tgtEl>
                                            <p:attrNameLst>
                                              <p:attrName>ppt_x</p:attrName>
                                              <p:attrName>ppt_y</p:attrName>
                                            </p:attrNameLst>
                                          </p:cBhvr>
                                          <p:rCtr x="0" y="-1528"/>
                                        </p:animMotion>
                                      </p:childTnLst>
                                    </p:cTn>
                                  </p:par>
                                </p:childTnLst>
                              </p:cTn>
                            </p:par>
                            <p:par>
                              <p:cTn id="103" fill="hold">
                                <p:stCondLst>
                                  <p:cond delay="11500"/>
                                </p:stCondLst>
                                <p:childTnLst>
                                  <p:par>
                                    <p:cTn id="104" presetID="42" presetClass="path" presetSubtype="0" accel="50000" fill="hold" nodeType="afterEffect">
                                      <p:stCondLst>
                                        <p:cond delay="0"/>
                                      </p:stCondLst>
                                      <p:childTnLst>
                                        <p:animMotion origin="layout" path="M -0.00018 0.03982 L 1.38889E-6 -1.85185E-6 " pathEditMode="relative" rAng="0" ptsTypes="AA">
                                          <p:cBhvr>
                                            <p:cTn id="105" dur="500" fill="hold"/>
                                            <p:tgtEl>
                                              <p:spTgt spid="70"/>
                                            </p:tgtEl>
                                            <p:attrNameLst>
                                              <p:attrName>ppt_x</p:attrName>
                                              <p:attrName>ppt_y</p:attrName>
                                            </p:attrNameLst>
                                          </p:cBhvr>
                                          <p:rCtr x="35" y="-1991"/>
                                        </p:animMotion>
                                      </p:childTnLst>
                                    </p:cTn>
                                  </p:par>
                                  <p:par>
                                    <p:cTn id="106" presetID="42" presetClass="path" presetSubtype="0" accel="50000" fill="hold" nodeType="withEffect">
                                      <p:stCondLst>
                                        <p:cond delay="0"/>
                                      </p:stCondLst>
                                      <p:childTnLst>
                                        <p:animMotion origin="layout" path="M 0.00018 -0.03009 L 3.05556E-6 -2.22222E-6 " pathEditMode="relative" rAng="0" ptsTypes="AA">
                                          <p:cBhvr>
                                            <p:cTn id="107" dur="500" fill="hold"/>
                                            <p:tgtEl>
                                              <p:spTgt spid="78"/>
                                            </p:tgtEl>
                                            <p:attrNameLst>
                                              <p:attrName>ppt_x</p:attrName>
                                              <p:attrName>ppt_y</p:attrName>
                                            </p:attrNameLst>
                                          </p:cBhvr>
                                          <p:rCtr x="0" y="1505"/>
                                        </p:animMotion>
                                      </p:childTnLst>
                                    </p:cTn>
                                  </p:par>
                                </p:childTnLst>
                              </p:cTn>
                            </p:par>
                            <p:par>
                              <p:cTn id="108" fill="hold">
                                <p:stCondLst>
                                  <p:cond delay="12000"/>
                                </p:stCondLst>
                                <p:childTnLst>
                                  <p:par>
                                    <p:cTn id="109" presetID="22" presetClass="entr" presetSubtype="1" fill="hold" grpId="0" nodeType="afterEffect">
                                      <p:stCondLst>
                                        <p:cond delay="0"/>
                                      </p:stCondLst>
                                      <p:childTnLst>
                                        <p:set>
                                          <p:cBhvr>
                                            <p:cTn id="110" dur="1" fill="hold">
                                              <p:stCondLst>
                                                <p:cond delay="0"/>
                                              </p:stCondLst>
                                            </p:cTn>
                                            <p:tgtEl>
                                              <p:spTgt spid="9"/>
                                            </p:tgtEl>
                                            <p:attrNameLst>
                                              <p:attrName>style.visibility</p:attrName>
                                            </p:attrNameLst>
                                          </p:cBhvr>
                                          <p:to>
                                            <p:strVal val="visible"/>
                                          </p:to>
                                        </p:set>
                                        <p:animEffect transition="in" filter="wipe(up)">
                                          <p:cBhvr>
                                            <p:cTn id="111" dur="1000"/>
                                            <p:tgtEl>
                                              <p:spTgt spid="9"/>
                                            </p:tgtEl>
                                          </p:cBhvr>
                                        </p:animEffect>
                                      </p:childTnLst>
                                    </p:cTn>
                                  </p:par>
                                </p:childTnLst>
                              </p:cTn>
                            </p:par>
                            <p:par>
                              <p:cTn id="112" fill="hold">
                                <p:stCondLst>
                                  <p:cond delay="13000"/>
                                </p:stCondLst>
                                <p:childTnLst>
                                  <p:par>
                                    <p:cTn id="113" presetID="1" presetClass="entr" presetSubtype="0" fill="hold" nodeType="afterEffect">
                                      <p:stCondLst>
                                        <p:cond delay="0"/>
                                      </p:stCondLst>
                                      <p:childTnLst>
                                        <p:set>
                                          <p:cBhvr>
                                            <p:cTn id="114" dur="1" fill="hold">
                                              <p:stCondLst>
                                                <p:cond delay="0"/>
                                              </p:stCondLst>
                                            </p:cTn>
                                            <p:tgtEl>
                                              <p:spTgt spid="46"/>
                                            </p:tgtEl>
                                            <p:attrNameLst>
                                              <p:attrName>style.visibility</p:attrName>
                                            </p:attrNameLst>
                                          </p:cBhvr>
                                          <p:to>
                                            <p:strVal val="visible"/>
                                          </p:to>
                                        </p:set>
                                      </p:childTnLst>
                                    </p:cTn>
                                  </p:par>
                                  <p:par>
                                    <p:cTn id="115" presetID="26" presetClass="emph" presetSubtype="0" fill="hold" nodeType="withEffect">
                                      <p:stCondLst>
                                        <p:cond delay="0"/>
                                      </p:stCondLst>
                                      <p:childTnLst>
                                        <p:animEffect transition="out" filter="fade">
                                          <p:cBhvr>
                                            <p:cTn id="116" dur="500" tmFilter="0, 0; .2, .5; .8, .5; 1, 0"/>
                                            <p:tgtEl>
                                              <p:spTgt spid="46"/>
                                            </p:tgtEl>
                                          </p:cBhvr>
                                        </p:animEffect>
                                        <p:animScale>
                                          <p:cBhvr>
                                            <p:cTn id="117" dur="250" autoRev="1" fill="hold"/>
                                            <p:tgtEl>
                                              <p:spTgt spid="46"/>
                                            </p:tgtEl>
                                          </p:cBhvr>
                                          <p:by x="105000" y="105000"/>
                                        </p:animScale>
                                      </p:childTnLst>
                                    </p:cTn>
                                  </p:par>
                                </p:childTnLst>
                              </p:cTn>
                            </p:par>
                            <p:par>
                              <p:cTn id="118" fill="hold">
                                <p:stCondLst>
                                  <p:cond delay="13500"/>
                                </p:stCondLst>
                                <p:childTnLst>
                                  <p:par>
                                    <p:cTn id="119" presetID="16" presetClass="entr" presetSubtype="37" fill="hold" grpId="0" nodeType="afterEffect">
                                      <p:stCondLst>
                                        <p:cond delay="0"/>
                                      </p:stCondLst>
                                      <p:childTnLst>
                                        <p:set>
                                          <p:cBhvr>
                                            <p:cTn id="120" dur="1" fill="hold">
                                              <p:stCondLst>
                                                <p:cond delay="0"/>
                                              </p:stCondLst>
                                            </p:cTn>
                                            <p:tgtEl>
                                              <p:spTgt spid="65"/>
                                            </p:tgtEl>
                                            <p:attrNameLst>
                                              <p:attrName>style.visibility</p:attrName>
                                            </p:attrNameLst>
                                          </p:cBhvr>
                                          <p:to>
                                            <p:strVal val="visible"/>
                                          </p:to>
                                        </p:set>
                                        <p:animEffect transition="in" filter="barn(outVertical)">
                                          <p:cBhvr>
                                            <p:cTn id="121" dur="500"/>
                                            <p:tgtEl>
                                              <p:spTgt spid="65"/>
                                            </p:tgtEl>
                                          </p:cBhvr>
                                        </p:animEffect>
                                      </p:childTnLst>
                                    </p:cTn>
                                  </p:par>
                                </p:childTnLst>
                              </p:cTn>
                            </p:par>
                            <p:par>
                              <p:cTn id="122" fill="hold">
                                <p:stCondLst>
                                  <p:cond delay="14000"/>
                                </p:stCondLst>
                                <p:childTnLst>
                                  <p:par>
                                    <p:cTn id="123" presetID="1" presetClass="entr" presetSubtype="0" fill="hold" grpId="0" nodeType="afterEffect">
                                      <p:stCondLst>
                                        <p:cond delay="0"/>
                                      </p:stCondLst>
                                      <p:childTnLst>
                                        <p:set>
                                          <p:cBhvr>
                                            <p:cTn id="124" dur="1" fill="hold">
                                              <p:stCondLst>
                                                <p:cond delay="0"/>
                                              </p:stCondLst>
                                            </p:cTn>
                                            <p:tgtEl>
                                              <p:spTgt spid="62"/>
                                            </p:tgtEl>
                                            <p:attrNameLst>
                                              <p:attrName>style.visibility</p:attrName>
                                            </p:attrNameLst>
                                          </p:cBhvr>
                                          <p:to>
                                            <p:strVal val="visible"/>
                                          </p:to>
                                        </p:set>
                                      </p:childTnLst>
                                    </p:cTn>
                                  </p:par>
                                </p:childTnLst>
                              </p:cTn>
                            </p:par>
                            <p:par>
                              <p:cTn id="125" fill="hold">
                                <p:stCondLst>
                                  <p:cond delay="14000"/>
                                </p:stCondLst>
                                <p:childTnLst>
                                  <p:par>
                                    <p:cTn id="126" presetID="26" presetClass="emph" presetSubtype="0" fill="hold" grpId="1" nodeType="afterEffect">
                                      <p:stCondLst>
                                        <p:cond delay="0"/>
                                      </p:stCondLst>
                                      <p:childTnLst>
                                        <p:animEffect transition="out" filter="fade">
                                          <p:cBhvr>
                                            <p:cTn id="127" dur="500" tmFilter="0, 0; .2, .5; .8, .5; 1, 0"/>
                                            <p:tgtEl>
                                              <p:spTgt spid="62"/>
                                            </p:tgtEl>
                                          </p:cBhvr>
                                        </p:animEffect>
                                        <p:animScale>
                                          <p:cBhvr>
                                            <p:cTn id="128" dur="250" autoRev="1" fill="hold"/>
                                            <p:tgtEl>
                                              <p:spTgt spid="6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60" grpId="0"/>
          <p:bldP spid="60" grpId="1"/>
          <p:bldP spid="61" grpId="0"/>
          <p:bldP spid="61" grpId="1"/>
          <p:bldP spid="62" grpId="0"/>
          <p:bldP spid="62" grpId="1"/>
          <p:bldP spid="63" grpId="0"/>
          <p:bldP spid="63" grpId="1"/>
          <p:bldP spid="64" grpId="0" animBg="1"/>
          <p:bldP spid="65" grpId="0" animBg="1"/>
          <p:bldP spid="66" grpId="0" animBg="1"/>
          <p:bldP spid="67" grpId="0" animBg="1"/>
        </p:bldLst>
      </p:timing>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16933" y="99118"/>
            <a:ext cx="12192000" cy="482773"/>
          </a:xfrm>
        </p:spPr>
        <p:txBody>
          <a:bodyPr/>
          <a:lstStyle/>
          <a:p>
            <a:r>
              <a:rPr lang="en-US" dirty="0" smtClean="0"/>
              <a:t>Preparer Gateway</a:t>
            </a:r>
            <a:endParaRPr lang="en-US" dirty="0"/>
          </a:p>
        </p:txBody>
      </p:sp>
      <p:pic>
        <p:nvPicPr>
          <p:cNvPr id="5" name="Grafik 4"/>
          <p:cNvPicPr>
            <a:picLocks noChangeAspect="1"/>
          </p:cNvPicPr>
          <p:nvPr/>
        </p:nvPicPr>
        <p:blipFill>
          <a:blip r:embed="rId2"/>
          <a:stretch>
            <a:fillRect/>
          </a:stretch>
        </p:blipFill>
        <p:spPr>
          <a:xfrm>
            <a:off x="396458" y="633228"/>
            <a:ext cx="5632918" cy="5710082"/>
          </a:xfrm>
          <a:prstGeom prst="rect">
            <a:avLst/>
          </a:prstGeom>
        </p:spPr>
      </p:pic>
      <p:pic>
        <p:nvPicPr>
          <p:cNvPr id="6" name="Grafik 5"/>
          <p:cNvPicPr>
            <a:picLocks noChangeAspect="1"/>
          </p:cNvPicPr>
          <p:nvPr/>
        </p:nvPicPr>
        <p:blipFill>
          <a:blip r:embed="rId3"/>
          <a:stretch>
            <a:fillRect/>
          </a:stretch>
        </p:blipFill>
        <p:spPr>
          <a:xfrm>
            <a:off x="1124685" y="921320"/>
            <a:ext cx="1131728" cy="1448955"/>
          </a:xfrm>
          <a:prstGeom prst="rect">
            <a:avLst/>
          </a:prstGeom>
        </p:spPr>
      </p:pic>
      <p:sp>
        <p:nvSpPr>
          <p:cNvPr id="7" name="Rechteck 6"/>
          <p:cNvSpPr/>
          <p:nvPr/>
        </p:nvSpPr>
        <p:spPr>
          <a:xfrm>
            <a:off x="1149339" y="1673766"/>
            <a:ext cx="1075037" cy="153303"/>
          </a:xfrm>
          <a:prstGeom prst="rect">
            <a:avLst/>
          </a:prstGeom>
          <a:solidFill>
            <a:srgbClr val="0078D7"/>
          </a:solidFill>
          <a:ln w="25400" cap="flat">
            <a:noFill/>
          </a:ln>
        </p:spPr>
        <p:txBody>
          <a:bodyPr rtlCol="0" anchor="ctr"/>
          <a:lstStyle/>
          <a:p>
            <a:r>
              <a:rPr lang="en-US" sz="80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 </a:t>
            </a:r>
            <a:r>
              <a:rPr lang="en-US" sz="800"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  </a:t>
            </a:r>
            <a:r>
              <a:rPr lang="en-US" sz="800" u="sng"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C</a:t>
            </a:r>
            <a:r>
              <a:rPr lang="en-US" sz="800"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reate</a:t>
            </a:r>
            <a:endParaRPr lang="en-US" sz="80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endParaRPr>
          </a:p>
        </p:txBody>
      </p:sp>
      <p:sp>
        <p:nvSpPr>
          <p:cNvPr id="49" name="Rechteck 48"/>
          <p:cNvSpPr/>
          <p:nvPr/>
        </p:nvSpPr>
        <p:spPr>
          <a:xfrm>
            <a:off x="448902" y="6122462"/>
            <a:ext cx="5532097" cy="180000"/>
          </a:xfrm>
          <a:prstGeom prst="rect">
            <a:avLst/>
          </a:prstGeom>
          <a:solidFill>
            <a:srgbClr val="19F54B"/>
          </a:solidFill>
          <a:ln w="25400" cap="flat">
            <a:noFill/>
          </a:ln>
        </p:spPr>
        <p:txBody>
          <a:bodyPr rtlCol="0" anchor="ctr"/>
          <a:lstStyle/>
          <a:p>
            <a:pPr algn="ctr"/>
            <a:endParaRPr lang="en-US"/>
          </a:p>
        </p:txBody>
      </p:sp>
      <p:sp>
        <p:nvSpPr>
          <p:cNvPr id="50" name="Rechteck 49"/>
          <p:cNvSpPr/>
          <p:nvPr/>
        </p:nvSpPr>
        <p:spPr>
          <a:xfrm>
            <a:off x="-1" y="5896032"/>
            <a:ext cx="396459" cy="412650"/>
          </a:xfrm>
          <a:prstGeom prst="rect">
            <a:avLst/>
          </a:prstGeom>
          <a:solidFill>
            <a:schemeClr val="bg1"/>
          </a:solidFill>
          <a:ln w="25400" cap="flat">
            <a:noFill/>
          </a:ln>
        </p:spPr>
        <p:txBody>
          <a:bodyPr rtlCol="0" anchor="ctr"/>
          <a:lstStyle/>
          <a:p>
            <a:pPr algn="ctr"/>
            <a:endParaRPr lang="en-US"/>
          </a:p>
        </p:txBody>
      </p:sp>
      <p:pic>
        <p:nvPicPr>
          <p:cNvPr id="51" name="Grafik 50"/>
          <p:cNvPicPr>
            <a:picLocks noChangeAspect="1"/>
          </p:cNvPicPr>
          <p:nvPr/>
        </p:nvPicPr>
        <p:blipFill>
          <a:blip r:embed="rId4"/>
          <a:stretch>
            <a:fillRect/>
          </a:stretch>
        </p:blipFill>
        <p:spPr>
          <a:xfrm>
            <a:off x="217890" y="6096524"/>
            <a:ext cx="240063" cy="265784"/>
          </a:xfrm>
          <a:prstGeom prst="rect">
            <a:avLst/>
          </a:prstGeom>
        </p:spPr>
      </p:pic>
      <p:grpSp>
        <p:nvGrpSpPr>
          <p:cNvPr id="53" name="Gruppieren 52"/>
          <p:cNvGrpSpPr/>
          <p:nvPr/>
        </p:nvGrpSpPr>
        <p:grpSpPr>
          <a:xfrm>
            <a:off x="584787" y="2385295"/>
            <a:ext cx="5134692" cy="2638793"/>
            <a:chOff x="584787" y="2385295"/>
            <a:chExt cx="5134692" cy="2638793"/>
          </a:xfrm>
        </p:grpSpPr>
        <p:grpSp>
          <p:nvGrpSpPr>
            <p:cNvPr id="8" name="Gruppieren 7"/>
            <p:cNvGrpSpPr/>
            <p:nvPr/>
          </p:nvGrpSpPr>
          <p:grpSpPr>
            <a:xfrm>
              <a:off x="584787" y="2385295"/>
              <a:ext cx="5134692" cy="2638793"/>
              <a:chOff x="1970442" y="2708920"/>
              <a:chExt cx="5134692" cy="2638793"/>
            </a:xfrm>
          </p:grpSpPr>
          <p:pic>
            <p:nvPicPr>
              <p:cNvPr id="9" name="Grafik 8"/>
              <p:cNvPicPr>
                <a:picLocks noChangeAspect="1"/>
              </p:cNvPicPr>
              <p:nvPr/>
            </p:nvPicPr>
            <p:blipFill>
              <a:blip r:embed="rId5"/>
              <a:stretch>
                <a:fillRect/>
              </a:stretch>
            </p:blipFill>
            <p:spPr>
              <a:xfrm>
                <a:off x="1970442" y="2708920"/>
                <a:ext cx="5134692" cy="2638793"/>
              </a:xfrm>
              <a:prstGeom prst="rect">
                <a:avLst/>
              </a:prstGeom>
            </p:spPr>
          </p:pic>
          <p:grpSp>
            <p:nvGrpSpPr>
              <p:cNvPr id="10" name="Gruppieren 9"/>
              <p:cNvGrpSpPr/>
              <p:nvPr/>
            </p:nvGrpSpPr>
            <p:grpSpPr>
              <a:xfrm>
                <a:off x="5686041" y="4332595"/>
                <a:ext cx="1025773" cy="183515"/>
                <a:chOff x="224994" y="3756519"/>
                <a:chExt cx="945726" cy="183515"/>
              </a:xfrm>
            </p:grpSpPr>
            <p:sp>
              <p:nvSpPr>
                <p:cNvPr id="16" name="Rechteck 15"/>
                <p:cNvSpPr/>
                <p:nvPr/>
              </p:nvSpPr>
              <p:spPr>
                <a:xfrm>
                  <a:off x="288780" y="3760034"/>
                  <a:ext cx="881940" cy="180000"/>
                </a:xfrm>
                <a:prstGeom prst="rect">
                  <a:avLst/>
                </a:prstGeom>
                <a:solidFill>
                  <a:schemeClr val="bg1"/>
                </a:solidFill>
                <a:ln w="25400" cap="flat">
                  <a:noFill/>
                </a:ln>
              </p:spPr>
              <p:txBody>
                <a:bodyPr rtlCol="0" anchor="ctr"/>
                <a:lstStyle/>
                <a:p>
                  <a:pPr algn="ctr"/>
                  <a:endParaRPr lang="en-US"/>
                </a:p>
              </p:txBody>
            </p:sp>
            <p:sp>
              <p:nvSpPr>
                <p:cNvPr id="17" name="Rechteck 16"/>
                <p:cNvSpPr/>
                <p:nvPr/>
              </p:nvSpPr>
              <p:spPr>
                <a:xfrm>
                  <a:off x="224994" y="3756519"/>
                  <a:ext cx="875225" cy="180000"/>
                </a:xfrm>
                <a:prstGeom prst="rect">
                  <a:avLst/>
                </a:prstGeom>
                <a:noFill/>
                <a:ln w="25400" cap="flat">
                  <a:noFill/>
                </a:ln>
              </p:spPr>
              <p:txBody>
                <a:bodyPr rtlCol="0" anchor="ctr"/>
                <a:lstStyle/>
                <a:p>
                  <a:r>
                    <a:rPr lang="en-US" sz="900" dirty="0" smtClean="0">
                      <a:latin typeface="Arial" panose="020B0604020202020204" pitchFamily="34" charset="0"/>
                      <a:ea typeface="Microsoft YaHei UI" panose="020B0503020204020204" pitchFamily="34" charset="-122"/>
                      <a:cs typeface="Arial" panose="020B0604020202020204" pitchFamily="34" charset="0"/>
                    </a:rPr>
                    <a:t>GRAM3</a:t>
                  </a:r>
                </a:p>
              </p:txBody>
            </p:sp>
          </p:grpSp>
          <p:grpSp>
            <p:nvGrpSpPr>
              <p:cNvPr id="11" name="Gruppieren 10"/>
              <p:cNvGrpSpPr/>
              <p:nvPr/>
            </p:nvGrpSpPr>
            <p:grpSpPr>
              <a:xfrm>
                <a:off x="2137240" y="3350558"/>
                <a:ext cx="1019553" cy="183515"/>
                <a:chOff x="230729" y="3756519"/>
                <a:chExt cx="939991" cy="183515"/>
              </a:xfrm>
            </p:grpSpPr>
            <p:sp>
              <p:nvSpPr>
                <p:cNvPr id="14" name="Rechteck 13"/>
                <p:cNvSpPr/>
                <p:nvPr/>
              </p:nvSpPr>
              <p:spPr>
                <a:xfrm>
                  <a:off x="288780" y="3760034"/>
                  <a:ext cx="881940" cy="180000"/>
                </a:xfrm>
                <a:prstGeom prst="rect">
                  <a:avLst/>
                </a:prstGeom>
                <a:solidFill>
                  <a:schemeClr val="bg1"/>
                </a:solidFill>
                <a:ln w="25400" cap="flat">
                  <a:noFill/>
                </a:ln>
              </p:spPr>
              <p:txBody>
                <a:bodyPr rtlCol="0" anchor="ctr"/>
                <a:lstStyle/>
                <a:p>
                  <a:pPr algn="ctr"/>
                  <a:endParaRPr lang="en-US"/>
                </a:p>
              </p:txBody>
            </p:sp>
            <p:sp>
              <p:nvSpPr>
                <p:cNvPr id="15" name="Rechteck 14"/>
                <p:cNvSpPr/>
                <p:nvPr/>
              </p:nvSpPr>
              <p:spPr>
                <a:xfrm>
                  <a:off x="230729" y="3756519"/>
                  <a:ext cx="875225" cy="180000"/>
                </a:xfrm>
                <a:prstGeom prst="rect">
                  <a:avLst/>
                </a:prstGeom>
                <a:noFill/>
                <a:ln w="25400" cap="flat">
                  <a:noFill/>
                </a:ln>
              </p:spPr>
              <p:txBody>
                <a:bodyPr rtlCol="0" anchor="ctr"/>
                <a:lstStyle/>
                <a:p>
                  <a:r>
                    <a:rPr lang="en-US" sz="1000" dirty="0" smtClean="0">
                      <a:latin typeface="Arial" panose="020B0604020202020204" pitchFamily="34" charset="0"/>
                      <a:ea typeface="Microsoft YaHei UI" panose="020B0503020204020204" pitchFamily="34" charset="-122"/>
                      <a:cs typeface="Arial" panose="020B0604020202020204" pitchFamily="34" charset="0"/>
                    </a:rPr>
                    <a:t>Firma</a:t>
                  </a:r>
                </a:p>
              </p:txBody>
            </p:sp>
          </p:grpSp>
          <p:sp>
            <p:nvSpPr>
              <p:cNvPr id="12" name="Rechteck 11"/>
              <p:cNvSpPr/>
              <p:nvPr/>
            </p:nvSpPr>
            <p:spPr>
              <a:xfrm>
                <a:off x="3823324" y="3196537"/>
                <a:ext cx="1271190" cy="180000"/>
              </a:xfrm>
              <a:prstGeom prst="rect">
                <a:avLst/>
              </a:prstGeom>
              <a:solidFill>
                <a:schemeClr val="bg1"/>
              </a:solidFill>
              <a:ln w="25400" cap="flat">
                <a:noFill/>
              </a:ln>
            </p:spPr>
            <p:txBody>
              <a:bodyPr rtlCol="0" anchor="ctr"/>
              <a:lstStyle/>
              <a:p>
                <a:pPr algn="ctr"/>
                <a:endParaRPr lang="en-US"/>
              </a:p>
            </p:txBody>
          </p:sp>
          <p:pic>
            <p:nvPicPr>
              <p:cNvPr id="13" name="Grafik 12"/>
              <p:cNvPicPr>
                <a:picLocks noChangeAspect="1"/>
              </p:cNvPicPr>
              <p:nvPr/>
            </p:nvPicPr>
            <p:blipFill>
              <a:blip r:embed="rId6"/>
              <a:stretch>
                <a:fillRect/>
              </a:stretch>
            </p:blipFill>
            <p:spPr>
              <a:xfrm>
                <a:off x="5343772" y="3502746"/>
                <a:ext cx="333422" cy="333422"/>
              </a:xfrm>
              <a:prstGeom prst="rect">
                <a:avLst/>
              </a:prstGeom>
            </p:spPr>
          </p:pic>
        </p:grpSp>
        <p:sp>
          <p:nvSpPr>
            <p:cNvPr id="4" name="Textfeld 3"/>
            <p:cNvSpPr txBox="1"/>
            <p:nvPr/>
          </p:nvSpPr>
          <p:spPr>
            <a:xfrm>
              <a:off x="820721" y="2875269"/>
              <a:ext cx="519817" cy="1007968"/>
            </a:xfrm>
            <a:prstGeom prst="rect">
              <a:avLst/>
            </a:prstGeom>
            <a:solidFill>
              <a:schemeClr val="bg1"/>
            </a:solidFill>
          </p:spPr>
          <p:txBody>
            <a:bodyPr wrap="none" lIns="36000" tIns="0" rtlCol="0">
              <a:spAutoFit/>
            </a:bodyPr>
            <a:lstStyle/>
            <a:p>
              <a:pPr>
                <a:lnSpc>
                  <a:spcPts val="1500"/>
                </a:lnSpc>
              </a:pPr>
              <a:r>
                <a:rPr lang="en-US" sz="1000" dirty="0" err="1" smtClean="0">
                  <a:latin typeface="Arial" panose="020B0604020202020204" pitchFamily="34" charset="0"/>
                  <a:cs typeface="Arial" panose="020B0604020202020204" pitchFamily="34" charset="0"/>
                </a:rPr>
                <a:t>Unikey</a:t>
              </a:r>
              <a:endParaRPr lang="en-US" sz="1000" dirty="0" smtClean="0">
                <a:latin typeface="Arial" panose="020B0604020202020204" pitchFamily="34" charset="0"/>
                <a:cs typeface="Arial" panose="020B0604020202020204" pitchFamily="34" charset="0"/>
              </a:endParaRPr>
            </a:p>
            <a:p>
              <a:pPr>
                <a:lnSpc>
                  <a:spcPts val="1500"/>
                </a:lnSpc>
              </a:pPr>
              <a:r>
                <a:rPr lang="en-US" sz="1000" dirty="0" smtClean="0">
                  <a:latin typeface="Arial" panose="020B0604020202020204" pitchFamily="34" charset="0"/>
                  <a:cs typeface="Arial" panose="020B0604020202020204" pitchFamily="34" charset="0"/>
                </a:rPr>
                <a:t>Name</a:t>
              </a:r>
            </a:p>
            <a:p>
              <a:pPr>
                <a:lnSpc>
                  <a:spcPts val="1500"/>
                </a:lnSpc>
              </a:pPr>
              <a:r>
                <a:rPr lang="en-US" sz="1000" dirty="0" smtClean="0">
                  <a:latin typeface="Arial" panose="020B0604020202020204" pitchFamily="34" charset="0"/>
                  <a:cs typeface="Arial" panose="020B0604020202020204" pitchFamily="34" charset="0"/>
                </a:rPr>
                <a:t>Street</a:t>
              </a:r>
            </a:p>
            <a:p>
              <a:pPr>
                <a:lnSpc>
                  <a:spcPts val="1500"/>
                </a:lnSpc>
              </a:pPr>
              <a:r>
                <a:rPr lang="en-US" sz="1000" dirty="0" smtClean="0">
                  <a:latin typeface="Arial" panose="020B0604020202020204" pitchFamily="34" charset="0"/>
                  <a:cs typeface="Arial" panose="020B0604020202020204" pitchFamily="34" charset="0"/>
                </a:rPr>
                <a:t>Zip</a:t>
              </a:r>
            </a:p>
            <a:p>
              <a:pPr>
                <a:lnSpc>
                  <a:spcPts val="1500"/>
                </a:lnSpc>
              </a:pPr>
              <a:r>
                <a:rPr lang="en-US" sz="1000" dirty="0" smtClean="0">
                  <a:latin typeface="Arial" panose="020B0604020202020204" pitchFamily="34" charset="0"/>
                  <a:cs typeface="Arial" panose="020B0604020202020204" pitchFamily="34" charset="0"/>
                </a:rPr>
                <a:t>City</a:t>
              </a:r>
              <a:endParaRPr lang="en-US" sz="1000" dirty="0">
                <a:latin typeface="Arial" panose="020B0604020202020204" pitchFamily="34" charset="0"/>
                <a:cs typeface="Arial" panose="020B0604020202020204" pitchFamily="34" charset="0"/>
              </a:endParaRPr>
            </a:p>
          </p:txBody>
        </p:sp>
      </p:grpSp>
      <p:sp>
        <p:nvSpPr>
          <p:cNvPr id="52" name="Textfeld 51"/>
          <p:cNvSpPr txBox="1"/>
          <p:nvPr/>
        </p:nvSpPr>
        <p:spPr>
          <a:xfrm>
            <a:off x="819302" y="3071865"/>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Name</a:t>
            </a:r>
            <a:endParaRPr lang="en-US" sz="1000" dirty="0">
              <a:solidFill>
                <a:schemeClr val="bg1"/>
              </a:solidFill>
              <a:latin typeface="Arial" panose="020B0604020202020204" pitchFamily="34" charset="0"/>
              <a:cs typeface="Arial" panose="020B0604020202020204" pitchFamily="34" charset="0"/>
            </a:endParaRPr>
          </a:p>
        </p:txBody>
      </p:sp>
      <p:sp>
        <p:nvSpPr>
          <p:cNvPr id="24" name="Textfeld 23"/>
          <p:cNvSpPr txBox="1"/>
          <p:nvPr/>
        </p:nvSpPr>
        <p:spPr>
          <a:xfrm>
            <a:off x="2380803" y="2847639"/>
            <a:ext cx="526106"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Name</a:t>
            </a:r>
          </a:p>
        </p:txBody>
      </p:sp>
      <p:sp>
        <p:nvSpPr>
          <p:cNvPr id="25" name="Textfeld 24"/>
          <p:cNvSpPr txBox="1"/>
          <p:nvPr/>
        </p:nvSpPr>
        <p:spPr>
          <a:xfrm>
            <a:off x="2737328" y="2847639"/>
            <a:ext cx="583814"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FIRMA</a:t>
            </a:r>
          </a:p>
        </p:txBody>
      </p:sp>
      <p:sp>
        <p:nvSpPr>
          <p:cNvPr id="26" name="Textfeld 25"/>
          <p:cNvSpPr txBox="1"/>
          <p:nvPr/>
        </p:nvSpPr>
        <p:spPr>
          <a:xfrm>
            <a:off x="2380803" y="3047000"/>
            <a:ext cx="526106"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Name</a:t>
            </a:r>
          </a:p>
        </p:txBody>
      </p:sp>
      <p:sp>
        <p:nvSpPr>
          <p:cNvPr id="27" name="Textfeld 26"/>
          <p:cNvSpPr txBox="1"/>
          <p:nvPr/>
        </p:nvSpPr>
        <p:spPr>
          <a:xfrm>
            <a:off x="2737328" y="3046539"/>
            <a:ext cx="583814"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FIRMA</a:t>
            </a:r>
          </a:p>
        </p:txBody>
      </p:sp>
      <p:sp>
        <p:nvSpPr>
          <p:cNvPr id="35" name="Textfeld 34"/>
          <p:cNvSpPr txBox="1"/>
          <p:nvPr/>
        </p:nvSpPr>
        <p:spPr>
          <a:xfrm>
            <a:off x="2377771" y="3242709"/>
            <a:ext cx="524503"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Street</a:t>
            </a:r>
          </a:p>
        </p:txBody>
      </p:sp>
      <p:sp>
        <p:nvSpPr>
          <p:cNvPr id="39" name="Textfeld 38"/>
          <p:cNvSpPr txBox="1"/>
          <p:nvPr/>
        </p:nvSpPr>
        <p:spPr>
          <a:xfrm>
            <a:off x="2737328" y="3242610"/>
            <a:ext cx="780983"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STRASSE</a:t>
            </a:r>
          </a:p>
        </p:txBody>
      </p:sp>
      <p:sp>
        <p:nvSpPr>
          <p:cNvPr id="43" name="Textfeld 42"/>
          <p:cNvSpPr txBox="1"/>
          <p:nvPr/>
        </p:nvSpPr>
        <p:spPr>
          <a:xfrm>
            <a:off x="2378566" y="3438418"/>
            <a:ext cx="362600"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Zip</a:t>
            </a:r>
          </a:p>
        </p:txBody>
      </p:sp>
      <p:sp>
        <p:nvSpPr>
          <p:cNvPr id="47" name="Textfeld 46"/>
          <p:cNvSpPr txBox="1"/>
          <p:nvPr/>
        </p:nvSpPr>
        <p:spPr>
          <a:xfrm>
            <a:off x="2381545" y="3638034"/>
            <a:ext cx="405880"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City</a:t>
            </a:r>
          </a:p>
        </p:txBody>
      </p:sp>
      <p:grpSp>
        <p:nvGrpSpPr>
          <p:cNvPr id="21" name="Gruppieren 20"/>
          <p:cNvGrpSpPr/>
          <p:nvPr/>
        </p:nvGrpSpPr>
        <p:grpSpPr>
          <a:xfrm>
            <a:off x="4300386" y="2867000"/>
            <a:ext cx="1019553" cy="183515"/>
            <a:chOff x="230729" y="3756519"/>
            <a:chExt cx="939991" cy="183515"/>
          </a:xfrm>
        </p:grpSpPr>
        <p:sp>
          <p:nvSpPr>
            <p:cNvPr id="22" name="Rechteck 21"/>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23" name="Rechteck 22"/>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FIRMA</a:t>
              </a:r>
            </a:p>
          </p:txBody>
        </p:sp>
      </p:grpSp>
      <p:grpSp>
        <p:nvGrpSpPr>
          <p:cNvPr id="28" name="Gruppieren 27"/>
          <p:cNvGrpSpPr/>
          <p:nvPr/>
        </p:nvGrpSpPr>
        <p:grpSpPr>
          <a:xfrm>
            <a:off x="4300386" y="4005455"/>
            <a:ext cx="1019553" cy="183515"/>
            <a:chOff x="230729" y="3756519"/>
            <a:chExt cx="939991" cy="183515"/>
          </a:xfrm>
        </p:grpSpPr>
        <p:sp>
          <p:nvSpPr>
            <p:cNvPr id="29" name="Rechteck 28"/>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30" name="Rechteck 29"/>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GRAM3</a:t>
              </a:r>
            </a:p>
          </p:txBody>
        </p:sp>
      </p:grpSp>
      <p:grpSp>
        <p:nvGrpSpPr>
          <p:cNvPr id="36" name="Gruppieren 35"/>
          <p:cNvGrpSpPr/>
          <p:nvPr/>
        </p:nvGrpSpPr>
        <p:grpSpPr>
          <a:xfrm>
            <a:off x="4302010" y="3024111"/>
            <a:ext cx="1019553" cy="183515"/>
            <a:chOff x="230729" y="3756519"/>
            <a:chExt cx="939991" cy="183515"/>
          </a:xfrm>
        </p:grpSpPr>
        <p:sp>
          <p:nvSpPr>
            <p:cNvPr id="37" name="Rechteck 36"/>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38" name="Rechteck 37"/>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STRASSE</a:t>
              </a:r>
            </a:p>
          </p:txBody>
        </p:sp>
      </p:grpSp>
      <p:pic>
        <p:nvPicPr>
          <p:cNvPr id="48" name="Grafik 47"/>
          <p:cNvPicPr>
            <a:picLocks noChangeAspect="1"/>
          </p:cNvPicPr>
          <p:nvPr/>
        </p:nvPicPr>
        <p:blipFill>
          <a:blip r:embed="rId7"/>
          <a:stretch>
            <a:fillRect/>
          </a:stretch>
        </p:blipFill>
        <p:spPr>
          <a:xfrm>
            <a:off x="4021593" y="4666015"/>
            <a:ext cx="781159" cy="257211"/>
          </a:xfrm>
          <a:prstGeom prst="rect">
            <a:avLst/>
          </a:prstGeom>
        </p:spPr>
      </p:pic>
      <p:sp>
        <p:nvSpPr>
          <p:cNvPr id="31" name="Textfeld 30"/>
          <p:cNvSpPr txBox="1"/>
          <p:nvPr/>
        </p:nvSpPr>
        <p:spPr>
          <a:xfrm>
            <a:off x="3150984" y="3043428"/>
            <a:ext cx="639919"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GRAM3</a:t>
            </a:r>
          </a:p>
        </p:txBody>
      </p:sp>
      <p:sp>
        <p:nvSpPr>
          <p:cNvPr id="54" name="Textfeld 53"/>
          <p:cNvSpPr txBox="1"/>
          <p:nvPr/>
        </p:nvSpPr>
        <p:spPr>
          <a:xfrm>
            <a:off x="819302" y="3260840"/>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Street</a:t>
            </a:r>
            <a:endParaRPr lang="en-US" sz="1000" dirty="0">
              <a:solidFill>
                <a:schemeClr val="bg1"/>
              </a:solidFill>
              <a:latin typeface="Arial" panose="020B0604020202020204" pitchFamily="34" charset="0"/>
              <a:cs typeface="Arial" panose="020B0604020202020204" pitchFamily="34" charset="0"/>
            </a:endParaRPr>
          </a:p>
        </p:txBody>
      </p:sp>
      <p:sp>
        <p:nvSpPr>
          <p:cNvPr id="55" name="Textfeld 54"/>
          <p:cNvSpPr txBox="1"/>
          <p:nvPr/>
        </p:nvSpPr>
        <p:spPr>
          <a:xfrm>
            <a:off x="819302" y="3453286"/>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Zip</a:t>
            </a:r>
            <a:endParaRPr lang="en-US" sz="1000" dirty="0">
              <a:solidFill>
                <a:schemeClr val="bg1"/>
              </a:solidFill>
              <a:latin typeface="Arial" panose="020B0604020202020204" pitchFamily="34" charset="0"/>
              <a:cs typeface="Arial" panose="020B0604020202020204" pitchFamily="34" charset="0"/>
            </a:endParaRPr>
          </a:p>
        </p:txBody>
      </p:sp>
      <p:sp>
        <p:nvSpPr>
          <p:cNvPr id="56" name="Textfeld 55"/>
          <p:cNvSpPr txBox="1"/>
          <p:nvPr/>
        </p:nvSpPr>
        <p:spPr>
          <a:xfrm>
            <a:off x="819302" y="3642393"/>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City</a:t>
            </a:r>
            <a:endParaRPr lang="en-US" sz="1000" dirty="0">
              <a:solidFill>
                <a:schemeClr val="bg1"/>
              </a:solidFill>
              <a:latin typeface="Arial" panose="020B0604020202020204" pitchFamily="34" charset="0"/>
              <a:cs typeface="Arial" panose="020B0604020202020204" pitchFamily="34" charset="0"/>
            </a:endParaRPr>
          </a:p>
        </p:txBody>
      </p:sp>
      <p:sp>
        <p:nvSpPr>
          <p:cNvPr id="58" name="Textfeld 57"/>
          <p:cNvSpPr txBox="1"/>
          <p:nvPr/>
        </p:nvSpPr>
        <p:spPr>
          <a:xfrm>
            <a:off x="6362700" y="638175"/>
            <a:ext cx="5210175" cy="954107"/>
          </a:xfrm>
          <a:prstGeom prst="rect">
            <a:avLst/>
          </a:prstGeom>
          <a:noFill/>
          <a:ln>
            <a:noFill/>
          </a:ln>
        </p:spPr>
        <p:txBody>
          <a:bodyPr wrap="square" rtlCol="0">
            <a:spAutoFit/>
          </a:bodyPr>
          <a:lstStyle/>
          <a:p>
            <a:pPr marL="216000" indent="-216000">
              <a:buClr>
                <a:srgbClr val="00B0F0"/>
              </a:buClr>
              <a:buFont typeface="Wingdings" panose="05000000000000000000" pitchFamily="2" charset="2"/>
              <a:buChar char="§"/>
            </a:pPr>
            <a:r>
              <a:rPr lang="en-US" sz="1400" dirty="0" smtClean="0"/>
              <a:t>Preparers are normalization/tokenization directives.</a:t>
            </a:r>
            <a:br>
              <a:rPr lang="en-US" sz="1400" dirty="0" smtClean="0"/>
            </a:br>
            <a:r>
              <a:rPr lang="en-US" sz="1400" dirty="0" smtClean="0"/>
              <a:t>In combination with search fields, they define search types.</a:t>
            </a:r>
            <a:br>
              <a:rPr lang="en-US" sz="1400" dirty="0" smtClean="0"/>
            </a:br>
            <a:r>
              <a:rPr lang="en-US" sz="1400" dirty="0" smtClean="0"/>
              <a:t>By default, all fields will be normalized:</a:t>
            </a:r>
            <a:br>
              <a:rPr lang="en-US" sz="1400" dirty="0" smtClean="0"/>
            </a:br>
            <a:r>
              <a:rPr lang="en-US" sz="1400" dirty="0" smtClean="0"/>
              <a:t>upper case, only alpha-numeric characters, word tokens</a:t>
            </a:r>
          </a:p>
        </p:txBody>
      </p:sp>
      <p:sp>
        <p:nvSpPr>
          <p:cNvPr id="59" name="Textfeld 58"/>
          <p:cNvSpPr txBox="1"/>
          <p:nvPr/>
        </p:nvSpPr>
        <p:spPr>
          <a:xfrm>
            <a:off x="6362700" y="1638300"/>
            <a:ext cx="5210175" cy="1600438"/>
          </a:xfrm>
          <a:prstGeom prst="rect">
            <a:avLst/>
          </a:prstGeom>
          <a:noFill/>
          <a:ln>
            <a:noFill/>
          </a:ln>
        </p:spPr>
        <p:txBody>
          <a:bodyPr wrap="square" rtlCol="0">
            <a:spAutoFit/>
          </a:bodyPr>
          <a:lstStyle/>
          <a:p>
            <a:pPr marL="216000" indent="-216000">
              <a:buClr>
                <a:srgbClr val="00B0F0"/>
              </a:buClr>
              <a:buFont typeface="Wingdings" panose="05000000000000000000" pitchFamily="2" charset="2"/>
              <a:buChar char="§"/>
            </a:pPr>
            <a:r>
              <a:rPr lang="en-US" sz="1400" dirty="0" smtClean="0"/>
              <a:t>FIRMA, STRASSE, PLZ are custom preparers defined in the “searchengine_firma_strasse.xml” file. They handle the idiosyncrasies of German firm names and addresses (legal forms, concatenated street types) and are not required for other languages. </a:t>
            </a:r>
            <a:br>
              <a:rPr lang="en-US" sz="1400" dirty="0" smtClean="0"/>
            </a:br>
            <a:r>
              <a:rPr lang="en-US" sz="1400" dirty="0" smtClean="0"/>
              <a:t>Languages allowing the (arbitrary) concatenation of words pose a challenge for word based algorithms.</a:t>
            </a:r>
            <a:endParaRPr lang="en-US" sz="1400" dirty="0"/>
          </a:p>
        </p:txBody>
      </p:sp>
      <p:sp>
        <p:nvSpPr>
          <p:cNvPr id="60" name="Textfeld 59"/>
          <p:cNvSpPr txBox="1"/>
          <p:nvPr/>
        </p:nvSpPr>
        <p:spPr>
          <a:xfrm>
            <a:off x="6362700" y="3286300"/>
            <a:ext cx="5210175" cy="2031325"/>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err="1" smtClean="0"/>
              <a:t>GRAMn</a:t>
            </a:r>
            <a:r>
              <a:rPr lang="en-US" sz="1400" dirty="0" smtClean="0"/>
              <a:t> preparers implement a computational linguistics method by creating overlapping tokens of size n, i.e.</a:t>
            </a:r>
            <a:br>
              <a:rPr lang="en-US" sz="1400" dirty="0" smtClean="0"/>
            </a:br>
            <a:r>
              <a:rPr lang="en-US" sz="1400" dirty="0" smtClean="0"/>
              <a:t>THORSTEN → THO HOR ORS RST STE TEN</a:t>
            </a:r>
            <a:br>
              <a:rPr lang="en-US" sz="1400" dirty="0" smtClean="0"/>
            </a:br>
            <a:r>
              <a:rPr lang="en-US" sz="1400" dirty="0" smtClean="0"/>
              <a:t>Other linguistic preparers implement SOUNDEX, METAPHONE and COLONE but only GRAM can handle erroneously concatenated/split words.</a:t>
            </a:r>
            <a:br>
              <a:rPr lang="en-US" sz="1400" dirty="0" smtClean="0"/>
            </a:br>
            <a:r>
              <a:rPr lang="en-US" sz="1400" dirty="0" smtClean="0"/>
              <a:t>These preparers destroy information for the sake of increased robustness against misspellings, therefor they will also be referred as destructive preparers → increased risk of false positives</a:t>
            </a:r>
            <a:endParaRPr lang="en-US" sz="1400" dirty="0"/>
          </a:p>
        </p:txBody>
      </p:sp>
      <p:sp>
        <p:nvSpPr>
          <p:cNvPr id="18" name="Foliennummernplatzhalter 17"/>
          <p:cNvSpPr>
            <a:spLocks noGrp="1"/>
          </p:cNvSpPr>
          <p:nvPr>
            <p:ph type="sldNum" sz="quarter" idx="10"/>
          </p:nvPr>
        </p:nvSpPr>
        <p:spPr/>
        <p:txBody>
          <a:bodyPr/>
          <a:lstStyle/>
          <a:p>
            <a:fld id="{A29D8577-601D-4845-9C29-D9E13FE3E8DB}" type="slidenum">
              <a:rPr lang="en-US" smtClean="0"/>
              <a:pPr/>
              <a:t>4</a:t>
            </a:fld>
            <a:endParaRPr lang="en-US" dirty="0"/>
          </a:p>
        </p:txBody>
      </p:sp>
    </p:spTree>
    <p:extLst>
      <p:ext uri="{BB962C8B-B14F-4D97-AF65-F5344CB8AC3E}">
        <p14:creationId xmlns:p14="http://schemas.microsoft.com/office/powerpoint/2010/main" val="1237901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par>
                          <p:cTn id="17" fill="hold">
                            <p:stCondLst>
                              <p:cond delay="0"/>
                            </p:stCondLst>
                            <p:childTnLst>
                              <p:par>
                                <p:cTn id="18" presetID="1" presetClass="entr" presetSubtype="0" fill="hold" nodeType="afterEffect">
                                  <p:stCondLst>
                                    <p:cond delay="0"/>
                                  </p:stCondLst>
                                  <p:childTnLst>
                                    <p:set>
                                      <p:cBhvr>
                                        <p:cTn id="19" dur="1" fill="hold">
                                          <p:stCondLst>
                                            <p:cond delay="0"/>
                                          </p:stCondLst>
                                        </p:cTn>
                                        <p:tgtEl>
                                          <p:spTgt spid="53"/>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58"/>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5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24"/>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21"/>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5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25"/>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0"/>
                                          </p:stCondLst>
                                        </p:cTn>
                                        <p:tgtEl>
                                          <p:spTgt spid="26"/>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grpId="0" nodeType="clickEffect">
                                  <p:stCondLst>
                                    <p:cond delay="0"/>
                                  </p:stCondLst>
                                  <p:childTnLst>
                                    <p:set>
                                      <p:cBhvr>
                                        <p:cTn id="47" dur="1" fill="hold">
                                          <p:stCondLst>
                                            <p:cond delay="0"/>
                                          </p:stCondLst>
                                        </p:cTn>
                                        <p:tgtEl>
                                          <p:spTgt spid="27"/>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xit" presetSubtype="0" fill="hold" nodeType="clickEffect">
                                  <p:stCondLst>
                                    <p:cond delay="0"/>
                                  </p:stCondLst>
                                  <p:childTnLst>
                                    <p:set>
                                      <p:cBhvr>
                                        <p:cTn id="51" dur="1" fill="hold">
                                          <p:stCondLst>
                                            <p:cond delay="0"/>
                                          </p:stCondLst>
                                        </p:cTn>
                                        <p:tgtEl>
                                          <p:spTgt spid="21"/>
                                        </p:tgtEl>
                                        <p:attrNameLst>
                                          <p:attrName>style.visibility</p:attrName>
                                        </p:attrNameLst>
                                      </p:cBhvr>
                                      <p:to>
                                        <p:strVal val="hidden"/>
                                      </p:to>
                                    </p:set>
                                  </p:childTnLst>
                                </p:cTn>
                              </p:par>
                              <p:par>
                                <p:cTn id="52" presetID="1" presetClass="entr" presetSubtype="0" fill="hold" nodeType="withEffect">
                                  <p:stCondLst>
                                    <p:cond delay="0"/>
                                  </p:stCondLst>
                                  <p:childTnLst>
                                    <p:set>
                                      <p:cBhvr>
                                        <p:cTn id="53" dur="1" fill="hold">
                                          <p:stCondLst>
                                            <p:cond delay="0"/>
                                          </p:stCondLst>
                                        </p:cTn>
                                        <p:tgtEl>
                                          <p:spTgt spid="28"/>
                                        </p:tgtEl>
                                        <p:attrNameLst>
                                          <p:attrName>style.visibility</p:attrName>
                                        </p:attrNameLst>
                                      </p:cBhvr>
                                      <p:to>
                                        <p:strVal val="visible"/>
                                      </p:to>
                                    </p:set>
                                  </p:childTnLst>
                                </p:cTn>
                              </p:par>
                              <p:par>
                                <p:cTn id="54" presetID="1" presetClass="entr" presetSubtype="0" fill="hold" grpId="0" nodeType="withEffect">
                                  <p:stCondLst>
                                    <p:cond delay="0"/>
                                  </p:stCondLst>
                                  <p:childTnLst>
                                    <p:set>
                                      <p:cBhvr>
                                        <p:cTn id="55" dur="1" fill="hold">
                                          <p:stCondLst>
                                            <p:cond delay="0"/>
                                          </p:stCondLst>
                                        </p:cTn>
                                        <p:tgtEl>
                                          <p:spTgt spid="60"/>
                                        </p:tgtEl>
                                        <p:attrNameLst>
                                          <p:attrName>style.visibility</p:attrName>
                                        </p:attrNameLst>
                                      </p:cBhvr>
                                      <p:to>
                                        <p:strVal val="visible"/>
                                      </p:to>
                                    </p:set>
                                  </p:childTnLst>
                                </p:cTn>
                              </p:par>
                            </p:childTnLst>
                          </p:cTn>
                        </p:par>
                      </p:childTnLst>
                    </p:cTn>
                  </p:par>
                  <p:par>
                    <p:cTn id="56" fill="hold">
                      <p:stCondLst>
                        <p:cond delay="indefinite"/>
                      </p:stCondLst>
                      <p:childTnLst>
                        <p:par>
                          <p:cTn id="57" fill="hold">
                            <p:stCondLst>
                              <p:cond delay="0"/>
                            </p:stCondLst>
                            <p:childTnLst>
                              <p:par>
                                <p:cTn id="58" presetID="1" presetClass="entr" presetSubtype="0" fill="hold" grpId="0" nodeType="clickEffect">
                                  <p:stCondLst>
                                    <p:cond delay="0"/>
                                  </p:stCondLst>
                                  <p:childTnLst>
                                    <p:set>
                                      <p:cBhvr>
                                        <p:cTn id="59" dur="1" fill="hold">
                                          <p:stCondLst>
                                            <p:cond delay="0"/>
                                          </p:stCondLst>
                                        </p:cTn>
                                        <p:tgtEl>
                                          <p:spTgt spid="31"/>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grpId="0" nodeType="clickEffect">
                                  <p:stCondLst>
                                    <p:cond delay="0"/>
                                  </p:stCondLst>
                                  <p:childTnLst>
                                    <p:set>
                                      <p:cBhvr>
                                        <p:cTn id="63" dur="1" fill="hold">
                                          <p:stCondLst>
                                            <p:cond delay="0"/>
                                          </p:stCondLst>
                                        </p:cTn>
                                        <p:tgtEl>
                                          <p:spTgt spid="54"/>
                                        </p:tgtEl>
                                        <p:attrNameLst>
                                          <p:attrName>style.visibility</p:attrName>
                                        </p:attrNameLst>
                                      </p:cBhvr>
                                      <p:to>
                                        <p:strVal val="visible"/>
                                      </p:to>
                                    </p:set>
                                  </p:childTnLst>
                                </p:cTn>
                              </p:par>
                              <p:par>
                                <p:cTn id="64" presetID="1" presetClass="exit" presetSubtype="0" fill="hold" grpId="1" nodeType="withEffect">
                                  <p:stCondLst>
                                    <p:cond delay="0"/>
                                  </p:stCondLst>
                                  <p:childTnLst>
                                    <p:set>
                                      <p:cBhvr>
                                        <p:cTn id="65" dur="1" fill="hold">
                                          <p:stCondLst>
                                            <p:cond delay="0"/>
                                          </p:stCondLst>
                                        </p:cTn>
                                        <p:tgtEl>
                                          <p:spTgt spid="52"/>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35"/>
                                        </p:tgtEl>
                                        <p:attrNameLst>
                                          <p:attrName>style.visibility</p:attrName>
                                        </p:attrNameLst>
                                      </p:cBhvr>
                                      <p:to>
                                        <p:strVal val="visible"/>
                                      </p:to>
                                    </p:se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clickEffect">
                                  <p:stCondLst>
                                    <p:cond delay="0"/>
                                  </p:stCondLst>
                                  <p:childTnLst>
                                    <p:set>
                                      <p:cBhvr>
                                        <p:cTn id="73" dur="1" fill="hold">
                                          <p:stCondLst>
                                            <p:cond delay="0"/>
                                          </p:stCondLst>
                                        </p:cTn>
                                        <p:tgtEl>
                                          <p:spTgt spid="36"/>
                                        </p:tgtEl>
                                        <p:attrNameLst>
                                          <p:attrName>style.visibility</p:attrName>
                                        </p:attrNameLst>
                                      </p:cBhvr>
                                      <p:to>
                                        <p:strVal val="visible"/>
                                      </p:to>
                                    </p:set>
                                  </p:childTnLst>
                                </p:cTn>
                              </p:par>
                              <p:par>
                                <p:cTn id="74" presetID="1" presetClass="exit" presetSubtype="0" fill="hold" nodeType="withEffect">
                                  <p:stCondLst>
                                    <p:cond delay="0"/>
                                  </p:stCondLst>
                                  <p:childTnLst>
                                    <p:set>
                                      <p:cBhvr>
                                        <p:cTn id="75" dur="1" fill="hold">
                                          <p:stCondLst>
                                            <p:cond delay="0"/>
                                          </p:stCondLst>
                                        </p:cTn>
                                        <p:tgtEl>
                                          <p:spTgt spid="28"/>
                                        </p:tgtEl>
                                        <p:attrNameLst>
                                          <p:attrName>style.visibility</p:attrName>
                                        </p:attrNameLst>
                                      </p:cBhvr>
                                      <p:to>
                                        <p:strVal val="hidden"/>
                                      </p:to>
                                    </p:set>
                                  </p:childTnLst>
                                </p:cTn>
                              </p:par>
                            </p:childTnLst>
                          </p:cTn>
                        </p:par>
                      </p:childTnLst>
                    </p:cTn>
                  </p:par>
                  <p:par>
                    <p:cTn id="76" fill="hold">
                      <p:stCondLst>
                        <p:cond delay="indefinite"/>
                      </p:stCondLst>
                      <p:childTnLst>
                        <p:par>
                          <p:cTn id="77" fill="hold">
                            <p:stCondLst>
                              <p:cond delay="0"/>
                            </p:stCondLst>
                            <p:childTnLst>
                              <p:par>
                                <p:cTn id="78" presetID="1" presetClass="entr" presetSubtype="0" fill="hold" grpId="0" nodeType="clickEffect">
                                  <p:stCondLst>
                                    <p:cond delay="0"/>
                                  </p:stCondLst>
                                  <p:childTnLst>
                                    <p:set>
                                      <p:cBhvr>
                                        <p:cTn id="79" dur="1" fill="hold">
                                          <p:stCondLst>
                                            <p:cond delay="0"/>
                                          </p:stCondLst>
                                        </p:cTn>
                                        <p:tgtEl>
                                          <p:spTgt spid="39"/>
                                        </p:tgtEl>
                                        <p:attrNameLst>
                                          <p:attrName>style.visibility</p:attrName>
                                        </p:attrNameLst>
                                      </p:cBhvr>
                                      <p:to>
                                        <p:strVal val="visible"/>
                                      </p:to>
                                    </p:se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55"/>
                                        </p:tgtEl>
                                        <p:attrNameLst>
                                          <p:attrName>style.visibility</p:attrName>
                                        </p:attrNameLst>
                                      </p:cBhvr>
                                      <p:to>
                                        <p:strVal val="visible"/>
                                      </p:to>
                                    </p:set>
                                  </p:childTnLst>
                                </p:cTn>
                              </p:par>
                            </p:childTnLst>
                          </p:cTn>
                        </p:par>
                        <p:par>
                          <p:cTn id="84" fill="hold">
                            <p:stCondLst>
                              <p:cond delay="0"/>
                            </p:stCondLst>
                            <p:childTnLst>
                              <p:par>
                                <p:cTn id="85" presetID="1" presetClass="exit" presetSubtype="0" fill="hold" grpId="1" nodeType="afterEffect">
                                  <p:stCondLst>
                                    <p:cond delay="0"/>
                                  </p:stCondLst>
                                  <p:childTnLst>
                                    <p:set>
                                      <p:cBhvr>
                                        <p:cTn id="86" dur="1" fill="hold">
                                          <p:stCondLst>
                                            <p:cond delay="0"/>
                                          </p:stCondLst>
                                        </p:cTn>
                                        <p:tgtEl>
                                          <p:spTgt spid="54"/>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43"/>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56"/>
                                        </p:tgtEl>
                                        <p:attrNameLst>
                                          <p:attrName>style.visibility</p:attrName>
                                        </p:attrNameLst>
                                      </p:cBhvr>
                                      <p:to>
                                        <p:strVal val="visible"/>
                                      </p:to>
                                    </p:set>
                                  </p:childTnLst>
                                </p:cTn>
                              </p:par>
                              <p:par>
                                <p:cTn id="95" presetID="1" presetClass="exit" presetSubtype="0" fill="hold" grpId="1" nodeType="withEffect">
                                  <p:stCondLst>
                                    <p:cond delay="0"/>
                                  </p:stCondLst>
                                  <p:childTnLst>
                                    <p:set>
                                      <p:cBhvr>
                                        <p:cTn id="96" dur="1" fill="hold">
                                          <p:stCondLst>
                                            <p:cond delay="0"/>
                                          </p:stCondLst>
                                        </p:cTn>
                                        <p:tgtEl>
                                          <p:spTgt spid="55"/>
                                        </p:tgtEl>
                                        <p:attrNameLst>
                                          <p:attrName>style.visibility</p:attrName>
                                        </p:attrNameLst>
                                      </p:cBhvr>
                                      <p:to>
                                        <p:strVal val="hidden"/>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47"/>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48"/>
                                        </p:tgtEl>
                                        <p:attrNameLst>
                                          <p:attrName>style.visibility</p:attrName>
                                        </p:attrNameLst>
                                      </p:cBhvr>
                                      <p:to>
                                        <p:strVal val="visible"/>
                                      </p:to>
                                    </p:set>
                                  </p:childTnLst>
                                </p:cTn>
                              </p:par>
                              <p:par>
                                <p:cTn id="105" presetID="1" presetClass="exit" presetSubtype="0" fill="hold" grpId="1" nodeType="withEffect">
                                  <p:stCondLst>
                                    <p:cond delay="0"/>
                                  </p:stCondLst>
                                  <p:childTnLst>
                                    <p:set>
                                      <p:cBhvr>
                                        <p:cTn id="106" dur="1" fill="hold">
                                          <p:stCondLst>
                                            <p:cond delay="0"/>
                                          </p:stCondLst>
                                        </p:cTn>
                                        <p:tgtEl>
                                          <p:spTgt spid="56"/>
                                        </p:tgtEl>
                                        <p:attrNameLst>
                                          <p:attrName>style.visibility</p:attrName>
                                        </p:attrNameLst>
                                      </p:cBhvr>
                                      <p:to>
                                        <p:strVal val="hidden"/>
                                      </p:to>
                                    </p:set>
                                  </p:childTnLst>
                                </p:cTn>
                              </p:par>
                              <p:par>
                                <p:cTn id="107" presetID="1" presetClass="exit" presetSubtype="0" fill="hold" nodeType="withEffect">
                                  <p:stCondLst>
                                    <p:cond delay="0"/>
                                  </p:stCondLst>
                                  <p:childTnLst>
                                    <p:set>
                                      <p:cBhvr>
                                        <p:cTn id="108" dur="1" fill="hold">
                                          <p:stCondLst>
                                            <p:cond delay="0"/>
                                          </p:stCondLst>
                                        </p:cTn>
                                        <p:tgtEl>
                                          <p:spTgt spid="36"/>
                                        </p:tgtEl>
                                        <p:attrNameLst>
                                          <p:attrName>style.visibility</p:attrName>
                                        </p:attrNameLst>
                                      </p:cBhvr>
                                      <p:to>
                                        <p:strVal val="hidden"/>
                                      </p:to>
                                    </p:set>
                                  </p:childTnLst>
                                </p:cTn>
                              </p:par>
                              <p:par>
                                <p:cTn id="109" presetID="1"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childTnLst>
                                </p:cTn>
                              </p:par>
                            </p:childTnLst>
                          </p:cTn>
                        </p:par>
                        <p:par>
                          <p:cTn id="111" fill="hold">
                            <p:stCondLst>
                              <p:cond delay="0"/>
                            </p:stCondLst>
                            <p:childTnLst>
                              <p:par>
                                <p:cTn id="112" presetID="2" presetClass="entr" presetSubtype="8" fill="hold" grpId="0" nodeType="afterEffect">
                                  <p:stCondLst>
                                    <p:cond delay="0"/>
                                  </p:stCondLst>
                                  <p:childTnLst>
                                    <p:set>
                                      <p:cBhvr>
                                        <p:cTn id="113" dur="1" fill="hold">
                                          <p:stCondLst>
                                            <p:cond delay="0"/>
                                          </p:stCondLst>
                                        </p:cTn>
                                        <p:tgtEl>
                                          <p:spTgt spid="49"/>
                                        </p:tgtEl>
                                        <p:attrNameLst>
                                          <p:attrName>style.visibility</p:attrName>
                                        </p:attrNameLst>
                                      </p:cBhvr>
                                      <p:to>
                                        <p:strVal val="visible"/>
                                      </p:to>
                                    </p:set>
                                    <p:anim calcmode="lin" valueType="num">
                                      <p:cBhvr additive="base">
                                        <p:cTn id="114" dur="3000" fill="hold"/>
                                        <p:tgtEl>
                                          <p:spTgt spid="49"/>
                                        </p:tgtEl>
                                        <p:attrNameLst>
                                          <p:attrName>ppt_x</p:attrName>
                                        </p:attrNameLst>
                                      </p:cBhvr>
                                      <p:tavLst>
                                        <p:tav tm="0">
                                          <p:val>
                                            <p:strVal val="0-#ppt_w/2"/>
                                          </p:val>
                                        </p:tav>
                                        <p:tav tm="100000">
                                          <p:val>
                                            <p:strVal val="#ppt_x"/>
                                          </p:val>
                                        </p:tav>
                                      </p:tavLst>
                                    </p:anim>
                                    <p:anim calcmode="lin" valueType="num">
                                      <p:cBhvr additive="base">
                                        <p:cTn id="115" dur="3000" fill="hold"/>
                                        <p:tgtEl>
                                          <p:spTgt spid="4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49" grpId="0" animBg="1"/>
      <p:bldP spid="52" grpId="0" animBg="1"/>
      <p:bldP spid="52" grpId="1" animBg="1"/>
      <p:bldP spid="24" grpId="0"/>
      <p:bldP spid="25" grpId="0"/>
      <p:bldP spid="26" grpId="0"/>
      <p:bldP spid="27" grpId="0"/>
      <p:bldP spid="35" grpId="0"/>
      <p:bldP spid="39" grpId="0"/>
      <p:bldP spid="43" grpId="0"/>
      <p:bldP spid="47" grpId="0"/>
      <p:bldP spid="31" grpId="0"/>
      <p:bldP spid="54" grpId="0" animBg="1"/>
      <p:bldP spid="54" grpId="1" animBg="1"/>
      <p:bldP spid="55" grpId="0" animBg="1"/>
      <p:bldP spid="55" grpId="1" animBg="1"/>
      <p:bldP spid="56" grpId="0" animBg="1"/>
      <p:bldP spid="56" grpId="1" animBg="1"/>
      <p:bldP spid="58" grpId="0"/>
      <p:bldP spid="59" grpId="0"/>
      <p:bldP spid="6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Relative Identification Potential</a:t>
            </a:r>
            <a:endParaRPr lang="en-US" dirty="0"/>
          </a:p>
        </p:txBody>
      </p:sp>
      <mc:AlternateContent xmlns:mc="http://schemas.openxmlformats.org/markup-compatibility/2006" xmlns:a14="http://schemas.microsoft.com/office/drawing/2010/main">
        <mc:Choice Requires="a14">
          <p:graphicFrame>
            <p:nvGraphicFramePr>
              <p:cNvPr id="5" name="Tabelle 11"/>
              <p:cNvGraphicFramePr>
                <a:graphicFrameLocks noGrp="1"/>
              </p:cNvGraphicFramePr>
              <p:nvPr>
                <p:extLst/>
              </p:nvPr>
            </p:nvGraphicFramePr>
            <p:xfrm>
              <a:off x="6282749" y="1414589"/>
              <a:ext cx="1725229" cy="4907280"/>
            </p:xfrm>
            <a:graphic>
              <a:graphicData uri="http://schemas.openxmlformats.org/drawingml/2006/table">
                <a:tbl>
                  <a:tblPr firstRow="1" bandRow="1">
                    <a:tableStyleId>{5940675A-B579-460E-94D1-54222C63F5DA}</a:tableStyleId>
                  </a:tblPr>
                  <a:tblGrid>
                    <a:gridCol w="537229"/>
                    <a:gridCol w="1188000"/>
                  </a:tblGrid>
                  <a:tr h="288000">
                    <a:tc gridSpan="2">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lang="de-DE" sz="1800" b="0" i="1" smtClean="0">
                                    <a:latin typeface="Cambria Math"/>
                                  </a:rPr>
                                  <m:t>𝑟𝐼𝑃</m:t>
                                </m:r>
                                <m:r>
                                  <a:rPr lang="de-DE" sz="1800" b="0" i="1" smtClean="0">
                                    <a:latin typeface="Cambria Math"/>
                                  </a:rPr>
                                  <m:t>=</m:t>
                                </m:r>
                              </m:oMath>
                              <m:oMath xmlns:m="http://schemas.openxmlformats.org/officeDocument/2006/math">
                                <m:r>
                                  <a:rPr lang="de-DE" sz="1800" b="0" i="1" smtClean="0">
                                    <a:latin typeface="Cambria Math"/>
                                  </a:rPr>
                                  <m:t>𝑠h𝑎𝑟𝑒</m:t>
                                </m:r>
                                <m:r>
                                  <a:rPr lang="de-DE" sz="1800" b="0" i="1" smtClean="0">
                                    <a:latin typeface="Cambria Math"/>
                                  </a:rPr>
                                  <m:t>∗</m:t>
                                </m:r>
                                <m:r>
                                  <a:rPr lang="de-DE" sz="1800" b="0" i="1" smtClean="0">
                                    <a:solidFill>
                                      <a:srgbClr val="00AAE5"/>
                                    </a:solidFill>
                                    <a:latin typeface="Cambria Math"/>
                                  </a:rPr>
                                  <m:t>𝑤𝑒𝑖𝑔h𝑡</m:t>
                                </m:r>
                              </m:oMath>
                            </m:oMathPara>
                          </a14:m>
                          <a:endParaRPr lang="en-US" sz="1400" dirty="0">
                            <a:solidFill>
                              <a:srgbClr val="00AAE5"/>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 53.804%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1.162%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r>
                            <a:rPr lang="en-US" sz="1400" kern="1200" dirty="0" smtClean="0">
                              <a:solidFill>
                                <a:schemeClr val="tx1"/>
                              </a:solidFill>
                              <a:latin typeface="Cambria Math" panose="02040503050406030204" pitchFamily="18" charset="0"/>
                              <a:ea typeface="Cambria Math" panose="02040503050406030204" pitchFamily="18" charset="0"/>
                              <a:cs typeface="Courier New" panose="02070309020205020404" pitchFamily="49" charset="0"/>
                            </a:rPr>
                            <a:t>0.941</a:t>
                          </a: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0.008%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AAE5"/>
                        </a:solidFill>
                      </a:tcPr>
                    </a:tc>
                  </a:tr>
                </a:tbl>
              </a:graphicData>
            </a:graphic>
          </p:graphicFrame>
        </mc:Choice>
        <mc:Fallback xmlns="">
          <p:graphicFrame>
            <p:nvGraphicFramePr>
              <p:cNvPr id="5" name="Tabelle 11"/>
              <p:cNvGraphicFramePr>
                <a:graphicFrameLocks noGrp="1"/>
              </p:cNvGraphicFramePr>
              <p:nvPr>
                <p:extLst/>
              </p:nvPr>
            </p:nvGraphicFramePr>
            <p:xfrm>
              <a:off x="6282749" y="1414589"/>
              <a:ext cx="1725229" cy="4907280"/>
            </p:xfrm>
            <a:graphic>
              <a:graphicData uri="http://schemas.openxmlformats.org/drawingml/2006/table">
                <a:tbl>
                  <a:tblPr firstRow="1" bandRow="1">
                    <a:tableStyleId>{5940675A-B579-460E-94D1-54222C63F5DA}</a:tableStyleId>
                  </a:tblPr>
                  <a:tblGrid>
                    <a:gridCol w="537229"/>
                    <a:gridCol w="1188000"/>
                  </a:tblGrid>
                  <a:tr h="640080">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blipFill rotWithShape="0">
                          <a:blip r:embed="rId2"/>
                          <a:stretch>
                            <a:fillRect b="-676190"/>
                          </a:stretch>
                        </a:blip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 53.804%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1.162%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r>
                            <a:rPr lang="en-US" sz="1400" kern="1200" dirty="0" smtClean="0">
                              <a:solidFill>
                                <a:schemeClr val="tx1"/>
                              </a:solidFill>
                              <a:latin typeface="Cambria Math" panose="02040503050406030204" pitchFamily="18" charset="0"/>
                              <a:ea typeface="Cambria Math" panose="02040503050406030204" pitchFamily="18" charset="0"/>
                              <a:cs typeface="Courier New" panose="02070309020205020404" pitchFamily="49" charset="0"/>
                            </a:rPr>
                            <a:t>0.941</a:t>
                          </a: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0.008%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AAE5"/>
                        </a:solidFill>
                      </a:tcPr>
                    </a:tc>
                  </a:tr>
                </a:tbl>
              </a:graphicData>
            </a:graphic>
          </p:graphicFrame>
        </mc:Fallback>
      </mc:AlternateContent>
      <mc:AlternateContent xmlns:mc="http://schemas.openxmlformats.org/markup-compatibility/2006" xmlns:a14="http://schemas.microsoft.com/office/drawing/2010/main">
        <mc:Choice Requires="a14">
          <p:graphicFrame>
            <p:nvGraphicFramePr>
              <p:cNvPr id="6" name="Tabelle 9"/>
              <p:cNvGraphicFramePr>
                <a:graphicFrameLocks noGrp="1"/>
              </p:cNvGraphicFramePr>
              <p:nvPr>
                <p:extLst/>
              </p:nvPr>
            </p:nvGraphicFramePr>
            <p:xfrm>
              <a:off x="4683142" y="1404746"/>
              <a:ext cx="1603432" cy="4917123"/>
            </p:xfrm>
            <a:graphic>
              <a:graphicData uri="http://schemas.openxmlformats.org/drawingml/2006/table">
                <a:tbl>
                  <a:tblPr firstRow="1" bandRow="1">
                    <a:tableStyleId>{5940675A-B579-460E-94D1-54222C63F5DA}</a:tableStyleId>
                  </a:tblPr>
                  <a:tblGrid>
                    <a:gridCol w="414134"/>
                    <a:gridCol w="1189298"/>
                  </a:tblGrid>
                  <a:tr h="288000">
                    <a:tc gridSpan="2">
                      <a:txBody>
                        <a:bodyPr/>
                        <a:lstStyle/>
                        <a:p>
                          <a:pPr algn="r"/>
                          <a14:m>
                            <m:oMathPara xmlns:m="http://schemas.openxmlformats.org/officeDocument/2006/math">
                              <m:oMathParaPr>
                                <m:jc m:val="left"/>
                              </m:oMathParaPr>
                              <m:oMath xmlns:m="http://schemas.openxmlformats.org/officeDocument/2006/math">
                                <m:r>
                                  <a:rPr lang="de-DE" sz="1800" b="0" i="1" smtClean="0">
                                    <a:latin typeface="Cambria Math"/>
                                  </a:rPr>
                                  <m:t>𝑠h𝑎𝑟𝑒</m:t>
                                </m:r>
                                <m:r>
                                  <a:rPr lang="de-DE" sz="1800" b="0" i="1" smtClean="0">
                                    <a:latin typeface="Cambria Math"/>
                                  </a:rPr>
                                  <m:t>=</m:t>
                                </m:r>
                                <m:f>
                                  <m:fPr>
                                    <m:ctrlPr>
                                      <a:rPr lang="de-DE" sz="1800" b="0" i="1" smtClean="0">
                                        <a:latin typeface="Cambria Math" panose="02040503050406030204" pitchFamily="18" charset="0"/>
                                      </a:rPr>
                                    </m:ctrlPr>
                                  </m:fPr>
                                  <m:num>
                                    <m:r>
                                      <a:rPr lang="de-DE" sz="1800" b="0" i="1" smtClean="0">
                                        <a:latin typeface="Cambria Math"/>
                                      </a:rPr>
                                      <m:t>𝐼𝑃</m:t>
                                    </m:r>
                                  </m:num>
                                  <m:den>
                                    <m:nary>
                                      <m:naryPr>
                                        <m:chr m:val="∑"/>
                                        <m:subHide m:val="on"/>
                                        <m:supHide m:val="on"/>
                                        <m:ctrlPr>
                                          <a:rPr lang="de-DE" sz="1800" b="0" i="1" smtClean="0">
                                            <a:latin typeface="Cambria Math" panose="02040503050406030204" pitchFamily="18" charset="0"/>
                                          </a:rPr>
                                        </m:ctrlPr>
                                      </m:naryPr>
                                      <m:sub/>
                                      <m:sup/>
                                      <m:e>
                                        <m:r>
                                          <a:rPr lang="de-DE" sz="1800" b="0" i="1" smtClean="0">
                                            <a:latin typeface="Cambria Math"/>
                                          </a:rPr>
                                          <m:t>𝐼𝑃</m:t>
                                        </m:r>
                                      </m:e>
                                    </m:nary>
                                  </m:den>
                                </m:f>
                              </m:oMath>
                            </m:oMathPara>
                          </a14:m>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76.863%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21.428%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1.660%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0.013%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90.511%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9.494%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0.084%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Choice>
        <mc:Fallback xmlns="">
          <p:graphicFrame>
            <p:nvGraphicFramePr>
              <p:cNvPr id="6" name="Tabelle 9"/>
              <p:cNvGraphicFramePr>
                <a:graphicFrameLocks noGrp="1"/>
              </p:cNvGraphicFramePr>
              <p:nvPr>
                <p:extLst/>
              </p:nvPr>
            </p:nvGraphicFramePr>
            <p:xfrm>
              <a:off x="4683142" y="1404746"/>
              <a:ext cx="1603432" cy="4917123"/>
            </p:xfrm>
            <a:graphic>
              <a:graphicData uri="http://schemas.openxmlformats.org/drawingml/2006/table">
                <a:tbl>
                  <a:tblPr firstRow="1" bandRow="1">
                    <a:tableStyleId>{5940675A-B579-460E-94D1-54222C63F5DA}</a:tableStyleId>
                  </a:tblPr>
                  <a:tblGrid>
                    <a:gridCol w="414134"/>
                    <a:gridCol w="1189298"/>
                  </a:tblGrid>
                  <a:tr h="649923">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blipFill rotWithShape="0">
                          <a:blip r:embed="rId3"/>
                          <a:stretch>
                            <a:fillRect b="-663551"/>
                          </a:stretch>
                        </a:blip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76.863%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21.428%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1.660%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0.013%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90.511%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9.494%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0.084%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Fallback>
      </mc:AlternateContent>
      <mc:AlternateContent xmlns:mc="http://schemas.openxmlformats.org/markup-compatibility/2006" xmlns:a14="http://schemas.microsoft.com/office/drawing/2010/main">
        <mc:Choice Requires="a14">
          <p:graphicFrame>
            <p:nvGraphicFramePr>
              <p:cNvPr id="7" name="Tabelle 1"/>
              <p:cNvGraphicFramePr>
                <a:graphicFrameLocks noGrp="1"/>
              </p:cNvGraphicFramePr>
              <p:nvPr>
                <p:extLst/>
              </p:nvPr>
            </p:nvGraphicFramePr>
            <p:xfrm>
              <a:off x="3079710" y="1442669"/>
              <a:ext cx="1603432" cy="4879200"/>
            </p:xfrm>
            <a:graphic>
              <a:graphicData uri="http://schemas.openxmlformats.org/drawingml/2006/table">
                <a:tbl>
                  <a:tblPr firstRow="1" bandRow="1">
                    <a:tableStyleId>{5940675A-B579-460E-94D1-54222C63F5DA}</a:tableStyleId>
                  </a:tblPr>
                  <a:tblGrid>
                    <a:gridCol w="414134"/>
                    <a:gridCol w="1189298"/>
                  </a:tblGrid>
                  <a:tr h="612000">
                    <a:tc gridSpan="2">
                      <a:txBody>
                        <a:bodyPr/>
                        <a:lstStyle/>
                        <a:p>
                          <a:pPr marL="0" indent="0" algn="r"/>
                          <a14:m>
                            <m:oMathPara xmlns:m="http://schemas.openxmlformats.org/officeDocument/2006/math">
                              <m:oMathParaPr>
                                <m:jc m:val="left"/>
                              </m:oMathParaPr>
                              <m:oMath xmlns:m="http://schemas.openxmlformats.org/officeDocument/2006/math">
                                <m:r>
                                  <a:rPr lang="de-DE" sz="1800" b="0" i="1" smtClean="0">
                                    <a:latin typeface="Cambria Math"/>
                                  </a:rPr>
                                  <m:t>𝐼𝑃</m:t>
                                </m:r>
                                <m:r>
                                  <a:rPr lang="de-DE" sz="1800" b="0" i="1" smtClean="0">
                                    <a:latin typeface="Cambria Math"/>
                                  </a:rPr>
                                  <m:t>=</m:t>
                                </m:r>
                                <m:f>
                                  <m:fPr>
                                    <m:ctrlPr>
                                      <a:rPr lang="de-DE" sz="1800" b="0" i="1" smtClean="0">
                                        <a:latin typeface="Cambria Math" panose="02040503050406030204" pitchFamily="18" charset="0"/>
                                      </a:rPr>
                                    </m:ctrlPr>
                                  </m:fPr>
                                  <m:num>
                                    <m:r>
                                      <a:rPr lang="de-DE" sz="1800" b="0" i="1" smtClean="0">
                                        <a:latin typeface="Cambria Math"/>
                                      </a:rPr>
                                      <m:t>1</m:t>
                                    </m:r>
                                  </m:num>
                                  <m:den>
                                    <m:r>
                                      <a:rPr lang="de-DE" sz="1800" b="0" i="1" smtClean="0">
                                        <a:latin typeface="Cambria Math" panose="02040503050406030204" pitchFamily="18" charset="0"/>
                                      </a:rPr>
                                      <m:t>𝑜𝑐𝑐𝑢𝑟𝑠</m:t>
                                    </m:r>
                                  </m:den>
                                </m:f>
                              </m:oMath>
                            </m:oMathPara>
                          </a14:m>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r"/>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0.0018116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0.0005051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0.0000391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0.0023569</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0.0001460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0.0000152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0.0001613</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0.0000032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Choice>
        <mc:Fallback xmlns="">
          <p:graphicFrame>
            <p:nvGraphicFramePr>
              <p:cNvPr id="7" name="Tabelle 1"/>
              <p:cNvGraphicFramePr>
                <a:graphicFrameLocks noGrp="1"/>
              </p:cNvGraphicFramePr>
              <p:nvPr>
                <p:extLst/>
              </p:nvPr>
            </p:nvGraphicFramePr>
            <p:xfrm>
              <a:off x="3079710" y="1442669"/>
              <a:ext cx="1603432" cy="4879200"/>
            </p:xfrm>
            <a:graphic>
              <a:graphicData uri="http://schemas.openxmlformats.org/drawingml/2006/table">
                <a:tbl>
                  <a:tblPr firstRow="1" bandRow="1">
                    <a:tableStyleId>{5940675A-B579-460E-94D1-54222C63F5DA}</a:tableStyleId>
                  </a:tblPr>
                  <a:tblGrid>
                    <a:gridCol w="414134"/>
                    <a:gridCol w="1189298"/>
                  </a:tblGrid>
                  <a:tr h="612000">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rotWithShape="0">
                          <a:blip r:embed="rId4"/>
                          <a:stretch>
                            <a:fillRect b="-702970"/>
                          </a:stretch>
                        </a:blipFill>
                      </a:tcPr>
                    </a:tc>
                    <a:tc hMerge="1">
                      <a:txBody>
                        <a:bodyPr/>
                        <a:lstStyle/>
                        <a:p>
                          <a:pPr marL="0" indent="0" algn="r"/>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0.0018116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0.0005051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0.0000391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0.0023569</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0.0001460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0.0000152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0.0001613</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0.0000032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Fallback>
      </mc:AlternateContent>
      <p:graphicFrame>
        <p:nvGraphicFramePr>
          <p:cNvPr id="8" name="Tabelle 10"/>
          <p:cNvGraphicFramePr>
            <a:graphicFrameLocks noGrp="1"/>
          </p:cNvGraphicFramePr>
          <p:nvPr>
            <p:extLst>
              <p:ext uri="{D42A27DB-BD31-4B8C-83A1-F6EECF244321}">
                <p14:modId xmlns:p14="http://schemas.microsoft.com/office/powerpoint/2010/main" val="257146169"/>
              </p:ext>
            </p:extLst>
          </p:nvPr>
        </p:nvGraphicFramePr>
        <p:xfrm>
          <a:off x="323528" y="620688"/>
          <a:ext cx="7020000" cy="670560"/>
        </p:xfrm>
        <a:graphic>
          <a:graphicData uri="http://schemas.openxmlformats.org/drawingml/2006/table">
            <a:tbl>
              <a:tblPr firstRow="1" bandRow="1">
                <a:tableStyleId>{5940675A-B579-460E-94D1-54222C63F5DA}</a:tableStyleId>
              </a:tblPr>
              <a:tblGrid>
                <a:gridCol w="3240000"/>
                <a:gridCol w="1836000"/>
                <a:gridCol w="828000"/>
                <a:gridCol w="1116000"/>
              </a:tblGrid>
              <a:tr h="324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00B0F0"/>
                          </a:solidFill>
                        </a:rPr>
                        <a:t>❶</a:t>
                      </a:r>
                      <a:r>
                        <a:rPr lang="en-US" dirty="0" smtClean="0">
                          <a:solidFill>
                            <a:schemeClr val="tx1"/>
                          </a:solidFill>
                        </a:rPr>
                        <a:t>name</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00B0F0"/>
                          </a:solidFill>
                        </a:rPr>
                        <a:t>❷</a:t>
                      </a:r>
                      <a:r>
                        <a:rPr lang="en-US" dirty="0" smtClean="0"/>
                        <a:t>street</a:t>
                      </a:r>
                      <a:endParaRPr lang="en-US" dirty="0" smtClean="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dirty="0" smtClean="0">
                          <a:solidFill>
                            <a:srgbClr val="00B0F0"/>
                          </a:solidFill>
                        </a:rPr>
                        <a:t>❸</a:t>
                      </a:r>
                      <a:r>
                        <a:rPr lang="en-US" dirty="0" smtClean="0">
                          <a:solidFill>
                            <a:schemeClr val="tx1"/>
                          </a:solidFill>
                        </a:rPr>
                        <a:t>zip</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dirty="0" smtClean="0">
                          <a:solidFill>
                            <a:srgbClr val="00B0F0"/>
                          </a:solidFill>
                        </a:rPr>
                        <a:t>❹</a:t>
                      </a:r>
                      <a:r>
                        <a:rPr lang="en-US" dirty="0" smtClean="0">
                          <a:solidFill>
                            <a:schemeClr val="tx1"/>
                          </a:solidFill>
                        </a:rPr>
                        <a:t>city</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r>
                        <a:rPr lang="en-US" sz="1400" dirty="0" smtClean="0"/>
                        <a:t>BMW FORSCHUNG</a:t>
                      </a:r>
                      <a:r>
                        <a:rPr lang="en-US" sz="1400" baseline="0" dirty="0" smtClean="0"/>
                        <a:t> UND TECHNIK GMBH</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HANAUER</a:t>
                      </a:r>
                      <a:r>
                        <a:rPr lang="en-US" sz="1400" baseline="0" dirty="0" smtClean="0"/>
                        <a:t> STRASSE 46</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80992</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MUENCHEN</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9" name="Rechteck 14"/>
          <p:cNvSpPr/>
          <p:nvPr/>
        </p:nvSpPr>
        <p:spPr>
          <a:xfrm>
            <a:off x="-190467" y="1363256"/>
            <a:ext cx="504056" cy="49586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aphicFrame>
        <p:nvGraphicFramePr>
          <p:cNvPr id="10" name="Tabelle 5"/>
          <p:cNvGraphicFramePr>
            <a:graphicFrameLocks noGrp="1"/>
          </p:cNvGraphicFramePr>
          <p:nvPr>
            <p:extLst/>
          </p:nvPr>
        </p:nvGraphicFramePr>
        <p:xfrm>
          <a:off x="323528" y="1384856"/>
          <a:ext cx="2772000" cy="4937760"/>
        </p:xfrm>
        <a:graphic>
          <a:graphicData uri="http://schemas.openxmlformats.org/drawingml/2006/table">
            <a:tbl>
              <a:tblPr firstRow="1" bandRow="1">
                <a:tableStyleId>{5940675A-B579-460E-94D1-54222C63F5DA}</a:tableStyleId>
              </a:tblPr>
              <a:tblGrid>
                <a:gridCol w="612000"/>
                <a:gridCol w="1152000"/>
                <a:gridCol w="1008000"/>
              </a:tblGrid>
              <a:tr h="324000">
                <a:tc>
                  <a:txBody>
                    <a:bodyPr/>
                    <a:lstStyle/>
                    <a:p>
                      <a:pPr algn="ctr"/>
                      <a:r>
                        <a:rPr lang="en-US" sz="1800" dirty="0" smtClean="0">
                          <a:solidFill>
                            <a:schemeClr val="bg1"/>
                          </a:solidFill>
                        </a:rPr>
                        <a:t>type</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r>
                        <a:rPr lang="en-US" sz="1800" dirty="0" smtClean="0"/>
                        <a:t>entry</a:t>
                      </a:r>
                      <a:endParaRPr lang="en-US" sz="1800" dirty="0"/>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indent="0" algn="r"/>
                      <a:r>
                        <a:rPr lang="en-US" sz="1800" dirty="0" smtClean="0"/>
                        <a:t>occurs</a:t>
                      </a:r>
                      <a:endParaRPr lang="en-US" sz="1800" dirty="0"/>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BMW</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FORSCHUNG</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1980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TECHNIK</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25552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UND</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1190073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GMBH</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3353864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HANAUER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6851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46</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65931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STRASSE</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7410645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80992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3905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4</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MUENCHEN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316874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p:sp>
        <p:nvSpPr>
          <p:cNvPr id="4" name="Foliennummernplatzhalter 3"/>
          <p:cNvSpPr>
            <a:spLocks noGrp="1"/>
          </p:cNvSpPr>
          <p:nvPr>
            <p:ph type="sldNum" sz="quarter" idx="10"/>
          </p:nvPr>
        </p:nvSpPr>
        <p:spPr/>
        <p:txBody>
          <a:bodyPr/>
          <a:lstStyle/>
          <a:p>
            <a:fld id="{A29D8577-601D-4845-9C29-D9E13FE3E8DB}" type="slidenum">
              <a:rPr lang="en-US" smtClean="0"/>
              <a:pPr/>
              <a:t>5</a:t>
            </a:fld>
            <a:endParaRPr lang="en-US" dirty="0"/>
          </a:p>
        </p:txBody>
      </p:sp>
    </p:spTree>
    <p:extLst>
      <p:ext uri="{BB962C8B-B14F-4D97-AF65-F5344CB8AC3E}">
        <p14:creationId xmlns:p14="http://schemas.microsoft.com/office/powerpoint/2010/main" val="1917744485"/>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14:presetBounceEnd="50000">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14:bounceEnd="50000">
                                          <p:cBhvr additive="base">
                                            <p:cTn id="7" dur="1000" fill="hold"/>
                                            <p:tgtEl>
                                              <p:spTgt spid="7"/>
                                            </p:tgtEl>
                                            <p:attrNameLst>
                                              <p:attrName>ppt_x</p:attrName>
                                            </p:attrNameLst>
                                          </p:cBhvr>
                                          <p:tavLst>
                                            <p:tav tm="0">
                                              <p:val>
                                                <p:strVal val="0-#ppt_w/2"/>
                                              </p:val>
                                            </p:tav>
                                            <p:tav tm="100000">
                                              <p:val>
                                                <p:strVal val="#ppt_x"/>
                                              </p:val>
                                            </p:tav>
                                          </p:tavLst>
                                        </p:anim>
                                        <p:anim calcmode="lin" valueType="num" p14:bounceEnd="50000">
                                          <p:cBhvr additive="base">
                                            <p:cTn id="8" dur="1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14:presetBounceEnd="50000">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14:bounceEnd="50000">
                                          <p:cBhvr additive="base">
                                            <p:cTn id="13" dur="1000" fill="hold"/>
                                            <p:tgtEl>
                                              <p:spTgt spid="6"/>
                                            </p:tgtEl>
                                            <p:attrNameLst>
                                              <p:attrName>ppt_x</p:attrName>
                                            </p:attrNameLst>
                                          </p:cBhvr>
                                          <p:tavLst>
                                            <p:tav tm="0">
                                              <p:val>
                                                <p:strVal val="0-#ppt_w/2"/>
                                              </p:val>
                                            </p:tav>
                                            <p:tav tm="100000">
                                              <p:val>
                                                <p:strVal val="#ppt_x"/>
                                              </p:val>
                                            </p:tav>
                                          </p:tavLst>
                                        </p:anim>
                                        <p:anim calcmode="lin" valueType="num" p14:bounceEnd="50000">
                                          <p:cBhvr additive="base">
                                            <p:cTn id="14" dur="10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14:presetBounceEnd="50000">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14:bounceEnd="50000">
                                          <p:cBhvr additive="base">
                                            <p:cTn id="19" dur="1000" fill="hold"/>
                                            <p:tgtEl>
                                              <p:spTgt spid="5"/>
                                            </p:tgtEl>
                                            <p:attrNameLst>
                                              <p:attrName>ppt_x</p:attrName>
                                            </p:attrNameLst>
                                          </p:cBhvr>
                                          <p:tavLst>
                                            <p:tav tm="0">
                                              <p:val>
                                                <p:strVal val="0-#ppt_w/2"/>
                                              </p:val>
                                            </p:tav>
                                            <p:tav tm="100000">
                                              <p:val>
                                                <p:strVal val="#ppt_x"/>
                                              </p:val>
                                            </p:tav>
                                          </p:tavLst>
                                        </p:anim>
                                        <p:anim calcmode="lin" valueType="num" p14:bounceEnd="50000">
                                          <p:cBhvr additive="base">
                                            <p:cTn id="20"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1000" fill="hold"/>
                                            <p:tgtEl>
                                              <p:spTgt spid="7"/>
                                            </p:tgtEl>
                                            <p:attrNameLst>
                                              <p:attrName>ppt_x</p:attrName>
                                            </p:attrNameLst>
                                          </p:cBhvr>
                                          <p:tavLst>
                                            <p:tav tm="0">
                                              <p:val>
                                                <p:strVal val="0-#ppt_w/2"/>
                                              </p:val>
                                            </p:tav>
                                            <p:tav tm="100000">
                                              <p:val>
                                                <p:strVal val="#ppt_x"/>
                                              </p:val>
                                            </p:tav>
                                          </p:tavLst>
                                        </p:anim>
                                        <p:anim calcmode="lin" valueType="num">
                                          <p:cBhvr additive="base">
                                            <p:cTn id="8" dur="1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1000" fill="hold"/>
                                            <p:tgtEl>
                                              <p:spTgt spid="6"/>
                                            </p:tgtEl>
                                            <p:attrNameLst>
                                              <p:attrName>ppt_x</p:attrName>
                                            </p:attrNameLst>
                                          </p:cBhvr>
                                          <p:tavLst>
                                            <p:tav tm="0">
                                              <p:val>
                                                <p:strVal val="0-#ppt_w/2"/>
                                              </p:val>
                                            </p:tav>
                                            <p:tav tm="100000">
                                              <p:val>
                                                <p:strVal val="#ppt_x"/>
                                              </p:val>
                                            </p:tav>
                                          </p:tavLst>
                                        </p:anim>
                                        <p:anim calcmode="lin" valueType="num">
                                          <p:cBhvr additive="base">
                                            <p:cTn id="14" dur="10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1000" fill="hold"/>
                                            <p:tgtEl>
                                              <p:spTgt spid="5"/>
                                            </p:tgtEl>
                                            <p:attrNameLst>
                                              <p:attrName>ppt_x</p:attrName>
                                            </p:attrNameLst>
                                          </p:cBhvr>
                                          <p:tavLst>
                                            <p:tav tm="0">
                                              <p:val>
                                                <p:strVal val="0-#ppt_w/2"/>
                                              </p:val>
                                            </p:tav>
                                            <p:tav tm="100000">
                                              <p:val>
                                                <p:strVal val="#ppt_x"/>
                                              </p:val>
                                            </p:tav>
                                          </p:tavLst>
                                        </p:anim>
                                        <p:anim calcmode="lin" valueType="num">
                                          <p:cBhvr additive="base">
                                            <p:cTn id="20"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28"/>
          <p:cNvGraphicFramePr>
            <a:graphicFrameLocks noGrp="1"/>
          </p:cNvGraphicFramePr>
          <p:nvPr>
            <p:extLst>
              <p:ext uri="{D42A27DB-BD31-4B8C-83A1-F6EECF244321}">
                <p14:modId xmlns:p14="http://schemas.microsoft.com/office/powerpoint/2010/main" val="3121976422"/>
              </p:ext>
            </p:extLst>
          </p:nvPr>
        </p:nvGraphicFramePr>
        <p:xfrm>
          <a:off x="251520" y="2132856"/>
          <a:ext cx="8561616" cy="1524000"/>
        </p:xfrm>
        <a:graphic>
          <a:graphicData uri="http://schemas.openxmlformats.org/drawingml/2006/table">
            <a:tbl>
              <a:tblPr firstRow="1" bandRow="1">
                <a:tableStyleId>{5940675A-B579-460E-94D1-54222C63F5DA}</a:tableStyleId>
              </a:tblPr>
              <a:tblGrid>
                <a:gridCol w="3707210"/>
                <a:gridCol w="2316607"/>
                <a:gridCol w="747589"/>
                <a:gridCol w="969410"/>
                <a:gridCol w="820800"/>
              </a:tblGrid>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1" dirty="0" smtClean="0">
                          <a:latin typeface="+mn-lt"/>
                          <a:ea typeface="Cambria Math" panose="02040503050406030204" pitchFamily="18" charset="0"/>
                          <a:cs typeface="Courier New" panose="02070309020205020404" pitchFamily="49" charset="0"/>
                        </a:rPr>
                        <a:t>BMW FORSCHUNG UND TECHNIK GMBH</a:t>
                      </a:r>
                      <a:endParaRPr lang="en-US" sz="1200" b="1" dirty="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en-US" sz="1200" b="1" dirty="0" smtClean="0">
                          <a:latin typeface="+mn-lt"/>
                          <a:ea typeface="Cambria Math" panose="02040503050406030204" pitchFamily="18" charset="0"/>
                          <a:cs typeface="Courier New" panose="02070309020205020404" pitchFamily="49" charset="0"/>
                        </a:rPr>
                        <a:t>HANAUER STRASSE 46</a:t>
                      </a:r>
                      <a:endParaRPr lang="en-US" sz="1200" b="1" dirty="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1" dirty="0" smtClean="0">
                          <a:latin typeface="+mn-lt"/>
                          <a:ea typeface="Cambria Math" panose="02040503050406030204" pitchFamily="18" charset="0"/>
                          <a:cs typeface="Courier New" panose="02070309020205020404" pitchFamily="49" charset="0"/>
                        </a:rPr>
                        <a:t>BMW FORSCHUNG </a:t>
                      </a:r>
                      <a:r>
                        <a:rPr lang="de-DE" sz="1200" b="1" dirty="0" smtClean="0">
                          <a:solidFill>
                            <a:schemeClr val="bg1">
                              <a:lumMod val="65000"/>
                            </a:schemeClr>
                          </a:solidFill>
                          <a:latin typeface="+mn-lt"/>
                          <a:ea typeface="Cambria Math" panose="02040503050406030204" pitchFamily="18" charset="0"/>
                          <a:cs typeface="Courier New" panose="02070309020205020404" pitchFamily="49" charset="0"/>
                        </a:rPr>
                        <a:t>U</a:t>
                      </a:r>
                      <a:r>
                        <a:rPr lang="de-DE" sz="1200" b="1" dirty="0" smtClean="0">
                          <a:latin typeface="+mn-lt"/>
                          <a:ea typeface="Cambria Math" panose="02040503050406030204" pitchFamily="18" charset="0"/>
                          <a:cs typeface="Courier New" panose="02070309020205020404" pitchFamily="49" charset="0"/>
                        </a:rPr>
                        <a:t> TECHNIK GMBH</a:t>
                      </a:r>
                      <a:endParaRPr lang="en-US" sz="1200" b="1" dirty="0" smtClean="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99.98%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BMW </a:t>
                      </a:r>
                      <a:r>
                        <a:rPr lang="en-US" sz="1200" b="1" dirty="0" smtClean="0">
                          <a:solidFill>
                            <a:schemeClr val="tx1"/>
                          </a:solidFill>
                          <a:latin typeface="+mn-lt"/>
                          <a:ea typeface="Cambria Math" panose="02040503050406030204" pitchFamily="18" charset="0"/>
                          <a:cs typeface="Courier New" panose="02070309020205020404" pitchFamily="49" charset="0"/>
                        </a:rPr>
                        <a:t>TECHNIK</a:t>
                      </a:r>
                      <a:r>
                        <a:rPr lang="en-US" sz="1200" b="1" baseline="0" dirty="0" smtClean="0">
                          <a:solidFill>
                            <a:schemeClr val="tx1"/>
                          </a:solidFill>
                          <a:latin typeface="+mn-lt"/>
                          <a:ea typeface="Cambria Math" panose="02040503050406030204" pitchFamily="18" charset="0"/>
                          <a:cs typeface="Courier New" panose="02070309020205020404" pitchFamily="49" charset="0"/>
                        </a:rPr>
                        <a:t> UND </a:t>
                      </a:r>
                      <a:r>
                        <a:rPr lang="en-US" sz="1200" b="1" baseline="0" dirty="0" smtClean="0">
                          <a:solidFill>
                            <a:schemeClr val="bg1">
                              <a:lumMod val="65000"/>
                            </a:schemeClr>
                          </a:solidFill>
                          <a:latin typeface="+mn-lt"/>
                          <a:ea typeface="Cambria Math" panose="02040503050406030204" pitchFamily="18" charset="0"/>
                          <a:cs typeface="Courier New" panose="02070309020205020404" pitchFamily="49" charset="0"/>
                        </a:rPr>
                        <a:t>SERVICE </a:t>
                      </a:r>
                      <a:r>
                        <a:rPr lang="en-US" sz="1200" b="1" baseline="0" dirty="0" smtClean="0">
                          <a:solidFill>
                            <a:schemeClr val="tx1"/>
                          </a:solidFill>
                          <a:latin typeface="+mn-lt"/>
                          <a:ea typeface="Cambria Math" panose="02040503050406030204" pitchFamily="18" charset="0"/>
                          <a:cs typeface="Courier New" panose="02070309020205020404" pitchFamily="49" charset="0"/>
                        </a:rPr>
                        <a:t>GMBH</a:t>
                      </a:r>
                      <a:endParaRPr lang="en-US" sz="1200" b="1" dirty="0" smtClean="0">
                        <a:solidFill>
                          <a:schemeClr val="tx1"/>
                        </a:solidFill>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48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84.06%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tx1"/>
                          </a:solidFill>
                          <a:latin typeface="+mn-lt"/>
                          <a:ea typeface="Cambria Math" panose="02040503050406030204" pitchFamily="18" charset="0"/>
                          <a:cs typeface="Courier New" panose="02070309020205020404" pitchFamily="49" charset="0"/>
                        </a:rPr>
                        <a:t>BMW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STIFTUNG HERBERT QUANDT</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83.80%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tx1"/>
                          </a:solidFill>
                          <a:latin typeface="+mn-lt"/>
                          <a:ea typeface="Cambria Math" panose="02040503050406030204" pitchFamily="18" charset="0"/>
                          <a:cs typeface="Courier New" panose="02070309020205020404" pitchFamily="49" charset="0"/>
                        </a:rPr>
                        <a:t>BMW</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 MAENNERCHOR MUENCHEN EV</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DACHAUER</a:t>
                      </a:r>
                      <a:r>
                        <a:rPr lang="en-US" sz="1200" b="1" dirty="0" smtClean="0">
                          <a:latin typeface="+mn-lt"/>
                          <a:ea typeface="Cambria Math" panose="02040503050406030204" pitchFamily="18" charset="0"/>
                          <a:cs typeface="Courier New" panose="02070309020205020404" pitchFamily="49" charset="0"/>
                        </a:rPr>
                        <a:t> STRASSE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371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73.81%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grpSp>
        <p:nvGrpSpPr>
          <p:cNvPr id="7" name="Gruppieren 7"/>
          <p:cNvGrpSpPr/>
          <p:nvPr/>
        </p:nvGrpSpPr>
        <p:grpSpPr>
          <a:xfrm>
            <a:off x="238559" y="3752853"/>
            <a:ext cx="8590878" cy="369332"/>
            <a:chOff x="238559" y="3717032"/>
            <a:chExt cx="8590878" cy="369332"/>
          </a:xfrm>
        </p:grpSpPr>
        <p:cxnSp>
          <p:nvCxnSpPr>
            <p:cNvPr id="8" name="Gerade Verbindung 4"/>
            <p:cNvCxnSpPr/>
            <p:nvPr/>
          </p:nvCxnSpPr>
          <p:spPr>
            <a:xfrm>
              <a:off x="238559" y="3717032"/>
              <a:ext cx="8581913" cy="0"/>
            </a:xfrm>
            <a:prstGeom prst="line">
              <a:avLst/>
            </a:prstGeom>
            <a:ln w="25400">
              <a:solidFill>
                <a:srgbClr val="00AAE5"/>
              </a:solidFill>
            </a:ln>
          </p:spPr>
          <p:style>
            <a:lnRef idx="1">
              <a:schemeClr val="accent1"/>
            </a:lnRef>
            <a:fillRef idx="0">
              <a:schemeClr val="accent1"/>
            </a:fillRef>
            <a:effectRef idx="0">
              <a:schemeClr val="accent1"/>
            </a:effectRef>
            <a:fontRef idx="minor">
              <a:schemeClr val="tx1"/>
            </a:fontRef>
          </p:style>
        </p:cxnSp>
        <p:sp>
          <p:nvSpPr>
            <p:cNvPr id="9" name="Textfeld 5"/>
            <p:cNvSpPr txBox="1"/>
            <p:nvPr/>
          </p:nvSpPr>
          <p:spPr>
            <a:xfrm>
              <a:off x="7046476" y="3717032"/>
              <a:ext cx="1782961" cy="369332"/>
            </a:xfrm>
            <a:prstGeom prst="rect">
              <a:avLst/>
            </a:prstGeom>
            <a:solidFill>
              <a:srgbClr val="00AAE5"/>
            </a:solidFill>
          </p:spPr>
          <p:txBody>
            <a:bodyPr wrap="square" rtlCol="0">
              <a:spAutoFit/>
            </a:bodyPr>
            <a:lstStyle/>
            <a:p>
              <a:r>
                <a:rPr lang="en-US" dirty="0" smtClean="0">
                  <a:solidFill>
                    <a:schemeClr val="bg1"/>
                  </a:solidFill>
                  <a:latin typeface="Cambria Math" panose="02040503050406030204" pitchFamily="18" charset="0"/>
                  <a:ea typeface="Cambria Math" panose="02040503050406030204" pitchFamily="18" charset="0"/>
                </a:rPr>
                <a:t>Threshold:</a:t>
              </a:r>
              <a:r>
                <a:rPr lang="en-US" dirty="0" smtClean="0">
                  <a:solidFill>
                    <a:schemeClr val="bg1"/>
                  </a:solidFill>
                </a:rPr>
                <a:t> </a:t>
              </a:r>
              <a:r>
                <a:rPr lang="en-US" dirty="0" smtClean="0">
                  <a:solidFill>
                    <a:schemeClr val="bg1"/>
                  </a:solidFill>
                  <a:latin typeface="Cambria Math" panose="02040503050406030204" pitchFamily="18" charset="0"/>
                  <a:ea typeface="Cambria Math" panose="02040503050406030204" pitchFamily="18" charset="0"/>
                </a:rPr>
                <a:t>70%</a:t>
              </a:r>
              <a:endParaRPr lang="en-US" dirty="0">
                <a:solidFill>
                  <a:schemeClr val="bg1"/>
                </a:solidFill>
                <a:latin typeface="Cambria Math" panose="02040503050406030204" pitchFamily="18" charset="0"/>
                <a:ea typeface="Cambria Math" panose="02040503050406030204" pitchFamily="18" charset="0"/>
              </a:endParaRPr>
            </a:p>
          </p:txBody>
        </p:sp>
      </p:grpSp>
      <p:cxnSp>
        <p:nvCxnSpPr>
          <p:cNvPr id="10" name="Gerade Verbindung 4"/>
          <p:cNvCxnSpPr/>
          <p:nvPr/>
        </p:nvCxnSpPr>
        <p:spPr>
          <a:xfrm flipV="1">
            <a:off x="251520" y="1052735"/>
            <a:ext cx="7704000" cy="1"/>
          </a:xfrm>
          <a:prstGeom prst="line">
            <a:avLst/>
          </a:prstGeom>
          <a:ln w="25400">
            <a:solidFill>
              <a:srgbClr val="00AAE5"/>
            </a:solidFill>
          </a:ln>
        </p:spPr>
        <p:style>
          <a:lnRef idx="1">
            <a:schemeClr val="accent1"/>
          </a:lnRef>
          <a:fillRef idx="0">
            <a:schemeClr val="accent1"/>
          </a:fillRef>
          <a:effectRef idx="0">
            <a:schemeClr val="accent1"/>
          </a:effectRef>
          <a:fontRef idx="minor">
            <a:schemeClr val="tx1"/>
          </a:fontRef>
        </p:style>
      </p:cxnSp>
      <p:sp>
        <p:nvSpPr>
          <p:cNvPr id="11" name="Title 1"/>
          <p:cNvSpPr>
            <a:spLocks noGrp="1"/>
          </p:cNvSpPr>
          <p:nvPr>
            <p:ph type="title"/>
          </p:nvPr>
        </p:nvSpPr>
        <p:spPr>
          <a:xfrm>
            <a:off x="0" y="-243408"/>
            <a:ext cx="9107496" cy="1296145"/>
          </a:xfrm>
          <a:solidFill>
            <a:schemeClr val="bg1"/>
          </a:solidFill>
        </p:spPr>
        <p:txBody>
          <a:bodyPr/>
          <a:lstStyle/>
          <a:p>
            <a:r>
              <a:rPr lang="en-US" dirty="0" smtClean="0"/>
              <a:t>Relative Identity</a:t>
            </a:r>
            <a:endParaRPr lang="en-US"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6</a:t>
            </a:fld>
            <a:endParaRPr lang="en-US" dirty="0"/>
          </a:p>
        </p:txBody>
      </p:sp>
      <mc:AlternateContent xmlns:mc="http://schemas.openxmlformats.org/markup-compatibility/2006" xmlns:a14="http://schemas.microsoft.com/office/drawing/2010/main">
        <mc:Choice Requires="a14">
          <p:graphicFrame>
            <p:nvGraphicFramePr>
              <p:cNvPr id="12" name="Tabelle 25"/>
              <p:cNvGraphicFramePr>
                <a:graphicFrameLocks noGrp="1"/>
              </p:cNvGraphicFramePr>
              <p:nvPr>
                <p:extLst>
                  <p:ext uri="{D42A27DB-BD31-4B8C-83A1-F6EECF244321}">
                    <p14:modId xmlns:p14="http://schemas.microsoft.com/office/powerpoint/2010/main" val="273595819"/>
                  </p:ext>
                </p:extLst>
              </p:nvPr>
            </p:nvGraphicFramePr>
            <p:xfrm>
              <a:off x="251520" y="1052736"/>
              <a:ext cx="8568816" cy="986727"/>
            </p:xfrm>
            <a:graphic>
              <a:graphicData uri="http://schemas.openxmlformats.org/drawingml/2006/table">
                <a:tbl>
                  <a:tblPr firstRow="1" bandRow="1">
                    <a:tableStyleId>{5940675A-B579-460E-94D1-54222C63F5DA}</a:tableStyleId>
                  </a:tblPr>
                  <a:tblGrid>
                    <a:gridCol w="453899"/>
                    <a:gridCol w="1134747"/>
                    <a:gridCol w="453899"/>
                    <a:gridCol w="1021272"/>
                    <a:gridCol w="643393"/>
                    <a:gridCol w="907798"/>
                    <a:gridCol w="907798"/>
                    <a:gridCol w="501011"/>
                    <a:gridCol w="747589"/>
                    <a:gridCol w="969410"/>
                    <a:gridCol w="828000"/>
                  </a:tblGrid>
                  <a:tr h="324000">
                    <a:tc gridSpan="5">
                      <a:txBody>
                        <a:bodyPr/>
                        <a:lstStyle/>
                        <a:p>
                          <a:r>
                            <a:rPr lang="en-US" smtClean="0">
                              <a:solidFill>
                                <a:srgbClr val="00B0F0"/>
                              </a:solidFill>
                            </a:rPr>
                            <a:t>❶</a:t>
                          </a:r>
                          <a:r>
                            <a:rPr lang="en-US" smtClean="0"/>
                            <a:t>name</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r>
                            <a:rPr lang="en-US" dirty="0" smtClean="0">
                              <a:solidFill>
                                <a:srgbClr val="00B0F0"/>
                              </a:solidFill>
                            </a:rPr>
                            <a:t>❷</a:t>
                          </a:r>
                          <a:r>
                            <a:rPr lang="en-US" dirty="0" smtClean="0"/>
                            <a:t>street</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a:txBody>
                        <a:bodyPr/>
                        <a:lstStyle/>
                        <a:p>
                          <a:r>
                            <a:rPr lang="en-US" dirty="0" smtClean="0">
                              <a:solidFill>
                                <a:srgbClr val="00B0F0"/>
                              </a:solidFill>
                            </a:rPr>
                            <a:t>❸</a:t>
                          </a:r>
                          <a:r>
                            <a:rPr lang="en-US" dirty="0" smtClean="0"/>
                            <a:t>zip</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dirty="0" smtClean="0">
                              <a:solidFill>
                                <a:srgbClr val="00B0F0"/>
                              </a:solidFill>
                            </a:rPr>
                            <a:t>❹</a:t>
                          </a:r>
                          <a:r>
                            <a:rPr lang="en-US" dirty="0" smtClean="0"/>
                            <a:t>city</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1600" b="0" i="1" smtClean="0">
                                        <a:solidFill>
                                          <a:schemeClr val="tx1"/>
                                        </a:solidFill>
                                        <a:latin typeface="Cambria Math" panose="02040503050406030204" pitchFamily="18" charset="0"/>
                                      </a:rPr>
                                    </m:ctrlPr>
                                  </m:naryPr>
                                  <m:sub/>
                                  <m:sup/>
                                  <m:e>
                                    <m:r>
                                      <a:rPr lang="de-DE" sz="1600" b="0" i="1" smtClean="0">
                                        <a:solidFill>
                                          <a:schemeClr val="tx1"/>
                                        </a:solidFill>
                                        <a:latin typeface="Cambria Math"/>
                                      </a:rPr>
                                      <m:t>𝑟𝐼</m:t>
                                    </m:r>
                                    <m:r>
                                      <a:rPr lang="de-DE" sz="1600" b="0" i="1" smtClean="0">
                                        <a:solidFill>
                                          <a:schemeClr val="tx1"/>
                                        </a:solidFill>
                                        <a:latin typeface="Cambria Math" panose="02040503050406030204" pitchFamily="18" charset="0"/>
                                      </a:rPr>
                                      <m:t>𝑃</m:t>
                                    </m:r>
                                  </m:e>
                                </m:nary>
                              </m:oMath>
                            </m:oMathPara>
                          </a14:m>
                          <a:endParaRPr lang="en-US" sz="1600" b="0"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200" b="1" dirty="0" smtClean="0">
                              <a:latin typeface="+mn-lt"/>
                              <a:cs typeface="Courier New" panose="02070309020205020404" pitchFamily="49" charset="0"/>
                            </a:rPr>
                            <a:t>BMW</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FORSCHUNG</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UND</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TECHNIK</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GMBH</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HANAUER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46</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53.8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mc:Choice>
        <mc:Fallback xmlns="">
          <p:graphicFrame>
            <p:nvGraphicFramePr>
              <p:cNvPr id="12" name="Tabelle 25"/>
              <p:cNvGraphicFramePr>
                <a:graphicFrameLocks noGrp="1"/>
              </p:cNvGraphicFramePr>
              <p:nvPr>
                <p:extLst>
                  <p:ext uri="{D42A27DB-BD31-4B8C-83A1-F6EECF244321}">
                    <p14:modId xmlns:p14="http://schemas.microsoft.com/office/powerpoint/2010/main" val="273595819"/>
                  </p:ext>
                </p:extLst>
              </p:nvPr>
            </p:nvGraphicFramePr>
            <p:xfrm>
              <a:off x="251520" y="1052736"/>
              <a:ext cx="8568816" cy="986727"/>
            </p:xfrm>
            <a:graphic>
              <a:graphicData uri="http://schemas.openxmlformats.org/drawingml/2006/table">
                <a:tbl>
                  <a:tblPr firstRow="1" bandRow="1">
                    <a:tableStyleId>{5940675A-B579-460E-94D1-54222C63F5DA}</a:tableStyleId>
                  </a:tblPr>
                  <a:tblGrid>
                    <a:gridCol w="453899"/>
                    <a:gridCol w="1134747"/>
                    <a:gridCol w="453899"/>
                    <a:gridCol w="1021272"/>
                    <a:gridCol w="643393"/>
                    <a:gridCol w="907798"/>
                    <a:gridCol w="907798"/>
                    <a:gridCol w="501011"/>
                    <a:gridCol w="747589"/>
                    <a:gridCol w="969410"/>
                    <a:gridCol w="828000"/>
                  </a:tblGrid>
                  <a:tr h="365760">
                    <a:tc gridSpan="5">
                      <a:txBody>
                        <a:bodyPr/>
                        <a:lstStyle/>
                        <a:p>
                          <a:r>
                            <a:rPr lang="en-US" smtClean="0">
                              <a:solidFill>
                                <a:srgbClr val="00B0F0"/>
                              </a:solidFill>
                            </a:rPr>
                            <a:t>❶</a:t>
                          </a:r>
                          <a:r>
                            <a:rPr lang="en-US" smtClean="0"/>
                            <a:t>name</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r>
                            <a:rPr lang="en-US" dirty="0" smtClean="0">
                              <a:solidFill>
                                <a:srgbClr val="00B0F0"/>
                              </a:solidFill>
                            </a:rPr>
                            <a:t>❷</a:t>
                          </a:r>
                          <a:r>
                            <a:rPr lang="en-US" dirty="0" smtClean="0"/>
                            <a:t>street</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a:txBody>
                        <a:bodyPr/>
                        <a:lstStyle/>
                        <a:p>
                          <a:r>
                            <a:rPr lang="en-US" dirty="0" smtClean="0">
                              <a:solidFill>
                                <a:srgbClr val="00B0F0"/>
                              </a:solidFill>
                            </a:rPr>
                            <a:t>❸</a:t>
                          </a:r>
                          <a:r>
                            <a:rPr lang="en-US" dirty="0" smtClean="0"/>
                            <a:t>zip</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dirty="0" smtClean="0">
                              <a:solidFill>
                                <a:srgbClr val="00B0F0"/>
                              </a:solidFill>
                            </a:rPr>
                            <a:t>❹</a:t>
                          </a:r>
                          <a:r>
                            <a:rPr lang="en-US" dirty="0" smtClean="0"/>
                            <a:t>city</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endParaRPr lang="de-DE"/>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blipFill rotWithShape="0">
                          <a:blip r:embed="rId2"/>
                          <a:stretch>
                            <a:fillRect l="-934559" t="-4425" r="-1471" b="-52212"/>
                          </a:stretch>
                        </a:blipFill>
                      </a:tcPr>
                    </a:tc>
                  </a:tr>
                  <a:tr h="316167">
                    <a:tc>
                      <a:txBody>
                        <a:bodyPr/>
                        <a:lstStyle/>
                        <a:p>
                          <a:pPr algn="ctr"/>
                          <a:r>
                            <a:rPr lang="en-US" sz="1200" b="1" dirty="0" smtClean="0">
                              <a:latin typeface="+mn-lt"/>
                              <a:cs typeface="Courier New" panose="02070309020205020404" pitchFamily="49" charset="0"/>
                            </a:rPr>
                            <a:t>BMW</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FORSCHUNG</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UND</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TECHNIK</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GMBH</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HANAUER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46</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53.8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mc:Fallback>
      </mc:AlternateContent>
    </p:spTree>
    <p:extLst>
      <p:ext uri="{BB962C8B-B14F-4D97-AF65-F5344CB8AC3E}">
        <p14:creationId xmlns:p14="http://schemas.microsoft.com/office/powerpoint/2010/main" val="3909421092"/>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14:presetBounceEnd="25500">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14:bounceEnd="25500">
                                          <p:cBhvr additive="base">
                                            <p:cTn id="11" dur="2000" fill="hold"/>
                                            <p:tgtEl>
                                              <p:spTgt spid="5"/>
                                            </p:tgtEl>
                                            <p:attrNameLst>
                                              <p:attrName>ppt_x</p:attrName>
                                            </p:attrNameLst>
                                          </p:cBhvr>
                                          <p:tavLst>
                                            <p:tav tm="0">
                                              <p:val>
                                                <p:strVal val="#ppt_x"/>
                                              </p:val>
                                            </p:tav>
                                            <p:tav tm="100000">
                                              <p:val>
                                                <p:strVal val="#ppt_x"/>
                                              </p:val>
                                            </p:tav>
                                          </p:tavLst>
                                        </p:anim>
                                        <p:anim calcmode="lin" valueType="num" p14:bounceEnd="25500">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2000" fill="hold"/>
                                            <p:tgtEl>
                                              <p:spTgt spid="5"/>
                                            </p:tgtEl>
                                            <p:attrNameLst>
                                              <p:attrName>ppt_x</p:attrName>
                                            </p:attrNameLst>
                                          </p:cBhvr>
                                          <p:tavLst>
                                            <p:tav tm="0">
                                              <p:val>
                                                <p:strVal val="#ppt_x"/>
                                              </p:val>
                                            </p:tav>
                                            <p:tav tm="100000">
                                              <p:val>
                                                <p:strVal val="#ppt_x"/>
                                              </p:val>
                                            </p:tav>
                                          </p:tavLst>
                                        </p:anim>
                                        <p:anim calcmode="lin" valueType="num">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6"/>
          <p:cNvGraphicFramePr>
            <a:graphicFrameLocks noGrp="1"/>
          </p:cNvGraphicFramePr>
          <p:nvPr>
            <p:extLst>
              <p:ext uri="{D42A27DB-BD31-4B8C-83A1-F6EECF244321}">
                <p14:modId xmlns:p14="http://schemas.microsoft.com/office/powerpoint/2010/main" val="3829316182"/>
              </p:ext>
            </p:extLst>
          </p:nvPr>
        </p:nvGraphicFramePr>
        <p:xfrm>
          <a:off x="251520" y="2132416"/>
          <a:ext cx="8514199" cy="609600"/>
        </p:xfrm>
        <a:graphic>
          <a:graphicData uri="http://schemas.openxmlformats.org/drawingml/2006/table">
            <a:tbl>
              <a:tblPr firstRow="1" bandRow="1"/>
              <a:tblGrid>
                <a:gridCol w="3508883"/>
                <a:gridCol w="2485781"/>
                <a:gridCol w="719535"/>
                <a:gridCol w="972000"/>
                <a:gridCol w="828000"/>
              </a:tblGrid>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400" b="1" dirty="0" smtClean="0">
                          <a:latin typeface="Courier New" panose="02070309020205020404" pitchFamily="49" charset="0"/>
                          <a:ea typeface="Cambria Math" panose="02040503050406030204" pitchFamily="18" charset="0"/>
                          <a:cs typeface="Courier New" panose="02070309020205020404" pitchFamily="49" charset="0"/>
                        </a:rPr>
                        <a:t>BMW MAENNERCHOR</a:t>
                      </a:r>
                      <a:r>
                        <a:rPr lang="en-US" sz="1400" b="1" baseline="0" dirty="0" smtClean="0">
                          <a:latin typeface="Courier New" panose="02070309020205020404" pitchFamily="49" charset="0"/>
                          <a:ea typeface="Cambria Math" panose="02040503050406030204" pitchFamily="18" charset="0"/>
                          <a:cs typeface="Courier New" panose="02070309020205020404" pitchFamily="49" charset="0"/>
                        </a:rPr>
                        <a:t> MUENCHEN EV</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r>
                        <a:rPr lang="en-US" sz="1400" b="1" dirty="0" smtClean="0">
                          <a:latin typeface="Courier New" panose="02070309020205020404" pitchFamily="49" charset="0"/>
                          <a:ea typeface="Cambria Math" panose="02040503050406030204" pitchFamily="18" charset="0"/>
                          <a:cs typeface="Courier New" panose="02070309020205020404" pitchFamily="49" charset="0"/>
                        </a:rPr>
                        <a:t>DACHAUER STRASSE 371</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80992</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MUENCHEN</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400" b="1" dirty="0" smtClean="0">
                          <a:latin typeface="Courier New" panose="02070309020205020404" pitchFamily="49" charset="0"/>
                          <a:ea typeface="Cambria Math" panose="02040503050406030204" pitchFamily="18" charset="0"/>
                          <a:cs typeface="Courier New" panose="02070309020205020404" pitchFamily="49" charset="0"/>
                        </a:rPr>
                        <a:t>MANNERCHOR </a:t>
                      </a:r>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RIESENFELD EV</a:t>
                      </a:r>
                      <a:endParaRPr lang="en-US" sz="1400" b="1"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ABBACH </a:t>
                      </a:r>
                      <a:r>
                        <a:rPr lang="en-US" sz="1400" b="1" dirty="0" smtClean="0">
                          <a:solidFill>
                            <a:schemeClr val="tx1"/>
                          </a:solidFill>
                          <a:latin typeface="Courier New" panose="02070309020205020404" pitchFamily="49" charset="0"/>
                          <a:ea typeface="Cambria Math" panose="02040503050406030204" pitchFamily="18" charset="0"/>
                          <a:cs typeface="Courier New" panose="02070309020205020404" pitchFamily="49" charset="0"/>
                        </a:rPr>
                        <a:t>STRASSE</a:t>
                      </a:r>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 27 A</a:t>
                      </a:r>
                      <a:endParaRPr lang="en-US" sz="1400" b="1"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80992</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MUENCHEN</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71.23%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p:grpSp>
        <p:nvGrpSpPr>
          <p:cNvPr id="6" name="Gruppieren 7"/>
          <p:cNvGrpSpPr/>
          <p:nvPr/>
        </p:nvGrpSpPr>
        <p:grpSpPr>
          <a:xfrm>
            <a:off x="251719" y="2843208"/>
            <a:ext cx="8514000" cy="369332"/>
            <a:chOff x="238559" y="3717032"/>
            <a:chExt cx="8590878" cy="369332"/>
          </a:xfrm>
        </p:grpSpPr>
        <p:cxnSp>
          <p:nvCxnSpPr>
            <p:cNvPr id="7" name="Gerade Verbindung 4"/>
            <p:cNvCxnSpPr/>
            <p:nvPr/>
          </p:nvCxnSpPr>
          <p:spPr>
            <a:xfrm>
              <a:off x="238559" y="3717032"/>
              <a:ext cx="8581913" cy="0"/>
            </a:xfrm>
            <a:prstGeom prst="line">
              <a:avLst/>
            </a:prstGeom>
            <a:noFill/>
            <a:ln w="25400" cap="flat" cmpd="sng" algn="ctr">
              <a:solidFill>
                <a:srgbClr val="00AAE5"/>
              </a:solidFill>
              <a:prstDash val="solid"/>
            </a:ln>
            <a:effectLst/>
          </p:spPr>
        </p:cxnSp>
        <p:sp>
          <p:nvSpPr>
            <p:cNvPr id="8" name="Textfeld 5"/>
            <p:cNvSpPr txBox="1"/>
            <p:nvPr/>
          </p:nvSpPr>
          <p:spPr>
            <a:xfrm>
              <a:off x="7046476" y="3717032"/>
              <a:ext cx="1782961" cy="369332"/>
            </a:xfrm>
            <a:prstGeom prst="rect">
              <a:avLst/>
            </a:prstGeom>
            <a:solidFill>
              <a:srgbClr val="00AAE5"/>
            </a:solid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latin typeface="Cambria Math" panose="02040503050406030204" pitchFamily="18" charset="0"/>
                  <a:ea typeface="Cambria Math" panose="02040503050406030204" pitchFamily="18" charset="0"/>
                </a:rPr>
                <a:t>Threshold:</a:t>
              </a:r>
              <a:r>
                <a:rPr kumimoji="0" lang="en-US" sz="1800" b="0" i="0" u="none" strike="noStrike" kern="0" cap="none" spc="0" normalizeH="0" baseline="0" noProof="0" dirty="0" smtClean="0">
                  <a:ln>
                    <a:noFill/>
                  </a:ln>
                  <a:solidFill>
                    <a:prstClr val="white"/>
                  </a:solidFill>
                  <a:effectLst/>
                  <a:uLnTx/>
                  <a:uFillTx/>
                </a:rPr>
                <a:t> </a:t>
              </a:r>
              <a:r>
                <a:rPr kumimoji="0" lang="en-US" sz="1800" b="0" i="0" u="none" strike="noStrike" kern="0" cap="none" spc="0" normalizeH="0" baseline="0" noProof="0" dirty="0" smtClean="0">
                  <a:ln>
                    <a:noFill/>
                  </a:ln>
                  <a:solidFill>
                    <a:prstClr val="white"/>
                  </a:solidFill>
                  <a:effectLst/>
                  <a:uLnTx/>
                  <a:uFillTx/>
                  <a:latin typeface="Cambria Math" panose="02040503050406030204" pitchFamily="18" charset="0"/>
                  <a:ea typeface="Cambria Math" panose="02040503050406030204" pitchFamily="18" charset="0"/>
                </a:rPr>
                <a:t>70%</a:t>
              </a:r>
            </a:p>
          </p:txBody>
        </p:sp>
      </p:grpSp>
      <mc:AlternateContent xmlns:mc="http://schemas.openxmlformats.org/markup-compatibility/2006" xmlns:a14="http://schemas.microsoft.com/office/drawing/2010/main">
        <mc:Choice Requires="a14">
          <p:graphicFrame>
            <p:nvGraphicFramePr>
              <p:cNvPr id="9" name="Tabelle 25"/>
              <p:cNvGraphicFramePr>
                <a:graphicFrameLocks noGrp="1"/>
              </p:cNvGraphicFramePr>
              <p:nvPr>
                <p:extLst>
                  <p:ext uri="{D42A27DB-BD31-4B8C-83A1-F6EECF244321}">
                    <p14:modId xmlns:p14="http://schemas.microsoft.com/office/powerpoint/2010/main" val="591569653"/>
                  </p:ext>
                </p:extLst>
              </p:nvPr>
            </p:nvGraphicFramePr>
            <p:xfrm>
              <a:off x="251520" y="1052736"/>
              <a:ext cx="8514199" cy="986727"/>
            </p:xfrm>
            <a:graphic>
              <a:graphicData uri="http://schemas.openxmlformats.org/drawingml/2006/table">
                <a:tbl>
                  <a:tblPr firstRow="1" bandRow="1"/>
                  <a:tblGrid>
                    <a:gridCol w="540000"/>
                    <a:gridCol w="1584176"/>
                    <a:gridCol w="1024707"/>
                    <a:gridCol w="360000"/>
                    <a:gridCol w="1045316"/>
                    <a:gridCol w="1062000"/>
                    <a:gridCol w="378465"/>
                    <a:gridCol w="719535"/>
                    <a:gridCol w="972000"/>
                    <a:gridCol w="828000"/>
                  </a:tblGrid>
                  <a:tr h="324000">
                    <a:tc grid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❶</a:t>
                          </a:r>
                          <a:r>
                            <a:rPr lang="en-US" dirty="0" smtClean="0"/>
                            <a:t>name</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gridSpan="3">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❷</a:t>
                          </a:r>
                          <a:r>
                            <a:rPr lang="en-US" dirty="0" smtClean="0"/>
                            <a:t>street</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❸</a:t>
                          </a:r>
                          <a:r>
                            <a:rPr lang="en-US" dirty="0" smtClean="0"/>
                            <a:t>zip</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❹</a:t>
                          </a:r>
                          <a:r>
                            <a:rPr lang="en-US" dirty="0" smtClean="0"/>
                            <a:t>city</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row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1600" b="0" i="1" smtClean="0">
                                        <a:solidFill>
                                          <a:schemeClr val="tx1"/>
                                        </a:solidFill>
                                        <a:latin typeface="Cambria Math" panose="02040503050406030204" pitchFamily="18" charset="0"/>
                                      </a:rPr>
                                    </m:ctrlPr>
                                  </m:naryPr>
                                  <m:sub/>
                                  <m:sup/>
                                  <m:e>
                                    <m:r>
                                      <a:rPr lang="de-DE" sz="1600" b="0" i="1" smtClean="0">
                                        <a:solidFill>
                                          <a:schemeClr val="tx1"/>
                                        </a:solidFill>
                                        <a:latin typeface="Cambria Math"/>
                                      </a:rPr>
                                      <m:t>𝑟</m:t>
                                    </m:r>
                                    <m:r>
                                      <a:rPr lang="de-DE" sz="1600" b="0" i="1" smtClean="0">
                                        <a:solidFill>
                                          <a:schemeClr val="tx1"/>
                                        </a:solidFill>
                                        <a:latin typeface="Cambria Math" panose="02040503050406030204" pitchFamily="18" charset="0"/>
                                      </a:rPr>
                                      <m:t>𝐼𝑃</m:t>
                                    </m:r>
                                  </m:e>
                                </m:nary>
                              </m:oMath>
                            </m:oMathPara>
                          </a14:m>
                          <a:endParaRPr lang="en-US" sz="1600" b="0"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kern="1200" dirty="0" smtClean="0">
                              <a:solidFill>
                                <a:schemeClr val="tx1"/>
                              </a:solidFill>
                              <a:latin typeface="Calibri"/>
                              <a:ea typeface="+mn-ea"/>
                              <a:cs typeface="Courier New" panose="02070309020205020404" pitchFamily="49" charset="0"/>
                            </a:rPr>
                            <a:t>BMW</a:t>
                          </a:r>
                          <a:endParaRPr lang="en-US" sz="1200" b="1" kern="1200" dirty="0">
                            <a:solidFill>
                              <a:schemeClr val="tx1"/>
                            </a:solidFill>
                            <a:latin typeface="Calibri"/>
                            <a:ea typeface="+mn-ea"/>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Calibri" panose="020F0502020204030204" pitchFamily="34" charset="0"/>
                              <a:cs typeface="Calibri" panose="020F0502020204030204" pitchFamily="34" charset="0"/>
                            </a:rPr>
                            <a:t>MAENNERCHOR</a:t>
                          </a:r>
                          <a:endParaRPr lang="en-US" sz="1200" b="1" dirty="0">
                            <a:latin typeface="Calibri" panose="020F0502020204030204" pitchFamily="34" charset="0"/>
                            <a:cs typeface="Calibri" panose="020F0502020204030204" pitchFamily="34"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cs typeface="Courier New" panose="02070309020205020404" pitchFamily="49" charset="0"/>
                            </a:rPr>
                            <a:t>EV</a:t>
                          </a:r>
                          <a:endParaRPr lang="en-US" sz="1200" b="1" i="0"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DACHAUER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rPr>
                            <a:t>371</a:t>
                          </a:r>
                          <a:endParaRPr lang="en-US" sz="1200" b="1" i="0" dirty="0">
                            <a:latin typeface="+mn-lt"/>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18.0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0.8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8.8</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mc:Choice>
        <mc:Fallback xmlns="">
          <p:graphicFrame>
            <p:nvGraphicFramePr>
              <p:cNvPr id="9" name="Tabelle 25"/>
              <p:cNvGraphicFramePr>
                <a:graphicFrameLocks noGrp="1"/>
              </p:cNvGraphicFramePr>
              <p:nvPr>
                <p:extLst>
                  <p:ext uri="{D42A27DB-BD31-4B8C-83A1-F6EECF244321}">
                    <p14:modId xmlns:p14="http://schemas.microsoft.com/office/powerpoint/2010/main" val="591569653"/>
                  </p:ext>
                </p:extLst>
              </p:nvPr>
            </p:nvGraphicFramePr>
            <p:xfrm>
              <a:off x="251520" y="1052736"/>
              <a:ext cx="8514199" cy="986727"/>
            </p:xfrm>
            <a:graphic>
              <a:graphicData uri="http://schemas.openxmlformats.org/drawingml/2006/table">
                <a:tbl>
                  <a:tblPr firstRow="1" bandRow="1"/>
                  <a:tblGrid>
                    <a:gridCol w="540000"/>
                    <a:gridCol w="1584176"/>
                    <a:gridCol w="1024707"/>
                    <a:gridCol w="360000"/>
                    <a:gridCol w="1045316"/>
                    <a:gridCol w="1062000"/>
                    <a:gridCol w="378465"/>
                    <a:gridCol w="719535"/>
                    <a:gridCol w="972000"/>
                    <a:gridCol w="828000"/>
                  </a:tblGrid>
                  <a:tr h="365760">
                    <a:tc grid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❶</a:t>
                          </a:r>
                          <a:r>
                            <a:rPr lang="en-US" dirty="0" smtClean="0"/>
                            <a:t>name</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gridSpan="3">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❷</a:t>
                          </a:r>
                          <a:r>
                            <a:rPr lang="en-US" dirty="0" smtClean="0"/>
                            <a:t>street</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❸</a:t>
                          </a:r>
                          <a:r>
                            <a:rPr lang="en-US" dirty="0" smtClean="0"/>
                            <a:t>zip</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❹</a:t>
                          </a:r>
                          <a:r>
                            <a:rPr lang="en-US" dirty="0" smtClean="0"/>
                            <a:t>city</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rowSpan="2">
                      <a:txBody>
                        <a:bodyPr/>
                        <a:lstStyle/>
                        <a:p>
                          <a:endParaRPr lang="de-DE"/>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blipFill rotWithShape="0">
                          <a:blip r:embed="rId2"/>
                          <a:stretch>
                            <a:fillRect l="-927941" t="-4425" r="-2206" b="-52212"/>
                          </a:stretch>
                        </a:blipFill>
                      </a:tcPr>
                    </a:tc>
                  </a:tr>
                  <a:tr h="31616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kern="1200" dirty="0" smtClean="0">
                              <a:solidFill>
                                <a:schemeClr val="tx1"/>
                              </a:solidFill>
                              <a:latin typeface="Calibri"/>
                              <a:ea typeface="+mn-ea"/>
                              <a:cs typeface="Courier New" panose="02070309020205020404" pitchFamily="49" charset="0"/>
                            </a:rPr>
                            <a:t>BMW</a:t>
                          </a:r>
                          <a:endParaRPr lang="en-US" sz="1200" b="1" kern="1200" dirty="0">
                            <a:solidFill>
                              <a:schemeClr val="tx1"/>
                            </a:solidFill>
                            <a:latin typeface="Calibri"/>
                            <a:ea typeface="+mn-ea"/>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Calibri" panose="020F0502020204030204" pitchFamily="34" charset="0"/>
                              <a:cs typeface="Calibri" panose="020F0502020204030204" pitchFamily="34" charset="0"/>
                            </a:rPr>
                            <a:t>MAENNERCHOR</a:t>
                          </a:r>
                          <a:endParaRPr lang="en-US" sz="1200" b="1" dirty="0">
                            <a:latin typeface="Calibri" panose="020F0502020204030204" pitchFamily="34" charset="0"/>
                            <a:cs typeface="Calibri" panose="020F0502020204030204" pitchFamily="34"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cs typeface="Courier New" panose="02070309020205020404" pitchFamily="49" charset="0"/>
                            </a:rPr>
                            <a:t>EV</a:t>
                          </a:r>
                          <a:endParaRPr lang="en-US" sz="1200" b="1" i="0"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DACHAUER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rPr>
                            <a:t>371</a:t>
                          </a:r>
                          <a:endParaRPr lang="en-US" sz="1200" b="1" i="0" dirty="0">
                            <a:latin typeface="+mn-lt"/>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048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18.0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0.8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8.8</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mc:Fallback>
      </mc:AlternateContent>
      <p:sp>
        <p:nvSpPr>
          <p:cNvPr id="10" name="Rechteck 9"/>
          <p:cNvSpPr/>
          <p:nvPr/>
        </p:nvSpPr>
        <p:spPr>
          <a:xfrm>
            <a:off x="8718353" y="813344"/>
            <a:ext cx="102119" cy="914400"/>
          </a:xfrm>
          <a:prstGeom prst="rect">
            <a:avLst/>
          </a:prstGeom>
          <a:solidFill>
            <a:sysClr val="window" lastClr="FFFFF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1" name="Gerade Verbindung 4"/>
          <p:cNvCxnSpPr/>
          <p:nvPr/>
        </p:nvCxnSpPr>
        <p:spPr>
          <a:xfrm flipV="1">
            <a:off x="251520" y="1052735"/>
            <a:ext cx="7668000" cy="1"/>
          </a:xfrm>
          <a:prstGeom prst="line">
            <a:avLst/>
          </a:prstGeom>
          <a:noFill/>
          <a:ln w="25400" cap="flat" cmpd="sng" algn="ctr">
            <a:solidFill>
              <a:srgbClr val="00AAE5"/>
            </a:solidFill>
            <a:prstDash val="solid"/>
          </a:ln>
          <a:effectLst/>
        </p:spPr>
      </p:cxnSp>
      <mc:AlternateContent xmlns:mc="http://schemas.openxmlformats.org/markup-compatibility/2006" xmlns:a14="http://schemas.microsoft.com/office/drawing/2010/main">
        <mc:Choice Requires="a14">
          <p:sp>
            <p:nvSpPr>
              <p:cNvPr id="12" name="Title 1"/>
              <p:cNvSpPr txBox="1">
                <a:spLocks/>
              </p:cNvSpPr>
              <p:nvPr/>
            </p:nvSpPr>
            <p:spPr>
              <a:xfrm>
                <a:off x="35496" y="-243408"/>
                <a:ext cx="9072000" cy="1296144"/>
              </a:xfrm>
              <a:prstGeom prst="rect">
                <a:avLst/>
              </a:prstGeom>
              <a:solidFill>
                <a:sysClr val="window" lastClr="FFFFFF"/>
              </a:solidFill>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00AAE5"/>
                    </a:solidFill>
                    <a:effectLst/>
                    <a:uLnTx/>
                    <a:uFillTx/>
                    <a:latin typeface="Calibri"/>
                    <a:ea typeface="+mj-ea"/>
                    <a:cs typeface="+mj-cs"/>
                  </a:rPr>
                  <a:t>Not Commutative </a:t>
                </a:r>
                <a14:m>
                  <m:oMath xmlns:m="http://schemas.openxmlformats.org/officeDocument/2006/math">
                    <m:d>
                      <m:dPr>
                        <m:ctrlP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mj-ea"/>
                            <a:cs typeface="+mj-cs"/>
                          </a:rPr>
                        </m:ctrlPr>
                      </m:dPr>
                      <m:e>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mj-ea"/>
                            <a:cs typeface="+mj-cs"/>
                          </a:rPr>
                          <m:t>𝑎</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𝑏</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𝑏</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𝑎</m:t>
                        </m:r>
                      </m:e>
                    </m:d>
                  </m:oMath>
                </a14:m>
                <a:endParaRPr kumimoji="0" lang="en-US" sz="2400" b="0" i="0" u="none" strike="noStrike" kern="1200" cap="none" spc="0" normalizeH="0" baseline="0" noProof="0" dirty="0">
                  <a:ln>
                    <a:noFill/>
                  </a:ln>
                  <a:solidFill>
                    <a:srgbClr val="00AAE5"/>
                  </a:solidFill>
                  <a:effectLst/>
                  <a:uLnTx/>
                  <a:uFillTx/>
                  <a:latin typeface="Calibri"/>
                  <a:ea typeface="+mj-ea"/>
                  <a:cs typeface="+mj-cs"/>
                </a:endParaRPr>
              </a:p>
            </p:txBody>
          </p:sp>
        </mc:Choice>
        <mc:Fallback xmlns="">
          <p:sp>
            <p:nvSpPr>
              <p:cNvPr id="12" name="Title 1"/>
              <p:cNvSpPr txBox="1">
                <a:spLocks noRot="1" noChangeAspect="1" noMove="1" noResize="1" noEditPoints="1" noAdjustHandles="1" noChangeArrowheads="1" noChangeShapeType="1" noTextEdit="1"/>
              </p:cNvSpPr>
              <p:nvPr/>
            </p:nvSpPr>
            <p:spPr>
              <a:xfrm>
                <a:off x="35496" y="-243408"/>
                <a:ext cx="9072000" cy="1296144"/>
              </a:xfrm>
              <a:prstGeom prst="rect">
                <a:avLst/>
              </a:prstGeom>
              <a:blipFill rotWithShape="0">
                <a:blip r:embed="rId3"/>
                <a:stretch>
                  <a:fillRect l="-1075"/>
                </a:stretch>
              </a:blipFill>
            </p:spPr>
            <p:txBody>
              <a:bodyPr/>
              <a:lstStyle/>
              <a:p>
                <a:r>
                  <a:rPr lang="en-US">
                    <a:noFill/>
                  </a:rPr>
                  <a:t> </a:t>
                </a:r>
              </a:p>
            </p:txBody>
          </p:sp>
        </mc:Fallback>
      </mc:AlternateContent>
      <p:sp>
        <p:nvSpPr>
          <p:cNvPr id="2" name="Foliennummernplatzhalter 1"/>
          <p:cNvSpPr>
            <a:spLocks noGrp="1"/>
          </p:cNvSpPr>
          <p:nvPr>
            <p:ph type="sldNum" sz="quarter" idx="10"/>
          </p:nvPr>
        </p:nvSpPr>
        <p:spPr/>
        <p:txBody>
          <a:bodyPr/>
          <a:lstStyle/>
          <a:p>
            <a:fld id="{A29D8577-601D-4845-9C29-D9E13FE3E8DB}" type="slidenum">
              <a:rPr lang="en-US" smtClean="0"/>
              <a:pPr/>
              <a:t>7</a:t>
            </a:fld>
            <a:endParaRPr lang="en-US" dirty="0"/>
          </a:p>
        </p:txBody>
      </p:sp>
    </p:spTree>
    <p:extLst>
      <p:ext uri="{BB962C8B-B14F-4D97-AF65-F5344CB8AC3E}">
        <p14:creationId xmlns:p14="http://schemas.microsoft.com/office/powerpoint/2010/main" val="48108602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14:presetBounceEnd="25500">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14:bounceEnd="25500">
                                          <p:cBhvr additive="base">
                                            <p:cTn id="11" dur="2000" fill="hold"/>
                                            <p:tgtEl>
                                              <p:spTgt spid="5"/>
                                            </p:tgtEl>
                                            <p:attrNameLst>
                                              <p:attrName>ppt_x</p:attrName>
                                            </p:attrNameLst>
                                          </p:cBhvr>
                                          <p:tavLst>
                                            <p:tav tm="0">
                                              <p:val>
                                                <p:strVal val="#ppt_x"/>
                                              </p:val>
                                            </p:tav>
                                            <p:tav tm="100000">
                                              <p:val>
                                                <p:strVal val="#ppt_x"/>
                                              </p:val>
                                            </p:tav>
                                          </p:tavLst>
                                        </p:anim>
                                        <p:anim calcmode="lin" valueType="num" p14:bounceEnd="25500">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2000" fill="hold"/>
                                            <p:tgtEl>
                                              <p:spTgt spid="5"/>
                                            </p:tgtEl>
                                            <p:attrNameLst>
                                              <p:attrName>ppt_x</p:attrName>
                                            </p:attrNameLst>
                                          </p:cBhvr>
                                          <p:tavLst>
                                            <p:tav tm="0">
                                              <p:val>
                                                <p:strVal val="#ppt_x"/>
                                              </p:val>
                                            </p:tav>
                                            <p:tav tm="100000">
                                              <p:val>
                                                <p:strVal val="#ppt_x"/>
                                              </p:val>
                                            </p:tav>
                                          </p:tavLst>
                                        </p:anim>
                                        <p:anim calcmode="lin" valueType="num">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Rechteck 292"/>
          <p:cNvSpPr/>
          <p:nvPr/>
        </p:nvSpPr>
        <p:spPr>
          <a:xfrm>
            <a:off x="882068" y="4303923"/>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 name="Rechteck 291"/>
          <p:cNvSpPr/>
          <p:nvPr/>
        </p:nvSpPr>
        <p:spPr>
          <a:xfrm>
            <a:off x="882068" y="3379998"/>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hteck 265"/>
          <p:cNvSpPr/>
          <p:nvPr/>
        </p:nvSpPr>
        <p:spPr>
          <a:xfrm>
            <a:off x="883577" y="2467106"/>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p:cNvSpPr>
            <a:spLocks noGrp="1"/>
          </p:cNvSpPr>
          <p:nvPr>
            <p:ph type="title"/>
          </p:nvPr>
        </p:nvSpPr>
        <p:spPr/>
        <p:txBody>
          <a:bodyPr/>
          <a:lstStyle/>
          <a:p>
            <a:r>
              <a:rPr lang="en-US" dirty="0" smtClean="0"/>
              <a:t>Candidate Retrieval</a:t>
            </a:r>
            <a:endParaRPr lang="en-US" dirty="0"/>
          </a:p>
        </p:txBody>
      </p:sp>
      <p:graphicFrame>
        <p:nvGraphicFramePr>
          <p:cNvPr id="52" name="Tabelle 5"/>
          <p:cNvGraphicFramePr>
            <a:graphicFrameLocks noGrp="1"/>
          </p:cNvGraphicFramePr>
          <p:nvPr>
            <p:extLst>
              <p:ext uri="{D42A27DB-BD31-4B8C-83A1-F6EECF244321}">
                <p14:modId xmlns:p14="http://schemas.microsoft.com/office/powerpoint/2010/main" val="2308802024"/>
              </p:ext>
            </p:extLst>
          </p:nvPr>
        </p:nvGraphicFramePr>
        <p:xfrm>
          <a:off x="265163" y="1794769"/>
          <a:ext cx="2772000" cy="3418560"/>
        </p:xfrm>
        <a:graphic>
          <a:graphicData uri="http://schemas.openxmlformats.org/drawingml/2006/table">
            <a:tbl>
              <a:tblPr firstRow="1" bandRow="1">
                <a:tableStyleId>{5940675A-B579-460E-94D1-54222C63F5DA}</a:tableStyleId>
              </a:tblPr>
              <a:tblGrid>
                <a:gridCol w="612000"/>
                <a:gridCol w="1152000"/>
                <a:gridCol w="1008000"/>
              </a:tblGrid>
              <a:tr h="324000">
                <a:tc>
                  <a:txBody>
                    <a:bodyPr/>
                    <a:lstStyle/>
                    <a:p>
                      <a:pPr algn="ctr"/>
                      <a:r>
                        <a:rPr lang="en-US" sz="1800" dirty="0" smtClean="0">
                          <a:solidFill>
                            <a:schemeClr val="bg1"/>
                          </a:solidFill>
                        </a:rPr>
                        <a:t>type</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r>
                        <a:rPr lang="en-US" sz="1800" dirty="0" smtClean="0">
                          <a:solidFill>
                            <a:schemeClr val="bg1"/>
                          </a:solidFill>
                        </a:rPr>
                        <a:t>entry</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marL="0" indent="0" algn="r"/>
                      <a:r>
                        <a:rPr lang="en-US" sz="1800" dirty="0" smtClean="0">
                          <a:solidFill>
                            <a:schemeClr val="bg1"/>
                          </a:solidFill>
                        </a:rPr>
                        <a:t>occurs</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BMW</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306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400" dirty="0" smtClean="0">
                          <a:latin typeface="Courier New" panose="02070309020205020404" pitchFamily="49" charset="0"/>
                          <a:cs typeface="Courier New" panose="02070309020205020404" pitchFamily="49" charset="0"/>
                        </a:rPr>
                        <a:t>LENIN</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306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FORSCHUNG</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1980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612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 </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80992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3950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endParaRPr lang="en-US" sz="1400" dirty="0">
                        <a:solidFill>
                          <a:schemeClr val="accent1">
                            <a:lumMod val="75000"/>
                          </a:schemeClr>
                        </a:solidFill>
                        <a:latin typeface="Courier New" panose="02070309020205020404" pitchFamily="49"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latin typeface="Courier New" panose="02070309020205020404" pitchFamily="49"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8" name="Gruppieren 137"/>
          <p:cNvGrpSpPr/>
          <p:nvPr/>
        </p:nvGrpSpPr>
        <p:grpSpPr>
          <a:xfrm>
            <a:off x="261938" y="5200309"/>
            <a:ext cx="2774156" cy="173831"/>
            <a:chOff x="261938" y="4384566"/>
            <a:chExt cx="2774156" cy="173831"/>
          </a:xfrm>
        </p:grpSpPr>
        <p:grpSp>
          <p:nvGrpSpPr>
            <p:cNvPr id="77" name="Gruppieren 76"/>
            <p:cNvGrpSpPr/>
            <p:nvPr/>
          </p:nvGrpSpPr>
          <p:grpSpPr>
            <a:xfrm>
              <a:off x="261938" y="4386947"/>
              <a:ext cx="800100" cy="166688"/>
              <a:chOff x="261938" y="4455319"/>
              <a:chExt cx="800100" cy="166688"/>
            </a:xfrm>
          </p:grpSpPr>
          <p:grpSp>
            <p:nvGrpSpPr>
              <p:cNvPr id="69" name="Gruppieren 68"/>
              <p:cNvGrpSpPr/>
              <p:nvPr/>
            </p:nvGrpSpPr>
            <p:grpSpPr>
              <a:xfrm>
                <a:off x="261938" y="4455319"/>
                <a:ext cx="400050" cy="166688"/>
                <a:chOff x="261938" y="4457700"/>
                <a:chExt cx="400050" cy="166688"/>
              </a:xfrm>
            </p:grpSpPr>
            <p:grpSp>
              <p:nvGrpSpPr>
                <p:cNvPr id="65" name="Gruppieren 64"/>
                <p:cNvGrpSpPr/>
                <p:nvPr/>
              </p:nvGrpSpPr>
              <p:grpSpPr>
                <a:xfrm>
                  <a:off x="261938" y="4457700"/>
                  <a:ext cx="200025" cy="166688"/>
                  <a:chOff x="261938" y="4457700"/>
                  <a:chExt cx="200025" cy="166688"/>
                </a:xfrm>
              </p:grpSpPr>
              <p:cxnSp>
                <p:nvCxnSpPr>
                  <p:cNvPr id="62" name="Gerader Verbinder 61"/>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66" name="Gruppieren 65"/>
                <p:cNvGrpSpPr/>
                <p:nvPr/>
              </p:nvGrpSpPr>
              <p:grpSpPr>
                <a:xfrm>
                  <a:off x="461963" y="4457700"/>
                  <a:ext cx="200025" cy="166688"/>
                  <a:chOff x="261938" y="4457700"/>
                  <a:chExt cx="200025" cy="166688"/>
                </a:xfrm>
              </p:grpSpPr>
              <p:cxnSp>
                <p:nvCxnSpPr>
                  <p:cNvPr id="67" name="Gerader Verbinder 6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70" name="Gruppieren 69"/>
              <p:cNvGrpSpPr/>
              <p:nvPr/>
            </p:nvGrpSpPr>
            <p:grpSpPr>
              <a:xfrm>
                <a:off x="661988" y="4455319"/>
                <a:ext cx="400050" cy="166688"/>
                <a:chOff x="261938" y="4457700"/>
                <a:chExt cx="400050" cy="166688"/>
              </a:xfrm>
            </p:grpSpPr>
            <p:grpSp>
              <p:nvGrpSpPr>
                <p:cNvPr id="71" name="Gruppieren 70"/>
                <p:cNvGrpSpPr/>
                <p:nvPr/>
              </p:nvGrpSpPr>
              <p:grpSpPr>
                <a:xfrm>
                  <a:off x="261938" y="4457700"/>
                  <a:ext cx="211931" cy="166688"/>
                  <a:chOff x="261938" y="4457700"/>
                  <a:chExt cx="211931" cy="166688"/>
                </a:xfrm>
              </p:grpSpPr>
              <p:cxnSp>
                <p:nvCxnSpPr>
                  <p:cNvPr id="75" name="Gerader Verbinder 7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6" name="Gerader Verbinder 75"/>
                  <p:cNvCxnSpPr/>
                  <p:nvPr/>
                </p:nvCxnSpPr>
                <p:spPr>
                  <a:xfrm flipH="1">
                    <a:off x="361951" y="4459397"/>
                    <a:ext cx="111918" cy="164991"/>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72" name="Gruppieren 71"/>
                <p:cNvGrpSpPr/>
                <p:nvPr/>
              </p:nvGrpSpPr>
              <p:grpSpPr>
                <a:xfrm>
                  <a:off x="478631" y="4457700"/>
                  <a:ext cx="183357" cy="166688"/>
                  <a:chOff x="278606" y="4457700"/>
                  <a:chExt cx="183357" cy="166688"/>
                </a:xfrm>
              </p:grpSpPr>
              <p:cxnSp>
                <p:nvCxnSpPr>
                  <p:cNvPr id="73" name="Gerader Verbinder 72"/>
                  <p:cNvCxnSpPr/>
                  <p:nvPr/>
                </p:nvCxnSpPr>
                <p:spPr>
                  <a:xfrm>
                    <a:off x="278606" y="4461779"/>
                    <a:ext cx="83344" cy="162609"/>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4" name="Gerader Verbinder 7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grpSp>
          <p:nvGrpSpPr>
            <p:cNvPr id="78" name="Gruppieren 77"/>
            <p:cNvGrpSpPr/>
            <p:nvPr/>
          </p:nvGrpSpPr>
          <p:grpSpPr>
            <a:xfrm>
              <a:off x="1059657" y="4384566"/>
              <a:ext cx="800100" cy="166688"/>
              <a:chOff x="261938" y="4455319"/>
              <a:chExt cx="800100" cy="166688"/>
            </a:xfrm>
          </p:grpSpPr>
          <p:grpSp>
            <p:nvGrpSpPr>
              <p:cNvPr id="79" name="Gruppieren 78"/>
              <p:cNvGrpSpPr/>
              <p:nvPr/>
            </p:nvGrpSpPr>
            <p:grpSpPr>
              <a:xfrm>
                <a:off x="261938" y="4455319"/>
                <a:ext cx="400050" cy="166688"/>
                <a:chOff x="261938" y="4457700"/>
                <a:chExt cx="400050" cy="166688"/>
              </a:xfrm>
            </p:grpSpPr>
            <p:grpSp>
              <p:nvGrpSpPr>
                <p:cNvPr id="87" name="Gruppieren 86"/>
                <p:cNvGrpSpPr/>
                <p:nvPr/>
              </p:nvGrpSpPr>
              <p:grpSpPr>
                <a:xfrm>
                  <a:off x="261938" y="4457700"/>
                  <a:ext cx="200025" cy="166688"/>
                  <a:chOff x="261938" y="4457700"/>
                  <a:chExt cx="200025" cy="166688"/>
                </a:xfrm>
              </p:grpSpPr>
              <p:cxnSp>
                <p:nvCxnSpPr>
                  <p:cNvPr id="91" name="Gerader Verbinder 90"/>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2" name="Gerader Verbinder 91"/>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88" name="Gruppieren 87"/>
                <p:cNvGrpSpPr/>
                <p:nvPr/>
              </p:nvGrpSpPr>
              <p:grpSpPr>
                <a:xfrm>
                  <a:off x="461963" y="4457700"/>
                  <a:ext cx="200025" cy="166688"/>
                  <a:chOff x="261938" y="4457700"/>
                  <a:chExt cx="200025" cy="166688"/>
                </a:xfrm>
              </p:grpSpPr>
              <p:cxnSp>
                <p:nvCxnSpPr>
                  <p:cNvPr id="89" name="Gerader Verbinder 8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0" name="Gerader Verbinder 8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80" name="Gruppieren 79"/>
              <p:cNvGrpSpPr/>
              <p:nvPr/>
            </p:nvGrpSpPr>
            <p:grpSpPr>
              <a:xfrm>
                <a:off x="661988" y="4455319"/>
                <a:ext cx="400050" cy="166688"/>
                <a:chOff x="261938" y="4457700"/>
                <a:chExt cx="400050" cy="166688"/>
              </a:xfrm>
            </p:grpSpPr>
            <p:grpSp>
              <p:nvGrpSpPr>
                <p:cNvPr id="81" name="Gruppieren 80"/>
                <p:cNvGrpSpPr/>
                <p:nvPr/>
              </p:nvGrpSpPr>
              <p:grpSpPr>
                <a:xfrm>
                  <a:off x="261938" y="4457700"/>
                  <a:ext cx="200025" cy="166688"/>
                  <a:chOff x="261938" y="4457700"/>
                  <a:chExt cx="200025" cy="166688"/>
                </a:xfrm>
              </p:grpSpPr>
              <p:cxnSp>
                <p:nvCxnSpPr>
                  <p:cNvPr id="85" name="Gerader Verbinder 8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86" name="Gerader Verbinder 85"/>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82" name="Gruppieren 81"/>
                <p:cNvGrpSpPr/>
                <p:nvPr/>
              </p:nvGrpSpPr>
              <p:grpSpPr>
                <a:xfrm>
                  <a:off x="461963" y="4457700"/>
                  <a:ext cx="200025" cy="166688"/>
                  <a:chOff x="261938" y="4457700"/>
                  <a:chExt cx="200025" cy="166688"/>
                </a:xfrm>
              </p:grpSpPr>
              <p:cxnSp>
                <p:nvCxnSpPr>
                  <p:cNvPr id="83" name="Gerader Verbinder 8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84" name="Gerader Verbinder 8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grpSp>
          <p:nvGrpSpPr>
            <p:cNvPr id="94" name="Gruppieren 93"/>
            <p:cNvGrpSpPr/>
            <p:nvPr/>
          </p:nvGrpSpPr>
          <p:grpSpPr>
            <a:xfrm>
              <a:off x="1862139" y="4386947"/>
              <a:ext cx="400050" cy="171450"/>
              <a:chOff x="261938" y="4457700"/>
              <a:chExt cx="400050" cy="171450"/>
            </a:xfrm>
          </p:grpSpPr>
          <p:grpSp>
            <p:nvGrpSpPr>
              <p:cNvPr id="102" name="Gruppieren 101"/>
              <p:cNvGrpSpPr/>
              <p:nvPr/>
            </p:nvGrpSpPr>
            <p:grpSpPr>
              <a:xfrm>
                <a:off x="261938" y="4457700"/>
                <a:ext cx="164305" cy="171450"/>
                <a:chOff x="261938" y="4457700"/>
                <a:chExt cx="164305" cy="171450"/>
              </a:xfrm>
            </p:grpSpPr>
            <p:cxnSp>
              <p:nvCxnSpPr>
                <p:cNvPr id="106" name="Gerader Verbinder 105"/>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7" name="Gerader Verbinder 106"/>
                <p:cNvCxnSpPr/>
                <p:nvPr/>
              </p:nvCxnSpPr>
              <p:spPr>
                <a:xfrm flipH="1">
                  <a:off x="361952" y="4466541"/>
                  <a:ext cx="64291" cy="162609"/>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03" name="Gruppieren 102"/>
              <p:cNvGrpSpPr/>
              <p:nvPr/>
            </p:nvGrpSpPr>
            <p:grpSpPr>
              <a:xfrm>
                <a:off x="428624" y="4457700"/>
                <a:ext cx="233364" cy="171450"/>
                <a:chOff x="228599" y="4457700"/>
                <a:chExt cx="233364" cy="171450"/>
              </a:xfrm>
            </p:grpSpPr>
            <p:cxnSp>
              <p:nvCxnSpPr>
                <p:cNvPr id="104" name="Gerader Verbinder 103"/>
                <p:cNvCxnSpPr/>
                <p:nvPr/>
              </p:nvCxnSpPr>
              <p:spPr>
                <a:xfrm>
                  <a:off x="228599" y="4461779"/>
                  <a:ext cx="133351" cy="167371"/>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5" name="Gerader Verbinder 104"/>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95" name="Gruppieren 94"/>
            <p:cNvGrpSpPr/>
            <p:nvPr/>
          </p:nvGrpSpPr>
          <p:grpSpPr>
            <a:xfrm>
              <a:off x="2262189" y="4386947"/>
              <a:ext cx="400050" cy="166688"/>
              <a:chOff x="261938" y="4457700"/>
              <a:chExt cx="400050" cy="166688"/>
            </a:xfrm>
          </p:grpSpPr>
          <p:grpSp>
            <p:nvGrpSpPr>
              <p:cNvPr id="96" name="Gruppieren 95"/>
              <p:cNvGrpSpPr/>
              <p:nvPr/>
            </p:nvGrpSpPr>
            <p:grpSpPr>
              <a:xfrm>
                <a:off x="261938" y="4457700"/>
                <a:ext cx="200025" cy="166688"/>
                <a:chOff x="261938" y="4457700"/>
                <a:chExt cx="200025" cy="166688"/>
              </a:xfrm>
            </p:grpSpPr>
            <p:cxnSp>
              <p:nvCxnSpPr>
                <p:cNvPr id="100" name="Gerader Verbinder 99"/>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97" name="Gruppieren 96"/>
              <p:cNvGrpSpPr/>
              <p:nvPr/>
            </p:nvGrpSpPr>
            <p:grpSpPr>
              <a:xfrm>
                <a:off x="461963" y="4457700"/>
                <a:ext cx="200025" cy="166688"/>
                <a:chOff x="261938" y="4457700"/>
                <a:chExt cx="200025" cy="166688"/>
              </a:xfrm>
            </p:grpSpPr>
            <p:cxnSp>
              <p:nvCxnSpPr>
                <p:cNvPr id="98" name="Gerader Verbinder 97"/>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108" name="Gruppieren 107"/>
            <p:cNvGrpSpPr/>
            <p:nvPr/>
          </p:nvGrpSpPr>
          <p:grpSpPr>
            <a:xfrm>
              <a:off x="2664621" y="4389328"/>
              <a:ext cx="371473" cy="166688"/>
              <a:chOff x="261938" y="4457700"/>
              <a:chExt cx="371473" cy="166688"/>
            </a:xfrm>
          </p:grpSpPr>
          <p:grpSp>
            <p:nvGrpSpPr>
              <p:cNvPr id="109" name="Gruppieren 108"/>
              <p:cNvGrpSpPr/>
              <p:nvPr/>
            </p:nvGrpSpPr>
            <p:grpSpPr>
              <a:xfrm>
                <a:off x="261938" y="4457700"/>
                <a:ext cx="200025" cy="166688"/>
                <a:chOff x="261938" y="4457700"/>
                <a:chExt cx="200025" cy="166688"/>
              </a:xfrm>
            </p:grpSpPr>
            <p:cxnSp>
              <p:nvCxnSpPr>
                <p:cNvPr id="113" name="Gerader Verbinder 11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14" name="Gerader Verbinder 11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10" name="Gruppieren 109"/>
              <p:cNvGrpSpPr/>
              <p:nvPr/>
            </p:nvGrpSpPr>
            <p:grpSpPr>
              <a:xfrm>
                <a:off x="461963" y="4457700"/>
                <a:ext cx="171448" cy="166688"/>
                <a:chOff x="261938" y="4457700"/>
                <a:chExt cx="171448" cy="166688"/>
              </a:xfrm>
            </p:grpSpPr>
            <p:cxnSp>
              <p:nvCxnSpPr>
                <p:cNvPr id="111" name="Gerader Verbinder 110"/>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12" name="Gerader Verbinder 111"/>
                <p:cNvCxnSpPr/>
                <p:nvPr/>
              </p:nvCxnSpPr>
              <p:spPr>
                <a:xfrm flipH="1">
                  <a:off x="361953" y="4464160"/>
                  <a:ext cx="71433" cy="16022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sp>
        <p:nvSpPr>
          <p:cNvPr id="130" name="Textfeld 129"/>
          <p:cNvSpPr txBox="1"/>
          <p:nvPr/>
        </p:nvSpPr>
        <p:spPr>
          <a:xfrm>
            <a:off x="3007519" y="2483932"/>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2150179</a:t>
            </a:r>
          </a:p>
        </p:txBody>
      </p:sp>
      <p:sp>
        <p:nvSpPr>
          <p:cNvPr id="134" name="Textfeld 133"/>
          <p:cNvSpPr txBox="1"/>
          <p:nvPr/>
        </p:nvSpPr>
        <p:spPr>
          <a:xfrm>
            <a:off x="3007519" y="3410282"/>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2172419</a:t>
            </a:r>
          </a:p>
        </p:txBody>
      </p:sp>
      <p:sp>
        <p:nvSpPr>
          <p:cNvPr id="135" name="Textfeld 134"/>
          <p:cNvSpPr txBox="1"/>
          <p:nvPr/>
        </p:nvSpPr>
        <p:spPr>
          <a:xfrm>
            <a:off x="3007519" y="4322257"/>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2179375</a:t>
            </a:r>
          </a:p>
        </p:txBody>
      </p:sp>
      <p:graphicFrame>
        <p:nvGraphicFramePr>
          <p:cNvPr id="137" name="Tabelle 5"/>
          <p:cNvGraphicFramePr>
            <a:graphicFrameLocks noGrp="1"/>
          </p:cNvGraphicFramePr>
          <p:nvPr>
            <p:extLst>
              <p:ext uri="{D42A27DB-BD31-4B8C-83A1-F6EECF244321}">
                <p14:modId xmlns:p14="http://schemas.microsoft.com/office/powerpoint/2010/main" val="2589054475"/>
              </p:ext>
            </p:extLst>
          </p:nvPr>
        </p:nvGraphicFramePr>
        <p:xfrm>
          <a:off x="3758969" y="1793345"/>
          <a:ext cx="1152000" cy="34137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index</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4636758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4637310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7854367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7856347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11241655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11245605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48" name="Textfeld 147"/>
          <p:cNvSpPr txBox="1"/>
          <p:nvPr/>
        </p:nvSpPr>
        <p:spPr>
          <a:xfrm>
            <a:off x="3026569" y="183578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187" name="Gruppieren 186"/>
          <p:cNvGrpSpPr/>
          <p:nvPr/>
        </p:nvGrpSpPr>
        <p:grpSpPr>
          <a:xfrm>
            <a:off x="3902622" y="5197592"/>
            <a:ext cx="400050" cy="166688"/>
            <a:chOff x="261938" y="4457700"/>
            <a:chExt cx="400050" cy="166688"/>
          </a:xfrm>
        </p:grpSpPr>
        <p:grpSp>
          <p:nvGrpSpPr>
            <p:cNvPr id="195" name="Gruppieren 194"/>
            <p:cNvGrpSpPr/>
            <p:nvPr/>
          </p:nvGrpSpPr>
          <p:grpSpPr>
            <a:xfrm>
              <a:off x="261938" y="4457700"/>
              <a:ext cx="200025" cy="166688"/>
              <a:chOff x="261938" y="4457700"/>
              <a:chExt cx="200025" cy="166688"/>
            </a:xfrm>
          </p:grpSpPr>
          <p:cxnSp>
            <p:nvCxnSpPr>
              <p:cNvPr id="199" name="Gerader Verbinder 19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0" name="Gerader Verbinder 19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96" name="Gruppieren 195"/>
            <p:cNvGrpSpPr/>
            <p:nvPr/>
          </p:nvGrpSpPr>
          <p:grpSpPr>
            <a:xfrm>
              <a:off x="461963" y="4457700"/>
              <a:ext cx="200025" cy="166688"/>
              <a:chOff x="261938" y="4457700"/>
              <a:chExt cx="200025" cy="166688"/>
            </a:xfrm>
          </p:grpSpPr>
          <p:cxnSp>
            <p:nvCxnSpPr>
              <p:cNvPr id="197" name="Gerader Verbinder 19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8" name="Gerader Verbinder 19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01" name="Gruppieren 200"/>
          <p:cNvGrpSpPr/>
          <p:nvPr/>
        </p:nvGrpSpPr>
        <p:grpSpPr>
          <a:xfrm>
            <a:off x="4301854" y="5198527"/>
            <a:ext cx="400050" cy="166688"/>
            <a:chOff x="261938" y="4457700"/>
            <a:chExt cx="400050" cy="166688"/>
          </a:xfrm>
        </p:grpSpPr>
        <p:grpSp>
          <p:nvGrpSpPr>
            <p:cNvPr id="202" name="Gruppieren 201"/>
            <p:cNvGrpSpPr/>
            <p:nvPr/>
          </p:nvGrpSpPr>
          <p:grpSpPr>
            <a:xfrm>
              <a:off x="261938" y="4457700"/>
              <a:ext cx="200025" cy="166688"/>
              <a:chOff x="261938" y="4457700"/>
              <a:chExt cx="200025" cy="166688"/>
            </a:xfrm>
          </p:grpSpPr>
          <p:cxnSp>
            <p:nvCxnSpPr>
              <p:cNvPr id="206" name="Gerader Verbinder 205"/>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7" name="Gerader Verbinder 206"/>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03" name="Gruppieren 202"/>
            <p:cNvGrpSpPr/>
            <p:nvPr/>
          </p:nvGrpSpPr>
          <p:grpSpPr>
            <a:xfrm>
              <a:off x="461963" y="4457700"/>
              <a:ext cx="200025" cy="166688"/>
              <a:chOff x="261938" y="4457700"/>
              <a:chExt cx="200025" cy="166688"/>
            </a:xfrm>
          </p:grpSpPr>
          <p:cxnSp>
            <p:nvCxnSpPr>
              <p:cNvPr id="204" name="Gerader Verbinder 203"/>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5" name="Gerader Verbinder 204"/>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09" name="Gruppieren 208"/>
          <p:cNvGrpSpPr/>
          <p:nvPr/>
        </p:nvGrpSpPr>
        <p:grpSpPr>
          <a:xfrm>
            <a:off x="4703890" y="5199462"/>
            <a:ext cx="207012" cy="166688"/>
            <a:chOff x="261938" y="4457700"/>
            <a:chExt cx="207012" cy="166688"/>
          </a:xfrm>
        </p:grpSpPr>
        <p:cxnSp>
          <p:nvCxnSpPr>
            <p:cNvPr id="213" name="Gerader Verbinder 21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14" name="Gerader Verbinder 213"/>
            <p:cNvCxnSpPr/>
            <p:nvPr/>
          </p:nvCxnSpPr>
          <p:spPr>
            <a:xfrm flipH="1">
              <a:off x="361951" y="4465098"/>
              <a:ext cx="106999" cy="15929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17" name="Textfeld 216"/>
          <p:cNvSpPr txBox="1"/>
          <p:nvPr/>
        </p:nvSpPr>
        <p:spPr>
          <a:xfrm>
            <a:off x="3007519" y="2798702"/>
            <a:ext cx="77938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2156731</a:t>
            </a:r>
            <a:endParaRPr lang="en-US" sz="1100" dirty="0">
              <a:latin typeface="Courier New" panose="02070309020205020404" pitchFamily="49" charset="0"/>
              <a:cs typeface="Courier New" panose="02070309020205020404" pitchFamily="49" charset="0"/>
            </a:endParaRPr>
          </a:p>
        </p:txBody>
      </p:sp>
      <p:graphicFrame>
        <p:nvGraphicFramePr>
          <p:cNvPr id="218" name="Tabelle 5"/>
          <p:cNvGraphicFramePr>
            <a:graphicFrameLocks noGrp="1"/>
          </p:cNvGraphicFramePr>
          <p:nvPr>
            <p:extLst>
              <p:ext uri="{D42A27DB-BD31-4B8C-83A1-F6EECF244321}">
                <p14:modId xmlns:p14="http://schemas.microsoft.com/office/powerpoint/2010/main" val="4116207669"/>
              </p:ext>
            </p:extLst>
          </p:nvPr>
        </p:nvGraphicFramePr>
        <p:xfrm>
          <a:off x="6192130" y="1766283"/>
          <a:ext cx="1152000" cy="34137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target</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10187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15633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27996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7267831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220" name="Gruppieren 219"/>
          <p:cNvGrpSpPr/>
          <p:nvPr/>
        </p:nvGrpSpPr>
        <p:grpSpPr>
          <a:xfrm>
            <a:off x="6188145" y="5168148"/>
            <a:ext cx="400050" cy="166688"/>
            <a:chOff x="261938" y="4457700"/>
            <a:chExt cx="400050" cy="166688"/>
          </a:xfrm>
        </p:grpSpPr>
        <p:grpSp>
          <p:nvGrpSpPr>
            <p:cNvPr id="231" name="Gruppieren 230"/>
            <p:cNvGrpSpPr/>
            <p:nvPr/>
          </p:nvGrpSpPr>
          <p:grpSpPr>
            <a:xfrm>
              <a:off x="261938" y="4457700"/>
              <a:ext cx="200025" cy="166688"/>
              <a:chOff x="261938" y="4457700"/>
              <a:chExt cx="200025" cy="166688"/>
            </a:xfrm>
          </p:grpSpPr>
          <p:cxnSp>
            <p:nvCxnSpPr>
              <p:cNvPr id="235" name="Gerader Verbinder 23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6" name="Gerader Verbinder 235"/>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32" name="Gruppieren 231"/>
            <p:cNvGrpSpPr/>
            <p:nvPr/>
          </p:nvGrpSpPr>
          <p:grpSpPr>
            <a:xfrm>
              <a:off x="461963" y="4457700"/>
              <a:ext cx="200025" cy="166688"/>
              <a:chOff x="261938" y="4457700"/>
              <a:chExt cx="200025" cy="166688"/>
            </a:xfrm>
          </p:grpSpPr>
          <p:cxnSp>
            <p:nvCxnSpPr>
              <p:cNvPr id="233" name="Gerader Verbinder 23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4" name="Gerader Verbinder 23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21" name="Gruppieren 220"/>
          <p:cNvGrpSpPr/>
          <p:nvPr/>
        </p:nvGrpSpPr>
        <p:grpSpPr>
          <a:xfrm>
            <a:off x="6587377" y="5169083"/>
            <a:ext cx="400050" cy="166688"/>
            <a:chOff x="261938" y="4457700"/>
            <a:chExt cx="400050" cy="166688"/>
          </a:xfrm>
        </p:grpSpPr>
        <p:grpSp>
          <p:nvGrpSpPr>
            <p:cNvPr id="225" name="Gruppieren 224"/>
            <p:cNvGrpSpPr/>
            <p:nvPr/>
          </p:nvGrpSpPr>
          <p:grpSpPr>
            <a:xfrm>
              <a:off x="261938" y="4457700"/>
              <a:ext cx="200025" cy="166688"/>
              <a:chOff x="261938" y="4457700"/>
              <a:chExt cx="200025" cy="166688"/>
            </a:xfrm>
          </p:grpSpPr>
          <p:cxnSp>
            <p:nvCxnSpPr>
              <p:cNvPr id="229" name="Gerader Verbinder 22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0" name="Gerader Verbinder 22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26" name="Gruppieren 225"/>
            <p:cNvGrpSpPr/>
            <p:nvPr/>
          </p:nvGrpSpPr>
          <p:grpSpPr>
            <a:xfrm>
              <a:off x="461963" y="4457700"/>
              <a:ext cx="200025" cy="166688"/>
              <a:chOff x="261938" y="4457700"/>
              <a:chExt cx="200025" cy="166688"/>
            </a:xfrm>
          </p:grpSpPr>
          <p:cxnSp>
            <p:nvCxnSpPr>
              <p:cNvPr id="227" name="Gerader Verbinder 22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8" name="Gerader Verbinder 22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22" name="Gruppieren 221"/>
          <p:cNvGrpSpPr/>
          <p:nvPr/>
        </p:nvGrpSpPr>
        <p:grpSpPr>
          <a:xfrm>
            <a:off x="6989413" y="5170018"/>
            <a:ext cx="207012" cy="166688"/>
            <a:chOff x="261938" y="4457700"/>
            <a:chExt cx="207012" cy="166688"/>
          </a:xfrm>
        </p:grpSpPr>
        <p:cxnSp>
          <p:nvCxnSpPr>
            <p:cNvPr id="223" name="Gerader Verbinder 22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4" name="Gerader Verbinder 223"/>
            <p:cNvCxnSpPr/>
            <p:nvPr/>
          </p:nvCxnSpPr>
          <p:spPr>
            <a:xfrm flipH="1">
              <a:off x="361951" y="4465098"/>
              <a:ext cx="106999" cy="15929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37" name="Rechteck 236"/>
          <p:cNvSpPr/>
          <p:nvPr/>
        </p:nvSpPr>
        <p:spPr>
          <a:xfrm>
            <a:off x="5412446" y="2483932"/>
            <a:ext cx="779381" cy="261610"/>
          </a:xfrm>
          <a:prstGeom prst="rect">
            <a:avLst/>
          </a:prstGeom>
        </p:spPr>
        <p:txBody>
          <a:bodyPr wrap="none">
            <a:spAutoFit/>
          </a:bodyPr>
          <a:lstStyle/>
          <a:p>
            <a:pPr algn="r"/>
            <a:r>
              <a:rPr lang="en-US" sz="1100" dirty="0">
                <a:latin typeface="Courier New" panose="02070309020205020404" pitchFamily="49" charset="0"/>
                <a:ea typeface="Cambria Math" panose="02040503050406030204" pitchFamily="18" charset="0"/>
                <a:cs typeface="Courier New" panose="02070309020205020404" pitchFamily="49" charset="0"/>
              </a:rPr>
              <a:t>4636758</a:t>
            </a:r>
          </a:p>
        </p:txBody>
      </p:sp>
      <p:sp>
        <p:nvSpPr>
          <p:cNvPr id="239" name="Textfeld 238"/>
          <p:cNvSpPr txBox="1"/>
          <p:nvPr/>
        </p:nvSpPr>
        <p:spPr>
          <a:xfrm>
            <a:off x="5519551" y="183578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aphicFrame>
        <p:nvGraphicFramePr>
          <p:cNvPr id="240" name="Tabelle 5"/>
          <p:cNvGraphicFramePr>
            <a:graphicFrameLocks noGrp="1"/>
          </p:cNvGraphicFramePr>
          <p:nvPr>
            <p:extLst>
              <p:ext uri="{D42A27DB-BD31-4B8C-83A1-F6EECF244321}">
                <p14:modId xmlns:p14="http://schemas.microsoft.com/office/powerpoint/2010/main" val="3817271513"/>
              </p:ext>
            </p:extLst>
          </p:nvPr>
        </p:nvGraphicFramePr>
        <p:xfrm>
          <a:off x="8054655" y="1769806"/>
          <a:ext cx="1224000" cy="4179149"/>
        </p:xfrm>
        <a:graphic>
          <a:graphicData uri="http://schemas.openxmlformats.org/drawingml/2006/table">
            <a:tbl>
              <a:tblPr firstRow="1" bandRow="1">
                <a:tableStyleId>{5940675A-B579-460E-94D1-54222C63F5DA}</a:tableStyleId>
              </a:tblPr>
              <a:tblGrid>
                <a:gridCol w="1224000"/>
              </a:tblGrid>
              <a:tr h="362611">
                <a:tc>
                  <a:txBody>
                    <a:bodyPr/>
                    <a:lstStyle/>
                    <a:p>
                      <a:pPr marL="0" indent="0" algn="ctr"/>
                      <a:r>
                        <a:rPr lang="en-US" sz="1800" dirty="0" smtClean="0">
                          <a:solidFill>
                            <a:schemeClr val="bg1"/>
                          </a:solidFill>
                        </a:rPr>
                        <a:t>BUFFER</a:t>
                      </a:r>
                      <a:endParaRPr lang="en-US" sz="1800" dirty="0">
                        <a:solidFill>
                          <a:schemeClr val="bg1"/>
                        </a:solidFill>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3813389">
                <a:tc>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268" name="Gruppieren 267"/>
          <p:cNvGrpSpPr/>
          <p:nvPr/>
        </p:nvGrpSpPr>
        <p:grpSpPr>
          <a:xfrm>
            <a:off x="7196667" y="5176754"/>
            <a:ext cx="147109" cy="179494"/>
            <a:chOff x="259219" y="4450889"/>
            <a:chExt cx="147109" cy="179494"/>
          </a:xfrm>
        </p:grpSpPr>
        <p:cxnSp>
          <p:nvCxnSpPr>
            <p:cNvPr id="269" name="Gerader Verbinder 268"/>
            <p:cNvCxnSpPr/>
            <p:nvPr/>
          </p:nvCxnSpPr>
          <p:spPr>
            <a:xfrm>
              <a:off x="259219" y="4450889"/>
              <a:ext cx="74506" cy="179494"/>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70" name="Gerader Verbinder 269"/>
            <p:cNvCxnSpPr/>
            <p:nvPr/>
          </p:nvCxnSpPr>
          <p:spPr>
            <a:xfrm flipH="1">
              <a:off x="332508" y="4456022"/>
              <a:ext cx="73820" cy="17145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80" name="Gruppieren 279"/>
          <p:cNvGrpSpPr/>
          <p:nvPr/>
        </p:nvGrpSpPr>
        <p:grpSpPr>
          <a:xfrm>
            <a:off x="3758534" y="5204225"/>
            <a:ext cx="144334" cy="163400"/>
            <a:chOff x="261938" y="4457700"/>
            <a:chExt cx="144334" cy="163400"/>
          </a:xfrm>
        </p:grpSpPr>
        <p:cxnSp>
          <p:nvCxnSpPr>
            <p:cNvPr id="281" name="Gerader Verbinder 280"/>
            <p:cNvCxnSpPr/>
            <p:nvPr/>
          </p:nvCxnSpPr>
          <p:spPr>
            <a:xfrm>
              <a:off x="261938" y="4457700"/>
              <a:ext cx="72897" cy="163400"/>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82" name="Gerader Verbinder 281"/>
            <p:cNvCxnSpPr/>
            <p:nvPr/>
          </p:nvCxnSpPr>
          <p:spPr>
            <a:xfrm flipH="1">
              <a:off x="332454" y="4459174"/>
              <a:ext cx="73818" cy="157163"/>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aphicFrame>
        <p:nvGraphicFramePr>
          <p:cNvPr id="4" name="Tabelle 3"/>
          <p:cNvGraphicFramePr>
            <a:graphicFrameLocks noGrp="1"/>
          </p:cNvGraphicFramePr>
          <p:nvPr>
            <p:extLst>
              <p:ext uri="{D42A27DB-BD31-4B8C-83A1-F6EECF244321}">
                <p14:modId xmlns:p14="http://schemas.microsoft.com/office/powerpoint/2010/main" val="596307140"/>
              </p:ext>
            </p:extLst>
          </p:nvPr>
        </p:nvGraphicFramePr>
        <p:xfrm>
          <a:off x="261920" y="604568"/>
          <a:ext cx="8922800" cy="795120"/>
        </p:xfrm>
        <a:graphic>
          <a:graphicData uri="http://schemas.openxmlformats.org/drawingml/2006/table">
            <a:tbl>
              <a:tblPr firstRow="1" bandRow="1">
                <a:tableStyleId>{2D5ABB26-0587-4C30-8999-92F81FD0307C}</a:tableStyleId>
              </a:tblPr>
              <a:tblGrid>
                <a:gridCol w="748280"/>
                <a:gridCol w="1216280"/>
                <a:gridCol w="784280"/>
                <a:gridCol w="1144280"/>
                <a:gridCol w="1036280"/>
                <a:gridCol w="964280"/>
                <a:gridCol w="568280"/>
                <a:gridCol w="712280"/>
                <a:gridCol w="820280"/>
                <a:gridCol w="928280"/>
              </a:tblGrid>
              <a:tr h="252000">
                <a:tc>
                  <a:txBody>
                    <a:bodyPr/>
                    <a:lstStyle/>
                    <a:p>
                      <a:pPr algn="l"/>
                      <a:r>
                        <a:rPr lang="en-US" sz="1200" dirty="0" smtClean="0">
                          <a:solidFill>
                            <a:srgbClr val="00B0F0"/>
                          </a:solidFill>
                        </a:rPr>
                        <a:t>❶</a:t>
                      </a:r>
                      <a:r>
                        <a:rPr lang="en-US" sz="1200" dirty="0" smtClean="0">
                          <a:solidFill>
                            <a:schemeClr val="tx1"/>
                          </a:solidFill>
                        </a:rPr>
                        <a:t>BMW</a:t>
                      </a:r>
                      <a:endParaRPr lang="en-US" sz="1200" dirty="0">
                        <a:solidFill>
                          <a:schemeClr val="tx1"/>
                        </a:solidFill>
                      </a:endParaRPr>
                    </a:p>
                  </a:txBody>
                  <a:tcPr marL="3600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FORSCHUNG</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❸</a:t>
                      </a:r>
                      <a:r>
                        <a:rPr lang="en-US" sz="1200" dirty="0" smtClean="0">
                          <a:solidFill>
                            <a:schemeClr val="tx1"/>
                          </a:solidFill>
                        </a:rPr>
                        <a:t>80992</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❹</a:t>
                      </a:r>
                      <a:r>
                        <a:rPr lang="en-US" sz="1200" dirty="0" smtClean="0">
                          <a:solidFill>
                            <a:schemeClr val="tx1"/>
                          </a:solidFill>
                        </a:rPr>
                        <a:t>MUENCHEN</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HANAUER</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TECHNIK</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46</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UND</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smtClean="0">
                          <a:solidFill>
                            <a:srgbClr val="00B0F0"/>
                          </a:solidFill>
                        </a:rPr>
                        <a:t>❶</a:t>
                      </a:r>
                      <a:r>
                        <a:rPr lang="en-US" sz="1200" smtClean="0">
                          <a:solidFill>
                            <a:schemeClr val="tx1"/>
                          </a:solidFill>
                        </a:rPr>
                        <a:t>GMBH</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STRASSE</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9.1</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1.2</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0.9</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1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cs typeface="Courier New" panose="02070309020205020404" pitchFamily="49" charset="0"/>
                        </a:rPr>
                        <a:t>2150179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cs typeface="Courier New" panose="02070309020205020404" pitchFamily="49" charset="0"/>
                        </a:rPr>
                        <a:t>2172419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2179375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2188161</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2182779</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ea typeface="Cambria Math" panose="02040503050406030204" pitchFamily="18" charset="0"/>
                          <a:cs typeface="Courier New" panose="02070309020205020404" pitchFamily="49" charset="0"/>
                        </a:rPr>
                        <a:t>2186398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ea typeface="Cambria Math" panose="02040503050406030204" pitchFamily="18" charset="0"/>
                          <a:cs typeface="Courier New" panose="02070309020205020404" pitchFamily="49" charset="0"/>
                        </a:rPr>
                        <a:t>2187556</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2188227</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2188228</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9" name="Textfeld 8"/>
          <p:cNvSpPr txBox="1"/>
          <p:nvPr/>
        </p:nvSpPr>
        <p:spPr>
          <a:xfrm>
            <a:off x="261938" y="1184939"/>
            <a:ext cx="747712"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2150179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42" name="Textfeld 141"/>
          <p:cNvSpPr txBox="1"/>
          <p:nvPr/>
        </p:nvSpPr>
        <p:spPr>
          <a:xfrm>
            <a:off x="1004887" y="1184939"/>
            <a:ext cx="123825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2172419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43" name="Textfeld 142"/>
          <p:cNvSpPr txBox="1"/>
          <p:nvPr/>
        </p:nvSpPr>
        <p:spPr>
          <a:xfrm>
            <a:off x="2214563" y="1184939"/>
            <a:ext cx="790576"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2179375</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 name="Textfeld 9"/>
          <p:cNvSpPr txBox="1"/>
          <p:nvPr/>
        </p:nvSpPr>
        <p:spPr>
          <a:xfrm>
            <a:off x="188007" y="1486969"/>
            <a:ext cx="735842" cy="307777"/>
          </a:xfrm>
          <a:prstGeom prst="rect">
            <a:avLst/>
          </a:prstGeom>
          <a:noFill/>
        </p:spPr>
        <p:txBody>
          <a:bodyPr wrap="none" rtlCol="0">
            <a:spAutoFit/>
          </a:bodyPr>
          <a:lstStyle/>
          <a:p>
            <a:r>
              <a:rPr lang="en-US" sz="1400" dirty="0" smtClean="0"/>
              <a:t>registry</a:t>
            </a:r>
            <a:endParaRPr lang="en-US" sz="1400" dirty="0"/>
          </a:p>
        </p:txBody>
      </p:sp>
      <p:sp>
        <p:nvSpPr>
          <p:cNvPr id="145" name="Textfeld 144"/>
          <p:cNvSpPr txBox="1"/>
          <p:nvPr/>
        </p:nvSpPr>
        <p:spPr>
          <a:xfrm>
            <a:off x="3664721" y="1476999"/>
            <a:ext cx="815993" cy="307777"/>
          </a:xfrm>
          <a:prstGeom prst="rect">
            <a:avLst/>
          </a:prstGeom>
          <a:noFill/>
        </p:spPr>
        <p:txBody>
          <a:bodyPr wrap="none" rtlCol="0">
            <a:spAutoFit/>
          </a:bodyPr>
          <a:lstStyle/>
          <a:p>
            <a:r>
              <a:rPr lang="en-US" sz="1400" dirty="0" err="1" smtClean="0"/>
              <a:t>regindex</a:t>
            </a:r>
            <a:endParaRPr lang="en-US" sz="1400" dirty="0"/>
          </a:p>
        </p:txBody>
      </p:sp>
      <p:sp>
        <p:nvSpPr>
          <p:cNvPr id="146" name="Textfeld 145"/>
          <p:cNvSpPr txBox="1"/>
          <p:nvPr/>
        </p:nvSpPr>
        <p:spPr>
          <a:xfrm>
            <a:off x="6098848" y="1449938"/>
            <a:ext cx="526106" cy="307777"/>
          </a:xfrm>
          <a:prstGeom prst="rect">
            <a:avLst/>
          </a:prstGeom>
          <a:noFill/>
        </p:spPr>
        <p:txBody>
          <a:bodyPr wrap="none" rtlCol="0">
            <a:spAutoFit/>
          </a:bodyPr>
          <a:lstStyle/>
          <a:p>
            <a:r>
              <a:rPr lang="en-US" sz="1400" dirty="0" smtClean="0"/>
              <a:t>base</a:t>
            </a:r>
            <a:endParaRPr lang="en-US" sz="1400" dirty="0"/>
          </a:p>
        </p:txBody>
      </p:sp>
      <p:graphicFrame>
        <p:nvGraphicFramePr>
          <p:cNvPr id="5" name="Tabelle 4"/>
          <p:cNvGraphicFramePr>
            <a:graphicFrameLocks noGrp="1"/>
          </p:cNvGraphicFramePr>
          <p:nvPr>
            <p:extLst>
              <p:ext uri="{D42A27DB-BD31-4B8C-83A1-F6EECF244321}">
                <p14:modId xmlns:p14="http://schemas.microsoft.com/office/powerpoint/2010/main" val="1072019932"/>
              </p:ext>
            </p:extLst>
          </p:nvPr>
        </p:nvGraphicFramePr>
        <p:xfrm>
          <a:off x="9281653" y="1769806"/>
          <a:ext cx="2753940" cy="2131200"/>
        </p:xfrm>
        <a:graphic>
          <a:graphicData uri="http://schemas.openxmlformats.org/drawingml/2006/table">
            <a:tbl>
              <a:tblPr firstRow="1" bandRow="1">
                <a:tableStyleId>{2D5ABB26-0587-4C30-8999-92F81FD0307C}</a:tableStyleId>
              </a:tblPr>
              <a:tblGrid>
                <a:gridCol w="1759973"/>
                <a:gridCol w="429108"/>
                <a:gridCol w="564859"/>
              </a:tblGrid>
              <a:tr h="367200">
                <a:tc>
                  <a:txBody>
                    <a:bodyPr/>
                    <a:lstStyle/>
                    <a:p>
                      <a:r>
                        <a:rPr lang="en-US" sz="1200" dirty="0" smtClean="0">
                          <a:solidFill>
                            <a:schemeClr val="bg1"/>
                          </a:solidFill>
                        </a:rPr>
                        <a:t>AGGREGATION</a:t>
                      </a:r>
                      <a:endParaRPr lang="en-US" sz="12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algn="ctr"/>
                      <a:r>
                        <a:rPr lang="el-GR" sz="1400" dirty="0" smtClean="0">
                          <a:solidFill>
                            <a:schemeClr val="bg1"/>
                          </a:solidFill>
                          <a:latin typeface="Cambria Math" panose="02040503050406030204" pitchFamily="18" charset="0"/>
                          <a:ea typeface="Cambria Math" panose="02040503050406030204" pitchFamily="18" charset="0"/>
                        </a:rPr>
                        <a:t>Σ</a:t>
                      </a:r>
                      <a:endParaRPr lang="en-US" sz="14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algn="r"/>
                      <a:r>
                        <a:rPr lang="en-US" sz="1200" dirty="0" smtClean="0">
                          <a:solidFill>
                            <a:schemeClr val="bg1"/>
                          </a:solidFill>
                        </a:rPr>
                        <a:t>+21.2</a:t>
                      </a:r>
                      <a:endParaRPr lang="en-US" sz="12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52000">
                <a:tc>
                  <a:txBody>
                    <a:bodyPr/>
                    <a:lstStyle/>
                    <a:p>
                      <a:r>
                        <a:rPr lang="en-US" sz="1200" dirty="0" smtClean="0"/>
                        <a:t>BMW, FORSCHUNG, 80992</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c>
                  <a:txBody>
                    <a:bodyPr/>
                    <a:lstStyle/>
                    <a:p>
                      <a:pPr algn="r"/>
                      <a:r>
                        <a:rPr lang="en-US" sz="1200" dirty="0" smtClean="0"/>
                        <a:t>78.8</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c>
                  <a:txBody>
                    <a:bodyPr/>
                    <a:lstStyle/>
                    <a:p>
                      <a:pPr algn="r"/>
                      <a:r>
                        <a:rPr lang="en-US" sz="1200" dirty="0" smtClean="0"/>
                        <a:t>100.0</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r>
              <a:tr h="252000">
                <a:tc>
                  <a:txBody>
                    <a:bodyPr/>
                    <a:lstStyle/>
                    <a:p>
                      <a:r>
                        <a:rPr lang="en-US" sz="1200" dirty="0" smtClean="0"/>
                        <a:t>BMW, FORSCHUNG</a:t>
                      </a:r>
                      <a:endParaRPr lang="en-US" sz="1200" dirty="0"/>
                    </a:p>
                  </a:txBody>
                  <a:tcPr marL="45720" marR="45720" marT="18000" marB="18000" anchor="ctr"/>
                </a:tc>
                <a:tc>
                  <a:txBody>
                    <a:bodyPr/>
                    <a:lstStyle/>
                    <a:p>
                      <a:pPr algn="r"/>
                      <a:r>
                        <a:rPr lang="en-US" sz="1200" dirty="0" smtClean="0"/>
                        <a:t>68.8</a:t>
                      </a:r>
                      <a:endParaRPr lang="en-US" sz="1200" dirty="0"/>
                    </a:p>
                  </a:txBody>
                  <a:tcPr marL="45720" marR="45720" marT="18000" marB="18000" anchor="ctr"/>
                </a:tc>
                <a:tc>
                  <a:txBody>
                    <a:bodyPr/>
                    <a:lstStyle/>
                    <a:p>
                      <a:pPr algn="r"/>
                      <a:r>
                        <a:rPr lang="en-US" sz="1200" dirty="0" smtClean="0"/>
                        <a:t>90.0</a:t>
                      </a:r>
                      <a:endParaRPr lang="en-US" sz="1200" dirty="0"/>
                    </a:p>
                  </a:txBody>
                  <a:tcPr marL="45720" marR="45720" marT="18000" marB="18000" anchor="ctr"/>
                </a:tc>
              </a:tr>
              <a:tr h="252000">
                <a:tc>
                  <a:txBody>
                    <a:bodyPr/>
                    <a:lstStyle/>
                    <a:p>
                      <a:r>
                        <a:rPr lang="en-US" sz="1200" dirty="0" smtClean="0"/>
                        <a:t>BMW, 80992</a:t>
                      </a:r>
                      <a:endParaRPr lang="en-US" sz="1200" dirty="0"/>
                    </a:p>
                  </a:txBody>
                  <a:tcPr marL="45720" marR="45720" marT="18000" marB="18000" anchor="ctr"/>
                </a:tc>
                <a:tc>
                  <a:txBody>
                    <a:bodyPr/>
                    <a:lstStyle/>
                    <a:p>
                      <a:pPr algn="r"/>
                      <a:r>
                        <a:rPr lang="en-US" sz="1200" dirty="0" smtClean="0"/>
                        <a:t>63.8</a:t>
                      </a:r>
                      <a:endParaRPr lang="en-US" sz="1200" dirty="0"/>
                    </a:p>
                  </a:txBody>
                  <a:tcPr marL="45720" marR="45720" marT="18000" marB="18000" anchor="ctr"/>
                </a:tc>
                <a:tc>
                  <a:txBody>
                    <a:bodyPr/>
                    <a:lstStyle/>
                    <a:p>
                      <a:pPr algn="r"/>
                      <a:r>
                        <a:rPr lang="en-US" sz="1200" dirty="0" smtClean="0"/>
                        <a:t>85.0</a:t>
                      </a:r>
                      <a:endParaRPr lang="en-US" sz="1200" dirty="0"/>
                    </a:p>
                  </a:txBody>
                  <a:tcPr marL="45720" marR="45720" marT="18000" marB="18000" anchor="ctr"/>
                </a:tc>
              </a:tr>
              <a:tr h="252000">
                <a:tc>
                  <a:txBody>
                    <a:bodyPr/>
                    <a:lstStyle/>
                    <a:p>
                      <a:r>
                        <a:rPr lang="en-US" sz="1200" dirty="0" smtClean="0"/>
                        <a:t>BMW</a:t>
                      </a:r>
                      <a:endParaRPr lang="en-US" sz="1200" dirty="0"/>
                    </a:p>
                  </a:txBody>
                  <a:tcPr marL="45720" marR="45720" marT="18000" marB="18000" anchor="ctr"/>
                </a:tc>
                <a:tc>
                  <a:txBody>
                    <a:bodyPr/>
                    <a:lstStyle/>
                    <a:p>
                      <a:pPr algn="r"/>
                      <a:r>
                        <a:rPr lang="en-US" sz="1200" dirty="0" smtClean="0"/>
                        <a:t>53.8</a:t>
                      </a:r>
                      <a:endParaRPr lang="en-US" sz="1200" dirty="0"/>
                    </a:p>
                  </a:txBody>
                  <a:tcPr marL="45720" marR="45720" marT="18000" marB="18000" anchor="ctr"/>
                </a:tc>
                <a:tc>
                  <a:txBody>
                    <a:bodyPr/>
                    <a:lstStyle/>
                    <a:p>
                      <a:pPr algn="r"/>
                      <a:r>
                        <a:rPr lang="en-US" sz="1200" dirty="0" smtClean="0"/>
                        <a:t>75.0</a:t>
                      </a:r>
                      <a:endParaRPr lang="en-US" sz="1200" dirty="0"/>
                    </a:p>
                  </a:txBody>
                  <a:tcPr marL="45720" marR="45720" marT="18000" marB="18000" anchor="ctr"/>
                </a:tc>
              </a:tr>
              <a:tr h="252000">
                <a:tc>
                  <a:txBody>
                    <a:bodyPr/>
                    <a:lstStyle/>
                    <a:p>
                      <a:r>
                        <a:rPr lang="en-US" sz="1200" dirty="0" smtClean="0"/>
                        <a:t>FORSCHUNG, 80992</a:t>
                      </a:r>
                      <a:endParaRPr lang="en-US" sz="1200" dirty="0"/>
                    </a:p>
                  </a:txBody>
                  <a:tcPr marL="45720" marR="45720" marT="18000" marB="18000" anchor="ctr"/>
                </a:tc>
                <a:tc>
                  <a:txBody>
                    <a:bodyPr/>
                    <a:lstStyle/>
                    <a:p>
                      <a:pPr algn="r"/>
                      <a:r>
                        <a:rPr lang="en-US" sz="1200" dirty="0" smtClean="0"/>
                        <a:t>25.0</a:t>
                      </a:r>
                      <a:endParaRPr lang="en-US" sz="1200" dirty="0"/>
                    </a:p>
                  </a:txBody>
                  <a:tcPr marL="45720" marR="45720" marT="18000" marB="18000" anchor="ctr"/>
                </a:tc>
                <a:tc>
                  <a:txBody>
                    <a:bodyPr/>
                    <a:lstStyle/>
                    <a:p>
                      <a:pPr algn="r"/>
                      <a:r>
                        <a:rPr lang="en-US" sz="1200" dirty="0" smtClean="0"/>
                        <a:t>46.2</a:t>
                      </a:r>
                      <a:endParaRPr lang="en-US" sz="1200" dirty="0"/>
                    </a:p>
                  </a:txBody>
                  <a:tcPr marL="45720" marR="45720" marT="18000" marB="18000" anchor="ctr"/>
                </a:tc>
              </a:tr>
              <a:tr h="252000">
                <a:tc>
                  <a:txBody>
                    <a:bodyPr/>
                    <a:lstStyle/>
                    <a:p>
                      <a:r>
                        <a:rPr lang="en-US" sz="1200" dirty="0" smtClean="0"/>
                        <a:t>FORSCHUNG</a:t>
                      </a:r>
                      <a:endParaRPr lang="en-US" sz="1200" dirty="0"/>
                    </a:p>
                  </a:txBody>
                  <a:tcPr marL="45720" marR="45720" marT="18000" marB="18000" anchor="ctr"/>
                </a:tc>
                <a:tc>
                  <a:txBody>
                    <a:bodyPr/>
                    <a:lstStyle/>
                    <a:p>
                      <a:pPr algn="r"/>
                      <a:r>
                        <a:rPr lang="en-US" sz="1200" dirty="0" smtClean="0"/>
                        <a:t>15.0</a:t>
                      </a:r>
                      <a:endParaRPr lang="en-US" sz="1200" dirty="0"/>
                    </a:p>
                  </a:txBody>
                  <a:tcPr marL="45720" marR="45720" marT="18000" marB="18000" anchor="ctr"/>
                </a:tc>
                <a:tc>
                  <a:txBody>
                    <a:bodyPr/>
                    <a:lstStyle/>
                    <a:p>
                      <a:pPr algn="r"/>
                      <a:r>
                        <a:rPr lang="en-US" sz="1200" dirty="0" smtClean="0"/>
                        <a:t>36.2</a:t>
                      </a:r>
                      <a:endParaRPr lang="en-US" sz="1200" dirty="0"/>
                    </a:p>
                  </a:txBody>
                  <a:tcPr marL="45720" marR="45720" marT="18000" marB="18000" anchor="ctr"/>
                </a:tc>
              </a:tr>
              <a:tr h="252000">
                <a:tc>
                  <a:txBody>
                    <a:bodyPr/>
                    <a:lstStyle/>
                    <a:p>
                      <a:r>
                        <a:rPr lang="en-US" sz="1200" dirty="0" smtClean="0"/>
                        <a:t>80992</a:t>
                      </a:r>
                      <a:endParaRPr lang="en-US" sz="1200" dirty="0"/>
                    </a:p>
                  </a:txBody>
                  <a:tcPr marL="45720" marR="45720" marT="18000" marB="18000" anchor="ctr"/>
                </a:tc>
                <a:tc>
                  <a:txBody>
                    <a:bodyPr/>
                    <a:lstStyle/>
                    <a:p>
                      <a:pPr algn="r"/>
                      <a:r>
                        <a:rPr lang="en-US" sz="1200" dirty="0" smtClean="0"/>
                        <a:t>10.0</a:t>
                      </a:r>
                      <a:endParaRPr lang="en-US" sz="1200" dirty="0"/>
                    </a:p>
                  </a:txBody>
                  <a:tcPr marL="45720" marR="45720" marT="18000" marB="18000" anchor="ctr"/>
                </a:tc>
                <a:tc>
                  <a:txBody>
                    <a:bodyPr/>
                    <a:lstStyle/>
                    <a:p>
                      <a:pPr algn="r"/>
                      <a:r>
                        <a:rPr lang="en-US" sz="1200" dirty="0" smtClean="0"/>
                        <a:t>31.2</a:t>
                      </a:r>
                      <a:endParaRPr lang="en-US" sz="1200" dirty="0"/>
                    </a:p>
                  </a:txBody>
                  <a:tcPr marL="45720" marR="45720" marT="18000" marB="18000" anchor="ctr"/>
                </a:tc>
              </a:tr>
            </a:tbl>
          </a:graphicData>
        </a:graphic>
      </p:graphicFrame>
      <mc:AlternateContent xmlns:mc="http://schemas.openxmlformats.org/markup-compatibility/2006" xmlns:a14="http://schemas.microsoft.com/office/drawing/2010/main">
        <mc:Choice Requires="a14">
          <p:sp>
            <p:nvSpPr>
              <p:cNvPr id="8" name="Textfeld 7"/>
              <p:cNvSpPr txBox="1"/>
              <p:nvPr/>
            </p:nvSpPr>
            <p:spPr>
              <a:xfrm>
                <a:off x="6192130" y="5389926"/>
                <a:ext cx="845488" cy="52174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subHide m:val="on"/>
                          <m:supHide m:val="on"/>
                          <m:ctrlPr>
                            <a:rPr lang="en-US" sz="1400" i="1" smtClean="0">
                              <a:latin typeface="Cambria Math" panose="02040503050406030204" pitchFamily="18" charset="0"/>
                            </a:rPr>
                          </m:ctrlPr>
                        </m:naryPr>
                        <m:sub/>
                        <m:sup/>
                        <m:e>
                          <m:r>
                            <a:rPr lang="de-DE" sz="1400" b="0" i="1" smtClean="0">
                              <a:latin typeface="Cambria Math" panose="02040503050406030204" pitchFamily="18" charset="0"/>
                            </a:rPr>
                            <m:t>𝑜𝑐𝑐𝑢𝑟𝑠</m:t>
                          </m:r>
                        </m:e>
                      </m:nary>
                    </m:oMath>
                  </m:oMathPara>
                </a14:m>
                <a:endParaRPr lang="en-US" sz="1400" dirty="0"/>
              </a:p>
            </p:txBody>
          </p:sp>
        </mc:Choice>
        <mc:Fallback xmlns="">
          <p:sp>
            <p:nvSpPr>
              <p:cNvPr id="8" name="Textfeld 7"/>
              <p:cNvSpPr txBox="1">
                <a:spLocks noRot="1" noChangeAspect="1" noMove="1" noResize="1" noEditPoints="1" noAdjustHandles="1" noChangeArrowheads="1" noChangeShapeType="1" noTextEdit="1"/>
              </p:cNvSpPr>
              <p:nvPr/>
            </p:nvSpPr>
            <p:spPr>
              <a:xfrm>
                <a:off x="6192130" y="5389926"/>
                <a:ext cx="845488" cy="521746"/>
              </a:xfrm>
              <a:prstGeom prst="rect">
                <a:avLst/>
              </a:prstGeom>
              <a:blipFill rotWithShape="0">
                <a:blip r:embed="rId2"/>
                <a:stretch>
                  <a:fillRect l="-77536" t="-144186" r="-83333" b="-2046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feld 10"/>
              <p:cNvSpPr txBox="1"/>
              <p:nvPr/>
            </p:nvSpPr>
            <p:spPr>
              <a:xfrm>
                <a:off x="3758969" y="5389926"/>
                <a:ext cx="1027717" cy="2329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𝑟𝑒𝑔𝑖𝑠𝑡𝑟𝑦</m:t>
                          </m:r>
                        </m:sub>
                      </m:sSub>
                      <m:r>
                        <a:rPr lang="de-DE" sz="1400" b="0" i="1" smtClean="0">
                          <a:latin typeface="Cambria Math" panose="02040503050406030204" pitchFamily="18" charset="0"/>
                        </a:rPr>
                        <m:t>+1</m:t>
                      </m:r>
                    </m:oMath>
                  </m:oMathPara>
                </a14:m>
                <a:endParaRPr lang="en-US" sz="1400" dirty="0"/>
              </a:p>
            </p:txBody>
          </p:sp>
        </mc:Choice>
        <mc:Fallback xmlns="">
          <p:sp>
            <p:nvSpPr>
              <p:cNvPr id="11" name="Textfeld 10"/>
              <p:cNvSpPr txBox="1">
                <a:spLocks noRot="1" noChangeAspect="1" noMove="1" noResize="1" noEditPoints="1" noAdjustHandles="1" noChangeArrowheads="1" noChangeShapeType="1" noTextEdit="1"/>
              </p:cNvSpPr>
              <p:nvPr/>
            </p:nvSpPr>
            <p:spPr>
              <a:xfrm>
                <a:off x="3758969" y="5389926"/>
                <a:ext cx="1027717" cy="232949"/>
              </a:xfrm>
              <a:prstGeom prst="rect">
                <a:avLst/>
              </a:prstGeom>
              <a:blipFill rotWithShape="0">
                <a:blip r:embed="rId3"/>
                <a:stretch>
                  <a:fillRect l="-3571" r="-3571"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9" name="Textfeld 148"/>
              <p:cNvSpPr txBox="1"/>
              <p:nvPr/>
            </p:nvSpPr>
            <p:spPr>
              <a:xfrm>
                <a:off x="265163" y="5389926"/>
                <a:ext cx="713913" cy="2329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𝑟𝑒𝑔𝑖𝑠𝑡𝑟𝑦</m:t>
                          </m:r>
                        </m:sub>
                      </m:sSub>
                    </m:oMath>
                  </m:oMathPara>
                </a14:m>
                <a:endParaRPr lang="en-US" sz="1400" dirty="0"/>
              </a:p>
            </p:txBody>
          </p:sp>
        </mc:Choice>
        <mc:Fallback xmlns="">
          <p:sp>
            <p:nvSpPr>
              <p:cNvPr id="149" name="Textfeld 148"/>
              <p:cNvSpPr txBox="1">
                <a:spLocks noRot="1" noChangeAspect="1" noMove="1" noResize="1" noEditPoints="1" noAdjustHandles="1" noChangeArrowheads="1" noChangeShapeType="1" noTextEdit="1"/>
              </p:cNvSpPr>
              <p:nvPr/>
            </p:nvSpPr>
            <p:spPr>
              <a:xfrm>
                <a:off x="265163" y="5389926"/>
                <a:ext cx="713913" cy="232949"/>
              </a:xfrm>
              <a:prstGeom prst="rect">
                <a:avLst/>
              </a:prstGeom>
              <a:blipFill rotWithShape="0">
                <a:blip r:embed="rId4"/>
                <a:stretch>
                  <a:fillRect l="-5085" r="-1695"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feld 12"/>
              <p:cNvSpPr txBox="1"/>
              <p:nvPr/>
            </p:nvSpPr>
            <p:spPr>
              <a:xfrm>
                <a:off x="8054655" y="6010711"/>
                <a:ext cx="85125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1400" b="0" i="1" smtClean="0">
                          <a:latin typeface="Cambria Math" panose="02040503050406030204" pitchFamily="18" charset="0"/>
                        </a:rPr>
                        <m:t>𝑓𝑖𝑥𝑒𝑑</m:t>
                      </m:r>
                      <m:r>
                        <a:rPr lang="de-DE" sz="1400" b="0" i="1" smtClean="0">
                          <a:latin typeface="Cambria Math" panose="02040503050406030204" pitchFamily="18" charset="0"/>
                        </a:rPr>
                        <m:t> </m:t>
                      </m:r>
                      <m:r>
                        <a:rPr lang="de-DE" sz="1400" b="0" i="1" smtClean="0">
                          <a:latin typeface="Cambria Math" panose="02040503050406030204" pitchFamily="18" charset="0"/>
                        </a:rPr>
                        <m:t>𝑠𝑖𝑧𝑒</m:t>
                      </m:r>
                    </m:oMath>
                  </m:oMathPara>
                </a14:m>
                <a:endParaRPr lang="en-US" sz="1400" dirty="0"/>
              </a:p>
            </p:txBody>
          </p:sp>
        </mc:Choice>
        <mc:Fallback xmlns="">
          <p:sp>
            <p:nvSpPr>
              <p:cNvPr id="13" name="Textfeld 12"/>
              <p:cNvSpPr txBox="1">
                <a:spLocks noRot="1" noChangeAspect="1" noMove="1" noResize="1" noEditPoints="1" noAdjustHandles="1" noChangeArrowheads="1" noChangeShapeType="1" noTextEdit="1"/>
              </p:cNvSpPr>
              <p:nvPr/>
            </p:nvSpPr>
            <p:spPr>
              <a:xfrm>
                <a:off x="8054655" y="6010711"/>
                <a:ext cx="851259" cy="215444"/>
              </a:xfrm>
              <a:prstGeom prst="rect">
                <a:avLst/>
              </a:prstGeom>
              <a:blipFill rotWithShape="0">
                <a:blip r:embed="rId5"/>
                <a:stretch>
                  <a:fillRect l="-6429" r="-3571" b="-34286"/>
                </a:stretch>
              </a:blipFill>
            </p:spPr>
            <p:txBody>
              <a:bodyPr/>
              <a:lstStyle/>
              <a:p>
                <a:r>
                  <a:rPr lang="en-US">
                    <a:noFill/>
                  </a:rPr>
                  <a:t> </a:t>
                </a:r>
              </a:p>
            </p:txBody>
          </p:sp>
        </mc:Fallback>
      </mc:AlternateContent>
      <p:sp>
        <p:nvSpPr>
          <p:cNvPr id="14" name="Textfeld 13"/>
          <p:cNvSpPr txBox="1"/>
          <p:nvPr/>
        </p:nvSpPr>
        <p:spPr>
          <a:xfrm>
            <a:off x="8057322" y="2166730"/>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p:txBody>
      </p:sp>
      <p:sp>
        <p:nvSpPr>
          <p:cNvPr id="150" name="Textfeld 149"/>
          <p:cNvSpPr txBox="1"/>
          <p:nvPr/>
        </p:nvSpPr>
        <p:spPr>
          <a:xfrm>
            <a:off x="8057322" y="2498035"/>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p:txBody>
      </p:sp>
      <p:sp>
        <p:nvSpPr>
          <p:cNvPr id="151" name="Textfeld 150"/>
          <p:cNvSpPr txBox="1"/>
          <p:nvPr/>
        </p:nvSpPr>
        <p:spPr>
          <a:xfrm>
            <a:off x="8057322" y="3485321"/>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p:txBody>
      </p:sp>
      <p:sp>
        <p:nvSpPr>
          <p:cNvPr id="141" name="Rechteck 140"/>
          <p:cNvSpPr/>
          <p:nvPr/>
        </p:nvSpPr>
        <p:spPr>
          <a:xfrm>
            <a:off x="8096250" y="2171648"/>
            <a:ext cx="1148400" cy="3005498"/>
          </a:xfrm>
          <a:prstGeom prst="rect">
            <a:avLst/>
          </a:prstGeom>
          <a:gradFill flip="none" rotWithShape="1">
            <a:gsLst>
              <a:gs pos="95000">
                <a:srgbClr val="2C70AE"/>
              </a:gs>
              <a:gs pos="90000">
                <a:srgbClr val="1FBAF1"/>
              </a:gs>
              <a:gs pos="65000">
                <a:srgbClr val="1FBAF1"/>
              </a:gs>
              <a:gs pos="64000">
                <a:srgbClr val="7FD7F7"/>
              </a:gs>
              <a:gs pos="1000">
                <a:srgbClr val="7FD7F7"/>
              </a:gs>
              <a:gs pos="100000">
                <a:schemeClr val="accent1">
                  <a:lumMod val="5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uppieren 26"/>
          <p:cNvGrpSpPr/>
          <p:nvPr/>
        </p:nvGrpSpPr>
        <p:grpSpPr>
          <a:xfrm>
            <a:off x="7467600" y="2406650"/>
            <a:ext cx="4620936" cy="2820670"/>
            <a:chOff x="7467600" y="2406650"/>
            <a:chExt cx="4620936" cy="2820670"/>
          </a:xfrm>
        </p:grpSpPr>
        <p:cxnSp>
          <p:nvCxnSpPr>
            <p:cNvPr id="23" name="Gerader Verbinder 22"/>
            <p:cNvCxnSpPr/>
            <p:nvPr/>
          </p:nvCxnSpPr>
          <p:spPr>
            <a:xfrm flipH="1" flipV="1">
              <a:off x="7559675" y="2453196"/>
              <a:ext cx="473075" cy="3175"/>
            </a:xfrm>
            <a:prstGeom prst="line">
              <a:avLst/>
            </a:prstGeom>
            <a:ln w="19050">
              <a:solidFill>
                <a:srgbClr val="00B0F0"/>
              </a:solidFill>
              <a:prstDash val="dash"/>
            </a:ln>
          </p:spPr>
          <p:style>
            <a:lnRef idx="1">
              <a:schemeClr val="accent1"/>
            </a:lnRef>
            <a:fillRef idx="0">
              <a:schemeClr val="accent1"/>
            </a:fillRef>
            <a:effectRef idx="0">
              <a:schemeClr val="accent1"/>
            </a:effectRef>
            <a:fontRef idx="minor">
              <a:schemeClr val="tx1"/>
            </a:fontRef>
          </p:style>
        </p:cxnSp>
        <p:grpSp>
          <p:nvGrpSpPr>
            <p:cNvPr id="26" name="Gruppieren 25"/>
            <p:cNvGrpSpPr/>
            <p:nvPr/>
          </p:nvGrpSpPr>
          <p:grpSpPr>
            <a:xfrm>
              <a:off x="7467600" y="2406650"/>
              <a:ext cx="4620936" cy="2820670"/>
              <a:chOff x="7467600" y="2406650"/>
              <a:chExt cx="4620936" cy="2820670"/>
            </a:xfrm>
          </p:grpSpPr>
          <p:cxnSp>
            <p:nvCxnSpPr>
              <p:cNvPr id="16" name="Gerader Verbinder 15"/>
              <p:cNvCxnSpPr/>
              <p:nvPr/>
            </p:nvCxnSpPr>
            <p:spPr>
              <a:xfrm flipV="1">
                <a:off x="9311780" y="3145872"/>
                <a:ext cx="2776756" cy="8389"/>
              </a:xfrm>
              <a:prstGeom prst="line">
                <a:avLst/>
              </a:prstGeom>
              <a:ln w="19050">
                <a:solidFill>
                  <a:srgbClr val="00B0F0"/>
                </a:solidFill>
                <a:prstDash val="dash"/>
              </a:ln>
            </p:spPr>
            <p:style>
              <a:lnRef idx="1">
                <a:schemeClr val="accent1"/>
              </a:lnRef>
              <a:fillRef idx="0">
                <a:schemeClr val="accent1"/>
              </a:fillRef>
              <a:effectRef idx="0">
                <a:schemeClr val="accent1"/>
              </a:effectRef>
              <a:fontRef idx="minor">
                <a:schemeClr val="tx1"/>
              </a:fontRef>
            </p:style>
          </p:cxnSp>
          <p:cxnSp>
            <p:nvCxnSpPr>
              <p:cNvPr id="153" name="Gerader Verbinder 152"/>
              <p:cNvCxnSpPr/>
              <p:nvPr/>
            </p:nvCxnSpPr>
            <p:spPr>
              <a:xfrm flipV="1">
                <a:off x="8084598" y="2453196"/>
                <a:ext cx="1160016" cy="2960"/>
              </a:xfrm>
              <a:prstGeom prst="line">
                <a:avLst/>
              </a:prstGeom>
              <a:ln w="19050">
                <a:solidFill>
                  <a:schemeClr val="bg1"/>
                </a:solidFill>
                <a:prstDash val="dash"/>
              </a:ln>
            </p:spPr>
            <p:style>
              <a:lnRef idx="1">
                <a:schemeClr val="accent1"/>
              </a:lnRef>
              <a:fillRef idx="0">
                <a:schemeClr val="accent1"/>
              </a:fillRef>
              <a:effectRef idx="0">
                <a:schemeClr val="accent1"/>
              </a:effectRef>
              <a:fontRef idx="minor">
                <a:schemeClr val="tx1"/>
              </a:fontRef>
            </p:style>
          </p:cxnSp>
          <p:sp>
            <p:nvSpPr>
              <p:cNvPr id="21" name="Rechteck 20"/>
              <p:cNvSpPr/>
              <p:nvPr/>
            </p:nvSpPr>
            <p:spPr>
              <a:xfrm>
                <a:off x="8077200" y="2484120"/>
                <a:ext cx="1170000" cy="27432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Rechteck 158"/>
              <p:cNvSpPr/>
              <p:nvPr/>
            </p:nvSpPr>
            <p:spPr>
              <a:xfrm>
                <a:off x="9304020" y="3177540"/>
                <a:ext cx="2773680" cy="89916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feld 24"/>
              <p:cNvSpPr txBox="1"/>
              <p:nvPr/>
            </p:nvSpPr>
            <p:spPr>
              <a:xfrm>
                <a:off x="7467600" y="2406650"/>
                <a:ext cx="490840" cy="276999"/>
              </a:xfrm>
              <a:prstGeom prst="rect">
                <a:avLst/>
              </a:prstGeom>
              <a:noFill/>
            </p:spPr>
            <p:txBody>
              <a:bodyPr wrap="none" rtlCol="0">
                <a:spAutoFit/>
              </a:bodyPr>
              <a:lstStyle/>
              <a:p>
                <a:r>
                  <a:rPr lang="en-US" sz="1200" dirty="0" smtClean="0">
                    <a:solidFill>
                      <a:srgbClr val="00B0F0"/>
                    </a:solidFill>
                    <a:latin typeface="Cambria Math" panose="02040503050406030204" pitchFamily="18" charset="0"/>
                    <a:ea typeface="Cambria Math" panose="02040503050406030204" pitchFamily="18" charset="0"/>
                  </a:rPr>
                  <a:t>70%</a:t>
                </a:r>
                <a:endParaRPr lang="en-US" sz="1200" dirty="0">
                  <a:solidFill>
                    <a:srgbClr val="00B0F0"/>
                  </a:solidFill>
                  <a:latin typeface="Cambria Math" panose="02040503050406030204" pitchFamily="18" charset="0"/>
                  <a:ea typeface="Cambria Math" panose="02040503050406030204" pitchFamily="18" charset="0"/>
                </a:endParaRPr>
              </a:p>
            </p:txBody>
          </p:sp>
        </p:grpSp>
      </p:grpSp>
      <p:grpSp>
        <p:nvGrpSpPr>
          <p:cNvPr id="166" name="Gruppieren 165"/>
          <p:cNvGrpSpPr/>
          <p:nvPr/>
        </p:nvGrpSpPr>
        <p:grpSpPr>
          <a:xfrm>
            <a:off x="9183328" y="865239"/>
            <a:ext cx="1425678" cy="307777"/>
            <a:chOff x="10343535" y="1140542"/>
            <a:chExt cx="1425678" cy="307777"/>
          </a:xfrm>
        </p:grpSpPr>
        <p:cxnSp>
          <p:nvCxnSpPr>
            <p:cNvPr id="167" name="Gerade Verbindung mit Pfeil 166"/>
            <p:cNvCxnSpPr/>
            <p:nvPr/>
          </p:nvCxnSpPr>
          <p:spPr>
            <a:xfrm flipV="1">
              <a:off x="10343535" y="1288026"/>
              <a:ext cx="1425678" cy="9832"/>
            </a:xfrm>
            <a:prstGeom prst="straightConnector1">
              <a:avLst/>
            </a:prstGeom>
            <a:ln w="228600">
              <a:solidFill>
                <a:srgbClr val="00B0F0"/>
              </a:solidFill>
              <a:headEnd type="none" w="sm" len="lg"/>
              <a:tailEnd type="triangle" w="sm" len="sm"/>
            </a:ln>
          </p:spPr>
          <p:style>
            <a:lnRef idx="1">
              <a:schemeClr val="accent1"/>
            </a:lnRef>
            <a:fillRef idx="0">
              <a:schemeClr val="accent1"/>
            </a:fillRef>
            <a:effectRef idx="0">
              <a:schemeClr val="accent1"/>
            </a:effectRef>
            <a:fontRef idx="minor">
              <a:schemeClr val="tx1"/>
            </a:fontRef>
          </p:style>
        </p:cxnSp>
        <p:sp>
          <p:nvSpPr>
            <p:cNvPr id="168" name="Textfeld 167"/>
            <p:cNvSpPr txBox="1"/>
            <p:nvPr/>
          </p:nvSpPr>
          <p:spPr>
            <a:xfrm>
              <a:off x="10343535" y="1140542"/>
              <a:ext cx="914802" cy="307777"/>
            </a:xfrm>
            <a:prstGeom prst="rect">
              <a:avLst/>
            </a:prstGeom>
            <a:noFill/>
          </p:spPr>
          <p:txBody>
            <a:bodyPr wrap="none" rtlCol="0">
              <a:spAutoFit/>
            </a:bodyPr>
            <a:lstStyle/>
            <a:p>
              <a:r>
                <a:rPr lang="en-US" sz="1400" dirty="0">
                  <a:solidFill>
                    <a:schemeClr val="bg1"/>
                  </a:solidFill>
                </a:rPr>
                <a:t>s</a:t>
              </a:r>
              <a:r>
                <a:rPr lang="en-US" sz="1400" dirty="0" smtClean="0">
                  <a:solidFill>
                    <a:schemeClr val="bg1"/>
                  </a:solidFill>
                </a:rPr>
                <a:t>ort order</a:t>
              </a:r>
              <a:endParaRPr lang="en-US" sz="1400" dirty="0">
                <a:solidFill>
                  <a:schemeClr val="bg1"/>
                </a:solidFill>
              </a:endParaRPr>
            </a:p>
          </p:txBody>
        </p:sp>
      </p:grpSp>
      <p:sp>
        <p:nvSpPr>
          <p:cNvPr id="139" name="Rechteck 138"/>
          <p:cNvSpPr/>
          <p:nvPr/>
        </p:nvSpPr>
        <p:spPr>
          <a:xfrm>
            <a:off x="5419567" y="3992421"/>
            <a:ext cx="779381" cy="261610"/>
          </a:xfrm>
          <a:prstGeom prst="rect">
            <a:avLst/>
          </a:prstGeom>
        </p:spPr>
        <p:txBody>
          <a:bodyPr wrap="none">
            <a:spAutoFit/>
          </a:bodyPr>
          <a:lstStyle/>
          <a:p>
            <a:pPr algn="r"/>
            <a:r>
              <a:rPr lang="en-US" sz="1100" dirty="0" smtClean="0">
                <a:latin typeface="Courier New" panose="02070309020205020404" pitchFamily="49" charset="0"/>
                <a:ea typeface="Cambria Math" panose="02040503050406030204" pitchFamily="18" charset="0"/>
                <a:cs typeface="Courier New" panose="02070309020205020404" pitchFamily="49" charset="0"/>
              </a:rPr>
              <a:t>4637310</a:t>
            </a:r>
            <a:endParaRPr lang="en-US" sz="1100" dirty="0">
              <a:latin typeface="Courier New" panose="02070309020205020404" pitchFamily="49" charset="0"/>
              <a:ea typeface="Cambria Math" panose="02040503050406030204" pitchFamily="18" charset="0"/>
              <a:cs typeface="Courier New" panose="02070309020205020404" pitchFamily="49" charset="0"/>
            </a:endParaRPr>
          </a:p>
        </p:txBody>
      </p:sp>
      <p:sp>
        <p:nvSpPr>
          <p:cNvPr id="6" name="Foliennummernplatzhalter 5"/>
          <p:cNvSpPr>
            <a:spLocks noGrp="1"/>
          </p:cNvSpPr>
          <p:nvPr>
            <p:ph type="sldNum" sz="quarter" idx="10"/>
          </p:nvPr>
        </p:nvSpPr>
        <p:spPr/>
        <p:txBody>
          <a:bodyPr/>
          <a:lstStyle/>
          <a:p>
            <a:fld id="{A29D8577-601D-4845-9C29-D9E13FE3E8DB}" type="slidenum">
              <a:rPr lang="en-US" smtClean="0"/>
              <a:pPr/>
              <a:t>8</a:t>
            </a:fld>
            <a:endParaRPr lang="en-US" dirty="0"/>
          </a:p>
        </p:txBody>
      </p:sp>
      <p:sp>
        <p:nvSpPr>
          <p:cNvPr id="140" name="Textfeld 139"/>
          <p:cNvSpPr txBox="1"/>
          <p:nvPr/>
        </p:nvSpPr>
        <p:spPr>
          <a:xfrm>
            <a:off x="9345881" y="3979809"/>
            <a:ext cx="2636322" cy="1569660"/>
          </a:xfrm>
          <a:prstGeom prst="rect">
            <a:avLst/>
          </a:prstGeom>
          <a:noFill/>
        </p:spPr>
        <p:txBody>
          <a:bodyPr wrap="square" rtlCol="0">
            <a:spAutoFit/>
          </a:bodyPr>
          <a:lstStyle/>
          <a:p>
            <a:r>
              <a:rPr lang="en-US" sz="1200" dirty="0" smtClean="0">
                <a:solidFill>
                  <a:srgbClr val="00B0F0"/>
                </a:solidFill>
              </a:rPr>
              <a:t>Efficiency Puzzle</a:t>
            </a:r>
          </a:p>
          <a:p>
            <a:r>
              <a:rPr lang="en-US" sz="1200" dirty="0" smtClean="0"/>
              <a:t>The retrieval also stops early when the interim total of the collated RIDs exceeds </a:t>
            </a:r>
            <a:r>
              <a:rPr lang="en-US" sz="1200" dirty="0" smtClean="0">
                <a:latin typeface="Cambria Math" panose="02040503050406030204" pitchFamily="18" charset="0"/>
                <a:ea typeface="Cambria Math" panose="02040503050406030204" pitchFamily="18" charset="0"/>
              </a:rPr>
              <a:t>100−threshold</a:t>
            </a:r>
            <a:r>
              <a:rPr lang="en-US" sz="1200" dirty="0" smtClean="0"/>
              <a:t>, because at least one of those words is necessary to push the Identity over the threshold.</a:t>
            </a:r>
          </a:p>
          <a:p>
            <a:r>
              <a:rPr lang="en-US" sz="1200" dirty="0" smtClean="0"/>
              <a:t>In this example retrieval actually stops already after “BMW”. </a:t>
            </a:r>
          </a:p>
        </p:txBody>
      </p:sp>
    </p:spTree>
    <p:extLst>
      <p:ext uri="{BB962C8B-B14F-4D97-AF65-F5344CB8AC3E}">
        <p14:creationId xmlns:p14="http://schemas.microsoft.com/office/powerpoint/2010/main" val="160161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26" presetClass="emph" presetSubtype="0" fill="hold" grpId="1" nodeType="withEffect">
                                  <p:stCondLst>
                                    <p:cond delay="0"/>
                                  </p:stCondLst>
                                  <p:childTnLst>
                                    <p:animEffect transition="out" filter="fade">
                                      <p:cBhvr>
                                        <p:cTn id="10" dur="500" tmFilter="0, 0; .2, .5; .8, .5; 1, 0"/>
                                        <p:tgtEl>
                                          <p:spTgt spid="9"/>
                                        </p:tgtEl>
                                      </p:cBhvr>
                                    </p:animEffect>
                                    <p:animScale>
                                      <p:cBhvr>
                                        <p:cTn id="11" dur="250" autoRev="1" fill="hold"/>
                                        <p:tgtEl>
                                          <p:spTgt spid="9"/>
                                        </p:tgtEl>
                                      </p:cBhvr>
                                      <p:by x="105000" y="105000"/>
                                    </p:animScale>
                                  </p:childTnLst>
                                </p:cTn>
                              </p:par>
                            </p:childTnLst>
                          </p:cTn>
                        </p:par>
                      </p:childTnLst>
                    </p:cTn>
                  </p:par>
                  <p:par>
                    <p:cTn id="12" fill="hold">
                      <p:stCondLst>
                        <p:cond delay="indefinite"/>
                      </p:stCondLst>
                      <p:childTnLst>
                        <p:par>
                          <p:cTn id="13" fill="hold">
                            <p:stCondLst>
                              <p:cond delay="0"/>
                            </p:stCondLst>
                            <p:childTnLst>
                              <p:par>
                                <p:cTn id="14" presetID="42" presetClass="path" presetSubtype="0" accel="50000" decel="50000" fill="hold" grpId="1" nodeType="clickEffect">
                                  <p:stCondLst>
                                    <p:cond delay="0"/>
                                  </p:stCondLst>
                                  <p:childTnLst>
                                    <p:animMotion origin="layout" path="M -1.45833E-6 -1.48148E-6 L 0.23646 -0.00069 " pathEditMode="relative" rAng="0" ptsTypes="AA">
                                      <p:cBhvr>
                                        <p:cTn id="15" dur="2000" fill="hold"/>
                                        <p:tgtEl>
                                          <p:spTgt spid="266"/>
                                        </p:tgtEl>
                                        <p:attrNameLst>
                                          <p:attrName>ppt_x</p:attrName>
                                          <p:attrName>ppt_y</p:attrName>
                                        </p:attrNameLst>
                                      </p:cBhvr>
                                      <p:rCtr x="11823" y="-46"/>
                                    </p:animMotion>
                                  </p:childTnLst>
                                </p:cTn>
                              </p:par>
                            </p:childTnLst>
                          </p:cTn>
                        </p:par>
                      </p:childTnLst>
                    </p:cTn>
                  </p:par>
                  <p:par>
                    <p:cTn id="16" fill="hold">
                      <p:stCondLst>
                        <p:cond delay="indefinite"/>
                      </p:stCondLst>
                      <p:childTnLst>
                        <p:par>
                          <p:cTn id="17" fill="hold">
                            <p:stCondLst>
                              <p:cond delay="0"/>
                            </p:stCondLst>
                            <p:childTnLst>
                              <p:par>
                                <p:cTn id="18" presetID="6" presetClass="emph" presetSubtype="0" fill="hold" grpId="2" nodeType="clickEffect">
                                  <p:stCondLst>
                                    <p:cond delay="200"/>
                                  </p:stCondLst>
                                  <p:childTnLst>
                                    <p:animScale>
                                      <p:cBhvr>
                                        <p:cTn id="19" dur="1000" fill="hold"/>
                                        <p:tgtEl>
                                          <p:spTgt spid="266"/>
                                        </p:tgtEl>
                                      </p:cBhvr>
                                      <p:by x="100000" y="200000"/>
                                    </p:animScale>
                                  </p:childTnLst>
                                </p:cTn>
                              </p:par>
                              <p:par>
                                <p:cTn id="20" presetID="42" presetClass="path" presetSubtype="0" accel="50000" decel="50000" fill="hold" grpId="3" nodeType="withEffect">
                                  <p:stCondLst>
                                    <p:cond delay="100"/>
                                  </p:stCondLst>
                                  <p:childTnLst>
                                    <p:animMotion origin="layout" path="M 0.23646 -0.00069 L 0.23633 0.02292 " pathEditMode="relative" rAng="0" ptsTypes="AA">
                                      <p:cBhvr>
                                        <p:cTn id="21" dur="1000" fill="hold"/>
                                        <p:tgtEl>
                                          <p:spTgt spid="266"/>
                                        </p:tgtEl>
                                        <p:attrNameLst>
                                          <p:attrName>ppt_x</p:attrName>
                                          <p:attrName>ppt_y</p:attrName>
                                        </p:attrNameLst>
                                      </p:cBhvr>
                                      <p:rCtr x="-13" y="1181"/>
                                    </p:animMotion>
                                  </p:childTnLst>
                                </p:cTn>
                              </p:par>
                            </p:childTnLst>
                          </p:cTn>
                        </p:par>
                      </p:childTnLst>
                    </p:cTn>
                  </p:par>
                  <p:par>
                    <p:cTn id="22" fill="hold">
                      <p:stCondLst>
                        <p:cond delay="indefinite"/>
                      </p:stCondLst>
                      <p:childTnLst>
                        <p:par>
                          <p:cTn id="23" fill="hold">
                            <p:stCondLst>
                              <p:cond delay="0"/>
                            </p:stCondLst>
                            <p:childTnLst>
                              <p:par>
                                <p:cTn id="24" presetID="42" presetClass="path" presetSubtype="0" accel="50000" decel="50000" fill="hold" grpId="4" nodeType="clickEffect">
                                  <p:stCondLst>
                                    <p:cond delay="0"/>
                                  </p:stCondLst>
                                  <p:childTnLst>
                                    <p:animMotion origin="layout" path="M 0.23633 0.02292 L 0.33646 0.08496 " pathEditMode="relative" rAng="0" ptsTypes="AA">
                                      <p:cBhvr>
                                        <p:cTn id="25" dur="2000" fill="hold"/>
                                        <p:tgtEl>
                                          <p:spTgt spid="266"/>
                                        </p:tgtEl>
                                        <p:attrNameLst>
                                          <p:attrName>ppt_x</p:attrName>
                                          <p:attrName>ppt_y</p:attrName>
                                        </p:attrNameLst>
                                      </p:cBhvr>
                                      <p:rCtr x="5000" y="3102"/>
                                    </p:animMotion>
                                  </p:childTnLst>
                                </p:cTn>
                              </p:par>
                            </p:childTnLst>
                          </p:cTn>
                        </p:par>
                        <p:par>
                          <p:cTn id="26" fill="hold">
                            <p:stCondLst>
                              <p:cond delay="2000"/>
                            </p:stCondLst>
                            <p:childTnLst>
                              <p:par>
                                <p:cTn id="27" presetID="6" presetClass="emph" presetSubtype="0" fill="hold" grpId="5" nodeType="afterEffect">
                                  <p:stCondLst>
                                    <p:cond delay="0"/>
                                  </p:stCondLst>
                                  <p:childTnLst>
                                    <p:animScale>
                                      <p:cBhvr>
                                        <p:cTn id="28" dur="1000" fill="hold"/>
                                        <p:tgtEl>
                                          <p:spTgt spid="266"/>
                                        </p:tgtEl>
                                      </p:cBhvr>
                                      <p:by x="100000" y="252000"/>
                                    </p:animScale>
                                  </p:childTnLst>
                                </p:cTn>
                              </p:par>
                            </p:childTnLst>
                          </p:cTn>
                        </p:par>
                        <p:par>
                          <p:cTn id="29" fill="hold">
                            <p:stCondLst>
                              <p:cond delay="3000"/>
                            </p:stCondLst>
                            <p:childTnLst>
                              <p:par>
                                <p:cTn id="30" presetID="42" presetClass="path" presetSubtype="0" accel="50000" decel="50000" fill="hold" grpId="6" nodeType="afterEffect">
                                  <p:stCondLst>
                                    <p:cond delay="0"/>
                                  </p:stCondLst>
                                  <p:childTnLst>
                                    <p:animMotion origin="layout" path="M 0.33646 0.08496 L 0.43555 0.08496 " pathEditMode="relative" rAng="0" ptsTypes="AA">
                                      <p:cBhvr>
                                        <p:cTn id="31" dur="2000" fill="hold"/>
                                        <p:tgtEl>
                                          <p:spTgt spid="266"/>
                                        </p:tgtEl>
                                        <p:attrNameLst>
                                          <p:attrName>ppt_x</p:attrName>
                                          <p:attrName>ppt_y</p:attrName>
                                        </p:attrNameLst>
                                      </p:cBhvr>
                                      <p:rCtr x="4948" y="0"/>
                                    </p:animMotion>
                                  </p:childTnLst>
                                </p:cTn>
                              </p:par>
                            </p:childTnLst>
                          </p:cTn>
                        </p:par>
                      </p:childTnLst>
                    </p:cTn>
                  </p:par>
                  <p:par>
                    <p:cTn id="32" fill="hold">
                      <p:stCondLst>
                        <p:cond delay="indefinite"/>
                      </p:stCondLst>
                      <p:childTnLst>
                        <p:par>
                          <p:cTn id="33" fill="hold">
                            <p:stCondLst>
                              <p:cond delay="0"/>
                            </p:stCondLst>
                            <p:childTnLst>
                              <p:par>
                                <p:cTn id="34" presetID="42" presetClass="path" presetSubtype="0" accel="50000" decel="50000" fill="hold" grpId="7" nodeType="clickEffect">
                                  <p:stCondLst>
                                    <p:cond delay="0"/>
                                  </p:stCondLst>
                                  <p:childTnLst>
                                    <p:animMotion origin="layout" path="M 0.43555 0.08496 L 0.59167 -0.04329 " pathEditMode="relative" rAng="0" ptsTypes="AA">
                                      <p:cBhvr>
                                        <p:cTn id="35" dur="2000" fill="hold"/>
                                        <p:tgtEl>
                                          <p:spTgt spid="266"/>
                                        </p:tgtEl>
                                        <p:attrNameLst>
                                          <p:attrName>ppt_x</p:attrName>
                                          <p:attrName>ppt_y</p:attrName>
                                        </p:attrNameLst>
                                      </p:cBhvr>
                                      <p:rCtr x="7799" y="-6412"/>
                                    </p:animMotion>
                                  </p:childTnLst>
                                </p:cTn>
                              </p:par>
                              <p:par>
                                <p:cTn id="36" presetID="6" presetClass="emph" presetSubtype="0" fill="hold" grpId="8" nodeType="withEffect">
                                  <p:stCondLst>
                                    <p:cond delay="0"/>
                                  </p:stCondLst>
                                  <p:childTnLst>
                                    <p:animScale>
                                      <p:cBhvr>
                                        <p:cTn id="37" dur="1000" fill="hold"/>
                                        <p:tgtEl>
                                          <p:spTgt spid="266"/>
                                        </p:tgtEl>
                                      </p:cBhvr>
                                      <p:by x="100000" y="20000"/>
                                    </p:animScale>
                                  </p:childTnLst>
                                </p:cTn>
                              </p:par>
                            </p:childTnLst>
                          </p:cTn>
                        </p:par>
                        <p:par>
                          <p:cTn id="38" fill="hold">
                            <p:stCondLst>
                              <p:cond delay="2000"/>
                            </p:stCondLst>
                            <p:childTnLst>
                              <p:par>
                                <p:cTn id="39" presetID="1" presetClass="entr" presetSubtype="0" fill="hold" grpId="0" nodeType="after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42"/>
                                        </p:tgtEl>
                                        <p:attrNameLst>
                                          <p:attrName>style.visibility</p:attrName>
                                        </p:attrNameLst>
                                      </p:cBhvr>
                                      <p:to>
                                        <p:strVal val="visible"/>
                                      </p:to>
                                    </p:set>
                                  </p:childTnLst>
                                </p:cTn>
                              </p:par>
                              <p:par>
                                <p:cTn id="47" presetID="26" presetClass="emph" presetSubtype="0" fill="hold" grpId="1" nodeType="withEffect">
                                  <p:stCondLst>
                                    <p:cond delay="0"/>
                                  </p:stCondLst>
                                  <p:childTnLst>
                                    <p:animEffect transition="out" filter="fade">
                                      <p:cBhvr>
                                        <p:cTn id="48" dur="500" tmFilter="0, 0; .2, .5; .8, .5; 1, 0"/>
                                        <p:tgtEl>
                                          <p:spTgt spid="142"/>
                                        </p:tgtEl>
                                      </p:cBhvr>
                                    </p:animEffect>
                                    <p:animScale>
                                      <p:cBhvr>
                                        <p:cTn id="49" dur="250" autoRev="1" fill="hold"/>
                                        <p:tgtEl>
                                          <p:spTgt spid="142"/>
                                        </p:tgtEl>
                                      </p:cBhvr>
                                      <p:by x="105000" y="105000"/>
                                    </p:animScale>
                                  </p:childTnLst>
                                </p:cTn>
                              </p:par>
                            </p:childTnLst>
                          </p:cTn>
                        </p:par>
                        <p:par>
                          <p:cTn id="50" fill="hold">
                            <p:stCondLst>
                              <p:cond delay="500"/>
                            </p:stCondLst>
                            <p:childTnLst>
                              <p:par>
                                <p:cTn id="51" presetID="42" presetClass="path" presetSubtype="0" accel="50000" decel="50000" fill="hold" grpId="1" nodeType="afterEffect">
                                  <p:stCondLst>
                                    <p:cond delay="0"/>
                                  </p:stCondLst>
                                  <p:childTnLst>
                                    <p:animMotion origin="layout" path="M -1.25E-6 -3.33333E-6 L 0.23646 -0.00069 " pathEditMode="relative" rAng="0" ptsTypes="AA">
                                      <p:cBhvr>
                                        <p:cTn id="52" dur="2000" fill="hold"/>
                                        <p:tgtEl>
                                          <p:spTgt spid="292"/>
                                        </p:tgtEl>
                                        <p:attrNameLst>
                                          <p:attrName>ppt_x</p:attrName>
                                          <p:attrName>ppt_y</p:attrName>
                                        </p:attrNameLst>
                                      </p:cBhvr>
                                      <p:rCtr x="11823" y="-46"/>
                                    </p:animMotion>
                                  </p:childTnLst>
                                </p:cTn>
                              </p:par>
                            </p:childTnLst>
                          </p:cTn>
                        </p:par>
                        <p:par>
                          <p:cTn id="53" fill="hold">
                            <p:stCondLst>
                              <p:cond delay="2500"/>
                            </p:stCondLst>
                            <p:childTnLst>
                              <p:par>
                                <p:cTn id="54" presetID="6" presetClass="emph" presetSubtype="0" fill="hold" grpId="2" nodeType="afterEffect">
                                  <p:stCondLst>
                                    <p:cond delay="0"/>
                                  </p:stCondLst>
                                  <p:childTnLst>
                                    <p:animScale>
                                      <p:cBhvr>
                                        <p:cTn id="55" dur="1000" fill="hold"/>
                                        <p:tgtEl>
                                          <p:spTgt spid="292"/>
                                        </p:tgtEl>
                                      </p:cBhvr>
                                      <p:by x="100000" y="200000"/>
                                    </p:animScale>
                                  </p:childTnLst>
                                </p:cTn>
                              </p:par>
                              <p:par>
                                <p:cTn id="56" presetID="42" presetClass="path" presetSubtype="0" accel="50000" decel="50000" fill="hold" grpId="3" nodeType="withEffect">
                                  <p:stCondLst>
                                    <p:cond delay="0"/>
                                  </p:stCondLst>
                                  <p:childTnLst>
                                    <p:animMotion origin="layout" path="M 0.23646 -0.00069 L 0.23659 0.02084 " pathEditMode="relative" rAng="0" ptsTypes="AA">
                                      <p:cBhvr>
                                        <p:cTn id="57" dur="1000" fill="hold"/>
                                        <p:tgtEl>
                                          <p:spTgt spid="292"/>
                                        </p:tgtEl>
                                        <p:attrNameLst>
                                          <p:attrName>ppt_x</p:attrName>
                                          <p:attrName>ppt_y</p:attrName>
                                        </p:attrNameLst>
                                      </p:cBhvr>
                                      <p:rCtr x="0" y="1065"/>
                                    </p:animMotion>
                                  </p:childTnLst>
                                </p:cTn>
                              </p:par>
                            </p:childTnLst>
                          </p:cTn>
                        </p:par>
                        <p:par>
                          <p:cTn id="58" fill="hold">
                            <p:stCondLst>
                              <p:cond delay="3500"/>
                            </p:stCondLst>
                            <p:childTnLst>
                              <p:par>
                                <p:cTn id="59" presetID="42" presetClass="path" presetSubtype="0" accel="50000" decel="50000" fill="hold" grpId="4" nodeType="afterEffect">
                                  <p:stCondLst>
                                    <p:cond delay="0"/>
                                  </p:stCondLst>
                                  <p:childTnLst>
                                    <p:animMotion origin="layout" path="M 0.23659 0.02084 L 0.59154 -0.08148 " pathEditMode="relative" rAng="0" ptsTypes="AA">
                                      <p:cBhvr>
                                        <p:cTn id="60" dur="2000" fill="hold"/>
                                        <p:tgtEl>
                                          <p:spTgt spid="292"/>
                                        </p:tgtEl>
                                        <p:attrNameLst>
                                          <p:attrName>ppt_x</p:attrName>
                                          <p:attrName>ppt_y</p:attrName>
                                        </p:attrNameLst>
                                      </p:cBhvr>
                                      <p:rCtr x="17747" y="-5116"/>
                                    </p:animMotion>
                                  </p:childTnLst>
                                </p:cTn>
                              </p:par>
                              <p:par>
                                <p:cTn id="61" presetID="6" presetClass="emph" presetSubtype="0" fill="hold" grpId="5" nodeType="withEffect">
                                  <p:stCondLst>
                                    <p:cond delay="0"/>
                                  </p:stCondLst>
                                  <p:childTnLst>
                                    <p:animScale>
                                      <p:cBhvr>
                                        <p:cTn id="62" dur="2000" fill="hold"/>
                                        <p:tgtEl>
                                          <p:spTgt spid="292"/>
                                        </p:tgtEl>
                                      </p:cBhvr>
                                      <p:by x="100000" y="155000"/>
                                    </p:animScale>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50"/>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293"/>
                                        </p:tgtEl>
                                        <p:attrNameLst>
                                          <p:attrName>style.visibility</p:attrName>
                                        </p:attrNameLst>
                                      </p:cBhvr>
                                      <p:to>
                                        <p:strVal val="visible"/>
                                      </p:to>
                                    </p:set>
                                  </p:childTnLst>
                                </p:cTn>
                              </p:par>
                              <p:par>
                                <p:cTn id="70" presetID="1" presetClass="entr" presetSubtype="0" fill="hold" grpId="0" nodeType="with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childTnLst>
                          </p:cTn>
                        </p:par>
                        <p:par>
                          <p:cTn id="72" fill="hold">
                            <p:stCondLst>
                              <p:cond delay="0"/>
                            </p:stCondLst>
                            <p:childTnLst>
                              <p:par>
                                <p:cTn id="73" presetID="26" presetClass="emph" presetSubtype="0" fill="hold" grpId="1" nodeType="afterEffect">
                                  <p:stCondLst>
                                    <p:cond delay="0"/>
                                  </p:stCondLst>
                                  <p:childTnLst>
                                    <p:animEffect transition="out" filter="fade">
                                      <p:cBhvr>
                                        <p:cTn id="74" dur="500" tmFilter="0, 0; .2, .5; .8, .5; 1, 0"/>
                                        <p:tgtEl>
                                          <p:spTgt spid="143"/>
                                        </p:tgtEl>
                                      </p:cBhvr>
                                    </p:animEffect>
                                    <p:animScale>
                                      <p:cBhvr>
                                        <p:cTn id="75" dur="250" autoRev="1" fill="hold"/>
                                        <p:tgtEl>
                                          <p:spTgt spid="143"/>
                                        </p:tgtEl>
                                      </p:cBhvr>
                                      <p:by x="105000" y="105000"/>
                                    </p:animScale>
                                  </p:childTnLst>
                                </p:cTn>
                              </p:par>
                            </p:childTnLst>
                          </p:cTn>
                        </p:par>
                        <p:par>
                          <p:cTn id="76" fill="hold">
                            <p:stCondLst>
                              <p:cond delay="500"/>
                            </p:stCondLst>
                            <p:childTnLst>
                              <p:par>
                                <p:cTn id="77" presetID="42" presetClass="path" presetSubtype="0" accel="50000" decel="50000" fill="hold" grpId="1" nodeType="afterEffect">
                                  <p:stCondLst>
                                    <p:cond delay="0"/>
                                  </p:stCondLst>
                                  <p:childTnLst>
                                    <p:animMotion origin="layout" path="M -1.25E-6 4.44444E-6 L 0.23646 -0.0007 " pathEditMode="relative" rAng="0" ptsTypes="AA">
                                      <p:cBhvr>
                                        <p:cTn id="78" dur="2000" fill="hold"/>
                                        <p:tgtEl>
                                          <p:spTgt spid="293"/>
                                        </p:tgtEl>
                                        <p:attrNameLst>
                                          <p:attrName>ppt_x</p:attrName>
                                          <p:attrName>ppt_y</p:attrName>
                                        </p:attrNameLst>
                                      </p:cBhvr>
                                      <p:rCtr x="11823" y="-46"/>
                                    </p:animMotion>
                                  </p:childTnLst>
                                </p:cTn>
                              </p:par>
                            </p:childTnLst>
                          </p:cTn>
                        </p:par>
                        <p:par>
                          <p:cTn id="79" fill="hold">
                            <p:stCondLst>
                              <p:cond delay="2500"/>
                            </p:stCondLst>
                            <p:childTnLst>
                              <p:par>
                                <p:cTn id="80" presetID="6" presetClass="emph" presetSubtype="0" fill="hold" grpId="2" nodeType="afterEffect">
                                  <p:stCondLst>
                                    <p:cond delay="0"/>
                                  </p:stCondLst>
                                  <p:childTnLst>
                                    <p:animScale>
                                      <p:cBhvr>
                                        <p:cTn id="81" dur="1000" fill="hold"/>
                                        <p:tgtEl>
                                          <p:spTgt spid="293"/>
                                        </p:tgtEl>
                                      </p:cBhvr>
                                      <p:by x="100000" y="200000"/>
                                    </p:animScale>
                                  </p:childTnLst>
                                </p:cTn>
                              </p:par>
                              <p:par>
                                <p:cTn id="82" presetID="42" presetClass="path" presetSubtype="0" accel="50000" decel="50000" fill="hold" grpId="3" nodeType="withEffect">
                                  <p:stCondLst>
                                    <p:cond delay="0"/>
                                  </p:stCondLst>
                                  <p:childTnLst>
                                    <p:animMotion origin="layout" path="M 0.23646 -0.0007 L 0.23659 0.02083 " pathEditMode="relative" rAng="0" ptsTypes="AA">
                                      <p:cBhvr>
                                        <p:cTn id="83" dur="1000" fill="hold"/>
                                        <p:tgtEl>
                                          <p:spTgt spid="293"/>
                                        </p:tgtEl>
                                        <p:attrNameLst>
                                          <p:attrName>ppt_x</p:attrName>
                                          <p:attrName>ppt_y</p:attrName>
                                        </p:attrNameLst>
                                      </p:cBhvr>
                                      <p:rCtr x="0" y="1065"/>
                                    </p:animMotion>
                                  </p:childTnLst>
                                </p:cTn>
                              </p:par>
                            </p:childTnLst>
                          </p:cTn>
                        </p:par>
                        <p:par>
                          <p:cTn id="84" fill="hold">
                            <p:stCondLst>
                              <p:cond delay="3500"/>
                            </p:stCondLst>
                            <p:childTnLst>
                              <p:par>
                                <p:cTn id="85" presetID="42" presetClass="path" presetSubtype="0" accel="50000" decel="50000" fill="hold" grpId="4" nodeType="afterEffect">
                                  <p:stCondLst>
                                    <p:cond delay="0"/>
                                  </p:stCondLst>
                                  <p:childTnLst>
                                    <p:animMotion origin="layout" path="M 0.23659 0.02083 L 0.59115 -0.0051 " pathEditMode="relative" rAng="0" ptsTypes="AA">
                                      <p:cBhvr>
                                        <p:cTn id="86" dur="2000" fill="hold"/>
                                        <p:tgtEl>
                                          <p:spTgt spid="293"/>
                                        </p:tgtEl>
                                        <p:attrNameLst>
                                          <p:attrName>ppt_x</p:attrName>
                                          <p:attrName>ppt_y</p:attrName>
                                        </p:attrNameLst>
                                      </p:cBhvr>
                                      <p:rCtr x="17721" y="-1296"/>
                                    </p:animMotion>
                                  </p:childTnLst>
                                </p:cTn>
                              </p:par>
                              <p:par>
                                <p:cTn id="87" presetID="6" presetClass="emph" presetSubtype="0" fill="hold" grpId="5" nodeType="withEffect">
                                  <p:stCondLst>
                                    <p:cond delay="0"/>
                                  </p:stCondLst>
                                  <p:childTnLst>
                                    <p:animScale>
                                      <p:cBhvr>
                                        <p:cTn id="88" dur="2000" fill="hold"/>
                                        <p:tgtEl>
                                          <p:spTgt spid="293"/>
                                        </p:tgtEl>
                                      </p:cBhvr>
                                      <p:by x="100000" y="310000"/>
                                    </p:animScale>
                                  </p:childTnLst>
                                </p:cTn>
                              </p:par>
                            </p:childTnLst>
                          </p:cTn>
                        </p:par>
                        <p:par>
                          <p:cTn id="89" fill="hold">
                            <p:stCondLst>
                              <p:cond delay="5500"/>
                            </p:stCondLst>
                            <p:childTnLst>
                              <p:par>
                                <p:cTn id="90" presetID="1" presetClass="entr" presetSubtype="0" fill="hold" grpId="0" nodeType="afterEffect">
                                  <p:stCondLst>
                                    <p:cond delay="0"/>
                                  </p:stCondLst>
                                  <p:childTnLst>
                                    <p:set>
                                      <p:cBhvr>
                                        <p:cTn id="91" dur="1" fill="hold">
                                          <p:stCondLst>
                                            <p:cond delay="0"/>
                                          </p:stCondLst>
                                        </p:cTn>
                                        <p:tgtEl>
                                          <p:spTgt spid="151"/>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42" presetClass="path" presetSubtype="0" accel="50000" decel="50000" fill="hold" grpId="6" nodeType="clickEffect">
                                  <p:stCondLst>
                                    <p:cond delay="0"/>
                                  </p:stCondLst>
                                  <p:childTnLst>
                                    <p:animMotion origin="layout" path="M 0.59154 -0.08148 L 0.59141 -0.10416 " pathEditMode="relative" rAng="0" ptsTypes="AA">
                                      <p:cBhvr>
                                        <p:cTn id="95" dur="2000" fill="hold"/>
                                        <p:tgtEl>
                                          <p:spTgt spid="292"/>
                                        </p:tgtEl>
                                        <p:attrNameLst>
                                          <p:attrName>ppt_x</p:attrName>
                                          <p:attrName>ppt_y</p:attrName>
                                        </p:attrNameLst>
                                      </p:cBhvr>
                                      <p:rCtr x="-13" y="-1134"/>
                                    </p:animMotion>
                                  </p:childTnLst>
                                </p:cTn>
                              </p:par>
                              <p:par>
                                <p:cTn id="96" presetID="42" presetClass="path" presetSubtype="0" accel="50000" decel="50000" fill="hold" grpId="6" nodeType="withEffect">
                                  <p:stCondLst>
                                    <p:cond delay="0"/>
                                  </p:stCondLst>
                                  <p:childTnLst>
                                    <p:animMotion origin="layout" path="M 0.59115 -0.0051 L 0.59141 -0.04098 " pathEditMode="relative" rAng="0" ptsTypes="AA">
                                      <p:cBhvr>
                                        <p:cTn id="97" dur="2000" fill="hold"/>
                                        <p:tgtEl>
                                          <p:spTgt spid="293"/>
                                        </p:tgtEl>
                                        <p:attrNameLst>
                                          <p:attrName>ppt_x</p:attrName>
                                          <p:attrName>ppt_y</p:attrName>
                                        </p:attrNameLst>
                                      </p:cBhvr>
                                      <p:rCtr x="13" y="-1806"/>
                                    </p:animMotion>
                                  </p:childTnLst>
                                </p:cTn>
                              </p:par>
                              <p:par>
                                <p:cTn id="98" presetID="10" presetClass="entr" presetSubtype="0" fill="hold" grpId="0" nodeType="withEffect">
                                  <p:stCondLst>
                                    <p:cond delay="0"/>
                                  </p:stCondLst>
                                  <p:childTnLst>
                                    <p:set>
                                      <p:cBhvr>
                                        <p:cTn id="99" dur="1" fill="hold">
                                          <p:stCondLst>
                                            <p:cond delay="0"/>
                                          </p:stCondLst>
                                        </p:cTn>
                                        <p:tgtEl>
                                          <p:spTgt spid="141"/>
                                        </p:tgtEl>
                                        <p:attrNameLst>
                                          <p:attrName>style.visibility</p:attrName>
                                        </p:attrNameLst>
                                      </p:cBhvr>
                                      <p:to>
                                        <p:strVal val="visible"/>
                                      </p:to>
                                    </p:set>
                                    <p:animEffect transition="in" filter="fade">
                                      <p:cBhvr>
                                        <p:cTn id="100" dur="500"/>
                                        <p:tgtEl>
                                          <p:spTgt spid="141"/>
                                        </p:tgtEl>
                                      </p:cBhvr>
                                    </p:animEffect>
                                  </p:childTnLst>
                                </p:cTn>
                              </p:par>
                            </p:childTnLst>
                          </p:cTn>
                        </p:par>
                        <p:par>
                          <p:cTn id="101" fill="hold">
                            <p:stCondLst>
                              <p:cond delay="2000"/>
                            </p:stCondLst>
                            <p:childTnLst>
                              <p:par>
                                <p:cTn id="102" presetID="22" presetClass="entr" presetSubtype="1" fill="hold" nodeType="afterEffect">
                                  <p:stCondLst>
                                    <p:cond delay="0"/>
                                  </p:stCondLst>
                                  <p:childTnLst>
                                    <p:set>
                                      <p:cBhvr>
                                        <p:cTn id="103" dur="1" fill="hold">
                                          <p:stCondLst>
                                            <p:cond delay="0"/>
                                          </p:stCondLst>
                                        </p:cTn>
                                        <p:tgtEl>
                                          <p:spTgt spid="5"/>
                                        </p:tgtEl>
                                        <p:attrNameLst>
                                          <p:attrName>style.visibility</p:attrName>
                                        </p:attrNameLst>
                                      </p:cBhvr>
                                      <p:to>
                                        <p:strVal val="visible"/>
                                      </p:to>
                                    </p:set>
                                    <p:animEffect transition="in" filter="wipe(up)">
                                      <p:cBhvr>
                                        <p:cTn id="104" dur="500"/>
                                        <p:tgtEl>
                                          <p:spTgt spid="5"/>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nodeType="clickEffect">
                                  <p:stCondLst>
                                    <p:cond delay="0"/>
                                  </p:stCondLst>
                                  <p:childTnLst>
                                    <p:set>
                                      <p:cBhvr>
                                        <p:cTn id="108" dur="1" fill="hold">
                                          <p:stCondLst>
                                            <p:cond delay="0"/>
                                          </p:stCondLst>
                                        </p:cTn>
                                        <p:tgtEl>
                                          <p:spTgt spid="27"/>
                                        </p:tgtEl>
                                        <p:attrNameLst>
                                          <p:attrName>style.visibility</p:attrName>
                                        </p:attrNameLst>
                                      </p:cBhvr>
                                      <p:to>
                                        <p:strVal val="visible"/>
                                      </p:to>
                                    </p:set>
                                    <p:animEffect transition="in" filter="wipe(left)">
                                      <p:cBhvr>
                                        <p:cTn id="109" dur="10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grpId="0" nodeType="clickEffect">
                                  <p:stCondLst>
                                    <p:cond delay="0"/>
                                  </p:stCondLst>
                                  <p:childTnLst>
                                    <p:set>
                                      <p:cBhvr>
                                        <p:cTn id="113" dur="1" fill="hold">
                                          <p:stCondLst>
                                            <p:cond delay="0"/>
                                          </p:stCondLst>
                                        </p:cTn>
                                        <p:tgtEl>
                                          <p:spTgt spid="1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3" grpId="0" animBg="1"/>
      <p:bldP spid="293" grpId="1" animBg="1"/>
      <p:bldP spid="293" grpId="2" animBg="1"/>
      <p:bldP spid="293" grpId="3" animBg="1"/>
      <p:bldP spid="293" grpId="4" animBg="1"/>
      <p:bldP spid="293" grpId="5" animBg="1"/>
      <p:bldP spid="293" grpId="6" animBg="1"/>
      <p:bldP spid="292" grpId="0" animBg="1"/>
      <p:bldP spid="292" grpId="1" animBg="1"/>
      <p:bldP spid="292" grpId="2" animBg="1"/>
      <p:bldP spid="292" grpId="3" animBg="1"/>
      <p:bldP spid="292" grpId="4" animBg="1"/>
      <p:bldP spid="292" grpId="5" animBg="1"/>
      <p:bldP spid="292" grpId="6" animBg="1"/>
      <p:bldP spid="266" grpId="0" animBg="1"/>
      <p:bldP spid="266" grpId="1" animBg="1"/>
      <p:bldP spid="266" grpId="2" animBg="1"/>
      <p:bldP spid="266" grpId="3" animBg="1"/>
      <p:bldP spid="266" grpId="4" animBg="1"/>
      <p:bldP spid="266" grpId="5" animBg="1"/>
      <p:bldP spid="266" grpId="6" animBg="1"/>
      <p:bldP spid="266" grpId="7" animBg="1"/>
      <p:bldP spid="266" grpId="8" animBg="1"/>
      <p:bldP spid="9" grpId="0" animBg="1"/>
      <p:bldP spid="9" grpId="1" animBg="1"/>
      <p:bldP spid="142" grpId="0" animBg="1"/>
      <p:bldP spid="142" grpId="1" animBg="1"/>
      <p:bldP spid="143" grpId="0" animBg="1"/>
      <p:bldP spid="143" grpId="1" animBg="1"/>
      <p:bldP spid="14" grpId="0"/>
      <p:bldP spid="150" grpId="0"/>
      <p:bldP spid="151" grpId="0"/>
      <p:bldP spid="141" grpId="0" animBg="1"/>
      <p:bldP spid="14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hteck 9"/>
          <p:cNvSpPr/>
          <p:nvPr/>
        </p:nvSpPr>
        <p:spPr>
          <a:xfrm>
            <a:off x="310392" y="2181138"/>
            <a:ext cx="1115735" cy="1694576"/>
          </a:xfrm>
          <a:prstGeom prst="rect">
            <a:avLst/>
          </a:prstGeom>
          <a:gradFill flip="none" rotWithShape="1">
            <a:gsLst>
              <a:gs pos="0">
                <a:schemeClr val="accent1">
                  <a:lumMod val="60000"/>
                  <a:lumOff val="40000"/>
                </a:schemeClr>
              </a:gs>
              <a:gs pos="40000">
                <a:schemeClr val="accent1">
                  <a:lumMod val="75000"/>
                </a:schemeClr>
              </a:gs>
              <a:gs pos="89000">
                <a:schemeClr val="accent1">
                  <a:lumMod val="75000"/>
                </a:schemeClr>
              </a:gs>
              <a:gs pos="100000">
                <a:schemeClr val="accent1">
                  <a:lumMod val="5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5" name="Tabelle 5"/>
          <p:cNvGraphicFramePr>
            <a:graphicFrameLocks noGrp="1"/>
          </p:cNvGraphicFramePr>
          <p:nvPr>
            <p:extLst>
              <p:ext uri="{D42A27DB-BD31-4B8C-83A1-F6EECF244321}">
                <p14:modId xmlns:p14="http://schemas.microsoft.com/office/powerpoint/2010/main" val="3383084297"/>
              </p:ext>
            </p:extLst>
          </p:nvPr>
        </p:nvGraphicFramePr>
        <p:xfrm>
          <a:off x="6464072" y="2427526"/>
          <a:ext cx="1756925" cy="3048000"/>
        </p:xfrm>
        <a:graphic>
          <a:graphicData uri="http://schemas.openxmlformats.org/drawingml/2006/table">
            <a:tbl>
              <a:tblPr firstRow="1" bandRow="1">
                <a:tableStyleId>{5940675A-B579-460E-94D1-54222C63F5DA}</a:tableStyleId>
              </a:tblPr>
              <a:tblGrid>
                <a:gridCol w="1216151"/>
                <a:gridCol w="540774"/>
              </a:tblGrid>
              <a:tr h="288000">
                <a:tc>
                  <a:txBody>
                    <a:bodyPr/>
                    <a:lstStyle/>
                    <a:p>
                      <a:pPr algn="l"/>
                      <a:r>
                        <a:rPr lang="en-US" sz="1400" dirty="0" smtClean="0">
                          <a:latin typeface="+mn-lt"/>
                          <a:ea typeface="Cambria Math" panose="02040503050406030204" pitchFamily="18" charset="0"/>
                          <a:cs typeface="Courier New" panose="02070309020205020404" pitchFamily="49" charset="0"/>
                        </a:rPr>
                        <a:t>BMW</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mn-lt"/>
                          <a:ea typeface="Cambria Math" panose="02040503050406030204" pitchFamily="18" charset="0"/>
                          <a:cs typeface="Courier New" panose="02070309020205020404" pitchFamily="49" charset="0"/>
                        </a:rPr>
                        <a:t>53.8</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Cambria Math" panose="02040503050406030204" pitchFamily="18" charset="0"/>
                          <a:ea typeface="Cambria Math" panose="02040503050406030204" pitchFamily="18" charset="0"/>
                          <a:cs typeface="Courier New" panose="02070309020205020404" pitchFamily="49" charset="0"/>
                        </a:rPr>
                        <a:t>80992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HANAUER</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TECHNIK</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15383">
                <a:tc>
                  <a:txBody>
                    <a:bodyPr/>
                    <a:lstStyle/>
                    <a:p>
                      <a:pPr algn="l"/>
                      <a:r>
                        <a:rPr lang="en-US" sz="1400" dirty="0" smtClean="0">
                          <a:latin typeface="+mn-lt"/>
                          <a:ea typeface="Cambria Math" panose="02040503050406030204" pitchFamily="18" charset="0"/>
                          <a:cs typeface="Courier New" panose="02070309020205020404" pitchFamily="49" charset="0"/>
                        </a:rPr>
                        <a:t>46</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SERVICE</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MUENCHEN</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smtClean="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UND</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smtClean="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GMBH</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STRASSE</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2" name="Titel 1"/>
          <p:cNvSpPr>
            <a:spLocks noGrp="1"/>
          </p:cNvSpPr>
          <p:nvPr>
            <p:ph type="title"/>
          </p:nvPr>
        </p:nvSpPr>
        <p:spPr/>
        <p:txBody>
          <a:bodyPr/>
          <a:lstStyle/>
          <a:p>
            <a:r>
              <a:rPr lang="en-US" dirty="0" smtClean="0"/>
              <a:t>Identity Completion</a:t>
            </a:r>
            <a:endParaRPr lang="en-US" dirty="0"/>
          </a:p>
        </p:txBody>
      </p:sp>
      <p:sp>
        <p:nvSpPr>
          <p:cNvPr id="16" name="Textfeld 15"/>
          <p:cNvSpPr txBox="1"/>
          <p:nvPr/>
        </p:nvSpPr>
        <p:spPr>
          <a:xfrm>
            <a:off x="2030596" y="1806293"/>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44" name="Gruppieren 43"/>
          <p:cNvGrpSpPr/>
          <p:nvPr/>
        </p:nvGrpSpPr>
        <p:grpSpPr>
          <a:xfrm>
            <a:off x="2840739" y="5050114"/>
            <a:ext cx="400050" cy="166688"/>
            <a:chOff x="2565435" y="5266418"/>
            <a:chExt cx="400050" cy="166688"/>
          </a:xfrm>
        </p:grpSpPr>
        <p:grpSp>
          <p:nvGrpSpPr>
            <p:cNvPr id="18" name="Gruppieren 17"/>
            <p:cNvGrpSpPr/>
            <p:nvPr/>
          </p:nvGrpSpPr>
          <p:grpSpPr>
            <a:xfrm>
              <a:off x="2565435" y="5266418"/>
              <a:ext cx="200025" cy="166688"/>
              <a:chOff x="261938" y="4457700"/>
              <a:chExt cx="200025" cy="166688"/>
            </a:xfrm>
          </p:grpSpPr>
          <p:cxnSp>
            <p:nvCxnSpPr>
              <p:cNvPr id="22" name="Gerader Verbinder 21"/>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3" name="Gerader Verbinder 22"/>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19" name="Gruppieren 18"/>
            <p:cNvGrpSpPr/>
            <p:nvPr/>
          </p:nvGrpSpPr>
          <p:grpSpPr>
            <a:xfrm>
              <a:off x="2765460" y="5266418"/>
              <a:ext cx="200025" cy="166688"/>
              <a:chOff x="261938" y="4457700"/>
              <a:chExt cx="200025" cy="166688"/>
            </a:xfrm>
          </p:grpSpPr>
          <p:cxnSp>
            <p:nvCxnSpPr>
              <p:cNvPr id="20" name="Gerader Verbinder 19"/>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1" name="Gerader Verbinder 20"/>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43" name="Gruppieren 42"/>
          <p:cNvGrpSpPr/>
          <p:nvPr/>
        </p:nvGrpSpPr>
        <p:grpSpPr>
          <a:xfrm>
            <a:off x="3239971" y="5051049"/>
            <a:ext cx="400050" cy="166688"/>
            <a:chOff x="2964667" y="5267353"/>
            <a:chExt cx="400050" cy="166688"/>
          </a:xfrm>
        </p:grpSpPr>
        <p:grpSp>
          <p:nvGrpSpPr>
            <p:cNvPr id="25" name="Gruppieren 24"/>
            <p:cNvGrpSpPr/>
            <p:nvPr/>
          </p:nvGrpSpPr>
          <p:grpSpPr>
            <a:xfrm>
              <a:off x="2964667" y="5267353"/>
              <a:ext cx="200025" cy="166688"/>
              <a:chOff x="261938" y="4457700"/>
              <a:chExt cx="200025" cy="166688"/>
            </a:xfrm>
          </p:grpSpPr>
          <p:cxnSp>
            <p:nvCxnSpPr>
              <p:cNvPr id="29" name="Gerader Verbinder 28"/>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0" name="Gerader Verbinder 29"/>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26" name="Gruppieren 25"/>
            <p:cNvGrpSpPr/>
            <p:nvPr/>
          </p:nvGrpSpPr>
          <p:grpSpPr>
            <a:xfrm>
              <a:off x="3164692" y="5267353"/>
              <a:ext cx="200025" cy="166688"/>
              <a:chOff x="261938" y="4457700"/>
              <a:chExt cx="200025" cy="166688"/>
            </a:xfrm>
          </p:grpSpPr>
          <p:cxnSp>
            <p:nvCxnSpPr>
              <p:cNvPr id="27" name="Gerader Verbinder 26"/>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42" name="Gruppieren 41"/>
          <p:cNvGrpSpPr/>
          <p:nvPr/>
        </p:nvGrpSpPr>
        <p:grpSpPr>
          <a:xfrm>
            <a:off x="3642007" y="5051984"/>
            <a:ext cx="207012" cy="166688"/>
            <a:chOff x="3366703" y="5268288"/>
            <a:chExt cx="207012" cy="166688"/>
          </a:xfrm>
        </p:grpSpPr>
        <p:cxnSp>
          <p:nvCxnSpPr>
            <p:cNvPr id="32" name="Gerader Verbinder 31"/>
            <p:cNvCxnSpPr/>
            <p:nvPr/>
          </p:nvCxnSpPr>
          <p:spPr>
            <a:xfrm>
              <a:off x="3366703" y="5268288"/>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p:nvCxnSpPr>
          <p:spPr>
            <a:xfrm flipH="1">
              <a:off x="3466716" y="5275686"/>
              <a:ext cx="106999" cy="159290"/>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34" name="Textfeld 33"/>
          <p:cNvSpPr txBox="1"/>
          <p:nvPr/>
        </p:nvSpPr>
        <p:spPr>
          <a:xfrm>
            <a:off x="2115555" y="2788873"/>
            <a:ext cx="609462"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15634</a:t>
            </a:r>
            <a:endParaRPr lang="en-US" sz="1100" dirty="0">
              <a:latin typeface="Courier New" panose="02070309020205020404" pitchFamily="49" charset="0"/>
              <a:cs typeface="Courier New" panose="02070309020205020404" pitchFamily="49" charset="0"/>
            </a:endParaRPr>
          </a:p>
        </p:txBody>
      </p:sp>
      <p:grpSp>
        <p:nvGrpSpPr>
          <p:cNvPr id="41" name="Gruppieren 40"/>
          <p:cNvGrpSpPr/>
          <p:nvPr/>
        </p:nvGrpSpPr>
        <p:grpSpPr>
          <a:xfrm>
            <a:off x="2696651" y="5056747"/>
            <a:ext cx="144334" cy="163400"/>
            <a:chOff x="2421347" y="5273051"/>
            <a:chExt cx="144334" cy="163400"/>
          </a:xfrm>
        </p:grpSpPr>
        <p:cxnSp>
          <p:nvCxnSpPr>
            <p:cNvPr id="36" name="Gerader Verbinder 35"/>
            <p:cNvCxnSpPr/>
            <p:nvPr/>
          </p:nvCxnSpPr>
          <p:spPr>
            <a:xfrm>
              <a:off x="2421347" y="5273051"/>
              <a:ext cx="72897" cy="163400"/>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7" name="Gerader Verbinder 36"/>
            <p:cNvCxnSpPr/>
            <p:nvPr/>
          </p:nvCxnSpPr>
          <p:spPr>
            <a:xfrm flipH="1">
              <a:off x="2491863" y="5274525"/>
              <a:ext cx="73818" cy="15716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38" name="Textfeld 37"/>
          <p:cNvSpPr txBox="1"/>
          <p:nvPr/>
        </p:nvSpPr>
        <p:spPr>
          <a:xfrm>
            <a:off x="2604397" y="1468179"/>
            <a:ext cx="922560" cy="307777"/>
          </a:xfrm>
          <a:prstGeom prst="rect">
            <a:avLst/>
          </a:prstGeom>
          <a:noFill/>
        </p:spPr>
        <p:txBody>
          <a:bodyPr wrap="none" rtlCol="0">
            <a:spAutoFit/>
          </a:bodyPr>
          <a:lstStyle/>
          <a:p>
            <a:r>
              <a:rPr lang="en-US" sz="1400" dirty="0" err="1" smtClean="0"/>
              <a:t>baseindex</a:t>
            </a:r>
            <a:endParaRPr lang="en-US" sz="1400" dirty="0"/>
          </a:p>
        </p:txBody>
      </p:sp>
      <mc:AlternateContent xmlns:mc="http://schemas.openxmlformats.org/markup-compatibility/2006" xmlns:a14="http://schemas.microsoft.com/office/drawing/2010/main">
        <mc:Choice Requires="a14">
          <p:sp>
            <p:nvSpPr>
              <p:cNvPr id="39" name="Textfeld 38"/>
              <p:cNvSpPr txBox="1"/>
              <p:nvPr/>
            </p:nvSpPr>
            <p:spPr>
              <a:xfrm>
                <a:off x="2697086" y="5242448"/>
                <a:ext cx="776816"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𝑏𝑎𝑠𝑒</m:t>
                          </m:r>
                        </m:sub>
                      </m:sSub>
                      <m:r>
                        <a:rPr lang="de-DE" sz="1400" b="0" i="1" smtClean="0">
                          <a:latin typeface="Cambria Math" panose="02040503050406030204" pitchFamily="18" charset="0"/>
                        </a:rPr>
                        <m:t>+1</m:t>
                      </m:r>
                    </m:oMath>
                  </m:oMathPara>
                </a14:m>
                <a:endParaRPr lang="en-US" sz="1400" dirty="0"/>
              </a:p>
            </p:txBody>
          </p:sp>
        </mc:Choice>
        <mc:Fallback xmlns="">
          <p:sp>
            <p:nvSpPr>
              <p:cNvPr id="39" name="Textfeld 38"/>
              <p:cNvSpPr txBox="1">
                <a:spLocks noRot="1" noChangeAspect="1" noMove="1" noResize="1" noEditPoints="1" noAdjustHandles="1" noChangeArrowheads="1" noChangeShapeType="1" noTextEdit="1"/>
              </p:cNvSpPr>
              <p:nvPr/>
            </p:nvSpPr>
            <p:spPr>
              <a:xfrm>
                <a:off x="2697086" y="5242448"/>
                <a:ext cx="776816" cy="215444"/>
              </a:xfrm>
              <a:prstGeom prst="rect">
                <a:avLst/>
              </a:prstGeom>
              <a:blipFill rotWithShape="0">
                <a:blip r:embed="rId2"/>
                <a:stretch>
                  <a:fillRect l="-4688" r="-3906" b="-14286"/>
                </a:stretch>
              </a:blipFill>
            </p:spPr>
            <p:txBody>
              <a:bodyPr/>
              <a:lstStyle/>
              <a:p>
                <a:r>
                  <a:rPr lang="en-US">
                    <a:noFill/>
                  </a:rPr>
                  <a:t> </a:t>
                </a:r>
              </a:p>
            </p:txBody>
          </p:sp>
        </mc:Fallback>
      </mc:AlternateContent>
      <p:sp>
        <p:nvSpPr>
          <p:cNvPr id="47" name="Textfeld 46"/>
          <p:cNvSpPr txBox="1"/>
          <p:nvPr/>
        </p:nvSpPr>
        <p:spPr>
          <a:xfrm>
            <a:off x="4696527" y="1801376"/>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48" name="Gruppieren 47"/>
          <p:cNvGrpSpPr/>
          <p:nvPr/>
        </p:nvGrpSpPr>
        <p:grpSpPr>
          <a:xfrm>
            <a:off x="5490535" y="5778835"/>
            <a:ext cx="400050" cy="166688"/>
            <a:chOff x="2565435" y="5266418"/>
            <a:chExt cx="400050" cy="166688"/>
          </a:xfrm>
        </p:grpSpPr>
        <p:grpSp>
          <p:nvGrpSpPr>
            <p:cNvPr id="49" name="Gruppieren 48"/>
            <p:cNvGrpSpPr/>
            <p:nvPr/>
          </p:nvGrpSpPr>
          <p:grpSpPr>
            <a:xfrm>
              <a:off x="2565435" y="5266418"/>
              <a:ext cx="200025" cy="166688"/>
              <a:chOff x="261938" y="4457700"/>
              <a:chExt cx="200025" cy="166688"/>
            </a:xfrm>
          </p:grpSpPr>
          <p:cxnSp>
            <p:nvCxnSpPr>
              <p:cNvPr id="53" name="Gerader Verbinder 52"/>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4" name="Gerader Verbinder 53"/>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50" name="Gruppieren 49"/>
            <p:cNvGrpSpPr/>
            <p:nvPr/>
          </p:nvGrpSpPr>
          <p:grpSpPr>
            <a:xfrm>
              <a:off x="2765460" y="5266418"/>
              <a:ext cx="200025" cy="166688"/>
              <a:chOff x="261938" y="4457700"/>
              <a:chExt cx="200025" cy="166688"/>
            </a:xfrm>
          </p:grpSpPr>
          <p:cxnSp>
            <p:nvCxnSpPr>
              <p:cNvPr id="51" name="Gerader Verbinder 50"/>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2" name="Gerader Verbinder 51"/>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55" name="Gruppieren 54"/>
          <p:cNvGrpSpPr/>
          <p:nvPr/>
        </p:nvGrpSpPr>
        <p:grpSpPr>
          <a:xfrm>
            <a:off x="5889767" y="5779770"/>
            <a:ext cx="400050" cy="166688"/>
            <a:chOff x="2964667" y="5267353"/>
            <a:chExt cx="400050" cy="166688"/>
          </a:xfrm>
        </p:grpSpPr>
        <p:grpSp>
          <p:nvGrpSpPr>
            <p:cNvPr id="56" name="Gruppieren 55"/>
            <p:cNvGrpSpPr/>
            <p:nvPr/>
          </p:nvGrpSpPr>
          <p:grpSpPr>
            <a:xfrm>
              <a:off x="2964667" y="5267353"/>
              <a:ext cx="200025" cy="166688"/>
              <a:chOff x="261938" y="4457700"/>
              <a:chExt cx="200025" cy="166688"/>
            </a:xfrm>
          </p:grpSpPr>
          <p:cxnSp>
            <p:nvCxnSpPr>
              <p:cNvPr id="60" name="Gerader Verbinder 59"/>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1" name="Gerader Verbinder 60"/>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57" name="Gruppieren 56"/>
            <p:cNvGrpSpPr/>
            <p:nvPr/>
          </p:nvGrpSpPr>
          <p:grpSpPr>
            <a:xfrm>
              <a:off x="3164692" y="5267353"/>
              <a:ext cx="200025" cy="166688"/>
              <a:chOff x="261938" y="4457700"/>
              <a:chExt cx="200025" cy="166688"/>
            </a:xfrm>
          </p:grpSpPr>
          <p:cxnSp>
            <p:nvCxnSpPr>
              <p:cNvPr id="58" name="Gerader Verbinder 57"/>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9" name="Gerader Verbinder 58"/>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62" name="Gruppieren 61"/>
          <p:cNvGrpSpPr/>
          <p:nvPr/>
        </p:nvGrpSpPr>
        <p:grpSpPr>
          <a:xfrm>
            <a:off x="6291803" y="5780705"/>
            <a:ext cx="170910" cy="166688"/>
            <a:chOff x="3366703" y="5268288"/>
            <a:chExt cx="170910" cy="166688"/>
          </a:xfrm>
        </p:grpSpPr>
        <p:cxnSp>
          <p:nvCxnSpPr>
            <p:cNvPr id="63" name="Gerader Verbinder 62"/>
            <p:cNvCxnSpPr/>
            <p:nvPr/>
          </p:nvCxnSpPr>
          <p:spPr>
            <a:xfrm>
              <a:off x="3366703" y="5268288"/>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H="1">
              <a:off x="3466717" y="5272923"/>
              <a:ext cx="70896" cy="16205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66" name="Gruppieren 65"/>
          <p:cNvGrpSpPr/>
          <p:nvPr/>
        </p:nvGrpSpPr>
        <p:grpSpPr>
          <a:xfrm>
            <a:off x="5346447" y="5785468"/>
            <a:ext cx="144334" cy="163400"/>
            <a:chOff x="2421347" y="5273051"/>
            <a:chExt cx="144334" cy="163400"/>
          </a:xfrm>
        </p:grpSpPr>
        <p:cxnSp>
          <p:nvCxnSpPr>
            <p:cNvPr id="67" name="Gerader Verbinder 66"/>
            <p:cNvCxnSpPr/>
            <p:nvPr/>
          </p:nvCxnSpPr>
          <p:spPr>
            <a:xfrm>
              <a:off x="2421347" y="5273051"/>
              <a:ext cx="72897" cy="163400"/>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flipH="1">
              <a:off x="2491863" y="5274525"/>
              <a:ext cx="73818" cy="15716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73" name="Textfeld 72"/>
          <p:cNvSpPr txBox="1"/>
          <p:nvPr/>
        </p:nvSpPr>
        <p:spPr>
          <a:xfrm>
            <a:off x="4696527" y="548880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124944</a:t>
            </a:r>
            <a:endParaRPr lang="en-US" sz="1100" dirty="0">
              <a:latin typeface="Courier New" panose="02070309020205020404" pitchFamily="49" charset="0"/>
              <a:cs typeface="Courier New" panose="02070309020205020404" pitchFamily="49" charset="0"/>
            </a:endParaRPr>
          </a:p>
        </p:txBody>
      </p:sp>
      <p:graphicFrame>
        <p:nvGraphicFramePr>
          <p:cNvPr id="76" name="Tabelle 75"/>
          <p:cNvGraphicFramePr>
            <a:graphicFrameLocks noGrp="1"/>
          </p:cNvGraphicFramePr>
          <p:nvPr>
            <p:extLst>
              <p:ext uri="{D42A27DB-BD31-4B8C-83A1-F6EECF244321}">
                <p14:modId xmlns:p14="http://schemas.microsoft.com/office/powerpoint/2010/main" val="2682465492"/>
              </p:ext>
            </p:extLst>
          </p:nvPr>
        </p:nvGraphicFramePr>
        <p:xfrm>
          <a:off x="261924" y="604568"/>
          <a:ext cx="9456258" cy="795120"/>
        </p:xfrm>
        <a:graphic>
          <a:graphicData uri="http://schemas.openxmlformats.org/drawingml/2006/table">
            <a:tbl>
              <a:tblPr firstRow="1" bandRow="1">
                <a:tableStyleId>{2D5ABB26-0587-4C30-8999-92F81FD0307C}</a:tableStyleId>
              </a:tblPr>
              <a:tblGrid>
                <a:gridCol w="882557"/>
                <a:gridCol w="1253655"/>
                <a:gridCol w="821655"/>
                <a:gridCol w="1072800"/>
                <a:gridCol w="1000800"/>
                <a:gridCol w="671881"/>
                <a:gridCol w="1181655"/>
                <a:gridCol w="748800"/>
                <a:gridCol w="856800"/>
                <a:gridCol w="965655"/>
              </a:tblGrid>
              <a:tr h="252000">
                <a:tc>
                  <a:txBody>
                    <a:bodyPr/>
                    <a:lstStyle/>
                    <a:p>
                      <a:pPr algn="l"/>
                      <a:r>
                        <a:rPr lang="en-US" sz="1200" dirty="0" smtClean="0">
                          <a:solidFill>
                            <a:srgbClr val="00B0F0"/>
                          </a:solidFill>
                        </a:rPr>
                        <a:t>❶</a:t>
                      </a:r>
                      <a:r>
                        <a:rPr lang="en-US" sz="1200" dirty="0" smtClean="0">
                          <a:solidFill>
                            <a:schemeClr val="tx1"/>
                          </a:solidFill>
                        </a:rPr>
                        <a:t>BMW</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FORSCHUNG</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❸</a:t>
                      </a:r>
                      <a:r>
                        <a:rPr lang="en-US" sz="1200" dirty="0" smtClean="0">
                          <a:solidFill>
                            <a:schemeClr val="tx1"/>
                          </a:solidFill>
                        </a:rPr>
                        <a:t>80992</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HANAUER</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TECHNIK</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46</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❹</a:t>
                      </a:r>
                      <a:r>
                        <a:rPr lang="en-US" sz="1200" dirty="0" smtClean="0">
                          <a:solidFill>
                            <a:schemeClr val="tx1"/>
                          </a:solidFill>
                        </a:rPr>
                        <a:t>MUENCHEN</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UND</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GMBH</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STRASSE</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9.1</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1.2</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0.9</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1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cs typeface="Courier New" panose="02070309020205020404" pitchFamily="49" charset="0"/>
                        </a:rPr>
                        <a:t>2150179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cs typeface="Courier New" panose="02070309020205020404" pitchFamily="49" charset="0"/>
                        </a:rPr>
                        <a:t>2172419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2179375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2182779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2186398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2187556</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2188161</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2188227</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2188228</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grpSp>
        <p:nvGrpSpPr>
          <p:cNvPr id="85" name="Gruppieren 84"/>
          <p:cNvGrpSpPr/>
          <p:nvPr/>
        </p:nvGrpSpPr>
        <p:grpSpPr>
          <a:xfrm>
            <a:off x="9712908" y="1134000"/>
            <a:ext cx="1425678" cy="307777"/>
            <a:chOff x="10343535" y="1140542"/>
            <a:chExt cx="1425678" cy="307777"/>
          </a:xfrm>
        </p:grpSpPr>
        <p:cxnSp>
          <p:nvCxnSpPr>
            <p:cNvPr id="81" name="Gerade Verbindung mit Pfeil 80"/>
            <p:cNvCxnSpPr/>
            <p:nvPr/>
          </p:nvCxnSpPr>
          <p:spPr>
            <a:xfrm flipV="1">
              <a:off x="10343535" y="1288026"/>
              <a:ext cx="1425678" cy="9832"/>
            </a:xfrm>
            <a:prstGeom prst="straightConnector1">
              <a:avLst/>
            </a:prstGeom>
            <a:ln w="228600">
              <a:solidFill>
                <a:srgbClr val="00B0F0"/>
              </a:solidFill>
              <a:headEnd type="none" w="sm" len="lg"/>
              <a:tailEnd type="triangle" w="sm" len="sm"/>
            </a:ln>
          </p:spPr>
          <p:style>
            <a:lnRef idx="1">
              <a:schemeClr val="accent1"/>
            </a:lnRef>
            <a:fillRef idx="0">
              <a:schemeClr val="accent1"/>
            </a:fillRef>
            <a:effectRef idx="0">
              <a:schemeClr val="accent1"/>
            </a:effectRef>
            <a:fontRef idx="minor">
              <a:schemeClr val="tx1"/>
            </a:fontRef>
          </p:style>
        </p:cxnSp>
        <p:sp>
          <p:nvSpPr>
            <p:cNvPr id="84" name="Textfeld 83"/>
            <p:cNvSpPr txBox="1"/>
            <p:nvPr/>
          </p:nvSpPr>
          <p:spPr>
            <a:xfrm>
              <a:off x="10343535" y="1140542"/>
              <a:ext cx="914802" cy="307777"/>
            </a:xfrm>
            <a:prstGeom prst="rect">
              <a:avLst/>
            </a:prstGeom>
            <a:noFill/>
          </p:spPr>
          <p:txBody>
            <a:bodyPr wrap="none" rtlCol="0">
              <a:spAutoFit/>
            </a:bodyPr>
            <a:lstStyle/>
            <a:p>
              <a:r>
                <a:rPr lang="en-US" sz="1400" dirty="0">
                  <a:solidFill>
                    <a:schemeClr val="bg1"/>
                  </a:solidFill>
                </a:rPr>
                <a:t>s</a:t>
              </a:r>
              <a:r>
                <a:rPr lang="en-US" sz="1400" dirty="0" smtClean="0">
                  <a:solidFill>
                    <a:schemeClr val="bg1"/>
                  </a:solidFill>
                </a:rPr>
                <a:t>ort order</a:t>
              </a:r>
              <a:endParaRPr lang="en-US" sz="1400" dirty="0">
                <a:solidFill>
                  <a:schemeClr val="bg1"/>
                </a:solidFill>
              </a:endParaRPr>
            </a:p>
          </p:txBody>
        </p:sp>
      </p:grpSp>
      <p:sp>
        <p:nvSpPr>
          <p:cNvPr id="86" name="Rechteck 85"/>
          <p:cNvSpPr/>
          <p:nvPr/>
        </p:nvSpPr>
        <p:spPr>
          <a:xfrm>
            <a:off x="304798" y="3274141"/>
            <a:ext cx="1134000" cy="313200"/>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feld 10"/>
          <p:cNvSpPr txBox="1"/>
          <p:nvPr/>
        </p:nvSpPr>
        <p:spPr>
          <a:xfrm>
            <a:off x="531913" y="3272585"/>
            <a:ext cx="681597" cy="307777"/>
          </a:xfrm>
          <a:prstGeom prst="rect">
            <a:avLst/>
          </a:prstGeom>
          <a:noFill/>
        </p:spPr>
        <p:txBody>
          <a:bodyPr wrap="none" rtlCol="0">
            <a:spAutoFit/>
          </a:bodyPr>
          <a:lstStyle/>
          <a:p>
            <a:r>
              <a:rPr lang="en-US" sz="1400" dirty="0" smtClean="0">
                <a:solidFill>
                  <a:schemeClr val="bg1"/>
                </a:solidFill>
                <a:latin typeface="Cambria Math" panose="02040503050406030204" pitchFamily="18" charset="0"/>
                <a:ea typeface="Cambria Math" panose="02040503050406030204" pitchFamily="18" charset="0"/>
              </a:rPr>
              <a:t>15633</a:t>
            </a:r>
            <a:endParaRPr lang="en-US" sz="1400" dirty="0">
              <a:solidFill>
                <a:schemeClr val="bg1"/>
              </a:solidFill>
              <a:latin typeface="Cambria Math" panose="02040503050406030204" pitchFamily="18" charset="0"/>
              <a:ea typeface="Cambria Math" panose="02040503050406030204" pitchFamily="18" charset="0"/>
            </a:endParaRPr>
          </a:p>
        </p:txBody>
      </p:sp>
      <p:graphicFrame>
        <p:nvGraphicFramePr>
          <p:cNvPr id="15" name="Tabelle 5"/>
          <p:cNvGraphicFramePr>
            <a:graphicFrameLocks noGrp="1"/>
          </p:cNvGraphicFramePr>
          <p:nvPr>
            <p:extLst>
              <p:ext uri="{D42A27DB-BD31-4B8C-83A1-F6EECF244321}">
                <p14:modId xmlns:p14="http://schemas.microsoft.com/office/powerpoint/2010/main" val="4095827225"/>
              </p:ext>
            </p:extLst>
          </p:nvPr>
        </p:nvGraphicFramePr>
        <p:xfrm>
          <a:off x="2697086" y="1763851"/>
          <a:ext cx="1152000" cy="32961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index</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124935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124944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016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2" name="Textfeld 11"/>
          <p:cNvSpPr txBox="1"/>
          <p:nvPr/>
        </p:nvSpPr>
        <p:spPr>
          <a:xfrm>
            <a:off x="2115555" y="2454438"/>
            <a:ext cx="609462"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15633</a:t>
            </a:r>
            <a:endParaRPr lang="en-US" sz="1100" dirty="0">
              <a:latin typeface="Courier New" panose="02070309020205020404" pitchFamily="49" charset="0"/>
              <a:cs typeface="Courier New" panose="02070309020205020404" pitchFamily="49" charset="0"/>
            </a:endParaRPr>
          </a:p>
        </p:txBody>
      </p:sp>
      <p:sp>
        <p:nvSpPr>
          <p:cNvPr id="45" name="Textfeld 44"/>
          <p:cNvSpPr txBox="1"/>
          <p:nvPr/>
        </p:nvSpPr>
        <p:spPr>
          <a:xfrm>
            <a:off x="4696527" y="2449521"/>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124935</a:t>
            </a:r>
            <a:endParaRPr lang="en-US" sz="1100" dirty="0">
              <a:latin typeface="Courier New" panose="02070309020205020404" pitchFamily="49" charset="0"/>
              <a:cs typeface="Courier New" panose="02070309020205020404" pitchFamily="49" charset="0"/>
            </a:endParaRPr>
          </a:p>
        </p:txBody>
      </p:sp>
      <p:graphicFrame>
        <p:nvGraphicFramePr>
          <p:cNvPr id="46" name="Tabelle 5"/>
          <p:cNvGraphicFramePr>
            <a:graphicFrameLocks noGrp="1"/>
          </p:cNvGraphicFramePr>
          <p:nvPr>
            <p:extLst>
              <p:ext uri="{D42A27DB-BD31-4B8C-83A1-F6EECF244321}">
                <p14:modId xmlns:p14="http://schemas.microsoft.com/office/powerpoint/2010/main" val="3395385698"/>
              </p:ext>
            </p:extLst>
          </p:nvPr>
        </p:nvGraphicFramePr>
        <p:xfrm>
          <a:off x="5346882" y="1758934"/>
          <a:ext cx="1116000" cy="4023360"/>
        </p:xfrm>
        <a:graphic>
          <a:graphicData uri="http://schemas.openxmlformats.org/drawingml/2006/table">
            <a:tbl>
              <a:tblPr firstRow="1" bandRow="1">
                <a:tableStyleId>{5940675A-B579-460E-94D1-54222C63F5DA}</a:tableStyleId>
              </a:tblPr>
              <a:tblGrid>
                <a:gridCol w="1116000"/>
              </a:tblGrid>
              <a:tr h="324000">
                <a:tc>
                  <a:txBody>
                    <a:bodyPr/>
                    <a:lstStyle/>
                    <a:p>
                      <a:pPr marL="0" indent="0" algn="r"/>
                      <a:r>
                        <a:rPr lang="en-US" sz="1800" dirty="0" smtClean="0">
                          <a:solidFill>
                            <a:schemeClr val="bg1"/>
                          </a:solidFill>
                        </a:rPr>
                        <a:t>target</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2150179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2179375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2182779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2186398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15383">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2187556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2188021 </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2188161</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2188225</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2188227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2188228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ourier New" panose="02070309020205020404" pitchFamily="49"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93" name="Textfeld 92"/>
          <p:cNvSpPr txBox="1"/>
          <p:nvPr/>
        </p:nvSpPr>
        <p:spPr>
          <a:xfrm>
            <a:off x="7677338" y="3031807"/>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9.1</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99" name="Rechteck 98"/>
          <p:cNvSpPr/>
          <p:nvPr/>
        </p:nvSpPr>
        <p:spPr>
          <a:xfrm>
            <a:off x="3219413" y="1187688"/>
            <a:ext cx="1072800" cy="216000"/>
          </a:xfrm>
          <a:prstGeom prst="rect">
            <a:avLst/>
          </a:prstGeom>
          <a:solidFill>
            <a:srgbClr val="00B0F0"/>
          </a:solidFill>
        </p:spPr>
        <p:txBody>
          <a:bodyPr wrap="none" lIns="0" tIns="0" rIns="0" bIns="0" anchor="ctr" anchorCtr="0">
            <a:noAutofit/>
          </a:bodyPr>
          <a:lstStyle/>
          <a:p>
            <a:pPr lvl="0" algn="ctr">
              <a:defRPr/>
            </a:pP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2182779</a:t>
            </a:r>
          </a:p>
        </p:txBody>
      </p:sp>
      <p:sp>
        <p:nvSpPr>
          <p:cNvPr id="100" name="Textfeld 99"/>
          <p:cNvSpPr txBox="1"/>
          <p:nvPr/>
        </p:nvSpPr>
        <p:spPr>
          <a:xfrm>
            <a:off x="7677338" y="3338116"/>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1.2</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2" name="Rechteck 101"/>
          <p:cNvSpPr/>
          <p:nvPr/>
        </p:nvSpPr>
        <p:spPr>
          <a:xfrm>
            <a:off x="4286213" y="1187688"/>
            <a:ext cx="1000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2186398</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03" name="Textfeld 102"/>
          <p:cNvSpPr txBox="1"/>
          <p:nvPr/>
        </p:nvSpPr>
        <p:spPr>
          <a:xfrm>
            <a:off x="7677338" y="3641603"/>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4" name="Rechteck 103"/>
          <p:cNvSpPr/>
          <p:nvPr/>
        </p:nvSpPr>
        <p:spPr>
          <a:xfrm>
            <a:off x="5292461" y="1187688"/>
            <a:ext cx="673200" cy="216000"/>
          </a:xfrm>
          <a:prstGeom prst="rect">
            <a:avLst/>
          </a:prstGeom>
          <a:solidFill>
            <a:srgbClr val="00B0F0"/>
          </a:solidFill>
        </p:spPr>
        <p:txBody>
          <a:bodyPr wrap="none" lIns="0" tIns="0" rIns="0" bIns="0" anchor="ctr" anchorCtr="0">
            <a:noAutofit/>
          </a:bodyPr>
          <a:lstStyle/>
          <a:p>
            <a:pPr lvl="0" algn="ctr">
              <a:defRPr/>
            </a:pP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2187556</a:t>
            </a:r>
          </a:p>
        </p:txBody>
      </p:sp>
      <p:sp>
        <p:nvSpPr>
          <p:cNvPr id="106" name="Textfeld 105"/>
          <p:cNvSpPr txBox="1"/>
          <p:nvPr/>
        </p:nvSpPr>
        <p:spPr>
          <a:xfrm>
            <a:off x="7677338" y="4249499"/>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10.0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7" name="Rechteck 106"/>
          <p:cNvSpPr/>
          <p:nvPr/>
        </p:nvSpPr>
        <p:spPr>
          <a:xfrm>
            <a:off x="5964024" y="1187688"/>
            <a:ext cx="1180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2188161</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08" name="Textfeld 107"/>
          <p:cNvSpPr txBox="1"/>
          <p:nvPr/>
        </p:nvSpPr>
        <p:spPr>
          <a:xfrm>
            <a:off x="7677338" y="4558923"/>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9" name="Rechteck 108"/>
          <p:cNvSpPr/>
          <p:nvPr/>
        </p:nvSpPr>
        <p:spPr>
          <a:xfrm>
            <a:off x="7142581" y="1187688"/>
            <a:ext cx="748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2188225</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10" name="Textfeld 109"/>
          <p:cNvSpPr txBox="1"/>
          <p:nvPr/>
        </p:nvSpPr>
        <p:spPr>
          <a:xfrm>
            <a:off x="7677338" y="4865232"/>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1" name="Rechteck 110"/>
          <p:cNvSpPr/>
          <p:nvPr/>
        </p:nvSpPr>
        <p:spPr>
          <a:xfrm>
            <a:off x="7892509" y="1187688"/>
            <a:ext cx="856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2188227</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12" name="Textfeld 111"/>
          <p:cNvSpPr txBox="1"/>
          <p:nvPr/>
        </p:nvSpPr>
        <p:spPr>
          <a:xfrm>
            <a:off x="7680259" y="5162487"/>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3" name="Rechteck 112"/>
          <p:cNvSpPr/>
          <p:nvPr/>
        </p:nvSpPr>
        <p:spPr>
          <a:xfrm>
            <a:off x="8751079" y="1187688"/>
            <a:ext cx="964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2188228</a:t>
            </a:r>
          </a:p>
        </p:txBody>
      </p:sp>
      <p:sp>
        <p:nvSpPr>
          <p:cNvPr id="115" name="Textfeld 114"/>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63.8</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4" name="Textfeld 113"/>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72.9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6" name="Textfeld 115"/>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74.1</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7" name="Textfeld 116"/>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73.8</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9" name="Textfeld 118"/>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83.8</a:t>
            </a:r>
            <a:endParaRPr lang="en-US" sz="1400" dirty="0">
              <a:solidFill>
                <a:schemeClr val="bg1"/>
              </a:solidFill>
              <a:latin typeface="Cambria Math" panose="02040503050406030204" pitchFamily="18" charset="0"/>
              <a:ea typeface="Cambria Math" panose="02040503050406030204" pitchFamily="18" charset="0"/>
            </a:endParaRPr>
          </a:p>
        </p:txBody>
      </p:sp>
      <mc:AlternateContent xmlns:mc="http://schemas.openxmlformats.org/markup-compatibility/2006" xmlns:a14="http://schemas.microsoft.com/office/drawing/2010/main">
        <mc:Choice Requires="a14">
          <p:sp>
            <p:nvSpPr>
              <p:cNvPr id="120" name="Textfeld 119"/>
              <p:cNvSpPr txBox="1"/>
              <p:nvPr/>
            </p:nvSpPr>
            <p:spPr>
              <a:xfrm>
                <a:off x="5346882" y="5960296"/>
                <a:ext cx="845488" cy="52174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subHide m:val="on"/>
                          <m:supHide m:val="on"/>
                          <m:ctrlPr>
                            <a:rPr lang="en-US" sz="1400" i="1" smtClean="0">
                              <a:latin typeface="Cambria Math" panose="02040503050406030204" pitchFamily="18" charset="0"/>
                            </a:rPr>
                          </m:ctrlPr>
                        </m:naryPr>
                        <m:sub/>
                        <m:sup/>
                        <m:e>
                          <m:r>
                            <a:rPr lang="de-DE" sz="1400" b="0" i="1" smtClean="0">
                              <a:latin typeface="Cambria Math" panose="02040503050406030204" pitchFamily="18" charset="0"/>
                            </a:rPr>
                            <m:t>𝑜𝑐𝑐𝑢𝑟𝑠</m:t>
                          </m:r>
                        </m:e>
                      </m:nary>
                    </m:oMath>
                  </m:oMathPara>
                </a14:m>
                <a:endParaRPr lang="en-US" sz="1400" dirty="0"/>
              </a:p>
            </p:txBody>
          </p:sp>
        </mc:Choice>
        <mc:Fallback xmlns="">
          <p:sp>
            <p:nvSpPr>
              <p:cNvPr id="120" name="Textfeld 119"/>
              <p:cNvSpPr txBox="1">
                <a:spLocks noRot="1" noChangeAspect="1" noMove="1" noResize="1" noEditPoints="1" noAdjustHandles="1" noChangeArrowheads="1" noChangeShapeType="1" noTextEdit="1"/>
              </p:cNvSpPr>
              <p:nvPr/>
            </p:nvSpPr>
            <p:spPr>
              <a:xfrm>
                <a:off x="5346882" y="5960296"/>
                <a:ext cx="845488" cy="521746"/>
              </a:xfrm>
              <a:prstGeom prst="rect">
                <a:avLst/>
              </a:prstGeom>
              <a:blipFill rotWithShape="0">
                <a:blip r:embed="rId3"/>
                <a:stretch>
                  <a:fillRect l="-76259" t="-147059" r="-82734" b="-207059"/>
                </a:stretch>
              </a:blipFill>
            </p:spPr>
            <p:txBody>
              <a:bodyPr/>
              <a:lstStyle/>
              <a:p>
                <a:r>
                  <a:rPr lang="en-US">
                    <a:noFill/>
                  </a:rPr>
                  <a:t> </a:t>
                </a:r>
              </a:p>
            </p:txBody>
          </p:sp>
        </mc:Fallback>
      </mc:AlternateContent>
      <p:sp>
        <p:nvSpPr>
          <p:cNvPr id="121" name="Textfeld 120"/>
          <p:cNvSpPr txBox="1"/>
          <p:nvPr/>
        </p:nvSpPr>
        <p:spPr>
          <a:xfrm>
            <a:off x="252883" y="1184938"/>
            <a:ext cx="900000" cy="216000"/>
          </a:xfrm>
          <a:prstGeom prst="rect">
            <a:avLst/>
          </a:prstGeom>
          <a:solidFill>
            <a:srgbClr val="00B0F0"/>
          </a:solidFill>
        </p:spPr>
        <p:txBody>
          <a:bodyPr wrap="square" lIns="0" tIns="0" rIns="0" bIns="0" rtlCol="0" anchor="ctr" anchorCtr="0">
            <a:spAutoFit/>
          </a:bodyPr>
          <a:lstStyle/>
          <a:p>
            <a:pPr algn="ctr"/>
            <a:r>
              <a:rPr lang="en-US" sz="1000" dirty="0" smtClean="0">
                <a:solidFill>
                  <a:schemeClr val="bg1"/>
                </a:solidFill>
                <a:latin typeface="Courier New" panose="02070309020205020404" pitchFamily="49" charset="0"/>
                <a:cs typeface="Courier New" panose="02070309020205020404" pitchFamily="49" charset="0"/>
              </a:rPr>
              <a:t>250179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22" name="Textfeld 121"/>
          <p:cNvSpPr txBox="1"/>
          <p:nvPr/>
        </p:nvSpPr>
        <p:spPr>
          <a:xfrm>
            <a:off x="1149742" y="1184938"/>
            <a:ext cx="123825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2172419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23" name="Textfeld 122"/>
          <p:cNvSpPr txBox="1"/>
          <p:nvPr/>
        </p:nvSpPr>
        <p:spPr>
          <a:xfrm>
            <a:off x="2395631" y="1184940"/>
            <a:ext cx="82800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2179375</a:t>
            </a:r>
            <a:endParaRPr lang="en-US" sz="1400" dirty="0">
              <a:solidFill>
                <a:schemeClr val="bg1"/>
              </a:solidFill>
              <a:latin typeface="Cambria Math" panose="02040503050406030204" pitchFamily="18" charset="0"/>
              <a:ea typeface="Cambria Math" panose="02040503050406030204" pitchFamily="18" charset="0"/>
            </a:endParaRPr>
          </a:p>
        </p:txBody>
      </p:sp>
      <p:graphicFrame>
        <p:nvGraphicFramePr>
          <p:cNvPr id="9" name="Tabelle 5"/>
          <p:cNvGraphicFramePr>
            <a:graphicFrameLocks noGrp="1"/>
          </p:cNvGraphicFramePr>
          <p:nvPr>
            <p:extLst>
              <p:ext uri="{D42A27DB-BD31-4B8C-83A1-F6EECF244321}">
                <p14:modId xmlns:p14="http://schemas.microsoft.com/office/powerpoint/2010/main" val="3615788746"/>
              </p:ext>
            </p:extLst>
          </p:nvPr>
        </p:nvGraphicFramePr>
        <p:xfrm>
          <a:off x="261920" y="1769806"/>
          <a:ext cx="1224000" cy="4179149"/>
        </p:xfrm>
        <a:graphic>
          <a:graphicData uri="http://schemas.openxmlformats.org/drawingml/2006/table">
            <a:tbl>
              <a:tblPr firstRow="1" bandRow="1">
                <a:tableStyleId>{5940675A-B579-460E-94D1-54222C63F5DA}</a:tableStyleId>
              </a:tblPr>
              <a:tblGrid>
                <a:gridCol w="1224000"/>
              </a:tblGrid>
              <a:tr h="362611">
                <a:tc>
                  <a:txBody>
                    <a:bodyPr/>
                    <a:lstStyle/>
                    <a:p>
                      <a:pPr marL="0" indent="0" algn="ctr"/>
                      <a:r>
                        <a:rPr lang="en-US" sz="1800" dirty="0" smtClean="0">
                          <a:solidFill>
                            <a:schemeClr val="bg1"/>
                          </a:solidFill>
                        </a:rPr>
                        <a:t>BUFFER</a:t>
                      </a:r>
                      <a:endParaRPr lang="en-US" sz="1800" dirty="0">
                        <a:solidFill>
                          <a:schemeClr val="bg1"/>
                        </a:solidFill>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3813389">
                <a:tc>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24" name="Textfeld 123"/>
          <p:cNvSpPr txBox="1"/>
          <p:nvPr/>
        </p:nvSpPr>
        <p:spPr>
          <a:xfrm>
            <a:off x="5255553" y="1468179"/>
            <a:ext cx="419538" cy="307777"/>
          </a:xfrm>
          <a:prstGeom prst="rect">
            <a:avLst/>
          </a:prstGeom>
          <a:noFill/>
        </p:spPr>
        <p:txBody>
          <a:bodyPr wrap="none" rtlCol="0">
            <a:spAutoFit/>
          </a:bodyPr>
          <a:lstStyle/>
          <a:p>
            <a:r>
              <a:rPr lang="en-US" sz="1400" dirty="0" err="1" smtClean="0"/>
              <a:t>reg</a:t>
            </a:r>
            <a:endParaRPr lang="en-US" sz="1400"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9</a:t>
            </a:fld>
            <a:endParaRPr lang="en-US" dirty="0"/>
          </a:p>
        </p:txBody>
      </p:sp>
      <p:sp>
        <p:nvSpPr>
          <p:cNvPr id="3" name="Textfeld 2"/>
          <p:cNvSpPr txBox="1"/>
          <p:nvPr/>
        </p:nvSpPr>
        <p:spPr>
          <a:xfrm>
            <a:off x="8448419" y="1468179"/>
            <a:ext cx="3678063" cy="1815882"/>
          </a:xfrm>
          <a:prstGeom prst="rect">
            <a:avLst/>
          </a:prstGeom>
          <a:noFill/>
        </p:spPr>
        <p:txBody>
          <a:bodyPr wrap="square" rtlCol="0">
            <a:spAutoFit/>
          </a:bodyPr>
          <a:lstStyle/>
          <a:p>
            <a:r>
              <a:rPr lang="en-US" sz="1400" dirty="0" smtClean="0">
                <a:solidFill>
                  <a:srgbClr val="00B0F0"/>
                </a:solidFill>
              </a:rPr>
              <a:t>Depth</a:t>
            </a:r>
          </a:p>
          <a:p>
            <a:r>
              <a:rPr lang="en-US" sz="1400" dirty="0" smtClean="0"/>
              <a:t>The default value for the BUFFER is 262,144.</a:t>
            </a:r>
          </a:p>
          <a:p>
            <a:r>
              <a:rPr lang="en-US" sz="1400" dirty="0" smtClean="0"/>
              <a:t>It can be increased to accommodate more homogenous databases or for specific search purposes, i.e. selection by legal form.</a:t>
            </a:r>
          </a:p>
          <a:p>
            <a:r>
              <a:rPr lang="en-US" sz="1400" dirty="0" smtClean="0"/>
              <a:t>The higher the Depth of the BUFFER the higher the amount of bycatch</a:t>
            </a:r>
            <a:r>
              <a:rPr lang="en-US" sz="1400" dirty="0"/>
              <a:t> </a:t>
            </a:r>
            <a:r>
              <a:rPr lang="en-US" sz="1400" dirty="0" smtClean="0"/>
              <a:t>to be rejected at the first stage.</a:t>
            </a:r>
          </a:p>
        </p:txBody>
      </p:sp>
      <p:sp>
        <p:nvSpPr>
          <p:cNvPr id="5" name="Rechteck 4"/>
          <p:cNvSpPr/>
          <p:nvPr/>
        </p:nvSpPr>
        <p:spPr>
          <a:xfrm>
            <a:off x="5352807" y="3032964"/>
            <a:ext cx="1116000" cy="306000"/>
          </a:xfrm>
          <a:prstGeom prst="rect">
            <a:avLst/>
          </a:prstGeom>
          <a:solidFill>
            <a:srgbClr val="00B0F0"/>
          </a:solidFill>
        </p:spPr>
        <p:txBody>
          <a:bodyPr wrap="none">
            <a:noAutofit/>
          </a:bodyPr>
          <a:lstStyle/>
          <a:p>
            <a:pPr algn="r"/>
            <a:r>
              <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2182779</a:t>
            </a:r>
          </a:p>
        </p:txBody>
      </p:sp>
      <p:sp>
        <p:nvSpPr>
          <p:cNvPr id="89" name="Rechteck 88"/>
          <p:cNvSpPr/>
          <p:nvPr/>
        </p:nvSpPr>
        <p:spPr>
          <a:xfrm>
            <a:off x="5352807" y="3349956"/>
            <a:ext cx="1116000" cy="306000"/>
          </a:xfrm>
          <a:prstGeom prst="rect">
            <a:avLst/>
          </a:prstGeom>
          <a:solidFill>
            <a:srgbClr val="00B0F0"/>
          </a:solidFill>
        </p:spPr>
        <p:txBody>
          <a:bodyPr wrap="none">
            <a:noAutofit/>
          </a:bodyPr>
          <a:lstStyle/>
          <a:p>
            <a:pPr algn="r"/>
            <a:r>
              <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2186398</a:t>
            </a: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0" name="Rechteck 89"/>
          <p:cNvSpPr/>
          <p:nvPr/>
        </p:nvSpPr>
        <p:spPr>
          <a:xfrm>
            <a:off x="5352807" y="3648660"/>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2187556</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2" name="Rechteck 91"/>
          <p:cNvSpPr/>
          <p:nvPr/>
        </p:nvSpPr>
        <p:spPr>
          <a:xfrm>
            <a:off x="5349759" y="4258260"/>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2188161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4" name="Rechteck 93"/>
          <p:cNvSpPr/>
          <p:nvPr/>
        </p:nvSpPr>
        <p:spPr>
          <a:xfrm>
            <a:off x="5349759" y="4566108"/>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2188225</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5" name="Rechteck 94"/>
          <p:cNvSpPr/>
          <p:nvPr/>
        </p:nvSpPr>
        <p:spPr>
          <a:xfrm>
            <a:off x="5346711" y="4864812"/>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2188227</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6" name="Rechteck 95"/>
          <p:cNvSpPr/>
          <p:nvPr/>
        </p:nvSpPr>
        <p:spPr>
          <a:xfrm>
            <a:off x="5346711" y="5175708"/>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2188228</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7" name="Textfeld 96"/>
          <p:cNvSpPr txBox="1"/>
          <p:nvPr/>
        </p:nvSpPr>
        <p:spPr>
          <a:xfrm>
            <a:off x="8211933" y="3927552"/>
            <a:ext cx="3364873" cy="307777"/>
          </a:xfrm>
          <a:prstGeom prst="rect">
            <a:avLst/>
          </a:prstGeom>
          <a:noFill/>
        </p:spPr>
        <p:txBody>
          <a:bodyPr wrap="square" rtlCol="0">
            <a:spAutoFit/>
          </a:bodyPr>
          <a:lstStyle/>
          <a:p>
            <a:r>
              <a:rPr lang="en-US" sz="1400" dirty="0" smtClean="0">
                <a:solidFill>
                  <a:srgbClr val="00B0F0"/>
                </a:solidFill>
              </a:rPr>
              <a:t>← Oblivious to surplus words of candidates</a:t>
            </a:r>
          </a:p>
        </p:txBody>
      </p:sp>
    </p:spTree>
    <p:extLst>
      <p:ext uri="{BB962C8B-B14F-4D97-AF65-F5344CB8AC3E}">
        <p14:creationId xmlns:p14="http://schemas.microsoft.com/office/powerpoint/2010/main" val="2717900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6"/>
                                        </p:tgtEl>
                                        <p:attrNameLst>
                                          <p:attrName>style.visibility</p:attrName>
                                        </p:attrNameLst>
                                      </p:cBhvr>
                                      <p:to>
                                        <p:strVal val="visible"/>
                                      </p:to>
                                    </p:set>
                                  </p:childTnLst>
                                </p:cTn>
                              </p:par>
                            </p:childTnLst>
                          </p:cTn>
                        </p:par>
                        <p:par>
                          <p:cTn id="7" fill="hold">
                            <p:stCondLst>
                              <p:cond delay="0"/>
                            </p:stCondLst>
                            <p:childTnLst>
                              <p:par>
                                <p:cTn id="8" presetID="42" presetClass="path" presetSubtype="0" accel="50000" decel="50000" fill="hold" grpId="1" nodeType="afterEffect">
                                  <p:stCondLst>
                                    <p:cond delay="0"/>
                                  </p:stCondLst>
                                  <p:childTnLst>
                                    <p:animMotion origin="layout" path="M -4.375E-6 -1.48148E-6 L 0.10105 0.00093 " pathEditMode="relative" rAng="0" ptsTypes="AA">
                                      <p:cBhvr>
                                        <p:cTn id="9" dur="1000" fill="hold"/>
                                        <p:tgtEl>
                                          <p:spTgt spid="86"/>
                                        </p:tgtEl>
                                        <p:attrNameLst>
                                          <p:attrName>ppt_x</p:attrName>
                                          <p:attrName>ppt_y</p:attrName>
                                        </p:attrNameLst>
                                      </p:cBhvr>
                                      <p:rCtr x="5052" y="46"/>
                                    </p:animMotion>
                                  </p:childTnLst>
                                </p:cTn>
                              </p:par>
                            </p:childTnLst>
                          </p:cTn>
                        </p:par>
                        <p:par>
                          <p:cTn id="10" fill="hold">
                            <p:stCondLst>
                              <p:cond delay="1000"/>
                            </p:stCondLst>
                            <p:childTnLst>
                              <p:par>
                                <p:cTn id="11" presetID="42" presetClass="path" presetSubtype="0" accel="50000" decel="50000" fill="hold" grpId="2" nodeType="afterEffect">
                                  <p:stCondLst>
                                    <p:cond delay="0"/>
                                  </p:stCondLst>
                                  <p:childTnLst>
                                    <p:animMotion origin="layout" path="M 0.10105 0.00093 L 0.10105 -0.12384 " pathEditMode="relative" rAng="0" ptsTypes="AA">
                                      <p:cBhvr>
                                        <p:cTn id="12" dur="1000" fill="hold"/>
                                        <p:tgtEl>
                                          <p:spTgt spid="86"/>
                                        </p:tgtEl>
                                        <p:attrNameLst>
                                          <p:attrName>ppt_x</p:attrName>
                                          <p:attrName>ppt_y</p:attrName>
                                        </p:attrNameLst>
                                      </p:cBhvr>
                                      <p:rCtr x="0" y="-6250"/>
                                    </p:animMotion>
                                  </p:childTnLst>
                                </p:cTn>
                              </p:par>
                            </p:childTnLst>
                          </p:cTn>
                        </p:par>
                        <p:par>
                          <p:cTn id="13" fill="hold">
                            <p:stCondLst>
                              <p:cond delay="2000"/>
                            </p:stCondLst>
                            <p:childTnLst>
                              <p:par>
                                <p:cTn id="14" presetID="42" presetClass="path" presetSubtype="0" accel="50000" decel="50000" fill="hold" grpId="3" nodeType="afterEffect">
                                  <p:stCondLst>
                                    <p:cond delay="0"/>
                                  </p:stCondLst>
                                  <p:childTnLst>
                                    <p:animMotion origin="layout" path="M 0.10105 -0.12384 L 0.19701 -0.12407 " pathEditMode="relative" rAng="0" ptsTypes="AA">
                                      <p:cBhvr>
                                        <p:cTn id="15" dur="1000" fill="hold"/>
                                        <p:tgtEl>
                                          <p:spTgt spid="86"/>
                                        </p:tgtEl>
                                        <p:attrNameLst>
                                          <p:attrName>ppt_x</p:attrName>
                                          <p:attrName>ppt_y</p:attrName>
                                        </p:attrNameLst>
                                      </p:cBhvr>
                                      <p:rCtr x="4792" y="-23"/>
                                    </p:animMotion>
                                  </p:childTnLst>
                                </p:cTn>
                              </p:par>
                            </p:childTnLst>
                          </p:cTn>
                        </p:par>
                        <p:par>
                          <p:cTn id="16" fill="hold">
                            <p:stCondLst>
                              <p:cond delay="3000"/>
                            </p:stCondLst>
                            <p:childTnLst>
                              <p:par>
                                <p:cTn id="17" presetID="42" presetClass="path" presetSubtype="0" accel="50000" decel="50000" fill="hold" grpId="4" nodeType="afterEffect">
                                  <p:stCondLst>
                                    <p:cond delay="0"/>
                                  </p:stCondLst>
                                  <p:childTnLst>
                                    <p:animMotion origin="layout" path="M 0.19701 -0.12407 L 0.19701 -0.10069 " pathEditMode="relative" rAng="0" ptsTypes="AA">
                                      <p:cBhvr>
                                        <p:cTn id="18" dur="1000" fill="hold"/>
                                        <p:tgtEl>
                                          <p:spTgt spid="86"/>
                                        </p:tgtEl>
                                        <p:attrNameLst>
                                          <p:attrName>ppt_x</p:attrName>
                                          <p:attrName>ppt_y</p:attrName>
                                        </p:attrNameLst>
                                      </p:cBhvr>
                                      <p:rCtr x="0" y="1157"/>
                                    </p:animMotion>
                                  </p:childTnLst>
                                </p:cTn>
                              </p:par>
                              <p:par>
                                <p:cTn id="19" presetID="6" presetClass="emph" presetSubtype="0" fill="hold" grpId="6" nodeType="withEffect">
                                  <p:stCondLst>
                                    <p:cond delay="0"/>
                                  </p:stCondLst>
                                  <p:childTnLst>
                                    <p:animScale>
                                      <p:cBhvr>
                                        <p:cTn id="20" dur="1000" fill="hold"/>
                                        <p:tgtEl>
                                          <p:spTgt spid="86"/>
                                        </p:tgtEl>
                                      </p:cBhvr>
                                      <p:by x="100000" y="200000"/>
                                    </p:animScale>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7" nodeType="clickEffect">
                                  <p:stCondLst>
                                    <p:cond delay="0"/>
                                  </p:stCondLst>
                                  <p:childTnLst>
                                    <p:animMotion origin="layout" path="M 0.19701 -0.10069 L 0.41263 0.07662 " pathEditMode="relative" rAng="0" ptsTypes="AA">
                                      <p:cBhvr>
                                        <p:cTn id="24" dur="2000" fill="hold"/>
                                        <p:tgtEl>
                                          <p:spTgt spid="86"/>
                                        </p:tgtEl>
                                        <p:attrNameLst>
                                          <p:attrName>ppt_x</p:attrName>
                                          <p:attrName>ppt_y</p:attrName>
                                        </p:attrNameLst>
                                      </p:cBhvr>
                                      <p:rCtr x="10781" y="8866"/>
                                    </p:animMotion>
                                  </p:childTnLst>
                                </p:cTn>
                              </p:par>
                              <p:par>
                                <p:cTn id="25" presetID="6" presetClass="emph" presetSubtype="0" fill="hold" grpId="9" nodeType="withEffect">
                                  <p:stCondLst>
                                    <p:cond delay="0"/>
                                  </p:stCondLst>
                                  <p:childTnLst>
                                    <p:animScale>
                                      <p:cBhvr>
                                        <p:cTn id="26" dur="2000" fill="hold"/>
                                        <p:tgtEl>
                                          <p:spTgt spid="86"/>
                                        </p:tgtEl>
                                      </p:cBhvr>
                                      <p:by x="100000" y="490000"/>
                                    </p:animScale>
                                  </p:childTnLst>
                                </p:cTn>
                              </p:par>
                            </p:childTnLst>
                          </p:cTn>
                        </p:par>
                        <p:par>
                          <p:cTn id="27" fill="hold">
                            <p:stCondLst>
                              <p:cond delay="2000"/>
                            </p:stCondLst>
                            <p:childTnLst>
                              <p:par>
                                <p:cTn id="28" presetID="22" presetClass="entr" presetSubtype="8" fill="hold" nodeType="afterEffect">
                                  <p:stCondLst>
                                    <p:cond delay="0"/>
                                  </p:stCondLst>
                                  <p:childTnLst>
                                    <p:set>
                                      <p:cBhvr>
                                        <p:cTn id="29" dur="1" fill="hold">
                                          <p:stCondLst>
                                            <p:cond delay="0"/>
                                          </p:stCondLst>
                                        </p:cTn>
                                        <p:tgtEl>
                                          <p:spTgt spid="75"/>
                                        </p:tgtEl>
                                        <p:attrNameLst>
                                          <p:attrName>style.visibility</p:attrName>
                                        </p:attrNameLst>
                                      </p:cBhvr>
                                      <p:to>
                                        <p:strVal val="visible"/>
                                      </p:to>
                                    </p:set>
                                    <p:animEffect transition="in" filter="wipe(left)">
                                      <p:cBhvr>
                                        <p:cTn id="30" dur="500"/>
                                        <p:tgtEl>
                                          <p:spTgt spid="75"/>
                                        </p:tgtEl>
                                      </p:cBhvr>
                                    </p:animEffect>
                                  </p:childTnLst>
                                </p:cTn>
                              </p:par>
                            </p:childTnLst>
                          </p:cTn>
                        </p:par>
                        <p:par>
                          <p:cTn id="31" fill="hold">
                            <p:stCondLst>
                              <p:cond delay="2500"/>
                            </p:stCondLst>
                            <p:childTnLst>
                              <p:par>
                                <p:cTn id="32" presetID="1" presetClass="entr" presetSubtype="0" fill="hold" grpId="0" nodeType="afterEffect">
                                  <p:stCondLst>
                                    <p:cond delay="0"/>
                                  </p:stCondLst>
                                  <p:childTnLst>
                                    <p:set>
                                      <p:cBhvr>
                                        <p:cTn id="33" dur="1" fill="hold">
                                          <p:stCondLst>
                                            <p:cond delay="0"/>
                                          </p:stCondLst>
                                        </p:cTn>
                                        <p:tgtEl>
                                          <p:spTgt spid="115"/>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93"/>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99"/>
                                        </p:tgtEl>
                                        <p:attrNameLst>
                                          <p:attrName>style.visibility</p:attrName>
                                        </p:attrNameLst>
                                      </p:cBhvr>
                                      <p:to>
                                        <p:strVal val="visible"/>
                                      </p:to>
                                    </p:set>
                                  </p:childTnLst>
                                </p:cTn>
                              </p:par>
                              <p:par>
                                <p:cTn id="40" presetID="26" presetClass="emph" presetSubtype="0" fill="hold" grpId="1" nodeType="withEffect">
                                  <p:stCondLst>
                                    <p:cond delay="0"/>
                                  </p:stCondLst>
                                  <p:childTnLst>
                                    <p:animEffect transition="out" filter="fade">
                                      <p:cBhvr>
                                        <p:cTn id="41" dur="500" tmFilter="0, 0; .2, .5; .8, .5; 1, 0"/>
                                        <p:tgtEl>
                                          <p:spTgt spid="99"/>
                                        </p:tgtEl>
                                      </p:cBhvr>
                                    </p:animEffect>
                                    <p:animScale>
                                      <p:cBhvr>
                                        <p:cTn id="42" dur="250" autoRev="1" fill="hold"/>
                                        <p:tgtEl>
                                          <p:spTgt spid="99"/>
                                        </p:tgtEl>
                                      </p:cBhvr>
                                      <p:by x="105000" y="105000"/>
                                    </p:animScale>
                                  </p:childTnLst>
                                </p:cTn>
                              </p:par>
                              <p:par>
                                <p:cTn id="43" presetID="26" presetClass="emph" presetSubtype="0" fill="hold" grpId="1" nodeType="withEffect">
                                  <p:stCondLst>
                                    <p:cond delay="0"/>
                                  </p:stCondLst>
                                  <p:childTnLst>
                                    <p:animEffect transition="out" filter="fade">
                                      <p:cBhvr>
                                        <p:cTn id="44" dur="500" tmFilter="0, 0; .2, .5; .8, .5; 1, 0"/>
                                        <p:tgtEl>
                                          <p:spTgt spid="93"/>
                                        </p:tgtEl>
                                      </p:cBhvr>
                                    </p:animEffect>
                                    <p:animScale>
                                      <p:cBhvr>
                                        <p:cTn id="45" dur="250" autoRev="1" fill="hold"/>
                                        <p:tgtEl>
                                          <p:spTgt spid="93"/>
                                        </p:tgtEl>
                                      </p:cBhvr>
                                      <p:by x="105000" y="105000"/>
                                    </p:animScale>
                                  </p:childTnLst>
                                </p:cTn>
                              </p:par>
                              <p:par>
                                <p:cTn id="46" presetID="1" presetClass="entr" presetSubtype="0" fill="hold" grpId="0" nodeType="withEffect">
                                  <p:stCondLst>
                                    <p:cond delay="0"/>
                                  </p:stCondLst>
                                  <p:childTnLst>
                                    <p:set>
                                      <p:cBhvr>
                                        <p:cTn id="47" dur="1" fill="hold">
                                          <p:stCondLst>
                                            <p:cond delay="0"/>
                                          </p:stCondLst>
                                        </p:cTn>
                                        <p:tgtEl>
                                          <p:spTgt spid="114"/>
                                        </p:tgtEl>
                                        <p:attrNameLst>
                                          <p:attrName>style.visibility</p:attrName>
                                        </p:attrNameLst>
                                      </p:cBhvr>
                                      <p:to>
                                        <p:strVal val="visible"/>
                                      </p:to>
                                    </p:set>
                                  </p:childTnLst>
                                </p:cTn>
                              </p:par>
                              <p:par>
                                <p:cTn id="48" presetID="26" presetClass="emph" presetSubtype="0" fill="hold" grpId="1" nodeType="withEffect">
                                  <p:stCondLst>
                                    <p:cond delay="0"/>
                                  </p:stCondLst>
                                  <p:childTnLst>
                                    <p:animEffect transition="out" filter="fade">
                                      <p:cBhvr>
                                        <p:cTn id="49" dur="500" tmFilter="0, 0; .2, .5; .8, .5; 1, 0"/>
                                        <p:tgtEl>
                                          <p:spTgt spid="114"/>
                                        </p:tgtEl>
                                      </p:cBhvr>
                                    </p:animEffect>
                                    <p:animScale>
                                      <p:cBhvr>
                                        <p:cTn id="50" dur="250" autoRev="1" fill="hold"/>
                                        <p:tgtEl>
                                          <p:spTgt spid="114"/>
                                        </p:tgtEl>
                                      </p:cBhvr>
                                      <p:by x="105000" y="105000"/>
                                    </p:animScale>
                                  </p:childTnLst>
                                </p:cTn>
                              </p:par>
                              <p:par>
                                <p:cTn id="51" presetID="1" presetClass="entr" presetSubtype="0" fill="hold" grpId="0" nodeType="withEffect">
                                  <p:stCondLst>
                                    <p:cond delay="0"/>
                                  </p:stCondLst>
                                  <p:childTnLst>
                                    <p:set>
                                      <p:cBhvr>
                                        <p:cTn id="52" dur="1" fill="hold">
                                          <p:stCondLst>
                                            <p:cond delay="0"/>
                                          </p:stCondLst>
                                        </p:cTn>
                                        <p:tgtEl>
                                          <p:spTgt spid="5"/>
                                        </p:tgtEl>
                                        <p:attrNameLst>
                                          <p:attrName>style.visibility</p:attrName>
                                        </p:attrNameLst>
                                      </p:cBhvr>
                                      <p:to>
                                        <p:strVal val="visible"/>
                                      </p:to>
                                    </p:set>
                                  </p:childTnLst>
                                </p:cTn>
                              </p:par>
                              <p:par>
                                <p:cTn id="53" presetID="26" presetClass="emph" presetSubtype="0" fill="hold" grpId="1" nodeType="withEffect">
                                  <p:stCondLst>
                                    <p:cond delay="0"/>
                                  </p:stCondLst>
                                  <p:childTnLst>
                                    <p:animEffect transition="out" filter="fade">
                                      <p:cBhvr>
                                        <p:cTn id="54" dur="500" tmFilter="0, 0; .2, .5; .8, .5; 1, 0"/>
                                        <p:tgtEl>
                                          <p:spTgt spid="5"/>
                                        </p:tgtEl>
                                      </p:cBhvr>
                                    </p:animEffect>
                                    <p:animScale>
                                      <p:cBhvr>
                                        <p:cTn id="55" dur="250" autoRev="1" fill="hold"/>
                                        <p:tgtEl>
                                          <p:spTgt spid="5"/>
                                        </p:tgtEl>
                                      </p:cBhvr>
                                      <p:by x="105000" y="105000"/>
                                    </p:animScale>
                                  </p:childTnLst>
                                </p:cTn>
                              </p:par>
                              <p:par>
                                <p:cTn id="56" presetID="1" presetClass="exit" presetSubtype="0" fill="hold" grpId="10" nodeType="withEffect">
                                  <p:stCondLst>
                                    <p:cond delay="0"/>
                                  </p:stCondLst>
                                  <p:childTnLst>
                                    <p:set>
                                      <p:cBhvr>
                                        <p:cTn id="57" dur="1" fill="hold">
                                          <p:stCondLst>
                                            <p:cond delay="0"/>
                                          </p:stCondLst>
                                        </p:cTn>
                                        <p:tgtEl>
                                          <p:spTgt spid="86"/>
                                        </p:tgtEl>
                                        <p:attrNameLst>
                                          <p:attrName>style.visibility</p:attrName>
                                        </p:attrNameLst>
                                      </p:cBhvr>
                                      <p:to>
                                        <p:strVal val="hidden"/>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grpId="0" nodeType="clickEffect">
                                  <p:stCondLst>
                                    <p:cond delay="0"/>
                                  </p:stCondLst>
                                  <p:childTnLst>
                                    <p:set>
                                      <p:cBhvr>
                                        <p:cTn id="61" dur="1" fill="hold">
                                          <p:stCondLst>
                                            <p:cond delay="0"/>
                                          </p:stCondLst>
                                        </p:cTn>
                                        <p:tgtEl>
                                          <p:spTgt spid="100"/>
                                        </p:tgtEl>
                                        <p:attrNameLst>
                                          <p:attrName>style.visibility</p:attrName>
                                        </p:attrNameLst>
                                      </p:cBhvr>
                                      <p:to>
                                        <p:strVal val="visible"/>
                                      </p:to>
                                    </p:set>
                                  </p:childTnLst>
                                </p:cTn>
                              </p:par>
                              <p:par>
                                <p:cTn id="62" presetID="26" presetClass="emph" presetSubtype="0" fill="hold" grpId="1" nodeType="withEffect">
                                  <p:stCondLst>
                                    <p:cond delay="0"/>
                                  </p:stCondLst>
                                  <p:childTnLst>
                                    <p:animEffect transition="out" filter="fade">
                                      <p:cBhvr>
                                        <p:cTn id="63" dur="500" tmFilter="0, 0; .2, .5; .8, .5; 1, 0"/>
                                        <p:tgtEl>
                                          <p:spTgt spid="100"/>
                                        </p:tgtEl>
                                      </p:cBhvr>
                                    </p:animEffect>
                                    <p:animScale>
                                      <p:cBhvr>
                                        <p:cTn id="64" dur="250" autoRev="1" fill="hold"/>
                                        <p:tgtEl>
                                          <p:spTgt spid="100"/>
                                        </p:tgtEl>
                                      </p:cBhvr>
                                      <p:by x="105000" y="105000"/>
                                    </p:animScale>
                                  </p:childTnLst>
                                </p:cTn>
                              </p:par>
                              <p:par>
                                <p:cTn id="65" presetID="1" presetClass="entr" presetSubtype="0" fill="hold" grpId="0" nodeType="withEffect">
                                  <p:stCondLst>
                                    <p:cond delay="0"/>
                                  </p:stCondLst>
                                  <p:childTnLst>
                                    <p:set>
                                      <p:cBhvr>
                                        <p:cTn id="66" dur="1" fill="hold">
                                          <p:stCondLst>
                                            <p:cond delay="0"/>
                                          </p:stCondLst>
                                        </p:cTn>
                                        <p:tgtEl>
                                          <p:spTgt spid="102"/>
                                        </p:tgtEl>
                                        <p:attrNameLst>
                                          <p:attrName>style.visibility</p:attrName>
                                        </p:attrNameLst>
                                      </p:cBhvr>
                                      <p:to>
                                        <p:strVal val="visible"/>
                                      </p:to>
                                    </p:set>
                                  </p:childTnLst>
                                </p:cTn>
                              </p:par>
                              <p:par>
                                <p:cTn id="67" presetID="26" presetClass="emph" presetSubtype="0" fill="hold" grpId="1" nodeType="withEffect">
                                  <p:stCondLst>
                                    <p:cond delay="0"/>
                                  </p:stCondLst>
                                  <p:childTnLst>
                                    <p:animEffect transition="out" filter="fade">
                                      <p:cBhvr>
                                        <p:cTn id="68" dur="500" tmFilter="0, 0; .2, .5; .8, .5; 1, 0"/>
                                        <p:tgtEl>
                                          <p:spTgt spid="102"/>
                                        </p:tgtEl>
                                      </p:cBhvr>
                                    </p:animEffect>
                                    <p:animScale>
                                      <p:cBhvr>
                                        <p:cTn id="69" dur="250" autoRev="1" fill="hold"/>
                                        <p:tgtEl>
                                          <p:spTgt spid="102"/>
                                        </p:tgtEl>
                                      </p:cBhvr>
                                      <p:by x="105000" y="105000"/>
                                    </p:animScale>
                                  </p:childTnLst>
                                </p:cTn>
                              </p:par>
                              <p:par>
                                <p:cTn id="70" presetID="1" presetClass="entr" presetSubtype="0" fill="hold" grpId="0" nodeType="withEffect">
                                  <p:stCondLst>
                                    <p:cond delay="0"/>
                                  </p:stCondLst>
                                  <p:childTnLst>
                                    <p:set>
                                      <p:cBhvr>
                                        <p:cTn id="71" dur="1" fill="hold">
                                          <p:stCondLst>
                                            <p:cond delay="0"/>
                                          </p:stCondLst>
                                        </p:cTn>
                                        <p:tgtEl>
                                          <p:spTgt spid="116"/>
                                        </p:tgtEl>
                                        <p:attrNameLst>
                                          <p:attrName>style.visibility</p:attrName>
                                        </p:attrNameLst>
                                      </p:cBhvr>
                                      <p:to>
                                        <p:strVal val="visible"/>
                                      </p:to>
                                    </p:set>
                                  </p:childTnLst>
                                </p:cTn>
                              </p:par>
                              <p:par>
                                <p:cTn id="72" presetID="26" presetClass="emph" presetSubtype="0" fill="hold" grpId="1" nodeType="withEffect">
                                  <p:stCondLst>
                                    <p:cond delay="0"/>
                                  </p:stCondLst>
                                  <p:childTnLst>
                                    <p:animEffect transition="out" filter="fade">
                                      <p:cBhvr>
                                        <p:cTn id="73" dur="500" tmFilter="0, 0; .2, .5; .8, .5; 1, 0"/>
                                        <p:tgtEl>
                                          <p:spTgt spid="116"/>
                                        </p:tgtEl>
                                      </p:cBhvr>
                                    </p:animEffect>
                                    <p:animScale>
                                      <p:cBhvr>
                                        <p:cTn id="74" dur="250" autoRev="1" fill="hold"/>
                                        <p:tgtEl>
                                          <p:spTgt spid="116"/>
                                        </p:tgtEl>
                                      </p:cBhvr>
                                      <p:by x="105000" y="105000"/>
                                    </p:animScale>
                                  </p:childTnLst>
                                </p:cTn>
                              </p:par>
                              <p:par>
                                <p:cTn id="75" presetID="1" presetClass="entr" presetSubtype="0" fill="hold" grpId="0" nodeType="withEffect">
                                  <p:stCondLst>
                                    <p:cond delay="0"/>
                                  </p:stCondLst>
                                  <p:childTnLst>
                                    <p:set>
                                      <p:cBhvr>
                                        <p:cTn id="76" dur="1" fill="hold">
                                          <p:stCondLst>
                                            <p:cond delay="0"/>
                                          </p:stCondLst>
                                        </p:cTn>
                                        <p:tgtEl>
                                          <p:spTgt spid="89"/>
                                        </p:tgtEl>
                                        <p:attrNameLst>
                                          <p:attrName>style.visibility</p:attrName>
                                        </p:attrNameLst>
                                      </p:cBhvr>
                                      <p:to>
                                        <p:strVal val="visible"/>
                                      </p:to>
                                    </p:set>
                                  </p:childTnLst>
                                </p:cTn>
                              </p:par>
                              <p:par>
                                <p:cTn id="77" presetID="26" presetClass="emph" presetSubtype="0" fill="hold" grpId="1" nodeType="withEffect">
                                  <p:stCondLst>
                                    <p:cond delay="0"/>
                                  </p:stCondLst>
                                  <p:childTnLst>
                                    <p:animEffect transition="out" filter="fade">
                                      <p:cBhvr>
                                        <p:cTn id="78" dur="500" tmFilter="0, 0; .2, .5; .8, .5; 1, 0"/>
                                        <p:tgtEl>
                                          <p:spTgt spid="89"/>
                                        </p:tgtEl>
                                      </p:cBhvr>
                                    </p:animEffect>
                                    <p:animScale>
                                      <p:cBhvr>
                                        <p:cTn id="79" dur="250" autoRev="1" fill="hold"/>
                                        <p:tgtEl>
                                          <p:spTgt spid="89"/>
                                        </p:tgtEl>
                                      </p:cBhvr>
                                      <p:by x="105000" y="105000"/>
                                    </p:animScale>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103"/>
                                        </p:tgtEl>
                                        <p:attrNameLst>
                                          <p:attrName>style.visibility</p:attrName>
                                        </p:attrNameLst>
                                      </p:cBhvr>
                                      <p:to>
                                        <p:strVal val="visible"/>
                                      </p:to>
                                    </p:set>
                                  </p:childTnLst>
                                </p:cTn>
                              </p:par>
                              <p:par>
                                <p:cTn id="84" presetID="26" presetClass="emph" presetSubtype="0" fill="hold" grpId="1" nodeType="withEffect">
                                  <p:stCondLst>
                                    <p:cond delay="0"/>
                                  </p:stCondLst>
                                  <p:childTnLst>
                                    <p:animEffect transition="out" filter="fade">
                                      <p:cBhvr>
                                        <p:cTn id="85" dur="500" tmFilter="0, 0; .2, .5; .8, .5; 1, 0"/>
                                        <p:tgtEl>
                                          <p:spTgt spid="103"/>
                                        </p:tgtEl>
                                      </p:cBhvr>
                                    </p:animEffect>
                                    <p:animScale>
                                      <p:cBhvr>
                                        <p:cTn id="86" dur="250" autoRev="1" fill="hold"/>
                                        <p:tgtEl>
                                          <p:spTgt spid="103"/>
                                        </p:tgtEl>
                                      </p:cBhvr>
                                      <p:by x="105000" y="105000"/>
                                    </p:animScale>
                                  </p:childTnLst>
                                </p:cTn>
                              </p:par>
                              <p:par>
                                <p:cTn id="87" presetID="1" presetClass="entr" presetSubtype="0" fill="hold" grpId="0" nodeType="withEffect">
                                  <p:stCondLst>
                                    <p:cond delay="0"/>
                                  </p:stCondLst>
                                  <p:childTnLst>
                                    <p:set>
                                      <p:cBhvr>
                                        <p:cTn id="88" dur="1" fill="hold">
                                          <p:stCondLst>
                                            <p:cond delay="0"/>
                                          </p:stCondLst>
                                        </p:cTn>
                                        <p:tgtEl>
                                          <p:spTgt spid="104"/>
                                        </p:tgtEl>
                                        <p:attrNameLst>
                                          <p:attrName>style.visibility</p:attrName>
                                        </p:attrNameLst>
                                      </p:cBhvr>
                                      <p:to>
                                        <p:strVal val="visible"/>
                                      </p:to>
                                    </p:set>
                                  </p:childTnLst>
                                </p:cTn>
                              </p:par>
                              <p:par>
                                <p:cTn id="89" presetID="26" presetClass="emph" presetSubtype="0" fill="hold" grpId="1" nodeType="withEffect">
                                  <p:stCondLst>
                                    <p:cond delay="0"/>
                                  </p:stCondLst>
                                  <p:childTnLst>
                                    <p:animEffect transition="out" filter="fade">
                                      <p:cBhvr>
                                        <p:cTn id="90" dur="500" tmFilter="0, 0; .2, .5; .8, .5; 1, 0"/>
                                        <p:tgtEl>
                                          <p:spTgt spid="104"/>
                                        </p:tgtEl>
                                      </p:cBhvr>
                                    </p:animEffect>
                                    <p:animScale>
                                      <p:cBhvr>
                                        <p:cTn id="91" dur="250" autoRev="1" fill="hold"/>
                                        <p:tgtEl>
                                          <p:spTgt spid="104"/>
                                        </p:tgtEl>
                                      </p:cBhvr>
                                      <p:by x="105000" y="105000"/>
                                    </p:animScale>
                                  </p:childTnLst>
                                </p:cTn>
                              </p:par>
                              <p:par>
                                <p:cTn id="92" presetID="1" presetClass="entr" presetSubtype="0" fill="hold" grpId="0" nodeType="withEffect">
                                  <p:stCondLst>
                                    <p:cond delay="0"/>
                                  </p:stCondLst>
                                  <p:childTnLst>
                                    <p:set>
                                      <p:cBhvr>
                                        <p:cTn id="93" dur="1" fill="hold">
                                          <p:stCondLst>
                                            <p:cond delay="0"/>
                                          </p:stCondLst>
                                        </p:cTn>
                                        <p:tgtEl>
                                          <p:spTgt spid="117"/>
                                        </p:tgtEl>
                                        <p:attrNameLst>
                                          <p:attrName>style.visibility</p:attrName>
                                        </p:attrNameLst>
                                      </p:cBhvr>
                                      <p:to>
                                        <p:strVal val="visible"/>
                                      </p:to>
                                    </p:set>
                                  </p:childTnLst>
                                </p:cTn>
                              </p:par>
                              <p:par>
                                <p:cTn id="94" presetID="26" presetClass="emph" presetSubtype="0" fill="hold" grpId="1" nodeType="withEffect">
                                  <p:stCondLst>
                                    <p:cond delay="0"/>
                                  </p:stCondLst>
                                  <p:childTnLst>
                                    <p:animEffect transition="out" filter="fade">
                                      <p:cBhvr>
                                        <p:cTn id="95" dur="500" tmFilter="0, 0; .2, .5; .8, .5; 1, 0"/>
                                        <p:tgtEl>
                                          <p:spTgt spid="117"/>
                                        </p:tgtEl>
                                      </p:cBhvr>
                                    </p:animEffect>
                                    <p:animScale>
                                      <p:cBhvr>
                                        <p:cTn id="96" dur="250" autoRev="1" fill="hold"/>
                                        <p:tgtEl>
                                          <p:spTgt spid="117"/>
                                        </p:tgtEl>
                                      </p:cBhvr>
                                      <p:by x="105000" y="105000"/>
                                    </p:animScale>
                                  </p:childTnLst>
                                </p:cTn>
                              </p:par>
                              <p:par>
                                <p:cTn id="97" presetID="1" presetClass="entr" presetSubtype="0" fill="hold" grpId="0" nodeType="withEffect">
                                  <p:stCondLst>
                                    <p:cond delay="0"/>
                                  </p:stCondLst>
                                  <p:childTnLst>
                                    <p:set>
                                      <p:cBhvr>
                                        <p:cTn id="98" dur="1" fill="hold">
                                          <p:stCondLst>
                                            <p:cond delay="0"/>
                                          </p:stCondLst>
                                        </p:cTn>
                                        <p:tgtEl>
                                          <p:spTgt spid="90"/>
                                        </p:tgtEl>
                                        <p:attrNameLst>
                                          <p:attrName>style.visibility</p:attrName>
                                        </p:attrNameLst>
                                      </p:cBhvr>
                                      <p:to>
                                        <p:strVal val="visible"/>
                                      </p:to>
                                    </p:set>
                                  </p:childTnLst>
                                </p:cTn>
                              </p:par>
                              <p:par>
                                <p:cTn id="99" presetID="26" presetClass="emph" presetSubtype="0" fill="hold" grpId="1" nodeType="withEffect">
                                  <p:stCondLst>
                                    <p:cond delay="0"/>
                                  </p:stCondLst>
                                  <p:childTnLst>
                                    <p:animEffect transition="out" filter="fade">
                                      <p:cBhvr>
                                        <p:cTn id="100" dur="500" tmFilter="0, 0; .2, .5; .8, .5; 1, 0"/>
                                        <p:tgtEl>
                                          <p:spTgt spid="90"/>
                                        </p:tgtEl>
                                      </p:cBhvr>
                                    </p:animEffect>
                                    <p:animScale>
                                      <p:cBhvr>
                                        <p:cTn id="101" dur="250" autoRev="1" fill="hold"/>
                                        <p:tgtEl>
                                          <p:spTgt spid="90"/>
                                        </p:tgtEl>
                                      </p:cBhvr>
                                      <p:by x="105000" y="105000"/>
                                    </p:animScale>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0" nodeType="clickEffect">
                                  <p:stCondLst>
                                    <p:cond delay="0"/>
                                  </p:stCondLst>
                                  <p:childTnLst>
                                    <p:set>
                                      <p:cBhvr>
                                        <p:cTn id="105" dur="1" fill="hold">
                                          <p:stCondLst>
                                            <p:cond delay="0"/>
                                          </p:stCondLst>
                                        </p:cTn>
                                        <p:tgtEl>
                                          <p:spTgt spid="106"/>
                                        </p:tgtEl>
                                        <p:attrNameLst>
                                          <p:attrName>style.visibility</p:attrName>
                                        </p:attrNameLst>
                                      </p:cBhvr>
                                      <p:to>
                                        <p:strVal val="visible"/>
                                      </p:to>
                                    </p:set>
                                  </p:childTnLst>
                                </p:cTn>
                              </p:par>
                              <p:par>
                                <p:cTn id="106" presetID="26" presetClass="emph" presetSubtype="0" fill="hold" grpId="1" nodeType="withEffect">
                                  <p:stCondLst>
                                    <p:cond delay="0"/>
                                  </p:stCondLst>
                                  <p:childTnLst>
                                    <p:animEffect transition="out" filter="fade">
                                      <p:cBhvr>
                                        <p:cTn id="107" dur="500" tmFilter="0, 0; .2, .5; .8, .5; 1, 0"/>
                                        <p:tgtEl>
                                          <p:spTgt spid="106"/>
                                        </p:tgtEl>
                                      </p:cBhvr>
                                    </p:animEffect>
                                    <p:animScale>
                                      <p:cBhvr>
                                        <p:cTn id="108" dur="250" autoRev="1" fill="hold"/>
                                        <p:tgtEl>
                                          <p:spTgt spid="106"/>
                                        </p:tgtEl>
                                      </p:cBhvr>
                                      <p:by x="105000" y="105000"/>
                                    </p:animScale>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26" presetClass="emph" presetSubtype="0" fill="hold" grpId="1" nodeType="withEffect">
                                  <p:stCondLst>
                                    <p:cond delay="0"/>
                                  </p:stCondLst>
                                  <p:childTnLst>
                                    <p:animEffect transition="out" filter="fade">
                                      <p:cBhvr>
                                        <p:cTn id="112" dur="500" tmFilter="0, 0; .2, .5; .8, .5; 1, 0"/>
                                        <p:tgtEl>
                                          <p:spTgt spid="107"/>
                                        </p:tgtEl>
                                      </p:cBhvr>
                                    </p:animEffect>
                                    <p:animScale>
                                      <p:cBhvr>
                                        <p:cTn id="113" dur="250" autoRev="1" fill="hold"/>
                                        <p:tgtEl>
                                          <p:spTgt spid="107"/>
                                        </p:tgtEl>
                                      </p:cBhvr>
                                      <p:by x="105000" y="105000"/>
                                    </p:animScale>
                                  </p:childTnLst>
                                </p:cTn>
                              </p:par>
                              <p:par>
                                <p:cTn id="114" presetID="1" presetClass="entr" presetSubtype="0" fill="hold" grpId="0" nodeType="withEffect">
                                  <p:stCondLst>
                                    <p:cond delay="0"/>
                                  </p:stCondLst>
                                  <p:childTnLst>
                                    <p:set>
                                      <p:cBhvr>
                                        <p:cTn id="115" dur="1" fill="hold">
                                          <p:stCondLst>
                                            <p:cond delay="0"/>
                                          </p:stCondLst>
                                        </p:cTn>
                                        <p:tgtEl>
                                          <p:spTgt spid="119"/>
                                        </p:tgtEl>
                                        <p:attrNameLst>
                                          <p:attrName>style.visibility</p:attrName>
                                        </p:attrNameLst>
                                      </p:cBhvr>
                                      <p:to>
                                        <p:strVal val="visible"/>
                                      </p:to>
                                    </p:set>
                                  </p:childTnLst>
                                </p:cTn>
                              </p:par>
                              <p:par>
                                <p:cTn id="116" presetID="26" presetClass="emph" presetSubtype="0" fill="hold" grpId="1" nodeType="withEffect">
                                  <p:stCondLst>
                                    <p:cond delay="0"/>
                                  </p:stCondLst>
                                  <p:childTnLst>
                                    <p:animEffect transition="out" filter="fade">
                                      <p:cBhvr>
                                        <p:cTn id="117" dur="500" tmFilter="0, 0; .2, .5; .8, .5; 1, 0"/>
                                        <p:tgtEl>
                                          <p:spTgt spid="119"/>
                                        </p:tgtEl>
                                      </p:cBhvr>
                                    </p:animEffect>
                                    <p:animScale>
                                      <p:cBhvr>
                                        <p:cTn id="118" dur="250" autoRev="1" fill="hold"/>
                                        <p:tgtEl>
                                          <p:spTgt spid="119"/>
                                        </p:tgtEl>
                                      </p:cBhvr>
                                      <p:by x="105000" y="105000"/>
                                    </p:animScale>
                                  </p:childTnLst>
                                </p:cTn>
                              </p:par>
                              <p:par>
                                <p:cTn id="119" presetID="1" presetClass="entr" presetSubtype="0" fill="hold" grpId="0" nodeType="withEffect">
                                  <p:stCondLst>
                                    <p:cond delay="0"/>
                                  </p:stCondLst>
                                  <p:childTnLst>
                                    <p:set>
                                      <p:cBhvr>
                                        <p:cTn id="120" dur="1" fill="hold">
                                          <p:stCondLst>
                                            <p:cond delay="0"/>
                                          </p:stCondLst>
                                        </p:cTn>
                                        <p:tgtEl>
                                          <p:spTgt spid="92"/>
                                        </p:tgtEl>
                                        <p:attrNameLst>
                                          <p:attrName>style.visibility</p:attrName>
                                        </p:attrNameLst>
                                      </p:cBhvr>
                                      <p:to>
                                        <p:strVal val="visible"/>
                                      </p:to>
                                    </p:set>
                                  </p:childTnLst>
                                </p:cTn>
                              </p:par>
                              <p:par>
                                <p:cTn id="121" presetID="26" presetClass="emph" presetSubtype="0" fill="hold" grpId="1" nodeType="withEffect">
                                  <p:stCondLst>
                                    <p:cond delay="0"/>
                                  </p:stCondLst>
                                  <p:childTnLst>
                                    <p:animEffect transition="out" filter="fade">
                                      <p:cBhvr>
                                        <p:cTn id="122" dur="500" tmFilter="0, 0; .2, .5; .8, .5; 1, 0"/>
                                        <p:tgtEl>
                                          <p:spTgt spid="92"/>
                                        </p:tgtEl>
                                      </p:cBhvr>
                                    </p:animEffect>
                                    <p:animScale>
                                      <p:cBhvr>
                                        <p:cTn id="123" dur="250" autoRev="1" fill="hold"/>
                                        <p:tgtEl>
                                          <p:spTgt spid="92"/>
                                        </p:tgtEl>
                                      </p:cBhvr>
                                      <p:by x="105000" y="105000"/>
                                    </p:animScale>
                                  </p:childTnLst>
                                </p:cTn>
                              </p:par>
                              <p:par>
                                <p:cTn id="124" presetID="1" presetClass="entr" presetSubtype="0" fill="hold" grpId="0" nodeType="withEffect">
                                  <p:stCondLst>
                                    <p:cond delay="0"/>
                                  </p:stCondLst>
                                  <p:childTnLst>
                                    <p:set>
                                      <p:cBhvr>
                                        <p:cTn id="125" dur="1" fill="hold">
                                          <p:stCondLst>
                                            <p:cond delay="0"/>
                                          </p:stCondLst>
                                        </p:cTn>
                                        <p:tgtEl>
                                          <p:spTgt spid="97"/>
                                        </p:tgtEl>
                                        <p:attrNameLst>
                                          <p:attrName>style.visibility</p:attrName>
                                        </p:attrNameLst>
                                      </p:cBhvr>
                                      <p:to>
                                        <p:strVal val="visible"/>
                                      </p:to>
                                    </p:set>
                                  </p:childTnLst>
                                </p:cTn>
                              </p:par>
                            </p:childTnLst>
                          </p:cTn>
                        </p:par>
                      </p:childTnLst>
                    </p:cTn>
                  </p:par>
                  <p:par>
                    <p:cTn id="126" fill="hold">
                      <p:stCondLst>
                        <p:cond delay="indefinite"/>
                      </p:stCondLst>
                      <p:childTnLst>
                        <p:par>
                          <p:cTn id="127" fill="hold">
                            <p:stCondLst>
                              <p:cond delay="0"/>
                            </p:stCondLst>
                            <p:childTnLst>
                              <p:par>
                                <p:cTn id="128" presetID="1" presetClass="entr" presetSubtype="0" fill="hold" grpId="0" nodeType="clickEffect">
                                  <p:stCondLst>
                                    <p:cond delay="0"/>
                                  </p:stCondLst>
                                  <p:childTnLst>
                                    <p:set>
                                      <p:cBhvr>
                                        <p:cTn id="129" dur="1" fill="hold">
                                          <p:stCondLst>
                                            <p:cond delay="0"/>
                                          </p:stCondLst>
                                        </p:cTn>
                                        <p:tgtEl>
                                          <p:spTgt spid="108"/>
                                        </p:tgtEl>
                                        <p:attrNameLst>
                                          <p:attrName>style.visibility</p:attrName>
                                        </p:attrNameLst>
                                      </p:cBhvr>
                                      <p:to>
                                        <p:strVal val="visible"/>
                                      </p:to>
                                    </p:set>
                                  </p:childTnLst>
                                </p:cTn>
                              </p:par>
                              <p:par>
                                <p:cTn id="130" presetID="26" presetClass="emph" presetSubtype="0" fill="hold" grpId="1" nodeType="withEffect">
                                  <p:stCondLst>
                                    <p:cond delay="0"/>
                                  </p:stCondLst>
                                  <p:childTnLst>
                                    <p:animEffect transition="out" filter="fade">
                                      <p:cBhvr>
                                        <p:cTn id="131" dur="500" tmFilter="0, 0; .2, .5; .8, .5; 1, 0"/>
                                        <p:tgtEl>
                                          <p:spTgt spid="108"/>
                                        </p:tgtEl>
                                      </p:cBhvr>
                                    </p:animEffect>
                                    <p:animScale>
                                      <p:cBhvr>
                                        <p:cTn id="132" dur="250" autoRev="1" fill="hold"/>
                                        <p:tgtEl>
                                          <p:spTgt spid="108"/>
                                        </p:tgtEl>
                                      </p:cBhvr>
                                      <p:by x="105000" y="105000"/>
                                    </p:animScale>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26" presetClass="emph" presetSubtype="0" fill="hold" grpId="1" nodeType="withEffect">
                                  <p:stCondLst>
                                    <p:cond delay="0"/>
                                  </p:stCondLst>
                                  <p:childTnLst>
                                    <p:animEffect transition="out" filter="fade">
                                      <p:cBhvr>
                                        <p:cTn id="136" dur="500" tmFilter="0, 0; .2, .5; .8, .5; 1, 0"/>
                                        <p:tgtEl>
                                          <p:spTgt spid="109"/>
                                        </p:tgtEl>
                                      </p:cBhvr>
                                    </p:animEffect>
                                    <p:animScale>
                                      <p:cBhvr>
                                        <p:cTn id="137" dur="250" autoRev="1" fill="hold"/>
                                        <p:tgtEl>
                                          <p:spTgt spid="109"/>
                                        </p:tgtEl>
                                      </p:cBhvr>
                                      <p:by x="105000" y="105000"/>
                                    </p:animScale>
                                  </p:childTnLst>
                                </p:cTn>
                              </p:par>
                              <p:par>
                                <p:cTn id="138" presetID="1" presetClass="entr" presetSubtype="0" fill="hold" grpId="0" nodeType="withEffect">
                                  <p:stCondLst>
                                    <p:cond delay="0"/>
                                  </p:stCondLst>
                                  <p:childTnLst>
                                    <p:set>
                                      <p:cBhvr>
                                        <p:cTn id="139" dur="1" fill="hold">
                                          <p:stCondLst>
                                            <p:cond delay="0"/>
                                          </p:stCondLst>
                                        </p:cTn>
                                        <p:tgtEl>
                                          <p:spTgt spid="94"/>
                                        </p:tgtEl>
                                        <p:attrNameLst>
                                          <p:attrName>style.visibility</p:attrName>
                                        </p:attrNameLst>
                                      </p:cBhvr>
                                      <p:to>
                                        <p:strVal val="visible"/>
                                      </p:to>
                                    </p:set>
                                  </p:childTnLst>
                                </p:cTn>
                              </p:par>
                              <p:par>
                                <p:cTn id="140" presetID="26" presetClass="emph" presetSubtype="0" fill="hold" grpId="1" nodeType="withEffect">
                                  <p:stCondLst>
                                    <p:cond delay="0"/>
                                  </p:stCondLst>
                                  <p:childTnLst>
                                    <p:animEffect transition="out" filter="fade">
                                      <p:cBhvr>
                                        <p:cTn id="141" dur="500" tmFilter="0, 0; .2, .5; .8, .5; 1, 0"/>
                                        <p:tgtEl>
                                          <p:spTgt spid="94"/>
                                        </p:tgtEl>
                                      </p:cBhvr>
                                    </p:animEffect>
                                    <p:animScale>
                                      <p:cBhvr>
                                        <p:cTn id="142" dur="250" autoRev="1" fill="hold"/>
                                        <p:tgtEl>
                                          <p:spTgt spid="94"/>
                                        </p:tgtEl>
                                      </p:cBhvr>
                                      <p:by x="105000" y="105000"/>
                                    </p:animScale>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grpId="0" nodeType="clickEffect">
                                  <p:stCondLst>
                                    <p:cond delay="0"/>
                                  </p:stCondLst>
                                  <p:childTnLst>
                                    <p:set>
                                      <p:cBhvr>
                                        <p:cTn id="146" dur="1" fill="hold">
                                          <p:stCondLst>
                                            <p:cond delay="0"/>
                                          </p:stCondLst>
                                        </p:cTn>
                                        <p:tgtEl>
                                          <p:spTgt spid="110"/>
                                        </p:tgtEl>
                                        <p:attrNameLst>
                                          <p:attrName>style.visibility</p:attrName>
                                        </p:attrNameLst>
                                      </p:cBhvr>
                                      <p:to>
                                        <p:strVal val="visible"/>
                                      </p:to>
                                    </p:set>
                                  </p:childTnLst>
                                </p:cTn>
                              </p:par>
                              <p:par>
                                <p:cTn id="147" presetID="26" presetClass="emph" presetSubtype="0" fill="hold" grpId="1" nodeType="withEffect">
                                  <p:stCondLst>
                                    <p:cond delay="0"/>
                                  </p:stCondLst>
                                  <p:childTnLst>
                                    <p:animEffect transition="out" filter="fade">
                                      <p:cBhvr>
                                        <p:cTn id="148" dur="500" tmFilter="0, 0; .2, .5; .8, .5; 1, 0"/>
                                        <p:tgtEl>
                                          <p:spTgt spid="110"/>
                                        </p:tgtEl>
                                      </p:cBhvr>
                                    </p:animEffect>
                                    <p:animScale>
                                      <p:cBhvr>
                                        <p:cTn id="149" dur="250" autoRev="1" fill="hold"/>
                                        <p:tgtEl>
                                          <p:spTgt spid="110"/>
                                        </p:tgtEl>
                                      </p:cBhvr>
                                      <p:by x="105000" y="105000"/>
                                    </p:animScale>
                                  </p:childTnLst>
                                </p:cTn>
                              </p:par>
                              <p:par>
                                <p:cTn id="150" presetID="1" presetClass="entr" presetSubtype="0" fill="hold" grpId="0" nodeType="withEffect">
                                  <p:stCondLst>
                                    <p:cond delay="0"/>
                                  </p:stCondLst>
                                  <p:childTnLst>
                                    <p:set>
                                      <p:cBhvr>
                                        <p:cTn id="151" dur="1" fill="hold">
                                          <p:stCondLst>
                                            <p:cond delay="0"/>
                                          </p:stCondLst>
                                        </p:cTn>
                                        <p:tgtEl>
                                          <p:spTgt spid="111"/>
                                        </p:tgtEl>
                                        <p:attrNameLst>
                                          <p:attrName>style.visibility</p:attrName>
                                        </p:attrNameLst>
                                      </p:cBhvr>
                                      <p:to>
                                        <p:strVal val="visible"/>
                                      </p:to>
                                    </p:set>
                                  </p:childTnLst>
                                </p:cTn>
                              </p:par>
                              <p:par>
                                <p:cTn id="152" presetID="26" presetClass="emph" presetSubtype="0" fill="hold" grpId="1" nodeType="withEffect">
                                  <p:stCondLst>
                                    <p:cond delay="0"/>
                                  </p:stCondLst>
                                  <p:childTnLst>
                                    <p:animEffect transition="out" filter="fade">
                                      <p:cBhvr>
                                        <p:cTn id="153" dur="500" tmFilter="0, 0; .2, .5; .8, .5; 1, 0"/>
                                        <p:tgtEl>
                                          <p:spTgt spid="111"/>
                                        </p:tgtEl>
                                      </p:cBhvr>
                                    </p:animEffect>
                                    <p:animScale>
                                      <p:cBhvr>
                                        <p:cTn id="154" dur="250" autoRev="1" fill="hold"/>
                                        <p:tgtEl>
                                          <p:spTgt spid="111"/>
                                        </p:tgtEl>
                                      </p:cBhvr>
                                      <p:by x="105000" y="105000"/>
                                    </p:animScale>
                                  </p:childTnLst>
                                </p:cTn>
                              </p:par>
                              <p:par>
                                <p:cTn id="155" presetID="1" presetClass="entr" presetSubtype="0" fill="hold" grpId="0" nodeType="withEffect">
                                  <p:stCondLst>
                                    <p:cond delay="0"/>
                                  </p:stCondLst>
                                  <p:childTnLst>
                                    <p:set>
                                      <p:cBhvr>
                                        <p:cTn id="156" dur="1" fill="hold">
                                          <p:stCondLst>
                                            <p:cond delay="0"/>
                                          </p:stCondLst>
                                        </p:cTn>
                                        <p:tgtEl>
                                          <p:spTgt spid="95"/>
                                        </p:tgtEl>
                                        <p:attrNameLst>
                                          <p:attrName>style.visibility</p:attrName>
                                        </p:attrNameLst>
                                      </p:cBhvr>
                                      <p:to>
                                        <p:strVal val="visible"/>
                                      </p:to>
                                    </p:set>
                                  </p:childTnLst>
                                </p:cTn>
                              </p:par>
                              <p:par>
                                <p:cTn id="157" presetID="26" presetClass="emph" presetSubtype="0" fill="hold" grpId="1" nodeType="withEffect">
                                  <p:stCondLst>
                                    <p:cond delay="0"/>
                                  </p:stCondLst>
                                  <p:childTnLst>
                                    <p:animEffect transition="out" filter="fade">
                                      <p:cBhvr>
                                        <p:cTn id="158" dur="500" tmFilter="0, 0; .2, .5; .8, .5; 1, 0"/>
                                        <p:tgtEl>
                                          <p:spTgt spid="95"/>
                                        </p:tgtEl>
                                      </p:cBhvr>
                                    </p:animEffect>
                                    <p:animScale>
                                      <p:cBhvr>
                                        <p:cTn id="159" dur="250" autoRev="1" fill="hold"/>
                                        <p:tgtEl>
                                          <p:spTgt spid="95"/>
                                        </p:tgtEl>
                                      </p:cBhvr>
                                      <p:by x="105000" y="105000"/>
                                    </p:animScale>
                                  </p:childTnLst>
                                </p:cTn>
                              </p:par>
                            </p:childTnLst>
                          </p:cTn>
                        </p:par>
                      </p:childTnLst>
                    </p:cTn>
                  </p:par>
                  <p:par>
                    <p:cTn id="160" fill="hold">
                      <p:stCondLst>
                        <p:cond delay="indefinite"/>
                      </p:stCondLst>
                      <p:childTnLst>
                        <p:par>
                          <p:cTn id="161" fill="hold">
                            <p:stCondLst>
                              <p:cond delay="0"/>
                            </p:stCondLst>
                            <p:childTnLst>
                              <p:par>
                                <p:cTn id="162" presetID="1" presetClass="entr" presetSubtype="0" fill="hold" grpId="0" nodeType="clickEffect">
                                  <p:stCondLst>
                                    <p:cond delay="0"/>
                                  </p:stCondLst>
                                  <p:childTnLst>
                                    <p:set>
                                      <p:cBhvr>
                                        <p:cTn id="163" dur="1" fill="hold">
                                          <p:stCondLst>
                                            <p:cond delay="0"/>
                                          </p:stCondLst>
                                        </p:cTn>
                                        <p:tgtEl>
                                          <p:spTgt spid="112"/>
                                        </p:tgtEl>
                                        <p:attrNameLst>
                                          <p:attrName>style.visibility</p:attrName>
                                        </p:attrNameLst>
                                      </p:cBhvr>
                                      <p:to>
                                        <p:strVal val="visible"/>
                                      </p:to>
                                    </p:set>
                                  </p:childTnLst>
                                </p:cTn>
                              </p:par>
                              <p:par>
                                <p:cTn id="164" presetID="26" presetClass="emph" presetSubtype="0" fill="hold" grpId="1" nodeType="withEffect">
                                  <p:stCondLst>
                                    <p:cond delay="0"/>
                                  </p:stCondLst>
                                  <p:childTnLst>
                                    <p:animEffect transition="out" filter="fade">
                                      <p:cBhvr>
                                        <p:cTn id="165" dur="500" tmFilter="0, 0; .2, .5; .8, .5; 1, 0"/>
                                        <p:tgtEl>
                                          <p:spTgt spid="112"/>
                                        </p:tgtEl>
                                      </p:cBhvr>
                                    </p:animEffect>
                                    <p:animScale>
                                      <p:cBhvr>
                                        <p:cTn id="166" dur="250" autoRev="1" fill="hold"/>
                                        <p:tgtEl>
                                          <p:spTgt spid="112"/>
                                        </p:tgtEl>
                                      </p:cBhvr>
                                      <p:by x="105000" y="105000"/>
                                    </p:animScale>
                                  </p:childTnLst>
                                </p:cTn>
                              </p:par>
                              <p:par>
                                <p:cTn id="167" presetID="1" presetClass="entr" presetSubtype="0" fill="hold" grpId="0" nodeType="withEffect">
                                  <p:stCondLst>
                                    <p:cond delay="0"/>
                                  </p:stCondLst>
                                  <p:childTnLst>
                                    <p:set>
                                      <p:cBhvr>
                                        <p:cTn id="168" dur="1" fill="hold">
                                          <p:stCondLst>
                                            <p:cond delay="0"/>
                                          </p:stCondLst>
                                        </p:cTn>
                                        <p:tgtEl>
                                          <p:spTgt spid="113"/>
                                        </p:tgtEl>
                                        <p:attrNameLst>
                                          <p:attrName>style.visibility</p:attrName>
                                        </p:attrNameLst>
                                      </p:cBhvr>
                                      <p:to>
                                        <p:strVal val="visible"/>
                                      </p:to>
                                    </p:set>
                                  </p:childTnLst>
                                </p:cTn>
                              </p:par>
                              <p:par>
                                <p:cTn id="169" presetID="26" presetClass="emph" presetSubtype="0" fill="hold" grpId="1" nodeType="withEffect">
                                  <p:stCondLst>
                                    <p:cond delay="0"/>
                                  </p:stCondLst>
                                  <p:childTnLst>
                                    <p:animEffect transition="out" filter="fade">
                                      <p:cBhvr>
                                        <p:cTn id="170" dur="500" tmFilter="0, 0; .2, .5; .8, .5; 1, 0"/>
                                        <p:tgtEl>
                                          <p:spTgt spid="113"/>
                                        </p:tgtEl>
                                      </p:cBhvr>
                                    </p:animEffect>
                                    <p:animScale>
                                      <p:cBhvr>
                                        <p:cTn id="171" dur="250" autoRev="1" fill="hold"/>
                                        <p:tgtEl>
                                          <p:spTgt spid="113"/>
                                        </p:tgtEl>
                                      </p:cBhvr>
                                      <p:by x="105000" y="105000"/>
                                    </p:animScale>
                                  </p:childTnLst>
                                </p:cTn>
                              </p:par>
                              <p:par>
                                <p:cTn id="172" presetID="1" presetClass="entr" presetSubtype="0" fill="hold" grpId="0" nodeType="withEffect">
                                  <p:stCondLst>
                                    <p:cond delay="0"/>
                                  </p:stCondLst>
                                  <p:childTnLst>
                                    <p:set>
                                      <p:cBhvr>
                                        <p:cTn id="173" dur="1" fill="hold">
                                          <p:stCondLst>
                                            <p:cond delay="0"/>
                                          </p:stCondLst>
                                        </p:cTn>
                                        <p:tgtEl>
                                          <p:spTgt spid="96"/>
                                        </p:tgtEl>
                                        <p:attrNameLst>
                                          <p:attrName>style.visibility</p:attrName>
                                        </p:attrNameLst>
                                      </p:cBhvr>
                                      <p:to>
                                        <p:strVal val="visible"/>
                                      </p:to>
                                    </p:set>
                                  </p:childTnLst>
                                </p:cTn>
                              </p:par>
                              <p:par>
                                <p:cTn id="174" presetID="26" presetClass="emph" presetSubtype="0" fill="hold" grpId="1" nodeType="withEffect">
                                  <p:stCondLst>
                                    <p:cond delay="0"/>
                                  </p:stCondLst>
                                  <p:childTnLst>
                                    <p:animEffect transition="out" filter="fade">
                                      <p:cBhvr>
                                        <p:cTn id="175" dur="500" tmFilter="0, 0; .2, .5; .8, .5; 1, 0"/>
                                        <p:tgtEl>
                                          <p:spTgt spid="96"/>
                                        </p:tgtEl>
                                      </p:cBhvr>
                                    </p:animEffect>
                                    <p:animScale>
                                      <p:cBhvr>
                                        <p:cTn id="176" dur="250" autoRev="1" fill="hold"/>
                                        <p:tgtEl>
                                          <p:spTgt spid="96"/>
                                        </p:tgtEl>
                                      </p:cBhvr>
                                      <p:by x="105000" y="105000"/>
                                    </p:animScale>
                                  </p:childTnLst>
                                </p:cTn>
                              </p:par>
                            </p:childTnLst>
                          </p:cTn>
                        </p:par>
                      </p:childTnLst>
                    </p:cTn>
                  </p:par>
                  <p:par>
                    <p:cTn id="177" fill="hold">
                      <p:stCondLst>
                        <p:cond delay="indefinite"/>
                      </p:stCondLst>
                      <p:childTnLst>
                        <p:par>
                          <p:cTn id="178" fill="hold">
                            <p:stCondLst>
                              <p:cond delay="0"/>
                            </p:stCondLst>
                            <p:childTnLst>
                              <p:par>
                                <p:cTn id="179" presetID="1" presetClass="entr" presetSubtype="0" fill="hold" grpId="0" nodeType="clickEffect">
                                  <p:stCondLst>
                                    <p:cond delay="0"/>
                                  </p:stCondLst>
                                  <p:childTnLst>
                                    <p:set>
                                      <p:cBhvr>
                                        <p:cTn id="18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P spid="86" grpId="1" animBg="1"/>
      <p:bldP spid="86" grpId="2" animBg="1"/>
      <p:bldP spid="86" grpId="3" animBg="1"/>
      <p:bldP spid="86" grpId="4" animBg="1"/>
      <p:bldP spid="86" grpId="6" animBg="1"/>
      <p:bldP spid="86" grpId="7" animBg="1"/>
      <p:bldP spid="86" grpId="9" animBg="1"/>
      <p:bldP spid="86" grpId="10" animBg="1"/>
      <p:bldP spid="93" grpId="0" animBg="1"/>
      <p:bldP spid="93" grpId="1" animBg="1"/>
      <p:bldP spid="99" grpId="0" animBg="1"/>
      <p:bldP spid="99" grpId="1" animBg="1"/>
      <p:bldP spid="100" grpId="0" animBg="1"/>
      <p:bldP spid="100" grpId="1" animBg="1"/>
      <p:bldP spid="102" grpId="0" animBg="1"/>
      <p:bldP spid="102" grpId="1" animBg="1"/>
      <p:bldP spid="103" grpId="0" animBg="1"/>
      <p:bldP spid="103" grpId="1" animBg="1"/>
      <p:bldP spid="104" grpId="0" animBg="1"/>
      <p:bldP spid="104" grpId="1" animBg="1"/>
      <p:bldP spid="106" grpId="0" animBg="1"/>
      <p:bldP spid="106" grpId="1" animBg="1"/>
      <p:bldP spid="107" grpId="0" animBg="1"/>
      <p:bldP spid="107" grpId="1" animBg="1"/>
      <p:bldP spid="108" grpId="0" animBg="1"/>
      <p:bldP spid="108" grpId="1" animBg="1"/>
      <p:bldP spid="109" grpId="0" animBg="1"/>
      <p:bldP spid="109" grpId="1" animBg="1"/>
      <p:bldP spid="110" grpId="0" animBg="1"/>
      <p:bldP spid="110" grpId="1" animBg="1"/>
      <p:bldP spid="111" grpId="0" animBg="1"/>
      <p:bldP spid="111" grpId="1" animBg="1"/>
      <p:bldP spid="112" grpId="0" animBg="1"/>
      <p:bldP spid="112" grpId="1" animBg="1"/>
      <p:bldP spid="113" grpId="0" animBg="1"/>
      <p:bldP spid="113" grpId="1" animBg="1"/>
      <p:bldP spid="115" grpId="0" animBg="1"/>
      <p:bldP spid="114" grpId="0" animBg="1"/>
      <p:bldP spid="114" grpId="1" animBg="1"/>
      <p:bldP spid="116" grpId="0" animBg="1"/>
      <p:bldP spid="116" grpId="1" animBg="1"/>
      <p:bldP spid="117" grpId="0" animBg="1"/>
      <p:bldP spid="117" grpId="1" animBg="1"/>
      <p:bldP spid="119" grpId="0" animBg="1"/>
      <p:bldP spid="119" grpId="1" animBg="1"/>
      <p:bldP spid="3" grpId="0"/>
      <p:bldP spid="5" grpId="0" animBg="1"/>
      <p:bldP spid="5" grpId="1" animBg="1"/>
      <p:bldP spid="89" grpId="0" animBg="1"/>
      <p:bldP spid="89" grpId="1" animBg="1"/>
      <p:bldP spid="90" grpId="0" animBg="1"/>
      <p:bldP spid="90" grpId="1" animBg="1"/>
      <p:bldP spid="92" grpId="0" animBg="1"/>
      <p:bldP spid="92" grpId="1" animBg="1"/>
      <p:bldP spid="94" grpId="0" animBg="1"/>
      <p:bldP spid="94" grpId="1" animBg="1"/>
      <p:bldP spid="95" grpId="0" animBg="1"/>
      <p:bldP spid="95" grpId="1" animBg="1"/>
      <p:bldP spid="96" grpId="0" animBg="1"/>
      <p:bldP spid="96" grpId="1" animBg="1"/>
      <p:bldP spid="9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Back"/>
          <p:cNvGraphicFramePr>
            <a:graphicFrameLocks noGrp="1"/>
          </p:cNvGraphicFramePr>
          <p:nvPr>
            <p:extLst>
              <p:ext uri="{D42A27DB-BD31-4B8C-83A1-F6EECF244321}">
                <p14:modId xmlns:p14="http://schemas.microsoft.com/office/powerpoint/2010/main" val="3393893140"/>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chemeClr val="tx1"/>
                          </a:solidFill>
                          <a:effectLst/>
                          <a:latin typeface="Calibri" panose="020F0502020204030204" pitchFamily="34" charset="0"/>
                        </a:rPr>
                        <a:t>searched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found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identity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equal</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name</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street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zip</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cnt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run</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Isotopen Technologien </a:t>
                      </a:r>
                      <a:r>
                        <a:rPr lang="de-DE" sz="800" b="0" i="0" u="none" strike="noStrike" dirty="0" err="1" smtClean="0">
                          <a:solidFill>
                            <a:schemeClr val="tx1"/>
                          </a:solidFill>
                          <a:effectLst/>
                          <a:latin typeface="Calibri" panose="020F0502020204030204" pitchFamily="34" charset="0"/>
                        </a:rPr>
                        <a:t>Munich</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Schleißheimer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Keplerstrasse</a:t>
                      </a:r>
                      <a:r>
                        <a:rPr lang="de-DE" sz="800" b="0" i="0" u="none" strike="noStrike"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Akademische Motorsportgruppe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Vereinigung von Freunden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Förderkreis Betriebswirtschaft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Verwaltungsgesellschaft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 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Rhodia Acetow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Körperschaft des öffentlichen Rechts,Kaiserstrasse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Akademische Fliegergruppe am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Akademische Fliegergruppe am Karlsruher Institut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KIT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 Brotzmann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a:solidFill>
                            <a:schemeClr val="tx1"/>
                          </a:solidFill>
                          <a:effectLst/>
                          <a:latin typeface="Calibri" panose="020F0502020204030204" pitchFamily="34" charset="0"/>
                        </a:rPr>
                        <a:t>K a r l B r o t z m a n n C o n s u l t i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Eerec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Merkers-Kieselbach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ALMÜ Präzisions-Werkzeug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Gesellschaft zur Förderung angewandter Optik, Optoelektronik, Quantenelektronik und Spektroskopie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OPTOSENS Optische Spektroskopie und Sensortechnik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graphicFrame>
        <p:nvGraphicFramePr>
          <p:cNvPr id="7" name="Front"/>
          <p:cNvGraphicFramePr>
            <a:graphicFrameLocks noGrp="1"/>
          </p:cNvGraphicFramePr>
          <p:nvPr>
            <p:extLst>
              <p:ext uri="{D42A27DB-BD31-4B8C-83A1-F6EECF244321}">
                <p14:modId xmlns:p14="http://schemas.microsoft.com/office/powerpoint/2010/main" val="1550317358"/>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chemeClr val="tx1"/>
                          </a:solidFill>
                          <a:effectLst/>
                          <a:latin typeface="Calibri" panose="020F0502020204030204" pitchFamily="34" charset="0"/>
                        </a:rPr>
                        <a:t>searched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found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identity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equal</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name</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street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zip</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cnt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run</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Isotopen Technologien </a:t>
                      </a:r>
                      <a:r>
                        <a:rPr lang="de-DE" sz="800" b="0" i="0" u="none" strike="noStrike" dirty="0" err="1" smtClean="0">
                          <a:solidFill>
                            <a:schemeClr val="bg1">
                              <a:lumMod val="50000"/>
                            </a:schemeClr>
                          </a:solidFill>
                          <a:effectLst/>
                          <a:latin typeface="Calibri" panose="020F0502020204030204" pitchFamily="34" charset="0"/>
                        </a:rPr>
                        <a:t>Munich</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69.38</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69.38</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69.38</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69.38</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bg1">
                              <a:lumMod val="85000"/>
                            </a:schemeClr>
                          </a:solidFill>
                          <a:effectLst/>
                          <a:latin typeface="Calibri" panose="020F0502020204030204" pitchFamily="34" charset="0"/>
                        </a:rPr>
                        <a:t>Schleißheimer</a:t>
                      </a:r>
                      <a:r>
                        <a:rPr lang="de-DE" sz="800" b="0" i="0" u="none" strike="noStrike" dirty="0">
                          <a:solidFill>
                            <a:schemeClr val="bg1">
                              <a:lumMod val="85000"/>
                            </a:schemeClr>
                          </a:solidFill>
                          <a:effectLst/>
                          <a:latin typeface="Calibri" panose="020F0502020204030204" pitchFamily="34" charset="0"/>
                        </a:rPr>
                        <a:t>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69.38</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Keplerstrasse</a:t>
                      </a:r>
                      <a:r>
                        <a:rPr lang="de-DE" sz="800" b="0" i="0" u="none" strike="noStrike"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Motorsportgruppe an der </a:t>
                      </a:r>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Vereinigung von Freunden der </a:t>
                      </a:r>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Förderkreis Betriebswirtschaft an der </a:t>
                      </a:r>
                      <a:r>
                        <a:rPr lang="de-DE" sz="800" b="0" i="0" u="none" strike="noStrike" dirty="0">
                          <a:solidFill>
                            <a:schemeClr val="tx1"/>
                          </a:solidFill>
                          <a:effectLst/>
                          <a:latin typeface="Calibri" panose="020F0502020204030204" pitchFamily="34" charset="0"/>
                        </a:rPr>
                        <a:t>Universität Stuttgart </a:t>
                      </a:r>
                      <a:r>
                        <a:rPr lang="de-DE" sz="800" b="0" i="0" u="none" strike="noStrike"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bg1">
                              <a:lumMod val="85000"/>
                            </a:schemeClr>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0.23</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bg1">
                              <a:lumMod val="85000"/>
                            </a:schemeClr>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0.23</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bg1">
                              <a:lumMod val="85000"/>
                            </a:schemeClr>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a:t>
                      </a:r>
                      <a:r>
                        <a:rPr lang="de-DE" sz="800" b="0" i="0" u="none" strike="noStrike" dirty="0">
                          <a:solidFill>
                            <a:schemeClr val="bg1">
                              <a:lumMod val="85000"/>
                            </a:schemeClr>
                          </a:solidFill>
                          <a:effectLst/>
                          <a:latin typeface="Calibri" panose="020F0502020204030204" pitchFamily="34" charset="0"/>
                        </a:rPr>
                        <a:t>Verwaltungsgesellschaft</a:t>
                      </a:r>
                      <a:r>
                        <a:rPr lang="de-DE" sz="800" b="0" i="0" u="none" strike="noStrike" dirty="0">
                          <a:solidFill>
                            <a:schemeClr val="tx1"/>
                          </a:solidFill>
                          <a:effectLst/>
                          <a:latin typeface="Calibri" panose="020F0502020204030204" pitchFamily="34" charset="0"/>
                        </a:rPr>
                        <a: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0.23</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bg1">
                              <a:lumMod val="85000"/>
                            </a:schemeClr>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a:t>
                      </a:r>
                      <a:r>
                        <a:rPr lang="de-DE" sz="800" b="0" i="0" u="none" strike="noStrike" dirty="0">
                          <a:solidFill>
                            <a:schemeClr val="bg1">
                              <a:lumMod val="85000"/>
                            </a:schemeClr>
                          </a:solidFill>
                          <a:effectLst/>
                          <a:latin typeface="Calibri" panose="020F0502020204030204" pitchFamily="34" charset="0"/>
                        </a:rPr>
                        <a:t>Holding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0.23</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bg1">
                              <a:lumMod val="85000"/>
                            </a:schemeClr>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0.23</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Engesserstrasse 8 </a:t>
                      </a:r>
                      <a:r>
                        <a:rPr lang="de-DE" sz="800" b="0" i="0" u="none" strike="noStrike" dirty="0">
                          <a:solidFill>
                            <a:schemeClr val="bg1">
                              <a:lumMod val="50000"/>
                            </a:schemeClr>
                          </a:solidFill>
                          <a:effectLst/>
                          <a:latin typeface="Calibri" panose="020F0502020204030204" pitchFamily="34" charset="0"/>
                        </a:rPr>
                        <a:t>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RHONE-POULENC </a:t>
                      </a:r>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err="1">
                          <a:solidFill>
                            <a:schemeClr val="bg1">
                              <a:lumMod val="85000"/>
                            </a:schemeClr>
                          </a:solidFill>
                          <a:effectLst/>
                          <a:latin typeface="Calibri" panose="020F0502020204030204" pitchFamily="34" charset="0"/>
                        </a:rPr>
                        <a:t>Acetow</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Körperschaft des öffentlichen Rechts</a:t>
                      </a:r>
                      <a:r>
                        <a:rPr lang="de-DE" sz="800" b="0" i="0" u="none" strike="noStrike" dirty="0" smtClean="0">
                          <a:solidFill>
                            <a:schemeClr val="bg1">
                              <a:lumMod val="50000"/>
                            </a:schemeClr>
                          </a:solidFill>
                          <a:effectLst/>
                          <a:latin typeface="Calibri" panose="020F0502020204030204" pitchFamily="34" charset="0"/>
                        </a:rPr>
                        <a:t>, </a:t>
                      </a:r>
                      <a:r>
                        <a:rPr lang="de-DE" sz="800" b="0" i="0" u="none" strike="noStrike" dirty="0" err="1" smtClean="0">
                          <a:solidFill>
                            <a:schemeClr val="tx1"/>
                          </a:solidFill>
                          <a:effectLst/>
                          <a:latin typeface="Calibri" panose="020F0502020204030204" pitchFamily="34" charset="0"/>
                        </a:rPr>
                        <a:t>Kaiserstrasse</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Fliegergruppe am </a:t>
                      </a:r>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Fliegergruppe am </a:t>
                      </a:r>
                      <a:r>
                        <a:rPr lang="de-DE" sz="800" b="0" i="0" u="none" strike="noStrike" dirty="0">
                          <a:solidFill>
                            <a:schemeClr val="tx1"/>
                          </a:solidFill>
                          <a:effectLst/>
                          <a:latin typeface="Calibri" panose="020F0502020204030204" pitchFamily="34" charset="0"/>
                        </a:rPr>
                        <a:t>Karlsruher Institut für Technologie </a:t>
                      </a:r>
                      <a:r>
                        <a:rPr lang="de-DE" sz="800" b="0" i="0" u="none" strike="noStrike"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KIT </a:t>
                      </a:r>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bg1">
                              <a:lumMod val="85000"/>
                            </a:schemeClr>
                          </a:solidFill>
                          <a:effectLst/>
                          <a:latin typeface="Calibri" panose="020F0502020204030204" pitchFamily="34" charset="0"/>
                        </a:rPr>
                        <a:t>DMS </a:t>
                      </a:r>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 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bg1">
                              <a:lumMod val="85000"/>
                            </a:schemeClr>
                          </a:solidFill>
                          <a:effectLst/>
                          <a:latin typeface="Calibri" panose="020F0502020204030204" pitchFamily="34" charset="0"/>
                        </a:rPr>
                        <a:t>DMS </a:t>
                      </a:r>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 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 BROTZMANN CO</a:t>
                      </a:r>
                      <a:r>
                        <a:rPr lang="de-DE" sz="800" b="0" i="0" u="none" strike="noStrike" dirty="0">
                          <a:solidFill>
                            <a:srgbClr val="FF0000"/>
                          </a:solidFill>
                          <a:effectLst/>
                          <a:latin typeface="Calibri" panose="020F0502020204030204" pitchFamily="34" charset="0"/>
                        </a:rPr>
                        <a:t>M</a:t>
                      </a:r>
                      <a:r>
                        <a:rPr lang="de-DE" sz="800" b="0" i="0" u="none" strike="noStrike"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 Scheffel-</a:t>
                      </a:r>
                      <a:r>
                        <a:rPr lang="de-DE" sz="800" b="0" i="0" u="none" strike="noStrike" dirty="0" err="1">
                          <a:solidFill>
                            <a:schemeClr val="tx1"/>
                          </a:solidFill>
                          <a:effectLst/>
                          <a:latin typeface="Calibri" panose="020F0502020204030204" pitchFamily="34" charset="0"/>
                        </a:rPr>
                        <a:t>Strasse</a:t>
                      </a:r>
                      <a:r>
                        <a:rPr lang="de-DE" sz="800" b="0" i="0" u="none" strike="noStrike" dirty="0">
                          <a:solidFill>
                            <a:schemeClr val="tx1"/>
                          </a:solidFill>
                          <a:effectLst/>
                          <a:latin typeface="Calibri" panose="020F0502020204030204" pitchFamily="34" charset="0"/>
                        </a:rPr>
                        <a:t>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 </a:t>
                      </a:r>
                      <a:r>
                        <a:rPr lang="de-DE" sz="800" b="0" i="0" u="none" strike="noStrike" dirty="0" err="1">
                          <a:solidFill>
                            <a:schemeClr val="tx1"/>
                          </a:solidFill>
                          <a:effectLst/>
                          <a:latin typeface="Calibri" panose="020F0502020204030204" pitchFamily="34" charset="0"/>
                        </a:rPr>
                        <a:t>Brotzmann</a:t>
                      </a:r>
                      <a:r>
                        <a:rPr lang="de-DE" sz="800" b="0" i="0" u="none" strike="noStrike" dirty="0">
                          <a:solidFill>
                            <a:schemeClr val="tx1"/>
                          </a:solidFill>
                          <a:effectLst/>
                          <a:latin typeface="Calibri" panose="020F0502020204030204" pitchFamily="34" charset="0"/>
                        </a:rPr>
                        <a:t> Co</a:t>
                      </a:r>
                      <a:r>
                        <a:rPr lang="de-DE" sz="800" b="0" i="0" u="none" strike="noStrike" dirty="0">
                          <a:solidFill>
                            <a:srgbClr val="FF0000"/>
                          </a:solidFill>
                          <a:effectLst/>
                          <a:latin typeface="Calibri" panose="020F0502020204030204" pitchFamily="34" charset="0"/>
                        </a:rPr>
                        <a:t>n</a:t>
                      </a:r>
                      <a:r>
                        <a:rPr lang="de-DE" sz="800" b="0" i="0" u="none" strike="noStrike"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dirty="0">
                          <a:solidFill>
                            <a:srgbClr val="FF0000"/>
                          </a:solidFill>
                          <a:effectLst/>
                          <a:latin typeface="Calibri" panose="020F0502020204030204" pitchFamily="34" charset="0"/>
                        </a:rPr>
                        <a:t>K a r l B r o t z m a n n C o n s u l t i n g </a:t>
                      </a:r>
                      <a:r>
                        <a:rPr lang="pt-BR" sz="800" b="0" i="0" u="none" strike="noStrike" dirty="0">
                          <a:solidFill>
                            <a:schemeClr val="tx1"/>
                          </a:solidFill>
                          <a:effectLst/>
                          <a:latin typeface="Calibri" panose="020F0502020204030204" pitchFamily="34" charset="0"/>
                        </a:rPr>
                        <a:t>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e</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r>
                        <a:rPr lang="de-DE" sz="800" b="0" i="0" u="none" strike="noStrike" dirty="0">
                          <a:solidFill>
                            <a:schemeClr val="bg1">
                              <a:lumMod val="50000"/>
                            </a:schemeClr>
                          </a:solidFill>
                          <a:effectLst/>
                          <a:latin typeface="Calibri" panose="020F0502020204030204" pitchFamily="34" charset="0"/>
                        </a:rPr>
                        <a:t>/Thür</a:t>
                      </a:r>
                      <a:r>
                        <a:rPr lang="de-DE" sz="800" b="0" i="0" u="none" strike="noStrike" dirty="0">
                          <a:solidFill>
                            <a:schemeClr val="bg1">
                              <a:lumMod val="65000"/>
                            </a:schemeClr>
                          </a:solidFill>
                          <a:effectLst/>
                          <a:latin typeface="Calibri" panose="020F0502020204030204" pitchFamily="34" charset="0"/>
                        </a:rPr>
                        <a: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bg1">
                              <a:lumMod val="85000"/>
                            </a:schemeClr>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u</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r>
                        <a:rPr lang="de-DE" sz="800" b="0" i="0" u="none" strike="noStrike" dirty="0">
                          <a:solidFill>
                            <a:schemeClr val="bg1">
                              <a:lumMod val="85000"/>
                            </a:schemeClr>
                          </a:solidFill>
                          <a:effectLst/>
                          <a:latin typeface="Calibri" panose="020F0502020204030204" pitchFamily="34" charset="0"/>
                        </a:rPr>
                        <a:t>-Kieselbach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u</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 L M Ü </a:t>
                      </a:r>
                      <a:r>
                        <a:rPr lang="de-DE" sz="800" b="0" i="0" u="none" strike="noStrike" dirty="0">
                          <a:solidFill>
                            <a:srgbClr val="FF0000"/>
                          </a:solidFill>
                          <a:effectLst/>
                          <a:latin typeface="Calibri" panose="020F0502020204030204" pitchFamily="34" charset="0"/>
                        </a:rPr>
                        <a:t>PRAZISIONSWERKZEUG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ALMÜ </a:t>
                      </a:r>
                      <a:r>
                        <a:rPr lang="de-DE" sz="800" b="0" i="0" u="none" strike="noStrike" dirty="0">
                          <a:solidFill>
                            <a:srgbClr val="FF0000"/>
                          </a:solidFill>
                          <a:effectLst/>
                          <a:latin typeface="Calibri" panose="020F0502020204030204" pitchFamily="34" charset="0"/>
                        </a:rPr>
                        <a:t>Präzisions-Werkzeug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Gesell</a:t>
                      </a:r>
                      <a:r>
                        <a:rPr lang="de-DE" sz="800" b="0" i="0" u="none" strike="noStrike" dirty="0">
                          <a:solidFill>
                            <a:srgbClr val="FF0000"/>
                          </a:solidFill>
                          <a:effectLst/>
                          <a:latin typeface="Calibri" panose="020F0502020204030204" pitchFamily="34" charset="0"/>
                        </a:rPr>
                        <a:t>sch</a:t>
                      </a:r>
                      <a:r>
                        <a:rPr lang="de-DE" sz="800" b="0" i="0" u="none" strike="noStrike" dirty="0">
                          <a:solidFill>
                            <a:schemeClr val="bg1">
                              <a:lumMod val="50000"/>
                            </a:schemeClr>
                          </a:solidFill>
                          <a:effectLst/>
                          <a:latin typeface="Calibri" panose="020F0502020204030204" pitchFamily="34" charset="0"/>
                        </a:rPr>
                        <a:t>aft zur Förderung angewandter </a:t>
                      </a:r>
                      <a:r>
                        <a:rPr lang="de-DE" sz="800" b="0" i="0" u="none" strike="noStrike" dirty="0">
                          <a:solidFill>
                            <a:srgbClr val="FF0000"/>
                          </a:solidFill>
                          <a:effectLst/>
                          <a:latin typeface="Calibri" panose="020F0502020204030204" pitchFamily="34" charset="0"/>
                        </a:rPr>
                        <a:t>Opti</a:t>
                      </a:r>
                      <a:r>
                        <a:rPr lang="de-DE" sz="800" b="0" i="0" u="none" strike="noStrike" dirty="0">
                          <a:solidFill>
                            <a:schemeClr val="bg1">
                              <a:lumMod val="50000"/>
                            </a:schemeClr>
                          </a:solidFill>
                          <a:effectLst/>
                          <a:latin typeface="Calibri" panose="020F0502020204030204" pitchFamily="34" charset="0"/>
                        </a:rPr>
                        <a:t>k</a:t>
                      </a:r>
                      <a:r>
                        <a:rPr lang="de-DE" sz="800" b="0" i="0" u="none" strike="noStrike" dirty="0">
                          <a:solidFill>
                            <a:schemeClr val="tx1"/>
                          </a:solidFill>
                          <a:effectLst/>
                          <a:latin typeface="Calibri" panose="020F0502020204030204" pitchFamily="34" charset="0"/>
                        </a:rPr>
                        <a:t>, </a:t>
                      </a:r>
                      <a:r>
                        <a:rPr lang="de-DE" sz="800" b="0" i="0" u="none" strike="noStrike" dirty="0">
                          <a:solidFill>
                            <a:srgbClr val="FF0000"/>
                          </a:solidFill>
                          <a:effectLst/>
                          <a:latin typeface="Calibri" panose="020F0502020204030204" pitchFamily="34" charset="0"/>
                        </a:rPr>
                        <a:t>Opto</a:t>
                      </a:r>
                      <a:r>
                        <a:rPr lang="de-DE" sz="800" b="0" i="0" u="none" strike="noStrike" dirty="0">
                          <a:solidFill>
                            <a:schemeClr val="bg1">
                              <a:lumMod val="50000"/>
                            </a:schemeClr>
                          </a:solidFill>
                          <a:effectLst/>
                          <a:latin typeface="Calibri" panose="020F0502020204030204" pitchFamily="34" charset="0"/>
                        </a:rPr>
                        <a:t>elektro</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tx1"/>
                          </a:solidFill>
                          <a:effectLst/>
                          <a:latin typeface="Calibri" panose="020F0502020204030204" pitchFamily="34" charset="0"/>
                        </a:rPr>
                        <a:t>, </a:t>
                      </a:r>
                      <a:r>
                        <a:rPr lang="de-DE" sz="800" b="0" i="0" u="none" strike="noStrike" dirty="0">
                          <a:solidFill>
                            <a:schemeClr val="bg1">
                              <a:lumMod val="50000"/>
                            </a:schemeClr>
                          </a:solidFill>
                          <a:effectLst/>
                          <a:latin typeface="Calibri" panose="020F0502020204030204" pitchFamily="34" charset="0"/>
                        </a:rPr>
                        <a:t>Quantenelektro</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tx1"/>
                          </a:solidFill>
                          <a:effectLst/>
                          <a:latin typeface="Calibri" panose="020F0502020204030204" pitchFamily="34" charset="0"/>
                        </a:rPr>
                        <a:t> und Spektroskopie </a:t>
                      </a:r>
                      <a:r>
                        <a:rPr lang="de-DE" sz="800" b="0" i="0" u="none" strike="noStrike" dirty="0">
                          <a:solidFill>
                            <a:schemeClr val="bg1">
                              <a:lumMod val="50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FF0000"/>
                          </a:solidFill>
                          <a:effectLst/>
                          <a:latin typeface="Calibri" panose="020F0502020204030204" pitchFamily="34" charset="0"/>
                        </a:rPr>
                        <a:t>OPTO</a:t>
                      </a:r>
                      <a:r>
                        <a:rPr lang="de-DE" sz="800" b="0" i="0" u="none" strike="noStrike" dirty="0">
                          <a:solidFill>
                            <a:schemeClr val="bg1">
                              <a:lumMod val="85000"/>
                            </a:schemeClr>
                          </a:solidFill>
                          <a:effectLst/>
                          <a:latin typeface="Calibri" panose="020F0502020204030204" pitchFamily="34" charset="0"/>
                        </a:rPr>
                        <a:t>SENS </a:t>
                      </a:r>
                      <a:r>
                        <a:rPr lang="de-DE" sz="800" b="0" i="0" u="none" strike="noStrike" dirty="0">
                          <a:solidFill>
                            <a:srgbClr val="FF0000"/>
                          </a:solidFill>
                          <a:effectLst/>
                          <a:latin typeface="Calibri" panose="020F0502020204030204" pitchFamily="34" charset="0"/>
                        </a:rPr>
                        <a:t>Optisch</a:t>
                      </a:r>
                      <a:r>
                        <a:rPr lang="de-DE" sz="800" b="0" i="0" u="none" strike="noStrike" dirty="0">
                          <a:solidFill>
                            <a:schemeClr val="bg1">
                              <a:lumMod val="85000"/>
                            </a:schemeClr>
                          </a:solidFill>
                          <a:effectLst/>
                          <a:latin typeface="Calibri" panose="020F0502020204030204" pitchFamily="34" charset="0"/>
                        </a:rPr>
                        <a:t>e </a:t>
                      </a:r>
                      <a:r>
                        <a:rPr lang="de-DE" sz="800" b="0" i="0" u="none" strike="noStrike" dirty="0">
                          <a:solidFill>
                            <a:schemeClr val="tx1"/>
                          </a:solidFill>
                          <a:effectLst/>
                          <a:latin typeface="Calibri" panose="020F0502020204030204" pitchFamily="34" charset="0"/>
                        </a:rPr>
                        <a:t>Spektroskopie</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und </a:t>
                      </a:r>
                      <a:r>
                        <a:rPr lang="de-DE" sz="800" b="0" i="0" u="none" strike="noStrike" dirty="0">
                          <a:solidFill>
                            <a:schemeClr val="bg1">
                              <a:lumMod val="85000"/>
                            </a:schemeClr>
                          </a:solidFill>
                          <a:effectLst/>
                          <a:latin typeface="Calibri" panose="020F0502020204030204" pitchFamily="34" charset="0"/>
                        </a:rPr>
                        <a:t>Sensortech</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bg1">
                              <a:lumMod val="85000"/>
                            </a:schemeClr>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
        <p:nvSpPr>
          <p:cNvPr id="2" name="Titel 1"/>
          <p:cNvSpPr>
            <a:spLocks noGrp="1"/>
          </p:cNvSpPr>
          <p:nvPr>
            <p:ph type="title"/>
          </p:nvPr>
        </p:nvSpPr>
        <p:spPr/>
        <p:txBody>
          <a:bodyPr/>
          <a:lstStyle/>
          <a:p>
            <a:r>
              <a:rPr lang="en-US" dirty="0" smtClean="0"/>
              <a:t>Preview</a:t>
            </a:r>
            <a:endParaRPr lang="en-US"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10</a:t>
            </a:fld>
            <a:endParaRPr lang="en-US" dirty="0"/>
          </a:p>
        </p:txBody>
      </p:sp>
    </p:spTree>
    <p:extLst>
      <p:ext uri="{BB962C8B-B14F-4D97-AF65-F5344CB8AC3E}">
        <p14:creationId xmlns:p14="http://schemas.microsoft.com/office/powerpoint/2010/main" val="2370006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1000"/>
                                        <p:tgtEl>
                                          <p:spTgt spid="7"/>
                                        </p:tgtEl>
                                      </p:cBhvr>
                                    </p:animEffect>
                                  </p:childTnLst>
                                </p:cTn>
                              </p:par>
                              <p:par>
                                <p:cTn id="8" presetID="22" presetClass="exit" presetSubtype="1" fill="hold" nodeType="withEffect">
                                  <p:stCondLst>
                                    <p:cond delay="0"/>
                                  </p:stCondLst>
                                  <p:childTnLst>
                                    <p:animEffect transition="out" filter="wipe(up)">
                                      <p:cBhvr>
                                        <p:cTn id="9" dur="1000"/>
                                        <p:tgtEl>
                                          <p:spTgt spid="5"/>
                                        </p:tgtEl>
                                      </p:cBhvr>
                                    </p:animEffect>
                                    <p:set>
                                      <p:cBhvr>
                                        <p:cTn id="10" dur="1" fill="hold">
                                          <p:stCondLst>
                                            <p:cond delay="9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Back"/>
          <p:cNvGraphicFramePr>
            <a:graphicFrameLocks noGrp="1"/>
          </p:cNvGraphicFramePr>
          <p:nvPr>
            <p:extLst>
              <p:ext uri="{D42A27DB-BD31-4B8C-83A1-F6EECF244321}">
                <p14:modId xmlns:p14="http://schemas.microsoft.com/office/powerpoint/2010/main" val="3393893140"/>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chemeClr val="tx1"/>
                          </a:solidFill>
                          <a:effectLst/>
                          <a:latin typeface="Calibri" panose="020F0502020204030204" pitchFamily="34" charset="0"/>
                        </a:rPr>
                        <a:t>searched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found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identity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equal</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name</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street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zip</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cnt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run</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Isotopen Technologien </a:t>
                      </a:r>
                      <a:r>
                        <a:rPr lang="de-DE" sz="800" b="0" i="0" u="none" strike="noStrike" dirty="0" err="1" smtClean="0">
                          <a:solidFill>
                            <a:schemeClr val="tx1"/>
                          </a:solidFill>
                          <a:effectLst/>
                          <a:latin typeface="Calibri" panose="020F0502020204030204" pitchFamily="34" charset="0"/>
                        </a:rPr>
                        <a:t>Munich</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Schleißheimer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Keplerstrasse</a:t>
                      </a:r>
                      <a:r>
                        <a:rPr lang="de-DE" sz="800" b="0" i="0" u="none" strike="noStrike"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Akademische Motorsportgruppe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Vereinigung von Freunden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Förderkreis Betriebswirtschaft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Verwaltungsgesellschaft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 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Rhodia Acetow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Körperschaft des öffentlichen Rechts,Kaiserstrasse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Akademische Fliegergruppe am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Akademische Fliegergruppe am Karlsruher Institut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KIT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 Brotzmann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a:solidFill>
                            <a:schemeClr val="tx1"/>
                          </a:solidFill>
                          <a:effectLst/>
                          <a:latin typeface="Calibri" panose="020F0502020204030204" pitchFamily="34" charset="0"/>
                        </a:rPr>
                        <a:t>K a r l B r o t z m a n n C o n s u l t i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Eerec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Merkers-Kieselbach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ALMÜ Präzisions-Werkzeug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Gesellschaft zur Förderung angewandter Optik, Optoelektronik, Quantenelektronik und Spektroskopie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OPTOSENS Optische Spektroskopie und Sensortechnik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graphicFrame>
        <p:nvGraphicFramePr>
          <p:cNvPr id="7" name="Front"/>
          <p:cNvGraphicFramePr>
            <a:graphicFrameLocks noGrp="1"/>
          </p:cNvGraphicFramePr>
          <p:nvPr>
            <p:extLst>
              <p:ext uri="{D42A27DB-BD31-4B8C-83A1-F6EECF244321}">
                <p14:modId xmlns:p14="http://schemas.microsoft.com/office/powerpoint/2010/main" val="877691262"/>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chemeClr val="tx1"/>
                          </a:solidFill>
                          <a:effectLst/>
                          <a:latin typeface="Calibri" panose="020F0502020204030204" pitchFamily="34" charset="0"/>
                        </a:rPr>
                        <a:t>searched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found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identity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equal</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name</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street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zip</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cnt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run</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Isotopen Technologien </a:t>
                      </a:r>
                      <a:r>
                        <a:rPr lang="de-DE" sz="800" b="0" i="0" u="none" strike="noStrike" dirty="0" err="1" smtClean="0">
                          <a:solidFill>
                            <a:schemeClr val="bg1">
                              <a:lumMod val="50000"/>
                            </a:schemeClr>
                          </a:solidFill>
                          <a:effectLst/>
                          <a:latin typeface="Calibri" panose="020F0502020204030204" pitchFamily="34" charset="0"/>
                        </a:rPr>
                        <a:t>Munich</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bg1">
                              <a:lumMod val="85000"/>
                            </a:schemeClr>
                          </a:solidFill>
                          <a:effectLst/>
                          <a:latin typeface="Calibri" panose="020F0502020204030204" pitchFamily="34" charset="0"/>
                        </a:rPr>
                        <a:t>Schleißheimer</a:t>
                      </a:r>
                      <a:r>
                        <a:rPr lang="de-DE" sz="800" b="0" i="0" u="none" strike="noStrike" dirty="0">
                          <a:solidFill>
                            <a:schemeClr val="bg1">
                              <a:lumMod val="85000"/>
                            </a:schemeClr>
                          </a:solidFill>
                          <a:effectLst/>
                          <a:latin typeface="Calibri" panose="020F0502020204030204" pitchFamily="34" charset="0"/>
                        </a:rPr>
                        <a:t>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Keplerstrasse</a:t>
                      </a:r>
                      <a:r>
                        <a:rPr lang="de-DE" sz="800" b="0" i="0" u="none" strike="noStrike"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Motorsportgruppe an der </a:t>
                      </a:r>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Vereinigung von Freunden der </a:t>
                      </a:r>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Förderkreis Betriebswirtschaft an der </a:t>
                      </a:r>
                      <a:r>
                        <a:rPr lang="de-DE" sz="800" b="0" i="0" u="none" strike="noStrike" dirty="0">
                          <a:solidFill>
                            <a:schemeClr val="tx1"/>
                          </a:solidFill>
                          <a:effectLst/>
                          <a:latin typeface="Calibri" panose="020F0502020204030204" pitchFamily="34" charset="0"/>
                        </a:rPr>
                        <a:t>Universität Stuttgart </a:t>
                      </a:r>
                      <a:r>
                        <a:rPr lang="de-DE" sz="800" b="0" i="0" u="none" strike="noStrike"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a:t>
                      </a:r>
                      <a:r>
                        <a:rPr lang="de-DE" sz="800" b="0" i="0" u="none" strike="noStrike" dirty="0">
                          <a:solidFill>
                            <a:schemeClr val="bg1">
                              <a:lumMod val="85000"/>
                            </a:schemeClr>
                          </a:solidFill>
                          <a:effectLst/>
                          <a:latin typeface="Calibri" panose="020F0502020204030204" pitchFamily="34" charset="0"/>
                        </a:rPr>
                        <a:t>Verwaltungsgesellschaft</a:t>
                      </a:r>
                      <a:r>
                        <a:rPr lang="de-DE" sz="800" b="0" i="0" u="none" strike="noStrike" dirty="0">
                          <a:solidFill>
                            <a:schemeClr val="tx1"/>
                          </a:solidFill>
                          <a:effectLst/>
                          <a:latin typeface="Calibri" panose="020F0502020204030204" pitchFamily="34" charset="0"/>
                        </a:rPr>
                        <a: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a:t>
                      </a:r>
                      <a:r>
                        <a:rPr lang="de-DE" sz="800" b="0" i="0" u="none" strike="noStrike" dirty="0">
                          <a:solidFill>
                            <a:schemeClr val="bg1">
                              <a:lumMod val="85000"/>
                            </a:schemeClr>
                          </a:solidFill>
                          <a:effectLst/>
                          <a:latin typeface="Calibri" panose="020F0502020204030204" pitchFamily="34" charset="0"/>
                        </a:rPr>
                        <a:t>Holding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Engesserstrasse 8 </a:t>
                      </a:r>
                      <a:r>
                        <a:rPr lang="de-DE" sz="800" b="0" i="0" u="none" strike="noStrike" dirty="0">
                          <a:solidFill>
                            <a:schemeClr val="bg1">
                              <a:lumMod val="50000"/>
                            </a:schemeClr>
                          </a:solidFill>
                          <a:effectLst/>
                          <a:latin typeface="Calibri" panose="020F0502020204030204" pitchFamily="34" charset="0"/>
                        </a:rPr>
                        <a:t>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RHONE-POULENC </a:t>
                      </a:r>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err="1">
                          <a:solidFill>
                            <a:schemeClr val="bg1">
                              <a:lumMod val="85000"/>
                            </a:schemeClr>
                          </a:solidFill>
                          <a:effectLst/>
                          <a:latin typeface="Calibri" panose="020F0502020204030204" pitchFamily="34" charset="0"/>
                        </a:rPr>
                        <a:t>Acetow</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Körperschaft des öffentlichen Rechts</a:t>
                      </a:r>
                      <a:r>
                        <a:rPr lang="de-DE" sz="800" b="0" i="0" u="none" strike="noStrike" dirty="0" smtClean="0">
                          <a:solidFill>
                            <a:schemeClr val="bg1">
                              <a:lumMod val="50000"/>
                            </a:schemeClr>
                          </a:solidFill>
                          <a:effectLst/>
                          <a:latin typeface="Calibri" panose="020F0502020204030204" pitchFamily="34" charset="0"/>
                        </a:rPr>
                        <a:t>, </a:t>
                      </a:r>
                      <a:r>
                        <a:rPr lang="de-DE" sz="800" b="0" i="0" u="none" strike="noStrike" dirty="0" err="1" smtClean="0">
                          <a:solidFill>
                            <a:schemeClr val="tx1"/>
                          </a:solidFill>
                          <a:effectLst/>
                          <a:latin typeface="Calibri" panose="020F0502020204030204" pitchFamily="34" charset="0"/>
                        </a:rPr>
                        <a:t>Kaiserstrasse</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Fliegergruppe am </a:t>
                      </a:r>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Fliegergruppe am </a:t>
                      </a:r>
                      <a:r>
                        <a:rPr lang="de-DE" sz="800" b="0" i="0" u="none" strike="noStrike" dirty="0">
                          <a:solidFill>
                            <a:schemeClr val="tx1"/>
                          </a:solidFill>
                          <a:effectLst/>
                          <a:latin typeface="Calibri" panose="020F0502020204030204" pitchFamily="34" charset="0"/>
                        </a:rPr>
                        <a:t>Karlsruher Institut für Technologie </a:t>
                      </a:r>
                      <a:r>
                        <a:rPr lang="de-DE" sz="800" b="0" i="0" u="none" strike="noStrike"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KIT </a:t>
                      </a:r>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bg1">
                              <a:lumMod val="85000"/>
                            </a:schemeClr>
                          </a:solidFill>
                          <a:effectLst/>
                          <a:latin typeface="Calibri" panose="020F0502020204030204" pitchFamily="34" charset="0"/>
                        </a:rPr>
                        <a:t>DMS </a:t>
                      </a:r>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 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bg1">
                              <a:lumMod val="85000"/>
                            </a:schemeClr>
                          </a:solidFill>
                          <a:effectLst/>
                          <a:latin typeface="Calibri" panose="020F0502020204030204" pitchFamily="34" charset="0"/>
                        </a:rPr>
                        <a:t>DMS </a:t>
                      </a:r>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 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 BROTZMANN CO</a:t>
                      </a:r>
                      <a:r>
                        <a:rPr lang="de-DE" sz="800" b="0" i="0" u="none" strike="noStrike" dirty="0">
                          <a:solidFill>
                            <a:srgbClr val="FF0000"/>
                          </a:solidFill>
                          <a:effectLst/>
                          <a:latin typeface="Calibri" panose="020F0502020204030204" pitchFamily="34" charset="0"/>
                        </a:rPr>
                        <a:t>M</a:t>
                      </a:r>
                      <a:r>
                        <a:rPr lang="de-DE" sz="800" b="0" i="0" u="none" strike="noStrike"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 Scheffel-</a:t>
                      </a:r>
                      <a:r>
                        <a:rPr lang="de-DE" sz="800" b="0" i="0" u="none" strike="noStrike" dirty="0" err="1">
                          <a:solidFill>
                            <a:schemeClr val="tx1"/>
                          </a:solidFill>
                          <a:effectLst/>
                          <a:latin typeface="Calibri" panose="020F0502020204030204" pitchFamily="34" charset="0"/>
                        </a:rPr>
                        <a:t>Strasse</a:t>
                      </a:r>
                      <a:r>
                        <a:rPr lang="de-DE" sz="800" b="0" i="0" u="none" strike="noStrike" dirty="0">
                          <a:solidFill>
                            <a:schemeClr val="tx1"/>
                          </a:solidFill>
                          <a:effectLst/>
                          <a:latin typeface="Calibri" panose="020F0502020204030204" pitchFamily="34" charset="0"/>
                        </a:rPr>
                        <a:t>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 </a:t>
                      </a:r>
                      <a:r>
                        <a:rPr lang="de-DE" sz="800" b="0" i="0" u="none" strike="noStrike" dirty="0" err="1">
                          <a:solidFill>
                            <a:schemeClr val="tx1"/>
                          </a:solidFill>
                          <a:effectLst/>
                          <a:latin typeface="Calibri" panose="020F0502020204030204" pitchFamily="34" charset="0"/>
                        </a:rPr>
                        <a:t>Brotzmann</a:t>
                      </a:r>
                      <a:r>
                        <a:rPr lang="de-DE" sz="800" b="0" i="0" u="none" strike="noStrike" dirty="0">
                          <a:solidFill>
                            <a:schemeClr val="tx1"/>
                          </a:solidFill>
                          <a:effectLst/>
                          <a:latin typeface="Calibri" panose="020F0502020204030204" pitchFamily="34" charset="0"/>
                        </a:rPr>
                        <a:t> Co</a:t>
                      </a:r>
                      <a:r>
                        <a:rPr lang="de-DE" sz="800" b="0" i="0" u="none" strike="noStrike" dirty="0">
                          <a:solidFill>
                            <a:srgbClr val="FF0000"/>
                          </a:solidFill>
                          <a:effectLst/>
                          <a:latin typeface="Calibri" panose="020F0502020204030204" pitchFamily="34" charset="0"/>
                        </a:rPr>
                        <a:t>n</a:t>
                      </a:r>
                      <a:r>
                        <a:rPr lang="de-DE" sz="800" b="0" i="0" u="none" strike="noStrike"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dirty="0">
                          <a:solidFill>
                            <a:srgbClr val="FF0000"/>
                          </a:solidFill>
                          <a:effectLst/>
                          <a:latin typeface="Calibri" panose="020F0502020204030204" pitchFamily="34" charset="0"/>
                        </a:rPr>
                        <a:t>K a r l B r o t z m a n n C o n s u l t i n g </a:t>
                      </a:r>
                      <a:r>
                        <a:rPr lang="pt-BR" sz="800" b="0" i="0" u="none" strike="noStrike" dirty="0">
                          <a:solidFill>
                            <a:schemeClr val="tx1"/>
                          </a:solidFill>
                          <a:effectLst/>
                          <a:latin typeface="Calibri" panose="020F0502020204030204" pitchFamily="34" charset="0"/>
                        </a:rPr>
                        <a:t>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e</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r>
                        <a:rPr lang="de-DE" sz="800" b="0" i="0" u="none" strike="noStrike" dirty="0">
                          <a:solidFill>
                            <a:schemeClr val="bg1">
                              <a:lumMod val="50000"/>
                            </a:schemeClr>
                          </a:solidFill>
                          <a:effectLst/>
                          <a:latin typeface="Calibri" panose="020F0502020204030204" pitchFamily="34" charset="0"/>
                        </a:rPr>
                        <a:t>/Thür</a:t>
                      </a:r>
                      <a:r>
                        <a:rPr lang="de-DE" sz="800" b="0" i="0" u="none" strike="noStrike" dirty="0">
                          <a:solidFill>
                            <a:schemeClr val="bg1">
                              <a:lumMod val="65000"/>
                            </a:schemeClr>
                          </a:solidFill>
                          <a:effectLst/>
                          <a:latin typeface="Calibri" panose="020F0502020204030204" pitchFamily="34" charset="0"/>
                        </a:rPr>
                        <a: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u</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r>
                        <a:rPr lang="de-DE" sz="800" b="0" i="0" u="none" strike="noStrike" dirty="0">
                          <a:solidFill>
                            <a:schemeClr val="bg1">
                              <a:lumMod val="85000"/>
                            </a:schemeClr>
                          </a:solidFill>
                          <a:effectLst/>
                          <a:latin typeface="Calibri" panose="020F0502020204030204" pitchFamily="34" charset="0"/>
                        </a:rPr>
                        <a:t>-Kieselbach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u</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 L M Ü </a:t>
                      </a:r>
                      <a:r>
                        <a:rPr lang="de-DE" sz="800" b="0" i="0" u="none" strike="noStrike" dirty="0">
                          <a:solidFill>
                            <a:srgbClr val="FF0000"/>
                          </a:solidFill>
                          <a:effectLst/>
                          <a:latin typeface="Calibri" panose="020F0502020204030204" pitchFamily="34" charset="0"/>
                        </a:rPr>
                        <a:t>PRAZISIONSWERKZEUG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ALMÜ </a:t>
                      </a:r>
                      <a:r>
                        <a:rPr lang="de-DE" sz="800" b="0" i="0" u="none" strike="noStrike" dirty="0">
                          <a:solidFill>
                            <a:srgbClr val="FF0000"/>
                          </a:solidFill>
                          <a:effectLst/>
                          <a:latin typeface="Calibri" panose="020F0502020204030204" pitchFamily="34" charset="0"/>
                        </a:rPr>
                        <a:t>Präzisions-Werkzeug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Gesell</a:t>
                      </a:r>
                      <a:r>
                        <a:rPr lang="de-DE" sz="800" b="0" i="0" u="none" strike="noStrike" dirty="0">
                          <a:solidFill>
                            <a:srgbClr val="FF0000"/>
                          </a:solidFill>
                          <a:effectLst/>
                          <a:latin typeface="Calibri" panose="020F0502020204030204" pitchFamily="34" charset="0"/>
                        </a:rPr>
                        <a:t>sch</a:t>
                      </a:r>
                      <a:r>
                        <a:rPr lang="de-DE" sz="800" b="0" i="0" u="none" strike="noStrike" dirty="0">
                          <a:solidFill>
                            <a:schemeClr val="bg1">
                              <a:lumMod val="50000"/>
                            </a:schemeClr>
                          </a:solidFill>
                          <a:effectLst/>
                          <a:latin typeface="Calibri" panose="020F0502020204030204" pitchFamily="34" charset="0"/>
                        </a:rPr>
                        <a:t>aft zur Förderung angewandter </a:t>
                      </a:r>
                      <a:r>
                        <a:rPr lang="de-DE" sz="800" b="0" i="0" u="none" strike="noStrike" dirty="0">
                          <a:solidFill>
                            <a:srgbClr val="FF0000"/>
                          </a:solidFill>
                          <a:effectLst/>
                          <a:latin typeface="Calibri" panose="020F0502020204030204" pitchFamily="34" charset="0"/>
                        </a:rPr>
                        <a:t>Opti</a:t>
                      </a:r>
                      <a:r>
                        <a:rPr lang="de-DE" sz="800" b="0" i="0" u="none" strike="noStrike" dirty="0">
                          <a:solidFill>
                            <a:schemeClr val="bg1">
                              <a:lumMod val="50000"/>
                            </a:schemeClr>
                          </a:solidFill>
                          <a:effectLst/>
                          <a:latin typeface="Calibri" panose="020F0502020204030204" pitchFamily="34" charset="0"/>
                        </a:rPr>
                        <a:t>k</a:t>
                      </a:r>
                      <a:r>
                        <a:rPr lang="de-DE" sz="800" b="0" i="0" u="none" strike="noStrike" dirty="0">
                          <a:solidFill>
                            <a:schemeClr val="tx1"/>
                          </a:solidFill>
                          <a:effectLst/>
                          <a:latin typeface="Calibri" panose="020F0502020204030204" pitchFamily="34" charset="0"/>
                        </a:rPr>
                        <a:t>, </a:t>
                      </a:r>
                      <a:r>
                        <a:rPr lang="de-DE" sz="800" b="0" i="0" u="none" strike="noStrike" dirty="0">
                          <a:solidFill>
                            <a:srgbClr val="FF0000"/>
                          </a:solidFill>
                          <a:effectLst/>
                          <a:latin typeface="Calibri" panose="020F0502020204030204" pitchFamily="34" charset="0"/>
                        </a:rPr>
                        <a:t>Opto</a:t>
                      </a:r>
                      <a:r>
                        <a:rPr lang="de-DE" sz="800" b="0" i="0" u="none" strike="noStrike" dirty="0">
                          <a:solidFill>
                            <a:schemeClr val="bg1">
                              <a:lumMod val="50000"/>
                            </a:schemeClr>
                          </a:solidFill>
                          <a:effectLst/>
                          <a:latin typeface="Calibri" panose="020F0502020204030204" pitchFamily="34" charset="0"/>
                        </a:rPr>
                        <a:t>elektro</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tx1"/>
                          </a:solidFill>
                          <a:effectLst/>
                          <a:latin typeface="Calibri" panose="020F0502020204030204" pitchFamily="34" charset="0"/>
                        </a:rPr>
                        <a:t>, </a:t>
                      </a:r>
                      <a:r>
                        <a:rPr lang="de-DE" sz="800" b="0" i="0" u="none" strike="noStrike" dirty="0">
                          <a:solidFill>
                            <a:schemeClr val="bg1">
                              <a:lumMod val="50000"/>
                            </a:schemeClr>
                          </a:solidFill>
                          <a:effectLst/>
                          <a:latin typeface="Calibri" panose="020F0502020204030204" pitchFamily="34" charset="0"/>
                        </a:rPr>
                        <a:t>Quantenelektro</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tx1"/>
                          </a:solidFill>
                          <a:effectLst/>
                          <a:latin typeface="Calibri" panose="020F0502020204030204" pitchFamily="34" charset="0"/>
                        </a:rPr>
                        <a:t> und Spektroskopie </a:t>
                      </a:r>
                      <a:r>
                        <a:rPr lang="de-DE" sz="800" b="0" i="0" u="none" strike="noStrike" dirty="0">
                          <a:solidFill>
                            <a:schemeClr val="bg1">
                              <a:lumMod val="50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FF0000"/>
                          </a:solidFill>
                          <a:effectLst/>
                          <a:latin typeface="Calibri" panose="020F0502020204030204" pitchFamily="34" charset="0"/>
                        </a:rPr>
                        <a:t>OPTO</a:t>
                      </a:r>
                      <a:r>
                        <a:rPr lang="de-DE" sz="800" b="0" i="0" u="none" strike="noStrike" dirty="0">
                          <a:solidFill>
                            <a:schemeClr val="bg1">
                              <a:lumMod val="85000"/>
                            </a:schemeClr>
                          </a:solidFill>
                          <a:effectLst/>
                          <a:latin typeface="Calibri" panose="020F0502020204030204" pitchFamily="34" charset="0"/>
                        </a:rPr>
                        <a:t>SENS </a:t>
                      </a:r>
                      <a:r>
                        <a:rPr lang="de-DE" sz="800" b="0" i="0" u="none" strike="noStrike" dirty="0">
                          <a:solidFill>
                            <a:srgbClr val="FF0000"/>
                          </a:solidFill>
                          <a:effectLst/>
                          <a:latin typeface="Calibri" panose="020F0502020204030204" pitchFamily="34" charset="0"/>
                        </a:rPr>
                        <a:t>Optisch</a:t>
                      </a:r>
                      <a:r>
                        <a:rPr lang="de-DE" sz="800" b="0" i="0" u="none" strike="noStrike" dirty="0">
                          <a:solidFill>
                            <a:schemeClr val="bg1">
                              <a:lumMod val="85000"/>
                            </a:schemeClr>
                          </a:solidFill>
                          <a:effectLst/>
                          <a:latin typeface="Calibri" panose="020F0502020204030204" pitchFamily="34" charset="0"/>
                        </a:rPr>
                        <a:t>e </a:t>
                      </a:r>
                      <a:r>
                        <a:rPr lang="de-DE" sz="800" b="0" i="0" u="none" strike="noStrike" dirty="0">
                          <a:solidFill>
                            <a:schemeClr val="tx1"/>
                          </a:solidFill>
                          <a:effectLst/>
                          <a:latin typeface="Calibri" panose="020F0502020204030204" pitchFamily="34" charset="0"/>
                        </a:rPr>
                        <a:t>Spektroskopie</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und </a:t>
                      </a:r>
                      <a:r>
                        <a:rPr lang="de-DE" sz="800" b="0" i="0" u="none" strike="noStrike" dirty="0">
                          <a:solidFill>
                            <a:schemeClr val="bg1">
                              <a:lumMod val="85000"/>
                            </a:schemeClr>
                          </a:solidFill>
                          <a:effectLst/>
                          <a:latin typeface="Calibri" panose="020F0502020204030204" pitchFamily="34" charset="0"/>
                        </a:rPr>
                        <a:t>Sensortech</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bg1">
                              <a:lumMod val="85000"/>
                            </a:schemeClr>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
        <p:nvSpPr>
          <p:cNvPr id="2" name="Titel 1"/>
          <p:cNvSpPr>
            <a:spLocks noGrp="1"/>
          </p:cNvSpPr>
          <p:nvPr>
            <p:ph type="title"/>
          </p:nvPr>
        </p:nvSpPr>
        <p:spPr/>
        <p:txBody>
          <a:bodyPr/>
          <a:lstStyle/>
          <a:p>
            <a:r>
              <a:rPr lang="en-US" dirty="0" smtClean="0"/>
              <a:t>Preview</a:t>
            </a:r>
            <a:endParaRPr lang="en-US"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11</a:t>
            </a:fld>
            <a:endParaRPr lang="en-US" dirty="0"/>
          </a:p>
        </p:txBody>
      </p:sp>
    </p:spTree>
    <p:extLst>
      <p:ext uri="{BB962C8B-B14F-4D97-AF65-F5344CB8AC3E}">
        <p14:creationId xmlns:p14="http://schemas.microsoft.com/office/powerpoint/2010/main" val="3987423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1000"/>
                                        <p:tgtEl>
                                          <p:spTgt spid="7"/>
                                        </p:tgtEl>
                                      </p:cBhvr>
                                    </p:animEffect>
                                  </p:childTnLst>
                                </p:cTn>
                              </p:par>
                              <p:par>
                                <p:cTn id="8" presetID="22" presetClass="exit" presetSubtype="1" fill="hold" nodeType="withEffect">
                                  <p:stCondLst>
                                    <p:cond delay="0"/>
                                  </p:stCondLst>
                                  <p:childTnLst>
                                    <p:animEffect transition="out" filter="wipe(up)">
                                      <p:cBhvr>
                                        <p:cTn id="9" dur="1000"/>
                                        <p:tgtEl>
                                          <p:spTgt spid="5"/>
                                        </p:tgtEl>
                                      </p:cBhvr>
                                    </p:animEffect>
                                    <p:set>
                                      <p:cBhvr>
                                        <p:cTn id="10" dur="1" fill="hold">
                                          <p:stCondLst>
                                            <p:cond delay="9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elle 3"/>
          <p:cNvGraphicFramePr>
            <a:graphicFrameLocks noGrp="1"/>
          </p:cNvGraphicFramePr>
          <p:nvPr>
            <p:extLst>
              <p:ext uri="{D42A27DB-BD31-4B8C-83A1-F6EECF244321}">
                <p14:modId xmlns:p14="http://schemas.microsoft.com/office/powerpoint/2010/main" val="2628819398"/>
              </p:ext>
            </p:extLst>
          </p:nvPr>
        </p:nvGraphicFramePr>
        <p:xfrm>
          <a:off x="180000" y="720000"/>
          <a:ext cx="7419782" cy="49171823"/>
        </p:xfrm>
        <a:graphic>
          <a:graphicData uri="http://schemas.openxmlformats.org/drawingml/2006/table">
            <a:tbl>
              <a:tblPr/>
              <a:tblGrid>
                <a:gridCol w="468000"/>
                <a:gridCol w="3887668"/>
                <a:gridCol w="1775345"/>
                <a:gridCol w="360000"/>
                <a:gridCol w="928769"/>
              </a:tblGrid>
              <a:tr h="0">
                <a:tc>
                  <a:txBody>
                    <a:bodyPr/>
                    <a:lstStyle/>
                    <a:p>
                      <a:pPr algn="ctr"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36000" marR="36000" marT="703" marB="0" anchor="ctr">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street</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city</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CPB Cassetten-Produktion GmbH Berlin</a:t>
                      </a:r>
                    </a:p>
                  </a:txBody>
                  <a:tcPr marL="36000" marR="36000" marT="703"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Ballinstr</a:t>
                      </a:r>
                      <a:r>
                        <a:rPr lang="de-DE" sz="800" b="0" i="0" u="none" strike="noStrike" dirty="0">
                          <a:solidFill>
                            <a:srgbClr val="000000"/>
                          </a:solidFill>
                          <a:effectLst/>
                          <a:latin typeface="Calibri" panose="020F0502020204030204" pitchFamily="34" charset="0"/>
                        </a:rPr>
                        <a:t>. 16-18</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12359</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SCHERDEL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Kanalstr. 66-74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Münchhoff</a:t>
                      </a:r>
                      <a:r>
                        <a:rPr lang="de-DE" sz="800" b="0" i="0" u="none" strike="noStrike"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Nollendorfplatz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Elektron Berlin GmbH Fertigung elektrotechnischer Spezialartikel</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Saatwinkler Damm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KMB Kabel-Maschinen-Berlin GmbH</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Innungsstr.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Alois Dallmayr Kaffee Berlin GmbH u.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Haberstr. 9-13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Mampe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22-34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KBA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127-131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Beiersdorf Manufacturing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Franklinstr.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Centro-Boden Berlin KG Wohn- und Gewerbebauten im Centrum GmbH &amp; Co.</a:t>
                      </a:r>
                    </a:p>
                  </a:txBody>
                  <a:tcPr marL="36000" marR="36000" marT="703"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Joachimstaler</a:t>
                      </a:r>
                      <a:r>
                        <a:rPr lang="de-DE" sz="800" b="0" i="0" u="none" strike="noStrike" dirty="0">
                          <a:solidFill>
                            <a:srgbClr val="000000"/>
                          </a:solidFill>
                          <a:effectLst/>
                          <a:latin typeface="Calibri" panose="020F0502020204030204" pitchFamily="34" charset="0"/>
                        </a:rPr>
                        <a:t>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Amcor Specialty Cartons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Haberstr.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Helmholtz-Zentrum Berlin für Materialien und Energie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Hahn-Meitner-Platz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LAROSÈ Hygiene-Service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Grünauer Str. 116-120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Hifi Elements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Hubertusstr. 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 Fernsehdienst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71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Klosterfrau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DG Leasing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Turmstr. 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DG Leasing Berlin GmbH &amp; Co. Miet + Leasing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Turmstr. 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Henning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"Pia Rucci"""" Sportswear Bekleidungsvertriebs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Lützowufer 12-13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Ideal Automotive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Zerpenschleuser Ring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Saarberg Handel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Messe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Messedamm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BAO BERLIN International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Metallbauzaun-Montagen Roden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Saatwinkler Damm 25- 26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tip AUTO-Berlin GmbH</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Schulzendorfer Str. 23-24Hof</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CVB Albert Carl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Oberlandstr. 22-25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Breuer Service Berlin GmbH Industrie- und Kraftfahrzeugreinigung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Alte Jakobstr. 135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Tyler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Flankenschanze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FRÜH - HERBST Anlagentechnik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Lankwitzer Str. 23-25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PFENNIGs Feinkostfabrik Berlin Albert Pfennig + Sohn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22-30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Wachschutz Berlin Werner Loesch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Odenwaldstr.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 Kabel GmbH Kabel- und Freileitungswerk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Gradestr. 100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KKB Küchenkomplettbau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Reuchlinstr. 10-11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Tetra Pak Berlin GmbH &amp; Co TPB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Hennigsdorfer Str. 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Häfele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Schichauweg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nl-NL" sz="800" b="0" i="0" u="none" strike="noStrike">
                          <a:solidFill>
                            <a:srgbClr val="000000"/>
                          </a:solidFill>
                          <a:effectLst/>
                          <a:latin typeface="Calibri" panose="020F0502020204030204" pitchFamily="34" charset="0"/>
                        </a:rPr>
                        <a:t>Van Houten Industrie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4- 6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Möbelkiste GmbH u. Co. Handelsgesellschaft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Bundesallee 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Kamps Berlin Geschäftsführungs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Bergiusstr. 26-28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Novetta</a:t>
                      </a:r>
                      <a:r>
                        <a:rPr lang="de-DE" sz="800" b="0" i="0" u="none" strike="noStrike" dirty="0">
                          <a:solidFill>
                            <a:srgbClr val="000000"/>
                          </a:solidFill>
                          <a:effectLst/>
                          <a:latin typeface="Calibri" panose="020F0502020204030204" pitchFamily="34" charset="0"/>
                        </a:rPr>
                        <a:t> Berlin KG NB-Nahrungsmittelgesellschaft 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Sonnenallee 221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Tyler Refrigeration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Urbanstr. 116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Greve-Chemotechnik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Lindenufer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Hilfswerk-Siedlung GmbH Evangelisches Wohungsunternehmen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Kirchblick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Werbedienst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16-20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Los Angeles Platz Value Added I,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Los-Angeles-Platz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Kraft Jacobs Suchard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Nobelstr. 1- 21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ALU-Druckguß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Roedernallee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BAB Stahlhandelsgesellschaft mbH -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Föllmer Spedition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Foxweg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NTT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Landshuter Str.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Druckfarbenfabrik Berlin KG Gebr. Schmidt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Ullsteinstr. 108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Schälerbau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Freiheit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Ferdinand Schmidt Genuport-Berlin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Bayern Express &amp; P. Kühn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Mannheimer Str. 33/34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Rechenzentrum Berlin K. Steckel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Möve Restaurantbetriebsgesellschaft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MTB Motorentechnik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Schmidt-Ott-Str. 10a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Schmidt &amp; Bethge Berlin Grundstücksverwaltung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Joachimstaler Str.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Terraingesellschaft Groß-Berlin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18-20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BERLIN-KERAMIK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Päwesiner Weg 26-27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BKI Immobilien Verwaltung Berlin Keramik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Päwesiner Weg 24-27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Berlin-Anlagen-Agentur Bassmann &amp; Partner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Cicerostr.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GRÜN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Mariendorfer Damm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GLB Werbemittel aus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Hobrechtstr.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Bus-Verkehr Berlin KG Omnibus-Betriebs- und Verwaltungsges. 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13-15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Spedition Thier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Schillerstr.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Isolier- und Bautechnik Bereich Berlin GmbH &amp; Co. Montage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Thyssenstr. 7- 17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KAMA Wohnwirtschaftliche Betreuung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Nennhauser Damm 150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2-Wohnen in Berlin GmbH Vertriebsgesellschaft für Wohnungseigentum</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Holsteinische Str. 33a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EAB Energie-Anlagen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Flottwellstr. 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FCB Berlin Werbeagentur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Blochmannstr.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WEBER Industrietechnik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Sperenberger 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IBK - Garagenbau- und Vertriebsgesellschaft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Schlangengraben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Glaszentrum Berlin Rafflenbeul &amp; Loewe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Ollenhauerstr. 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MBC-Berlin technische Komponenten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Wilhelmstr. 73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Spielbank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Marlene-Dietrich-Platz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2 Wohnen in Berlin GmbH Immobilien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Holsteinische Str. 33a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Institut für Genbiologische Forschung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Ihnestr.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berlin-brandenburg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Invalidenstr.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FWT Feinwerktechnik GmbH Berlin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Haynauer Str.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Röhr Industrie- und Haustechnik GmbH &amp; Co.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Hindenburgdamm 107a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BBS Büromaschinen-Service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Germaniastr. 157-158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Felina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 der Urania 16- 18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Boltze-Bau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Westfälische 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Taxi und Tank GmbH, Berlin u. Co. in den Kantgaragen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Diagnostisches Zentrum Verwaltungs-GmbH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Bosporusstr.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Hotelschiff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Arosa Berlin Hotelbetriebsgesellschaft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79/81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Frischdienst Union Berlin Vertriebsgesellschaft für Fleisch- u. Wurstwaren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Wiesendamm 37+ 39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Bürgerstr. 25- 27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Zeitungsdienst Berlin Verlags- und Druckerei-GmbH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Tankschutz-Revisions-Ges. Zweigniederlassung der Winschermann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9-11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Partner für Wirtschaft und Technologie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Bio-Diät-Berlin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Selerweg 43-45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ADB Rissmann GmbH Automaten-Dreherei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Trebbiner Str. 12-13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Reanovo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Siemensdamm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 bis Z Bau GmbH Bauausführungen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Giesebrechtstr.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A.T.I. Arzneimittel Information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TVB Textilveredlung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Franz Lehmann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66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Walzwerk Becker-Berlin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Walzwerk Becker Berlin Verwaltungsgesellschaft mbH &amp; Co. Strangguß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Drescher Datendrucke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Großbeerenstr. 186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LFB Laser Formen GmbH Berlin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1115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COMPSAT Berlin Computer Satelliten System Verwalt.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Metropole Berlin GmbH &amp; Co. Wohnen in Charlottenburg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Goethestr. 10b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Caritas-Klinik Dominikus Berlin-Reinickendorf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Kurhausstr.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Herner Gerüstbau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18-20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BCB Bauconsult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Viessmann Werke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Kanalstr.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Digital Printing Hall Copy-Repro-Center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Ansbacher Str. 8-14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Connex Kapitalanlagen-Vertriebsgesellschaft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Meinekestr.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Schmitz Büro vom Ehrenschild Berlin Kfz-Sachverständigen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Scharnweberstr. 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Dampet Rolladenbau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Riemannstr.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DIABOS GmbH Berlin Grundstücks- und Vermögensverwaltung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Plaza Hotel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Florimex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Grellstr.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Flemming Dental GmbH &amp; Co. KG, Berlin, Schlangenbader Straße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Schlangenbader Str.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NIEDERBERGER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Mail-Service GmbH &amp; Co. Berlin Zeitschriften-Versand und Direktwerbung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Möbel Adam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Gotzkowskystr. 20-21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ATZ GmbH Vertrieb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Schwedenstr. 11a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ASML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Waldkraiburger 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LMT Lichtmeßtechnik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Helmholtzstr.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 M T Lichtmeßtechnik GmbH Berlin &amp; Co. Gerätebau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Helmholtzstr.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Berlin-Terrain Hausverwaltungsgesellschaft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Xantener Str. 15a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Industriebeteiligungen Hahn KG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Biffar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Karl-Liebknecht-Str.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Jung Maschinenfabrik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Jung Maschinenfabrik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Concert Concept Veranstaltungs-GmbH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HMB Heimwerkermarkt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Landauer 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BBS Büromaschinen-Service GmbH Berlin &amp; Co. Handels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Mehringdamm 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Lacke- u. Farben-Vertrieb GmbH Berlin-Nord</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Granatenstr. 25- 26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PAREXEL International GmbH c/o Campus DRK Kliniken Berlin Westend, Haus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130Haus18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GLB Werbemittel aus Berlin Beteiligungsgesellschaft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Hobrechtstr.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ALUEDA Warenvertrieb GmbH &amp; Co. Handels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Ohlauer Str.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Wohnbau Krumwiede GmbH Freies Wohnungsunternehmen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Wittelsbacherstr. 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 Bandstahl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MM Packaging Behrens GmbH &amp; Co KG Berlin c/o Mielich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347 32G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DVB Verpackungsmittel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Siemensstr.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DIC Berlin GmbH &amp; Co. Research and Development Laboratory Europe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Otisstr.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Schäffer &amp; Walcker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9- 11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Geschäfts- und Wohnhaus -Bauverwaltungsges. mbH, Berlin-Opernplatz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Bajon Berlin's Gartencenter Charlotte Bajon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252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BCT Industrie Consulting GmbH &amp; Co., Irading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Klimadienst Berlin Ing. Hans-F. Müller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Pinnauweg 25a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Kohlrausch &amp; Zobel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Tremonia Allgemeine Personal Leasing-GmbH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Konstanzer 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ADS Vertriebs- u. Kundendienst GmbH Berlin zuletzt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Tauentzienstr.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Haller Berlin GmbH Sonnenschutz-Systeme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Hawitas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Genthiner Str. 24-28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 Storz - Endoskope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Scharnhorststr.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Seglerservice Martin Kehr GmbH Berlin c/o Dietrich Willscher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Wasserkraft Berlin Dipl.-Ing. Volker Probe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Germaniastr. 143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ABM Druck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ABM Druck GmbH Berlin &amp; Co. Verlag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Detlef Schoch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104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Das Kabinett politisch-satirisches Theater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Ludwigkirchstr.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 Lindsay Vertragshändler in Berlin Christos Dankus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Gilgestr.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GSG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Geneststr.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Dieter Brusberg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Lyckallee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 &amp; W. Rechenzentrum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96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Büro Datic Werner Krüger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68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Kabelwerke Reinshagen Werk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Flottenstr. 55- 56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BDV Berlin-Darlehensfonds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Bad &amp; Baden Handels-GmbH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 Haniel Logistic GmbH Rheinkraft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Buckower Chaussee 47-54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Geyer-Video &amp; Audio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Harzer Str. 39-46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Berlin-TEX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Alboinstr. 17-23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Fertigfenster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Brunsbütteler Damm 175-177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Hoelscherpumpen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Uferstr.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Be-Gro Grundstücksgesellschaft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Dernburgstr. 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Readymix Transportbeton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Sophienwerderweg 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 TV 80 Film- und Fernsehproduktion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Langobardenallee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Auto-Union Berlin GmbH</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FPB Freie Planungsgruppe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Giesebrechtstr.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Gerling-Konzern Berlin-Brandenburg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GRG Services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Berlin-Schnee Garten- und Winterdienste Beteiligungs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Hegauer Weg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Berlin-Schnee Garten- und Winterdienste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Hegauer Weg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Bauer Spezialtiefbau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Freiheit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Gesundheitswerk Bethel Berlin gemeinnützige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Promenadenstr. 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FBV Frauenbuchvertrieb und SISSI Verlag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Mehringdamm 32-34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COMPSAT Berlin Computer Satelliten Systeme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105-106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elementa bausysteme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166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 Pharma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Moosrosenstr. 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Coratec Computer Roboter und Automations-Technologie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Waltersdorfer Chaussee 95b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Spielbank 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Marlene-Dietrich-Platz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 Döllken &amp; Co. Berlin GmbH zuletzt: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Trautenaustr.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Electroma Spezialbetrieb für Elektromaschinen GmbH Berlin Reparatur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Landweg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Wissenschaftszentrum Berlin für Sozialforschung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Reichpietschufer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Schall - Echo - Berlin Helga Kruppa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Südwestkorso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Saber Reisen Saber Kounafa Export-Import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Tambacher 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VNB Viehschlachtung und Nebenprodukteverwertung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Beusselstr. 44n-q</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FKF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Fritz-Werner-Str. 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FKF Berlin GmbH &amp; Co. Fleischwaren- und Konserven-Fabrik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Fritz-Werner-Str. 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Franken-Repro GmbH &amp; Co. Betriebsgesellschaft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Waldstr. 82- 85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Miraculum Theater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Braas Berlin GmbH &amp; Co. Produktion &amp; Vertrieb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102-06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Industrieanlagen- und Vermögensverwaltungsges. mbH &amp; Co.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Westendallee 64a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MBG Management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 13. O.G.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Weinkontor-Weinhandelsgesellschaft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Weislingenstr.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Mark Hotel Beteiligungs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Mark Hotel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ARRI Rental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16- 24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IEB Inter-Engineering-Berlin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data informatic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Katharinenstr.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Reisebüro Globus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MAF-Berlin Lärmschutz-Elemente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Wittestr. 26c</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CIB Computer Infomart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Kleiststr. 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Variodomo Hausvertrieb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Neuköllner Str. 212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Handelsgesellschaft """"GK"""" Großkauf GmbH &amp; Co. Berlin Nord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Saatwinkler Damm 44- 46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Readymix Beton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Sophienwerderweg 40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Gastrotrakt GmbH, Berlin Vertrieb und Service von Großküchenanlagen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Oudenarder Str. 16- 20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Carl Stahl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Wilhelminenhofstr.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Graphische Werkstätten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Beerenstr.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Ferdinand Schmidt, Genuport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100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 Fernsehdienst in Berlin Handels-GmbH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71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Vaganten Bühne Berlin gemeinnütziges Theater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12a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Fit-Fun Freizeit-Sportbetriebs-GmbH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194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Hospes Vermögens-Verwaltungsgesellschaft mbH &amp; Co. Hotel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Okal-Werk Berlin Otto Kreibaum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27-29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Betronik GmbH Berlin Vertriebsgesellschaft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Grunewaldstr. 39a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AGIS www.berlin-büros.de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Jägerndorfer Zeile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System Union Automatisierungstechnik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179/180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CINE TV Filmproduction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Weißwasserweg 49d</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Svenson-Haarstudio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Marburger 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LIB Leasing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Forckenbeckstr. 94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Kettschärerei Berlin Textilgesellschaft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Hilti Deutschland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Mariendorfer Damm 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Happy Baby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Gewerbehof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Bio-Heizstoffwerk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Moselstr.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Distron GmbH &amp; Co. KG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Behaimstr.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Gerüstbau Tisch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Benedict Lebensmittel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Mierstr. 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BBIG Berlin-Brandenburger Institut für Geotechnik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Limastr. 25a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Caliqua Anlagentechnik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Lankwitzer Str. 23- 25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Reisebürounternehmen Jet-in-Club Berlin Thomas Mars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Lewishamstr.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Integra,Gemeinnützige GmbH, Berlin, zur Förderung von Menschen mit Behinderung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Lengeder Str. 48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Pro-Service Vertriebs- und Chemie Produktions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PCB Peripherie f. Computer aus Berlin Verbriebs-GmbH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Adolf-Martens-Str. 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MEWA Textil - Mietservice Berlin GmbH &amp; Co. Betriebs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ITO Trade Organisation 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Olbo-Reisen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Bleibtreustr. 10- 11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Johannes Brechtel GmbH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Bamihlstr.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AFB Klinische Forschung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 Film- und Fernsehakademie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Fertigbau Pollhagen GmbH u. Co. KG-Berlin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 15OG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FUNKE Medien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Friedrichstr. 70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waf.berlin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GEWOBAG WB Wohnen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101a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Teppichmeister Berlin Teppichreinigung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Kitzingstr. 21- 23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Studios Berlin H. J. Heidenreich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Leipziger Str. 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Bertelsmann Druck + Dienstleistung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107- 112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 H B Brandhilfe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Commercial Trading und Contracting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Dorfstr.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Metalltransport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Gradestr. 109/111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 Center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Lützowufer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Wohnungsbau-Rechenzentrum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Westphal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"Miss Berlin"""" und """"Mister Berlin"""" Wahlen-Eden-Verwaltungsgesellschaft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Eichenstr.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Gra.S. Graphische Systeme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Barkenhof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Binninger """"Berlin-Uhr""""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Zwickauer Damm 60- 64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VMB Verlags Media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Philippstr.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Stewing Nachrichtentechnik Verwaltungsgesellschaft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Juliusturm 11a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PVM Productions-Veranstaltungs-Management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Otternbuchtstr. 20a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Motoled - Vertriebs GmbH Berlin Motorradbekleidung und - ausrüstung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Fregestr.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Nörtemann Dachbau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Guerickestr.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Evangelisches Allianzhaus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Hohenstaufenstr.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 OPP Berlin-Adlershof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75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bess Service und Sprachen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Schützallee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Laser- und Medizin-Technologie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Fabeckstr. 6062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Großbäckerei Wendeln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Stephanstr.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SWD Stahl- und Fahrzeugbau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Holbeinstr. 44a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GW GERMAN WINDOWS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Großbeerenstr. 142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Ufa - Fabrik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Viktoriastr. 10-18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Mythos Berlin Ausstellung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Tempelhofer Ufer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 Fr. Duncker &amp; Co.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Neuköllnische Allee 160-162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DRK Rettungsdienst Berlin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Bachestr.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Schönherr Berlin-Immobilien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Düsterhauptstr. 31- 38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B.A.T. Cigaretten-Fabrik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KTF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Josef-Orlopp-Str.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Original Heidelberger AMS-Brezel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344/360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Fernfracht-Berlin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Friedrich-Olbricht-Damm 46-48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berlin-brandenburg-hamburg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Invalidenstr.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Kulturwerk des bbk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Köthener Str. 44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 K Stahl- und Gußabriß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Schöneberger Ufer 5- 9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"SGB"""" Stahlhochbaugesellschaft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Haltrichweg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Combimex Im- und Export Handels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Ringstr. 21a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Tischlerei Holzmanufaktur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Josef-Orlopp-Str. 45- 49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Kronprinz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Kronprinzendamm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Reformwaren-Vertrieb RVB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Handjerystr. 98-99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Krankenheim Sonnenallee 47-49 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Sonnenallee 47- 49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Berlin-Britzer Holzbau - Ernst Oswald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Christian-Henkel-Str.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HSB Hygiene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Forststr.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treuwirtschaft Wirtschaftsberatungs- und Baubetreuungsges. mbH Ndlg.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Deutsches Rotes Kreuz Schwesternschaft Berlin Gemein. Krankenhaus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WOM World of Music Berlin Musikhandelsgesellschaft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Augsburger Str. 36-42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Eins, Zwei, Drei, Süßwarenhandels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Kyllmannstr.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City-Werbefunk Vermittlungs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Bozener Str. 11-12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VW AUDI Vertrieb GmbH &amp; Co. Vertriebszentrum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Goerzallee 251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Dialog Partner in Berlin GmbH Daten- und Kommunikationstechnik</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Fraenkelufer 38c</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BEW Evangelische Wirtschaftsunternehmen Beteiligungs-GmbH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Handjerystr. 19- 20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Lewron Kabeltechnik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Nahmitzer Damm 32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"Atelier Berlin"""" New Style Entertainment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Oranienburger Str.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Zenker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Martin-Opitz-Str.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WIB Wärmetechnisches Institut Prof.Dr.Ing. Zöllner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Berotec Elektronische Komponenten Verwaltungs-GmbH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Chaussee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Berotec Elektronische Komponenten GmbH Berlin und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Chaussee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Fleischer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Tiergarten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 H - Dämmstoffkontor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Heidestr. 24-30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 Becker Söhne GmbH Elektrische Maschinen und Apparate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Belziger Str.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Berliner Verkehrs-Consulting GmbH u. BC Berlin-Consult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Ernst-Reuter-Platz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Dietrich Bautenschutz GmbH Zweignieder - 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179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Mübau Berlin Grundstücksgesellschaft mbH &amp; Co.KG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Lindenallee 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HEU-BAU GmbH Baustudio Berlin i. Gr.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Veitstr.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 &amp; T Papier- und Tütenfabrik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Boschweg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BTS Treuhand und Steuerberatungsgesellschaft mbH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Duisburger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Merfels Speditionsgesellschaft mbH -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Tiefwerderweg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VTB Versorgungstechnik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Lütticher Str. 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Taylorix Berlin Vertriebs-GmbH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Real-Kredit-Vermittlungs-GmbH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Wilmersdorfer Str. 26/27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NIEDERBERGER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K.-H. Hauke Software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Babelsberger Str.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 Repenning &amp; Sohn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Walderseestr.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Hyper-Dämmtechnik 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Flottenstr.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INDUSTRONIC Industrie-Electronic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32-34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Wärmetechnik Saupe &amp; Mielke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332- 334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SPS Schaltanlagentechnik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Giesensdorfer Str.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"Fors"""" Video - Film Handels -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Perleberger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Breurkens + Partner GmbH B + P Alarm- und Sicherheitssysteme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Katharinenstr.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Epinert Kunstharz-Technik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Otto-Nagel-Str.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12683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Wieler &amp; Durian Anlagentechnik GmbH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Wolframstr. 84-92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Cartier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Lion Property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Leibnizstr.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Milchinformationsdienst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Kaiserdamm 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SSC Sky Shop Catering in Berlin GmbH &amp; Co. Service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Riedemannweg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IWM - Institut für Weiterbildung und Management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26a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 B Strackow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Leonorenstr.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Magic Productions Show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Hauptstr. 155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GEMO Bekleidungsgesellschaft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133-134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Fernsehstudio Berlin Eiswerder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Eiswerderstr.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Zippert &amp; Co. GmbH Fernverkehr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16/17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ELDORADO Pfandleihhaus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Hermannstr. 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Heuschen &amp; Schrouff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Schätzelbergstr. 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DPS Computer-Schule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 Ma Maschinenhandel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Fürstenplatz</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Perycut-Berlin-GmbH - Vertrieb chemisch-technischer Produkte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Rheinstr. 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RTS Revision u. Treuhand Berlin GmbH Wirtschaftsprüfungsges.</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 A K A D A M GmbH Berlin &amp; Co. Betriebskommanditges.</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Stichkanal</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Ro-Do Wärmedienst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Altvaterstr.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MIB Metallurgie u. Oberflächentechn. u. Innovationen i.Berlin Verw.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 E R Möbel Einkaufsring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Blankestr.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PEB - Planungsgesellschaft mbH für Eigenheimbau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Schönefelder 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Tiefkühlmenü-Zentrale Berlin Henning Brunzel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Binger 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MEWA Textil-Mietservice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8- 18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Videor Berlin D. Binninger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Liesenstr.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dirty="0">
                          <a:solidFill>
                            <a:srgbClr val="000000"/>
                          </a:solidFill>
                          <a:effectLst/>
                          <a:latin typeface="Calibri" panose="020F0502020204030204" pitchFamily="34" charset="0"/>
                        </a:rPr>
                        <a:t>Limousine Service in Berlin L-S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Kaiserdamm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Festkörper-Laser-Institut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des 17.Juni 135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Data Code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Spanische Allee 104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 Guckuk Spedition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Körnerstr. 28-29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City Haar Weaving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Classic Studio Berlin KG Konzertdirektion Hartmut Wittke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Ansbacher Str. 17-19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MUSICA Konzertagentur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Bamberger 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HAKAP Generalbauunternehmung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Jacobsenweg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Stüdemann Personal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Seestr. 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Trio Fahrschule in Tempelhof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Alt-Tempelhof 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Wescho-Berlin Ladeneinrichtungen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Deufol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Piesporter Str. 50- 52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13088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Procter &amp; Gamble Manufacturing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Oberlandstr. 75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Cycloplast GmbH Berlin Kunststoffverwertung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Gottlieb-Dunkel-Str.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F.H.G. Handels GmbH Berlin - Hamburg - Wiesbaden</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St. Georg Hospital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15-19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DV-Maschinen Vertrieb Szepanski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Landsberger Str. 259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sv-SE" sz="800" b="0" i="0" u="none" strike="noStrike">
                          <a:solidFill>
                            <a:srgbClr val="000000"/>
                          </a:solidFill>
                          <a:effectLst/>
                          <a:latin typeface="Calibri" panose="020F0502020204030204" pitchFamily="34" charset="0"/>
                        </a:rPr>
                        <a:t>BKB Bad Komplett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Infordata Datentechnik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75- 76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MEDIAN Klinik Berlin-Kladow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Franklinstr. 28-29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Bomin Berlin Mineralöl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Wilhelmstr. 124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Diesbach Zeitschriften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Bundesplatz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Baubetreuungskontor-GmbH, Berlin, &amp; Co. Verwaltungs-Kommanditgesellsch.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Cote D'or Edelmetalle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Friedbergstr. 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3 B Bandanlagenbau in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menue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Stromstr. 11/17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Intercontinental Hotel 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Intercontinental Hotel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Construction Five Diskothek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Wilmersdorfer Str. 82/83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Creditreform Berlin Brandenburg Wolfram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Karl-Heinrich-Ulrichs-Str.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DWI DANZIGER &amp; WEIBEZAHL Immobilien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Metall GmbH</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Regale Laden RLB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Business Computer Consult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Zeltinger Platz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Pharmaring Arzneimittel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Hasenheide 54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Naue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Nennhauser Damm 136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BOB Büro-Organisation für den 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Martin-Luther-Str.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Bavaria Print GmbH Videokopierwerk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Buckower Chaussee 134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Rundfunk-Orchester und Chöre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Lodatex Buchführungshelfer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Filmkombinat GmbH, Berlin Film- u. Fernsehproduktion Veranstaltungsmanagement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Grolmanstr.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bl>
          </a:graphicData>
        </a:graphic>
      </p:graphicFrame>
      <p:sp>
        <p:nvSpPr>
          <p:cNvPr id="3" name="Foliennummernplatzhalter 2"/>
          <p:cNvSpPr>
            <a:spLocks noGrp="1"/>
          </p:cNvSpPr>
          <p:nvPr>
            <p:ph type="sldNum" sz="quarter" idx="10"/>
          </p:nvPr>
        </p:nvSpPr>
        <p:spPr/>
        <p:txBody>
          <a:bodyPr/>
          <a:lstStyle/>
          <a:p>
            <a:fld id="{A29D8577-601D-4845-9C29-D9E13FE3E8DB}" type="slidenum">
              <a:rPr lang="en-US" smtClean="0"/>
              <a:pPr/>
              <a:t>12</a:t>
            </a:fld>
            <a:endParaRPr lang="en-US" dirty="0"/>
          </a:p>
        </p:txBody>
      </p:sp>
      <p:sp>
        <p:nvSpPr>
          <p:cNvPr id="8" name="Rechteck 7"/>
          <p:cNvSpPr/>
          <p:nvPr/>
        </p:nvSpPr>
        <p:spPr>
          <a:xfrm>
            <a:off x="0" y="5624945"/>
            <a:ext cx="7987145" cy="123305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10" name="Foliennummernplatzhalter 1"/>
          <p:cNvSpPr txBox="1">
            <a:spLocks/>
          </p:cNvSpPr>
          <p:nvPr/>
        </p:nvSpPr>
        <p:spPr>
          <a:xfrm>
            <a:off x="5660434" y="6485198"/>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12</a:t>
            </a:fld>
            <a:endParaRPr lang="en-US" dirty="0"/>
          </a:p>
        </p:txBody>
      </p:sp>
      <p:sp>
        <p:nvSpPr>
          <p:cNvPr id="11" name="Rechteck 10"/>
          <p:cNvSpPr/>
          <p:nvPr/>
        </p:nvSpPr>
        <p:spPr>
          <a:xfrm>
            <a:off x="2775502" y="5662045"/>
            <a:ext cx="1972015" cy="923330"/>
          </a:xfrm>
          <a:prstGeom prst="rect">
            <a:avLst/>
          </a:prstGeom>
          <a:noFill/>
        </p:spPr>
        <p:txBody>
          <a:bodyPr wrap="none" lIns="91440" tIns="45720" rIns="91440" bIns="45720">
            <a:spAutoFit/>
          </a:bodyPr>
          <a:lstStyle/>
          <a:p>
            <a:pPr algn="ctr"/>
            <a:r>
              <a:rPr lang="en-US" sz="5400" b="1" spc="50" dirty="0" smtClean="0">
                <a:ln w="9525" cmpd="sng">
                  <a:solidFill>
                    <a:schemeClr val="accent1"/>
                  </a:solidFill>
                  <a:prstDash val="solid"/>
                </a:ln>
                <a:solidFill>
                  <a:srgbClr val="70AD47">
                    <a:tint val="1000"/>
                  </a:srgbClr>
                </a:solidFill>
                <a:effectLst>
                  <a:glow rad="38100">
                    <a:schemeClr val="accent1">
                      <a:alpha val="40000"/>
                    </a:schemeClr>
                  </a:glow>
                </a:effectLst>
              </a:rPr>
              <a:t>25000</a:t>
            </a:r>
            <a:endParaRPr lang="en-US" sz="5400" b="1" cap="none" spc="50" dirty="0">
              <a:ln w="9525" cmpd="sng">
                <a:solidFill>
                  <a:schemeClr val="accent1"/>
                </a:solidFill>
                <a:prstDash val="solid"/>
              </a:ln>
              <a:solidFill>
                <a:srgbClr val="70AD47">
                  <a:tint val="1000"/>
                </a:srgbClr>
              </a:solidFill>
              <a:effectLst>
                <a:glow rad="38100">
                  <a:schemeClr val="accent1">
                    <a:alpha val="40000"/>
                  </a:schemeClr>
                </a:glow>
              </a:effectLst>
            </a:endParaRPr>
          </a:p>
        </p:txBody>
      </p:sp>
      <p:sp>
        <p:nvSpPr>
          <p:cNvPr id="12" name="Textfeld 11"/>
          <p:cNvSpPr txBox="1"/>
          <p:nvPr/>
        </p:nvSpPr>
        <p:spPr>
          <a:xfrm>
            <a:off x="7525511" y="1243584"/>
            <a:ext cx="4592858" cy="954107"/>
          </a:xfrm>
          <a:prstGeom prst="rect">
            <a:avLst/>
          </a:prstGeom>
          <a:noFill/>
          <a:ln>
            <a:noFill/>
          </a:ln>
        </p:spPr>
        <p:txBody>
          <a:bodyPr wrap="square" rtlCol="0">
            <a:spAutoFit/>
          </a:bodyPr>
          <a:lstStyle/>
          <a:p>
            <a:r>
              <a:rPr lang="en-US" sz="1400" dirty="0" smtClean="0"/>
              <a:t>Weak Search Terms…</a:t>
            </a:r>
          </a:p>
          <a:p>
            <a:pPr marL="216000" indent="-216000">
              <a:buClr>
                <a:srgbClr val="00B0F0"/>
              </a:buClr>
              <a:buFont typeface="Wingdings" panose="05000000000000000000" pitchFamily="2" charset="2"/>
              <a:buChar char="§"/>
            </a:pPr>
            <a:r>
              <a:rPr lang="en-US" sz="1400" dirty="0" smtClean="0"/>
              <a:t>have few words with high frequencies</a:t>
            </a:r>
          </a:p>
          <a:p>
            <a:pPr marL="216000" indent="-216000">
              <a:buClr>
                <a:srgbClr val="00B0F0"/>
              </a:buClr>
              <a:buFont typeface="Wingdings" panose="05000000000000000000" pitchFamily="2" charset="2"/>
              <a:buChar char="§"/>
            </a:pPr>
            <a:r>
              <a:rPr lang="en-US" sz="1400" dirty="0"/>
              <a:t>a</a:t>
            </a:r>
            <a:r>
              <a:rPr lang="en-US" sz="1400" dirty="0" smtClean="0"/>
              <a:t>re often affected by missing search fields</a:t>
            </a:r>
          </a:p>
          <a:p>
            <a:pPr marL="216000" indent="-216000">
              <a:buClr>
                <a:srgbClr val="00B0F0"/>
              </a:buClr>
              <a:buFont typeface="Wingdings" panose="05000000000000000000" pitchFamily="2" charset="2"/>
              <a:buChar char="§"/>
            </a:pPr>
            <a:r>
              <a:rPr lang="en-US" sz="1400" dirty="0" smtClean="0"/>
              <a:t>contain redundancy, i.e. city name in firm name</a:t>
            </a:r>
          </a:p>
        </p:txBody>
      </p:sp>
      <p:sp>
        <p:nvSpPr>
          <p:cNvPr id="15" name="Textfeld 14"/>
          <p:cNvSpPr txBox="1"/>
          <p:nvPr/>
        </p:nvSpPr>
        <p:spPr>
          <a:xfrm>
            <a:off x="7525511" y="2231136"/>
            <a:ext cx="4588399" cy="954107"/>
          </a:xfrm>
          <a:prstGeom prst="rect">
            <a:avLst/>
          </a:prstGeom>
          <a:noFill/>
          <a:ln>
            <a:noFill/>
          </a:ln>
        </p:spPr>
        <p:txBody>
          <a:bodyPr wrap="square" rtlCol="0">
            <a:spAutoFit/>
          </a:bodyPr>
          <a:lstStyle/>
          <a:p>
            <a:r>
              <a:rPr lang="en-US" sz="1400" dirty="0" smtClean="0"/>
              <a:t>This leads to…</a:t>
            </a:r>
          </a:p>
          <a:p>
            <a:pPr marL="216000" indent="-216000">
              <a:buClr>
                <a:srgbClr val="00B0F0"/>
              </a:buClr>
              <a:buFont typeface="Calibri" panose="020F0502020204030204" pitchFamily="34" charset="0"/>
              <a:buChar char="→"/>
            </a:pPr>
            <a:r>
              <a:rPr lang="en-US" sz="1400" dirty="0"/>
              <a:t>bloated candidate </a:t>
            </a:r>
            <a:r>
              <a:rPr lang="en-US" sz="1400" dirty="0" smtClean="0"/>
              <a:t>lists of unrelated false positives</a:t>
            </a:r>
            <a:endParaRPr lang="en-US" sz="1400" dirty="0"/>
          </a:p>
          <a:p>
            <a:pPr marL="216000" indent="-216000">
              <a:buClr>
                <a:srgbClr val="00B0F0"/>
              </a:buClr>
              <a:buFont typeface="Calibri" panose="020F0502020204030204" pitchFamily="34" charset="0"/>
              <a:buChar char="→"/>
            </a:pPr>
            <a:r>
              <a:rPr lang="en-US" sz="1400" dirty="0"/>
              <a:t>ambiguous candidates without variance in the identity</a:t>
            </a:r>
          </a:p>
          <a:p>
            <a:pPr marL="216000" indent="-216000">
              <a:buClr>
                <a:srgbClr val="00B0F0"/>
              </a:buClr>
              <a:buFont typeface="Calibri" panose="020F0502020204030204" pitchFamily="34" charset="0"/>
              <a:buChar char="→"/>
            </a:pPr>
            <a:r>
              <a:rPr lang="en-US" sz="1400" dirty="0"/>
              <a:t>w</a:t>
            </a:r>
            <a:r>
              <a:rPr lang="en-US" sz="1400" dirty="0" smtClean="0"/>
              <a:t>aste of time trying to find true positives</a:t>
            </a:r>
            <a:endParaRPr lang="en-US" sz="1400" dirty="0"/>
          </a:p>
        </p:txBody>
      </p:sp>
      <p:sp>
        <p:nvSpPr>
          <p:cNvPr id="16" name="Textfeld 15"/>
          <p:cNvSpPr txBox="1"/>
          <p:nvPr/>
        </p:nvSpPr>
        <p:spPr>
          <a:xfrm>
            <a:off x="7525510" y="3230459"/>
            <a:ext cx="4595957" cy="1815882"/>
          </a:xfrm>
          <a:prstGeom prst="rect">
            <a:avLst/>
          </a:prstGeom>
          <a:noFill/>
          <a:ln>
            <a:noFill/>
          </a:ln>
        </p:spPr>
        <p:txBody>
          <a:bodyPr wrap="square" rtlCol="0">
            <a:spAutoFit/>
          </a:bodyPr>
          <a:lstStyle/>
          <a:p>
            <a:r>
              <a:rPr lang="en-US" sz="1400" dirty="0" smtClean="0"/>
              <a:t>Potential solution</a:t>
            </a:r>
          </a:p>
          <a:p>
            <a:pPr marL="216000" indent="-216000">
              <a:buClr>
                <a:srgbClr val="00B0F0"/>
              </a:buClr>
              <a:buFont typeface="+mj-lt"/>
              <a:buAutoNum type="arabicPeriod"/>
            </a:pPr>
            <a:r>
              <a:rPr lang="en-US" sz="1400" dirty="0" smtClean="0"/>
              <a:t>Sort candidates by identity in descending order</a:t>
            </a:r>
          </a:p>
          <a:p>
            <a:pPr marL="216000" indent="-216000">
              <a:buClr>
                <a:srgbClr val="00B0F0"/>
              </a:buClr>
              <a:buFont typeface="+mj-lt"/>
              <a:buAutoNum type="arabicPeriod"/>
            </a:pPr>
            <a:r>
              <a:rPr lang="en-US" sz="1400" dirty="0" smtClean="0"/>
              <a:t>All candidates down to a cutoff point are deemed plausible, i.e. top 10 candidates</a:t>
            </a:r>
          </a:p>
          <a:p>
            <a:pPr marL="216000" indent="-216000">
              <a:buClr>
                <a:srgbClr val="00B0F0"/>
              </a:buClr>
              <a:buFont typeface="+mj-lt"/>
              <a:buAutoNum type="arabicPeriod"/>
            </a:pPr>
            <a:r>
              <a:rPr lang="en-US" sz="1400" dirty="0" smtClean="0"/>
              <a:t>The identity of the candidate at the cutoff point becomes the new threshold for this search term to prevent arbitrary dismissal of candidates</a:t>
            </a:r>
          </a:p>
          <a:p>
            <a:pPr marL="216000" indent="-216000">
              <a:buClr>
                <a:srgbClr val="FF0000"/>
              </a:buClr>
              <a:buFont typeface="Calibri" panose="020F0502020204030204" pitchFamily="34" charset="0"/>
              <a:buChar char="!"/>
            </a:pPr>
            <a:r>
              <a:rPr lang="en-US" sz="1400" dirty="0" smtClean="0">
                <a:solidFill>
                  <a:srgbClr val="FF0000"/>
                </a:solidFill>
              </a:rPr>
              <a:t>No variance in the identity → no cutoff</a:t>
            </a:r>
          </a:p>
        </p:txBody>
      </p:sp>
      <p:grpSp>
        <p:nvGrpSpPr>
          <p:cNvPr id="20" name="Gruppieren 19"/>
          <p:cNvGrpSpPr/>
          <p:nvPr/>
        </p:nvGrpSpPr>
        <p:grpSpPr>
          <a:xfrm>
            <a:off x="237744" y="1904169"/>
            <a:ext cx="7205760" cy="192024"/>
            <a:chOff x="237744" y="1911096"/>
            <a:chExt cx="7205760" cy="192024"/>
          </a:xfrm>
        </p:grpSpPr>
        <p:cxnSp>
          <p:nvCxnSpPr>
            <p:cNvPr id="18" name="Gerader Verbinder 17"/>
            <p:cNvCxnSpPr/>
            <p:nvPr/>
          </p:nvCxnSpPr>
          <p:spPr>
            <a:xfrm>
              <a:off x="603504" y="2075688"/>
              <a:ext cx="6840000" cy="0"/>
            </a:xfrm>
            <a:prstGeom prst="line">
              <a:avLst/>
            </a:prstGeom>
            <a:ln w="25400">
              <a:solidFill>
                <a:srgbClr val="00B0F0"/>
              </a:solidFill>
              <a:prstDash val="sysDash"/>
            </a:ln>
          </p:spPr>
          <p:style>
            <a:lnRef idx="1">
              <a:schemeClr val="accent1"/>
            </a:lnRef>
            <a:fillRef idx="0">
              <a:schemeClr val="accent1"/>
            </a:fillRef>
            <a:effectRef idx="0">
              <a:schemeClr val="accent1"/>
            </a:effectRef>
            <a:fontRef idx="minor">
              <a:schemeClr val="tx1"/>
            </a:fontRef>
          </p:style>
        </p:cxnSp>
        <p:sp>
          <p:nvSpPr>
            <p:cNvPr id="19" name="Rechteck 18"/>
            <p:cNvSpPr/>
            <p:nvPr/>
          </p:nvSpPr>
          <p:spPr>
            <a:xfrm>
              <a:off x="237744" y="1911096"/>
              <a:ext cx="356616" cy="192024"/>
            </a:xfrm>
            <a:prstGeom prst="rect">
              <a:avLst/>
            </a:prstGeom>
            <a:noFill/>
            <a:ln w="254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Rechteck 6"/>
          <p:cNvSpPr/>
          <p:nvPr/>
        </p:nvSpPr>
        <p:spPr>
          <a:xfrm>
            <a:off x="0" y="0"/>
            <a:ext cx="8091055" cy="852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6" name="Tabelle 5"/>
          <p:cNvGraphicFramePr>
            <a:graphicFrameLocks noGrp="1"/>
          </p:cNvGraphicFramePr>
          <p:nvPr>
            <p:extLst>
              <p:ext uri="{D42A27DB-BD31-4B8C-83A1-F6EECF244321}">
                <p14:modId xmlns:p14="http://schemas.microsoft.com/office/powerpoint/2010/main" val="3017615065"/>
              </p:ext>
            </p:extLst>
          </p:nvPr>
        </p:nvGraphicFramePr>
        <p:xfrm>
          <a:off x="181632" y="654749"/>
          <a:ext cx="7419271" cy="180000"/>
        </p:xfrm>
        <a:graphic>
          <a:graphicData uri="http://schemas.openxmlformats.org/drawingml/2006/table">
            <a:tbl>
              <a:tblPr/>
              <a:tblGrid>
                <a:gridCol w="468000"/>
                <a:gridCol w="3887671"/>
                <a:gridCol w="1774800"/>
                <a:gridCol w="360000"/>
                <a:gridCol w="928800"/>
              </a:tblGrid>
              <a:tr h="180000">
                <a:tc>
                  <a:txBody>
                    <a:bodyPr/>
                    <a:lstStyle/>
                    <a:p>
                      <a:pPr algn="ctr" fontAlgn="b"/>
                      <a:r>
                        <a:rPr lang="de-DE" sz="900" b="0" i="0" u="none" strike="noStrike" dirty="0" err="1">
                          <a:solidFill>
                            <a:srgbClr val="000000"/>
                          </a:solidFill>
                          <a:effectLst/>
                          <a:latin typeface="Calibri" panose="020F0502020204030204" pitchFamily="34" charset="0"/>
                        </a:rPr>
                        <a:t>identity</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name</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street</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zip</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city</a:t>
                      </a:r>
                      <a:endParaRPr lang="de-DE" sz="900" b="0" i="0" u="none" strike="noStrike" dirty="0" smtClean="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r>
            </a:tbl>
          </a:graphicData>
        </a:graphic>
      </p:graphicFrame>
      <p:sp>
        <p:nvSpPr>
          <p:cNvPr id="2" name="Titel 1"/>
          <p:cNvSpPr>
            <a:spLocks noGrp="1"/>
          </p:cNvSpPr>
          <p:nvPr>
            <p:ph type="title"/>
          </p:nvPr>
        </p:nvSpPr>
        <p:spPr/>
        <p:txBody>
          <a:bodyPr/>
          <a:lstStyle/>
          <a:p>
            <a:r>
              <a:rPr lang="en-US" dirty="0" smtClean="0"/>
              <a:t>Weak Search Terms: Berlin GmbH, Berlin</a:t>
            </a:r>
            <a:endParaRPr lang="en-US" dirty="0"/>
          </a:p>
        </p:txBody>
      </p:sp>
    </p:spTree>
    <p:extLst>
      <p:ext uri="{BB962C8B-B14F-4D97-AF65-F5344CB8AC3E}">
        <p14:creationId xmlns:p14="http://schemas.microsoft.com/office/powerpoint/2010/main" val="671089924"/>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0" fill="hold"/>
                                            <p:tgtEl>
                                              <p:spTgt spid="4"/>
                                            </p:tgtEl>
                                            <p:attrNameLst>
                                              <p:attrName>ppt_x</p:attrName>
                                            </p:attrNameLst>
                                          </p:cBhvr>
                                          <p:tavLst>
                                            <p:tav tm="0">
                                              <p:val>
                                                <p:strVal val="#ppt_x"/>
                                              </p:val>
                                            </p:tav>
                                            <p:tav tm="100000">
                                              <p:val>
                                                <p:strVal val="#ppt_x"/>
                                              </p:val>
                                            </p:tav>
                                          </p:tavLst>
                                        </p:anim>
                                        <p:anim calcmode="lin" valueType="num">
                                          <p:cBhvr additive="base">
                                            <p:cTn id="8" dur="5000" fill="hold"/>
                                            <p:tgtEl>
                                              <p:spTgt spid="4"/>
                                            </p:tgtEl>
                                            <p:attrNameLst>
                                              <p:attrName>ppt_y</p:attrName>
                                            </p:attrNameLst>
                                          </p:cBhvr>
                                          <p:tavLst>
                                            <p:tav tm="0">
                                              <p:val>
                                                <p:strVal val="0-#ppt_h/2"/>
                                              </p:val>
                                            </p:tav>
                                            <p:tav tm="100000">
                                              <p:val>
                                                <p:strVal val="#ppt_y"/>
                                              </p:val>
                                            </p:tav>
                                          </p:tavLst>
                                        </p:anim>
                                      </p:childTnLst>
                                    </p:cTn>
                                  </p:par>
                                </p:childTnLst>
                              </p:cTn>
                            </p:par>
                            <p:par>
                              <p:cTn id="9" fill="hold">
                                <p:stCondLst>
                                  <p:cond delay="5000"/>
                                </p:stCondLst>
                                <p:childTnLst>
                                  <p:par>
                                    <p:cTn id="10" presetID="10" presetClass="entr" presetSubtype="0" fill="hold" grpId="0" nodeType="after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1" fill="hold" nodeType="clickEffect" p14:presetBounceEnd="25000">
                                      <p:stCondLst>
                                        <p:cond delay="0"/>
                                      </p:stCondLst>
                                      <p:childTnLst>
                                        <p:set>
                                          <p:cBhvr>
                                            <p:cTn id="34" dur="1" fill="hold">
                                              <p:stCondLst>
                                                <p:cond delay="0"/>
                                              </p:stCondLst>
                                            </p:cTn>
                                            <p:tgtEl>
                                              <p:spTgt spid="20"/>
                                            </p:tgtEl>
                                            <p:attrNameLst>
                                              <p:attrName>style.visibility</p:attrName>
                                            </p:attrNameLst>
                                          </p:cBhvr>
                                          <p:to>
                                            <p:strVal val="visible"/>
                                          </p:to>
                                        </p:set>
                                        <p:anim calcmode="lin" valueType="num" p14:bounceEnd="25000">
                                          <p:cBhvr additive="base">
                                            <p:cTn id="35" dur="2000" fill="hold"/>
                                            <p:tgtEl>
                                              <p:spTgt spid="20"/>
                                            </p:tgtEl>
                                            <p:attrNameLst>
                                              <p:attrName>ppt_x</p:attrName>
                                            </p:attrNameLst>
                                          </p:cBhvr>
                                          <p:tavLst>
                                            <p:tav tm="0">
                                              <p:val>
                                                <p:strVal val="#ppt_x"/>
                                              </p:val>
                                            </p:tav>
                                            <p:tav tm="100000">
                                              <p:val>
                                                <p:strVal val="#ppt_x"/>
                                              </p:val>
                                            </p:tav>
                                          </p:tavLst>
                                        </p:anim>
                                        <p:anim calcmode="lin" valueType="num" p14:bounceEnd="25000">
                                          <p:cBhvr additive="base">
                                            <p:cTn id="36" dur="2000" fill="hold"/>
                                            <p:tgtEl>
                                              <p:spTgt spid="20"/>
                                            </p:tgtEl>
                                            <p:attrNameLst>
                                              <p:attrName>ppt_y</p:attrName>
                                            </p:attrNameLst>
                                          </p:cBhvr>
                                          <p:tavLst>
                                            <p:tav tm="0">
                                              <p:val>
                                                <p:strVal val="0-#ppt_h/2"/>
                                              </p:val>
                                            </p:tav>
                                            <p:tav tm="100000">
                                              <p:val>
                                                <p:strVal val="#ppt_y"/>
                                              </p:val>
                                            </p:tav>
                                          </p:tavLst>
                                        </p:anim>
                                      </p:childTnLst>
                                    </p:cTn>
                                  </p:par>
                                </p:childTnLst>
                              </p:cTn>
                            </p:par>
                            <p:par>
                              <p:cTn id="37" fill="hold">
                                <p:stCondLst>
                                  <p:cond delay="2000"/>
                                </p:stCondLst>
                                <p:childTnLst>
                                  <p:par>
                                    <p:cTn id="38" presetID="1" presetClass="entr" presetSubtype="0" fill="hold" nodeType="afterEffect">
                                      <p:stCondLst>
                                        <p:cond delay="0"/>
                                      </p:stCondLst>
                                      <p:childTnLst>
                                        <p:set>
                                          <p:cBhvr>
                                            <p:cTn id="39" dur="1" fill="hold">
                                              <p:stCondLst>
                                                <p:cond delay="0"/>
                                              </p:stCondLst>
                                            </p:cTn>
                                            <p:tgtEl>
                                              <p:spTgt spid="1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5"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0" fill="hold"/>
                                            <p:tgtEl>
                                              <p:spTgt spid="4"/>
                                            </p:tgtEl>
                                            <p:attrNameLst>
                                              <p:attrName>ppt_x</p:attrName>
                                            </p:attrNameLst>
                                          </p:cBhvr>
                                          <p:tavLst>
                                            <p:tav tm="0">
                                              <p:val>
                                                <p:strVal val="#ppt_x"/>
                                              </p:val>
                                            </p:tav>
                                            <p:tav tm="100000">
                                              <p:val>
                                                <p:strVal val="#ppt_x"/>
                                              </p:val>
                                            </p:tav>
                                          </p:tavLst>
                                        </p:anim>
                                        <p:anim calcmode="lin" valueType="num">
                                          <p:cBhvr additive="base">
                                            <p:cTn id="8" dur="5000" fill="hold"/>
                                            <p:tgtEl>
                                              <p:spTgt spid="4"/>
                                            </p:tgtEl>
                                            <p:attrNameLst>
                                              <p:attrName>ppt_y</p:attrName>
                                            </p:attrNameLst>
                                          </p:cBhvr>
                                          <p:tavLst>
                                            <p:tav tm="0">
                                              <p:val>
                                                <p:strVal val="0-#ppt_h/2"/>
                                              </p:val>
                                            </p:tav>
                                            <p:tav tm="100000">
                                              <p:val>
                                                <p:strVal val="#ppt_y"/>
                                              </p:val>
                                            </p:tav>
                                          </p:tavLst>
                                        </p:anim>
                                      </p:childTnLst>
                                    </p:cTn>
                                  </p:par>
                                </p:childTnLst>
                              </p:cTn>
                            </p:par>
                            <p:par>
                              <p:cTn id="9" fill="hold">
                                <p:stCondLst>
                                  <p:cond delay="5000"/>
                                </p:stCondLst>
                                <p:childTnLst>
                                  <p:par>
                                    <p:cTn id="10" presetID="10" presetClass="entr" presetSubtype="0" fill="hold" grpId="0" nodeType="after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1" fill="hold" nodeType="clickEffect">
                                      <p:stCondLst>
                                        <p:cond delay="0"/>
                                      </p:stCondLst>
                                      <p:childTnLst>
                                        <p:set>
                                          <p:cBhvr>
                                            <p:cTn id="34" dur="1" fill="hold">
                                              <p:stCondLst>
                                                <p:cond delay="0"/>
                                              </p:stCondLst>
                                            </p:cTn>
                                            <p:tgtEl>
                                              <p:spTgt spid="20"/>
                                            </p:tgtEl>
                                            <p:attrNameLst>
                                              <p:attrName>style.visibility</p:attrName>
                                            </p:attrNameLst>
                                          </p:cBhvr>
                                          <p:to>
                                            <p:strVal val="visible"/>
                                          </p:to>
                                        </p:set>
                                        <p:anim calcmode="lin" valueType="num">
                                          <p:cBhvr additive="base">
                                            <p:cTn id="35" dur="2000" fill="hold"/>
                                            <p:tgtEl>
                                              <p:spTgt spid="20"/>
                                            </p:tgtEl>
                                            <p:attrNameLst>
                                              <p:attrName>ppt_x</p:attrName>
                                            </p:attrNameLst>
                                          </p:cBhvr>
                                          <p:tavLst>
                                            <p:tav tm="0">
                                              <p:val>
                                                <p:strVal val="#ppt_x"/>
                                              </p:val>
                                            </p:tav>
                                            <p:tav tm="100000">
                                              <p:val>
                                                <p:strVal val="#ppt_x"/>
                                              </p:val>
                                            </p:tav>
                                          </p:tavLst>
                                        </p:anim>
                                        <p:anim calcmode="lin" valueType="num">
                                          <p:cBhvr additive="base">
                                            <p:cTn id="36" dur="2000" fill="hold"/>
                                            <p:tgtEl>
                                              <p:spTgt spid="20"/>
                                            </p:tgtEl>
                                            <p:attrNameLst>
                                              <p:attrName>ppt_y</p:attrName>
                                            </p:attrNameLst>
                                          </p:cBhvr>
                                          <p:tavLst>
                                            <p:tav tm="0">
                                              <p:val>
                                                <p:strVal val="0-#ppt_h/2"/>
                                              </p:val>
                                            </p:tav>
                                            <p:tav tm="100000">
                                              <p:val>
                                                <p:strVal val="#ppt_y"/>
                                              </p:val>
                                            </p:tav>
                                          </p:tavLst>
                                        </p:anim>
                                      </p:childTnLst>
                                    </p:cTn>
                                  </p:par>
                                </p:childTnLst>
                              </p:cTn>
                            </p:par>
                            <p:par>
                              <p:cTn id="37" fill="hold">
                                <p:stCondLst>
                                  <p:cond delay="2000"/>
                                </p:stCondLst>
                                <p:childTnLst>
                                  <p:par>
                                    <p:cTn id="38" presetID="1" presetClass="entr" presetSubtype="0" fill="hold" nodeType="afterEffect">
                                      <p:stCondLst>
                                        <p:cond delay="0"/>
                                      </p:stCondLst>
                                      <p:childTnLst>
                                        <p:set>
                                          <p:cBhvr>
                                            <p:cTn id="39" dur="1" fill="hold">
                                              <p:stCondLst>
                                                <p:cond delay="0"/>
                                              </p:stCondLst>
                                            </p:cTn>
                                            <p:tgtEl>
                                              <p:spTgt spid="1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5" grpId="0"/>
        </p:bldLst>
      </p:timing>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400"/>
          </a:xfrm>
        </p:spPr>
        <p:txBody>
          <a:bodyPr>
            <a:normAutofit/>
          </a:bodyPr>
          <a:lstStyle/>
          <a:p>
            <a:r>
              <a:rPr lang="fr-FR" dirty="0"/>
              <a:t>Jaccard P. (1902), </a:t>
            </a:r>
            <a:r>
              <a:rPr lang="fr-FR" sz="1800" dirty="0"/>
              <a:t>`Lois de distribution florale dans la zone alpine´, Bulletin de la </a:t>
            </a:r>
            <a:r>
              <a:rPr lang="fr-FR" sz="1800" dirty="0" smtClean="0"/>
              <a:t>Société </a:t>
            </a:r>
            <a:r>
              <a:rPr lang="fr-FR" sz="1800" dirty="0"/>
              <a:t>Vaudoise des Sciences Naturelles</a:t>
            </a:r>
            <a:endParaRPr lang="en-US" sz="1800"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13</a:t>
            </a:fld>
            <a:endParaRPr lang="en-US" dirty="0"/>
          </a:p>
        </p:txBody>
      </p:sp>
      <mc:AlternateContent xmlns:mc="http://schemas.openxmlformats.org/markup-compatibility/2006" xmlns:a14="http://schemas.microsoft.com/office/drawing/2010/main">
        <mc:Choice Requires="a14">
          <p:sp>
            <p:nvSpPr>
              <p:cNvPr id="5" name="Textfeld 85"/>
              <p:cNvSpPr txBox="1"/>
              <p:nvPr/>
            </p:nvSpPr>
            <p:spPr>
              <a:xfrm>
                <a:off x="4692330" y="1262990"/>
                <a:ext cx="2675797" cy="87209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solidFill>
                            <a:schemeClr val="bg1"/>
                          </a:solidFill>
                          <a:latin typeface="Cambria Math"/>
                        </a:rPr>
                        <m:t>𝐼</m:t>
                      </m:r>
                      <m:d>
                        <m:dPr>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rPr>
                            <m:t>,</m:t>
                          </m:r>
                          <m:r>
                            <a:rPr lang="de-DE" sz="2400" b="0" i="1" smtClean="0">
                              <a:latin typeface="Cambria Math"/>
                            </a:rPr>
                            <m:t>𝐹</m:t>
                          </m:r>
                        </m:e>
                      </m:d>
                      <m:r>
                        <a:rPr lang="de-DE" sz="2400" b="0" i="1" smtClean="0">
                          <a:latin typeface="Cambria Math"/>
                        </a:rPr>
                        <m:t>=</m:t>
                      </m:r>
                      <m:f>
                        <m:fPr>
                          <m:ctrlPr>
                            <a:rPr lang="de-DE" sz="2400" b="0" i="1" smtClean="0">
                              <a:latin typeface="Cambria Math" panose="02040503050406030204" pitchFamily="18" charset="0"/>
                            </a:rPr>
                          </m:ctrlPr>
                        </m:fPr>
                        <m:num>
                          <m:r>
                            <a:rPr lang="de-DE" sz="2400" b="0" i="1" smtClean="0">
                              <a:latin typeface="Cambria Math"/>
                            </a:rPr>
                            <m:t>|</m:t>
                          </m:r>
                          <m:d>
                            <m:dPr>
                              <m:begChr m:val="{"/>
                              <m:endChr m:val="}"/>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ea typeface="Cambria Math"/>
                                </a:rPr>
                                <m:t>∩</m:t>
                              </m:r>
                              <m:r>
                                <a:rPr lang="de-DE" sz="2400" b="0" i="1" smtClean="0">
                                  <a:latin typeface="Cambria Math"/>
                                  <a:ea typeface="Cambria Math"/>
                                </a:rPr>
                                <m:t>𝐹</m:t>
                              </m:r>
                            </m:e>
                          </m:d>
                          <m:r>
                            <a:rPr lang="de-DE" sz="2400" b="0" i="1" smtClean="0">
                              <a:latin typeface="Cambria Math"/>
                              <a:ea typeface="Cambria Math"/>
                            </a:rPr>
                            <m:t>|</m:t>
                          </m:r>
                        </m:num>
                        <m:den>
                          <m:r>
                            <a:rPr lang="de-DE" sz="2400" b="0" i="1" smtClean="0">
                              <a:solidFill>
                                <a:schemeClr val="bg1"/>
                              </a:solidFill>
                              <a:latin typeface="Cambria Math"/>
                            </a:rPr>
                            <m:t>|</m:t>
                          </m:r>
                          <m:d>
                            <m:dPr>
                              <m:begChr m:val="{"/>
                              <m:endChr m:val="}"/>
                              <m:ctrlPr>
                                <a:rPr lang="de-DE" sz="2400" b="0" i="1" smtClean="0">
                                  <a:solidFill>
                                    <a:schemeClr val="bg1"/>
                                  </a:solidFill>
                                  <a:latin typeface="Cambria Math" panose="02040503050406030204" pitchFamily="18" charset="0"/>
                                </a:rPr>
                              </m:ctrlPr>
                            </m:dPr>
                            <m:e>
                              <m:r>
                                <a:rPr lang="de-DE" sz="2400" b="0" i="1" smtClean="0">
                                  <a:solidFill>
                                    <a:schemeClr val="bg1"/>
                                  </a:solidFill>
                                  <a:latin typeface="Cambria Math"/>
                                </a:rPr>
                                <m:t>𝑆</m:t>
                              </m:r>
                            </m:e>
                          </m:d>
                          <m:r>
                            <a:rPr lang="de-DE" sz="2400" b="0" i="1" smtClean="0">
                              <a:solidFill>
                                <a:schemeClr val="bg1"/>
                              </a:solidFill>
                              <a:latin typeface="Cambria Math"/>
                              <a:ea typeface="Cambria Math"/>
                            </a:rPr>
                            <m:t>|</m:t>
                          </m:r>
                        </m:den>
                      </m:f>
                    </m:oMath>
                  </m:oMathPara>
                </a14:m>
                <a:endParaRPr lang="de-DE" sz="2400" b="0" dirty="0" smtClean="0"/>
              </a:p>
            </p:txBody>
          </p:sp>
        </mc:Choice>
        <mc:Fallback xmlns="">
          <p:sp>
            <p:nvSpPr>
              <p:cNvPr id="5" name="Textfeld 85"/>
              <p:cNvSpPr txBox="1">
                <a:spLocks noRot="1" noChangeAspect="1" noMove="1" noResize="1" noEditPoints="1" noAdjustHandles="1" noChangeArrowheads="1" noChangeShapeType="1" noTextEdit="1"/>
              </p:cNvSpPr>
              <p:nvPr/>
            </p:nvSpPr>
            <p:spPr>
              <a:xfrm>
                <a:off x="4692330" y="1262990"/>
                <a:ext cx="2675797" cy="872098"/>
              </a:xfrm>
              <a:prstGeom prst="rect">
                <a:avLst/>
              </a:prstGeom>
              <a:blipFill rotWithShape="0">
                <a:blip r:embed="rId2"/>
                <a:stretch>
                  <a:fillRect/>
                </a:stretch>
              </a:blipFill>
            </p:spPr>
            <p:txBody>
              <a:bodyPr/>
              <a:lstStyle/>
              <a:p>
                <a:r>
                  <a:rPr lang="en-US">
                    <a:noFill/>
                  </a:rPr>
                  <a:t> </a:t>
                </a:r>
              </a:p>
            </p:txBody>
          </p:sp>
        </mc:Fallback>
      </mc:AlternateContent>
      <p:cxnSp>
        <p:nvCxnSpPr>
          <p:cNvPr id="38" name="Gerade Verbindung 37"/>
          <p:cNvCxnSpPr/>
          <p:nvPr/>
        </p:nvCxnSpPr>
        <p:spPr>
          <a:xfrm flipV="1">
            <a:off x="3597994" y="3397649"/>
            <a:ext cx="4882142" cy="1203"/>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9" name="Freihandform 40"/>
          <p:cNvSpPr>
            <a:spLocks noChangeAspect="1"/>
          </p:cNvSpPr>
          <p:nvPr/>
        </p:nvSpPr>
        <p:spPr>
          <a:xfrm rot="20263449">
            <a:off x="5027579" y="2978980"/>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0" name="Freihandform 41"/>
          <p:cNvSpPr>
            <a:spLocks noChangeAspect="1"/>
          </p:cNvSpPr>
          <p:nvPr/>
        </p:nvSpPr>
        <p:spPr>
          <a:xfrm rot="20263449">
            <a:off x="5413998" y="2986762"/>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rgbClr val="92D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1" name="Ellipse 42"/>
          <p:cNvSpPr>
            <a:spLocks noChangeAspect="1"/>
          </p:cNvSpPr>
          <p:nvPr/>
        </p:nvSpPr>
        <p:spPr>
          <a:xfrm>
            <a:off x="6761438" y="2918897"/>
            <a:ext cx="270036" cy="276615"/>
          </a:xfrm>
          <a:prstGeom prst="ellipse">
            <a:avLst/>
          </a:pr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2" name="Freihandform 43"/>
          <p:cNvSpPr>
            <a:spLocks noChangeAspect="1"/>
          </p:cNvSpPr>
          <p:nvPr/>
        </p:nvSpPr>
        <p:spPr>
          <a:xfrm rot="8145585">
            <a:off x="5994080" y="2912567"/>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3" name="Freihandform 44"/>
          <p:cNvSpPr>
            <a:spLocks noChangeAspect="1"/>
          </p:cNvSpPr>
          <p:nvPr/>
        </p:nvSpPr>
        <p:spPr>
          <a:xfrm rot="18870071">
            <a:off x="6202076" y="3045056"/>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4" name="Textfeld 45"/>
          <p:cNvSpPr txBox="1"/>
          <p:nvPr/>
        </p:nvSpPr>
        <p:spPr>
          <a:xfrm>
            <a:off x="5184788" y="2720467"/>
            <a:ext cx="344524" cy="707886"/>
          </a:xfrm>
          <a:prstGeom prst="rect">
            <a:avLst/>
          </a:prstGeom>
          <a:noFill/>
        </p:spPr>
        <p:txBody>
          <a:bodyPr wrap="square" rtlCol="0">
            <a:spAutoFit/>
          </a:bodyPr>
          <a:lstStyle/>
          <a:p>
            <a:r>
              <a:rPr lang="en-US" sz="4000" dirty="0"/>
              <a:t>,</a:t>
            </a:r>
          </a:p>
        </p:txBody>
      </p:sp>
      <p:sp>
        <p:nvSpPr>
          <p:cNvPr id="45" name="Textfeld 46"/>
          <p:cNvSpPr txBox="1"/>
          <p:nvPr/>
        </p:nvSpPr>
        <p:spPr>
          <a:xfrm>
            <a:off x="5686219" y="2720467"/>
            <a:ext cx="344524" cy="707886"/>
          </a:xfrm>
          <a:prstGeom prst="rect">
            <a:avLst/>
          </a:prstGeom>
          <a:noFill/>
        </p:spPr>
        <p:txBody>
          <a:bodyPr wrap="square" rtlCol="0">
            <a:spAutoFit/>
          </a:bodyPr>
          <a:lstStyle/>
          <a:p>
            <a:r>
              <a:rPr lang="en-US" sz="4000" dirty="0"/>
              <a:t>,</a:t>
            </a:r>
          </a:p>
        </p:txBody>
      </p:sp>
      <p:sp>
        <p:nvSpPr>
          <p:cNvPr id="46" name="Textfeld 47"/>
          <p:cNvSpPr txBox="1"/>
          <p:nvPr/>
        </p:nvSpPr>
        <p:spPr>
          <a:xfrm>
            <a:off x="6407852" y="2720467"/>
            <a:ext cx="344524" cy="707886"/>
          </a:xfrm>
          <a:prstGeom prst="rect">
            <a:avLst/>
          </a:prstGeom>
          <a:noFill/>
        </p:spPr>
        <p:txBody>
          <a:bodyPr wrap="square" rtlCol="0">
            <a:spAutoFit/>
          </a:bodyPr>
          <a:lstStyle/>
          <a:p>
            <a:r>
              <a:rPr lang="en-US" sz="4000" dirty="0"/>
              <a:t>,</a:t>
            </a:r>
          </a:p>
        </p:txBody>
      </p:sp>
      <p:sp>
        <p:nvSpPr>
          <p:cNvPr id="47" name="Textfeld 48"/>
          <p:cNvSpPr txBox="1"/>
          <p:nvPr/>
        </p:nvSpPr>
        <p:spPr>
          <a:xfrm>
            <a:off x="4477512" y="2690406"/>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49" name="Textfeld 71"/>
          <p:cNvSpPr txBox="1"/>
          <p:nvPr/>
        </p:nvSpPr>
        <p:spPr>
          <a:xfrm>
            <a:off x="7434005" y="3302911"/>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50" name="Textfeld 87"/>
          <p:cNvSpPr txBox="1"/>
          <p:nvPr/>
        </p:nvSpPr>
        <p:spPr>
          <a:xfrm>
            <a:off x="5864064" y="2212995"/>
            <a:ext cx="412292" cy="584775"/>
          </a:xfrm>
          <a:prstGeom prst="rect">
            <a:avLst/>
          </a:prstGeom>
          <a:noFill/>
        </p:spPr>
        <p:txBody>
          <a:bodyPr wrap="none" rtlCol="0">
            <a:spAutoFit/>
          </a:bodyPr>
          <a:lstStyle/>
          <a:p>
            <a:r>
              <a:rPr lang="en-US" sz="3200" dirty="0" smtClean="0">
                <a:latin typeface="Cambria Math" panose="02040503050406030204" pitchFamily="18" charset="0"/>
                <a:ea typeface="Cambria Math" panose="02040503050406030204" pitchFamily="18" charset="0"/>
              </a:rPr>
              <a:t>4</a:t>
            </a:r>
            <a:endParaRPr lang="en-US" sz="3200" dirty="0">
              <a:latin typeface="Cambria Math" panose="02040503050406030204" pitchFamily="18" charset="0"/>
              <a:ea typeface="Cambria Math" panose="02040503050406030204" pitchFamily="18" charset="0"/>
            </a:endParaRPr>
          </a:p>
        </p:txBody>
      </p:sp>
      <p:grpSp>
        <p:nvGrpSpPr>
          <p:cNvPr id="51" name="Gruppieren 89"/>
          <p:cNvGrpSpPr/>
          <p:nvPr/>
        </p:nvGrpSpPr>
        <p:grpSpPr>
          <a:xfrm>
            <a:off x="4125994" y="3302911"/>
            <a:ext cx="3290015" cy="1375778"/>
            <a:chOff x="2627784" y="4222173"/>
            <a:chExt cx="3290015" cy="1375778"/>
          </a:xfrm>
        </p:grpSpPr>
        <p:grpSp>
          <p:nvGrpSpPr>
            <p:cNvPr id="52" name="Gruppieren 76"/>
            <p:cNvGrpSpPr/>
            <p:nvPr/>
          </p:nvGrpSpPr>
          <p:grpSpPr>
            <a:xfrm>
              <a:off x="2627784" y="4222173"/>
              <a:ext cx="3290015" cy="856511"/>
              <a:chOff x="2200093" y="4210743"/>
              <a:chExt cx="3290015" cy="856511"/>
            </a:xfrm>
          </p:grpSpPr>
          <p:sp>
            <p:nvSpPr>
              <p:cNvPr id="54" name="Freihandform 51"/>
              <p:cNvSpPr>
                <a:spLocks noChangeAspect="1"/>
              </p:cNvSpPr>
              <p:nvPr/>
            </p:nvSpPr>
            <p:spPr>
              <a:xfrm>
                <a:off x="2719027" y="4375658"/>
                <a:ext cx="84808" cy="534406"/>
              </a:xfrm>
              <a:custGeom>
                <a:avLst/>
                <a:gdLst>
                  <a:gd name="connsiteX0" fmla="*/ 559730 w 559730"/>
                  <a:gd name="connsiteY0" fmla="*/ 0 h 3568958"/>
                  <a:gd name="connsiteX1" fmla="*/ 137036 w 559730"/>
                  <a:gd name="connsiteY1" fmla="*/ 974785 h 3568958"/>
                  <a:gd name="connsiteX2" fmla="*/ 378575 w 559730"/>
                  <a:gd name="connsiteY2" fmla="*/ 2182483 h 3568958"/>
                  <a:gd name="connsiteX3" fmla="*/ 42145 w 559730"/>
                  <a:gd name="connsiteY3" fmla="*/ 3407434 h 3568958"/>
                  <a:gd name="connsiteX4" fmla="*/ 16266 w 559730"/>
                  <a:gd name="connsiteY4" fmla="*/ 3519578 h 3568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30" h="3568958">
                    <a:moveTo>
                      <a:pt x="559730" y="0"/>
                    </a:moveTo>
                    <a:cubicBezTo>
                      <a:pt x="363479" y="305519"/>
                      <a:pt x="167228" y="611038"/>
                      <a:pt x="137036" y="974785"/>
                    </a:cubicBezTo>
                    <a:cubicBezTo>
                      <a:pt x="106844" y="1338532"/>
                      <a:pt x="394390" y="1777042"/>
                      <a:pt x="378575" y="2182483"/>
                    </a:cubicBezTo>
                    <a:cubicBezTo>
                      <a:pt x="362760" y="2587924"/>
                      <a:pt x="102530" y="3184585"/>
                      <a:pt x="42145" y="3407434"/>
                    </a:cubicBezTo>
                    <a:cubicBezTo>
                      <a:pt x="-18240" y="3630283"/>
                      <a:pt x="-987" y="3574930"/>
                      <a:pt x="16266" y="3519578"/>
                    </a:cubicBezTo>
                  </a:path>
                </a:pathLst>
              </a:custGeom>
              <a:no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 name="Freihandform 54"/>
              <p:cNvSpPr>
                <a:spLocks noChangeAspect="1"/>
              </p:cNvSpPr>
              <p:nvPr/>
            </p:nvSpPr>
            <p:spPr>
              <a:xfrm rot="8145585">
                <a:off x="3682046" y="4528392"/>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6" name="Ellipse 57"/>
              <p:cNvSpPr>
                <a:spLocks noChangeAspect="1"/>
              </p:cNvSpPr>
              <p:nvPr/>
            </p:nvSpPr>
            <p:spPr>
              <a:xfrm>
                <a:off x="4806020" y="4529448"/>
                <a:ext cx="270036" cy="276615"/>
              </a:xfrm>
              <a:prstGeom prst="ellipse">
                <a:avLst/>
              </a:pr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7" name="Ellipse 59"/>
              <p:cNvSpPr>
                <a:spLocks noChangeAspect="1"/>
              </p:cNvSpPr>
              <p:nvPr/>
            </p:nvSpPr>
            <p:spPr>
              <a:xfrm>
                <a:off x="5220072" y="4521781"/>
                <a:ext cx="270036" cy="276615"/>
              </a:xfrm>
              <a:prstGeom prst="ellipse">
                <a:avLst/>
              </a:prstGeom>
              <a:solidFill>
                <a:schemeClr val="accent2">
                  <a:lumMod val="75000"/>
                </a:schemeClr>
              </a:solidFill>
              <a:ln w="25400">
                <a:solidFill>
                  <a:schemeClr val="accent2">
                    <a:lumMod val="7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8" name="Freihandform 60"/>
              <p:cNvSpPr>
                <a:spLocks noChangeAspect="1"/>
              </p:cNvSpPr>
              <p:nvPr/>
            </p:nvSpPr>
            <p:spPr>
              <a:xfrm rot="20263449">
                <a:off x="2938631" y="4581836"/>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9" name="Freihandform 61"/>
              <p:cNvSpPr>
                <a:spLocks noChangeAspect="1"/>
              </p:cNvSpPr>
              <p:nvPr/>
            </p:nvSpPr>
            <p:spPr>
              <a:xfrm rot="20263449">
                <a:off x="3298671" y="4589618"/>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rgbClr val="92D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0" name="Textfeld 62"/>
              <p:cNvSpPr txBox="1"/>
              <p:nvPr/>
            </p:nvSpPr>
            <p:spPr>
              <a:xfrm>
                <a:off x="2699792" y="4351221"/>
                <a:ext cx="327334" cy="707886"/>
              </a:xfrm>
              <a:prstGeom prst="rect">
                <a:avLst/>
              </a:prstGeom>
              <a:noFill/>
            </p:spPr>
            <p:txBody>
              <a:bodyPr wrap="none" rtlCol="0">
                <a:spAutoFit/>
              </a:bodyPr>
              <a:lstStyle/>
              <a:p>
                <a:r>
                  <a:rPr lang="en-US" sz="4000" dirty="0"/>
                  <a:t>,</a:t>
                </a:r>
              </a:p>
            </p:txBody>
          </p:sp>
          <p:sp>
            <p:nvSpPr>
              <p:cNvPr id="61" name="Textfeld 64"/>
              <p:cNvSpPr txBox="1"/>
              <p:nvPr/>
            </p:nvSpPr>
            <p:spPr>
              <a:xfrm>
                <a:off x="3059832" y="4359368"/>
                <a:ext cx="344524" cy="707886"/>
              </a:xfrm>
              <a:prstGeom prst="rect">
                <a:avLst/>
              </a:prstGeom>
              <a:noFill/>
            </p:spPr>
            <p:txBody>
              <a:bodyPr wrap="square" rtlCol="0">
                <a:spAutoFit/>
              </a:bodyPr>
              <a:lstStyle/>
              <a:p>
                <a:r>
                  <a:rPr lang="en-US" sz="4000" dirty="0"/>
                  <a:t>,</a:t>
                </a:r>
              </a:p>
            </p:txBody>
          </p:sp>
          <p:sp>
            <p:nvSpPr>
              <p:cNvPr id="62" name="Textfeld 65"/>
              <p:cNvSpPr txBox="1"/>
              <p:nvPr/>
            </p:nvSpPr>
            <p:spPr>
              <a:xfrm>
                <a:off x="3347864" y="4351221"/>
                <a:ext cx="344524" cy="707886"/>
              </a:xfrm>
              <a:prstGeom prst="rect">
                <a:avLst/>
              </a:prstGeom>
              <a:noFill/>
            </p:spPr>
            <p:txBody>
              <a:bodyPr wrap="square" rtlCol="0">
                <a:spAutoFit/>
              </a:bodyPr>
              <a:lstStyle/>
              <a:p>
                <a:r>
                  <a:rPr lang="en-US" sz="4000" dirty="0"/>
                  <a:t>,</a:t>
                </a:r>
              </a:p>
            </p:txBody>
          </p:sp>
          <p:sp>
            <p:nvSpPr>
              <p:cNvPr id="63" name="Textfeld 66"/>
              <p:cNvSpPr txBox="1"/>
              <p:nvPr/>
            </p:nvSpPr>
            <p:spPr>
              <a:xfrm>
                <a:off x="3851920" y="4351221"/>
                <a:ext cx="344524" cy="707886"/>
              </a:xfrm>
              <a:prstGeom prst="rect">
                <a:avLst/>
              </a:prstGeom>
              <a:noFill/>
            </p:spPr>
            <p:txBody>
              <a:bodyPr wrap="square" rtlCol="0">
                <a:spAutoFit/>
              </a:bodyPr>
              <a:lstStyle/>
              <a:p>
                <a:r>
                  <a:rPr lang="en-US" sz="4000" dirty="0"/>
                  <a:t>,</a:t>
                </a:r>
              </a:p>
            </p:txBody>
          </p:sp>
          <p:sp>
            <p:nvSpPr>
              <p:cNvPr id="64" name="Textfeld 68"/>
              <p:cNvSpPr txBox="1"/>
              <p:nvPr/>
            </p:nvSpPr>
            <p:spPr>
              <a:xfrm>
                <a:off x="4499992" y="4351221"/>
                <a:ext cx="344524" cy="707886"/>
              </a:xfrm>
              <a:prstGeom prst="rect">
                <a:avLst/>
              </a:prstGeom>
              <a:noFill/>
            </p:spPr>
            <p:txBody>
              <a:bodyPr wrap="square" rtlCol="0">
                <a:spAutoFit/>
              </a:bodyPr>
              <a:lstStyle/>
              <a:p>
                <a:r>
                  <a:rPr lang="en-US" sz="4000" dirty="0"/>
                  <a:t>,</a:t>
                </a:r>
              </a:p>
            </p:txBody>
          </p:sp>
          <p:sp>
            <p:nvSpPr>
              <p:cNvPr id="65" name="Textfeld 69"/>
              <p:cNvSpPr txBox="1"/>
              <p:nvPr/>
            </p:nvSpPr>
            <p:spPr>
              <a:xfrm>
                <a:off x="4932040" y="4351221"/>
                <a:ext cx="344524" cy="707886"/>
              </a:xfrm>
              <a:prstGeom prst="rect">
                <a:avLst/>
              </a:prstGeom>
              <a:noFill/>
            </p:spPr>
            <p:txBody>
              <a:bodyPr wrap="square" rtlCol="0">
                <a:spAutoFit/>
              </a:bodyPr>
              <a:lstStyle/>
              <a:p>
                <a:r>
                  <a:rPr lang="en-US" sz="4000" dirty="0"/>
                  <a:t>,</a:t>
                </a:r>
              </a:p>
            </p:txBody>
          </p:sp>
          <p:sp>
            <p:nvSpPr>
              <p:cNvPr id="66" name="Textfeld 72"/>
              <p:cNvSpPr txBox="1"/>
              <p:nvPr/>
            </p:nvSpPr>
            <p:spPr>
              <a:xfrm>
                <a:off x="2200093" y="4210743"/>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67" name="Freihandform 74"/>
              <p:cNvSpPr>
                <a:spLocks noChangeAspect="1"/>
              </p:cNvSpPr>
              <p:nvPr/>
            </p:nvSpPr>
            <p:spPr>
              <a:xfrm rot="8145585">
                <a:off x="4114094" y="4513494"/>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8" name="Freihandform 75"/>
              <p:cNvSpPr>
                <a:spLocks noChangeAspect="1"/>
              </p:cNvSpPr>
              <p:nvPr/>
            </p:nvSpPr>
            <p:spPr>
              <a:xfrm rot="18870071">
                <a:off x="4324619" y="4645983"/>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53" name="Textfeld 88"/>
            <p:cNvSpPr txBox="1"/>
            <p:nvPr/>
          </p:nvSpPr>
          <p:spPr>
            <a:xfrm>
              <a:off x="4365854" y="5013176"/>
              <a:ext cx="412292" cy="584775"/>
            </a:xfrm>
            <a:prstGeom prst="rect">
              <a:avLst/>
            </a:prstGeom>
            <a:noFill/>
          </p:spPr>
          <p:txBody>
            <a:bodyPr wrap="none" rtlCol="0">
              <a:spAutoFit/>
            </a:bodyPr>
            <a:lstStyle/>
            <a:p>
              <a:r>
                <a:rPr lang="en-US" sz="3200" dirty="0">
                  <a:latin typeface="Cambria Math" panose="02040503050406030204" pitchFamily="18" charset="0"/>
                  <a:ea typeface="Cambria Math" panose="02040503050406030204" pitchFamily="18" charset="0"/>
                </a:rPr>
                <a:t>7</a:t>
              </a:r>
            </a:p>
          </p:txBody>
        </p:sp>
      </p:grpSp>
      <p:grpSp>
        <p:nvGrpSpPr>
          <p:cNvPr id="69" name="Gruppieren 92"/>
          <p:cNvGrpSpPr/>
          <p:nvPr/>
        </p:nvGrpSpPr>
        <p:grpSpPr>
          <a:xfrm>
            <a:off x="6817698" y="3438222"/>
            <a:ext cx="1121648" cy="1249387"/>
            <a:chOff x="5364088" y="4357484"/>
            <a:chExt cx="1121648" cy="1249387"/>
          </a:xfrm>
        </p:grpSpPr>
        <p:grpSp>
          <p:nvGrpSpPr>
            <p:cNvPr id="70" name="Gruppieren 84"/>
            <p:cNvGrpSpPr/>
            <p:nvPr/>
          </p:nvGrpSpPr>
          <p:grpSpPr>
            <a:xfrm>
              <a:off x="5364088" y="4357484"/>
              <a:ext cx="1121648" cy="713334"/>
              <a:chOff x="5364088" y="5349550"/>
              <a:chExt cx="1121648" cy="713334"/>
            </a:xfrm>
          </p:grpSpPr>
          <p:sp>
            <p:nvSpPr>
              <p:cNvPr id="74" name="Textfeld 78"/>
              <p:cNvSpPr txBox="1"/>
              <p:nvPr/>
            </p:nvSpPr>
            <p:spPr>
              <a:xfrm>
                <a:off x="5612818" y="5349550"/>
                <a:ext cx="327334" cy="707886"/>
              </a:xfrm>
              <a:prstGeom prst="rect">
                <a:avLst/>
              </a:prstGeom>
              <a:noFill/>
            </p:spPr>
            <p:txBody>
              <a:bodyPr wrap="none" rtlCol="0">
                <a:spAutoFit/>
              </a:bodyPr>
              <a:lstStyle/>
              <a:p>
                <a:r>
                  <a:rPr lang="en-US" sz="4000" dirty="0"/>
                  <a:t>,</a:t>
                </a:r>
              </a:p>
            </p:txBody>
          </p:sp>
          <p:sp>
            <p:nvSpPr>
              <p:cNvPr id="78" name="Textfeld 83"/>
              <p:cNvSpPr txBox="1"/>
              <p:nvPr/>
            </p:nvSpPr>
            <p:spPr>
              <a:xfrm>
                <a:off x="5364088" y="5354998"/>
                <a:ext cx="327334" cy="707886"/>
              </a:xfrm>
              <a:prstGeom prst="rect">
                <a:avLst/>
              </a:prstGeom>
              <a:noFill/>
            </p:spPr>
            <p:txBody>
              <a:bodyPr wrap="none" rtlCol="0">
                <a:spAutoFit/>
              </a:bodyPr>
              <a:lstStyle/>
              <a:p>
                <a:r>
                  <a:rPr lang="en-US" sz="4000" dirty="0"/>
                  <a:t>,</a:t>
                </a:r>
              </a:p>
            </p:txBody>
          </p:sp>
          <p:cxnSp>
            <p:nvCxnSpPr>
              <p:cNvPr id="73" name="Gerade Verbindung 77"/>
              <p:cNvCxnSpPr/>
              <p:nvPr/>
            </p:nvCxnSpPr>
            <p:spPr>
              <a:xfrm flipV="1">
                <a:off x="5634296" y="5414812"/>
                <a:ext cx="0" cy="595810"/>
              </a:xfrm>
              <a:prstGeom prst="line">
                <a:avLst/>
              </a:prstGeom>
              <a:ln w="25400">
                <a:solidFill>
                  <a:schemeClr val="accent3">
                    <a:lumMod val="50000"/>
                  </a:schemeClr>
                </a:solidFill>
              </a:ln>
              <a:effectLst/>
            </p:spPr>
            <p:style>
              <a:lnRef idx="2">
                <a:schemeClr val="accent1"/>
              </a:lnRef>
              <a:fillRef idx="0">
                <a:schemeClr val="accent1"/>
              </a:fillRef>
              <a:effectRef idx="1">
                <a:schemeClr val="accent1"/>
              </a:effectRef>
              <a:fontRef idx="minor">
                <a:schemeClr val="tx1"/>
              </a:fontRef>
            </p:style>
          </p:cxnSp>
          <p:sp>
            <p:nvSpPr>
              <p:cNvPr id="75" name="Freihandform 80"/>
              <p:cNvSpPr>
                <a:spLocks noChangeAspect="1"/>
              </p:cNvSpPr>
              <p:nvPr/>
            </p:nvSpPr>
            <p:spPr>
              <a:xfrm rot="18870071">
                <a:off x="5775369" y="5609225"/>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6" name="Textfeld 81"/>
              <p:cNvSpPr txBox="1"/>
              <p:nvPr/>
            </p:nvSpPr>
            <p:spPr>
              <a:xfrm>
                <a:off x="5972858" y="5349550"/>
                <a:ext cx="327334" cy="707886"/>
              </a:xfrm>
              <a:prstGeom prst="rect">
                <a:avLst/>
              </a:prstGeom>
              <a:noFill/>
            </p:spPr>
            <p:txBody>
              <a:bodyPr wrap="none" rtlCol="0">
                <a:spAutoFit/>
              </a:bodyPr>
              <a:lstStyle/>
              <a:p>
                <a:r>
                  <a:rPr lang="en-US" sz="4000" dirty="0"/>
                  <a:t>,</a:t>
                </a:r>
              </a:p>
            </p:txBody>
          </p:sp>
          <p:sp>
            <p:nvSpPr>
              <p:cNvPr id="77" name="Ellipse 82"/>
              <p:cNvSpPr>
                <a:spLocks noChangeAspect="1"/>
              </p:cNvSpPr>
              <p:nvPr/>
            </p:nvSpPr>
            <p:spPr>
              <a:xfrm>
                <a:off x="6215700" y="5524457"/>
                <a:ext cx="270036" cy="276615"/>
              </a:xfrm>
              <a:prstGeom prst="ellipse">
                <a:avLst/>
              </a:prstGeom>
              <a:solidFill>
                <a:srgbClr val="FFFF00"/>
              </a:solidFill>
              <a:ln w="25400">
                <a:solidFill>
                  <a:srgbClr val="FFFF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71" name="Textfeld 90"/>
            <p:cNvSpPr txBox="1"/>
            <p:nvPr/>
          </p:nvSpPr>
          <p:spPr>
            <a:xfrm>
              <a:off x="5875120" y="5018556"/>
              <a:ext cx="412292" cy="584775"/>
            </a:xfrm>
            <a:prstGeom prst="rect">
              <a:avLst/>
            </a:prstGeom>
            <a:noFill/>
          </p:spPr>
          <p:txBody>
            <a:bodyPr wrap="none" rtlCol="0">
              <a:spAutoFit/>
            </a:bodyPr>
            <a:lstStyle/>
            <a:p>
              <a:r>
                <a:rPr lang="en-US" sz="3200" dirty="0" smtClean="0">
                  <a:solidFill>
                    <a:srgbClr val="00AAE5"/>
                  </a:solidFill>
                  <a:latin typeface="Cambria Math" panose="02040503050406030204" pitchFamily="18" charset="0"/>
                  <a:ea typeface="Cambria Math" panose="02040503050406030204" pitchFamily="18" charset="0"/>
                </a:rPr>
                <a:t>3</a:t>
              </a:r>
              <a:endParaRPr lang="en-US" sz="3200" dirty="0">
                <a:solidFill>
                  <a:srgbClr val="00AAE5"/>
                </a:solidFill>
                <a:latin typeface="Cambria Math" panose="02040503050406030204" pitchFamily="18" charset="0"/>
                <a:ea typeface="Cambria Math" panose="02040503050406030204" pitchFamily="18" charset="0"/>
              </a:endParaRPr>
            </a:p>
          </p:txBody>
        </p:sp>
        <p:sp>
          <p:nvSpPr>
            <p:cNvPr id="72" name="Textfeld 91"/>
            <p:cNvSpPr txBox="1"/>
            <p:nvPr/>
          </p:nvSpPr>
          <p:spPr>
            <a:xfrm>
              <a:off x="5437830" y="5022096"/>
              <a:ext cx="490840" cy="584775"/>
            </a:xfrm>
            <a:prstGeom prst="rect">
              <a:avLst/>
            </a:prstGeom>
            <a:noFill/>
          </p:spPr>
          <p:txBody>
            <a:bodyPr wrap="none" rtlCol="0">
              <a:spAutoFit/>
            </a:bodyPr>
            <a:lstStyle/>
            <a:p>
              <a:r>
                <a:rPr lang="en-US" sz="3200" dirty="0">
                  <a:solidFill>
                    <a:srgbClr val="00AAE5"/>
                  </a:solidFill>
                  <a:latin typeface="Cambria Math" panose="02040503050406030204" pitchFamily="18" charset="0"/>
                  <a:ea typeface="Cambria Math" panose="02040503050406030204" pitchFamily="18" charset="0"/>
                </a:rPr>
                <a:t>+</a:t>
              </a:r>
            </a:p>
          </p:txBody>
        </p:sp>
      </p:grpSp>
      <p:grpSp>
        <p:nvGrpSpPr>
          <p:cNvPr id="91" name="Gruppieren 90"/>
          <p:cNvGrpSpPr/>
          <p:nvPr/>
        </p:nvGrpSpPr>
        <p:grpSpPr>
          <a:xfrm>
            <a:off x="103467" y="795148"/>
            <a:ext cx="2802187" cy="5142058"/>
            <a:chOff x="103467" y="836712"/>
            <a:chExt cx="2802187" cy="5142058"/>
          </a:xfrm>
        </p:grpSpPr>
        <p:grpSp>
          <p:nvGrpSpPr>
            <p:cNvPr id="90" name="Gruppieren 89"/>
            <p:cNvGrpSpPr/>
            <p:nvPr/>
          </p:nvGrpSpPr>
          <p:grpSpPr>
            <a:xfrm>
              <a:off x="103467" y="1548101"/>
              <a:ext cx="2755425" cy="4430669"/>
              <a:chOff x="103467" y="1548101"/>
              <a:chExt cx="2755425" cy="4430669"/>
            </a:xfrm>
          </p:grpSpPr>
          <p:sp>
            <p:nvSpPr>
              <p:cNvPr id="6" name="Freihandform 5"/>
              <p:cNvSpPr/>
              <p:nvPr/>
            </p:nvSpPr>
            <p:spPr>
              <a:xfrm>
                <a:off x="1180606" y="2409812"/>
                <a:ext cx="559730" cy="3568958"/>
              </a:xfrm>
              <a:custGeom>
                <a:avLst/>
                <a:gdLst>
                  <a:gd name="connsiteX0" fmla="*/ 559730 w 559730"/>
                  <a:gd name="connsiteY0" fmla="*/ 0 h 3568958"/>
                  <a:gd name="connsiteX1" fmla="*/ 137036 w 559730"/>
                  <a:gd name="connsiteY1" fmla="*/ 974785 h 3568958"/>
                  <a:gd name="connsiteX2" fmla="*/ 378575 w 559730"/>
                  <a:gd name="connsiteY2" fmla="*/ 2182483 h 3568958"/>
                  <a:gd name="connsiteX3" fmla="*/ 42145 w 559730"/>
                  <a:gd name="connsiteY3" fmla="*/ 3407434 h 3568958"/>
                  <a:gd name="connsiteX4" fmla="*/ 16266 w 559730"/>
                  <a:gd name="connsiteY4" fmla="*/ 3519578 h 3568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30" h="3568958">
                    <a:moveTo>
                      <a:pt x="559730" y="0"/>
                    </a:moveTo>
                    <a:cubicBezTo>
                      <a:pt x="363479" y="305519"/>
                      <a:pt x="167228" y="611038"/>
                      <a:pt x="137036" y="974785"/>
                    </a:cubicBezTo>
                    <a:cubicBezTo>
                      <a:pt x="106844" y="1338532"/>
                      <a:pt x="394390" y="1777042"/>
                      <a:pt x="378575" y="2182483"/>
                    </a:cubicBezTo>
                    <a:cubicBezTo>
                      <a:pt x="362760" y="2587924"/>
                      <a:pt x="102530" y="3184585"/>
                      <a:pt x="42145" y="3407434"/>
                    </a:cubicBezTo>
                    <a:cubicBezTo>
                      <a:pt x="-18240" y="3630283"/>
                      <a:pt x="-987" y="3574930"/>
                      <a:pt x="16266" y="3519578"/>
                    </a:cubicBezTo>
                  </a:path>
                </a:pathLst>
              </a:custGeom>
              <a:noFill/>
              <a:ln w="381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Freihandform 6"/>
              <p:cNvSpPr/>
              <p:nvPr/>
            </p:nvSpPr>
            <p:spPr>
              <a:xfrm>
                <a:off x="1547603" y="3501605"/>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8" name="Ellipse 7"/>
              <p:cNvSpPr/>
              <p:nvPr/>
            </p:nvSpPr>
            <p:spPr>
              <a:xfrm>
                <a:off x="1648566" y="2055777"/>
                <a:ext cx="360048" cy="368820"/>
              </a:xfrm>
              <a:prstGeom prst="ellipse">
                <a:avLst/>
              </a:prstGeom>
              <a:solidFill>
                <a:schemeClr val="accent2">
                  <a:lumMod val="75000"/>
                </a:schemeClr>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 name="Freihandform 8"/>
              <p:cNvSpPr/>
              <p:nvPr/>
            </p:nvSpPr>
            <p:spPr>
              <a:xfrm>
                <a:off x="1991205" y="1773525"/>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0" name="Freihandform 9"/>
              <p:cNvSpPr/>
              <p:nvPr/>
            </p:nvSpPr>
            <p:spPr>
              <a:xfrm rot="2622685">
                <a:off x="2070452" y="2141013"/>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1" name="Freihandform 10"/>
              <p:cNvSpPr/>
              <p:nvPr/>
            </p:nvSpPr>
            <p:spPr>
              <a:xfrm rot="5241473">
                <a:off x="1873743" y="2445811"/>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Freihandform 11"/>
              <p:cNvSpPr/>
              <p:nvPr/>
            </p:nvSpPr>
            <p:spPr>
              <a:xfrm rot="8145585">
                <a:off x="1502189" y="2546182"/>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 name="Freihandform 12"/>
              <p:cNvSpPr/>
              <p:nvPr/>
            </p:nvSpPr>
            <p:spPr>
              <a:xfrm rot="10800000">
                <a:off x="1200446" y="2316256"/>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4" name="Freihandform 13"/>
              <p:cNvSpPr/>
              <p:nvPr/>
            </p:nvSpPr>
            <p:spPr>
              <a:xfrm rot="13507015">
                <a:off x="1139476" y="1959359"/>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5" name="Freihandform 14"/>
              <p:cNvSpPr/>
              <p:nvPr/>
            </p:nvSpPr>
            <p:spPr>
              <a:xfrm rot="15876019">
                <a:off x="1324119" y="1660225"/>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6" name="Freihandform 15"/>
              <p:cNvSpPr/>
              <p:nvPr/>
            </p:nvSpPr>
            <p:spPr>
              <a:xfrm rot="18566894">
                <a:off x="1695080" y="1602476"/>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7" name="Freihandform 16"/>
              <p:cNvSpPr/>
              <p:nvPr/>
            </p:nvSpPr>
            <p:spPr>
              <a:xfrm flipH="1">
                <a:off x="103467" y="3498697"/>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79" name="Textfeld 93"/>
            <p:cNvSpPr txBox="1"/>
            <p:nvPr/>
          </p:nvSpPr>
          <p:spPr>
            <a:xfrm>
              <a:off x="928831" y="836712"/>
              <a:ext cx="1976823" cy="584775"/>
            </a:xfrm>
            <a:prstGeom prst="rect">
              <a:avLst/>
            </a:prstGeom>
            <a:noFill/>
          </p:spPr>
          <p:txBody>
            <a:bodyPr wrap="none" rtlCol="0">
              <a:spAutoFit/>
            </a:bodyPr>
            <a:lstStyle/>
            <a:p>
              <a:r>
                <a:rPr lang="en-US" sz="3200" dirty="0" smtClean="0">
                  <a:latin typeface="Harrington" panose="04040505050A02020702" pitchFamily="82" charset="0"/>
                </a:rPr>
                <a:t>S</a:t>
              </a:r>
              <a:r>
                <a:rPr lang="en-US" dirty="0" smtClean="0">
                  <a:latin typeface="Harrington" panose="04040505050A02020702" pitchFamily="82" charset="0"/>
                </a:rPr>
                <a:t>earched Flower</a:t>
              </a:r>
              <a:endParaRPr lang="en-US" dirty="0">
                <a:latin typeface="Harrington" panose="04040505050A02020702" pitchFamily="82" charset="0"/>
              </a:endParaRPr>
            </a:p>
          </p:txBody>
        </p:sp>
      </p:grpSp>
      <p:grpSp>
        <p:nvGrpSpPr>
          <p:cNvPr id="89" name="Gruppieren 88"/>
          <p:cNvGrpSpPr/>
          <p:nvPr/>
        </p:nvGrpSpPr>
        <p:grpSpPr>
          <a:xfrm>
            <a:off x="9298490" y="795148"/>
            <a:ext cx="2758298" cy="5312299"/>
            <a:chOff x="6242561" y="836712"/>
            <a:chExt cx="2758298" cy="5312299"/>
          </a:xfrm>
        </p:grpSpPr>
        <p:cxnSp>
          <p:nvCxnSpPr>
            <p:cNvPr id="18" name="Gerade Verbindung 17"/>
            <p:cNvCxnSpPr/>
            <p:nvPr/>
          </p:nvCxnSpPr>
          <p:spPr>
            <a:xfrm flipV="1">
              <a:off x="7622902" y="2908579"/>
              <a:ext cx="0" cy="3240432"/>
            </a:xfrm>
            <a:prstGeom prst="line">
              <a:avLst/>
            </a:prstGeom>
            <a:ln w="38100">
              <a:solidFill>
                <a:schemeClr val="accent3">
                  <a:lumMod val="50000"/>
                </a:schemeClr>
              </a:solidFill>
            </a:ln>
            <a:effectLst/>
          </p:spPr>
          <p:style>
            <a:lnRef idx="2">
              <a:schemeClr val="accent1"/>
            </a:lnRef>
            <a:fillRef idx="0">
              <a:schemeClr val="accent1"/>
            </a:fillRef>
            <a:effectRef idx="1">
              <a:schemeClr val="accent1"/>
            </a:effectRef>
            <a:fontRef idx="minor">
              <a:schemeClr val="tx1"/>
            </a:fontRef>
          </p:style>
        </p:cxnSp>
        <p:sp>
          <p:nvSpPr>
            <p:cNvPr id="19" name="Freihandform 18"/>
            <p:cNvSpPr/>
            <p:nvPr/>
          </p:nvSpPr>
          <p:spPr>
            <a:xfrm>
              <a:off x="7689570" y="3431789"/>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0" name="Freihandform 19"/>
            <p:cNvSpPr/>
            <p:nvPr/>
          </p:nvSpPr>
          <p:spPr>
            <a:xfrm flipH="1">
              <a:off x="6242561" y="3481126"/>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1" name="Ellipse 20"/>
            <p:cNvSpPr/>
            <p:nvPr/>
          </p:nvSpPr>
          <p:spPr>
            <a:xfrm>
              <a:off x="7442878" y="2035854"/>
              <a:ext cx="360048" cy="368820"/>
            </a:xfrm>
            <a:prstGeom prst="ellipse">
              <a:avLst/>
            </a:prstGeom>
            <a:solidFill>
              <a:srgbClr val="FFFF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 name="Freihandform 21"/>
            <p:cNvSpPr/>
            <p:nvPr/>
          </p:nvSpPr>
          <p:spPr>
            <a:xfrm rot="16396094">
              <a:off x="7334901" y="169327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3" name="Freihandform 22"/>
            <p:cNvSpPr/>
            <p:nvPr/>
          </p:nvSpPr>
          <p:spPr>
            <a:xfrm rot="18979439">
              <a:off x="7662076" y="1815237"/>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4" name="Freihandform 23"/>
            <p:cNvSpPr/>
            <p:nvPr/>
          </p:nvSpPr>
          <p:spPr>
            <a:xfrm rot="187853">
              <a:off x="7805445" y="2157570"/>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5" name="Freihandform 24"/>
            <p:cNvSpPr/>
            <p:nvPr/>
          </p:nvSpPr>
          <p:spPr>
            <a:xfrm rot="2819589">
              <a:off x="6982146" y="185696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Freihandform 25"/>
            <p:cNvSpPr/>
            <p:nvPr/>
          </p:nvSpPr>
          <p:spPr>
            <a:xfrm rot="13873710">
              <a:off x="7672775" y="251625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7" name="Freihandform 26"/>
            <p:cNvSpPr/>
            <p:nvPr/>
          </p:nvSpPr>
          <p:spPr>
            <a:xfrm rot="16200000">
              <a:off x="7351233" y="263867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8" name="Freihandform 27"/>
            <p:cNvSpPr/>
            <p:nvPr/>
          </p:nvSpPr>
          <p:spPr>
            <a:xfrm rot="18870071">
              <a:off x="7034495" y="2531518"/>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9" name="Freihandform 28"/>
            <p:cNvSpPr/>
            <p:nvPr/>
          </p:nvSpPr>
          <p:spPr>
            <a:xfrm rot="257962">
              <a:off x="6863640" y="220056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0" name="Freihandform 29"/>
            <p:cNvSpPr/>
            <p:nvPr/>
          </p:nvSpPr>
          <p:spPr>
            <a:xfrm rot="15322861">
              <a:off x="7153802" y="172823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1" name="Freihandform 30"/>
            <p:cNvSpPr/>
            <p:nvPr/>
          </p:nvSpPr>
          <p:spPr>
            <a:xfrm rot="17961483">
              <a:off x="7530300" y="1716858"/>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2" name="Freihandform 31"/>
            <p:cNvSpPr/>
            <p:nvPr/>
          </p:nvSpPr>
          <p:spPr>
            <a:xfrm rot="20664501">
              <a:off x="7797290" y="1992309"/>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3" name="Freihandform 32"/>
            <p:cNvSpPr/>
            <p:nvPr/>
          </p:nvSpPr>
          <p:spPr>
            <a:xfrm rot="12531587">
              <a:off x="7783669" y="235993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4" name="Freihandform 33"/>
            <p:cNvSpPr/>
            <p:nvPr/>
          </p:nvSpPr>
          <p:spPr>
            <a:xfrm rot="15210602">
              <a:off x="7521674" y="262413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5" name="Freihandform 34"/>
            <p:cNvSpPr/>
            <p:nvPr/>
          </p:nvSpPr>
          <p:spPr>
            <a:xfrm rot="17690868">
              <a:off x="7174804" y="2611295"/>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6" name="Freihandform 35"/>
            <p:cNvSpPr/>
            <p:nvPr/>
          </p:nvSpPr>
          <p:spPr>
            <a:xfrm rot="20377825">
              <a:off x="6909223" y="239536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7" name="Freihandform 36"/>
            <p:cNvSpPr/>
            <p:nvPr/>
          </p:nvSpPr>
          <p:spPr>
            <a:xfrm rot="1444810">
              <a:off x="6879817" y="2023906"/>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80" name="Gruppieren 96"/>
            <p:cNvGrpSpPr/>
            <p:nvPr/>
          </p:nvGrpSpPr>
          <p:grpSpPr>
            <a:xfrm>
              <a:off x="6803784" y="836712"/>
              <a:ext cx="1590370" cy="584775"/>
              <a:chOff x="6774545" y="1196752"/>
              <a:chExt cx="1590370" cy="584775"/>
            </a:xfrm>
          </p:grpSpPr>
          <p:sp>
            <p:nvSpPr>
              <p:cNvPr id="81" name="Textfeld 94"/>
              <p:cNvSpPr txBox="1"/>
              <p:nvPr/>
            </p:nvSpPr>
            <p:spPr>
              <a:xfrm>
                <a:off x="6774545" y="1196752"/>
                <a:ext cx="426720" cy="584775"/>
              </a:xfrm>
              <a:prstGeom prst="rect">
                <a:avLst/>
              </a:prstGeom>
              <a:noFill/>
            </p:spPr>
            <p:txBody>
              <a:bodyPr wrap="none" rtlCol="0">
                <a:spAutoFit/>
              </a:bodyPr>
              <a:lstStyle/>
              <a:p>
                <a:r>
                  <a:rPr lang="en-US" sz="3200" dirty="0" smtClean="0">
                    <a:latin typeface="Harrington" panose="04040505050A02020702" pitchFamily="82" charset="0"/>
                  </a:rPr>
                  <a:t>F</a:t>
                </a:r>
                <a:endParaRPr lang="en-US" dirty="0">
                  <a:latin typeface="Harrington" panose="04040505050A02020702" pitchFamily="82" charset="0"/>
                </a:endParaRPr>
              </a:p>
            </p:txBody>
          </p:sp>
          <p:sp>
            <p:nvSpPr>
              <p:cNvPr id="82" name="Textfeld 95"/>
              <p:cNvSpPr txBox="1"/>
              <p:nvPr/>
            </p:nvSpPr>
            <p:spPr>
              <a:xfrm>
                <a:off x="6915479" y="1352329"/>
                <a:ext cx="1449436" cy="369332"/>
              </a:xfrm>
              <a:prstGeom prst="rect">
                <a:avLst/>
              </a:prstGeom>
              <a:noFill/>
            </p:spPr>
            <p:txBody>
              <a:bodyPr wrap="none" rtlCol="0">
                <a:spAutoFit/>
              </a:bodyPr>
              <a:lstStyle/>
              <a:p>
                <a:r>
                  <a:rPr lang="en-US" dirty="0" err="1" smtClean="0">
                    <a:latin typeface="Harrington" panose="04040505050A02020702" pitchFamily="82" charset="0"/>
                  </a:rPr>
                  <a:t>ound</a:t>
                </a:r>
                <a:r>
                  <a:rPr lang="en-US" dirty="0" smtClean="0">
                    <a:latin typeface="Harrington" panose="04040505050A02020702" pitchFamily="82" charset="0"/>
                  </a:rPr>
                  <a:t> Flower</a:t>
                </a:r>
                <a:endParaRPr lang="en-US" dirty="0">
                  <a:latin typeface="Harrington" panose="04040505050A02020702" pitchFamily="82" charset="0"/>
                </a:endParaRPr>
              </a:p>
            </p:txBody>
          </p:sp>
        </p:grpSp>
      </p:grpSp>
      <mc:AlternateContent xmlns:mc="http://schemas.openxmlformats.org/markup-compatibility/2006" xmlns:a14="http://schemas.microsoft.com/office/drawing/2010/main">
        <mc:Choice Requires="a14">
          <p:sp>
            <p:nvSpPr>
              <p:cNvPr id="83" name="Rechteck 1"/>
              <p:cNvSpPr/>
              <p:nvPr/>
            </p:nvSpPr>
            <p:spPr>
              <a:xfrm>
                <a:off x="6236635" y="1702858"/>
                <a:ext cx="64011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latin typeface="Cambria Math"/>
                        </a:rPr>
                        <m:t>|</m:t>
                      </m:r>
                      <m:d>
                        <m:dPr>
                          <m:begChr m:val="{"/>
                          <m:endChr m:val=""/>
                          <m:ctrlPr>
                            <a:rPr lang="de-DE" sz="2400" i="1" smtClean="0">
                              <a:latin typeface="Cambria Math" panose="02040503050406030204" pitchFamily="18" charset="0"/>
                            </a:rPr>
                          </m:ctrlPr>
                        </m:dPr>
                        <m:e>
                          <m:r>
                            <a:rPr lang="de-DE" sz="2400" b="0" i="1" smtClean="0">
                              <a:latin typeface="Cambria Math"/>
                            </a:rPr>
                            <m:t>𝑆</m:t>
                          </m:r>
                        </m:e>
                      </m:d>
                    </m:oMath>
                  </m:oMathPara>
                </a14:m>
                <a:endParaRPr lang="en-US" dirty="0"/>
              </a:p>
            </p:txBody>
          </p:sp>
        </mc:Choice>
        <mc:Fallback xmlns="">
          <p:sp>
            <p:nvSpPr>
              <p:cNvPr id="83" name="Rechteck 1"/>
              <p:cNvSpPr>
                <a:spLocks noRot="1" noChangeAspect="1" noMove="1" noResize="1" noEditPoints="1" noAdjustHandles="1" noChangeArrowheads="1" noChangeShapeType="1" noTextEdit="1"/>
              </p:cNvSpPr>
              <p:nvPr/>
            </p:nvSpPr>
            <p:spPr>
              <a:xfrm>
                <a:off x="6236635" y="1702858"/>
                <a:ext cx="640111" cy="461665"/>
              </a:xfrm>
              <a:prstGeom prst="rect">
                <a:avLst/>
              </a:prstGeom>
              <a:blipFill rotWithShape="0">
                <a:blip r:embed="rId3"/>
                <a:stretch>
                  <a:fillRect l="-52381" t="-130263" r="-88571" b="-1947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feld 3"/>
              <p:cNvSpPr txBox="1"/>
              <p:nvPr/>
            </p:nvSpPr>
            <p:spPr>
              <a:xfrm>
                <a:off x="6608652" y="1688751"/>
                <a:ext cx="470000"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a:rPr>
                        <m:t>}|</m:t>
                      </m:r>
                    </m:oMath>
                  </m:oMathPara>
                </a14:m>
                <a:endParaRPr lang="en-US" sz="2400" dirty="0"/>
              </a:p>
            </p:txBody>
          </p:sp>
        </mc:Choice>
        <mc:Fallback xmlns="">
          <p:sp>
            <p:nvSpPr>
              <p:cNvPr id="84" name="Textfeld 3"/>
              <p:cNvSpPr txBox="1">
                <a:spLocks noRot="1" noChangeAspect="1" noMove="1" noResize="1" noEditPoints="1" noAdjustHandles="1" noChangeArrowheads="1" noChangeShapeType="1" noTextEdit="1"/>
              </p:cNvSpPr>
              <p:nvPr/>
            </p:nvSpPr>
            <p:spPr>
              <a:xfrm>
                <a:off x="6608652" y="1688751"/>
                <a:ext cx="470000" cy="461665"/>
              </a:xfrm>
              <a:prstGeom prst="rect">
                <a:avLst/>
              </a:prstGeom>
              <a:blipFill rotWithShape="0">
                <a:blip r:embed="rId4"/>
                <a:stretch>
                  <a:fillRect l="-2597" r="-3896"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Rechteck 38"/>
              <p:cNvSpPr/>
              <p:nvPr/>
            </p:nvSpPr>
            <p:spPr>
              <a:xfrm>
                <a:off x="6407689" y="1703040"/>
                <a:ext cx="73161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solidFill>
                            <a:srgbClr val="00AAE5"/>
                          </a:solidFill>
                          <a:latin typeface="Cambria Math"/>
                          <a:ea typeface="Cambria Math"/>
                        </a:rPr>
                        <m:t>∪</m:t>
                      </m:r>
                      <m:r>
                        <a:rPr lang="de-DE" sz="2400" i="1" smtClean="0">
                          <a:solidFill>
                            <a:srgbClr val="00AAE5"/>
                          </a:solidFill>
                          <a:latin typeface="Cambria Math"/>
                          <a:ea typeface="Cambria Math"/>
                        </a:rPr>
                        <m:t>𝐹</m:t>
                      </m:r>
                    </m:oMath>
                  </m:oMathPara>
                </a14:m>
                <a:endParaRPr lang="en-US" sz="2400" dirty="0">
                  <a:solidFill>
                    <a:srgbClr val="00AAE5"/>
                  </a:solidFill>
                </a:endParaRPr>
              </a:p>
            </p:txBody>
          </p:sp>
        </mc:Choice>
        <mc:Fallback xmlns="">
          <p:sp>
            <p:nvSpPr>
              <p:cNvPr id="85" name="Rechteck 38"/>
              <p:cNvSpPr>
                <a:spLocks noRot="1" noChangeAspect="1" noMove="1" noResize="1" noEditPoints="1" noAdjustHandles="1" noChangeArrowheads="1" noChangeShapeType="1" noTextEdit="1"/>
              </p:cNvSpPr>
              <p:nvPr/>
            </p:nvSpPr>
            <p:spPr>
              <a:xfrm>
                <a:off x="6407689" y="1703040"/>
                <a:ext cx="731611" cy="461665"/>
              </a:xfrm>
              <a:prstGeom prst="rect">
                <a:avLst/>
              </a:prstGeom>
              <a:blipFill rotWithShape="0">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Rechteck 39"/>
              <p:cNvSpPr/>
              <p:nvPr/>
            </p:nvSpPr>
            <p:spPr>
              <a:xfrm>
                <a:off x="4726397" y="1491160"/>
                <a:ext cx="376642"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b="0" i="1" smtClean="0">
                          <a:solidFill>
                            <a:srgbClr val="00AAE5"/>
                          </a:solidFill>
                          <a:latin typeface="Cambria Math"/>
                        </a:rPr>
                        <m:t>𝐽</m:t>
                      </m:r>
                    </m:oMath>
                  </m:oMathPara>
                </a14:m>
                <a:endParaRPr lang="en-US" sz="2400" dirty="0">
                  <a:solidFill>
                    <a:srgbClr val="00AAE5"/>
                  </a:solidFill>
                </a:endParaRPr>
              </a:p>
            </p:txBody>
          </p:sp>
        </mc:Choice>
        <mc:Fallback xmlns="">
          <p:sp>
            <p:nvSpPr>
              <p:cNvPr id="86" name="Rechteck 39"/>
              <p:cNvSpPr>
                <a:spLocks noRot="1" noChangeAspect="1" noMove="1" noResize="1" noEditPoints="1" noAdjustHandles="1" noChangeArrowheads="1" noChangeShapeType="1" noTextEdit="1"/>
              </p:cNvSpPr>
              <p:nvPr/>
            </p:nvSpPr>
            <p:spPr>
              <a:xfrm>
                <a:off x="4726397" y="1491160"/>
                <a:ext cx="376642" cy="461665"/>
              </a:xfrm>
              <a:prstGeom prst="rect">
                <a:avLst/>
              </a:prstGeom>
              <a:blipFill rotWithShape="0">
                <a:blip r:embed="rId6"/>
                <a:stretch>
                  <a:fillRect l="-161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Rechteck 50"/>
              <p:cNvSpPr/>
              <p:nvPr/>
            </p:nvSpPr>
            <p:spPr>
              <a:xfrm>
                <a:off x="4725929" y="1490493"/>
                <a:ext cx="38036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latin typeface="Cambria Math"/>
                        </a:rPr>
                        <m:t>𝐼</m:t>
                      </m:r>
                    </m:oMath>
                  </m:oMathPara>
                </a14:m>
                <a:endParaRPr lang="en-US" sz="2400" dirty="0"/>
              </a:p>
            </p:txBody>
          </p:sp>
        </mc:Choice>
        <mc:Fallback xmlns="">
          <p:sp>
            <p:nvSpPr>
              <p:cNvPr id="87" name="Rechteck 50"/>
              <p:cNvSpPr>
                <a:spLocks noRot="1" noChangeAspect="1" noMove="1" noResize="1" noEditPoints="1" noAdjustHandles="1" noChangeArrowheads="1" noChangeShapeType="1" noTextEdit="1"/>
              </p:cNvSpPr>
              <p:nvPr/>
            </p:nvSpPr>
            <p:spPr>
              <a:xfrm>
                <a:off x="4725929" y="1490493"/>
                <a:ext cx="380361" cy="461665"/>
              </a:xfrm>
              <a:prstGeom prst="rect">
                <a:avLst/>
              </a:prstGeom>
              <a:blipFill rotWithShape="0">
                <a:blip r:embed="rId7"/>
                <a:stretch>
                  <a:fillRect/>
                </a:stretch>
              </a:blipFill>
            </p:spPr>
            <p:txBody>
              <a:bodyPr/>
              <a:lstStyle/>
              <a:p>
                <a:r>
                  <a:rPr lang="en-US">
                    <a:noFill/>
                  </a:rPr>
                  <a:t> </a:t>
                </a:r>
              </a:p>
            </p:txBody>
          </p:sp>
        </mc:Fallback>
      </mc:AlternateContent>
      <p:sp>
        <p:nvSpPr>
          <p:cNvPr id="88" name="TextBox 86"/>
          <p:cNvSpPr txBox="1"/>
          <p:nvPr/>
        </p:nvSpPr>
        <p:spPr>
          <a:xfrm>
            <a:off x="6852917" y="4535093"/>
            <a:ext cx="1066702" cy="369332"/>
          </a:xfrm>
          <a:prstGeom prst="rect">
            <a:avLst/>
          </a:prstGeom>
          <a:noFill/>
        </p:spPr>
        <p:txBody>
          <a:bodyPr wrap="none" rtlCol="0">
            <a:spAutoFit/>
          </a:bodyPr>
          <a:lstStyle/>
          <a:p>
            <a:r>
              <a:rPr lang="en-US" dirty="0" smtClean="0">
                <a:solidFill>
                  <a:srgbClr val="00AAE5"/>
                </a:solidFill>
                <a:latin typeface="Cambria Math" panose="02040503050406030204" pitchFamily="18" charset="0"/>
                <a:ea typeface="Cambria Math" panose="02040503050406030204" pitchFamily="18" charset="0"/>
              </a:rPr>
              <a:t>feedback</a:t>
            </a:r>
            <a:endParaRPr lang="en-US" dirty="0">
              <a:solidFill>
                <a:srgbClr val="00AAE5"/>
              </a:solidFill>
              <a:latin typeface="Cambria Math" panose="02040503050406030204" pitchFamily="18" charset="0"/>
              <a:ea typeface="Cambria Math" panose="02040503050406030204" pitchFamily="18" charset="0"/>
            </a:endParaRPr>
          </a:p>
        </p:txBody>
      </p:sp>
      <p:sp>
        <p:nvSpPr>
          <p:cNvPr id="92" name="Textfeld 49"/>
          <p:cNvSpPr txBox="1"/>
          <p:nvPr/>
        </p:nvSpPr>
        <p:spPr>
          <a:xfrm>
            <a:off x="7002772" y="2690406"/>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mc:AlternateContent xmlns:mc="http://schemas.openxmlformats.org/markup-compatibility/2006" xmlns:a14="http://schemas.microsoft.com/office/drawing/2010/main">
        <mc:Choice Requires="a14">
          <p:sp>
            <p:nvSpPr>
              <p:cNvPr id="94" name="Textfeld 85"/>
              <p:cNvSpPr txBox="1"/>
              <p:nvPr/>
            </p:nvSpPr>
            <p:spPr>
              <a:xfrm>
                <a:off x="3527316" y="5092869"/>
                <a:ext cx="5137367" cy="48756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𝐼</m:t>
                          </m:r>
                        </m:e>
                        <m:sub>
                          <m:r>
                            <a:rPr lang="de-DE" sz="2400" b="0" i="1" smtClean="0">
                              <a:solidFill>
                                <a:srgbClr val="00B0F0"/>
                              </a:solidFill>
                              <a:latin typeface="Cambria Math" panose="02040503050406030204" pitchFamily="18" charset="0"/>
                            </a:rPr>
                            <m:t>𝐽</m:t>
                          </m:r>
                        </m:sub>
                      </m:sSub>
                      <m:d>
                        <m:dPr>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rPr>
                            <m:t>,</m:t>
                          </m:r>
                          <m:r>
                            <a:rPr lang="de-DE" sz="2400" b="0" i="1" smtClean="0">
                              <a:latin typeface="Cambria Math"/>
                            </a:rPr>
                            <m:t>𝐹</m:t>
                          </m:r>
                          <m:r>
                            <a:rPr lang="de-DE" sz="2400" b="0" i="1" smtClean="0">
                              <a:latin typeface="Cambria Math" panose="02040503050406030204" pitchFamily="18" charset="0"/>
                            </a:rPr>
                            <m:t>,</m:t>
                          </m:r>
                          <m:r>
                            <a:rPr lang="de-DE" sz="2400" b="0" i="1" smtClean="0">
                              <a:solidFill>
                                <a:srgbClr val="00B0F0"/>
                              </a:solidFill>
                              <a:latin typeface="Cambria Math" panose="02040503050406030204" pitchFamily="18" charset="0"/>
                            </a:rPr>
                            <m:t>𝑓</m:t>
                          </m:r>
                        </m:e>
                      </m:d>
                      <m:r>
                        <a:rPr lang="de-DE" sz="2400" b="0" i="1" smtClean="0">
                          <a:latin typeface="Cambria Math"/>
                        </a:rPr>
                        <m:t>=</m:t>
                      </m:r>
                      <m:r>
                        <a:rPr lang="de-DE" sz="2400" b="0" i="1" smtClean="0">
                          <a:latin typeface="Cambria Math" panose="02040503050406030204" pitchFamily="18" charset="0"/>
                        </a:rPr>
                        <m:t>𝐼</m:t>
                      </m:r>
                      <m:d>
                        <m:dPr>
                          <m:ctrlPr>
                            <a:rPr lang="de-DE" sz="2400" b="0" i="1" smtClean="0">
                              <a:latin typeface="Cambria Math" panose="02040503050406030204" pitchFamily="18" charset="0"/>
                            </a:rPr>
                          </m:ctrlPr>
                        </m:dPr>
                        <m:e>
                          <m:r>
                            <a:rPr lang="de-DE" sz="2400" b="0" i="1" smtClean="0">
                              <a:latin typeface="Cambria Math" panose="02040503050406030204" pitchFamily="18" charset="0"/>
                            </a:rPr>
                            <m:t>𝑆</m:t>
                          </m:r>
                          <m:r>
                            <a:rPr lang="de-DE" sz="2400" b="0" i="1" smtClean="0">
                              <a:latin typeface="Cambria Math" panose="02040503050406030204" pitchFamily="18" charset="0"/>
                            </a:rPr>
                            <m:t>,</m:t>
                          </m:r>
                          <m:r>
                            <a:rPr lang="de-DE" sz="2400" b="0" i="1" smtClean="0">
                              <a:latin typeface="Cambria Math" panose="02040503050406030204" pitchFamily="18" charset="0"/>
                            </a:rPr>
                            <m:t>𝐹</m:t>
                          </m:r>
                        </m:e>
                      </m:d>
                      <m:d>
                        <m:dPr>
                          <m:ctrlPr>
                            <a:rPr lang="de-DE" sz="2400" i="1">
                              <a:latin typeface="Cambria Math" panose="02040503050406030204" pitchFamily="18" charset="0"/>
                            </a:rPr>
                          </m:ctrlPr>
                        </m:dPr>
                        <m:e>
                          <m:r>
                            <a:rPr lang="de-DE" sz="2400" i="1">
                              <a:latin typeface="Cambria Math" panose="02040503050406030204" pitchFamily="18" charset="0"/>
                            </a:rPr>
                            <m:t>1−</m:t>
                          </m:r>
                          <m:r>
                            <a:rPr lang="de-DE" sz="2400" i="1" smtClean="0">
                              <a:solidFill>
                                <a:srgbClr val="00B0F0"/>
                              </a:solidFill>
                              <a:latin typeface="Cambria Math" panose="02040503050406030204" pitchFamily="18" charset="0"/>
                            </a:rPr>
                            <m:t>𝑓</m:t>
                          </m:r>
                        </m:e>
                      </m:d>
                      <m:r>
                        <a:rPr lang="de-DE" sz="2400" b="0" i="1" smtClean="0">
                          <a:latin typeface="Cambria Math" panose="02040503050406030204" pitchFamily="18" charset="0"/>
                        </a:rPr>
                        <m:t>+</m:t>
                      </m:r>
                      <m:r>
                        <a:rPr lang="de-DE" sz="2400" b="0" i="1" smtClean="0">
                          <a:latin typeface="Cambria Math" panose="02040503050406030204" pitchFamily="18" charset="0"/>
                        </a:rPr>
                        <m:t>𝐽</m:t>
                      </m:r>
                      <m:d>
                        <m:dPr>
                          <m:ctrlPr>
                            <a:rPr lang="de-DE" sz="2400" i="1">
                              <a:latin typeface="Cambria Math" panose="02040503050406030204" pitchFamily="18" charset="0"/>
                            </a:rPr>
                          </m:ctrlPr>
                        </m:dPr>
                        <m:e>
                          <m:r>
                            <a:rPr lang="de-DE" sz="2400" i="1">
                              <a:latin typeface="Cambria Math" panose="02040503050406030204" pitchFamily="18" charset="0"/>
                            </a:rPr>
                            <m:t>𝑆</m:t>
                          </m:r>
                          <m:r>
                            <a:rPr lang="de-DE" sz="2400" i="1">
                              <a:latin typeface="Cambria Math" panose="02040503050406030204" pitchFamily="18" charset="0"/>
                            </a:rPr>
                            <m:t>,</m:t>
                          </m:r>
                          <m:r>
                            <a:rPr lang="de-DE" sz="2400" i="1">
                              <a:latin typeface="Cambria Math" panose="02040503050406030204" pitchFamily="18" charset="0"/>
                            </a:rPr>
                            <m:t>𝐹</m:t>
                          </m:r>
                        </m:e>
                      </m:d>
                      <m:r>
                        <a:rPr lang="de-DE" sz="2400" b="0" i="1" smtClean="0">
                          <a:solidFill>
                            <a:srgbClr val="00B0F0"/>
                          </a:solidFill>
                          <a:latin typeface="Cambria Math" panose="02040503050406030204" pitchFamily="18" charset="0"/>
                        </a:rPr>
                        <m:t>𝑓</m:t>
                      </m:r>
                    </m:oMath>
                  </m:oMathPara>
                </a14:m>
                <a:endParaRPr lang="de-DE" sz="2400" b="0" dirty="0" smtClean="0">
                  <a:solidFill>
                    <a:srgbClr val="00B0F0"/>
                  </a:solidFill>
                </a:endParaRPr>
              </a:p>
            </p:txBody>
          </p:sp>
        </mc:Choice>
        <mc:Fallback xmlns="">
          <p:sp>
            <p:nvSpPr>
              <p:cNvPr id="94" name="Textfeld 85"/>
              <p:cNvSpPr txBox="1">
                <a:spLocks noRot="1" noChangeAspect="1" noMove="1" noResize="1" noEditPoints="1" noAdjustHandles="1" noChangeArrowheads="1" noChangeShapeType="1" noTextEdit="1"/>
              </p:cNvSpPr>
              <p:nvPr/>
            </p:nvSpPr>
            <p:spPr>
              <a:xfrm>
                <a:off x="3527316" y="5092869"/>
                <a:ext cx="5137367" cy="487569"/>
              </a:xfrm>
              <a:prstGeom prst="rect">
                <a:avLst/>
              </a:prstGeom>
              <a:blipFill rotWithShape="0">
                <a:blip r:embed="rId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feld 85"/>
              <p:cNvSpPr txBox="1"/>
              <p:nvPr/>
            </p:nvSpPr>
            <p:spPr>
              <a:xfrm>
                <a:off x="5389172" y="5622956"/>
                <a:ext cx="141365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solidFill>
                            <a:srgbClr val="00B0F0"/>
                          </a:solidFill>
                          <a:latin typeface="Cambria Math" panose="02040503050406030204" pitchFamily="18" charset="0"/>
                        </a:rPr>
                        <m:t>𝑓</m:t>
                      </m:r>
                      <m:r>
                        <a:rPr lang="de-DE" sz="2400" b="0" i="1" smtClean="0">
                          <a:solidFill>
                            <a:schemeClr val="tx1"/>
                          </a:solidFill>
                          <a:latin typeface="Cambria Math" panose="02040503050406030204" pitchFamily="18" charset="0"/>
                          <a:ea typeface="Cambria Math" panose="02040503050406030204" pitchFamily="18" charset="0"/>
                        </a:rPr>
                        <m:t>∈</m:t>
                      </m:r>
                      <m:d>
                        <m:dPr>
                          <m:begChr m:val="["/>
                          <m:endChr m:val="]"/>
                          <m:ctrlPr>
                            <a:rPr lang="de-DE" sz="2400" b="0" i="1" smtClean="0">
                              <a:solidFill>
                                <a:schemeClr val="tx1"/>
                              </a:solidFill>
                              <a:latin typeface="Cambria Math" panose="02040503050406030204" pitchFamily="18" charset="0"/>
                              <a:ea typeface="Cambria Math" panose="02040503050406030204" pitchFamily="18" charset="0"/>
                            </a:rPr>
                          </m:ctrlPr>
                        </m:dPr>
                        <m:e>
                          <m:r>
                            <a:rPr lang="de-DE" sz="2400" b="0" i="1" smtClean="0">
                              <a:solidFill>
                                <a:schemeClr val="tx1"/>
                              </a:solidFill>
                              <a:latin typeface="Cambria Math" panose="02040503050406030204" pitchFamily="18" charset="0"/>
                              <a:ea typeface="Cambria Math" panose="02040503050406030204" pitchFamily="18" charset="0"/>
                            </a:rPr>
                            <m:t>0,1</m:t>
                          </m:r>
                        </m:e>
                      </m:d>
                    </m:oMath>
                  </m:oMathPara>
                </a14:m>
                <a:endParaRPr lang="de-DE" sz="2400" b="0" dirty="0" smtClean="0">
                  <a:solidFill>
                    <a:srgbClr val="00B0F0"/>
                  </a:solidFill>
                </a:endParaRPr>
              </a:p>
            </p:txBody>
          </p:sp>
        </mc:Choice>
        <mc:Fallback xmlns="">
          <p:sp>
            <p:nvSpPr>
              <p:cNvPr id="97" name="Textfeld 85"/>
              <p:cNvSpPr txBox="1">
                <a:spLocks noRot="1" noChangeAspect="1" noMove="1" noResize="1" noEditPoints="1" noAdjustHandles="1" noChangeArrowheads="1" noChangeShapeType="1" noTextEdit="1"/>
              </p:cNvSpPr>
              <p:nvPr/>
            </p:nvSpPr>
            <p:spPr>
              <a:xfrm>
                <a:off x="5389172" y="5622956"/>
                <a:ext cx="1413657" cy="461665"/>
              </a:xfrm>
              <a:prstGeom prst="rect">
                <a:avLst/>
              </a:prstGeom>
              <a:blipFill rotWithShape="0">
                <a:blip r:embed="rId9"/>
                <a:stretch>
                  <a:fillRect l="-431" b="-17105"/>
                </a:stretch>
              </a:blipFill>
            </p:spPr>
            <p:txBody>
              <a:bodyPr/>
              <a:lstStyle/>
              <a:p>
                <a:r>
                  <a:rPr lang="en-US">
                    <a:noFill/>
                  </a:rPr>
                  <a:t> </a:t>
                </a:r>
              </a:p>
            </p:txBody>
          </p:sp>
        </mc:Fallback>
      </mc:AlternateContent>
    </p:spTree>
    <p:extLst>
      <p:ext uri="{BB962C8B-B14F-4D97-AF65-F5344CB8AC3E}">
        <p14:creationId xmlns:p14="http://schemas.microsoft.com/office/powerpoint/2010/main" val="2416373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0.00013 -4.44444E-6 L -0.0431 -0.00023 " pathEditMode="relative" rAng="0" ptsTypes="AA">
                                      <p:cBhvr>
                                        <p:cTn id="6" dur="2000" fill="hold"/>
                                        <p:tgtEl>
                                          <p:spTgt spid="51"/>
                                        </p:tgtEl>
                                        <p:attrNameLst>
                                          <p:attrName>ppt_x</p:attrName>
                                          <p:attrName>ppt_y</p:attrName>
                                        </p:attrNameLst>
                                      </p:cBhvr>
                                      <p:rCtr x="-2148" y="-23"/>
                                    </p:animMotion>
                                  </p:childTnLst>
                                </p:cTn>
                              </p:par>
                              <p:par>
                                <p:cTn id="7" presetID="63" presetClass="path" presetSubtype="0" accel="50000" decel="50000" fill="hold" grpId="0" nodeType="withEffect">
                                  <p:stCondLst>
                                    <p:cond delay="0"/>
                                  </p:stCondLst>
                                  <p:childTnLst>
                                    <p:animMotion origin="layout" path="M -1.25E-6 -1.85185E-6 L 0.03971 0.00023 " pathEditMode="relative" rAng="0" ptsTypes="AA">
                                      <p:cBhvr>
                                        <p:cTn id="8" dur="2000" fill="hold"/>
                                        <p:tgtEl>
                                          <p:spTgt spid="49"/>
                                        </p:tgtEl>
                                        <p:attrNameLst>
                                          <p:attrName>ppt_x</p:attrName>
                                          <p:attrName>ppt_y</p:attrName>
                                        </p:attrNameLst>
                                      </p:cBhvr>
                                      <p:rCtr x="1979" y="0"/>
                                    </p:animMotion>
                                  </p:childTnLst>
                                </p:cTn>
                              </p:par>
                              <p:par>
                                <p:cTn id="9" presetID="63" presetClass="path" presetSubtype="0" accel="50000" decel="50000" fill="hold" grpId="0" nodeType="withEffect">
                                  <p:stCondLst>
                                    <p:cond delay="0"/>
                                  </p:stCondLst>
                                  <p:childTnLst>
                                    <p:animMotion origin="layout" path="M 1.875E-6 -1.11111E-6 L 0.0237 -0.00023 " pathEditMode="relative" rAng="0" ptsTypes="AA">
                                      <p:cBhvr>
                                        <p:cTn id="10" dur="2000" fill="hold"/>
                                        <p:tgtEl>
                                          <p:spTgt spid="84"/>
                                        </p:tgtEl>
                                        <p:attrNameLst>
                                          <p:attrName>ppt_x</p:attrName>
                                          <p:attrName>ppt_y</p:attrName>
                                        </p:attrNameLst>
                                      </p:cBhvr>
                                      <p:rCtr x="1185" y="-23"/>
                                    </p:animMotion>
                                  </p:childTnLst>
                                </p:cTn>
                              </p:par>
                              <p:par>
                                <p:cTn id="11" presetID="35" presetClass="path" presetSubtype="0" accel="50000" decel="50000" fill="hold" grpId="0" nodeType="withEffect">
                                  <p:stCondLst>
                                    <p:cond delay="0"/>
                                  </p:stCondLst>
                                  <p:childTnLst>
                                    <p:animMotion origin="layout" path="M -4.16667E-7 -4.44444E-6 L -0.02409 -0.00046 " pathEditMode="relative" rAng="0" ptsTypes="AA">
                                      <p:cBhvr>
                                        <p:cTn id="12" dur="2000" fill="hold"/>
                                        <p:tgtEl>
                                          <p:spTgt spid="83"/>
                                        </p:tgtEl>
                                        <p:attrNameLst>
                                          <p:attrName>ppt_x</p:attrName>
                                          <p:attrName>ppt_y</p:attrName>
                                        </p:attrNameLst>
                                      </p:cBhvr>
                                      <p:rCtr x="-1211" y="-23"/>
                                    </p:animMotion>
                                  </p:childTnLst>
                                </p:cTn>
                              </p:par>
                            </p:childTnLst>
                          </p:cTn>
                        </p:par>
                        <p:par>
                          <p:cTn id="13" fill="hold">
                            <p:stCondLst>
                              <p:cond delay="2000"/>
                            </p:stCondLst>
                            <p:childTnLst>
                              <p:par>
                                <p:cTn id="14" presetID="10" presetClass="entr" presetSubtype="0" fill="hold" nodeType="after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fade">
                                      <p:cBhvr>
                                        <p:cTn id="16" dur="500"/>
                                        <p:tgtEl>
                                          <p:spTgt spid="6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5"/>
                                        </p:tgtEl>
                                        <p:attrNameLst>
                                          <p:attrName>style.visibility</p:attrName>
                                        </p:attrNameLst>
                                      </p:cBhvr>
                                      <p:to>
                                        <p:strVal val="visible"/>
                                      </p:to>
                                    </p:set>
                                    <p:animEffect transition="in" filter="fade">
                                      <p:cBhvr>
                                        <p:cTn id="19" dur="500"/>
                                        <p:tgtEl>
                                          <p:spTgt spid="85"/>
                                        </p:tgtEl>
                                      </p:cBhvr>
                                    </p:animEffect>
                                  </p:childTnLst>
                                </p:cTn>
                              </p:par>
                              <p:par>
                                <p:cTn id="20" presetID="10" presetClass="exit" presetSubtype="0" fill="hold" grpId="0" nodeType="withEffect">
                                  <p:stCondLst>
                                    <p:cond delay="0"/>
                                  </p:stCondLst>
                                  <p:childTnLst>
                                    <p:animEffect transition="out" filter="fade">
                                      <p:cBhvr>
                                        <p:cTn id="21" dur="500"/>
                                        <p:tgtEl>
                                          <p:spTgt spid="87"/>
                                        </p:tgtEl>
                                      </p:cBhvr>
                                    </p:animEffect>
                                    <p:set>
                                      <p:cBhvr>
                                        <p:cTn id="22" dur="1" fill="hold">
                                          <p:stCondLst>
                                            <p:cond delay="499"/>
                                          </p:stCondLst>
                                        </p:cTn>
                                        <p:tgtEl>
                                          <p:spTgt spid="87"/>
                                        </p:tgtEl>
                                        <p:attrNameLst>
                                          <p:attrName>style.visibility</p:attrName>
                                        </p:attrNameLst>
                                      </p:cBhvr>
                                      <p:to>
                                        <p:strVal val="hidden"/>
                                      </p:to>
                                    </p:set>
                                  </p:childTnLst>
                                </p:cTn>
                              </p:par>
                              <p:par>
                                <p:cTn id="23" presetID="10" presetClass="entr" presetSubtype="0" fill="hold" grpId="0" nodeType="withEffect">
                                  <p:stCondLst>
                                    <p:cond delay="0"/>
                                  </p:stCondLst>
                                  <p:childTnLst>
                                    <p:set>
                                      <p:cBhvr>
                                        <p:cTn id="24" dur="1" fill="hold">
                                          <p:stCondLst>
                                            <p:cond delay="0"/>
                                          </p:stCondLst>
                                        </p:cTn>
                                        <p:tgtEl>
                                          <p:spTgt spid="86"/>
                                        </p:tgtEl>
                                        <p:attrNameLst>
                                          <p:attrName>style.visibility</p:attrName>
                                        </p:attrNameLst>
                                      </p:cBhvr>
                                      <p:to>
                                        <p:strVal val="visible"/>
                                      </p:to>
                                    </p:set>
                                    <p:animEffect transition="in" filter="fade">
                                      <p:cBhvr>
                                        <p:cTn id="25" dur="500"/>
                                        <p:tgtEl>
                                          <p:spTgt spid="8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8"/>
                                        </p:tgtEl>
                                        <p:attrNameLst>
                                          <p:attrName>style.visibility</p:attrName>
                                        </p:attrNameLst>
                                      </p:cBhvr>
                                      <p:to>
                                        <p:strVal val="visible"/>
                                      </p:to>
                                    </p:set>
                                    <p:animEffect transition="in" filter="fade">
                                      <p:cBhvr>
                                        <p:cTn id="28" dur="500"/>
                                        <p:tgtEl>
                                          <p:spTgt spid="8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4"/>
                                        </p:tgtEl>
                                        <p:attrNameLst>
                                          <p:attrName>style.visibility</p:attrName>
                                        </p:attrNameLst>
                                      </p:cBhvr>
                                      <p:to>
                                        <p:strVal val="visible"/>
                                      </p:to>
                                    </p:set>
                                    <p:animEffect transition="in" filter="fade">
                                      <p:cBhvr>
                                        <p:cTn id="33" dur="500"/>
                                        <p:tgtEl>
                                          <p:spTgt spid="9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97"/>
                                        </p:tgtEl>
                                        <p:attrNameLst>
                                          <p:attrName>style.visibility</p:attrName>
                                        </p:attrNameLst>
                                      </p:cBhvr>
                                      <p:to>
                                        <p:strVal val="visible"/>
                                      </p:to>
                                    </p:set>
                                    <p:animEffect transition="in" filter="fade">
                                      <p:cBhvr>
                                        <p:cTn id="36" dur="5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P spid="83" grpId="0"/>
      <p:bldP spid="84" grpId="0"/>
      <p:bldP spid="85" grpId="0"/>
      <p:bldP spid="86" grpId="0"/>
      <p:bldP spid="87" grpId="0"/>
      <p:bldP spid="88" grpId="0"/>
      <p:bldP spid="94" grpId="0"/>
      <p:bldP spid="9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4"/>
          <p:cNvGraphicFramePr>
            <a:graphicFrameLocks noGrp="1"/>
          </p:cNvGraphicFramePr>
          <p:nvPr>
            <p:extLst>
              <p:ext uri="{D42A27DB-BD31-4B8C-83A1-F6EECF244321}">
                <p14:modId xmlns:p14="http://schemas.microsoft.com/office/powerpoint/2010/main" val="1271686623"/>
              </p:ext>
            </p:extLst>
          </p:nvPr>
        </p:nvGraphicFramePr>
        <p:xfrm>
          <a:off x="180000" y="720000"/>
          <a:ext cx="7419600" cy="9753600"/>
        </p:xfrm>
        <a:graphic>
          <a:graphicData uri="http://schemas.openxmlformats.org/drawingml/2006/table">
            <a:tbl>
              <a:tblPr/>
              <a:tblGrid>
                <a:gridCol w="468000"/>
                <a:gridCol w="3888000"/>
                <a:gridCol w="1774800"/>
                <a:gridCol w="360000"/>
                <a:gridCol w="928800"/>
              </a:tblGrid>
              <a:tr h="68858">
                <a:tc>
                  <a:txBody>
                    <a:bodyPr/>
                    <a:lstStyle/>
                    <a:p>
                      <a:pPr algn="ctr"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street</a:t>
                      </a:r>
                    </a:p>
                  </a:txBody>
                  <a:tcPr marL="36000" marR="36000" marT="0"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city</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GmbH</a:t>
                      </a:r>
                    </a:p>
                  </a:txBody>
                  <a:tcPr marL="36000" marR="36000" marT="0"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Oudenarder</a:t>
                      </a:r>
                      <a:r>
                        <a:rPr lang="de-DE" sz="800" b="0" i="0" u="none" strike="noStrike" dirty="0">
                          <a:solidFill>
                            <a:srgbClr val="000000"/>
                          </a:solidFill>
                          <a:effectLst/>
                          <a:latin typeface="Calibri" panose="020F0502020204030204" pitchFamily="34" charset="0"/>
                        </a:rPr>
                        <a:t> Str. 31</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13347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79.47</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79.46</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 Berlin GmbH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Auguststr. 5a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79.46</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 Berlin GmbH &amp; Co. KG</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Oranienburger Str. 35/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79.19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Kottmeierstr. 1- 3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12459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79.10</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Gesellschaft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52-56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78.93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29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Bau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Breite Str.</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78.70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Bau - GmbH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78.55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GbR</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78.37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Thomas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 den Bänken 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Saarbrücker 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78.09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Baugesellschaft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Pfalzburger Str. 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77.97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 Berlin Beteiligungs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Pichelswerderstr. 3-5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77.89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 und 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12621</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Bürgerstr. 25- 27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Brauhofstr. 4a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77.65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Service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Lampesteig 10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 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Hönower Str. 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10318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Jürgen Berlin Handelsgesellschaft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Sagritzer Weg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13435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77.29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88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77.09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Prenzlauer Allee 53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77.00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Joachim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Randowstr. 12</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13057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76.99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KG Beteiligungs-mbH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76.85</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Management Holding GmbH &amp; Co. KG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76.82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GmbH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76.76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Marketing 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Taubenstr. 19-23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76.68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Immobilien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Hochkönigweg 44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12349</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Trockenbau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Küstriner Str. 7- 8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13055</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Ulrich Bau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Mühlenstr. 8a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76.51</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Michael Berlin Ingenieurbüro</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Rochowstr. 1b</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10245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76.49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Baumschulenstr. 72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12437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76.34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Haus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Kleiststr.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76.14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Thomas-Haus 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Peter-Lenne-Str.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Müggelseedamm 128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VERLAG GmbH &amp; Co.KG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Greifswalder Str. 207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VERLAG GmbH &amp; Co.KG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Greifswalder Str. 207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Claudia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Paul-Dessau-Str. 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12679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Bäckerei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67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Schneider Bau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39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Auto-Service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Katzlerstr. 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Büro-Service-GmbH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Malschweg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Vertrieb 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208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 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Heinersdorfer 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Christine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Provinzstr. 34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Marketing Services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Taubenstr. 19-23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Berlin-Center e.V.</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 IMMOBILIEN PARTNER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Friedrichstr. 185/186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Vermögensverwaltung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180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Hotel Consulting Gesellschaft für Hotel-</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Alexanderplatz 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Mode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54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Studio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Studio 20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Berlin-Auto</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Fechnerstr.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 Service 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Ernst Berlin Andreas Ernst e.K.</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19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75.59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GbR Grundstücksgesellschaft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Bergstr. 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75.57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Berlin Betriebs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Auguste-Viktoria-Str. 5b</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IL Berlin Ltd.</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Hönower Str. 116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Jürgen Schäfer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Mainzer Str. 55</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10715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Partner Werbeagentur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152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 Design GmbH &amp; Co. Berlin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Service Inh. Schneider</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Hauptstr. 13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Rene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Strausberger Str. 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10243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Kurt-Bau-Berlin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Max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Lise-Meitner-Str. 7-9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ART Berlin Baugesellschaft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Beckerstr.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Betriebs GbR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Calvinstr. 22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Badensche Str. 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32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Kosmetik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Anklamer Str. 38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AM-Grundstücksgesellschaft Berlin GmbH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Kollwitzstr. 46</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bl>
          </a:graphicData>
        </a:graphic>
      </p:graphicFrame>
      <p:sp>
        <p:nvSpPr>
          <p:cNvPr id="3" name="Foliennummernplatzhalter 2"/>
          <p:cNvSpPr>
            <a:spLocks noGrp="1"/>
          </p:cNvSpPr>
          <p:nvPr>
            <p:ph type="sldNum" sz="quarter" idx="10"/>
          </p:nvPr>
        </p:nvSpPr>
        <p:spPr/>
        <p:txBody>
          <a:bodyPr/>
          <a:lstStyle/>
          <a:p>
            <a:fld id="{A29D8577-601D-4845-9C29-D9E13FE3E8DB}" type="slidenum">
              <a:rPr lang="en-US" smtClean="0"/>
              <a:pPr/>
              <a:t>14</a:t>
            </a:fld>
            <a:endParaRPr lang="en-US" dirty="0"/>
          </a:p>
        </p:txBody>
      </p:sp>
      <p:sp>
        <p:nvSpPr>
          <p:cNvPr id="6" name="Foliennummernplatzhalter 2"/>
          <p:cNvSpPr txBox="1">
            <a:spLocks/>
          </p:cNvSpPr>
          <p:nvPr/>
        </p:nvSpPr>
        <p:spPr>
          <a:xfrm>
            <a:off x="5658197" y="6464419"/>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14</a:t>
            </a:fld>
            <a:endParaRPr lang="en-US" dirty="0"/>
          </a:p>
        </p:txBody>
      </p:sp>
      <p:sp>
        <p:nvSpPr>
          <p:cNvPr id="7" name="Rechteck 6"/>
          <p:cNvSpPr/>
          <p:nvPr/>
        </p:nvSpPr>
        <p:spPr>
          <a:xfrm>
            <a:off x="0" y="5624945"/>
            <a:ext cx="7987145" cy="123305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9" name="Foliennummernplatzhalter 1"/>
          <p:cNvSpPr txBox="1">
            <a:spLocks/>
          </p:cNvSpPr>
          <p:nvPr/>
        </p:nvSpPr>
        <p:spPr>
          <a:xfrm>
            <a:off x="5660434" y="6485198"/>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14</a:t>
            </a:fld>
            <a:endParaRPr lang="en-US" dirty="0"/>
          </a:p>
        </p:txBody>
      </p:sp>
      <p:sp>
        <p:nvSpPr>
          <p:cNvPr id="15" name="Rechteck 14"/>
          <p:cNvSpPr/>
          <p:nvPr/>
        </p:nvSpPr>
        <p:spPr>
          <a:xfrm>
            <a:off x="62344" y="2064327"/>
            <a:ext cx="7183583" cy="4364181"/>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feld 3"/>
          <p:cNvSpPr txBox="1"/>
          <p:nvPr/>
        </p:nvSpPr>
        <p:spPr>
          <a:xfrm>
            <a:off x="7610058" y="864703"/>
            <a:ext cx="4104861" cy="738664"/>
          </a:xfrm>
          <a:prstGeom prst="rect">
            <a:avLst/>
          </a:prstGeom>
          <a:noFill/>
          <a:ln>
            <a:noFill/>
          </a:ln>
        </p:spPr>
        <p:txBody>
          <a:bodyPr wrap="square" rtlCol="0">
            <a:spAutoFit/>
          </a:bodyPr>
          <a:lstStyle/>
          <a:p>
            <a:r>
              <a:rPr lang="en-US" sz="1400" dirty="0" smtClean="0">
                <a:solidFill>
                  <a:srgbClr val="00B0F0"/>
                </a:solidFill>
              </a:rPr>
              <a:t>Cutoff</a:t>
            </a:r>
          </a:p>
          <a:p>
            <a:r>
              <a:rPr lang="en-US" sz="1400" dirty="0" smtClean="0"/>
              <a:t>Defines the upper limit for a reasonable number of candidates, i.e. 10.</a:t>
            </a:r>
          </a:p>
        </p:txBody>
      </p:sp>
      <p:sp>
        <p:nvSpPr>
          <p:cNvPr id="16" name="Textfeld 15"/>
          <p:cNvSpPr txBox="1"/>
          <p:nvPr/>
        </p:nvSpPr>
        <p:spPr>
          <a:xfrm>
            <a:off x="7610058" y="1613454"/>
            <a:ext cx="4104861" cy="738664"/>
          </a:xfrm>
          <a:prstGeom prst="rect">
            <a:avLst/>
          </a:prstGeom>
          <a:noFill/>
          <a:ln>
            <a:noFill/>
          </a:ln>
        </p:spPr>
        <p:txBody>
          <a:bodyPr wrap="square" rtlCol="0">
            <a:spAutoFit/>
          </a:bodyPr>
          <a:lstStyle/>
          <a:p>
            <a:r>
              <a:rPr lang="en-US" sz="1400" dirty="0" smtClean="0">
                <a:solidFill>
                  <a:srgbClr val="00B0F0"/>
                </a:solidFill>
              </a:rPr>
              <a:t>Activation</a:t>
            </a:r>
          </a:p>
          <a:p>
            <a:r>
              <a:rPr lang="en-US" sz="1400" dirty="0" smtClean="0"/>
              <a:t>If the candidate list meets this threshold, Feedback will be applied. Usually, it should equal the Cutoff.</a:t>
            </a:r>
          </a:p>
        </p:txBody>
      </p:sp>
      <p:sp>
        <p:nvSpPr>
          <p:cNvPr id="17" name="Textfeld 16"/>
          <p:cNvSpPr txBox="1"/>
          <p:nvPr/>
        </p:nvSpPr>
        <p:spPr>
          <a:xfrm>
            <a:off x="7610059" y="2362198"/>
            <a:ext cx="4508438" cy="2285241"/>
          </a:xfrm>
          <a:prstGeom prst="rect">
            <a:avLst/>
          </a:prstGeom>
          <a:noFill/>
          <a:ln>
            <a:noFill/>
          </a:ln>
        </p:spPr>
        <p:txBody>
          <a:bodyPr wrap="square" rtlCol="0">
            <a:spAutoFit/>
          </a:bodyPr>
          <a:lstStyle/>
          <a:p>
            <a:r>
              <a:rPr lang="en-US" sz="1400" dirty="0" smtClean="0">
                <a:solidFill>
                  <a:srgbClr val="00B0F0"/>
                </a:solidFill>
              </a:rPr>
              <a:t>Feedback</a:t>
            </a:r>
          </a:p>
          <a:p>
            <a:r>
              <a:rPr lang="en-US" sz="1400" dirty="0" smtClean="0"/>
              <a:t>Defines the magnitude of the feedback effect as discount on the Identity. </a:t>
            </a:r>
          </a:p>
          <a:p>
            <a:pPr>
              <a:spcBef>
                <a:spcPts val="300"/>
              </a:spcBef>
            </a:pPr>
            <a:r>
              <a:rPr lang="en-US" sz="1400" dirty="0" smtClean="0"/>
              <a:t>When Activation &gt; 0 and Cutoff &gt; 0:</a:t>
            </a:r>
          </a:p>
          <a:p>
            <a:pPr marL="216000" indent="-216000">
              <a:buClr>
                <a:srgbClr val="00AAE5"/>
              </a:buClr>
              <a:buFont typeface="Calibri" panose="020F0502020204030204" pitchFamily="34" charset="0"/>
              <a:buChar char="→"/>
            </a:pPr>
            <a:r>
              <a:rPr lang="en-US" sz="1400" dirty="0" smtClean="0"/>
              <a:t>Temporary Feedback effect to create variation for Cutoff</a:t>
            </a:r>
          </a:p>
          <a:p>
            <a:pPr marL="216000" indent="-216000">
              <a:buClr>
                <a:srgbClr val="00AAE5"/>
              </a:buClr>
              <a:buFont typeface="Wingdings" panose="05000000000000000000" pitchFamily="2" charset="2"/>
              <a:buChar char="§"/>
            </a:pPr>
            <a:r>
              <a:rPr lang="en-US" sz="1400" dirty="0" smtClean="0"/>
              <a:t>Usually, 10% feedback suffices</a:t>
            </a:r>
          </a:p>
          <a:p>
            <a:pPr marL="216000" indent="-216000">
              <a:buClr>
                <a:srgbClr val="00AAE5"/>
              </a:buClr>
              <a:buFont typeface="Wingdings" panose="05000000000000000000" pitchFamily="2" charset="2"/>
              <a:buChar char="§"/>
            </a:pPr>
            <a:r>
              <a:rPr lang="en-US" sz="1400" dirty="0" smtClean="0"/>
              <a:t>Effect will be undone before Threshold validation</a:t>
            </a:r>
          </a:p>
          <a:p>
            <a:pPr>
              <a:buClr>
                <a:schemeClr val="accent1"/>
              </a:buClr>
            </a:pPr>
            <a:r>
              <a:rPr lang="en-US" sz="1400" dirty="0" smtClean="0"/>
              <a:t>Otherwise:</a:t>
            </a:r>
          </a:p>
          <a:p>
            <a:pPr marL="216000" indent="-216000">
              <a:buClr>
                <a:srgbClr val="00AAE5"/>
              </a:buClr>
              <a:buFont typeface="Calibri" panose="020F0502020204030204" pitchFamily="34" charset="0"/>
              <a:buChar char="→"/>
            </a:pPr>
            <a:r>
              <a:rPr lang="en-US" sz="1400" dirty="0" smtClean="0"/>
              <a:t>Permanent Feedback effect affecting Identity vs. Threshold</a:t>
            </a:r>
          </a:p>
        </p:txBody>
      </p:sp>
      <p:sp>
        <p:nvSpPr>
          <p:cNvPr id="18" name="Textfeld 17"/>
          <p:cNvSpPr txBox="1"/>
          <p:nvPr/>
        </p:nvSpPr>
        <p:spPr>
          <a:xfrm>
            <a:off x="7610058" y="4705946"/>
            <a:ext cx="4581941" cy="954107"/>
          </a:xfrm>
          <a:prstGeom prst="rect">
            <a:avLst/>
          </a:prstGeom>
          <a:noFill/>
          <a:ln>
            <a:noFill/>
          </a:ln>
        </p:spPr>
        <p:txBody>
          <a:bodyPr wrap="square" rtlCol="0">
            <a:spAutoFit/>
          </a:bodyPr>
          <a:lstStyle/>
          <a:p>
            <a:r>
              <a:rPr lang="en-US" sz="1400" dirty="0" smtClean="0"/>
              <a:t>The interaction of these three settings prevents unnecessary, time consuming feedback calculations.</a:t>
            </a:r>
          </a:p>
          <a:p>
            <a:r>
              <a:rPr lang="en-US" sz="1400" dirty="0" smtClean="0"/>
              <a:t>Containment will keep candidates with the least amount of relevant noise.</a:t>
            </a:r>
          </a:p>
        </p:txBody>
      </p:sp>
      <p:graphicFrame>
        <p:nvGraphicFramePr>
          <p:cNvPr id="19" name="Tabelle 18"/>
          <p:cNvGraphicFramePr>
            <a:graphicFrameLocks noGrp="1"/>
          </p:cNvGraphicFramePr>
          <p:nvPr>
            <p:extLst>
              <p:ext uri="{D42A27DB-BD31-4B8C-83A1-F6EECF244321}">
                <p14:modId xmlns:p14="http://schemas.microsoft.com/office/powerpoint/2010/main" val="2964281771"/>
              </p:ext>
            </p:extLst>
          </p:nvPr>
        </p:nvGraphicFramePr>
        <p:xfrm>
          <a:off x="180512" y="843337"/>
          <a:ext cx="468000" cy="1219200"/>
        </p:xfrm>
        <a:graphic>
          <a:graphicData uri="http://schemas.openxmlformats.org/drawingml/2006/table">
            <a:tbl>
              <a:tblPr/>
              <a:tblGrid>
                <a:gridCol w="468000"/>
              </a:tblGrid>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bl>
          </a:graphicData>
        </a:graphic>
      </p:graphicFrame>
      <p:grpSp>
        <p:nvGrpSpPr>
          <p:cNvPr id="12" name="Gruppieren 11"/>
          <p:cNvGrpSpPr/>
          <p:nvPr/>
        </p:nvGrpSpPr>
        <p:grpSpPr>
          <a:xfrm>
            <a:off x="237744" y="1904169"/>
            <a:ext cx="7205760" cy="192024"/>
            <a:chOff x="237744" y="1911096"/>
            <a:chExt cx="7205760" cy="192024"/>
          </a:xfrm>
        </p:grpSpPr>
        <p:cxnSp>
          <p:nvCxnSpPr>
            <p:cNvPr id="13" name="Gerader Verbinder 12"/>
            <p:cNvCxnSpPr/>
            <p:nvPr/>
          </p:nvCxnSpPr>
          <p:spPr>
            <a:xfrm>
              <a:off x="603504" y="2075688"/>
              <a:ext cx="6840000" cy="0"/>
            </a:xfrm>
            <a:prstGeom prst="line">
              <a:avLst/>
            </a:prstGeom>
            <a:ln w="25400">
              <a:solidFill>
                <a:srgbClr val="00B0F0"/>
              </a:solidFill>
              <a:prstDash val="sysDash"/>
            </a:ln>
          </p:spPr>
          <p:style>
            <a:lnRef idx="1">
              <a:schemeClr val="accent1"/>
            </a:lnRef>
            <a:fillRef idx="0">
              <a:schemeClr val="accent1"/>
            </a:fillRef>
            <a:effectRef idx="0">
              <a:schemeClr val="accent1"/>
            </a:effectRef>
            <a:fontRef idx="minor">
              <a:schemeClr val="tx1"/>
            </a:fontRef>
          </p:style>
        </p:cxnSp>
        <p:sp>
          <p:nvSpPr>
            <p:cNvPr id="14" name="Rechteck 13"/>
            <p:cNvSpPr/>
            <p:nvPr/>
          </p:nvSpPr>
          <p:spPr>
            <a:xfrm>
              <a:off x="237744" y="1911096"/>
              <a:ext cx="356616" cy="192024"/>
            </a:xfrm>
            <a:prstGeom prst="rect">
              <a:avLst/>
            </a:prstGeom>
            <a:noFill/>
            <a:ln w="254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Rechteck 10"/>
          <p:cNvSpPr/>
          <p:nvPr/>
        </p:nvSpPr>
        <p:spPr>
          <a:xfrm>
            <a:off x="0" y="0"/>
            <a:ext cx="8091055" cy="852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elle 9"/>
          <p:cNvGraphicFramePr>
            <a:graphicFrameLocks noGrp="1"/>
          </p:cNvGraphicFramePr>
          <p:nvPr>
            <p:extLst>
              <p:ext uri="{D42A27DB-BD31-4B8C-83A1-F6EECF244321}">
                <p14:modId xmlns:p14="http://schemas.microsoft.com/office/powerpoint/2010/main" val="1628722113"/>
              </p:ext>
            </p:extLst>
          </p:nvPr>
        </p:nvGraphicFramePr>
        <p:xfrm>
          <a:off x="181632" y="654749"/>
          <a:ext cx="7419271" cy="180000"/>
        </p:xfrm>
        <a:graphic>
          <a:graphicData uri="http://schemas.openxmlformats.org/drawingml/2006/table">
            <a:tbl>
              <a:tblPr/>
              <a:tblGrid>
                <a:gridCol w="468000"/>
                <a:gridCol w="3887671"/>
                <a:gridCol w="1774800"/>
                <a:gridCol w="360000"/>
                <a:gridCol w="928800"/>
              </a:tblGrid>
              <a:tr h="180000">
                <a:tc>
                  <a:txBody>
                    <a:bodyPr/>
                    <a:lstStyle/>
                    <a:p>
                      <a:pPr algn="ctr" fontAlgn="b"/>
                      <a:r>
                        <a:rPr lang="de-DE" sz="900" b="0" i="0" u="none" strike="noStrike" dirty="0" err="1">
                          <a:solidFill>
                            <a:srgbClr val="000000"/>
                          </a:solidFill>
                          <a:effectLst/>
                          <a:latin typeface="Calibri" panose="020F0502020204030204" pitchFamily="34" charset="0"/>
                        </a:rPr>
                        <a:t>identity</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name</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street</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zip</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city</a:t>
                      </a:r>
                      <a:endParaRPr lang="de-DE" sz="900" b="0" i="0" u="none" strike="noStrike" dirty="0" smtClean="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r>
            </a:tbl>
          </a:graphicData>
        </a:graphic>
      </p:graphicFrame>
      <p:sp>
        <p:nvSpPr>
          <p:cNvPr id="2" name="Titel 1"/>
          <p:cNvSpPr>
            <a:spLocks noGrp="1"/>
          </p:cNvSpPr>
          <p:nvPr>
            <p:ph type="title"/>
          </p:nvPr>
        </p:nvSpPr>
        <p:spPr/>
        <p:txBody>
          <a:bodyPr/>
          <a:lstStyle/>
          <a:p>
            <a:r>
              <a:rPr lang="en-US" dirty="0" smtClean="0"/>
              <a:t>10% Feedback Effect on Berlin GmbH, Berlin</a:t>
            </a:r>
            <a:endParaRPr lang="en-US" dirty="0"/>
          </a:p>
        </p:txBody>
      </p:sp>
      <p:sp>
        <p:nvSpPr>
          <p:cNvPr id="20" name="Textfeld 19"/>
          <p:cNvSpPr txBox="1"/>
          <p:nvPr/>
        </p:nvSpPr>
        <p:spPr>
          <a:xfrm>
            <a:off x="7610058" y="381771"/>
            <a:ext cx="4104861" cy="461665"/>
          </a:xfrm>
          <a:prstGeom prst="rect">
            <a:avLst/>
          </a:prstGeom>
          <a:noFill/>
          <a:ln>
            <a:noFill/>
          </a:ln>
        </p:spPr>
        <p:txBody>
          <a:bodyPr wrap="square" rtlCol="0">
            <a:spAutoFit/>
          </a:bodyPr>
          <a:lstStyle/>
          <a:p>
            <a:r>
              <a:rPr lang="en-US" sz="2400" dirty="0" smtClean="0">
                <a:solidFill>
                  <a:srgbClr val="00B0F0"/>
                </a:solidFill>
              </a:rPr>
              <a:t>Containment</a:t>
            </a:r>
            <a:r>
              <a:rPr lang="en-US" sz="1400" dirty="0" smtClean="0">
                <a:solidFill>
                  <a:srgbClr val="00B0F0"/>
                </a:solidFill>
              </a:rPr>
              <a:t> of weak search terms</a:t>
            </a:r>
            <a:r>
              <a:rPr lang="en-US" sz="2400" dirty="0" smtClean="0">
                <a:solidFill>
                  <a:srgbClr val="00B0F0"/>
                </a:solidFill>
              </a:rPr>
              <a:t> </a:t>
            </a:r>
          </a:p>
        </p:txBody>
      </p:sp>
    </p:spTree>
    <p:extLst>
      <p:ext uri="{BB962C8B-B14F-4D97-AF65-F5344CB8AC3E}">
        <p14:creationId xmlns:p14="http://schemas.microsoft.com/office/powerpoint/2010/main" val="303739643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14:presetBounceEnd="25000">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14:bounceEnd="25000">
                                          <p:cBhvr additive="base">
                                            <p:cTn id="7" dur="2000" fill="hold"/>
                                            <p:tgtEl>
                                              <p:spTgt spid="12"/>
                                            </p:tgtEl>
                                            <p:attrNameLst>
                                              <p:attrName>ppt_x</p:attrName>
                                            </p:attrNameLst>
                                          </p:cBhvr>
                                          <p:tavLst>
                                            <p:tav tm="0">
                                              <p:val>
                                                <p:strVal val="#ppt_x"/>
                                              </p:val>
                                            </p:tav>
                                            <p:tav tm="100000">
                                              <p:val>
                                                <p:strVal val="#ppt_x"/>
                                              </p:val>
                                            </p:tav>
                                          </p:tavLst>
                                        </p:anim>
                                        <p:anim calcmode="lin" valueType="num" p14:bounceEnd="25000">
                                          <p:cBhvr additive="base">
                                            <p:cTn id="8" dur="20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up)">
                                          <p:cBhvr>
                                            <p:cTn id="13" dur="20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up)">
                                          <p:cBhvr>
                                            <p:cTn id="30"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 grpId="0"/>
          <p:bldP spid="16" grpId="0"/>
          <p:bldP spid="17" grpId="0"/>
          <p:bldP spid="18" grpId="0"/>
          <p:bldP spid="20"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2000" fill="hold"/>
                                            <p:tgtEl>
                                              <p:spTgt spid="12"/>
                                            </p:tgtEl>
                                            <p:attrNameLst>
                                              <p:attrName>ppt_x</p:attrName>
                                            </p:attrNameLst>
                                          </p:cBhvr>
                                          <p:tavLst>
                                            <p:tav tm="0">
                                              <p:val>
                                                <p:strVal val="#ppt_x"/>
                                              </p:val>
                                            </p:tav>
                                            <p:tav tm="100000">
                                              <p:val>
                                                <p:strVal val="#ppt_x"/>
                                              </p:val>
                                            </p:tav>
                                          </p:tavLst>
                                        </p:anim>
                                        <p:anim calcmode="lin" valueType="num">
                                          <p:cBhvr additive="base">
                                            <p:cTn id="8" dur="20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up)">
                                          <p:cBhvr>
                                            <p:cTn id="13" dur="20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up)">
                                          <p:cBhvr>
                                            <p:cTn id="30"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 grpId="0"/>
          <p:bldP spid="16" grpId="0"/>
          <p:bldP spid="17" grpId="0"/>
          <p:bldP spid="18" grpId="0"/>
          <p:bldP spid="20" grpId="0"/>
        </p:bldLst>
      </p:timing>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Freihandform 67"/>
          <p:cNvSpPr/>
          <p:nvPr/>
        </p:nvSpPr>
        <p:spPr>
          <a:xfrm>
            <a:off x="1817370" y="6616582"/>
            <a:ext cx="129540" cy="4870"/>
          </a:xfrm>
          <a:custGeom>
            <a:avLst/>
            <a:gdLst>
              <a:gd name="connsiteX0" fmla="*/ 0 w 129540"/>
              <a:gd name="connsiteY0" fmla="*/ 4870 h 4870"/>
              <a:gd name="connsiteX1" fmla="*/ 129540 w 129540"/>
              <a:gd name="connsiteY1" fmla="*/ 1060 h 4870"/>
            </a:gdLst>
            <a:ahLst/>
            <a:cxnLst>
              <a:cxn ang="0">
                <a:pos x="connsiteX0" y="connsiteY0"/>
              </a:cxn>
              <a:cxn ang="0">
                <a:pos x="connsiteX1" y="connsiteY1"/>
              </a:cxn>
            </a:cxnLst>
            <a:rect l="l" t="t" r="r" b="b"/>
            <a:pathLst>
              <a:path w="129540" h="4870">
                <a:moveTo>
                  <a:pt x="0" y="4870"/>
                </a:moveTo>
                <a:cubicBezTo>
                  <a:pt x="63245" y="-3036"/>
                  <a:pt x="20241" y="1060"/>
                  <a:pt x="129540" y="106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ihandform 66"/>
          <p:cNvSpPr/>
          <p:nvPr/>
        </p:nvSpPr>
        <p:spPr>
          <a:xfrm>
            <a:off x="1424940" y="6617642"/>
            <a:ext cx="91440" cy="19050"/>
          </a:xfrm>
          <a:custGeom>
            <a:avLst/>
            <a:gdLst>
              <a:gd name="connsiteX0" fmla="*/ 0 w 91440"/>
              <a:gd name="connsiteY0" fmla="*/ 0 h 19050"/>
              <a:gd name="connsiteX1" fmla="*/ 22860 w 91440"/>
              <a:gd name="connsiteY1" fmla="*/ 11430 h 19050"/>
              <a:gd name="connsiteX2" fmla="*/ 45720 w 91440"/>
              <a:gd name="connsiteY2" fmla="*/ 19050 h 19050"/>
              <a:gd name="connsiteX3" fmla="*/ 91440 w 91440"/>
              <a:gd name="connsiteY3" fmla="*/ 15240 h 19050"/>
            </a:gdLst>
            <a:ahLst/>
            <a:cxnLst>
              <a:cxn ang="0">
                <a:pos x="connsiteX0" y="connsiteY0"/>
              </a:cxn>
              <a:cxn ang="0">
                <a:pos x="connsiteX1" y="connsiteY1"/>
              </a:cxn>
              <a:cxn ang="0">
                <a:pos x="connsiteX2" y="connsiteY2"/>
              </a:cxn>
              <a:cxn ang="0">
                <a:pos x="connsiteX3" y="connsiteY3"/>
              </a:cxn>
            </a:cxnLst>
            <a:rect l="l" t="t" r="r" b="b"/>
            <a:pathLst>
              <a:path w="91440" h="19050">
                <a:moveTo>
                  <a:pt x="0" y="0"/>
                </a:moveTo>
                <a:cubicBezTo>
                  <a:pt x="7620" y="3810"/>
                  <a:pt x="14996" y="8153"/>
                  <a:pt x="22860" y="11430"/>
                </a:cubicBezTo>
                <a:cubicBezTo>
                  <a:pt x="30274" y="14519"/>
                  <a:pt x="45720" y="19050"/>
                  <a:pt x="45720" y="19050"/>
                </a:cubicBezTo>
                <a:lnTo>
                  <a:pt x="91440" y="1524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ihandform 65"/>
          <p:cNvSpPr/>
          <p:nvPr/>
        </p:nvSpPr>
        <p:spPr>
          <a:xfrm>
            <a:off x="3074670" y="6468951"/>
            <a:ext cx="110490" cy="23340"/>
          </a:xfrm>
          <a:custGeom>
            <a:avLst/>
            <a:gdLst>
              <a:gd name="connsiteX0" fmla="*/ 0 w 110490"/>
              <a:gd name="connsiteY0" fmla="*/ 3911 h 23340"/>
              <a:gd name="connsiteX1" fmla="*/ 19050 w 110490"/>
              <a:gd name="connsiteY1" fmla="*/ 101 h 23340"/>
              <a:gd name="connsiteX2" fmla="*/ 34290 w 110490"/>
              <a:gd name="connsiteY2" fmla="*/ 7721 h 23340"/>
              <a:gd name="connsiteX3" fmla="*/ 57150 w 110490"/>
              <a:gd name="connsiteY3" fmla="*/ 15341 h 23340"/>
              <a:gd name="connsiteX4" fmla="*/ 68580 w 110490"/>
              <a:gd name="connsiteY4" fmla="*/ 19151 h 23340"/>
              <a:gd name="connsiteX5" fmla="*/ 110490 w 110490"/>
              <a:gd name="connsiteY5" fmla="*/ 22961 h 2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0490" h="23340">
                <a:moveTo>
                  <a:pt x="0" y="3911"/>
                </a:moveTo>
                <a:cubicBezTo>
                  <a:pt x="6350" y="2641"/>
                  <a:pt x="12614" y="-614"/>
                  <a:pt x="19050" y="101"/>
                </a:cubicBezTo>
                <a:cubicBezTo>
                  <a:pt x="24695" y="728"/>
                  <a:pt x="29017" y="5612"/>
                  <a:pt x="34290" y="7721"/>
                </a:cubicBezTo>
                <a:cubicBezTo>
                  <a:pt x="41748" y="10704"/>
                  <a:pt x="49530" y="12801"/>
                  <a:pt x="57150" y="15341"/>
                </a:cubicBezTo>
                <a:cubicBezTo>
                  <a:pt x="60960" y="16611"/>
                  <a:pt x="64684" y="18177"/>
                  <a:pt x="68580" y="19151"/>
                </a:cubicBezTo>
                <a:cubicBezTo>
                  <a:pt x="92445" y="25117"/>
                  <a:pt x="78584" y="22961"/>
                  <a:pt x="110490" y="22961"/>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ihandform 64"/>
          <p:cNvSpPr/>
          <p:nvPr/>
        </p:nvSpPr>
        <p:spPr>
          <a:xfrm>
            <a:off x="1664970" y="6430952"/>
            <a:ext cx="133350" cy="0"/>
          </a:xfrm>
          <a:custGeom>
            <a:avLst/>
            <a:gdLst>
              <a:gd name="connsiteX0" fmla="*/ 0 w 133350"/>
              <a:gd name="connsiteY0" fmla="*/ 0 h 0"/>
              <a:gd name="connsiteX1" fmla="*/ 133350 w 133350"/>
              <a:gd name="connsiteY1" fmla="*/ 0 h 0"/>
            </a:gdLst>
            <a:ahLst/>
            <a:cxnLst>
              <a:cxn ang="0">
                <a:pos x="connsiteX0" y="connsiteY0"/>
              </a:cxn>
              <a:cxn ang="0">
                <a:pos x="connsiteX1" y="connsiteY1"/>
              </a:cxn>
            </a:cxnLst>
            <a:rect l="l" t="t" r="r" b="b"/>
            <a:pathLst>
              <a:path w="133350">
                <a:moveTo>
                  <a:pt x="0" y="0"/>
                </a:moveTo>
                <a:lnTo>
                  <a:pt x="133350"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ihandform 63"/>
          <p:cNvSpPr/>
          <p:nvPr/>
        </p:nvSpPr>
        <p:spPr>
          <a:xfrm>
            <a:off x="982980" y="6450002"/>
            <a:ext cx="175260" cy="12943"/>
          </a:xfrm>
          <a:custGeom>
            <a:avLst/>
            <a:gdLst>
              <a:gd name="connsiteX0" fmla="*/ 0 w 175260"/>
              <a:gd name="connsiteY0" fmla="*/ 0 h 12943"/>
              <a:gd name="connsiteX1" fmla="*/ 175260 w 175260"/>
              <a:gd name="connsiteY1" fmla="*/ 7620 h 12943"/>
            </a:gdLst>
            <a:ahLst/>
            <a:cxnLst>
              <a:cxn ang="0">
                <a:pos x="connsiteX0" y="connsiteY0"/>
              </a:cxn>
              <a:cxn ang="0">
                <a:pos x="connsiteX1" y="connsiteY1"/>
              </a:cxn>
            </a:cxnLst>
            <a:rect l="l" t="t" r="r" b="b"/>
            <a:pathLst>
              <a:path w="175260" h="12943">
                <a:moveTo>
                  <a:pt x="0" y="0"/>
                </a:moveTo>
                <a:cubicBezTo>
                  <a:pt x="71053" y="23684"/>
                  <a:pt x="14828" y="7620"/>
                  <a:pt x="175260" y="762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Freihandform 62"/>
          <p:cNvSpPr/>
          <p:nvPr/>
        </p:nvSpPr>
        <p:spPr>
          <a:xfrm>
            <a:off x="2343150" y="6274742"/>
            <a:ext cx="182880" cy="0"/>
          </a:xfrm>
          <a:custGeom>
            <a:avLst/>
            <a:gdLst>
              <a:gd name="connsiteX0" fmla="*/ 0 w 182880"/>
              <a:gd name="connsiteY0" fmla="*/ 0 h 0"/>
              <a:gd name="connsiteX1" fmla="*/ 182880 w 182880"/>
              <a:gd name="connsiteY1" fmla="*/ 0 h 0"/>
            </a:gdLst>
            <a:ahLst/>
            <a:cxnLst>
              <a:cxn ang="0">
                <a:pos x="connsiteX0" y="connsiteY0"/>
              </a:cxn>
              <a:cxn ang="0">
                <a:pos x="connsiteX1" y="connsiteY1"/>
              </a:cxn>
            </a:cxnLst>
            <a:rect l="l" t="t" r="r" b="b"/>
            <a:pathLst>
              <a:path w="182880">
                <a:moveTo>
                  <a:pt x="0" y="0"/>
                </a:moveTo>
                <a:lnTo>
                  <a:pt x="182880"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ihandform 61"/>
          <p:cNvSpPr/>
          <p:nvPr/>
        </p:nvSpPr>
        <p:spPr>
          <a:xfrm>
            <a:off x="1043940" y="6286172"/>
            <a:ext cx="95250" cy="3894"/>
          </a:xfrm>
          <a:custGeom>
            <a:avLst/>
            <a:gdLst>
              <a:gd name="connsiteX0" fmla="*/ 0 w 95250"/>
              <a:gd name="connsiteY0" fmla="*/ 3810 h 3894"/>
              <a:gd name="connsiteX1" fmla="*/ 19050 w 95250"/>
              <a:gd name="connsiteY1" fmla="*/ 0 h 3894"/>
              <a:gd name="connsiteX2" fmla="*/ 83820 w 95250"/>
              <a:gd name="connsiteY2" fmla="*/ 3810 h 3894"/>
              <a:gd name="connsiteX3" fmla="*/ 95250 w 95250"/>
              <a:gd name="connsiteY3" fmla="*/ 3810 h 3894"/>
            </a:gdLst>
            <a:ahLst/>
            <a:cxnLst>
              <a:cxn ang="0">
                <a:pos x="connsiteX0" y="connsiteY0"/>
              </a:cxn>
              <a:cxn ang="0">
                <a:pos x="connsiteX1" y="connsiteY1"/>
              </a:cxn>
              <a:cxn ang="0">
                <a:pos x="connsiteX2" y="connsiteY2"/>
              </a:cxn>
              <a:cxn ang="0">
                <a:pos x="connsiteX3" y="connsiteY3"/>
              </a:cxn>
            </a:cxnLst>
            <a:rect l="l" t="t" r="r" b="b"/>
            <a:pathLst>
              <a:path w="95250" h="3894">
                <a:moveTo>
                  <a:pt x="0" y="3810"/>
                </a:moveTo>
                <a:cubicBezTo>
                  <a:pt x="6350" y="2540"/>
                  <a:pt x="12574" y="0"/>
                  <a:pt x="19050" y="0"/>
                </a:cubicBezTo>
                <a:cubicBezTo>
                  <a:pt x="40677" y="0"/>
                  <a:pt x="62220" y="2730"/>
                  <a:pt x="83820" y="3810"/>
                </a:cubicBezTo>
                <a:cubicBezTo>
                  <a:pt x="87625" y="4000"/>
                  <a:pt x="91440" y="3810"/>
                  <a:pt x="95250" y="381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Freihandform 44"/>
          <p:cNvSpPr/>
          <p:nvPr/>
        </p:nvSpPr>
        <p:spPr>
          <a:xfrm>
            <a:off x="1023850" y="6112989"/>
            <a:ext cx="202969" cy="45719"/>
          </a:xfrm>
          <a:custGeom>
            <a:avLst/>
            <a:gdLst>
              <a:gd name="connsiteX0" fmla="*/ 0 w 131618"/>
              <a:gd name="connsiteY0" fmla="*/ 0 h 0"/>
              <a:gd name="connsiteX1" fmla="*/ 131618 w 131618"/>
              <a:gd name="connsiteY1" fmla="*/ 0 h 0"/>
            </a:gdLst>
            <a:ahLst/>
            <a:cxnLst>
              <a:cxn ang="0">
                <a:pos x="connsiteX0" y="connsiteY0"/>
              </a:cxn>
              <a:cxn ang="0">
                <a:pos x="connsiteX1" y="connsiteY1"/>
              </a:cxn>
            </a:cxnLst>
            <a:rect l="l" t="t" r="r" b="b"/>
            <a:pathLst>
              <a:path w="131618">
                <a:moveTo>
                  <a:pt x="0" y="0"/>
                </a:moveTo>
                <a:lnTo>
                  <a:pt x="131618"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ihandform 39"/>
          <p:cNvSpPr/>
          <p:nvPr/>
        </p:nvSpPr>
        <p:spPr>
          <a:xfrm>
            <a:off x="1489364" y="5947428"/>
            <a:ext cx="187036" cy="0"/>
          </a:xfrm>
          <a:custGeom>
            <a:avLst/>
            <a:gdLst>
              <a:gd name="connsiteX0" fmla="*/ 0 w 187036"/>
              <a:gd name="connsiteY0" fmla="*/ 0 h 0"/>
              <a:gd name="connsiteX1" fmla="*/ 187036 w 187036"/>
              <a:gd name="connsiteY1" fmla="*/ 0 h 0"/>
            </a:gdLst>
            <a:ahLst/>
            <a:cxnLst>
              <a:cxn ang="0">
                <a:pos x="connsiteX0" y="connsiteY0"/>
              </a:cxn>
              <a:cxn ang="0">
                <a:pos x="connsiteX1" y="connsiteY1"/>
              </a:cxn>
            </a:cxnLst>
            <a:rect l="l" t="t" r="r" b="b"/>
            <a:pathLst>
              <a:path w="187036">
                <a:moveTo>
                  <a:pt x="0" y="0"/>
                </a:moveTo>
                <a:lnTo>
                  <a:pt x="187036"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ihandform 50"/>
          <p:cNvSpPr/>
          <p:nvPr/>
        </p:nvSpPr>
        <p:spPr>
          <a:xfrm>
            <a:off x="1165860" y="5920405"/>
            <a:ext cx="87630" cy="3817"/>
          </a:xfrm>
          <a:custGeom>
            <a:avLst/>
            <a:gdLst>
              <a:gd name="connsiteX0" fmla="*/ 0 w 87630"/>
              <a:gd name="connsiteY0" fmla="*/ 3817 h 3817"/>
              <a:gd name="connsiteX1" fmla="*/ 87630 w 87630"/>
              <a:gd name="connsiteY1" fmla="*/ 7 h 3817"/>
            </a:gdLst>
            <a:ahLst/>
            <a:cxnLst>
              <a:cxn ang="0">
                <a:pos x="connsiteX0" y="connsiteY0"/>
              </a:cxn>
              <a:cxn ang="0">
                <a:pos x="connsiteX1" y="connsiteY1"/>
              </a:cxn>
            </a:cxnLst>
            <a:rect l="l" t="t" r="r" b="b"/>
            <a:pathLst>
              <a:path w="87630" h="3817">
                <a:moveTo>
                  <a:pt x="0" y="3817"/>
                </a:moveTo>
                <a:cubicBezTo>
                  <a:pt x="74920" y="-345"/>
                  <a:pt x="45685" y="7"/>
                  <a:pt x="87630" y="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ihandform 38"/>
          <p:cNvSpPr/>
          <p:nvPr/>
        </p:nvSpPr>
        <p:spPr>
          <a:xfrm>
            <a:off x="1440873" y="5746463"/>
            <a:ext cx="173182" cy="7002"/>
          </a:xfrm>
          <a:custGeom>
            <a:avLst/>
            <a:gdLst>
              <a:gd name="connsiteX0" fmla="*/ 0 w 173182"/>
              <a:gd name="connsiteY0" fmla="*/ 7002 h 7002"/>
              <a:gd name="connsiteX1" fmla="*/ 173182 w 173182"/>
              <a:gd name="connsiteY1" fmla="*/ 74 h 7002"/>
            </a:gdLst>
            <a:ahLst/>
            <a:cxnLst>
              <a:cxn ang="0">
                <a:pos x="connsiteX0" y="connsiteY0"/>
              </a:cxn>
              <a:cxn ang="0">
                <a:pos x="connsiteX1" y="connsiteY1"/>
              </a:cxn>
            </a:cxnLst>
            <a:rect l="l" t="t" r="r" b="b"/>
            <a:pathLst>
              <a:path w="173182" h="7002">
                <a:moveTo>
                  <a:pt x="0" y="7002"/>
                </a:moveTo>
                <a:cubicBezTo>
                  <a:pt x="131578" y="-1222"/>
                  <a:pt x="73819" y="74"/>
                  <a:pt x="173182" y="74"/>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Freihandform 51"/>
          <p:cNvSpPr/>
          <p:nvPr/>
        </p:nvSpPr>
        <p:spPr>
          <a:xfrm>
            <a:off x="922020" y="5752765"/>
            <a:ext cx="87630" cy="3817"/>
          </a:xfrm>
          <a:custGeom>
            <a:avLst/>
            <a:gdLst>
              <a:gd name="connsiteX0" fmla="*/ 0 w 87630"/>
              <a:gd name="connsiteY0" fmla="*/ 3817 h 3817"/>
              <a:gd name="connsiteX1" fmla="*/ 87630 w 87630"/>
              <a:gd name="connsiteY1" fmla="*/ 7 h 3817"/>
            </a:gdLst>
            <a:ahLst/>
            <a:cxnLst>
              <a:cxn ang="0">
                <a:pos x="connsiteX0" y="connsiteY0"/>
              </a:cxn>
              <a:cxn ang="0">
                <a:pos x="connsiteX1" y="connsiteY1"/>
              </a:cxn>
            </a:cxnLst>
            <a:rect l="l" t="t" r="r" b="b"/>
            <a:pathLst>
              <a:path w="87630" h="3817">
                <a:moveTo>
                  <a:pt x="0" y="3817"/>
                </a:moveTo>
                <a:cubicBezTo>
                  <a:pt x="74920" y="-345"/>
                  <a:pt x="45685" y="7"/>
                  <a:pt x="87630" y="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ihandform 53"/>
          <p:cNvSpPr/>
          <p:nvPr/>
        </p:nvSpPr>
        <p:spPr>
          <a:xfrm>
            <a:off x="868680" y="5596562"/>
            <a:ext cx="361950" cy="11430"/>
          </a:xfrm>
          <a:custGeom>
            <a:avLst/>
            <a:gdLst>
              <a:gd name="connsiteX0" fmla="*/ 0 w 361950"/>
              <a:gd name="connsiteY0" fmla="*/ 0 h 11430"/>
              <a:gd name="connsiteX1" fmla="*/ 19050 w 361950"/>
              <a:gd name="connsiteY1" fmla="*/ 3810 h 11430"/>
              <a:gd name="connsiteX2" fmla="*/ 137160 w 361950"/>
              <a:gd name="connsiteY2" fmla="*/ 11430 h 11430"/>
              <a:gd name="connsiteX3" fmla="*/ 361950 w 361950"/>
              <a:gd name="connsiteY3" fmla="*/ 7620 h 11430"/>
            </a:gdLst>
            <a:ahLst/>
            <a:cxnLst>
              <a:cxn ang="0">
                <a:pos x="connsiteX0" y="connsiteY0"/>
              </a:cxn>
              <a:cxn ang="0">
                <a:pos x="connsiteX1" y="connsiteY1"/>
              </a:cxn>
              <a:cxn ang="0">
                <a:pos x="connsiteX2" y="connsiteY2"/>
              </a:cxn>
              <a:cxn ang="0">
                <a:pos x="connsiteX3" y="connsiteY3"/>
              </a:cxn>
            </a:cxnLst>
            <a:rect l="l" t="t" r="r" b="b"/>
            <a:pathLst>
              <a:path w="361950" h="11430">
                <a:moveTo>
                  <a:pt x="0" y="0"/>
                </a:moveTo>
                <a:cubicBezTo>
                  <a:pt x="6350" y="1270"/>
                  <a:pt x="12586" y="3418"/>
                  <a:pt x="19050" y="3810"/>
                </a:cubicBezTo>
                <a:cubicBezTo>
                  <a:pt x="139847" y="11131"/>
                  <a:pt x="90833" y="-4012"/>
                  <a:pt x="137160" y="11430"/>
                </a:cubicBezTo>
                <a:cubicBezTo>
                  <a:pt x="300978" y="6749"/>
                  <a:pt x="226042" y="7620"/>
                  <a:pt x="361950" y="762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Freihandform 52"/>
          <p:cNvSpPr/>
          <p:nvPr/>
        </p:nvSpPr>
        <p:spPr>
          <a:xfrm>
            <a:off x="880110" y="5394632"/>
            <a:ext cx="377190" cy="19050"/>
          </a:xfrm>
          <a:custGeom>
            <a:avLst/>
            <a:gdLst>
              <a:gd name="connsiteX0" fmla="*/ 0 w 377190"/>
              <a:gd name="connsiteY0" fmla="*/ 3810 h 19050"/>
              <a:gd name="connsiteX1" fmla="*/ 19050 w 377190"/>
              <a:gd name="connsiteY1" fmla="*/ 0 h 19050"/>
              <a:gd name="connsiteX2" fmla="*/ 137160 w 377190"/>
              <a:gd name="connsiteY2" fmla="*/ 7620 h 19050"/>
              <a:gd name="connsiteX3" fmla="*/ 220980 w 377190"/>
              <a:gd name="connsiteY3" fmla="*/ 11430 h 19050"/>
              <a:gd name="connsiteX4" fmla="*/ 335280 w 377190"/>
              <a:gd name="connsiteY4" fmla="*/ 19050 h 19050"/>
              <a:gd name="connsiteX5" fmla="*/ 377190 w 377190"/>
              <a:gd name="connsiteY5" fmla="*/ 15240 h 19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190" h="19050">
                <a:moveTo>
                  <a:pt x="0" y="3810"/>
                </a:moveTo>
                <a:cubicBezTo>
                  <a:pt x="6350" y="2540"/>
                  <a:pt x="12574" y="0"/>
                  <a:pt x="19050" y="0"/>
                </a:cubicBezTo>
                <a:cubicBezTo>
                  <a:pt x="95787" y="0"/>
                  <a:pt x="77354" y="3995"/>
                  <a:pt x="137160" y="7620"/>
                </a:cubicBezTo>
                <a:cubicBezTo>
                  <a:pt x="165078" y="9312"/>
                  <a:pt x="193058" y="9819"/>
                  <a:pt x="220980" y="11430"/>
                </a:cubicBezTo>
                <a:lnTo>
                  <a:pt x="335280" y="19050"/>
                </a:lnTo>
                <a:lnTo>
                  <a:pt x="377190" y="1524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Freihandform 55"/>
          <p:cNvSpPr/>
          <p:nvPr/>
        </p:nvSpPr>
        <p:spPr>
          <a:xfrm>
            <a:off x="2045970" y="5209795"/>
            <a:ext cx="243840" cy="17207"/>
          </a:xfrm>
          <a:custGeom>
            <a:avLst/>
            <a:gdLst>
              <a:gd name="connsiteX0" fmla="*/ 0 w 243840"/>
              <a:gd name="connsiteY0" fmla="*/ 13387 h 17207"/>
              <a:gd name="connsiteX1" fmla="*/ 156210 w 243840"/>
              <a:gd name="connsiteY1" fmla="*/ 9577 h 17207"/>
              <a:gd name="connsiteX2" fmla="*/ 228600 w 243840"/>
              <a:gd name="connsiteY2" fmla="*/ 13387 h 17207"/>
              <a:gd name="connsiteX3" fmla="*/ 243840 w 243840"/>
              <a:gd name="connsiteY3" fmla="*/ 17197 h 17207"/>
            </a:gdLst>
            <a:ahLst/>
            <a:cxnLst>
              <a:cxn ang="0">
                <a:pos x="connsiteX0" y="connsiteY0"/>
              </a:cxn>
              <a:cxn ang="0">
                <a:pos x="connsiteX1" y="connsiteY1"/>
              </a:cxn>
              <a:cxn ang="0">
                <a:pos x="connsiteX2" y="connsiteY2"/>
              </a:cxn>
              <a:cxn ang="0">
                <a:pos x="connsiteX3" y="connsiteY3"/>
              </a:cxn>
            </a:cxnLst>
            <a:rect l="l" t="t" r="r" b="b"/>
            <a:pathLst>
              <a:path w="243840" h="17207">
                <a:moveTo>
                  <a:pt x="0" y="13387"/>
                </a:moveTo>
                <a:cubicBezTo>
                  <a:pt x="61093" y="-11050"/>
                  <a:pt x="15047" y="4444"/>
                  <a:pt x="156210" y="9577"/>
                </a:cubicBezTo>
                <a:cubicBezTo>
                  <a:pt x="180357" y="10455"/>
                  <a:pt x="204470" y="12117"/>
                  <a:pt x="228600" y="13387"/>
                </a:cubicBezTo>
                <a:cubicBezTo>
                  <a:pt x="241235" y="17599"/>
                  <a:pt x="236014" y="17197"/>
                  <a:pt x="243840" y="1719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ihandform 34"/>
          <p:cNvSpPr/>
          <p:nvPr/>
        </p:nvSpPr>
        <p:spPr>
          <a:xfrm>
            <a:off x="2687782" y="5067239"/>
            <a:ext cx="381000" cy="14871"/>
          </a:xfrm>
          <a:custGeom>
            <a:avLst/>
            <a:gdLst>
              <a:gd name="connsiteX0" fmla="*/ 0 w 381000"/>
              <a:gd name="connsiteY0" fmla="*/ 426 h 14871"/>
              <a:gd name="connsiteX1" fmla="*/ 187036 w 381000"/>
              <a:gd name="connsiteY1" fmla="*/ 14280 h 14871"/>
              <a:gd name="connsiteX2" fmla="*/ 346363 w 381000"/>
              <a:gd name="connsiteY2" fmla="*/ 426 h 14871"/>
              <a:gd name="connsiteX3" fmla="*/ 381000 w 381000"/>
              <a:gd name="connsiteY3" fmla="*/ 426 h 14871"/>
            </a:gdLst>
            <a:ahLst/>
            <a:cxnLst>
              <a:cxn ang="0">
                <a:pos x="connsiteX0" y="connsiteY0"/>
              </a:cxn>
              <a:cxn ang="0">
                <a:pos x="connsiteX1" y="connsiteY1"/>
              </a:cxn>
              <a:cxn ang="0">
                <a:pos x="connsiteX2" y="connsiteY2"/>
              </a:cxn>
              <a:cxn ang="0">
                <a:pos x="connsiteX3" y="connsiteY3"/>
              </a:cxn>
            </a:cxnLst>
            <a:rect l="l" t="t" r="r" b="b"/>
            <a:pathLst>
              <a:path w="381000" h="14871">
                <a:moveTo>
                  <a:pt x="0" y="426"/>
                </a:moveTo>
                <a:cubicBezTo>
                  <a:pt x="62345" y="5044"/>
                  <a:pt x="124537" y="12827"/>
                  <a:pt x="187036" y="14280"/>
                </a:cubicBezTo>
                <a:cubicBezTo>
                  <a:pt x="319680" y="17365"/>
                  <a:pt x="258796" y="7723"/>
                  <a:pt x="346363" y="426"/>
                </a:cubicBezTo>
                <a:cubicBezTo>
                  <a:pt x="357869" y="-533"/>
                  <a:pt x="369454" y="426"/>
                  <a:pt x="381000" y="426"/>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ihandform 33"/>
          <p:cNvSpPr/>
          <p:nvPr/>
        </p:nvSpPr>
        <p:spPr>
          <a:xfrm>
            <a:off x="969818" y="4880628"/>
            <a:ext cx="429491" cy="13990"/>
          </a:xfrm>
          <a:custGeom>
            <a:avLst/>
            <a:gdLst>
              <a:gd name="connsiteX0" fmla="*/ 0 w 429491"/>
              <a:gd name="connsiteY0" fmla="*/ 0 h 13990"/>
              <a:gd name="connsiteX1" fmla="*/ 200891 w 429491"/>
              <a:gd name="connsiteY1" fmla="*/ 6928 h 13990"/>
              <a:gd name="connsiteX2" fmla="*/ 429491 w 429491"/>
              <a:gd name="connsiteY2" fmla="*/ 13855 h 13990"/>
            </a:gdLst>
            <a:ahLst/>
            <a:cxnLst>
              <a:cxn ang="0">
                <a:pos x="connsiteX0" y="connsiteY0"/>
              </a:cxn>
              <a:cxn ang="0">
                <a:pos x="connsiteX1" y="connsiteY1"/>
              </a:cxn>
              <a:cxn ang="0">
                <a:pos x="connsiteX2" y="connsiteY2"/>
              </a:cxn>
            </a:cxnLst>
            <a:rect l="l" t="t" r="r" b="b"/>
            <a:pathLst>
              <a:path w="429491" h="13990">
                <a:moveTo>
                  <a:pt x="0" y="0"/>
                </a:moveTo>
                <a:lnTo>
                  <a:pt x="200891" y="6928"/>
                </a:lnTo>
                <a:cubicBezTo>
                  <a:pt x="407909" y="15554"/>
                  <a:pt x="256849" y="13855"/>
                  <a:pt x="429491" y="13855"/>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ihandform 32"/>
          <p:cNvSpPr/>
          <p:nvPr/>
        </p:nvSpPr>
        <p:spPr>
          <a:xfrm>
            <a:off x="1835727" y="4700519"/>
            <a:ext cx="374073" cy="14510"/>
          </a:xfrm>
          <a:custGeom>
            <a:avLst/>
            <a:gdLst>
              <a:gd name="connsiteX0" fmla="*/ 0 w 374073"/>
              <a:gd name="connsiteY0" fmla="*/ 0 h 14510"/>
              <a:gd name="connsiteX1" fmla="*/ 124691 w 374073"/>
              <a:gd name="connsiteY1" fmla="*/ 6928 h 14510"/>
              <a:gd name="connsiteX2" fmla="*/ 214746 w 374073"/>
              <a:gd name="connsiteY2" fmla="*/ 13855 h 14510"/>
              <a:gd name="connsiteX3" fmla="*/ 374073 w 374073"/>
              <a:gd name="connsiteY3" fmla="*/ 13855 h 14510"/>
            </a:gdLst>
            <a:ahLst/>
            <a:cxnLst>
              <a:cxn ang="0">
                <a:pos x="connsiteX0" y="connsiteY0"/>
              </a:cxn>
              <a:cxn ang="0">
                <a:pos x="connsiteX1" y="connsiteY1"/>
              </a:cxn>
              <a:cxn ang="0">
                <a:pos x="connsiteX2" y="connsiteY2"/>
              </a:cxn>
              <a:cxn ang="0">
                <a:pos x="connsiteX3" y="connsiteY3"/>
              </a:cxn>
            </a:cxnLst>
            <a:rect l="l" t="t" r="r" b="b"/>
            <a:pathLst>
              <a:path w="374073" h="14510">
                <a:moveTo>
                  <a:pt x="0" y="0"/>
                </a:moveTo>
                <a:lnTo>
                  <a:pt x="124691" y="6928"/>
                </a:lnTo>
                <a:cubicBezTo>
                  <a:pt x="154736" y="8866"/>
                  <a:pt x="184651" y="13019"/>
                  <a:pt x="214746" y="13855"/>
                </a:cubicBezTo>
                <a:cubicBezTo>
                  <a:pt x="267835" y="15330"/>
                  <a:pt x="320964" y="13855"/>
                  <a:pt x="374073" y="13855"/>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Freihandform 56"/>
          <p:cNvSpPr/>
          <p:nvPr/>
        </p:nvSpPr>
        <p:spPr>
          <a:xfrm>
            <a:off x="872490" y="4518332"/>
            <a:ext cx="324382" cy="15277"/>
          </a:xfrm>
          <a:custGeom>
            <a:avLst/>
            <a:gdLst>
              <a:gd name="connsiteX0" fmla="*/ 0 w 324382"/>
              <a:gd name="connsiteY0" fmla="*/ 0 h 15277"/>
              <a:gd name="connsiteX1" fmla="*/ 220980 w 324382"/>
              <a:gd name="connsiteY1" fmla="*/ 3810 h 15277"/>
              <a:gd name="connsiteX2" fmla="*/ 232410 w 324382"/>
              <a:gd name="connsiteY2" fmla="*/ 7620 h 15277"/>
              <a:gd name="connsiteX3" fmla="*/ 274320 w 324382"/>
              <a:gd name="connsiteY3" fmla="*/ 11430 h 15277"/>
              <a:gd name="connsiteX4" fmla="*/ 297180 w 324382"/>
              <a:gd name="connsiteY4" fmla="*/ 15240 h 152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4382" h="15277">
                <a:moveTo>
                  <a:pt x="0" y="0"/>
                </a:moveTo>
                <a:lnTo>
                  <a:pt x="220980" y="3810"/>
                </a:lnTo>
                <a:cubicBezTo>
                  <a:pt x="224994" y="3942"/>
                  <a:pt x="228434" y="7052"/>
                  <a:pt x="232410" y="7620"/>
                </a:cubicBezTo>
                <a:cubicBezTo>
                  <a:pt x="246297" y="9604"/>
                  <a:pt x="260341" y="10265"/>
                  <a:pt x="274320" y="11430"/>
                </a:cubicBezTo>
                <a:cubicBezTo>
                  <a:pt x="328222" y="15922"/>
                  <a:pt x="342820" y="15240"/>
                  <a:pt x="297180" y="1524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ihandform 30"/>
          <p:cNvSpPr/>
          <p:nvPr/>
        </p:nvSpPr>
        <p:spPr>
          <a:xfrm>
            <a:off x="907473" y="4317852"/>
            <a:ext cx="256309" cy="43231"/>
          </a:xfrm>
          <a:custGeom>
            <a:avLst/>
            <a:gdLst>
              <a:gd name="connsiteX0" fmla="*/ 0 w 256309"/>
              <a:gd name="connsiteY0" fmla="*/ 29376 h 43231"/>
              <a:gd name="connsiteX1" fmla="*/ 256309 w 256309"/>
              <a:gd name="connsiteY1" fmla="*/ 43231 h 43231"/>
            </a:gdLst>
            <a:ahLst/>
            <a:cxnLst>
              <a:cxn ang="0">
                <a:pos x="connsiteX0" y="connsiteY0"/>
              </a:cxn>
              <a:cxn ang="0">
                <a:pos x="connsiteX1" y="connsiteY1"/>
              </a:cxn>
            </a:cxnLst>
            <a:rect l="l" t="t" r="r" b="b"/>
            <a:pathLst>
              <a:path w="256309" h="43231">
                <a:moveTo>
                  <a:pt x="0" y="29376"/>
                </a:moveTo>
                <a:cubicBezTo>
                  <a:pt x="258617" y="36366"/>
                  <a:pt x="256309" y="-49164"/>
                  <a:pt x="256309" y="43231"/>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ihandform 29"/>
          <p:cNvSpPr/>
          <p:nvPr/>
        </p:nvSpPr>
        <p:spPr>
          <a:xfrm>
            <a:off x="893618" y="4174047"/>
            <a:ext cx="270164" cy="14390"/>
          </a:xfrm>
          <a:custGeom>
            <a:avLst/>
            <a:gdLst>
              <a:gd name="connsiteX0" fmla="*/ 0 w 270164"/>
              <a:gd name="connsiteY0" fmla="*/ 0 h 14390"/>
              <a:gd name="connsiteX1" fmla="*/ 124691 w 270164"/>
              <a:gd name="connsiteY1" fmla="*/ 6927 h 14390"/>
              <a:gd name="connsiteX2" fmla="*/ 193964 w 270164"/>
              <a:gd name="connsiteY2" fmla="*/ 13854 h 14390"/>
              <a:gd name="connsiteX3" fmla="*/ 270164 w 270164"/>
              <a:gd name="connsiteY3" fmla="*/ 13854 h 14390"/>
            </a:gdLst>
            <a:ahLst/>
            <a:cxnLst>
              <a:cxn ang="0">
                <a:pos x="connsiteX0" y="connsiteY0"/>
              </a:cxn>
              <a:cxn ang="0">
                <a:pos x="connsiteX1" y="connsiteY1"/>
              </a:cxn>
              <a:cxn ang="0">
                <a:pos x="connsiteX2" y="connsiteY2"/>
              </a:cxn>
              <a:cxn ang="0">
                <a:pos x="connsiteX3" y="connsiteY3"/>
              </a:cxn>
            </a:cxnLst>
            <a:rect l="l" t="t" r="r" b="b"/>
            <a:pathLst>
              <a:path w="270164" h="14390">
                <a:moveTo>
                  <a:pt x="0" y="0"/>
                </a:moveTo>
                <a:lnTo>
                  <a:pt x="124691" y="6927"/>
                </a:lnTo>
                <a:cubicBezTo>
                  <a:pt x="147838" y="8580"/>
                  <a:pt x="170784" y="12750"/>
                  <a:pt x="193964" y="13854"/>
                </a:cubicBezTo>
                <a:cubicBezTo>
                  <a:pt x="219335" y="15062"/>
                  <a:pt x="244764" y="13854"/>
                  <a:pt x="270164" y="13854"/>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ihandform 58"/>
          <p:cNvSpPr/>
          <p:nvPr/>
        </p:nvSpPr>
        <p:spPr>
          <a:xfrm>
            <a:off x="1950720" y="4011602"/>
            <a:ext cx="278130" cy="4097"/>
          </a:xfrm>
          <a:custGeom>
            <a:avLst/>
            <a:gdLst>
              <a:gd name="connsiteX0" fmla="*/ 0 w 278130"/>
              <a:gd name="connsiteY0" fmla="*/ 3810 h 4097"/>
              <a:gd name="connsiteX1" fmla="*/ 83820 w 278130"/>
              <a:gd name="connsiteY1" fmla="*/ 0 h 4097"/>
              <a:gd name="connsiteX2" fmla="*/ 179070 w 278130"/>
              <a:gd name="connsiteY2" fmla="*/ 3810 h 4097"/>
              <a:gd name="connsiteX3" fmla="*/ 278130 w 278130"/>
              <a:gd name="connsiteY3" fmla="*/ 3810 h 4097"/>
            </a:gdLst>
            <a:ahLst/>
            <a:cxnLst>
              <a:cxn ang="0">
                <a:pos x="connsiteX0" y="connsiteY0"/>
              </a:cxn>
              <a:cxn ang="0">
                <a:pos x="connsiteX1" y="connsiteY1"/>
              </a:cxn>
              <a:cxn ang="0">
                <a:pos x="connsiteX2" y="connsiteY2"/>
              </a:cxn>
              <a:cxn ang="0">
                <a:pos x="connsiteX3" y="connsiteY3"/>
              </a:cxn>
            </a:cxnLst>
            <a:rect l="l" t="t" r="r" b="b"/>
            <a:pathLst>
              <a:path w="278130" h="4097">
                <a:moveTo>
                  <a:pt x="0" y="3810"/>
                </a:moveTo>
                <a:cubicBezTo>
                  <a:pt x="27940" y="2540"/>
                  <a:pt x="55851" y="0"/>
                  <a:pt x="83820" y="0"/>
                </a:cubicBezTo>
                <a:cubicBezTo>
                  <a:pt x="115595" y="0"/>
                  <a:pt x="147301" y="3187"/>
                  <a:pt x="179070" y="3810"/>
                </a:cubicBezTo>
                <a:cubicBezTo>
                  <a:pt x="212084" y="4457"/>
                  <a:pt x="245110" y="3810"/>
                  <a:pt x="278130" y="381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Freihandform 57"/>
          <p:cNvSpPr/>
          <p:nvPr/>
        </p:nvSpPr>
        <p:spPr>
          <a:xfrm>
            <a:off x="872490" y="3831705"/>
            <a:ext cx="308610" cy="27497"/>
          </a:xfrm>
          <a:custGeom>
            <a:avLst/>
            <a:gdLst>
              <a:gd name="connsiteX0" fmla="*/ 0 w 308610"/>
              <a:gd name="connsiteY0" fmla="*/ 12257 h 27497"/>
              <a:gd name="connsiteX1" fmla="*/ 99060 w 308610"/>
              <a:gd name="connsiteY1" fmla="*/ 23687 h 27497"/>
              <a:gd name="connsiteX2" fmla="*/ 114300 w 308610"/>
              <a:gd name="connsiteY2" fmla="*/ 27497 h 27497"/>
              <a:gd name="connsiteX3" fmla="*/ 175260 w 308610"/>
              <a:gd name="connsiteY3" fmla="*/ 23687 h 27497"/>
              <a:gd name="connsiteX4" fmla="*/ 205740 w 308610"/>
              <a:gd name="connsiteY4" fmla="*/ 16067 h 27497"/>
              <a:gd name="connsiteX5" fmla="*/ 270510 w 308610"/>
              <a:gd name="connsiteY5" fmla="*/ 827 h 27497"/>
              <a:gd name="connsiteX6" fmla="*/ 308610 w 308610"/>
              <a:gd name="connsiteY6" fmla="*/ 827 h 274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8610" h="27497">
                <a:moveTo>
                  <a:pt x="0" y="12257"/>
                </a:moveTo>
                <a:lnTo>
                  <a:pt x="99060" y="23687"/>
                </a:lnTo>
                <a:cubicBezTo>
                  <a:pt x="104140" y="24957"/>
                  <a:pt x="109064" y="27497"/>
                  <a:pt x="114300" y="27497"/>
                </a:cubicBezTo>
                <a:cubicBezTo>
                  <a:pt x="134660" y="27497"/>
                  <a:pt x="154992" y="25617"/>
                  <a:pt x="175260" y="23687"/>
                </a:cubicBezTo>
                <a:cubicBezTo>
                  <a:pt x="197945" y="21527"/>
                  <a:pt x="188355" y="20413"/>
                  <a:pt x="205740" y="16067"/>
                </a:cubicBezTo>
                <a:cubicBezTo>
                  <a:pt x="227257" y="10688"/>
                  <a:pt x="248570" y="4077"/>
                  <a:pt x="270510" y="827"/>
                </a:cubicBezTo>
                <a:cubicBezTo>
                  <a:pt x="283073" y="-1034"/>
                  <a:pt x="295910" y="827"/>
                  <a:pt x="308610" y="82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ihandform 46"/>
          <p:cNvSpPr/>
          <p:nvPr/>
        </p:nvSpPr>
        <p:spPr>
          <a:xfrm>
            <a:off x="832919" y="2618085"/>
            <a:ext cx="561315" cy="19255"/>
          </a:xfrm>
          <a:custGeom>
            <a:avLst/>
            <a:gdLst>
              <a:gd name="connsiteX0" fmla="*/ 0 w 561315"/>
              <a:gd name="connsiteY0" fmla="*/ 0 h 19255"/>
              <a:gd name="connsiteX1" fmla="*/ 371192 w 561315"/>
              <a:gd name="connsiteY1" fmla="*/ 9054 h 19255"/>
              <a:gd name="connsiteX2" fmla="*/ 398352 w 561315"/>
              <a:gd name="connsiteY2" fmla="*/ 18107 h 19255"/>
              <a:gd name="connsiteX3" fmla="*/ 561315 w 561315"/>
              <a:gd name="connsiteY3" fmla="*/ 18107 h 19255"/>
            </a:gdLst>
            <a:ahLst/>
            <a:cxnLst>
              <a:cxn ang="0">
                <a:pos x="connsiteX0" y="connsiteY0"/>
              </a:cxn>
              <a:cxn ang="0">
                <a:pos x="connsiteX1" y="connsiteY1"/>
              </a:cxn>
              <a:cxn ang="0">
                <a:pos x="connsiteX2" y="connsiteY2"/>
              </a:cxn>
              <a:cxn ang="0">
                <a:pos x="connsiteX3" y="connsiteY3"/>
              </a:cxn>
            </a:cxnLst>
            <a:rect l="l" t="t" r="r" b="b"/>
            <a:pathLst>
              <a:path w="561315" h="19255">
                <a:moveTo>
                  <a:pt x="0" y="0"/>
                </a:moveTo>
                <a:cubicBezTo>
                  <a:pt x="123731" y="3018"/>
                  <a:pt x="247552" y="3434"/>
                  <a:pt x="371192" y="9054"/>
                </a:cubicBezTo>
                <a:cubicBezTo>
                  <a:pt x="380725" y="9487"/>
                  <a:pt x="388820" y="17653"/>
                  <a:pt x="398352" y="18107"/>
                </a:cubicBezTo>
                <a:cubicBezTo>
                  <a:pt x="452612" y="20691"/>
                  <a:pt x="506994" y="18107"/>
                  <a:pt x="561315" y="1810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ihandform 45"/>
          <p:cNvSpPr/>
          <p:nvPr/>
        </p:nvSpPr>
        <p:spPr>
          <a:xfrm>
            <a:off x="860079" y="2427962"/>
            <a:ext cx="534155" cy="22084"/>
          </a:xfrm>
          <a:custGeom>
            <a:avLst/>
            <a:gdLst>
              <a:gd name="connsiteX0" fmla="*/ 0 w 534155"/>
              <a:gd name="connsiteY0" fmla="*/ 9054 h 22084"/>
              <a:gd name="connsiteX1" fmla="*/ 162963 w 534155"/>
              <a:gd name="connsiteY1" fmla="*/ 18107 h 22084"/>
              <a:gd name="connsiteX2" fmla="*/ 443620 w 534155"/>
              <a:gd name="connsiteY2" fmla="*/ 0 h 22084"/>
              <a:gd name="connsiteX3" fmla="*/ 497941 w 534155"/>
              <a:gd name="connsiteY3" fmla="*/ 9054 h 22084"/>
              <a:gd name="connsiteX4" fmla="*/ 534155 w 534155"/>
              <a:gd name="connsiteY4" fmla="*/ 0 h 220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4155" h="22084">
                <a:moveTo>
                  <a:pt x="0" y="9054"/>
                </a:moveTo>
                <a:cubicBezTo>
                  <a:pt x="54321" y="12072"/>
                  <a:pt x="108558" y="18107"/>
                  <a:pt x="162963" y="18107"/>
                </a:cubicBezTo>
                <a:cubicBezTo>
                  <a:pt x="397818" y="18107"/>
                  <a:pt x="339427" y="34734"/>
                  <a:pt x="443620" y="0"/>
                </a:cubicBezTo>
                <a:cubicBezTo>
                  <a:pt x="461727" y="3018"/>
                  <a:pt x="479584" y="9054"/>
                  <a:pt x="497941" y="9054"/>
                </a:cubicBezTo>
                <a:cubicBezTo>
                  <a:pt x="510384" y="9054"/>
                  <a:pt x="534155" y="0"/>
                  <a:pt x="534155" y="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Freihandform 47"/>
          <p:cNvSpPr/>
          <p:nvPr/>
        </p:nvSpPr>
        <p:spPr>
          <a:xfrm>
            <a:off x="2336005" y="2074425"/>
            <a:ext cx="461515" cy="45719"/>
          </a:xfrm>
          <a:custGeom>
            <a:avLst/>
            <a:gdLst>
              <a:gd name="connsiteX0" fmla="*/ 0 w 516048"/>
              <a:gd name="connsiteY0" fmla="*/ 0 h 27160"/>
              <a:gd name="connsiteX1" fmla="*/ 362139 w 516048"/>
              <a:gd name="connsiteY1" fmla="*/ 9054 h 27160"/>
              <a:gd name="connsiteX2" fmla="*/ 488887 w 516048"/>
              <a:gd name="connsiteY2" fmla="*/ 18107 h 27160"/>
              <a:gd name="connsiteX3" fmla="*/ 516048 w 516048"/>
              <a:gd name="connsiteY3" fmla="*/ 27160 h 27160"/>
            </a:gdLst>
            <a:ahLst/>
            <a:cxnLst>
              <a:cxn ang="0">
                <a:pos x="connsiteX0" y="connsiteY0"/>
              </a:cxn>
              <a:cxn ang="0">
                <a:pos x="connsiteX1" y="connsiteY1"/>
              </a:cxn>
              <a:cxn ang="0">
                <a:pos x="connsiteX2" y="connsiteY2"/>
              </a:cxn>
              <a:cxn ang="0">
                <a:pos x="connsiteX3" y="connsiteY3"/>
              </a:cxn>
            </a:cxnLst>
            <a:rect l="l" t="t" r="r" b="b"/>
            <a:pathLst>
              <a:path w="516048" h="27160">
                <a:moveTo>
                  <a:pt x="0" y="0"/>
                </a:moveTo>
                <a:lnTo>
                  <a:pt x="362139" y="9054"/>
                </a:lnTo>
                <a:cubicBezTo>
                  <a:pt x="404467" y="10622"/>
                  <a:pt x="446820" y="13158"/>
                  <a:pt x="488887" y="18107"/>
                </a:cubicBezTo>
                <a:cubicBezTo>
                  <a:pt x="498365" y="19222"/>
                  <a:pt x="516048" y="27160"/>
                  <a:pt x="516048" y="2716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Tabelle 4"/>
          <p:cNvGraphicFramePr>
            <a:graphicFrameLocks noGrp="1"/>
          </p:cNvGraphicFramePr>
          <p:nvPr>
            <p:extLst>
              <p:ext uri="{D42A27DB-BD31-4B8C-83A1-F6EECF244321}">
                <p14:modId xmlns:p14="http://schemas.microsoft.com/office/powerpoint/2010/main" val="3004599440"/>
              </p:ext>
            </p:extLst>
          </p:nvPr>
        </p:nvGraphicFramePr>
        <p:xfrm>
          <a:off x="180000" y="612992"/>
          <a:ext cx="6012000" cy="6091575"/>
        </p:xfrm>
        <a:graphic>
          <a:graphicData uri="http://schemas.openxmlformats.org/drawingml/2006/table">
            <a:tbl>
              <a:tblPr/>
              <a:tblGrid>
                <a:gridCol w="612000"/>
                <a:gridCol w="5400000"/>
              </a:tblGrid>
              <a:tr h="1440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smtClean="0">
                          <a:solidFill>
                            <a:srgbClr val="000000"/>
                          </a:solidFill>
                          <a:effectLst/>
                          <a:latin typeface="Calibri" panose="020F0502020204030204" pitchFamily="34" charset="0"/>
                        </a:rPr>
                        <a:t>Firma</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6405" marB="0" anchor="b">
                    <a:lnL>
                      <a:noFill/>
                    </a:lnL>
                    <a:lnR>
                      <a:noFill/>
                    </a:lnR>
                    <a:lnT w="12700" cap="flat" cmpd="sng" algn="ctr">
                      <a:solidFill>
                        <a:srgbClr val="00B0F0"/>
                      </a:solidFill>
                      <a:prstDash val="solid"/>
                      <a:round/>
                      <a:headEnd type="none" w="med" len="med"/>
                      <a:tailEnd type="none" w="med" len="med"/>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KfK</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Verwaltungs</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Blaupausen Medien Multimediaagentur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Blaupauser</a:t>
                      </a:r>
                      <a:r>
                        <a:rPr lang="de-DE" sz="1100" b="0" i="0" u="none" strike="noStrike" dirty="0">
                          <a:solidFill>
                            <a:srgbClr val="000000"/>
                          </a:solidFill>
                          <a:effectLst/>
                          <a:latin typeface="Calibri" panose="020F0502020204030204" pitchFamily="34" charset="0"/>
                        </a:rPr>
                        <a:t> Projektentwicklung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sv-SE" sz="1100" b="0" i="0" u="none" strike="noStrike" dirty="0">
                          <a:solidFill>
                            <a:srgbClr val="000000"/>
                          </a:solidFill>
                          <a:effectLst/>
                          <a:latin typeface="Calibri" panose="020F0502020204030204" pitchFamily="34" charset="0"/>
                        </a:rPr>
                        <a:t>Blaupark Living Ulm K20 Projekt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Ute </a:t>
                      </a:r>
                      <a:r>
                        <a:rPr lang="de-DE" sz="1100" b="0" i="0" u="none" strike="noStrike" dirty="0" err="1">
                          <a:solidFill>
                            <a:srgbClr val="000000"/>
                          </a:solidFill>
                          <a:effectLst/>
                          <a:latin typeface="Calibri" panose="020F0502020204030204" pitchFamily="34" charset="0"/>
                        </a:rPr>
                        <a:t>Nißle-Klammt</a:t>
                      </a:r>
                      <a:r>
                        <a:rPr lang="de-DE" sz="1100" b="0" i="0" u="none" strike="noStrike" dirty="0">
                          <a:solidFill>
                            <a:srgbClr val="000000"/>
                          </a:solidFill>
                          <a:effectLst/>
                          <a:latin typeface="Calibri" panose="020F0502020204030204" pitchFamily="34" charset="0"/>
                        </a:rPr>
                        <a:t> Blaupark-Apotheke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Blaupapier </a:t>
                      </a:r>
                      <a:r>
                        <a:rPr lang="de-DE" sz="1100" b="0" i="0" u="none" strike="noStrike" dirty="0" err="1">
                          <a:solidFill>
                            <a:srgbClr val="000000"/>
                          </a:solidFill>
                          <a:effectLst/>
                          <a:latin typeface="Calibri" panose="020F0502020204030204" pitchFamily="34" charset="0"/>
                        </a:rPr>
                        <a:t>Immobilienverwertungsges.m</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b.H</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Blaupapier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sv-SE" sz="1100" b="0" i="0" u="none" strike="noStrike" dirty="0">
                          <a:solidFill>
                            <a:srgbClr val="000000"/>
                          </a:solidFill>
                          <a:effectLst/>
                          <a:latin typeface="Calibri" panose="020F0502020204030204" pitchFamily="34" charset="0"/>
                        </a:rPr>
                        <a:t>Blaupark Living Ulm K20 Projekt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91.03</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000000"/>
                          </a:solidFill>
                          <a:effectLst/>
                          <a:latin typeface="Calibri" panose="020F0502020204030204" pitchFamily="34" charset="0"/>
                        </a:rPr>
                        <a:t>Plaupause</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91.03</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89.68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Simon Huber Filmproduktion graupause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Seniorenzentrum </a:t>
                      </a:r>
                      <a:r>
                        <a:rPr lang="de-DE" sz="1100" b="0" i="0" u="none" strike="noStrike" dirty="0" err="1">
                          <a:solidFill>
                            <a:srgbClr val="000000"/>
                          </a:solidFill>
                          <a:effectLst/>
                          <a:latin typeface="Calibri" panose="020F0502020204030204" pitchFamily="34" charset="0"/>
                        </a:rPr>
                        <a:t>Lopaupark</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paupau</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paupau</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Deli</a:t>
                      </a:r>
                      <a:r>
                        <a:rPr lang="de-DE" sz="1100" b="0" i="0" u="none" strike="noStrike" dirty="0">
                          <a:solidFill>
                            <a:srgbClr val="000000"/>
                          </a:solidFill>
                          <a:effectLst/>
                          <a:latin typeface="Calibri" panose="020F0502020204030204" pitchFamily="34" charset="0"/>
                        </a:rPr>
                        <a:t>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Paulsen Baupartner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Karl Paul </a:t>
                      </a:r>
                      <a:r>
                        <a:rPr lang="de-DE" sz="1100" b="0" i="0" u="none" strike="noStrike" dirty="0" err="1">
                          <a:solidFill>
                            <a:srgbClr val="000000"/>
                          </a:solidFill>
                          <a:effectLst/>
                          <a:latin typeface="Calibri" panose="020F0502020204030204" pitchFamily="34" charset="0"/>
                        </a:rPr>
                        <a:t>Kaupa</a:t>
                      </a:r>
                      <a:r>
                        <a:rPr lang="de-DE" sz="1100" b="0" i="0" u="none" strike="noStrike" dirty="0">
                          <a:solidFill>
                            <a:srgbClr val="000000"/>
                          </a:solidFill>
                          <a:effectLst/>
                          <a:latin typeface="Calibri" panose="020F0502020204030204" pitchFamily="34" charset="0"/>
                        </a:rPr>
                        <a:t> Bettengeschäft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fraupaul</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Bausen</a:t>
                      </a:r>
                      <a:r>
                        <a:rPr lang="de-DE" sz="1100" b="0" i="0" u="none" strike="noStrike" dirty="0">
                          <a:solidFill>
                            <a:srgbClr val="000000"/>
                          </a:solidFill>
                          <a:effectLst/>
                          <a:latin typeface="Calibri" panose="020F0502020204030204" pitchFamily="34" charset="0"/>
                        </a:rPr>
                        <a:t> &amp; Markwart Ausbaupartner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Baupartner BAUSTOFFSERVICE Schönhausen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Lothar Krause Baupartner</a:t>
                      </a:r>
                    </a:p>
                  </a:txBody>
                  <a:tcPr marL="72000" marR="72000" marT="6405" marB="0" anchor="b">
                    <a:lnL>
                      <a:noFill/>
                    </a:lnL>
                    <a:lnR>
                      <a:noFill/>
                    </a:lnR>
                    <a:lnT>
                      <a:noFill/>
                    </a:lnT>
                    <a:lnB>
                      <a:noFill/>
                    </a:lnB>
                  </a:tcPr>
                </a:tc>
              </a:tr>
            </a:tbl>
          </a:graphicData>
        </a:graphic>
      </p:graphicFrame>
      <p:sp>
        <p:nvSpPr>
          <p:cNvPr id="8" name="Rechteck 7"/>
          <p:cNvSpPr/>
          <p:nvPr/>
        </p:nvSpPr>
        <p:spPr>
          <a:xfrm>
            <a:off x="1" y="6067514"/>
            <a:ext cx="5805996" cy="79048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liennummernplatzhalter 2"/>
          <p:cNvSpPr>
            <a:spLocks noGrp="1"/>
          </p:cNvSpPr>
          <p:nvPr>
            <p:ph type="sldNum" sz="quarter" idx="10"/>
          </p:nvPr>
        </p:nvSpPr>
        <p:spPr/>
        <p:txBody>
          <a:bodyPr/>
          <a:lstStyle/>
          <a:p>
            <a:fld id="{A29D8577-601D-4845-9C29-D9E13FE3E8DB}" type="slidenum">
              <a:rPr lang="en-US" smtClean="0"/>
              <a:pPr/>
              <a:t>15</a:t>
            </a:fld>
            <a:endParaRPr lang="en-US" dirty="0"/>
          </a:p>
        </p:txBody>
      </p:sp>
      <p:pic>
        <p:nvPicPr>
          <p:cNvPr id="9"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2" name="Titel 1"/>
          <p:cNvSpPr>
            <a:spLocks noGrp="1"/>
          </p:cNvSpPr>
          <p:nvPr>
            <p:ph type="title"/>
          </p:nvPr>
        </p:nvSpPr>
        <p:spPr/>
        <p:txBody>
          <a:bodyPr/>
          <a:lstStyle/>
          <a:p>
            <a:r>
              <a:rPr lang="en-US" dirty="0" smtClean="0"/>
              <a:t>3-Gram Search for “</a:t>
            </a:r>
            <a:r>
              <a:rPr lang="en-US" dirty="0" err="1" smtClean="0"/>
              <a:t>Blaupause</a:t>
            </a:r>
            <a:r>
              <a:rPr lang="en-US" dirty="0" smtClean="0"/>
              <a:t>”: BLA LAU AUP UPA AUS USE</a:t>
            </a:r>
            <a:endParaRPr lang="en-US" dirty="0"/>
          </a:p>
        </p:txBody>
      </p:sp>
      <p:sp>
        <p:nvSpPr>
          <p:cNvPr id="69" name="Textfeld 68"/>
          <p:cNvSpPr txBox="1"/>
          <p:nvPr/>
        </p:nvSpPr>
        <p:spPr>
          <a:xfrm>
            <a:off x="6431710" y="609867"/>
            <a:ext cx="3238644" cy="3539430"/>
          </a:xfrm>
          <a:prstGeom prst="rect">
            <a:avLst/>
          </a:prstGeom>
          <a:noFill/>
        </p:spPr>
        <p:txBody>
          <a:bodyPr wrap="none" rtlCol="0">
            <a:spAutoFit/>
          </a:bodyPr>
          <a:lstStyle/>
          <a:p>
            <a:r>
              <a:rPr lang="en-US" sz="1400" dirty="0" smtClean="0">
                <a:solidFill>
                  <a:srgbClr val="00B0F0"/>
                </a:solidFill>
              </a:rPr>
              <a:t>Words responsible for retrieval:</a:t>
            </a:r>
          </a:p>
          <a:p>
            <a:r>
              <a:rPr lang="en-US" sz="1400" dirty="0" err="1" smtClean="0"/>
              <a:t>blaupause</a:t>
            </a:r>
            <a:endParaRPr lang="en-US" sz="1400" dirty="0" smtClean="0"/>
          </a:p>
          <a:p>
            <a:r>
              <a:rPr lang="en-US" sz="1400" dirty="0" err="1" smtClean="0"/>
              <a:t>blaupausen</a:t>
            </a:r>
            <a:endParaRPr lang="en-US" sz="1400" dirty="0" smtClean="0"/>
          </a:p>
          <a:p>
            <a:r>
              <a:rPr lang="en-US" sz="1400" dirty="0" err="1" smtClean="0"/>
              <a:t>blaupauser</a:t>
            </a:r>
            <a:endParaRPr lang="en-US" sz="1400" dirty="0" smtClean="0"/>
          </a:p>
          <a:p>
            <a:r>
              <a:rPr lang="en-US" sz="1400" dirty="0" err="1" smtClean="0"/>
              <a:t>blaupark</a:t>
            </a:r>
            <a:endParaRPr lang="en-US" sz="1400" dirty="0" smtClean="0"/>
          </a:p>
          <a:p>
            <a:r>
              <a:rPr lang="en-US" sz="1400" dirty="0" err="1" smtClean="0"/>
              <a:t>blaupapier</a:t>
            </a:r>
            <a:endParaRPr lang="en-US" sz="1400" dirty="0" smtClean="0"/>
          </a:p>
          <a:p>
            <a:r>
              <a:rPr lang="en-US" sz="1400" dirty="0" err="1" smtClean="0"/>
              <a:t>plaupause</a:t>
            </a:r>
            <a:endParaRPr lang="en-US" sz="1400" dirty="0" smtClean="0"/>
          </a:p>
          <a:p>
            <a:r>
              <a:rPr lang="en-US" sz="1400" dirty="0" err="1" smtClean="0"/>
              <a:t>graupause</a:t>
            </a:r>
            <a:endParaRPr lang="en-US" sz="1400" dirty="0" smtClean="0"/>
          </a:p>
          <a:p>
            <a:r>
              <a:rPr lang="en-US" sz="1400" dirty="0" err="1" smtClean="0"/>
              <a:t>lopaupark</a:t>
            </a:r>
            <a:endParaRPr lang="en-US" sz="1400" dirty="0" smtClean="0"/>
          </a:p>
          <a:p>
            <a:r>
              <a:rPr lang="en-US" sz="1400" dirty="0" err="1" smtClean="0"/>
              <a:t>paupau</a:t>
            </a:r>
            <a:endParaRPr lang="en-US" sz="1400" dirty="0" smtClean="0"/>
          </a:p>
          <a:p>
            <a:r>
              <a:rPr lang="en-US" sz="1400" dirty="0" err="1" smtClean="0"/>
              <a:t>paulsen</a:t>
            </a:r>
            <a:r>
              <a:rPr lang="en-US" sz="1400" dirty="0" smtClean="0"/>
              <a:t> </a:t>
            </a:r>
            <a:r>
              <a:rPr lang="en-US" sz="1400" dirty="0" err="1" smtClean="0"/>
              <a:t>baupartner</a:t>
            </a:r>
            <a:endParaRPr lang="en-US" sz="1400" dirty="0" smtClean="0"/>
          </a:p>
          <a:p>
            <a:r>
              <a:rPr lang="en-US" sz="1400" dirty="0" err="1" smtClean="0"/>
              <a:t>paul</a:t>
            </a:r>
            <a:r>
              <a:rPr lang="en-US" sz="1400" dirty="0" smtClean="0"/>
              <a:t> </a:t>
            </a:r>
            <a:r>
              <a:rPr lang="en-US" sz="1400" dirty="0" err="1" smtClean="0"/>
              <a:t>kaupa</a:t>
            </a:r>
            <a:endParaRPr lang="en-US" sz="1400" dirty="0" smtClean="0"/>
          </a:p>
          <a:p>
            <a:r>
              <a:rPr lang="en-US" sz="1400" dirty="0" err="1" smtClean="0"/>
              <a:t>fraupaul</a:t>
            </a:r>
            <a:endParaRPr lang="en-US" sz="1400" dirty="0" smtClean="0"/>
          </a:p>
          <a:p>
            <a:r>
              <a:rPr lang="en-US" sz="1400" dirty="0" err="1" smtClean="0"/>
              <a:t>bausen</a:t>
            </a:r>
            <a:r>
              <a:rPr lang="en-US" sz="1400" dirty="0" smtClean="0"/>
              <a:t> </a:t>
            </a:r>
            <a:r>
              <a:rPr lang="en-US" sz="1400" dirty="0" err="1" smtClean="0"/>
              <a:t>ausbaupartner</a:t>
            </a:r>
            <a:endParaRPr lang="en-US" sz="1400" dirty="0" smtClean="0"/>
          </a:p>
          <a:p>
            <a:r>
              <a:rPr lang="en-US" sz="1400" dirty="0" err="1" smtClean="0"/>
              <a:t>baupartner</a:t>
            </a:r>
            <a:r>
              <a:rPr lang="en-US" sz="1400" dirty="0" smtClean="0"/>
              <a:t> </a:t>
            </a:r>
            <a:r>
              <a:rPr lang="en-US" sz="1400" dirty="0" err="1" smtClean="0"/>
              <a:t>baustoffservice</a:t>
            </a:r>
            <a:r>
              <a:rPr lang="en-US" sz="1400" dirty="0" smtClean="0"/>
              <a:t> </a:t>
            </a:r>
            <a:r>
              <a:rPr lang="en-US" sz="1400" dirty="0" err="1" smtClean="0"/>
              <a:t>schönhausen</a:t>
            </a:r>
            <a:endParaRPr lang="en-US" sz="1400" dirty="0" smtClean="0"/>
          </a:p>
          <a:p>
            <a:endParaRPr lang="en-US" sz="1400" dirty="0"/>
          </a:p>
        </p:txBody>
      </p:sp>
      <p:sp>
        <p:nvSpPr>
          <p:cNvPr id="70" name="Rechteck 69"/>
          <p:cNvSpPr/>
          <p:nvPr/>
        </p:nvSpPr>
        <p:spPr>
          <a:xfrm>
            <a:off x="6434981" y="2879933"/>
            <a:ext cx="3734513" cy="1053983"/>
          </a:xfrm>
          <a:prstGeom prst="rect">
            <a:avLst/>
          </a:prstGeom>
          <a:gradFill flip="none" rotWithShape="1">
            <a:gsLst>
              <a:gs pos="0">
                <a:schemeClr val="bg1">
                  <a:alpha val="0"/>
                </a:scheme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hteck 70"/>
          <p:cNvSpPr/>
          <p:nvPr/>
        </p:nvSpPr>
        <p:spPr>
          <a:xfrm>
            <a:off x="3560988" y="5670591"/>
            <a:ext cx="1614545" cy="923330"/>
          </a:xfrm>
          <a:prstGeom prst="rect">
            <a:avLst/>
          </a:prstGeom>
          <a:noFill/>
        </p:spPr>
        <p:txBody>
          <a:bodyPr wrap="none" lIns="91440" tIns="45720" rIns="91440" bIns="45720">
            <a:spAutoFit/>
          </a:bodyPr>
          <a:lstStyle/>
          <a:p>
            <a:pPr algn="ctr"/>
            <a:r>
              <a:rPr lang="en-US" sz="5400" b="1" spc="50" dirty="0" smtClean="0">
                <a:ln w="9525" cmpd="sng">
                  <a:solidFill>
                    <a:schemeClr val="accent1"/>
                  </a:solidFill>
                  <a:prstDash val="solid"/>
                </a:ln>
                <a:solidFill>
                  <a:srgbClr val="70AD47">
                    <a:tint val="1000"/>
                  </a:srgbClr>
                </a:solidFill>
                <a:effectLst>
                  <a:glow rad="38100">
                    <a:schemeClr val="accent1">
                      <a:alpha val="40000"/>
                    </a:schemeClr>
                  </a:glow>
                </a:effectLst>
              </a:rPr>
              <a:t>1580</a:t>
            </a:r>
            <a:endParaRPr lang="en-US" sz="5400" b="1" cap="none" spc="50" dirty="0">
              <a:ln w="9525" cmpd="sng">
                <a:solidFill>
                  <a:schemeClr val="accent1"/>
                </a:solidFill>
                <a:prstDash val="solid"/>
              </a:ln>
              <a:solidFill>
                <a:srgbClr val="70AD47">
                  <a:tint val="1000"/>
                </a:srgbClr>
              </a:solidFill>
              <a:effectLst>
                <a:glow rad="38100">
                  <a:schemeClr val="accent1">
                    <a:alpha val="40000"/>
                  </a:schemeClr>
                </a:glow>
              </a:effectLst>
            </a:endParaRPr>
          </a:p>
        </p:txBody>
      </p:sp>
      <p:sp>
        <p:nvSpPr>
          <p:cNvPr id="72" name="Textfeld 71"/>
          <p:cNvSpPr txBox="1"/>
          <p:nvPr/>
        </p:nvSpPr>
        <p:spPr>
          <a:xfrm>
            <a:off x="6431710" y="4127619"/>
            <a:ext cx="5635794" cy="1600438"/>
          </a:xfrm>
          <a:prstGeom prst="rect">
            <a:avLst/>
          </a:prstGeom>
          <a:noFill/>
        </p:spPr>
        <p:txBody>
          <a:bodyPr wrap="square" rtlCol="0">
            <a:spAutoFit/>
          </a:bodyPr>
          <a:lstStyle/>
          <a:p>
            <a:r>
              <a:rPr lang="en-US" sz="1400" dirty="0" smtClean="0"/>
              <a:t>Linguistic preparers destroy information for the sake of recalling misspelled terms at the expense of precision. The genuinely misspelled entries are drowned in a deluge of false positives. Usually, linguistic methods are applied in interactive environments, where results are eye-balled by humans discriminating between real misspellings and mechanical clutter.</a:t>
            </a:r>
          </a:p>
          <a:p>
            <a:r>
              <a:rPr lang="en-US" sz="1400" dirty="0"/>
              <a:t>We have to replicate this visual screening via a flexible string distance function, which is independent of word </a:t>
            </a:r>
            <a:r>
              <a:rPr lang="en-US" sz="1400" dirty="0" smtClean="0"/>
              <a:t>positioning.</a:t>
            </a:r>
            <a:endParaRPr lang="en-US" sz="1400" dirty="0"/>
          </a:p>
        </p:txBody>
      </p:sp>
      <p:graphicFrame>
        <p:nvGraphicFramePr>
          <p:cNvPr id="75" name="Tabelle 74"/>
          <p:cNvGraphicFramePr>
            <a:graphicFrameLocks noGrp="1"/>
          </p:cNvGraphicFramePr>
          <p:nvPr>
            <p:extLst>
              <p:ext uri="{D42A27DB-BD31-4B8C-83A1-F6EECF244321}">
                <p14:modId xmlns:p14="http://schemas.microsoft.com/office/powerpoint/2010/main" val="762703967"/>
              </p:ext>
            </p:extLst>
          </p:nvPr>
        </p:nvGraphicFramePr>
        <p:xfrm>
          <a:off x="181450" y="609867"/>
          <a:ext cx="6012000" cy="174045"/>
        </p:xfrm>
        <a:graphic>
          <a:graphicData uri="http://schemas.openxmlformats.org/drawingml/2006/table">
            <a:tbl>
              <a:tblPr/>
              <a:tblGrid>
                <a:gridCol w="612000"/>
                <a:gridCol w="5400000"/>
              </a:tblGrid>
              <a:tr h="1440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1100" b="0" i="0" u="none" strike="noStrike" dirty="0" err="1" smtClean="0">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solidFill>
                      <a:schemeClr val="bg1"/>
                    </a:solidFill>
                  </a:tcPr>
                </a:tc>
              </a:tr>
            </a:tbl>
          </a:graphicData>
        </a:graphic>
      </p:graphicFrame>
    </p:spTree>
    <p:extLst>
      <p:ext uri="{BB962C8B-B14F-4D97-AF65-F5344CB8AC3E}">
        <p14:creationId xmlns:p14="http://schemas.microsoft.com/office/powerpoint/2010/main" val="816983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grpId="0" nodeType="clickEffect">
                                  <p:stCondLst>
                                    <p:cond delay="0"/>
                                  </p:stCondLst>
                                  <p:childTnLst>
                                    <p:set>
                                      <p:cBhvr>
                                        <p:cTn id="14" dur="1" fill="hold">
                                          <p:stCondLst>
                                            <p:cond delay="0"/>
                                          </p:stCondLst>
                                        </p:cTn>
                                        <p:tgtEl>
                                          <p:spTgt spid="69"/>
                                        </p:tgtEl>
                                        <p:attrNameLst>
                                          <p:attrName>style.visibility</p:attrName>
                                        </p:attrNameLst>
                                      </p:cBhvr>
                                      <p:to>
                                        <p:strVal val="visible"/>
                                      </p:to>
                                    </p:set>
                                    <p:animEffect transition="in" filter="wipe(up)">
                                      <p:cBhvr>
                                        <p:cTn id="15" dur="6500"/>
                                        <p:tgtEl>
                                          <p:spTgt spid="69"/>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wipe(left)">
                                      <p:cBhvr>
                                        <p:cTn id="18" dur="250"/>
                                        <p:tgtEl>
                                          <p:spTgt spid="48"/>
                                        </p:tgtEl>
                                      </p:cBhvr>
                                    </p:animEffect>
                                  </p:childTnLst>
                                </p:cTn>
                              </p:par>
                              <p:par>
                                <p:cTn id="19" presetID="22" presetClass="entr" presetSubtype="8" fill="hold" grpId="0" nodeType="withEffect">
                                  <p:stCondLst>
                                    <p:cond delay="250"/>
                                  </p:stCondLst>
                                  <p:childTnLst>
                                    <p:set>
                                      <p:cBhvr>
                                        <p:cTn id="20" dur="1" fill="hold">
                                          <p:stCondLst>
                                            <p:cond delay="0"/>
                                          </p:stCondLst>
                                        </p:cTn>
                                        <p:tgtEl>
                                          <p:spTgt spid="46"/>
                                        </p:tgtEl>
                                        <p:attrNameLst>
                                          <p:attrName>style.visibility</p:attrName>
                                        </p:attrNameLst>
                                      </p:cBhvr>
                                      <p:to>
                                        <p:strVal val="visible"/>
                                      </p:to>
                                    </p:set>
                                    <p:animEffect transition="in" filter="wipe(left)">
                                      <p:cBhvr>
                                        <p:cTn id="21" dur="250"/>
                                        <p:tgtEl>
                                          <p:spTgt spid="46"/>
                                        </p:tgtEl>
                                      </p:cBhvr>
                                    </p:animEffect>
                                  </p:childTnLst>
                                </p:cTn>
                              </p:par>
                              <p:par>
                                <p:cTn id="22" presetID="22" presetClass="entr" presetSubtype="8" fill="hold" grpId="0" nodeType="withEffect">
                                  <p:stCondLst>
                                    <p:cond delay="500"/>
                                  </p:stCondLst>
                                  <p:childTnLst>
                                    <p:set>
                                      <p:cBhvr>
                                        <p:cTn id="23" dur="1" fill="hold">
                                          <p:stCondLst>
                                            <p:cond delay="0"/>
                                          </p:stCondLst>
                                        </p:cTn>
                                        <p:tgtEl>
                                          <p:spTgt spid="47"/>
                                        </p:tgtEl>
                                        <p:attrNameLst>
                                          <p:attrName>style.visibility</p:attrName>
                                        </p:attrNameLst>
                                      </p:cBhvr>
                                      <p:to>
                                        <p:strVal val="visible"/>
                                      </p:to>
                                    </p:set>
                                    <p:animEffect transition="in" filter="wipe(left)">
                                      <p:cBhvr>
                                        <p:cTn id="24" dur="250"/>
                                        <p:tgtEl>
                                          <p:spTgt spid="47"/>
                                        </p:tgtEl>
                                      </p:cBhvr>
                                    </p:animEffect>
                                  </p:childTnLst>
                                </p:cTn>
                              </p:par>
                              <p:par>
                                <p:cTn id="25" presetID="22" presetClass="entr" presetSubtype="8" fill="hold" grpId="0" nodeType="withEffect">
                                  <p:stCondLst>
                                    <p:cond delay="750"/>
                                  </p:stCondLst>
                                  <p:childTnLst>
                                    <p:set>
                                      <p:cBhvr>
                                        <p:cTn id="26" dur="1" fill="hold">
                                          <p:stCondLst>
                                            <p:cond delay="0"/>
                                          </p:stCondLst>
                                        </p:cTn>
                                        <p:tgtEl>
                                          <p:spTgt spid="58"/>
                                        </p:tgtEl>
                                        <p:attrNameLst>
                                          <p:attrName>style.visibility</p:attrName>
                                        </p:attrNameLst>
                                      </p:cBhvr>
                                      <p:to>
                                        <p:strVal val="visible"/>
                                      </p:to>
                                    </p:set>
                                    <p:animEffect transition="in" filter="wipe(left)">
                                      <p:cBhvr>
                                        <p:cTn id="27" dur="250"/>
                                        <p:tgtEl>
                                          <p:spTgt spid="58"/>
                                        </p:tgtEl>
                                      </p:cBhvr>
                                    </p:animEffect>
                                  </p:childTnLst>
                                </p:cTn>
                              </p:par>
                              <p:par>
                                <p:cTn id="28" presetID="22" presetClass="entr" presetSubtype="8" fill="hold" grpId="0" nodeType="withEffect">
                                  <p:stCondLst>
                                    <p:cond delay="1000"/>
                                  </p:stCondLst>
                                  <p:childTnLst>
                                    <p:set>
                                      <p:cBhvr>
                                        <p:cTn id="29" dur="1" fill="hold">
                                          <p:stCondLst>
                                            <p:cond delay="0"/>
                                          </p:stCondLst>
                                        </p:cTn>
                                        <p:tgtEl>
                                          <p:spTgt spid="59"/>
                                        </p:tgtEl>
                                        <p:attrNameLst>
                                          <p:attrName>style.visibility</p:attrName>
                                        </p:attrNameLst>
                                      </p:cBhvr>
                                      <p:to>
                                        <p:strVal val="visible"/>
                                      </p:to>
                                    </p:set>
                                    <p:animEffect transition="in" filter="wipe(left)">
                                      <p:cBhvr>
                                        <p:cTn id="30" dur="250"/>
                                        <p:tgtEl>
                                          <p:spTgt spid="59"/>
                                        </p:tgtEl>
                                      </p:cBhvr>
                                    </p:animEffect>
                                  </p:childTnLst>
                                </p:cTn>
                              </p:par>
                              <p:par>
                                <p:cTn id="31" presetID="22" presetClass="entr" presetSubtype="8" fill="hold" grpId="0" nodeType="withEffect">
                                  <p:stCondLst>
                                    <p:cond delay="1250"/>
                                  </p:stCondLst>
                                  <p:childTnLst>
                                    <p:set>
                                      <p:cBhvr>
                                        <p:cTn id="32" dur="1" fill="hold">
                                          <p:stCondLst>
                                            <p:cond delay="0"/>
                                          </p:stCondLst>
                                        </p:cTn>
                                        <p:tgtEl>
                                          <p:spTgt spid="30"/>
                                        </p:tgtEl>
                                        <p:attrNameLst>
                                          <p:attrName>style.visibility</p:attrName>
                                        </p:attrNameLst>
                                      </p:cBhvr>
                                      <p:to>
                                        <p:strVal val="visible"/>
                                      </p:to>
                                    </p:set>
                                    <p:animEffect transition="in" filter="wipe(left)">
                                      <p:cBhvr>
                                        <p:cTn id="33" dur="250"/>
                                        <p:tgtEl>
                                          <p:spTgt spid="30"/>
                                        </p:tgtEl>
                                      </p:cBhvr>
                                    </p:animEffect>
                                  </p:childTnLst>
                                </p:cTn>
                              </p:par>
                              <p:par>
                                <p:cTn id="34" presetID="22" presetClass="entr" presetSubtype="8" fill="hold" grpId="0" nodeType="withEffect">
                                  <p:stCondLst>
                                    <p:cond delay="1500"/>
                                  </p:stCondLst>
                                  <p:childTnLst>
                                    <p:set>
                                      <p:cBhvr>
                                        <p:cTn id="35" dur="1" fill="hold">
                                          <p:stCondLst>
                                            <p:cond delay="0"/>
                                          </p:stCondLst>
                                        </p:cTn>
                                        <p:tgtEl>
                                          <p:spTgt spid="31"/>
                                        </p:tgtEl>
                                        <p:attrNameLst>
                                          <p:attrName>style.visibility</p:attrName>
                                        </p:attrNameLst>
                                      </p:cBhvr>
                                      <p:to>
                                        <p:strVal val="visible"/>
                                      </p:to>
                                    </p:set>
                                    <p:animEffect transition="in" filter="wipe(left)">
                                      <p:cBhvr>
                                        <p:cTn id="36" dur="250"/>
                                        <p:tgtEl>
                                          <p:spTgt spid="31"/>
                                        </p:tgtEl>
                                      </p:cBhvr>
                                    </p:animEffect>
                                  </p:childTnLst>
                                </p:cTn>
                              </p:par>
                              <p:par>
                                <p:cTn id="37" presetID="22" presetClass="entr" presetSubtype="8" fill="hold" grpId="0" nodeType="withEffect">
                                  <p:stCondLst>
                                    <p:cond delay="1750"/>
                                  </p:stCondLst>
                                  <p:childTnLst>
                                    <p:set>
                                      <p:cBhvr>
                                        <p:cTn id="38" dur="1" fill="hold">
                                          <p:stCondLst>
                                            <p:cond delay="0"/>
                                          </p:stCondLst>
                                        </p:cTn>
                                        <p:tgtEl>
                                          <p:spTgt spid="57"/>
                                        </p:tgtEl>
                                        <p:attrNameLst>
                                          <p:attrName>style.visibility</p:attrName>
                                        </p:attrNameLst>
                                      </p:cBhvr>
                                      <p:to>
                                        <p:strVal val="visible"/>
                                      </p:to>
                                    </p:set>
                                    <p:animEffect transition="in" filter="wipe(left)">
                                      <p:cBhvr>
                                        <p:cTn id="39" dur="250"/>
                                        <p:tgtEl>
                                          <p:spTgt spid="57"/>
                                        </p:tgtEl>
                                      </p:cBhvr>
                                    </p:animEffect>
                                  </p:childTnLst>
                                </p:cTn>
                              </p:par>
                              <p:par>
                                <p:cTn id="40" presetID="22" presetClass="entr" presetSubtype="8" fill="hold" grpId="0" nodeType="withEffect">
                                  <p:stCondLst>
                                    <p:cond delay="2000"/>
                                  </p:stCondLst>
                                  <p:childTnLst>
                                    <p:set>
                                      <p:cBhvr>
                                        <p:cTn id="41" dur="1" fill="hold">
                                          <p:stCondLst>
                                            <p:cond delay="0"/>
                                          </p:stCondLst>
                                        </p:cTn>
                                        <p:tgtEl>
                                          <p:spTgt spid="33"/>
                                        </p:tgtEl>
                                        <p:attrNameLst>
                                          <p:attrName>style.visibility</p:attrName>
                                        </p:attrNameLst>
                                      </p:cBhvr>
                                      <p:to>
                                        <p:strVal val="visible"/>
                                      </p:to>
                                    </p:set>
                                    <p:animEffect transition="in" filter="wipe(left)">
                                      <p:cBhvr>
                                        <p:cTn id="42" dur="250"/>
                                        <p:tgtEl>
                                          <p:spTgt spid="33"/>
                                        </p:tgtEl>
                                      </p:cBhvr>
                                    </p:animEffect>
                                  </p:childTnLst>
                                </p:cTn>
                              </p:par>
                              <p:par>
                                <p:cTn id="43" presetID="22" presetClass="entr" presetSubtype="8" fill="hold" grpId="0" nodeType="withEffect">
                                  <p:stCondLst>
                                    <p:cond delay="2250"/>
                                  </p:stCondLst>
                                  <p:childTnLst>
                                    <p:set>
                                      <p:cBhvr>
                                        <p:cTn id="44" dur="1" fill="hold">
                                          <p:stCondLst>
                                            <p:cond delay="0"/>
                                          </p:stCondLst>
                                        </p:cTn>
                                        <p:tgtEl>
                                          <p:spTgt spid="34"/>
                                        </p:tgtEl>
                                        <p:attrNameLst>
                                          <p:attrName>style.visibility</p:attrName>
                                        </p:attrNameLst>
                                      </p:cBhvr>
                                      <p:to>
                                        <p:strVal val="visible"/>
                                      </p:to>
                                    </p:set>
                                    <p:animEffect transition="in" filter="wipe(left)">
                                      <p:cBhvr>
                                        <p:cTn id="45" dur="250"/>
                                        <p:tgtEl>
                                          <p:spTgt spid="34"/>
                                        </p:tgtEl>
                                      </p:cBhvr>
                                    </p:animEffect>
                                  </p:childTnLst>
                                </p:cTn>
                              </p:par>
                              <p:par>
                                <p:cTn id="46" presetID="22" presetClass="entr" presetSubtype="8" fill="hold" grpId="0" nodeType="withEffect">
                                  <p:stCondLst>
                                    <p:cond delay="2500"/>
                                  </p:stCondLst>
                                  <p:childTnLst>
                                    <p:set>
                                      <p:cBhvr>
                                        <p:cTn id="47" dur="1" fill="hold">
                                          <p:stCondLst>
                                            <p:cond delay="0"/>
                                          </p:stCondLst>
                                        </p:cTn>
                                        <p:tgtEl>
                                          <p:spTgt spid="35"/>
                                        </p:tgtEl>
                                        <p:attrNameLst>
                                          <p:attrName>style.visibility</p:attrName>
                                        </p:attrNameLst>
                                      </p:cBhvr>
                                      <p:to>
                                        <p:strVal val="visible"/>
                                      </p:to>
                                    </p:set>
                                    <p:animEffect transition="in" filter="wipe(left)">
                                      <p:cBhvr>
                                        <p:cTn id="48" dur="250"/>
                                        <p:tgtEl>
                                          <p:spTgt spid="35"/>
                                        </p:tgtEl>
                                      </p:cBhvr>
                                    </p:animEffect>
                                  </p:childTnLst>
                                </p:cTn>
                              </p:par>
                              <p:par>
                                <p:cTn id="49" presetID="22" presetClass="entr" presetSubtype="8" fill="hold" grpId="0" nodeType="withEffect">
                                  <p:stCondLst>
                                    <p:cond delay="2750"/>
                                  </p:stCondLst>
                                  <p:childTnLst>
                                    <p:set>
                                      <p:cBhvr>
                                        <p:cTn id="50" dur="1" fill="hold">
                                          <p:stCondLst>
                                            <p:cond delay="0"/>
                                          </p:stCondLst>
                                        </p:cTn>
                                        <p:tgtEl>
                                          <p:spTgt spid="56"/>
                                        </p:tgtEl>
                                        <p:attrNameLst>
                                          <p:attrName>style.visibility</p:attrName>
                                        </p:attrNameLst>
                                      </p:cBhvr>
                                      <p:to>
                                        <p:strVal val="visible"/>
                                      </p:to>
                                    </p:set>
                                    <p:animEffect transition="in" filter="wipe(left)">
                                      <p:cBhvr>
                                        <p:cTn id="51" dur="250"/>
                                        <p:tgtEl>
                                          <p:spTgt spid="56"/>
                                        </p:tgtEl>
                                      </p:cBhvr>
                                    </p:animEffect>
                                  </p:childTnLst>
                                </p:cTn>
                              </p:par>
                              <p:par>
                                <p:cTn id="52" presetID="22" presetClass="entr" presetSubtype="8" fill="hold" grpId="0" nodeType="withEffect">
                                  <p:stCondLst>
                                    <p:cond delay="3000"/>
                                  </p:stCondLst>
                                  <p:childTnLst>
                                    <p:set>
                                      <p:cBhvr>
                                        <p:cTn id="53" dur="1" fill="hold">
                                          <p:stCondLst>
                                            <p:cond delay="0"/>
                                          </p:stCondLst>
                                        </p:cTn>
                                        <p:tgtEl>
                                          <p:spTgt spid="53"/>
                                        </p:tgtEl>
                                        <p:attrNameLst>
                                          <p:attrName>style.visibility</p:attrName>
                                        </p:attrNameLst>
                                      </p:cBhvr>
                                      <p:to>
                                        <p:strVal val="visible"/>
                                      </p:to>
                                    </p:set>
                                    <p:animEffect transition="in" filter="wipe(left)">
                                      <p:cBhvr>
                                        <p:cTn id="54" dur="250"/>
                                        <p:tgtEl>
                                          <p:spTgt spid="53"/>
                                        </p:tgtEl>
                                      </p:cBhvr>
                                    </p:animEffect>
                                  </p:childTnLst>
                                </p:cTn>
                              </p:par>
                              <p:par>
                                <p:cTn id="55" presetID="22" presetClass="entr" presetSubtype="8" fill="hold" grpId="0" nodeType="withEffect">
                                  <p:stCondLst>
                                    <p:cond delay="3250"/>
                                  </p:stCondLst>
                                  <p:childTnLst>
                                    <p:set>
                                      <p:cBhvr>
                                        <p:cTn id="56" dur="1" fill="hold">
                                          <p:stCondLst>
                                            <p:cond delay="0"/>
                                          </p:stCondLst>
                                        </p:cTn>
                                        <p:tgtEl>
                                          <p:spTgt spid="54"/>
                                        </p:tgtEl>
                                        <p:attrNameLst>
                                          <p:attrName>style.visibility</p:attrName>
                                        </p:attrNameLst>
                                      </p:cBhvr>
                                      <p:to>
                                        <p:strVal val="visible"/>
                                      </p:to>
                                    </p:set>
                                    <p:animEffect transition="in" filter="wipe(left)">
                                      <p:cBhvr>
                                        <p:cTn id="57" dur="250"/>
                                        <p:tgtEl>
                                          <p:spTgt spid="54"/>
                                        </p:tgtEl>
                                      </p:cBhvr>
                                    </p:animEffect>
                                  </p:childTnLst>
                                </p:cTn>
                              </p:par>
                              <p:par>
                                <p:cTn id="58" presetID="22" presetClass="entr" presetSubtype="8" fill="hold" grpId="0" nodeType="withEffect">
                                  <p:stCondLst>
                                    <p:cond delay="3500"/>
                                  </p:stCondLst>
                                  <p:childTnLst>
                                    <p:set>
                                      <p:cBhvr>
                                        <p:cTn id="59" dur="1" fill="hold">
                                          <p:stCondLst>
                                            <p:cond delay="0"/>
                                          </p:stCondLst>
                                        </p:cTn>
                                        <p:tgtEl>
                                          <p:spTgt spid="52"/>
                                        </p:tgtEl>
                                        <p:attrNameLst>
                                          <p:attrName>style.visibility</p:attrName>
                                        </p:attrNameLst>
                                      </p:cBhvr>
                                      <p:to>
                                        <p:strVal val="visible"/>
                                      </p:to>
                                    </p:set>
                                    <p:animEffect transition="in" filter="wipe(left)">
                                      <p:cBhvr>
                                        <p:cTn id="60" dur="250"/>
                                        <p:tgtEl>
                                          <p:spTgt spid="52"/>
                                        </p:tgtEl>
                                      </p:cBhvr>
                                    </p:animEffect>
                                  </p:childTnLst>
                                </p:cTn>
                              </p:par>
                              <p:par>
                                <p:cTn id="61" presetID="22" presetClass="entr" presetSubtype="8" fill="hold" grpId="0" nodeType="withEffect">
                                  <p:stCondLst>
                                    <p:cond delay="3750"/>
                                  </p:stCondLst>
                                  <p:childTnLst>
                                    <p:set>
                                      <p:cBhvr>
                                        <p:cTn id="62" dur="1" fill="hold">
                                          <p:stCondLst>
                                            <p:cond delay="0"/>
                                          </p:stCondLst>
                                        </p:cTn>
                                        <p:tgtEl>
                                          <p:spTgt spid="39"/>
                                        </p:tgtEl>
                                        <p:attrNameLst>
                                          <p:attrName>style.visibility</p:attrName>
                                        </p:attrNameLst>
                                      </p:cBhvr>
                                      <p:to>
                                        <p:strVal val="visible"/>
                                      </p:to>
                                    </p:set>
                                    <p:animEffect transition="in" filter="wipe(left)">
                                      <p:cBhvr>
                                        <p:cTn id="63" dur="250"/>
                                        <p:tgtEl>
                                          <p:spTgt spid="39"/>
                                        </p:tgtEl>
                                      </p:cBhvr>
                                    </p:animEffect>
                                  </p:childTnLst>
                                </p:cTn>
                              </p:par>
                              <p:par>
                                <p:cTn id="64" presetID="22" presetClass="entr" presetSubtype="8" fill="hold" grpId="0" nodeType="withEffect">
                                  <p:stCondLst>
                                    <p:cond delay="4000"/>
                                  </p:stCondLst>
                                  <p:childTnLst>
                                    <p:set>
                                      <p:cBhvr>
                                        <p:cTn id="65" dur="1" fill="hold">
                                          <p:stCondLst>
                                            <p:cond delay="0"/>
                                          </p:stCondLst>
                                        </p:cTn>
                                        <p:tgtEl>
                                          <p:spTgt spid="51"/>
                                        </p:tgtEl>
                                        <p:attrNameLst>
                                          <p:attrName>style.visibility</p:attrName>
                                        </p:attrNameLst>
                                      </p:cBhvr>
                                      <p:to>
                                        <p:strVal val="visible"/>
                                      </p:to>
                                    </p:set>
                                    <p:animEffect transition="in" filter="wipe(left)">
                                      <p:cBhvr>
                                        <p:cTn id="66" dur="250"/>
                                        <p:tgtEl>
                                          <p:spTgt spid="51"/>
                                        </p:tgtEl>
                                      </p:cBhvr>
                                    </p:animEffect>
                                  </p:childTnLst>
                                </p:cTn>
                              </p:par>
                              <p:par>
                                <p:cTn id="67" presetID="22" presetClass="entr" presetSubtype="8" fill="hold" grpId="0" nodeType="withEffect">
                                  <p:stCondLst>
                                    <p:cond delay="4250"/>
                                  </p:stCondLst>
                                  <p:childTnLst>
                                    <p:set>
                                      <p:cBhvr>
                                        <p:cTn id="68" dur="1" fill="hold">
                                          <p:stCondLst>
                                            <p:cond delay="0"/>
                                          </p:stCondLst>
                                        </p:cTn>
                                        <p:tgtEl>
                                          <p:spTgt spid="40"/>
                                        </p:tgtEl>
                                        <p:attrNameLst>
                                          <p:attrName>style.visibility</p:attrName>
                                        </p:attrNameLst>
                                      </p:cBhvr>
                                      <p:to>
                                        <p:strVal val="visible"/>
                                      </p:to>
                                    </p:set>
                                    <p:animEffect transition="in" filter="wipe(left)">
                                      <p:cBhvr>
                                        <p:cTn id="69" dur="250"/>
                                        <p:tgtEl>
                                          <p:spTgt spid="40"/>
                                        </p:tgtEl>
                                      </p:cBhvr>
                                    </p:animEffect>
                                  </p:childTnLst>
                                </p:cTn>
                              </p:par>
                              <p:par>
                                <p:cTn id="70" presetID="22" presetClass="entr" presetSubtype="8" fill="hold" grpId="0" nodeType="withEffect">
                                  <p:stCondLst>
                                    <p:cond delay="4500"/>
                                  </p:stCondLst>
                                  <p:childTnLst>
                                    <p:set>
                                      <p:cBhvr>
                                        <p:cTn id="71" dur="1" fill="hold">
                                          <p:stCondLst>
                                            <p:cond delay="0"/>
                                          </p:stCondLst>
                                        </p:cTn>
                                        <p:tgtEl>
                                          <p:spTgt spid="45"/>
                                        </p:tgtEl>
                                        <p:attrNameLst>
                                          <p:attrName>style.visibility</p:attrName>
                                        </p:attrNameLst>
                                      </p:cBhvr>
                                      <p:to>
                                        <p:strVal val="visible"/>
                                      </p:to>
                                    </p:set>
                                    <p:animEffect transition="in" filter="wipe(left)">
                                      <p:cBhvr>
                                        <p:cTn id="72" dur="250"/>
                                        <p:tgtEl>
                                          <p:spTgt spid="45"/>
                                        </p:tgtEl>
                                      </p:cBhvr>
                                    </p:animEffect>
                                  </p:childTnLst>
                                </p:cTn>
                              </p:par>
                              <p:par>
                                <p:cTn id="73" presetID="22" presetClass="entr" presetSubtype="8" fill="hold" grpId="0" nodeType="withEffect">
                                  <p:stCondLst>
                                    <p:cond delay="4750"/>
                                  </p:stCondLst>
                                  <p:childTnLst>
                                    <p:set>
                                      <p:cBhvr>
                                        <p:cTn id="74" dur="1" fill="hold">
                                          <p:stCondLst>
                                            <p:cond delay="0"/>
                                          </p:stCondLst>
                                        </p:cTn>
                                        <p:tgtEl>
                                          <p:spTgt spid="62"/>
                                        </p:tgtEl>
                                        <p:attrNameLst>
                                          <p:attrName>style.visibility</p:attrName>
                                        </p:attrNameLst>
                                      </p:cBhvr>
                                      <p:to>
                                        <p:strVal val="visible"/>
                                      </p:to>
                                    </p:set>
                                    <p:animEffect transition="in" filter="wipe(left)">
                                      <p:cBhvr>
                                        <p:cTn id="75" dur="250"/>
                                        <p:tgtEl>
                                          <p:spTgt spid="62"/>
                                        </p:tgtEl>
                                      </p:cBhvr>
                                    </p:animEffect>
                                  </p:childTnLst>
                                </p:cTn>
                              </p:par>
                              <p:par>
                                <p:cTn id="76" presetID="22" presetClass="entr" presetSubtype="8" fill="hold" grpId="0" nodeType="withEffect">
                                  <p:stCondLst>
                                    <p:cond delay="5000"/>
                                  </p:stCondLst>
                                  <p:childTnLst>
                                    <p:set>
                                      <p:cBhvr>
                                        <p:cTn id="77" dur="1" fill="hold">
                                          <p:stCondLst>
                                            <p:cond delay="0"/>
                                          </p:stCondLst>
                                        </p:cTn>
                                        <p:tgtEl>
                                          <p:spTgt spid="63"/>
                                        </p:tgtEl>
                                        <p:attrNameLst>
                                          <p:attrName>style.visibility</p:attrName>
                                        </p:attrNameLst>
                                      </p:cBhvr>
                                      <p:to>
                                        <p:strVal val="visible"/>
                                      </p:to>
                                    </p:set>
                                    <p:animEffect transition="in" filter="wipe(left)">
                                      <p:cBhvr>
                                        <p:cTn id="78" dur="250"/>
                                        <p:tgtEl>
                                          <p:spTgt spid="63"/>
                                        </p:tgtEl>
                                      </p:cBhvr>
                                    </p:animEffect>
                                  </p:childTnLst>
                                </p:cTn>
                              </p:par>
                              <p:par>
                                <p:cTn id="79" presetID="22" presetClass="entr" presetSubtype="8" fill="hold" grpId="0" nodeType="withEffect">
                                  <p:stCondLst>
                                    <p:cond delay="5250"/>
                                  </p:stCondLst>
                                  <p:childTnLst>
                                    <p:set>
                                      <p:cBhvr>
                                        <p:cTn id="80" dur="1" fill="hold">
                                          <p:stCondLst>
                                            <p:cond delay="0"/>
                                          </p:stCondLst>
                                        </p:cTn>
                                        <p:tgtEl>
                                          <p:spTgt spid="64"/>
                                        </p:tgtEl>
                                        <p:attrNameLst>
                                          <p:attrName>style.visibility</p:attrName>
                                        </p:attrNameLst>
                                      </p:cBhvr>
                                      <p:to>
                                        <p:strVal val="visible"/>
                                      </p:to>
                                    </p:set>
                                    <p:animEffect transition="in" filter="wipe(left)">
                                      <p:cBhvr>
                                        <p:cTn id="81" dur="250"/>
                                        <p:tgtEl>
                                          <p:spTgt spid="64"/>
                                        </p:tgtEl>
                                      </p:cBhvr>
                                    </p:animEffect>
                                  </p:childTnLst>
                                </p:cTn>
                              </p:par>
                              <p:par>
                                <p:cTn id="82" presetID="22" presetClass="entr" presetSubtype="8" fill="hold" grpId="0" nodeType="withEffect">
                                  <p:stCondLst>
                                    <p:cond delay="5500"/>
                                  </p:stCondLst>
                                  <p:childTnLst>
                                    <p:set>
                                      <p:cBhvr>
                                        <p:cTn id="83" dur="1" fill="hold">
                                          <p:stCondLst>
                                            <p:cond delay="0"/>
                                          </p:stCondLst>
                                        </p:cTn>
                                        <p:tgtEl>
                                          <p:spTgt spid="65"/>
                                        </p:tgtEl>
                                        <p:attrNameLst>
                                          <p:attrName>style.visibility</p:attrName>
                                        </p:attrNameLst>
                                      </p:cBhvr>
                                      <p:to>
                                        <p:strVal val="visible"/>
                                      </p:to>
                                    </p:set>
                                    <p:animEffect transition="in" filter="wipe(left)">
                                      <p:cBhvr>
                                        <p:cTn id="84" dur="250"/>
                                        <p:tgtEl>
                                          <p:spTgt spid="65"/>
                                        </p:tgtEl>
                                      </p:cBhvr>
                                    </p:animEffect>
                                  </p:childTnLst>
                                </p:cTn>
                              </p:par>
                              <p:par>
                                <p:cTn id="85" presetID="22" presetClass="entr" presetSubtype="8" fill="hold" grpId="0" nodeType="withEffect">
                                  <p:stCondLst>
                                    <p:cond delay="5750"/>
                                  </p:stCondLst>
                                  <p:childTnLst>
                                    <p:set>
                                      <p:cBhvr>
                                        <p:cTn id="86" dur="1" fill="hold">
                                          <p:stCondLst>
                                            <p:cond delay="0"/>
                                          </p:stCondLst>
                                        </p:cTn>
                                        <p:tgtEl>
                                          <p:spTgt spid="66"/>
                                        </p:tgtEl>
                                        <p:attrNameLst>
                                          <p:attrName>style.visibility</p:attrName>
                                        </p:attrNameLst>
                                      </p:cBhvr>
                                      <p:to>
                                        <p:strVal val="visible"/>
                                      </p:to>
                                    </p:set>
                                    <p:animEffect transition="in" filter="wipe(left)">
                                      <p:cBhvr>
                                        <p:cTn id="87" dur="250"/>
                                        <p:tgtEl>
                                          <p:spTgt spid="66"/>
                                        </p:tgtEl>
                                      </p:cBhvr>
                                    </p:animEffect>
                                  </p:childTnLst>
                                </p:cTn>
                              </p:par>
                              <p:par>
                                <p:cTn id="88" presetID="22" presetClass="entr" presetSubtype="8" fill="hold" grpId="0" nodeType="withEffect">
                                  <p:stCondLst>
                                    <p:cond delay="6000"/>
                                  </p:stCondLst>
                                  <p:childTnLst>
                                    <p:set>
                                      <p:cBhvr>
                                        <p:cTn id="89" dur="1" fill="hold">
                                          <p:stCondLst>
                                            <p:cond delay="0"/>
                                          </p:stCondLst>
                                        </p:cTn>
                                        <p:tgtEl>
                                          <p:spTgt spid="67"/>
                                        </p:tgtEl>
                                        <p:attrNameLst>
                                          <p:attrName>style.visibility</p:attrName>
                                        </p:attrNameLst>
                                      </p:cBhvr>
                                      <p:to>
                                        <p:strVal val="visible"/>
                                      </p:to>
                                    </p:set>
                                    <p:animEffect transition="in" filter="wipe(left)">
                                      <p:cBhvr>
                                        <p:cTn id="90" dur="250"/>
                                        <p:tgtEl>
                                          <p:spTgt spid="67"/>
                                        </p:tgtEl>
                                      </p:cBhvr>
                                    </p:animEffect>
                                  </p:childTnLst>
                                </p:cTn>
                              </p:par>
                              <p:par>
                                <p:cTn id="91" presetID="22" presetClass="entr" presetSubtype="8" fill="hold" grpId="0" nodeType="withEffect">
                                  <p:stCondLst>
                                    <p:cond delay="6250"/>
                                  </p:stCondLst>
                                  <p:childTnLst>
                                    <p:set>
                                      <p:cBhvr>
                                        <p:cTn id="92" dur="1" fill="hold">
                                          <p:stCondLst>
                                            <p:cond delay="0"/>
                                          </p:stCondLst>
                                        </p:cTn>
                                        <p:tgtEl>
                                          <p:spTgt spid="68"/>
                                        </p:tgtEl>
                                        <p:attrNameLst>
                                          <p:attrName>style.visibility</p:attrName>
                                        </p:attrNameLst>
                                      </p:cBhvr>
                                      <p:to>
                                        <p:strVal val="visible"/>
                                      </p:to>
                                    </p:set>
                                    <p:animEffect transition="in" filter="wipe(left)">
                                      <p:cBhvr>
                                        <p:cTn id="93" dur="250"/>
                                        <p:tgtEl>
                                          <p:spTgt spid="68"/>
                                        </p:tgtEl>
                                      </p:cBhvr>
                                    </p:animEffect>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grpId="0" nodeType="clickEffect">
                                  <p:stCondLst>
                                    <p:cond delay="0"/>
                                  </p:stCondLst>
                                  <p:childTnLst>
                                    <p:set>
                                      <p:cBhvr>
                                        <p:cTn id="97"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animBg="1"/>
      <p:bldP spid="67" grpId="0" animBg="1"/>
      <p:bldP spid="66" grpId="0" animBg="1"/>
      <p:bldP spid="65" grpId="0" animBg="1"/>
      <p:bldP spid="64" grpId="0" animBg="1"/>
      <p:bldP spid="63" grpId="0" animBg="1"/>
      <p:bldP spid="62" grpId="0" animBg="1"/>
      <p:bldP spid="45" grpId="0" animBg="1"/>
      <p:bldP spid="40" grpId="0" animBg="1"/>
      <p:bldP spid="51" grpId="0" animBg="1"/>
      <p:bldP spid="39" grpId="0" animBg="1"/>
      <p:bldP spid="52" grpId="0" animBg="1"/>
      <p:bldP spid="54" grpId="0" animBg="1"/>
      <p:bldP spid="53" grpId="0" animBg="1"/>
      <p:bldP spid="56" grpId="0" animBg="1"/>
      <p:bldP spid="35" grpId="0" animBg="1"/>
      <p:bldP spid="34" grpId="0" animBg="1"/>
      <p:bldP spid="33" grpId="0" animBg="1"/>
      <p:bldP spid="57" grpId="0" animBg="1"/>
      <p:bldP spid="31" grpId="0" animBg="1"/>
      <p:bldP spid="30" grpId="0" animBg="1"/>
      <p:bldP spid="59" grpId="0" animBg="1"/>
      <p:bldP spid="58" grpId="0" animBg="1"/>
      <p:bldP spid="47" grpId="0" animBg="1"/>
      <p:bldP spid="46" grpId="0" animBg="1"/>
      <p:bldP spid="48" grpId="0" animBg="1"/>
      <p:bldP spid="69" grpId="0"/>
      <p:bldP spid="71" grpId="0"/>
      <p:bldP spid="7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Least Relative Character Position Delta (LRCPD)</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16</a:t>
            </a:fld>
            <a:endParaRPr lang="en-US" dirty="0"/>
          </a:p>
        </p:txBody>
      </p:sp>
      <mc:AlternateContent xmlns:mc="http://schemas.openxmlformats.org/markup-compatibility/2006" xmlns:a14="http://schemas.microsoft.com/office/drawing/2010/main">
        <mc:Choice Requires="a14">
          <p:graphicFrame>
            <p:nvGraphicFramePr>
              <p:cNvPr id="48" name="Tabelle 5"/>
              <p:cNvGraphicFramePr>
                <a:graphicFrameLocks noGrp="1"/>
              </p:cNvGraphicFramePr>
              <p:nvPr>
                <p:extLst>
                  <p:ext uri="{D42A27DB-BD31-4B8C-83A1-F6EECF244321}">
                    <p14:modId xmlns:p14="http://schemas.microsoft.com/office/powerpoint/2010/main" val="4026688264"/>
                  </p:ext>
                </p:extLst>
              </p:nvPr>
            </p:nvGraphicFramePr>
            <p:xfrm>
              <a:off x="1073765" y="1268760"/>
              <a:ext cx="60960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0.1</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1</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2</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3</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0.4</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4</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0.5</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5</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0.6</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6</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0.7</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0.8</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C</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A</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R</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N</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T</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K</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r>
                </a:tbl>
              </a:graphicData>
            </a:graphic>
          </p:graphicFrame>
        </mc:Choice>
        <mc:Fallback xmlns="">
          <p:graphicFrame>
            <p:nvGraphicFramePr>
              <p:cNvPr id="48" name="Tabelle 5"/>
              <p:cNvGraphicFramePr>
                <a:graphicFrameLocks noGrp="1"/>
              </p:cNvGraphicFramePr>
              <p:nvPr>
                <p:extLst>
                  <p:ext uri="{D42A27DB-BD31-4B8C-83A1-F6EECF244321}">
                    <p14:modId xmlns:p14="http://schemas.microsoft.com/office/powerpoint/2010/main" val="4026688264"/>
                  </p:ext>
                </p:extLst>
              </p:nvPr>
            </p:nvGraphicFramePr>
            <p:xfrm>
              <a:off x="1073765" y="1268760"/>
              <a:ext cx="60960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101000" t="-1639" r="-8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201000" t="-1639" r="-7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301000" t="-1639" r="-6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397030" t="-1639" r="-49901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502000" t="-1639" r="-4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602000" t="-1639" r="-3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702000" t="-1639" r="-2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802000" t="-1639" r="-104000" b="-209836"/>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r h="57912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C</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A</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R</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N</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T</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K</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r>
                </a:tbl>
              </a:graphicData>
            </a:graphic>
          </p:graphicFrame>
        </mc:Fallback>
      </mc:AlternateContent>
      <p:graphicFrame>
        <p:nvGraphicFramePr>
          <p:cNvPr id="49" name="Tabelle 6"/>
          <p:cNvGraphicFramePr>
            <a:graphicFrameLocks noGrp="1"/>
          </p:cNvGraphicFramePr>
          <p:nvPr>
            <p:extLst>
              <p:ext uri="{D42A27DB-BD31-4B8C-83A1-F6EECF244321}">
                <p14:modId xmlns:p14="http://schemas.microsoft.com/office/powerpoint/2010/main" val="976811305"/>
              </p:ext>
            </p:extLst>
          </p:nvPr>
        </p:nvGraphicFramePr>
        <p:xfrm>
          <a:off x="1402576" y="3884930"/>
          <a:ext cx="54864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C</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H </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A </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R</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N</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I</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Z</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K</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I</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dirty="0" smtClean="0">
                          <a:latin typeface="Cambria Math" pitchFamily="18" charset="0"/>
                          <a:ea typeface="Cambria Math" pitchFamily="18" charset="0"/>
                        </a:rPr>
                        <a:t>0</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0.125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0.375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0.625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dirty="0" smtClean="0">
                          <a:latin typeface="Cambria Math" pitchFamily="18" charset="0"/>
                          <a:ea typeface="Cambria Math" pitchFamily="18" charset="0"/>
                        </a:rPr>
                        <a:t>0.</a:t>
                      </a:r>
                      <a:r>
                        <a:rPr lang="de-DE" sz="1200" dirty="0" smtClean="0">
                          <a:latin typeface="Cambria Math" pitchFamily="18" charset="0"/>
                          <a:ea typeface="Cambria Math" pitchFamily="18" charset="0"/>
                        </a:rPr>
                        <a:t>875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1.0</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AlternateContent xmlns:mc="http://schemas.openxmlformats.org/markup-compatibility/2006" xmlns:a14="http://schemas.microsoft.com/office/drawing/2010/main">
        <mc:Choice Requires="a14">
          <p:graphicFrame>
            <p:nvGraphicFramePr>
              <p:cNvPr id="50" name="Tabelle 7"/>
              <p:cNvGraphicFramePr>
                <a:graphicFrameLocks noGrp="1"/>
              </p:cNvGraphicFramePr>
              <p:nvPr>
                <p:extLst>
                  <p:ext uri="{D42A27DB-BD31-4B8C-83A1-F6EECF244321}">
                    <p14:modId xmlns:p14="http://schemas.microsoft.com/office/powerpoint/2010/main" val="2710041468"/>
                  </p:ext>
                </p:extLst>
              </p:nvPr>
            </p:nvGraphicFramePr>
            <p:xfrm>
              <a:off x="617388" y="2865259"/>
              <a:ext cx="6892690" cy="370840"/>
            </p:xfrm>
            <a:graphic>
              <a:graphicData uri="http://schemas.openxmlformats.org/drawingml/2006/table">
                <a:tbl>
                  <a:tblPr firstRow="1" bandRow="1"/>
                  <a:tblGrid>
                    <a:gridCol w="689269"/>
                    <a:gridCol w="689269"/>
                    <a:gridCol w="689269"/>
                    <a:gridCol w="689269"/>
                    <a:gridCol w="689269"/>
                    <a:gridCol w="689269"/>
                    <a:gridCol w="689269"/>
                    <a:gridCol w="689269"/>
                    <a:gridCol w="689269"/>
                    <a:gridCol w="689269"/>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200" b="0" dirty="0" smtClean="0">
                              <a:solidFill>
                                <a:schemeClr val="tx1"/>
                              </a:solidFill>
                              <a:latin typeface="Cambria Math" pitchFamily="18" charset="0"/>
                              <a:ea typeface="Cambria Math" pitchFamily="18" charset="0"/>
                            </a:rPr>
                            <a:t>0.63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0.041</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6</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0.05</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5</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0.069</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4</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0.013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de-DE"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Choice>
        <mc:Fallback xmlns="">
          <p:graphicFrame>
            <p:nvGraphicFramePr>
              <p:cNvPr id="50" name="Tabelle 7"/>
              <p:cNvGraphicFramePr>
                <a:graphicFrameLocks noGrp="1"/>
              </p:cNvGraphicFramePr>
              <p:nvPr>
                <p:extLst>
                  <p:ext uri="{D42A27DB-BD31-4B8C-83A1-F6EECF244321}">
                    <p14:modId xmlns:p14="http://schemas.microsoft.com/office/powerpoint/2010/main" val="2710041468"/>
                  </p:ext>
                </p:extLst>
              </p:nvPr>
            </p:nvGraphicFramePr>
            <p:xfrm>
              <a:off x="617388" y="2865259"/>
              <a:ext cx="6892690" cy="370840"/>
            </p:xfrm>
            <a:graphic>
              <a:graphicData uri="http://schemas.openxmlformats.org/drawingml/2006/table">
                <a:tbl>
                  <a:tblPr firstRow="1" bandRow="1"/>
                  <a:tblGrid>
                    <a:gridCol w="689269"/>
                    <a:gridCol w="689269"/>
                    <a:gridCol w="689269"/>
                    <a:gridCol w="689269"/>
                    <a:gridCol w="689269"/>
                    <a:gridCol w="689269"/>
                    <a:gridCol w="689269"/>
                    <a:gridCol w="689269"/>
                    <a:gridCol w="689269"/>
                    <a:gridCol w="689269"/>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100885" t="-3279" r="-8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200885" t="-3279" r="-7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300885" t="-3279" r="-6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397368" t="-3279" r="-50000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501770" t="-3279" r="-404425" b="-8197"/>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701770" t="-3279" r="-204425"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801770" t="-3279" r="-104425" b="-8197"/>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de-DE"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Fallback>
      </mc:AlternateContent>
      <p:cxnSp>
        <p:nvCxnSpPr>
          <p:cNvPr id="51" name="Gewinkelte Verbindung 8"/>
          <p:cNvCxnSpPr/>
          <p:nvPr/>
        </p:nvCxnSpPr>
        <p:spPr>
          <a:xfrm rot="16200000" flipH="1">
            <a:off x="934293" y="3264351"/>
            <a:ext cx="662330" cy="576062"/>
          </a:xfrm>
          <a:prstGeom prst="bentConnector3">
            <a:avLst/>
          </a:prstGeom>
          <a:noFill/>
          <a:ln w="25400" cap="flat" cmpd="sng" algn="ctr">
            <a:solidFill>
              <a:srgbClr val="8064A2"/>
            </a:solidFill>
            <a:prstDash val="solid"/>
            <a:tailEnd type="arrow"/>
          </a:ln>
          <a:effectLst/>
        </p:spPr>
      </p:cxnSp>
      <p:cxnSp>
        <p:nvCxnSpPr>
          <p:cNvPr id="52" name="Gerade Verbindung 9"/>
          <p:cNvCxnSpPr/>
          <p:nvPr/>
        </p:nvCxnSpPr>
        <p:spPr>
          <a:xfrm>
            <a:off x="1697504" y="3213573"/>
            <a:ext cx="0" cy="463598"/>
          </a:xfrm>
          <a:prstGeom prst="line">
            <a:avLst/>
          </a:prstGeom>
          <a:noFill/>
          <a:ln w="25400" cap="flat" cmpd="sng" algn="ctr">
            <a:solidFill>
              <a:srgbClr val="8064A2"/>
            </a:solidFill>
            <a:prstDash val="solid"/>
          </a:ln>
          <a:effectLst/>
        </p:spPr>
      </p:cxnSp>
      <p:cxnSp>
        <p:nvCxnSpPr>
          <p:cNvPr id="53" name="Gerade Verbindung 10"/>
          <p:cNvCxnSpPr/>
          <p:nvPr/>
        </p:nvCxnSpPr>
        <p:spPr>
          <a:xfrm>
            <a:off x="1697504" y="3664904"/>
            <a:ext cx="3600400" cy="0"/>
          </a:xfrm>
          <a:prstGeom prst="line">
            <a:avLst/>
          </a:prstGeom>
          <a:noFill/>
          <a:ln w="25400" cap="flat" cmpd="sng" algn="ctr">
            <a:solidFill>
              <a:srgbClr val="8064A2"/>
            </a:solidFill>
            <a:prstDash val="solid"/>
          </a:ln>
          <a:effectLst/>
        </p:spPr>
      </p:cxnSp>
      <p:cxnSp>
        <p:nvCxnSpPr>
          <p:cNvPr id="54" name="Gerade Verbindung mit Pfeil 11"/>
          <p:cNvCxnSpPr/>
          <p:nvPr/>
        </p:nvCxnSpPr>
        <p:spPr>
          <a:xfrm>
            <a:off x="5297904" y="3653141"/>
            <a:ext cx="0" cy="232944"/>
          </a:xfrm>
          <a:prstGeom prst="straightConnector1">
            <a:avLst/>
          </a:prstGeom>
          <a:noFill/>
          <a:ln w="25400" cap="flat" cmpd="sng" algn="ctr">
            <a:solidFill>
              <a:srgbClr val="8064A2"/>
            </a:solidFill>
            <a:prstDash val="solid"/>
            <a:tailEnd type="arrow"/>
          </a:ln>
          <a:effectLst/>
        </p:spPr>
      </p:cxnSp>
      <p:cxnSp>
        <p:nvCxnSpPr>
          <p:cNvPr id="55" name="Gewinkelte Verbindung 12"/>
          <p:cNvCxnSpPr/>
          <p:nvPr/>
        </p:nvCxnSpPr>
        <p:spPr>
          <a:xfrm rot="16200000" flipH="1">
            <a:off x="2299931" y="3259218"/>
            <a:ext cx="667355" cy="576064"/>
          </a:xfrm>
          <a:prstGeom prst="bentConnector3">
            <a:avLst/>
          </a:prstGeom>
          <a:noFill/>
          <a:ln w="25400" cap="flat" cmpd="sng" algn="ctr">
            <a:solidFill>
              <a:srgbClr val="8064A2"/>
            </a:solidFill>
            <a:prstDash val="solid"/>
            <a:tailEnd type="arrow"/>
          </a:ln>
          <a:effectLst/>
        </p:spPr>
      </p:cxnSp>
      <p:cxnSp>
        <p:nvCxnSpPr>
          <p:cNvPr id="56" name="Gewinkelte Verbindung 13"/>
          <p:cNvCxnSpPr/>
          <p:nvPr/>
        </p:nvCxnSpPr>
        <p:spPr>
          <a:xfrm rot="16200000" flipH="1">
            <a:off x="2937394" y="3267790"/>
            <a:ext cx="669393" cy="556884"/>
          </a:xfrm>
          <a:prstGeom prst="bentConnector3">
            <a:avLst/>
          </a:prstGeom>
          <a:noFill/>
          <a:ln w="25400" cap="flat" cmpd="sng" algn="ctr">
            <a:solidFill>
              <a:srgbClr val="8064A2"/>
            </a:solidFill>
            <a:prstDash val="solid"/>
            <a:tailEnd type="arrow"/>
          </a:ln>
          <a:effectLst/>
        </p:spPr>
      </p:cxnSp>
      <p:cxnSp>
        <p:nvCxnSpPr>
          <p:cNvPr id="57" name="Gewinkelte Verbindung 14"/>
          <p:cNvCxnSpPr/>
          <p:nvPr/>
        </p:nvCxnSpPr>
        <p:spPr>
          <a:xfrm rot="16200000" flipH="1">
            <a:off x="3595056" y="3330207"/>
            <a:ext cx="669393" cy="432048"/>
          </a:xfrm>
          <a:prstGeom prst="bentConnector3">
            <a:avLst/>
          </a:prstGeom>
          <a:noFill/>
          <a:ln w="25400" cap="flat" cmpd="sng" algn="ctr">
            <a:solidFill>
              <a:srgbClr val="8064A2"/>
            </a:solidFill>
            <a:prstDash val="solid"/>
            <a:tailEnd type="arrow"/>
          </a:ln>
          <a:effectLst/>
        </p:spPr>
      </p:cxnSp>
      <p:cxnSp>
        <p:nvCxnSpPr>
          <p:cNvPr id="58" name="Gewinkelte Verbindung 15"/>
          <p:cNvCxnSpPr/>
          <p:nvPr/>
        </p:nvCxnSpPr>
        <p:spPr>
          <a:xfrm rot="16200000" flipH="1">
            <a:off x="4225126" y="3384215"/>
            <a:ext cx="669394" cy="324035"/>
          </a:xfrm>
          <a:prstGeom prst="bentConnector3">
            <a:avLst/>
          </a:prstGeom>
          <a:noFill/>
          <a:ln w="25400" cap="flat" cmpd="sng" algn="ctr">
            <a:solidFill>
              <a:srgbClr val="8064A2"/>
            </a:solidFill>
            <a:prstDash val="solid"/>
            <a:tailEnd type="arrow"/>
          </a:ln>
          <a:effectLst/>
        </p:spPr>
      </p:cxnSp>
      <p:grpSp>
        <p:nvGrpSpPr>
          <p:cNvPr id="59" name="Gruppieren 16"/>
          <p:cNvGrpSpPr/>
          <p:nvPr/>
        </p:nvGrpSpPr>
        <p:grpSpPr>
          <a:xfrm>
            <a:off x="4947112" y="3213047"/>
            <a:ext cx="288032" cy="354601"/>
            <a:chOff x="5292080" y="3841239"/>
            <a:chExt cx="288032" cy="354601"/>
          </a:xfrm>
        </p:grpSpPr>
        <p:cxnSp>
          <p:nvCxnSpPr>
            <p:cNvPr id="60" name="Gerade Verbindung 17"/>
            <p:cNvCxnSpPr/>
            <p:nvPr/>
          </p:nvCxnSpPr>
          <p:spPr>
            <a:xfrm>
              <a:off x="5436096" y="3841239"/>
              <a:ext cx="0" cy="232325"/>
            </a:xfrm>
            <a:prstGeom prst="line">
              <a:avLst/>
            </a:prstGeom>
            <a:noFill/>
            <a:ln w="25400" cap="flat" cmpd="sng" algn="ctr">
              <a:solidFill>
                <a:srgbClr val="8064A2"/>
              </a:solidFill>
              <a:prstDash val="solid"/>
            </a:ln>
            <a:effectLst/>
          </p:spPr>
        </p:cxnSp>
        <p:cxnSp>
          <p:nvCxnSpPr>
            <p:cNvPr id="61" name="Gerade Verbindung 18"/>
            <p:cNvCxnSpPr/>
            <p:nvPr/>
          </p:nvCxnSpPr>
          <p:spPr>
            <a:xfrm>
              <a:off x="5292080" y="4083483"/>
              <a:ext cx="288032" cy="0"/>
            </a:xfrm>
            <a:prstGeom prst="line">
              <a:avLst/>
            </a:prstGeom>
            <a:noFill/>
            <a:ln w="25400" cap="flat" cmpd="sng" algn="ctr">
              <a:solidFill>
                <a:srgbClr val="8064A2"/>
              </a:solidFill>
              <a:prstDash val="solid"/>
            </a:ln>
            <a:effectLst/>
          </p:spPr>
        </p:cxnSp>
        <p:cxnSp>
          <p:nvCxnSpPr>
            <p:cNvPr id="62" name="Gerade Verbindung 19"/>
            <p:cNvCxnSpPr/>
            <p:nvPr/>
          </p:nvCxnSpPr>
          <p:spPr>
            <a:xfrm>
              <a:off x="5355758" y="4139489"/>
              <a:ext cx="160676" cy="0"/>
            </a:xfrm>
            <a:prstGeom prst="line">
              <a:avLst/>
            </a:prstGeom>
            <a:noFill/>
            <a:ln w="25400" cap="flat" cmpd="sng" algn="ctr">
              <a:solidFill>
                <a:srgbClr val="8064A2"/>
              </a:solidFill>
              <a:prstDash val="solid"/>
            </a:ln>
            <a:effectLst/>
          </p:spPr>
        </p:cxnSp>
        <p:cxnSp>
          <p:nvCxnSpPr>
            <p:cNvPr id="63" name="Gerade Verbindung 20"/>
            <p:cNvCxnSpPr/>
            <p:nvPr/>
          </p:nvCxnSpPr>
          <p:spPr>
            <a:xfrm>
              <a:off x="5404774" y="4195840"/>
              <a:ext cx="62645" cy="0"/>
            </a:xfrm>
            <a:prstGeom prst="line">
              <a:avLst/>
            </a:prstGeom>
            <a:noFill/>
            <a:ln w="25400" cap="flat" cmpd="sng" algn="ctr">
              <a:solidFill>
                <a:srgbClr val="8064A2"/>
              </a:solidFill>
              <a:prstDash val="solid"/>
            </a:ln>
            <a:effectLst/>
          </p:spPr>
        </p:cxnSp>
      </p:grpSp>
      <p:cxnSp>
        <p:nvCxnSpPr>
          <p:cNvPr id="64" name="Gewinkelte Verbindung 21"/>
          <p:cNvCxnSpPr/>
          <p:nvPr/>
        </p:nvCxnSpPr>
        <p:spPr>
          <a:xfrm rot="5400000">
            <a:off x="5285936" y="3367522"/>
            <a:ext cx="672010" cy="360039"/>
          </a:xfrm>
          <a:prstGeom prst="bentConnector3">
            <a:avLst/>
          </a:prstGeom>
          <a:noFill/>
          <a:ln w="25400" cap="flat" cmpd="sng" algn="ctr">
            <a:solidFill>
              <a:srgbClr val="8064A2"/>
            </a:solidFill>
            <a:prstDash val="solid"/>
            <a:tailEnd type="arrow"/>
          </a:ln>
          <a:effectLst/>
        </p:spPr>
      </p:cxnSp>
      <p:cxnSp>
        <p:nvCxnSpPr>
          <p:cNvPr id="65" name="Gewinkelte Verbindung 22"/>
          <p:cNvCxnSpPr/>
          <p:nvPr/>
        </p:nvCxnSpPr>
        <p:spPr>
          <a:xfrm rot="5400000">
            <a:off x="5863309" y="3294203"/>
            <a:ext cx="669393" cy="504055"/>
          </a:xfrm>
          <a:prstGeom prst="bentConnector3">
            <a:avLst/>
          </a:prstGeom>
          <a:noFill/>
          <a:ln w="25400" cap="flat" cmpd="sng" algn="ctr">
            <a:solidFill>
              <a:srgbClr val="8064A2"/>
            </a:solidFill>
            <a:prstDash val="solid"/>
            <a:tailEnd type="arrow"/>
          </a:ln>
          <a:effectLst/>
        </p:spPr>
      </p:cxnSp>
      <p:cxnSp>
        <p:nvCxnSpPr>
          <p:cNvPr id="66" name="Gewinkelte Verbindung 23"/>
          <p:cNvCxnSpPr/>
          <p:nvPr/>
        </p:nvCxnSpPr>
        <p:spPr>
          <a:xfrm rot="5400000">
            <a:off x="6547210" y="3258373"/>
            <a:ext cx="669394" cy="575717"/>
          </a:xfrm>
          <a:prstGeom prst="bentConnector3">
            <a:avLst/>
          </a:prstGeom>
          <a:noFill/>
          <a:ln w="25400" cap="flat" cmpd="sng" algn="ctr">
            <a:solidFill>
              <a:srgbClr val="8064A2"/>
            </a:solidFill>
            <a:prstDash val="solid"/>
            <a:tailEnd type="arrow"/>
          </a:ln>
          <a:effectLst/>
        </p:spPr>
      </p:cxnSp>
      <mc:AlternateContent xmlns:mc="http://schemas.openxmlformats.org/markup-compatibility/2006" xmlns:a14="http://schemas.microsoft.com/office/drawing/2010/main">
        <mc:Choice Requires="a14">
          <p:sp>
            <p:nvSpPr>
              <p:cNvPr id="67" name="Textfeld 24"/>
              <p:cNvSpPr txBox="1"/>
              <p:nvPr/>
            </p:nvSpPr>
            <p:spPr>
              <a:xfrm>
                <a:off x="6689" y="2764095"/>
                <a:ext cx="360039" cy="52322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800" b="0" i="1" u="none" strike="noStrike" kern="0" cap="none" spc="0" normalizeH="0" baseline="0" noProof="0" smtClean="0">
                          <a:ln>
                            <a:noFill/>
                          </a:ln>
                          <a:solidFill>
                            <a:prstClr val="black"/>
                          </a:solidFill>
                          <a:effectLst/>
                          <a:uLnTx/>
                          <a:uFillTx/>
                          <a:latin typeface="Cambria Math"/>
                          <a:ea typeface="Cambria Math"/>
                        </a:rPr>
                        <m:t>∆</m:t>
                      </m:r>
                    </m:oMath>
                  </m:oMathPara>
                </a14:m>
                <a:endParaRPr kumimoji="0" lang="en-US" sz="2800" b="0" i="0" u="none" strike="noStrike" kern="0" cap="none" spc="0" normalizeH="0" baseline="0" noProof="0" dirty="0" smtClean="0">
                  <a:ln>
                    <a:noFill/>
                  </a:ln>
                  <a:solidFill>
                    <a:prstClr val="black"/>
                  </a:solidFill>
                  <a:effectLst/>
                  <a:uLnTx/>
                  <a:uFillTx/>
                </a:endParaRPr>
              </a:p>
            </p:txBody>
          </p:sp>
        </mc:Choice>
        <mc:Fallback xmlns="">
          <p:sp>
            <p:nvSpPr>
              <p:cNvPr id="67" name="Textfeld 24"/>
              <p:cNvSpPr txBox="1">
                <a:spLocks noRot="1" noChangeAspect="1" noMove="1" noResize="1" noEditPoints="1" noAdjustHandles="1" noChangeArrowheads="1" noChangeShapeType="1" noTextEdit="1"/>
              </p:cNvSpPr>
              <p:nvPr/>
            </p:nvSpPr>
            <p:spPr>
              <a:xfrm>
                <a:off x="6689" y="2764095"/>
                <a:ext cx="360039" cy="523220"/>
              </a:xfrm>
              <a:prstGeom prst="rect">
                <a:avLst/>
              </a:prstGeom>
              <a:blipFill rotWithShape="0">
                <a:blip r:embed="rId4"/>
                <a:stretch>
                  <a:fillRect/>
                </a:stretch>
              </a:blipFill>
            </p:spPr>
            <p:txBody>
              <a:bodyPr/>
              <a:lstStyle/>
              <a:p>
                <a:r>
                  <a:rPr lang="en-US">
                    <a:noFill/>
                  </a:rPr>
                  <a:t> </a:t>
                </a:r>
              </a:p>
            </p:txBody>
          </p:sp>
        </mc:Fallback>
      </mc:AlternateContent>
      <p:sp>
        <p:nvSpPr>
          <p:cNvPr id="68" name="Textfeld 25"/>
          <p:cNvSpPr txBox="1"/>
          <p:nvPr/>
        </p:nvSpPr>
        <p:spPr>
          <a:xfrm>
            <a:off x="1152414" y="2874935"/>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69" name="Textfeld 26"/>
          <p:cNvSpPr txBox="1"/>
          <p:nvPr/>
        </p:nvSpPr>
        <p:spPr>
          <a:xfrm>
            <a:off x="1840512" y="286525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0" name="Textfeld 27"/>
          <p:cNvSpPr txBox="1"/>
          <p:nvPr/>
        </p:nvSpPr>
        <p:spPr>
          <a:xfrm>
            <a:off x="2522235" y="286990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1" name="Textfeld 28"/>
          <p:cNvSpPr txBox="1"/>
          <p:nvPr/>
        </p:nvSpPr>
        <p:spPr>
          <a:xfrm>
            <a:off x="3213481" y="286990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2" name="Textfeld 29"/>
          <p:cNvSpPr txBox="1"/>
          <p:nvPr/>
        </p:nvSpPr>
        <p:spPr>
          <a:xfrm>
            <a:off x="3906252" y="286525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3" name="Textfeld 30"/>
          <p:cNvSpPr txBox="1"/>
          <p:nvPr/>
        </p:nvSpPr>
        <p:spPr>
          <a:xfrm>
            <a:off x="4595736" y="2863806"/>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4" name="Textfeld 31"/>
          <p:cNvSpPr txBox="1"/>
          <p:nvPr/>
        </p:nvSpPr>
        <p:spPr>
          <a:xfrm>
            <a:off x="5288387" y="2869182"/>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5" name="Textfeld 32"/>
          <p:cNvSpPr txBox="1"/>
          <p:nvPr/>
        </p:nvSpPr>
        <p:spPr>
          <a:xfrm>
            <a:off x="5974333" y="2863805"/>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6" name="Textfeld 33"/>
          <p:cNvSpPr txBox="1"/>
          <p:nvPr/>
        </p:nvSpPr>
        <p:spPr>
          <a:xfrm>
            <a:off x="6663398" y="2869182"/>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7" name="Textfeld 34"/>
          <p:cNvSpPr txBox="1"/>
          <p:nvPr/>
        </p:nvSpPr>
        <p:spPr>
          <a:xfrm>
            <a:off x="308760" y="2873304"/>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cxnSp>
        <p:nvCxnSpPr>
          <p:cNvPr id="80" name="Gewinkelte Verbindung 37"/>
          <p:cNvCxnSpPr/>
          <p:nvPr/>
        </p:nvCxnSpPr>
        <p:spPr>
          <a:xfrm rot="5400000">
            <a:off x="847337" y="2348807"/>
            <a:ext cx="656221" cy="396045"/>
          </a:xfrm>
          <a:prstGeom prst="bentConnector3">
            <a:avLst/>
          </a:prstGeom>
          <a:noFill/>
          <a:ln w="25400" cap="flat" cmpd="sng" algn="ctr">
            <a:solidFill>
              <a:srgbClr val="8064A2"/>
            </a:solidFill>
            <a:prstDash val="solid"/>
          </a:ln>
          <a:effectLst/>
        </p:spPr>
      </p:cxnSp>
      <p:cxnSp>
        <p:nvCxnSpPr>
          <p:cNvPr id="81" name="Gewinkelte Verbindung 38"/>
          <p:cNvCxnSpPr/>
          <p:nvPr/>
        </p:nvCxnSpPr>
        <p:spPr>
          <a:xfrm rot="5400000">
            <a:off x="1513412" y="2402812"/>
            <a:ext cx="656218" cy="288033"/>
          </a:xfrm>
          <a:prstGeom prst="bentConnector3">
            <a:avLst/>
          </a:prstGeom>
          <a:noFill/>
          <a:ln w="25400" cap="flat" cmpd="sng" algn="ctr">
            <a:solidFill>
              <a:srgbClr val="8064A2"/>
            </a:solidFill>
            <a:prstDash val="solid"/>
          </a:ln>
          <a:effectLst/>
        </p:spPr>
      </p:cxnSp>
      <p:cxnSp>
        <p:nvCxnSpPr>
          <p:cNvPr id="82" name="Gewinkelte Verbindung 39"/>
          <p:cNvCxnSpPr/>
          <p:nvPr/>
        </p:nvCxnSpPr>
        <p:spPr>
          <a:xfrm rot="5400000">
            <a:off x="2131046" y="2433250"/>
            <a:ext cx="645085" cy="216024"/>
          </a:xfrm>
          <a:prstGeom prst="bentConnector3">
            <a:avLst/>
          </a:prstGeom>
          <a:noFill/>
          <a:ln w="25400" cap="flat" cmpd="sng" algn="ctr">
            <a:solidFill>
              <a:srgbClr val="8064A2"/>
            </a:solidFill>
            <a:prstDash val="solid"/>
          </a:ln>
          <a:effectLst/>
        </p:spPr>
      </p:cxnSp>
      <p:cxnSp>
        <p:nvCxnSpPr>
          <p:cNvPr id="83" name="Gewinkelte Verbindung 40"/>
          <p:cNvCxnSpPr/>
          <p:nvPr/>
        </p:nvCxnSpPr>
        <p:spPr>
          <a:xfrm rot="5400000">
            <a:off x="2766838" y="2445530"/>
            <a:ext cx="650462" cy="196842"/>
          </a:xfrm>
          <a:prstGeom prst="bentConnector3">
            <a:avLst/>
          </a:prstGeom>
          <a:noFill/>
          <a:ln w="25400" cap="flat" cmpd="sng" algn="ctr">
            <a:solidFill>
              <a:srgbClr val="8064A2"/>
            </a:solidFill>
            <a:prstDash val="solid"/>
          </a:ln>
          <a:effectLst/>
        </p:spPr>
      </p:cxnSp>
      <p:cxnSp>
        <p:nvCxnSpPr>
          <p:cNvPr id="84" name="Gewinkelte Verbindung 41"/>
          <p:cNvCxnSpPr/>
          <p:nvPr/>
        </p:nvCxnSpPr>
        <p:spPr>
          <a:xfrm rot="5400000">
            <a:off x="3421623" y="2510825"/>
            <a:ext cx="656218" cy="72008"/>
          </a:xfrm>
          <a:prstGeom prst="bentConnector3">
            <a:avLst/>
          </a:prstGeom>
          <a:noFill/>
          <a:ln w="25400" cap="flat" cmpd="sng" algn="ctr">
            <a:solidFill>
              <a:srgbClr val="8064A2"/>
            </a:solidFill>
            <a:prstDash val="solid"/>
          </a:ln>
          <a:effectLst/>
        </p:spPr>
      </p:cxnSp>
      <p:cxnSp>
        <p:nvCxnSpPr>
          <p:cNvPr id="85" name="Gewinkelte Verbindung 42"/>
          <p:cNvCxnSpPr/>
          <p:nvPr/>
        </p:nvCxnSpPr>
        <p:spPr>
          <a:xfrm rot="5400000">
            <a:off x="4093263" y="2523261"/>
            <a:ext cx="645088" cy="36005"/>
          </a:xfrm>
          <a:prstGeom prst="bentConnector3">
            <a:avLst/>
          </a:prstGeom>
          <a:noFill/>
          <a:ln w="25400" cap="flat" cmpd="sng" algn="ctr">
            <a:solidFill>
              <a:srgbClr val="8064A2"/>
            </a:solidFill>
            <a:prstDash val="solid"/>
          </a:ln>
          <a:effectLst/>
        </p:spPr>
      </p:cxnSp>
      <p:cxnSp>
        <p:nvCxnSpPr>
          <p:cNvPr id="86" name="Gewinkelte Verbindung 43"/>
          <p:cNvCxnSpPr/>
          <p:nvPr/>
        </p:nvCxnSpPr>
        <p:spPr>
          <a:xfrm rot="16200000" flipH="1">
            <a:off x="4740471" y="2519442"/>
            <a:ext cx="650463" cy="49015"/>
          </a:xfrm>
          <a:prstGeom prst="bentConnector3">
            <a:avLst/>
          </a:prstGeom>
          <a:noFill/>
          <a:ln w="25400" cap="flat" cmpd="sng" algn="ctr">
            <a:solidFill>
              <a:srgbClr val="8064A2"/>
            </a:solidFill>
            <a:prstDash val="solid"/>
          </a:ln>
          <a:effectLst/>
        </p:spPr>
      </p:cxnSp>
      <p:cxnSp>
        <p:nvCxnSpPr>
          <p:cNvPr id="87" name="Gewinkelte Verbindung 44"/>
          <p:cNvCxnSpPr/>
          <p:nvPr/>
        </p:nvCxnSpPr>
        <p:spPr>
          <a:xfrm rot="16200000" flipH="1">
            <a:off x="5404722" y="2471942"/>
            <a:ext cx="650461" cy="144015"/>
          </a:xfrm>
          <a:prstGeom prst="bentConnector3">
            <a:avLst/>
          </a:prstGeom>
          <a:noFill/>
          <a:ln w="25400" cap="flat" cmpd="sng" algn="ctr">
            <a:solidFill>
              <a:srgbClr val="8064A2"/>
            </a:solidFill>
            <a:prstDash val="solid"/>
          </a:ln>
          <a:effectLst/>
        </p:spPr>
      </p:cxnSp>
      <p:cxnSp>
        <p:nvCxnSpPr>
          <p:cNvPr id="88" name="Gewinkelte Verbindung 45"/>
          <p:cNvCxnSpPr/>
          <p:nvPr/>
        </p:nvCxnSpPr>
        <p:spPr>
          <a:xfrm rot="16200000" flipH="1">
            <a:off x="6032801" y="2451949"/>
            <a:ext cx="650460" cy="184001"/>
          </a:xfrm>
          <a:prstGeom prst="bentConnector3">
            <a:avLst/>
          </a:prstGeom>
          <a:noFill/>
          <a:ln w="25400" cap="flat" cmpd="sng" algn="ctr">
            <a:solidFill>
              <a:srgbClr val="8064A2"/>
            </a:solidFill>
            <a:prstDash val="solid"/>
          </a:ln>
          <a:effectLst/>
        </p:spPr>
      </p:cxnSp>
      <p:cxnSp>
        <p:nvCxnSpPr>
          <p:cNvPr id="89" name="Gewinkelte Verbindung 46"/>
          <p:cNvCxnSpPr/>
          <p:nvPr/>
        </p:nvCxnSpPr>
        <p:spPr>
          <a:xfrm rot="16200000" flipH="1">
            <a:off x="6697812" y="2402987"/>
            <a:ext cx="656220" cy="287685"/>
          </a:xfrm>
          <a:prstGeom prst="bentConnector3">
            <a:avLst/>
          </a:prstGeom>
          <a:noFill/>
          <a:ln w="25400" cap="flat" cmpd="sng" algn="ctr">
            <a:solidFill>
              <a:srgbClr val="8064A2"/>
            </a:solidFill>
            <a:prstDash val="solid"/>
          </a:ln>
          <a:effectLst/>
        </p:spPr>
      </p:cxnSp>
      <mc:AlternateContent xmlns:mc="http://schemas.openxmlformats.org/markup-compatibility/2006" xmlns:a14="http://schemas.microsoft.com/office/drawing/2010/main">
        <mc:Choice Requires="a14">
          <p:sp>
            <p:nvSpPr>
              <p:cNvPr id="90" name="Rechteck 47"/>
              <p:cNvSpPr/>
              <p:nvPr/>
            </p:nvSpPr>
            <p:spPr>
              <a:xfrm>
                <a:off x="6689" y="5218921"/>
                <a:ext cx="7617243" cy="669094"/>
              </a:xfrm>
              <a:prstGeom prst="rect">
                <a:avLst/>
              </a:prstGeom>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0" cap="none" spc="0" normalizeH="0" baseline="0" noProof="0" smtClean="0">
                          <a:ln>
                            <a:noFill/>
                          </a:ln>
                          <a:solidFill>
                            <a:prstClr val="black"/>
                          </a:solidFill>
                          <a:effectLst/>
                          <a:uLnTx/>
                          <a:uFillTx/>
                          <a:latin typeface="Cambria Math"/>
                        </a:rPr>
                        <m:t>𝑙𝑟𝑐𝑝𝑑</m:t>
                      </m:r>
                      <m:d>
                        <m:d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dPr>
                        <m:e>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2</m:t>
                          </m:r>
                        </m:e>
                      </m:d>
                      <m:r>
                        <a:rPr kumimoji="0" lang="en-US" sz="1800" b="0" i="1" u="none" strike="noStrike" kern="0" cap="none" spc="0" normalizeH="0" baseline="0" noProof="0" smtClean="0">
                          <a:ln>
                            <a:noFill/>
                          </a:ln>
                          <a:solidFill>
                            <a:prstClr val="black"/>
                          </a:solidFill>
                          <a:effectLst/>
                          <a:uLnTx/>
                          <a:uFillTx/>
                          <a:latin typeface="Cambria Math"/>
                        </a:rPr>
                        <m:t>=1−</m:t>
                      </m:r>
                      <m:f>
                        <m:f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fPr>
                        <m:num>
                          <m:r>
                            <a:rPr kumimoji="0" lang="en-US" sz="1800" b="0" i="1" u="none" strike="noStrike" kern="0" cap="none" spc="0" normalizeH="0" baseline="0" noProof="0" smtClean="0">
                              <a:ln>
                                <a:noFill/>
                              </a:ln>
                              <a:solidFill>
                                <a:prstClr val="black"/>
                              </a:solidFill>
                              <a:effectLst/>
                              <a:uLnTx/>
                              <a:uFillTx/>
                              <a:latin typeface="Cambria Math"/>
                            </a:rPr>
                            <m:t>∆(</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2)</m:t>
                          </m:r>
                        </m:num>
                        <m:den>
                          <m:r>
                            <a:rPr kumimoji="0" lang="en-US" sz="1800" b="0" i="1" u="none" strike="noStrike" kern="0" cap="none" spc="0" normalizeH="0" baseline="0" noProof="0" smtClean="0">
                              <a:ln>
                                <a:noFill/>
                              </a:ln>
                              <a:solidFill>
                                <a:prstClr val="black"/>
                              </a:solidFill>
                              <a:effectLst/>
                              <a:uLnTx/>
                              <a:uFillTx/>
                              <a:latin typeface="Cambria Math"/>
                            </a:rPr>
                            <m:t>𝑙𝑒𝑛</m:t>
                          </m:r>
                          <m:r>
                            <a:rPr kumimoji="0" lang="en-US" sz="1800" b="0" i="1" u="none" strike="noStrike" kern="0" cap="none" spc="0" normalizeH="0" baseline="0" noProof="0" smtClean="0">
                              <a:ln>
                                <a:noFill/>
                              </a:ln>
                              <a:solidFill>
                                <a:prstClr val="black"/>
                              </a:solidFill>
                              <a:effectLst/>
                              <a:uLnTx/>
                              <a:uFillTx/>
                              <a:latin typeface="Cambria Math"/>
                            </a:rPr>
                            <m:t>(</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den>
                      </m:f>
                      <m:r>
                        <a:rPr kumimoji="0" lang="en-US" sz="1800" b="0" i="1" u="none" strike="noStrike" kern="0" cap="none" spc="0" normalizeH="0" baseline="0" noProof="0" smtClean="0">
                          <a:ln>
                            <a:noFill/>
                          </a:ln>
                          <a:solidFill>
                            <a:prstClr val="black"/>
                          </a:solidFill>
                          <a:effectLst/>
                          <a:uLnTx/>
                          <a:uFillTx/>
                          <a:latin typeface="Cambria Math"/>
                        </a:rPr>
                        <m:t>=1−</m:t>
                      </m:r>
                      <m:f>
                        <m:f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fPr>
                        <m:num>
                          <m:r>
                            <a:rPr kumimoji="0" lang="en-US" sz="1800" b="0" i="1" u="none" strike="noStrike" kern="0" cap="none" spc="0" normalizeH="0" baseline="0" noProof="0" smtClean="0">
                              <a:ln>
                                <a:noFill/>
                              </a:ln>
                              <a:solidFill>
                                <a:prstClr val="black"/>
                              </a:solidFill>
                              <a:effectLst/>
                              <a:uLnTx/>
                              <a:uFillTx/>
                              <a:latin typeface="Cambria Math"/>
                            </a:rPr>
                            <m:t>1.875</m:t>
                          </m:r>
                        </m:num>
                        <m:den>
                          <m:r>
                            <a:rPr kumimoji="0" lang="en-US" sz="1800" b="0" i="1" u="none" strike="noStrike" kern="0" cap="none" spc="0" normalizeH="0" baseline="0" noProof="0" smtClean="0">
                              <a:ln>
                                <a:noFill/>
                              </a:ln>
                              <a:solidFill>
                                <a:prstClr val="black"/>
                              </a:solidFill>
                              <a:effectLst/>
                              <a:uLnTx/>
                              <a:uFillTx/>
                              <a:latin typeface="Cambria Math"/>
                            </a:rPr>
                            <m:t>10</m:t>
                          </m:r>
                        </m:den>
                      </m:f>
                      <m:r>
                        <a:rPr kumimoji="0" lang="en-US" sz="1800" b="0" i="1" u="none" strike="noStrike" kern="0" cap="none" spc="0" normalizeH="0" baseline="0" noProof="0" smtClean="0">
                          <a:ln>
                            <a:noFill/>
                          </a:ln>
                          <a:solidFill>
                            <a:prstClr val="black"/>
                          </a:solidFill>
                          <a:effectLst/>
                          <a:uLnTx/>
                          <a:uFillTx/>
                          <a:latin typeface="Cambria Math"/>
                        </a:rPr>
                        <m:t>=0.8125</m:t>
                      </m:r>
                    </m:oMath>
                  </m:oMathPara>
                </a14:m>
                <a:endParaRPr kumimoji="0" lang="en-US" sz="1800" b="0" i="0" u="none" strike="noStrike" kern="0" cap="none" spc="0" normalizeH="0" baseline="0" noProof="0" dirty="0" smtClean="0">
                  <a:ln>
                    <a:noFill/>
                  </a:ln>
                  <a:solidFill>
                    <a:prstClr val="black"/>
                  </a:solidFill>
                  <a:effectLst/>
                  <a:uLnTx/>
                  <a:uFillTx/>
                </a:endParaRPr>
              </a:p>
            </p:txBody>
          </p:sp>
        </mc:Choice>
        <mc:Fallback xmlns="">
          <p:sp>
            <p:nvSpPr>
              <p:cNvPr id="90" name="Rechteck 47"/>
              <p:cNvSpPr>
                <a:spLocks noRot="1" noChangeAspect="1" noMove="1" noResize="1" noEditPoints="1" noAdjustHandles="1" noChangeArrowheads="1" noChangeShapeType="1" noTextEdit="1"/>
              </p:cNvSpPr>
              <p:nvPr/>
            </p:nvSpPr>
            <p:spPr>
              <a:xfrm>
                <a:off x="6689" y="5218921"/>
                <a:ext cx="7617243" cy="669094"/>
              </a:xfrm>
              <a:prstGeom prst="rect">
                <a:avLst/>
              </a:prstGeom>
              <a:blipFill rotWithShape="0">
                <a:blip r:embed="rId5"/>
                <a:stretch>
                  <a:fillRect/>
                </a:stretch>
              </a:blipFill>
            </p:spPr>
            <p:txBody>
              <a:bodyPr/>
              <a:lstStyle/>
              <a:p>
                <a:r>
                  <a:rPr lang="en-US">
                    <a:noFill/>
                  </a:rPr>
                  <a:t> </a:t>
                </a:r>
              </a:p>
            </p:txBody>
          </p:sp>
        </mc:Fallback>
      </mc:AlternateContent>
      <p:grpSp>
        <p:nvGrpSpPr>
          <p:cNvPr id="6" name="Gruppieren 5"/>
          <p:cNvGrpSpPr/>
          <p:nvPr/>
        </p:nvGrpSpPr>
        <p:grpSpPr>
          <a:xfrm>
            <a:off x="7440251" y="1091509"/>
            <a:ext cx="5519956" cy="4419305"/>
            <a:chOff x="7440251" y="1091509"/>
            <a:chExt cx="5519956" cy="4419305"/>
          </a:xfrm>
        </p:grpSpPr>
        <p:sp>
          <p:nvSpPr>
            <p:cNvPr id="4" name="Textfeld 3"/>
            <p:cNvSpPr txBox="1"/>
            <p:nvPr/>
          </p:nvSpPr>
          <p:spPr>
            <a:xfrm>
              <a:off x="7440251" y="1091509"/>
              <a:ext cx="5519956" cy="3108543"/>
            </a:xfrm>
            <a:prstGeom prst="rect">
              <a:avLst/>
            </a:prstGeom>
            <a:noFill/>
          </p:spPr>
          <p:txBody>
            <a:bodyPr wrap="square" rtlCol="0">
              <a:spAutoFit/>
            </a:bodyPr>
            <a:lstStyle/>
            <a:p>
              <a:r>
                <a:rPr lang="en-US" sz="1400" dirty="0" smtClean="0">
                  <a:solidFill>
                    <a:srgbClr val="00B0F0"/>
                  </a:solidFill>
                </a:rPr>
                <a:t>Candidate Refinement (Visual Screening)</a:t>
              </a:r>
            </a:p>
            <a:p>
              <a:r>
                <a:rPr lang="en-US" sz="1400" dirty="0"/>
                <a:t>s</a:t>
              </a:r>
              <a:r>
                <a:rPr lang="en-US" sz="1400" dirty="0" smtClean="0"/>
                <a:t>earch = any search field affected by a destructive preparer</a:t>
              </a:r>
            </a:p>
            <a:p>
              <a:pPr marL="0" lvl="1"/>
              <a:r>
                <a:rPr lang="en-US" sz="1400" dirty="0" smtClean="0"/>
                <a:t>found = corresponding entry of the Candidate</a:t>
              </a:r>
            </a:p>
            <a:p>
              <a:r>
                <a:rPr lang="en-US" sz="1400" dirty="0" smtClean="0"/>
                <a:t>run basic preparer over search and found</a:t>
              </a:r>
            </a:p>
            <a:p>
              <a:r>
                <a:rPr lang="en-US" sz="1400" dirty="0" smtClean="0"/>
                <a:t>delta = 0</a:t>
              </a:r>
            </a:p>
            <a:p>
              <a:r>
                <a:rPr lang="en-US" sz="1400" dirty="0" smtClean="0"/>
                <a:t>go through all words of search → word1</a:t>
              </a:r>
            </a:p>
            <a:p>
              <a:pPr marL="0" lvl="1" defTabSz="444500"/>
              <a:r>
                <a:rPr lang="en-US" sz="1400" dirty="0" smtClean="0"/>
                <a:t>	max = 0</a:t>
              </a:r>
            </a:p>
            <a:p>
              <a:pPr marL="0" lvl="1" defTabSz="444500"/>
              <a:r>
                <a:rPr lang="en-US" sz="1400" dirty="0" smtClean="0"/>
                <a:t>	go through all words of found </a:t>
              </a:r>
              <a:r>
                <a:rPr lang="en-US" sz="1400" dirty="0"/>
                <a:t>→</a:t>
              </a:r>
              <a:r>
                <a:rPr lang="en-US" sz="1400" dirty="0" smtClean="0"/>
                <a:t> word2</a:t>
              </a:r>
            </a:p>
            <a:p>
              <a:pPr marL="0" lvl="2" defTabSz="444500"/>
              <a:r>
                <a:rPr lang="en-US" sz="1400" dirty="0" smtClean="0"/>
                <a:t>		max = max(max, </a:t>
              </a:r>
              <a:r>
                <a:rPr lang="en-US" sz="1400" dirty="0" err="1" smtClean="0"/>
                <a:t>lrcpd</a:t>
              </a:r>
              <a:r>
                <a:rPr lang="en-US" sz="1400" dirty="0" smtClean="0"/>
                <a:t>(word1, word2))</a:t>
              </a:r>
            </a:p>
            <a:p>
              <a:pPr marL="0" lvl="2"/>
              <a:r>
                <a:rPr lang="en-US" sz="1400" dirty="0" smtClean="0"/>
                <a:t>	if max == 1 exit loop</a:t>
              </a:r>
            </a:p>
            <a:p>
              <a:pPr marL="0" lvl="2" defTabSz="444500"/>
              <a:r>
                <a:rPr lang="en-US" sz="1400" dirty="0" smtClean="0"/>
                <a:t>	delta += max</a:t>
              </a:r>
            </a:p>
            <a:p>
              <a:pPr marL="0" lvl="2"/>
              <a:r>
                <a:rPr lang="en-US" sz="1400" dirty="0" smtClean="0"/>
                <a:t>delta = delta/</a:t>
              </a:r>
              <a:r>
                <a:rPr lang="en-US" sz="1400" dirty="0" err="1" smtClean="0"/>
                <a:t>wordcount</a:t>
              </a:r>
              <a:r>
                <a:rPr lang="en-US" sz="1400" dirty="0" smtClean="0"/>
                <a:t>(search)</a:t>
              </a:r>
            </a:p>
            <a:p>
              <a:pPr marL="0" lvl="1"/>
              <a:r>
                <a:rPr lang="en-US" sz="1400" dirty="0" smtClean="0"/>
                <a:t>remove all blanks from search and found</a:t>
              </a:r>
            </a:p>
            <a:p>
              <a:pPr marL="0" lvl="1"/>
              <a:r>
                <a:rPr lang="en-US" sz="1400" dirty="0" smtClean="0"/>
                <a:t>return max(delta, </a:t>
              </a:r>
              <a:r>
                <a:rPr lang="en-US" sz="1400" dirty="0" err="1" smtClean="0"/>
                <a:t>lrcpd</a:t>
              </a:r>
              <a:r>
                <a:rPr lang="en-US" sz="1400" dirty="0" smtClean="0"/>
                <a:t>(search, found))</a:t>
              </a:r>
            </a:p>
          </p:txBody>
        </p:sp>
        <p:sp>
          <p:nvSpPr>
            <p:cNvPr id="5" name="Textfeld 4"/>
            <p:cNvSpPr txBox="1"/>
            <p:nvPr/>
          </p:nvSpPr>
          <p:spPr>
            <a:xfrm>
              <a:off x="7440251" y="4341263"/>
              <a:ext cx="4503633" cy="1169551"/>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smtClean="0"/>
                <a:t>Refinement ignores word-positioning, is commutative and returns a percentage → easy integration</a:t>
              </a:r>
            </a:p>
            <a:p>
              <a:pPr marL="216000" indent="-216000">
                <a:buClr>
                  <a:srgbClr val="00B0F0"/>
                </a:buClr>
                <a:buFont typeface="Wingdings" panose="05000000000000000000" pitchFamily="2" charset="2"/>
                <a:buChar char="§"/>
              </a:pPr>
              <a:r>
                <a:rPr lang="en-US" sz="1400" dirty="0" smtClean="0"/>
                <a:t>Refinement is integrated into the Identity by replacing the components of search types affected by destructive Preparer</a:t>
              </a:r>
              <a:endParaRPr lang="en-US" sz="1400" dirty="0"/>
            </a:p>
          </p:txBody>
        </p:sp>
      </p:grpSp>
    </p:spTree>
    <p:extLst>
      <p:ext uri="{BB962C8B-B14F-4D97-AF65-F5344CB8AC3E}">
        <p14:creationId xmlns:p14="http://schemas.microsoft.com/office/powerpoint/2010/main" val="1477663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87967"/>
            <a:ext cx="12192000" cy="482773"/>
          </a:xfrm>
        </p:spPr>
        <p:txBody>
          <a:bodyPr/>
          <a:lstStyle/>
          <a:p>
            <a:r>
              <a:rPr lang="en-US" dirty="0" smtClean="0"/>
              <a:t>3-Gram Search for “</a:t>
            </a:r>
            <a:r>
              <a:rPr lang="en-US" dirty="0" err="1" smtClean="0"/>
              <a:t>Blaupause</a:t>
            </a:r>
            <a:r>
              <a:rPr lang="en-US" dirty="0" smtClean="0"/>
              <a:t>” after LRCPD-Refinement</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17</a:t>
            </a:fld>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425264679"/>
              </p:ext>
            </p:extLst>
          </p:nvPr>
        </p:nvGraphicFramePr>
        <p:xfrm>
          <a:off x="180000" y="612000"/>
          <a:ext cx="6012000" cy="3810000"/>
        </p:xfrm>
        <a:graphic>
          <a:graphicData uri="http://schemas.openxmlformats.org/drawingml/2006/table">
            <a:tbl>
              <a:tblPr/>
              <a:tblGrid>
                <a:gridCol w="612000"/>
                <a:gridCol w="5400000"/>
              </a:tblGrid>
              <a:tr h="1905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0"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72000" marR="72000" marT="0"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72000" marR="72000" marT="0" marB="0" anchor="b">
                    <a:lnL>
                      <a:noFill/>
                    </a:lnL>
                    <a:lnR>
                      <a:noFill/>
                    </a:lnR>
                    <a:lnT>
                      <a:noFill/>
                    </a:lnT>
                    <a:lnB>
                      <a:noFill/>
                    </a:lnB>
                  </a:tcPr>
                </a:tc>
              </a:tr>
            </a:tbl>
          </a:graphicData>
        </a:graphic>
      </p:graphicFrame>
      <p:sp>
        <p:nvSpPr>
          <p:cNvPr id="4" name="Textfeld 3"/>
          <p:cNvSpPr txBox="1"/>
          <p:nvPr/>
        </p:nvSpPr>
        <p:spPr>
          <a:xfrm>
            <a:off x="6383707" y="612000"/>
            <a:ext cx="5648771" cy="2677656"/>
          </a:xfrm>
          <a:prstGeom prst="rect">
            <a:avLst/>
          </a:prstGeom>
          <a:noFill/>
        </p:spPr>
        <p:txBody>
          <a:bodyPr wrap="square" rtlCol="0">
            <a:spAutoFit/>
          </a:bodyPr>
          <a:lstStyle/>
          <a:p>
            <a:r>
              <a:rPr lang="en-US" sz="1400" dirty="0" smtClean="0">
                <a:solidFill>
                  <a:srgbClr val="00B0F0"/>
                </a:solidFill>
              </a:rPr>
              <a:t>Refinement</a:t>
            </a:r>
          </a:p>
          <a:p>
            <a:r>
              <a:rPr lang="en-US" sz="1400" dirty="0" smtClean="0"/>
              <a:t>and integration are subsequent processes following retrieval. They are optional. A second Threshold can be specified to filter candidates thereafter. Even the direction of the Refinement can be altered: </a:t>
            </a:r>
          </a:p>
          <a:p>
            <a:pPr marL="216000" lvl="1" indent="-216000">
              <a:buClr>
                <a:schemeClr val="accent1"/>
              </a:buClr>
              <a:buFont typeface="Wingdings" panose="05000000000000000000" pitchFamily="2" charset="2"/>
              <a:buChar char="§"/>
            </a:pPr>
            <a:r>
              <a:rPr lang="en-US" sz="1400" dirty="0" smtClean="0">
                <a:solidFill>
                  <a:srgbClr val="00B0F0"/>
                </a:solidFill>
              </a:rPr>
              <a:t>Compare </a:t>
            </a:r>
            <a:r>
              <a:rPr lang="en-US" sz="1400" dirty="0">
                <a:solidFill>
                  <a:srgbClr val="00B0F0"/>
                </a:solidFill>
              </a:rPr>
              <a:t>Searched with </a:t>
            </a:r>
            <a:r>
              <a:rPr lang="en-US" sz="1400" dirty="0" smtClean="0">
                <a:solidFill>
                  <a:srgbClr val="00B0F0"/>
                </a:solidFill>
              </a:rPr>
              <a:t>Found </a:t>
            </a:r>
            <a:r>
              <a:rPr lang="en-US" sz="1400" dirty="0">
                <a:solidFill>
                  <a:prstClr val="black"/>
                </a:solidFill>
              </a:rPr>
              <a:t>is the default direction and mimics the general </a:t>
            </a:r>
            <a:r>
              <a:rPr lang="en-US" sz="1400" dirty="0" err="1">
                <a:solidFill>
                  <a:prstClr val="black"/>
                </a:solidFill>
              </a:rPr>
              <a:t>SearchEngine</a:t>
            </a:r>
            <a:r>
              <a:rPr lang="en-US" sz="1400" dirty="0">
                <a:solidFill>
                  <a:prstClr val="black"/>
                </a:solidFill>
              </a:rPr>
              <a:t> </a:t>
            </a:r>
            <a:r>
              <a:rPr lang="en-US" sz="1400" dirty="0" smtClean="0">
                <a:solidFill>
                  <a:prstClr val="black"/>
                </a:solidFill>
              </a:rPr>
              <a:t>behavior</a:t>
            </a:r>
            <a:endParaRPr lang="en-US" sz="1400" dirty="0">
              <a:solidFill>
                <a:prstClr val="black"/>
              </a:solidFill>
            </a:endParaRPr>
          </a:p>
          <a:p>
            <a:pPr marL="216000" lvl="1" indent="-216000">
              <a:buClr>
                <a:schemeClr val="accent1"/>
              </a:buClr>
              <a:buFont typeface="Wingdings" panose="05000000000000000000" pitchFamily="2" charset="2"/>
              <a:buChar char="§"/>
            </a:pPr>
            <a:r>
              <a:rPr lang="en-US" sz="1400" dirty="0" smtClean="0">
                <a:solidFill>
                  <a:srgbClr val="00B0F0"/>
                </a:solidFill>
              </a:rPr>
              <a:t>Dynamic compare</a:t>
            </a:r>
            <a:r>
              <a:rPr lang="en-US" sz="1400" dirty="0" smtClean="0">
                <a:solidFill>
                  <a:prstClr val="black"/>
                </a:solidFill>
              </a:rPr>
              <a:t> </a:t>
            </a:r>
            <a:r>
              <a:rPr lang="en-US" sz="1400" dirty="0">
                <a:solidFill>
                  <a:prstClr val="black"/>
                </a:solidFill>
              </a:rPr>
              <a:t>compares in both directions and uses the lowest result → suitable for person </a:t>
            </a:r>
            <a:r>
              <a:rPr lang="en-US" sz="1400" dirty="0" smtClean="0">
                <a:solidFill>
                  <a:prstClr val="black"/>
                </a:solidFill>
              </a:rPr>
              <a:t>names</a:t>
            </a:r>
            <a:endParaRPr lang="en-US" sz="1400" dirty="0">
              <a:solidFill>
                <a:prstClr val="black"/>
              </a:solidFill>
            </a:endParaRPr>
          </a:p>
          <a:p>
            <a:pPr marL="216000" lvl="1" indent="-216000">
              <a:buClr>
                <a:schemeClr val="accent1"/>
              </a:buClr>
              <a:buFont typeface="Wingdings" panose="05000000000000000000" pitchFamily="2" charset="2"/>
              <a:buChar char="§"/>
            </a:pPr>
            <a:r>
              <a:rPr lang="en-US" sz="1400" dirty="0" smtClean="0">
                <a:solidFill>
                  <a:srgbClr val="00B0F0"/>
                </a:solidFill>
              </a:rPr>
              <a:t>Compare </a:t>
            </a:r>
            <a:r>
              <a:rPr lang="en-US" sz="1400" dirty="0">
                <a:solidFill>
                  <a:srgbClr val="00B0F0"/>
                </a:solidFill>
              </a:rPr>
              <a:t>Found with </a:t>
            </a:r>
            <a:r>
              <a:rPr lang="en-US" sz="1400" dirty="0" smtClean="0">
                <a:solidFill>
                  <a:srgbClr val="00B0F0"/>
                </a:solidFill>
              </a:rPr>
              <a:t>Searched</a:t>
            </a:r>
            <a:r>
              <a:rPr lang="en-US" sz="1400" dirty="0" smtClean="0">
                <a:solidFill>
                  <a:prstClr val="black"/>
                </a:solidFill>
              </a:rPr>
              <a:t> </a:t>
            </a:r>
            <a:r>
              <a:rPr lang="en-US" sz="1400" dirty="0">
                <a:solidFill>
                  <a:prstClr val="black"/>
                </a:solidFill>
              </a:rPr>
              <a:t>reverses the default direction → more noise in the base </a:t>
            </a:r>
            <a:r>
              <a:rPr lang="en-US" sz="1400" dirty="0" smtClean="0">
                <a:solidFill>
                  <a:prstClr val="black"/>
                </a:solidFill>
              </a:rPr>
              <a:t>table (rarely used)</a:t>
            </a:r>
          </a:p>
          <a:p>
            <a:pPr marL="216000" lvl="1" indent="-216000">
              <a:buClr>
                <a:schemeClr val="accent1"/>
              </a:buClr>
              <a:buFont typeface="Wingdings" panose="05000000000000000000" pitchFamily="2" charset="2"/>
              <a:buChar char="§"/>
            </a:pPr>
            <a:r>
              <a:rPr lang="en-US" sz="1400" dirty="0">
                <a:solidFill>
                  <a:srgbClr val="00B0F0"/>
                </a:solidFill>
              </a:rPr>
              <a:t>No automatic refine/research on destructive </a:t>
            </a:r>
            <a:r>
              <a:rPr lang="en-US" sz="1400" dirty="0" smtClean="0">
                <a:solidFill>
                  <a:srgbClr val="00B0F0"/>
                </a:solidFill>
              </a:rPr>
              <a:t>preparer </a:t>
            </a:r>
            <a:r>
              <a:rPr lang="en-US" sz="1400" dirty="0" smtClean="0"/>
              <a:t>skips the whole Refinement part (not advised but required for educational purposes)</a:t>
            </a:r>
            <a:endParaRPr lang="en-US" sz="1400" dirty="0">
              <a:solidFill>
                <a:srgbClr val="00B0F0"/>
              </a:solidFill>
            </a:endParaRPr>
          </a:p>
        </p:txBody>
      </p:sp>
      <p:sp>
        <p:nvSpPr>
          <p:cNvPr id="6" name="Rechteck 5"/>
          <p:cNvSpPr/>
          <p:nvPr/>
        </p:nvSpPr>
        <p:spPr>
          <a:xfrm>
            <a:off x="6383706" y="3363386"/>
            <a:ext cx="5671273" cy="2108269"/>
          </a:xfrm>
          <a:prstGeom prst="rect">
            <a:avLst/>
          </a:prstGeom>
        </p:spPr>
        <p:txBody>
          <a:bodyPr wrap="square">
            <a:spAutoFit/>
          </a:bodyPr>
          <a:lstStyle/>
          <a:p>
            <a:pPr>
              <a:spcBef>
                <a:spcPts val="600"/>
              </a:spcBef>
            </a:pPr>
            <a:r>
              <a:rPr lang="en-US" sz="1400" dirty="0">
                <a:solidFill>
                  <a:srgbClr val="00B0F0"/>
                </a:solidFill>
              </a:rPr>
              <a:t>Advice</a:t>
            </a:r>
          </a:p>
          <a:p>
            <a:r>
              <a:rPr lang="en-US" sz="1400" dirty="0"/>
              <a:t>Refined components of the Identity lack the intrinsic frequency based heuristic. Every word has the same “Identification Potential”. This can be considered a tacit loss in information conveyed by the Identity</a:t>
            </a:r>
            <a:r>
              <a:rPr lang="en-US" sz="1400" dirty="0" smtClean="0"/>
              <a:t>. </a:t>
            </a:r>
            <a:r>
              <a:rPr lang="en-US" sz="1400" dirty="0"/>
              <a:t>Plus, retrieval using destructive Preparer and the consecutive Refinement are slow</a:t>
            </a:r>
            <a:r>
              <a:rPr lang="en-US" sz="1400" dirty="0" smtClean="0"/>
              <a:t>.</a:t>
            </a:r>
            <a:endParaRPr lang="en-US" sz="1400" dirty="0"/>
          </a:p>
          <a:p>
            <a:pPr>
              <a:spcBef>
                <a:spcPts val="600"/>
              </a:spcBef>
            </a:pPr>
            <a:r>
              <a:rPr lang="en-US" sz="1400" dirty="0" smtClean="0"/>
              <a:t>Therefore search types </a:t>
            </a:r>
            <a:r>
              <a:rPr lang="en-US" sz="1400" dirty="0"/>
              <a:t>using destructive </a:t>
            </a:r>
            <a:r>
              <a:rPr lang="en-US" sz="1400" dirty="0" smtClean="0"/>
              <a:t>preparers </a:t>
            </a:r>
            <a:r>
              <a:rPr lang="en-US" sz="1400" dirty="0"/>
              <a:t>should be used sensibly and only after search steps based on conventional </a:t>
            </a:r>
            <a:r>
              <a:rPr lang="en-US" sz="1400" dirty="0" smtClean="0"/>
              <a:t>preparers </a:t>
            </a:r>
            <a:r>
              <a:rPr lang="en-US" sz="1400" dirty="0"/>
              <a:t>to fill the gaps caused by misspellings</a:t>
            </a:r>
            <a:r>
              <a:rPr lang="en-US" sz="1400" dirty="0" smtClean="0"/>
              <a:t>. </a:t>
            </a:r>
            <a:endParaRPr lang="en-US" sz="1400" dirty="0"/>
          </a:p>
        </p:txBody>
      </p:sp>
    </p:spTree>
    <p:extLst>
      <p:ext uri="{BB962C8B-B14F-4D97-AF65-F5344CB8AC3E}">
        <p14:creationId xmlns:p14="http://schemas.microsoft.com/office/powerpoint/2010/main" val="423771705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Smoothing &amp; Accentuating of the </a:t>
            </a:r>
            <a:r>
              <a:rPr lang="en-US" dirty="0" err="1" smtClean="0"/>
              <a:t>rIP</a:t>
            </a:r>
            <a:endParaRPr lang="en-US" dirty="0"/>
          </a:p>
        </p:txBody>
      </p:sp>
      <p:grpSp>
        <p:nvGrpSpPr>
          <p:cNvPr id="5" name="log1"/>
          <p:cNvGrpSpPr/>
          <p:nvPr/>
        </p:nvGrpSpPr>
        <p:grpSpPr>
          <a:xfrm>
            <a:off x="1022811" y="2916000"/>
            <a:ext cx="5410072" cy="1800000"/>
            <a:chOff x="1871900" y="3621600"/>
            <a:chExt cx="5410072" cy="1800000"/>
          </a:xfrm>
        </p:grpSpPr>
        <p:cxnSp>
          <p:nvCxnSpPr>
            <p:cNvPr id="6" name="Gerader Verbinder 5"/>
            <p:cNvCxnSpPr/>
            <p:nvPr/>
          </p:nvCxnSpPr>
          <p:spPr>
            <a:xfrm>
              <a:off x="1871900" y="5421600"/>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 name="Gerader Verbinder 6"/>
            <p:cNvCxnSpPr/>
            <p:nvPr/>
          </p:nvCxnSpPr>
          <p:spPr>
            <a:xfrm flipH="1">
              <a:off x="3672100" y="3924000"/>
              <a:ext cx="1800000" cy="14976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flipH="1">
              <a:off x="5470525" y="3621600"/>
              <a:ext cx="1811447" cy="3034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9" name="softmax1"/>
          <p:cNvGrpSpPr/>
          <p:nvPr/>
        </p:nvGrpSpPr>
        <p:grpSpPr>
          <a:xfrm>
            <a:off x="1022811" y="1473200"/>
            <a:ext cx="5402025" cy="3401200"/>
            <a:chOff x="1871900" y="2178800"/>
            <a:chExt cx="5402025" cy="3401200"/>
          </a:xfrm>
        </p:grpSpPr>
        <p:cxnSp>
          <p:nvCxnSpPr>
            <p:cNvPr id="10" name="Gerader Verbinder 9"/>
            <p:cNvCxnSpPr/>
            <p:nvPr/>
          </p:nvCxnSpPr>
          <p:spPr>
            <a:xfrm flipH="1">
              <a:off x="1871900" y="5580000"/>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1" name="Gerader Verbinder 10"/>
            <p:cNvCxnSpPr/>
            <p:nvPr/>
          </p:nvCxnSpPr>
          <p:spPr>
            <a:xfrm flipV="1">
              <a:off x="3672100" y="5436000"/>
              <a:ext cx="1800000" cy="144000"/>
            </a:xfrm>
            <a:prstGeom prst="line">
              <a:avLst/>
            </a:prstGeom>
            <a:ln w="63500" cap="flat">
              <a:solidFill>
                <a:srgbClr val="00B0F0"/>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flipH="1">
              <a:off x="5472100" y="2178800"/>
              <a:ext cx="1801825" cy="3257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13" name="Textfeld 12"/>
          <p:cNvSpPr txBox="1"/>
          <p:nvPr/>
        </p:nvSpPr>
        <p:spPr>
          <a:xfrm>
            <a:off x="5811143" y="4019544"/>
            <a:ext cx="777777" cy="276999"/>
          </a:xfrm>
          <a:prstGeom prst="rect">
            <a:avLst/>
          </a:prstGeom>
          <a:noFill/>
          <a:ln w="12700">
            <a:noFill/>
          </a:ln>
        </p:spPr>
        <p:txBody>
          <a:bodyPr wrap="none" rtlCol="0">
            <a:spAutoFit/>
          </a:bodyPr>
          <a:lstStyle/>
          <a:p>
            <a:r>
              <a:rPr lang="en-US" sz="12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76.863%</a:t>
            </a:r>
            <a:endParaRPr lang="en-US" sz="1200" dirty="0" smtClean="0">
              <a:solidFill>
                <a:schemeClr val="bg1"/>
              </a:solidFill>
              <a:latin typeface="Calibri" panose="020F0502020204030204" pitchFamily="34" charset="0"/>
            </a:endParaRPr>
          </a:p>
        </p:txBody>
      </p:sp>
      <p:grpSp>
        <p:nvGrpSpPr>
          <p:cNvPr id="14" name="base6"/>
          <p:cNvGrpSpPr/>
          <p:nvPr/>
        </p:nvGrpSpPr>
        <p:grpSpPr>
          <a:xfrm>
            <a:off x="1024955" y="2793206"/>
            <a:ext cx="5398294" cy="1978819"/>
            <a:chOff x="1874044" y="2793206"/>
            <a:chExt cx="5398294" cy="1978819"/>
          </a:xfrm>
        </p:grpSpPr>
        <p:cxnSp>
          <p:nvCxnSpPr>
            <p:cNvPr id="15" name="Gerader Verbinder 14"/>
            <p:cNvCxnSpPr/>
            <p:nvPr/>
          </p:nvCxnSpPr>
          <p:spPr>
            <a:xfrm flipV="1">
              <a:off x="1874044" y="4762500"/>
              <a:ext cx="1797844"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6" name="Gerader Verbinder 15"/>
            <p:cNvCxnSpPr/>
            <p:nvPr/>
          </p:nvCxnSpPr>
          <p:spPr>
            <a:xfrm flipV="1">
              <a:off x="3674269" y="3390900"/>
              <a:ext cx="1802606" cy="137398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7" name="Gerader Verbinder 16"/>
            <p:cNvCxnSpPr/>
            <p:nvPr/>
          </p:nvCxnSpPr>
          <p:spPr>
            <a:xfrm flipV="1">
              <a:off x="5476875" y="2793206"/>
              <a:ext cx="1795463" cy="59531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18" name="base5"/>
          <p:cNvGrpSpPr/>
          <p:nvPr/>
        </p:nvGrpSpPr>
        <p:grpSpPr>
          <a:xfrm>
            <a:off x="1022811" y="2662238"/>
            <a:ext cx="5405200" cy="2125199"/>
            <a:chOff x="1871900" y="2662238"/>
            <a:chExt cx="5405200" cy="2125199"/>
          </a:xfrm>
        </p:grpSpPr>
        <p:cxnSp>
          <p:nvCxnSpPr>
            <p:cNvPr id="19" name="Gerader Verbinder 18"/>
            <p:cNvCxnSpPr/>
            <p:nvPr/>
          </p:nvCxnSpPr>
          <p:spPr>
            <a:xfrm>
              <a:off x="1871900" y="4787437"/>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flipV="1">
              <a:off x="3672100" y="3573016"/>
              <a:ext cx="1800000" cy="121442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1" name="Gerader Verbinder 20"/>
            <p:cNvCxnSpPr/>
            <p:nvPr/>
          </p:nvCxnSpPr>
          <p:spPr>
            <a:xfrm flipV="1">
              <a:off x="5481972" y="2662238"/>
              <a:ext cx="1795128" cy="91077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22" name="base4"/>
          <p:cNvGrpSpPr/>
          <p:nvPr/>
        </p:nvGrpSpPr>
        <p:grpSpPr>
          <a:xfrm>
            <a:off x="1022811" y="2538414"/>
            <a:ext cx="5405200" cy="2287318"/>
            <a:chOff x="1871900" y="2538414"/>
            <a:chExt cx="5405200" cy="2287318"/>
          </a:xfrm>
        </p:grpSpPr>
        <p:cxnSp>
          <p:nvCxnSpPr>
            <p:cNvPr id="23" name="Gerader Verbinder 22"/>
            <p:cNvCxnSpPr/>
            <p:nvPr/>
          </p:nvCxnSpPr>
          <p:spPr>
            <a:xfrm>
              <a:off x="1871900" y="4820967"/>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4" name="Gerader Verbinder 23"/>
            <p:cNvCxnSpPr/>
            <p:nvPr/>
          </p:nvCxnSpPr>
          <p:spPr>
            <a:xfrm flipV="1">
              <a:off x="3662575" y="3729038"/>
              <a:ext cx="1816681" cy="109669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5" name="Gerader Verbinder 24"/>
            <p:cNvCxnSpPr/>
            <p:nvPr/>
          </p:nvCxnSpPr>
          <p:spPr>
            <a:xfrm flipV="1">
              <a:off x="5484019" y="2538414"/>
              <a:ext cx="1793081" cy="118824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26" name="base3"/>
          <p:cNvGrpSpPr/>
          <p:nvPr/>
        </p:nvGrpSpPr>
        <p:grpSpPr>
          <a:xfrm>
            <a:off x="1022811" y="2420888"/>
            <a:ext cx="5400200" cy="2453512"/>
            <a:chOff x="1871900" y="2420888"/>
            <a:chExt cx="5400200" cy="2453512"/>
          </a:xfrm>
        </p:grpSpPr>
        <p:cxnSp>
          <p:nvCxnSpPr>
            <p:cNvPr id="27" name="Gerader Verbinder 26"/>
            <p:cNvCxnSpPr/>
            <p:nvPr/>
          </p:nvCxnSpPr>
          <p:spPr>
            <a:xfrm>
              <a:off x="1871900" y="4869160"/>
              <a:ext cx="1800200" cy="524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8" name="Gerader Verbinder 27"/>
            <p:cNvCxnSpPr/>
            <p:nvPr/>
          </p:nvCxnSpPr>
          <p:spPr>
            <a:xfrm flipV="1">
              <a:off x="3672100" y="3888581"/>
              <a:ext cx="1802394" cy="980579"/>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9" name="Gerader Verbinder 28"/>
            <p:cNvCxnSpPr/>
            <p:nvPr/>
          </p:nvCxnSpPr>
          <p:spPr>
            <a:xfrm flipV="1">
              <a:off x="5472113" y="2420888"/>
              <a:ext cx="1799987" cy="146769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30" name="base2"/>
          <p:cNvGrpSpPr/>
          <p:nvPr/>
        </p:nvGrpSpPr>
        <p:grpSpPr>
          <a:xfrm>
            <a:off x="1022811" y="2300289"/>
            <a:ext cx="5405200" cy="2588591"/>
            <a:chOff x="1871900" y="2300289"/>
            <a:chExt cx="5405200" cy="2588591"/>
          </a:xfrm>
        </p:grpSpPr>
        <p:cxnSp>
          <p:nvCxnSpPr>
            <p:cNvPr id="31" name="Gerader Verbinder 30"/>
            <p:cNvCxnSpPr/>
            <p:nvPr/>
          </p:nvCxnSpPr>
          <p:spPr>
            <a:xfrm flipV="1">
              <a:off x="1871900" y="4869160"/>
              <a:ext cx="1800200" cy="1972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2" name="Gerader Verbinder 31"/>
            <p:cNvCxnSpPr/>
            <p:nvPr/>
          </p:nvCxnSpPr>
          <p:spPr>
            <a:xfrm flipV="1">
              <a:off x="3672100" y="4036219"/>
              <a:ext cx="1802394" cy="84178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3" name="Gerader Verbinder 32"/>
            <p:cNvCxnSpPr/>
            <p:nvPr/>
          </p:nvCxnSpPr>
          <p:spPr>
            <a:xfrm flipV="1">
              <a:off x="5472113" y="2300289"/>
              <a:ext cx="1804987" cy="1733549"/>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34" name="base1"/>
          <p:cNvGrpSpPr/>
          <p:nvPr/>
        </p:nvGrpSpPr>
        <p:grpSpPr>
          <a:xfrm>
            <a:off x="1022811" y="2174400"/>
            <a:ext cx="5400200" cy="2775680"/>
            <a:chOff x="1871900" y="2174400"/>
            <a:chExt cx="5400200" cy="2775680"/>
          </a:xfrm>
        </p:grpSpPr>
        <p:cxnSp>
          <p:nvCxnSpPr>
            <p:cNvPr id="35" name="Gerader Verbinder 34"/>
            <p:cNvCxnSpPr/>
            <p:nvPr/>
          </p:nvCxnSpPr>
          <p:spPr>
            <a:xfrm flipV="1">
              <a:off x="5472100" y="2174400"/>
              <a:ext cx="1800000" cy="19944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cxnSp>
          <p:nvCxnSpPr>
            <p:cNvPr id="36" name="Gerader Verbinder 35"/>
            <p:cNvCxnSpPr/>
            <p:nvPr/>
          </p:nvCxnSpPr>
          <p:spPr>
            <a:xfrm flipV="1">
              <a:off x="3672100" y="4168800"/>
              <a:ext cx="1800000" cy="709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7" name="Gerader Verbinder 36"/>
            <p:cNvCxnSpPr/>
            <p:nvPr/>
          </p:nvCxnSpPr>
          <p:spPr>
            <a:xfrm flipH="1">
              <a:off x="1871900" y="4888880"/>
              <a:ext cx="1800200" cy="612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grpSp>
      <p:grpSp>
        <p:nvGrpSpPr>
          <p:cNvPr id="38" name="log2"/>
          <p:cNvGrpSpPr/>
          <p:nvPr/>
        </p:nvGrpSpPr>
        <p:grpSpPr>
          <a:xfrm>
            <a:off x="1024955" y="2714625"/>
            <a:ext cx="5403056" cy="2057401"/>
            <a:chOff x="1874044" y="2714625"/>
            <a:chExt cx="5403056" cy="2057401"/>
          </a:xfrm>
        </p:grpSpPr>
        <p:cxnSp>
          <p:nvCxnSpPr>
            <p:cNvPr id="39" name="Gerader Verbinder 38"/>
            <p:cNvCxnSpPr/>
            <p:nvPr/>
          </p:nvCxnSpPr>
          <p:spPr>
            <a:xfrm>
              <a:off x="1874044" y="4762500"/>
              <a:ext cx="1797844"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0" name="Gerader Verbinder 39"/>
            <p:cNvCxnSpPr/>
            <p:nvPr/>
          </p:nvCxnSpPr>
          <p:spPr>
            <a:xfrm flipV="1">
              <a:off x="3662575" y="3435350"/>
              <a:ext cx="1804775" cy="1336676"/>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1" name="Gerader Verbinder 40"/>
            <p:cNvCxnSpPr/>
            <p:nvPr/>
          </p:nvCxnSpPr>
          <p:spPr>
            <a:xfrm flipV="1">
              <a:off x="5467350" y="2714625"/>
              <a:ext cx="1809750" cy="71755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2" name="log3"/>
          <p:cNvGrpSpPr/>
          <p:nvPr/>
        </p:nvGrpSpPr>
        <p:grpSpPr>
          <a:xfrm>
            <a:off x="1022811" y="2517775"/>
            <a:ext cx="5402025" cy="2269663"/>
            <a:chOff x="1871900" y="2517775"/>
            <a:chExt cx="5402025" cy="2269663"/>
          </a:xfrm>
        </p:grpSpPr>
        <p:cxnSp>
          <p:nvCxnSpPr>
            <p:cNvPr id="43" name="Gerader Verbinder 42"/>
            <p:cNvCxnSpPr/>
            <p:nvPr/>
          </p:nvCxnSpPr>
          <p:spPr>
            <a:xfrm>
              <a:off x="1871900" y="4787437"/>
              <a:ext cx="1790675"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4" name="Gerader Verbinder 43"/>
            <p:cNvCxnSpPr/>
            <p:nvPr/>
          </p:nvCxnSpPr>
          <p:spPr>
            <a:xfrm flipV="1">
              <a:off x="3674269" y="3657600"/>
              <a:ext cx="1796256" cy="112983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5" name="Gerader Verbinder 44"/>
            <p:cNvCxnSpPr/>
            <p:nvPr/>
          </p:nvCxnSpPr>
          <p:spPr>
            <a:xfrm flipV="1">
              <a:off x="5473700" y="2517775"/>
              <a:ext cx="1800225" cy="113665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6" name="log4"/>
          <p:cNvGrpSpPr/>
          <p:nvPr/>
        </p:nvGrpSpPr>
        <p:grpSpPr>
          <a:xfrm>
            <a:off x="1020986" y="2314575"/>
            <a:ext cx="5410200" cy="2498725"/>
            <a:chOff x="1870075" y="2314575"/>
            <a:chExt cx="5410200" cy="2498725"/>
          </a:xfrm>
        </p:grpSpPr>
        <p:cxnSp>
          <p:nvCxnSpPr>
            <p:cNvPr id="47" name="Gerader Verbinder 46"/>
            <p:cNvCxnSpPr/>
            <p:nvPr/>
          </p:nvCxnSpPr>
          <p:spPr>
            <a:xfrm>
              <a:off x="1870075" y="4810125"/>
              <a:ext cx="18034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8" name="Gerader Verbinder 47"/>
            <p:cNvCxnSpPr/>
            <p:nvPr/>
          </p:nvCxnSpPr>
          <p:spPr>
            <a:xfrm flipV="1">
              <a:off x="3673475" y="3889375"/>
              <a:ext cx="1793875" cy="9239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flipV="1">
              <a:off x="5464175" y="2314575"/>
              <a:ext cx="1816100" cy="157162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0" name="log5"/>
          <p:cNvGrpSpPr/>
          <p:nvPr/>
        </p:nvGrpSpPr>
        <p:grpSpPr>
          <a:xfrm>
            <a:off x="1030383" y="2108200"/>
            <a:ext cx="5407153" cy="2736850"/>
            <a:chOff x="1870075" y="2108200"/>
            <a:chExt cx="5407153" cy="2736850"/>
          </a:xfrm>
        </p:grpSpPr>
        <p:cxnSp>
          <p:nvCxnSpPr>
            <p:cNvPr id="51" name="Gerader Verbinder 50"/>
            <p:cNvCxnSpPr/>
            <p:nvPr/>
          </p:nvCxnSpPr>
          <p:spPr>
            <a:xfrm flipV="1">
              <a:off x="1870075" y="4838700"/>
              <a:ext cx="18034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2" name="Gerader Verbinder 51"/>
            <p:cNvCxnSpPr/>
            <p:nvPr/>
          </p:nvCxnSpPr>
          <p:spPr>
            <a:xfrm flipV="1">
              <a:off x="3676650" y="4111625"/>
              <a:ext cx="1793875" cy="72390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3" name="Gerader Verbinder 52"/>
            <p:cNvCxnSpPr/>
            <p:nvPr/>
          </p:nvCxnSpPr>
          <p:spPr>
            <a:xfrm flipV="1">
              <a:off x="5473700" y="2108200"/>
              <a:ext cx="1803528" cy="200660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4" name="log6"/>
          <p:cNvGrpSpPr/>
          <p:nvPr/>
        </p:nvGrpSpPr>
        <p:grpSpPr>
          <a:xfrm>
            <a:off x="1024161" y="1905000"/>
            <a:ext cx="5407025" cy="2962276"/>
            <a:chOff x="1873250" y="1905000"/>
            <a:chExt cx="5407025" cy="2962276"/>
          </a:xfrm>
        </p:grpSpPr>
        <p:cxnSp>
          <p:nvCxnSpPr>
            <p:cNvPr id="55" name="Gerader Verbinder 54"/>
            <p:cNvCxnSpPr/>
            <p:nvPr/>
          </p:nvCxnSpPr>
          <p:spPr>
            <a:xfrm>
              <a:off x="1873250" y="4854575"/>
              <a:ext cx="18034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6" name="Gerader Verbinder 55"/>
            <p:cNvCxnSpPr/>
            <p:nvPr/>
          </p:nvCxnSpPr>
          <p:spPr>
            <a:xfrm flipV="1">
              <a:off x="3679825" y="4327525"/>
              <a:ext cx="1793875" cy="53975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7" name="Gerader Verbinder 56"/>
            <p:cNvCxnSpPr/>
            <p:nvPr/>
          </p:nvCxnSpPr>
          <p:spPr>
            <a:xfrm flipV="1">
              <a:off x="5470525" y="1905000"/>
              <a:ext cx="1809750" cy="241617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8" name="log7"/>
          <p:cNvGrpSpPr/>
          <p:nvPr/>
        </p:nvGrpSpPr>
        <p:grpSpPr>
          <a:xfrm>
            <a:off x="1024161" y="1689100"/>
            <a:ext cx="5403850" cy="3178175"/>
            <a:chOff x="1873250" y="1689100"/>
            <a:chExt cx="5403850" cy="3178175"/>
          </a:xfrm>
        </p:grpSpPr>
        <p:cxnSp>
          <p:nvCxnSpPr>
            <p:cNvPr id="59" name="Gerader Verbinder 58"/>
            <p:cNvCxnSpPr/>
            <p:nvPr/>
          </p:nvCxnSpPr>
          <p:spPr>
            <a:xfrm>
              <a:off x="1873250" y="4860925"/>
              <a:ext cx="18034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0" name="Gerader Verbinder 59"/>
            <p:cNvCxnSpPr/>
            <p:nvPr/>
          </p:nvCxnSpPr>
          <p:spPr>
            <a:xfrm flipV="1">
              <a:off x="3683000" y="4533900"/>
              <a:ext cx="1790700" cy="3333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1" name="Gerader Verbinder 60"/>
            <p:cNvCxnSpPr/>
            <p:nvPr/>
          </p:nvCxnSpPr>
          <p:spPr>
            <a:xfrm flipV="1">
              <a:off x="5476875" y="1689100"/>
              <a:ext cx="1800225" cy="284162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62" name="offset1"/>
          <p:cNvGrpSpPr/>
          <p:nvPr/>
        </p:nvGrpSpPr>
        <p:grpSpPr>
          <a:xfrm>
            <a:off x="1022811" y="4064769"/>
            <a:ext cx="5395450" cy="0"/>
            <a:chOff x="1871900" y="4064769"/>
            <a:chExt cx="5395450" cy="0"/>
          </a:xfrm>
        </p:grpSpPr>
        <p:cxnSp>
          <p:nvCxnSpPr>
            <p:cNvPr id="63" name="Gerader Verbinder 62"/>
            <p:cNvCxnSpPr/>
            <p:nvPr/>
          </p:nvCxnSpPr>
          <p:spPr>
            <a:xfrm flipH="1">
              <a:off x="1871900"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4" name="Gerader Verbinder 63"/>
            <p:cNvCxnSpPr/>
            <p:nvPr/>
          </p:nvCxnSpPr>
          <p:spPr>
            <a:xfrm flipH="1">
              <a:off x="3670525"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5" name="Gerader Verbinder 64"/>
            <p:cNvCxnSpPr/>
            <p:nvPr/>
          </p:nvCxnSpPr>
          <p:spPr>
            <a:xfrm flipH="1">
              <a:off x="5467350"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66" name="softmax2"/>
          <p:cNvGrpSpPr/>
          <p:nvPr/>
        </p:nvGrpSpPr>
        <p:grpSpPr>
          <a:xfrm>
            <a:off x="1020986" y="1873250"/>
            <a:ext cx="5397500" cy="2857150"/>
            <a:chOff x="1870075" y="1873250"/>
            <a:chExt cx="5397500" cy="2857150"/>
          </a:xfrm>
        </p:grpSpPr>
        <p:cxnSp>
          <p:nvCxnSpPr>
            <p:cNvPr id="67" name="Gerader Verbinder 66"/>
            <p:cNvCxnSpPr/>
            <p:nvPr/>
          </p:nvCxnSpPr>
          <p:spPr>
            <a:xfrm>
              <a:off x="1870075" y="4730400"/>
              <a:ext cx="1806575"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8" name="Gerader Verbinder 67"/>
            <p:cNvCxnSpPr/>
            <p:nvPr/>
          </p:nvCxnSpPr>
          <p:spPr>
            <a:xfrm flipV="1">
              <a:off x="3683000" y="4653136"/>
              <a:ext cx="1781175" cy="7726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9" name="Gerader Verbinder 68"/>
            <p:cNvCxnSpPr/>
            <p:nvPr/>
          </p:nvCxnSpPr>
          <p:spPr>
            <a:xfrm flipV="1">
              <a:off x="5479922" y="1873250"/>
              <a:ext cx="1787653" cy="277988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0" name="softmax3"/>
          <p:cNvGrpSpPr/>
          <p:nvPr/>
        </p:nvGrpSpPr>
        <p:grpSpPr>
          <a:xfrm>
            <a:off x="1020986" y="2273300"/>
            <a:ext cx="5387975" cy="2311005"/>
            <a:chOff x="1870075" y="2273300"/>
            <a:chExt cx="5387975" cy="2311005"/>
          </a:xfrm>
        </p:grpSpPr>
        <p:cxnSp>
          <p:nvCxnSpPr>
            <p:cNvPr id="71" name="Gerader Verbinder 70"/>
            <p:cNvCxnSpPr/>
            <p:nvPr/>
          </p:nvCxnSpPr>
          <p:spPr>
            <a:xfrm>
              <a:off x="1870075" y="4581128"/>
              <a:ext cx="180045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2" name="Gerader Verbinder 71"/>
            <p:cNvCxnSpPr/>
            <p:nvPr/>
          </p:nvCxnSpPr>
          <p:spPr>
            <a:xfrm flipV="1">
              <a:off x="3670292" y="4546600"/>
              <a:ext cx="1787533" cy="3770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3" name="Gerader Verbinder 72"/>
            <p:cNvCxnSpPr/>
            <p:nvPr/>
          </p:nvCxnSpPr>
          <p:spPr>
            <a:xfrm flipV="1">
              <a:off x="5457825" y="2273300"/>
              <a:ext cx="1800225" cy="2282826"/>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4" name="softmax4"/>
          <p:cNvGrpSpPr/>
          <p:nvPr/>
        </p:nvGrpSpPr>
        <p:grpSpPr>
          <a:xfrm>
            <a:off x="1020986" y="2647950"/>
            <a:ext cx="5394325" cy="1800225"/>
            <a:chOff x="1870075" y="2647950"/>
            <a:chExt cx="5394325" cy="1800225"/>
          </a:xfrm>
        </p:grpSpPr>
        <p:cxnSp>
          <p:nvCxnSpPr>
            <p:cNvPr id="75" name="Gerader Verbinder 74"/>
            <p:cNvCxnSpPr/>
            <p:nvPr/>
          </p:nvCxnSpPr>
          <p:spPr>
            <a:xfrm flipV="1">
              <a:off x="1870075" y="4438650"/>
              <a:ext cx="1803400"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6" name="Gerader Verbinder 75"/>
            <p:cNvCxnSpPr/>
            <p:nvPr/>
          </p:nvCxnSpPr>
          <p:spPr>
            <a:xfrm flipV="1">
              <a:off x="3673475" y="4425950"/>
              <a:ext cx="1784350" cy="158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7" name="Gerader Verbinder 76"/>
            <p:cNvCxnSpPr/>
            <p:nvPr/>
          </p:nvCxnSpPr>
          <p:spPr>
            <a:xfrm flipV="1">
              <a:off x="5457825" y="2647950"/>
              <a:ext cx="1806575" cy="17811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8" name="softmax5"/>
          <p:cNvGrpSpPr/>
          <p:nvPr/>
        </p:nvGrpSpPr>
        <p:grpSpPr>
          <a:xfrm>
            <a:off x="1020986" y="3000375"/>
            <a:ext cx="5399881" cy="1327150"/>
            <a:chOff x="1870075" y="3000375"/>
            <a:chExt cx="5399881" cy="1327150"/>
          </a:xfrm>
        </p:grpSpPr>
        <p:cxnSp>
          <p:nvCxnSpPr>
            <p:cNvPr id="79" name="Gerader Verbinder 78"/>
            <p:cNvCxnSpPr/>
            <p:nvPr/>
          </p:nvCxnSpPr>
          <p:spPr>
            <a:xfrm flipV="1">
              <a:off x="1870075" y="4318000"/>
              <a:ext cx="1806575"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0" name="Gerader Verbinder 79"/>
            <p:cNvCxnSpPr/>
            <p:nvPr/>
          </p:nvCxnSpPr>
          <p:spPr>
            <a:xfrm flipV="1">
              <a:off x="3683000" y="4305300"/>
              <a:ext cx="1781175" cy="158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1" name="Gerader Verbinder 80"/>
            <p:cNvCxnSpPr/>
            <p:nvPr/>
          </p:nvCxnSpPr>
          <p:spPr>
            <a:xfrm flipV="1">
              <a:off x="5467350" y="3000375"/>
              <a:ext cx="1802606" cy="130175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82" name="softmax6"/>
          <p:cNvGrpSpPr/>
          <p:nvPr/>
        </p:nvGrpSpPr>
        <p:grpSpPr>
          <a:xfrm>
            <a:off x="1024161" y="3369469"/>
            <a:ext cx="5399088" cy="853281"/>
            <a:chOff x="1873250" y="3369469"/>
            <a:chExt cx="5399088" cy="853281"/>
          </a:xfrm>
        </p:grpSpPr>
        <p:cxnSp>
          <p:nvCxnSpPr>
            <p:cNvPr id="83" name="Gerader Verbinder 82"/>
            <p:cNvCxnSpPr/>
            <p:nvPr/>
          </p:nvCxnSpPr>
          <p:spPr>
            <a:xfrm flipV="1">
              <a:off x="1873250" y="4216400"/>
              <a:ext cx="1800225"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4" name="Gerader Verbinder 83"/>
            <p:cNvCxnSpPr/>
            <p:nvPr/>
          </p:nvCxnSpPr>
          <p:spPr>
            <a:xfrm flipV="1">
              <a:off x="3676650" y="4206875"/>
              <a:ext cx="1784350"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5" name="Gerader Verbinder 84"/>
            <p:cNvCxnSpPr/>
            <p:nvPr/>
          </p:nvCxnSpPr>
          <p:spPr>
            <a:xfrm flipV="1">
              <a:off x="5461000" y="3369469"/>
              <a:ext cx="1811338" cy="85010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86" name="softmax7"/>
          <p:cNvGrpSpPr/>
          <p:nvPr/>
        </p:nvGrpSpPr>
        <p:grpSpPr>
          <a:xfrm>
            <a:off x="1027336" y="3726656"/>
            <a:ext cx="5390925" cy="419894"/>
            <a:chOff x="1876425" y="3726656"/>
            <a:chExt cx="5390925" cy="419894"/>
          </a:xfrm>
        </p:grpSpPr>
        <p:cxnSp>
          <p:nvCxnSpPr>
            <p:cNvPr id="87" name="Gerader Verbinder 86"/>
            <p:cNvCxnSpPr/>
            <p:nvPr/>
          </p:nvCxnSpPr>
          <p:spPr>
            <a:xfrm flipV="1">
              <a:off x="1876425" y="4140200"/>
              <a:ext cx="17907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8" name="Gerader Verbinder 87"/>
            <p:cNvCxnSpPr/>
            <p:nvPr/>
          </p:nvCxnSpPr>
          <p:spPr>
            <a:xfrm flipV="1">
              <a:off x="3667125" y="4133851"/>
              <a:ext cx="1803400" cy="952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9" name="Gerader Verbinder 88"/>
            <p:cNvCxnSpPr/>
            <p:nvPr/>
          </p:nvCxnSpPr>
          <p:spPr>
            <a:xfrm flipV="1">
              <a:off x="5470525" y="3726656"/>
              <a:ext cx="1796825" cy="41354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90" name="Textfeld 89"/>
          <p:cNvSpPr txBox="1"/>
          <p:nvPr/>
        </p:nvSpPr>
        <p:spPr>
          <a:xfrm>
            <a:off x="728239" y="5154999"/>
            <a:ext cx="593432"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GMBH</a:t>
            </a:r>
          </a:p>
        </p:txBody>
      </p:sp>
      <p:sp>
        <p:nvSpPr>
          <p:cNvPr id="91" name="Textfeld 90"/>
          <p:cNvSpPr txBox="1"/>
          <p:nvPr/>
        </p:nvSpPr>
        <p:spPr>
          <a:xfrm>
            <a:off x="2465988" y="5154999"/>
            <a:ext cx="729495"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TECHNIK</a:t>
            </a:r>
          </a:p>
        </p:txBody>
      </p:sp>
      <p:sp>
        <p:nvSpPr>
          <p:cNvPr id="92" name="Textfeld 91"/>
          <p:cNvSpPr txBox="1"/>
          <p:nvPr/>
        </p:nvSpPr>
        <p:spPr>
          <a:xfrm>
            <a:off x="4143545" y="5154999"/>
            <a:ext cx="98277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FORSCHUNG</a:t>
            </a:r>
          </a:p>
        </p:txBody>
      </p:sp>
      <p:sp>
        <p:nvSpPr>
          <p:cNvPr id="93" name="Textfeld 92"/>
          <p:cNvSpPr txBox="1"/>
          <p:nvPr/>
        </p:nvSpPr>
        <p:spPr>
          <a:xfrm>
            <a:off x="6166499" y="5154999"/>
            <a:ext cx="53572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BMW</a:t>
            </a:r>
          </a:p>
        </p:txBody>
      </p:sp>
      <p:grpSp>
        <p:nvGrpSpPr>
          <p:cNvPr id="94" name="Gruppieren 93"/>
          <p:cNvGrpSpPr/>
          <p:nvPr/>
        </p:nvGrpSpPr>
        <p:grpSpPr>
          <a:xfrm>
            <a:off x="698575" y="4031597"/>
            <a:ext cx="72008" cy="981579"/>
            <a:chOff x="1547664" y="4031597"/>
            <a:chExt cx="72008" cy="981579"/>
          </a:xfrm>
        </p:grpSpPr>
        <p:cxnSp>
          <p:nvCxnSpPr>
            <p:cNvPr id="95" name="Gerader Verbinder 94"/>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96" name="Gerader Verbinder 95"/>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97" name="Gerader Verbinder 96"/>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98" name="Gruppieren 97"/>
          <p:cNvGrpSpPr/>
          <p:nvPr/>
        </p:nvGrpSpPr>
        <p:grpSpPr>
          <a:xfrm>
            <a:off x="697663" y="3050018"/>
            <a:ext cx="72008" cy="981579"/>
            <a:chOff x="1547664" y="4031597"/>
            <a:chExt cx="72008" cy="981579"/>
          </a:xfrm>
        </p:grpSpPr>
        <p:cxnSp>
          <p:nvCxnSpPr>
            <p:cNvPr id="99" name="Gerader Verbinder 98"/>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0" name="Gerader Verbinder 99"/>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1" name="Gerader Verbinder 100"/>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102" name="Gruppieren 101"/>
          <p:cNvGrpSpPr/>
          <p:nvPr/>
        </p:nvGrpSpPr>
        <p:grpSpPr>
          <a:xfrm>
            <a:off x="697663" y="2070680"/>
            <a:ext cx="72008" cy="981579"/>
            <a:chOff x="1547664" y="4031597"/>
            <a:chExt cx="72008" cy="981579"/>
          </a:xfrm>
        </p:grpSpPr>
        <p:cxnSp>
          <p:nvCxnSpPr>
            <p:cNvPr id="103" name="Gerader Verbinder 102"/>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4" name="Gerader Verbinder 103"/>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5" name="Gerader Verbinder 104"/>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106" name="Gruppieren 105"/>
          <p:cNvGrpSpPr/>
          <p:nvPr/>
        </p:nvGrpSpPr>
        <p:grpSpPr>
          <a:xfrm>
            <a:off x="697663" y="1089101"/>
            <a:ext cx="72008" cy="981579"/>
            <a:chOff x="1547664" y="4031597"/>
            <a:chExt cx="72008" cy="981579"/>
          </a:xfrm>
        </p:grpSpPr>
        <p:cxnSp>
          <p:nvCxnSpPr>
            <p:cNvPr id="107" name="Gerader Verbinder 106"/>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8" name="Gerader Verbinder 107"/>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9" name="Gerader Verbinder 108"/>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110" name="Textfeld 109"/>
          <p:cNvSpPr txBox="1"/>
          <p:nvPr/>
        </p:nvSpPr>
        <p:spPr>
          <a:xfrm>
            <a:off x="487600" y="4878000"/>
            <a:ext cx="26321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0</a:t>
            </a:r>
          </a:p>
        </p:txBody>
      </p:sp>
      <p:sp>
        <p:nvSpPr>
          <p:cNvPr id="111" name="Textfeld 110"/>
          <p:cNvSpPr txBox="1"/>
          <p:nvPr/>
        </p:nvSpPr>
        <p:spPr>
          <a:xfrm>
            <a:off x="428823" y="3897927"/>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25</a:t>
            </a:r>
          </a:p>
        </p:txBody>
      </p:sp>
      <p:sp>
        <p:nvSpPr>
          <p:cNvPr id="112" name="Textfeld 111"/>
          <p:cNvSpPr txBox="1"/>
          <p:nvPr/>
        </p:nvSpPr>
        <p:spPr>
          <a:xfrm>
            <a:off x="409054" y="2911518"/>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50</a:t>
            </a:r>
          </a:p>
        </p:txBody>
      </p:sp>
      <p:sp>
        <p:nvSpPr>
          <p:cNvPr id="113" name="Textfeld 112"/>
          <p:cNvSpPr txBox="1"/>
          <p:nvPr/>
        </p:nvSpPr>
        <p:spPr>
          <a:xfrm>
            <a:off x="427911" y="1936750"/>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75</a:t>
            </a:r>
          </a:p>
        </p:txBody>
      </p:sp>
      <p:sp>
        <p:nvSpPr>
          <p:cNvPr id="114" name="Textfeld 113"/>
          <p:cNvSpPr txBox="1"/>
          <p:nvPr/>
        </p:nvSpPr>
        <p:spPr>
          <a:xfrm>
            <a:off x="349363" y="950601"/>
            <a:ext cx="420308"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100</a:t>
            </a:r>
          </a:p>
        </p:txBody>
      </p:sp>
      <p:sp>
        <p:nvSpPr>
          <p:cNvPr id="115" name="base"/>
          <p:cNvSpPr txBox="1"/>
          <p:nvPr/>
        </p:nvSpPr>
        <p:spPr>
          <a:xfrm>
            <a:off x="6531223" y="2027644"/>
            <a:ext cx="476412"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base</a:t>
            </a:r>
          </a:p>
        </p:txBody>
      </p:sp>
      <p:sp>
        <p:nvSpPr>
          <p:cNvPr id="116" name="log"/>
          <p:cNvSpPr txBox="1"/>
          <p:nvPr/>
        </p:nvSpPr>
        <p:spPr>
          <a:xfrm>
            <a:off x="6531223" y="2768256"/>
            <a:ext cx="373820"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log</a:t>
            </a:r>
          </a:p>
        </p:txBody>
      </p:sp>
      <p:sp>
        <p:nvSpPr>
          <p:cNvPr id="117" name="softmax"/>
          <p:cNvSpPr txBox="1"/>
          <p:nvPr/>
        </p:nvSpPr>
        <p:spPr>
          <a:xfrm>
            <a:off x="6528048" y="1302851"/>
            <a:ext cx="914225" cy="276999"/>
          </a:xfrm>
          <a:prstGeom prst="rect">
            <a:avLst/>
          </a:prstGeom>
          <a:noFill/>
          <a:ln w="12700">
            <a:noFill/>
          </a:ln>
        </p:spPr>
        <p:txBody>
          <a:bodyPr wrap="none" rtlCol="0">
            <a:spAutoFit/>
          </a:bodyPr>
          <a:lstStyle/>
          <a:p>
            <a:r>
              <a:rPr lang="en-US" sz="1200" dirty="0" err="1" smtClean="0">
                <a:solidFill>
                  <a:srgbClr val="00AAE5"/>
                </a:solidFill>
                <a:latin typeface="Calibri" panose="020F0502020204030204" pitchFamily="34" charset="0"/>
              </a:rPr>
              <a:t>softmax</a:t>
            </a:r>
            <a:r>
              <a:rPr lang="en-US" sz="1200" dirty="0" smtClean="0">
                <a:solidFill>
                  <a:srgbClr val="00AAE5"/>
                </a:solidFill>
                <a:latin typeface="Calibri" panose="020F0502020204030204" pitchFamily="34" charset="0"/>
              </a:rPr>
              <a:t> = 4</a:t>
            </a:r>
          </a:p>
        </p:txBody>
      </p:sp>
      <p:sp>
        <p:nvSpPr>
          <p:cNvPr id="118" name="offset"/>
          <p:cNvSpPr txBox="1"/>
          <p:nvPr/>
        </p:nvSpPr>
        <p:spPr>
          <a:xfrm>
            <a:off x="6531223" y="3919438"/>
            <a:ext cx="1287981" cy="276999"/>
          </a:xfrm>
          <a:prstGeom prst="rect">
            <a:avLst/>
          </a:prstGeom>
          <a:noFill/>
          <a:ln w="12700">
            <a:noFill/>
          </a:ln>
        </p:spPr>
        <p:txBody>
          <a:bodyPr wrap="none" rtlCol="0">
            <a:spAutoFit/>
          </a:bodyPr>
          <a:lstStyle/>
          <a:p>
            <a:r>
              <a:rPr lang="en-US" sz="1200" dirty="0">
                <a:solidFill>
                  <a:srgbClr val="00AAE5"/>
                </a:solidFill>
                <a:latin typeface="Calibri" panose="020F0502020204030204" pitchFamily="34" charset="0"/>
              </a:rPr>
              <a:t>o</a:t>
            </a:r>
            <a:r>
              <a:rPr lang="en-US" sz="1200" dirty="0" smtClean="0">
                <a:solidFill>
                  <a:srgbClr val="00AAE5"/>
                </a:solidFill>
                <a:latin typeface="Calibri" panose="020F0502020204030204" pitchFamily="34" charset="0"/>
              </a:rPr>
              <a:t>ffset = -9999999</a:t>
            </a:r>
          </a:p>
        </p:txBody>
      </p:sp>
      <p:sp>
        <p:nvSpPr>
          <p:cNvPr id="4" name="Foliennummernplatzhalter 3"/>
          <p:cNvSpPr>
            <a:spLocks noGrp="1"/>
          </p:cNvSpPr>
          <p:nvPr>
            <p:ph type="sldNum" sz="quarter" idx="10"/>
          </p:nvPr>
        </p:nvSpPr>
        <p:spPr/>
        <p:txBody>
          <a:bodyPr/>
          <a:lstStyle/>
          <a:p>
            <a:fld id="{A29D8577-601D-4845-9C29-D9E13FE3E8DB}" type="slidenum">
              <a:rPr lang="en-US" smtClean="0"/>
              <a:pPr/>
              <a:t>18</a:t>
            </a:fld>
            <a:endParaRPr lang="en-US" dirty="0"/>
          </a:p>
        </p:txBody>
      </p:sp>
    </p:spTree>
    <p:extLst>
      <p:ext uri="{BB962C8B-B14F-4D97-AF65-F5344CB8AC3E}">
        <p14:creationId xmlns:p14="http://schemas.microsoft.com/office/powerpoint/2010/main" val="171109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34"/>
                                        </p:tgtEl>
                                      </p:cBhvr>
                                    </p:animEffect>
                                    <p:set>
                                      <p:cBhvr>
                                        <p:cTn id="7" dur="1" fill="hold">
                                          <p:stCondLst>
                                            <p:cond delay="499"/>
                                          </p:stCondLst>
                                        </p:cTn>
                                        <p:tgtEl>
                                          <p:spTgt spid="34"/>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1000"/>
                                        <p:tgtEl>
                                          <p:spTgt spid="115"/>
                                        </p:tgtEl>
                                      </p:cBhvr>
                                    </p:animEffect>
                                    <p:set>
                                      <p:cBhvr>
                                        <p:cTn id="10" dur="1" fill="hold">
                                          <p:stCondLst>
                                            <p:cond delay="999"/>
                                          </p:stCondLst>
                                        </p:cTn>
                                        <p:tgtEl>
                                          <p:spTgt spid="115"/>
                                        </p:tgtEl>
                                        <p:attrNameLst>
                                          <p:attrName>style.visibility</p:attrName>
                                        </p:attrNameLst>
                                      </p:cBhvr>
                                      <p:to>
                                        <p:strVal val="hidden"/>
                                      </p:to>
                                    </p:set>
                                  </p:childTnLst>
                                </p:cTn>
                              </p:par>
                              <p:par>
                                <p:cTn id="11" presetID="10" presetClass="entr" presetSubtype="0" fill="hold" grpId="0" nodeType="withEffect">
                                  <p:stCondLst>
                                    <p:cond delay="0"/>
                                  </p:stCondLst>
                                  <p:childTnLst>
                                    <p:set>
                                      <p:cBhvr>
                                        <p:cTn id="12" dur="1" fill="hold">
                                          <p:stCondLst>
                                            <p:cond delay="0"/>
                                          </p:stCondLst>
                                        </p:cTn>
                                        <p:tgtEl>
                                          <p:spTgt spid="116"/>
                                        </p:tgtEl>
                                        <p:attrNameLst>
                                          <p:attrName>style.visibility</p:attrName>
                                        </p:attrNameLst>
                                      </p:cBhvr>
                                      <p:to>
                                        <p:strVal val="visible"/>
                                      </p:to>
                                    </p:set>
                                    <p:animEffect transition="in" filter="fade">
                                      <p:cBhvr>
                                        <p:cTn id="13" dur="1000"/>
                                        <p:tgtEl>
                                          <p:spTgt spid="116"/>
                                        </p:tgtEl>
                                      </p:cBhvr>
                                    </p:animEffect>
                                  </p:childTnLst>
                                </p:cTn>
                              </p:par>
                              <p:par>
                                <p:cTn id="14" presetID="1" presetClass="entr" presetSubtype="0" fill="hold" nodeType="withEffect">
                                  <p:stCondLst>
                                    <p:cond delay="100"/>
                                  </p:stCondLst>
                                  <p:childTnLst>
                                    <p:set>
                                      <p:cBhvr>
                                        <p:cTn id="15" dur="1" fill="hold">
                                          <p:stCondLst>
                                            <p:cond delay="0"/>
                                          </p:stCondLst>
                                        </p:cTn>
                                        <p:tgtEl>
                                          <p:spTgt spid="30"/>
                                        </p:tgtEl>
                                        <p:attrNameLst>
                                          <p:attrName>style.visibility</p:attrName>
                                        </p:attrNameLst>
                                      </p:cBhvr>
                                      <p:to>
                                        <p:strVal val="visible"/>
                                      </p:to>
                                    </p:set>
                                  </p:childTnLst>
                                </p:cTn>
                              </p:par>
                              <p:par>
                                <p:cTn id="16" presetID="10" presetClass="exit" presetSubtype="0" fill="hold" nodeType="withEffect">
                                  <p:stCondLst>
                                    <p:cond delay="100"/>
                                  </p:stCondLst>
                                  <p:childTnLst>
                                    <p:animEffect transition="out" filter="fade">
                                      <p:cBhvr>
                                        <p:cTn id="17" dur="500"/>
                                        <p:tgtEl>
                                          <p:spTgt spid="30"/>
                                        </p:tgtEl>
                                      </p:cBhvr>
                                    </p:animEffect>
                                    <p:set>
                                      <p:cBhvr>
                                        <p:cTn id="18" dur="1" fill="hold">
                                          <p:stCondLst>
                                            <p:cond delay="499"/>
                                          </p:stCondLst>
                                        </p:cTn>
                                        <p:tgtEl>
                                          <p:spTgt spid="30"/>
                                        </p:tgtEl>
                                        <p:attrNameLst>
                                          <p:attrName>style.visibility</p:attrName>
                                        </p:attrNameLst>
                                      </p:cBhvr>
                                      <p:to>
                                        <p:strVal val="hidden"/>
                                      </p:to>
                                    </p:set>
                                  </p:childTnLst>
                                </p:cTn>
                              </p:par>
                              <p:par>
                                <p:cTn id="19" presetID="1" presetClass="entr" presetSubtype="0" fill="hold" nodeType="withEffect">
                                  <p:stCondLst>
                                    <p:cond delay="200"/>
                                  </p:stCondLst>
                                  <p:childTnLst>
                                    <p:set>
                                      <p:cBhvr>
                                        <p:cTn id="20" dur="1" fill="hold">
                                          <p:stCondLst>
                                            <p:cond delay="0"/>
                                          </p:stCondLst>
                                        </p:cTn>
                                        <p:tgtEl>
                                          <p:spTgt spid="26"/>
                                        </p:tgtEl>
                                        <p:attrNameLst>
                                          <p:attrName>style.visibility</p:attrName>
                                        </p:attrNameLst>
                                      </p:cBhvr>
                                      <p:to>
                                        <p:strVal val="visible"/>
                                      </p:to>
                                    </p:set>
                                  </p:childTnLst>
                                </p:cTn>
                              </p:par>
                              <p:par>
                                <p:cTn id="21" presetID="10" presetClass="exit" presetSubtype="0" fill="hold" nodeType="withEffect">
                                  <p:stCondLst>
                                    <p:cond delay="200"/>
                                  </p:stCondLst>
                                  <p:childTnLst>
                                    <p:animEffect transition="out" filter="fade">
                                      <p:cBhvr>
                                        <p:cTn id="22" dur="500"/>
                                        <p:tgtEl>
                                          <p:spTgt spid="26"/>
                                        </p:tgtEl>
                                      </p:cBhvr>
                                    </p:animEffect>
                                    <p:set>
                                      <p:cBhvr>
                                        <p:cTn id="23" dur="1" fill="hold">
                                          <p:stCondLst>
                                            <p:cond delay="499"/>
                                          </p:stCondLst>
                                        </p:cTn>
                                        <p:tgtEl>
                                          <p:spTgt spid="26"/>
                                        </p:tgtEl>
                                        <p:attrNameLst>
                                          <p:attrName>style.visibility</p:attrName>
                                        </p:attrNameLst>
                                      </p:cBhvr>
                                      <p:to>
                                        <p:strVal val="hidden"/>
                                      </p:to>
                                    </p:set>
                                  </p:childTnLst>
                                </p:cTn>
                              </p:par>
                              <p:par>
                                <p:cTn id="24" presetID="1" presetClass="entr" presetSubtype="0" fill="hold" nodeType="withEffect">
                                  <p:stCondLst>
                                    <p:cond delay="300"/>
                                  </p:stCondLst>
                                  <p:childTnLst>
                                    <p:set>
                                      <p:cBhvr>
                                        <p:cTn id="25" dur="1" fill="hold">
                                          <p:stCondLst>
                                            <p:cond delay="0"/>
                                          </p:stCondLst>
                                        </p:cTn>
                                        <p:tgtEl>
                                          <p:spTgt spid="22"/>
                                        </p:tgtEl>
                                        <p:attrNameLst>
                                          <p:attrName>style.visibility</p:attrName>
                                        </p:attrNameLst>
                                      </p:cBhvr>
                                      <p:to>
                                        <p:strVal val="visible"/>
                                      </p:to>
                                    </p:set>
                                  </p:childTnLst>
                                </p:cTn>
                              </p:par>
                              <p:par>
                                <p:cTn id="26" presetID="10" presetClass="exit" presetSubtype="0" fill="hold" nodeType="withEffect">
                                  <p:stCondLst>
                                    <p:cond delay="300"/>
                                  </p:stCondLst>
                                  <p:childTnLst>
                                    <p:animEffect transition="out" filter="fade">
                                      <p:cBhvr>
                                        <p:cTn id="27" dur="500"/>
                                        <p:tgtEl>
                                          <p:spTgt spid="22"/>
                                        </p:tgtEl>
                                      </p:cBhvr>
                                    </p:animEffect>
                                    <p:set>
                                      <p:cBhvr>
                                        <p:cTn id="28" dur="1" fill="hold">
                                          <p:stCondLst>
                                            <p:cond delay="499"/>
                                          </p:stCondLst>
                                        </p:cTn>
                                        <p:tgtEl>
                                          <p:spTgt spid="22"/>
                                        </p:tgtEl>
                                        <p:attrNameLst>
                                          <p:attrName>style.visibility</p:attrName>
                                        </p:attrNameLst>
                                      </p:cBhvr>
                                      <p:to>
                                        <p:strVal val="hidden"/>
                                      </p:to>
                                    </p:set>
                                  </p:childTnLst>
                                </p:cTn>
                              </p:par>
                              <p:par>
                                <p:cTn id="29" presetID="1" presetClass="entr" presetSubtype="0" fill="hold" nodeType="withEffect">
                                  <p:stCondLst>
                                    <p:cond delay="400"/>
                                  </p:stCondLst>
                                  <p:childTnLst>
                                    <p:set>
                                      <p:cBhvr>
                                        <p:cTn id="30" dur="1" fill="hold">
                                          <p:stCondLst>
                                            <p:cond delay="0"/>
                                          </p:stCondLst>
                                        </p:cTn>
                                        <p:tgtEl>
                                          <p:spTgt spid="18"/>
                                        </p:tgtEl>
                                        <p:attrNameLst>
                                          <p:attrName>style.visibility</p:attrName>
                                        </p:attrNameLst>
                                      </p:cBhvr>
                                      <p:to>
                                        <p:strVal val="visible"/>
                                      </p:to>
                                    </p:set>
                                  </p:childTnLst>
                                </p:cTn>
                              </p:par>
                              <p:par>
                                <p:cTn id="31" presetID="10" presetClass="exit" presetSubtype="0" fill="hold" nodeType="withEffect">
                                  <p:stCondLst>
                                    <p:cond delay="400"/>
                                  </p:stCondLst>
                                  <p:childTnLst>
                                    <p:animEffect transition="out" filter="fade">
                                      <p:cBhvr>
                                        <p:cTn id="32" dur="500"/>
                                        <p:tgtEl>
                                          <p:spTgt spid="18"/>
                                        </p:tgtEl>
                                      </p:cBhvr>
                                    </p:animEffect>
                                    <p:set>
                                      <p:cBhvr>
                                        <p:cTn id="33" dur="1" fill="hold">
                                          <p:stCondLst>
                                            <p:cond delay="499"/>
                                          </p:stCondLst>
                                        </p:cTn>
                                        <p:tgtEl>
                                          <p:spTgt spid="18"/>
                                        </p:tgtEl>
                                        <p:attrNameLst>
                                          <p:attrName>style.visibility</p:attrName>
                                        </p:attrNameLst>
                                      </p:cBhvr>
                                      <p:to>
                                        <p:strVal val="hidden"/>
                                      </p:to>
                                    </p:set>
                                  </p:childTnLst>
                                </p:cTn>
                              </p:par>
                              <p:par>
                                <p:cTn id="34" presetID="1" presetClass="entr" presetSubtype="0" fill="hold" nodeType="withEffect">
                                  <p:stCondLst>
                                    <p:cond delay="500"/>
                                  </p:stCondLst>
                                  <p:childTnLst>
                                    <p:set>
                                      <p:cBhvr>
                                        <p:cTn id="35" dur="1" fill="hold">
                                          <p:stCondLst>
                                            <p:cond delay="0"/>
                                          </p:stCondLst>
                                        </p:cTn>
                                        <p:tgtEl>
                                          <p:spTgt spid="14"/>
                                        </p:tgtEl>
                                        <p:attrNameLst>
                                          <p:attrName>style.visibility</p:attrName>
                                        </p:attrNameLst>
                                      </p:cBhvr>
                                      <p:to>
                                        <p:strVal val="visible"/>
                                      </p:to>
                                    </p:set>
                                  </p:childTnLst>
                                </p:cTn>
                              </p:par>
                              <p:par>
                                <p:cTn id="36" presetID="10" presetClass="exit" presetSubtype="0" fill="hold" nodeType="withEffect">
                                  <p:stCondLst>
                                    <p:cond delay="500"/>
                                  </p:stCondLst>
                                  <p:childTnLst>
                                    <p:animEffect transition="out" filter="fade">
                                      <p:cBhvr>
                                        <p:cTn id="37" dur="500"/>
                                        <p:tgtEl>
                                          <p:spTgt spid="14"/>
                                        </p:tgtEl>
                                      </p:cBhvr>
                                    </p:animEffect>
                                    <p:set>
                                      <p:cBhvr>
                                        <p:cTn id="38" dur="1" fill="hold">
                                          <p:stCondLst>
                                            <p:cond delay="499"/>
                                          </p:stCondLst>
                                        </p:cTn>
                                        <p:tgtEl>
                                          <p:spTgt spid="14"/>
                                        </p:tgtEl>
                                        <p:attrNameLst>
                                          <p:attrName>style.visibility</p:attrName>
                                        </p:attrNameLst>
                                      </p:cBhvr>
                                      <p:to>
                                        <p:strVal val="hidden"/>
                                      </p:to>
                                    </p:set>
                                  </p:childTnLst>
                                </p:cTn>
                              </p:par>
                              <p:par>
                                <p:cTn id="39" presetID="1" presetClass="entr" presetSubtype="0" fill="hold" nodeType="withEffect">
                                  <p:stCondLst>
                                    <p:cond delay="60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nodeType="clickEffect">
                                  <p:stCondLst>
                                    <p:cond delay="0"/>
                                  </p:stCondLst>
                                  <p:childTnLst>
                                    <p:animEffect transition="out" filter="fade">
                                      <p:cBhvr>
                                        <p:cTn id="44" dur="500"/>
                                        <p:tgtEl>
                                          <p:spTgt spid="5"/>
                                        </p:tgtEl>
                                      </p:cBhvr>
                                    </p:animEffect>
                                    <p:set>
                                      <p:cBhvr>
                                        <p:cTn id="45" dur="1" fill="hold">
                                          <p:stCondLst>
                                            <p:cond delay="499"/>
                                          </p:stCondLst>
                                        </p:cTn>
                                        <p:tgtEl>
                                          <p:spTgt spid="5"/>
                                        </p:tgtEl>
                                        <p:attrNameLst>
                                          <p:attrName>style.visibility</p:attrName>
                                        </p:attrNameLst>
                                      </p:cBhvr>
                                      <p:to>
                                        <p:strVal val="hidden"/>
                                      </p:to>
                                    </p:set>
                                  </p:childTnLst>
                                </p:cTn>
                              </p:par>
                              <p:par>
                                <p:cTn id="46" presetID="10" presetClass="exit" presetSubtype="0" fill="hold" grpId="1" nodeType="withEffect">
                                  <p:stCondLst>
                                    <p:cond delay="0"/>
                                  </p:stCondLst>
                                  <p:childTnLst>
                                    <p:animEffect transition="out" filter="fade">
                                      <p:cBhvr>
                                        <p:cTn id="47" dur="1000"/>
                                        <p:tgtEl>
                                          <p:spTgt spid="116"/>
                                        </p:tgtEl>
                                      </p:cBhvr>
                                    </p:animEffect>
                                    <p:set>
                                      <p:cBhvr>
                                        <p:cTn id="48" dur="1" fill="hold">
                                          <p:stCondLst>
                                            <p:cond delay="999"/>
                                          </p:stCondLst>
                                        </p:cTn>
                                        <p:tgtEl>
                                          <p:spTgt spid="116"/>
                                        </p:tgtEl>
                                        <p:attrNameLst>
                                          <p:attrName>style.visibility</p:attrName>
                                        </p:attrNameLst>
                                      </p:cBhvr>
                                      <p:to>
                                        <p:strVal val="hidden"/>
                                      </p:to>
                                    </p:set>
                                  </p:childTnLst>
                                </p:cTn>
                              </p:par>
                              <p:par>
                                <p:cTn id="49" presetID="10" presetClass="entr" presetSubtype="0" fill="hold" grpId="0"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1000"/>
                                        <p:tgtEl>
                                          <p:spTgt spid="117"/>
                                        </p:tgtEl>
                                      </p:cBhvr>
                                    </p:animEffect>
                                  </p:childTnLst>
                                </p:cTn>
                              </p:par>
                              <p:par>
                                <p:cTn id="52" presetID="1" presetClass="entr" presetSubtype="0" fill="hold" nodeType="withEffect">
                                  <p:stCondLst>
                                    <p:cond delay="100"/>
                                  </p:stCondLst>
                                  <p:childTnLst>
                                    <p:set>
                                      <p:cBhvr>
                                        <p:cTn id="53" dur="1" fill="hold">
                                          <p:stCondLst>
                                            <p:cond delay="0"/>
                                          </p:stCondLst>
                                        </p:cTn>
                                        <p:tgtEl>
                                          <p:spTgt spid="38"/>
                                        </p:tgtEl>
                                        <p:attrNameLst>
                                          <p:attrName>style.visibility</p:attrName>
                                        </p:attrNameLst>
                                      </p:cBhvr>
                                      <p:to>
                                        <p:strVal val="visible"/>
                                      </p:to>
                                    </p:set>
                                  </p:childTnLst>
                                </p:cTn>
                              </p:par>
                              <p:par>
                                <p:cTn id="54" presetID="10" presetClass="exit" presetSubtype="0" fill="hold" nodeType="withEffect">
                                  <p:stCondLst>
                                    <p:cond delay="100"/>
                                  </p:stCondLst>
                                  <p:childTnLst>
                                    <p:animEffect transition="out" filter="fade">
                                      <p:cBhvr>
                                        <p:cTn id="55" dur="500"/>
                                        <p:tgtEl>
                                          <p:spTgt spid="38"/>
                                        </p:tgtEl>
                                      </p:cBhvr>
                                    </p:animEffect>
                                    <p:set>
                                      <p:cBhvr>
                                        <p:cTn id="56" dur="1" fill="hold">
                                          <p:stCondLst>
                                            <p:cond delay="499"/>
                                          </p:stCondLst>
                                        </p:cTn>
                                        <p:tgtEl>
                                          <p:spTgt spid="38"/>
                                        </p:tgtEl>
                                        <p:attrNameLst>
                                          <p:attrName>style.visibility</p:attrName>
                                        </p:attrNameLst>
                                      </p:cBhvr>
                                      <p:to>
                                        <p:strVal val="hidden"/>
                                      </p:to>
                                    </p:set>
                                  </p:childTnLst>
                                </p:cTn>
                              </p:par>
                              <p:par>
                                <p:cTn id="57" presetID="1" presetClass="entr" presetSubtype="0" fill="hold" nodeType="withEffect">
                                  <p:stCondLst>
                                    <p:cond delay="200"/>
                                  </p:stCondLst>
                                  <p:childTnLst>
                                    <p:set>
                                      <p:cBhvr>
                                        <p:cTn id="58" dur="1" fill="hold">
                                          <p:stCondLst>
                                            <p:cond delay="0"/>
                                          </p:stCondLst>
                                        </p:cTn>
                                        <p:tgtEl>
                                          <p:spTgt spid="42"/>
                                        </p:tgtEl>
                                        <p:attrNameLst>
                                          <p:attrName>style.visibility</p:attrName>
                                        </p:attrNameLst>
                                      </p:cBhvr>
                                      <p:to>
                                        <p:strVal val="visible"/>
                                      </p:to>
                                    </p:set>
                                  </p:childTnLst>
                                </p:cTn>
                              </p:par>
                              <p:par>
                                <p:cTn id="59" presetID="10" presetClass="exit" presetSubtype="0" fill="hold" nodeType="withEffect">
                                  <p:stCondLst>
                                    <p:cond delay="200"/>
                                  </p:stCondLst>
                                  <p:childTnLst>
                                    <p:animEffect transition="out" filter="fade">
                                      <p:cBhvr>
                                        <p:cTn id="60" dur="500"/>
                                        <p:tgtEl>
                                          <p:spTgt spid="42"/>
                                        </p:tgtEl>
                                      </p:cBhvr>
                                    </p:animEffect>
                                    <p:set>
                                      <p:cBhvr>
                                        <p:cTn id="61" dur="1" fill="hold">
                                          <p:stCondLst>
                                            <p:cond delay="499"/>
                                          </p:stCondLst>
                                        </p:cTn>
                                        <p:tgtEl>
                                          <p:spTgt spid="42"/>
                                        </p:tgtEl>
                                        <p:attrNameLst>
                                          <p:attrName>style.visibility</p:attrName>
                                        </p:attrNameLst>
                                      </p:cBhvr>
                                      <p:to>
                                        <p:strVal val="hidden"/>
                                      </p:to>
                                    </p:set>
                                  </p:childTnLst>
                                </p:cTn>
                              </p:par>
                              <p:par>
                                <p:cTn id="62" presetID="1" presetClass="entr" presetSubtype="0" fill="hold" nodeType="withEffect">
                                  <p:stCondLst>
                                    <p:cond delay="300"/>
                                  </p:stCondLst>
                                  <p:childTnLst>
                                    <p:set>
                                      <p:cBhvr>
                                        <p:cTn id="63" dur="1" fill="hold">
                                          <p:stCondLst>
                                            <p:cond delay="0"/>
                                          </p:stCondLst>
                                        </p:cTn>
                                        <p:tgtEl>
                                          <p:spTgt spid="46"/>
                                        </p:tgtEl>
                                        <p:attrNameLst>
                                          <p:attrName>style.visibility</p:attrName>
                                        </p:attrNameLst>
                                      </p:cBhvr>
                                      <p:to>
                                        <p:strVal val="visible"/>
                                      </p:to>
                                    </p:set>
                                  </p:childTnLst>
                                </p:cTn>
                              </p:par>
                              <p:par>
                                <p:cTn id="64" presetID="10" presetClass="exit" presetSubtype="0" fill="hold" nodeType="withEffect">
                                  <p:stCondLst>
                                    <p:cond delay="300"/>
                                  </p:stCondLst>
                                  <p:childTnLst>
                                    <p:animEffect transition="out" filter="fade">
                                      <p:cBhvr>
                                        <p:cTn id="65" dur="500"/>
                                        <p:tgtEl>
                                          <p:spTgt spid="46"/>
                                        </p:tgtEl>
                                      </p:cBhvr>
                                    </p:animEffect>
                                    <p:set>
                                      <p:cBhvr>
                                        <p:cTn id="66" dur="1" fill="hold">
                                          <p:stCondLst>
                                            <p:cond delay="499"/>
                                          </p:stCondLst>
                                        </p:cTn>
                                        <p:tgtEl>
                                          <p:spTgt spid="46"/>
                                        </p:tgtEl>
                                        <p:attrNameLst>
                                          <p:attrName>style.visibility</p:attrName>
                                        </p:attrNameLst>
                                      </p:cBhvr>
                                      <p:to>
                                        <p:strVal val="hidden"/>
                                      </p:to>
                                    </p:set>
                                  </p:childTnLst>
                                </p:cTn>
                              </p:par>
                              <p:par>
                                <p:cTn id="67" presetID="1" presetClass="entr" presetSubtype="0" fill="hold" nodeType="withEffect">
                                  <p:stCondLst>
                                    <p:cond delay="400"/>
                                  </p:stCondLst>
                                  <p:childTnLst>
                                    <p:set>
                                      <p:cBhvr>
                                        <p:cTn id="68" dur="1" fill="hold">
                                          <p:stCondLst>
                                            <p:cond delay="0"/>
                                          </p:stCondLst>
                                        </p:cTn>
                                        <p:tgtEl>
                                          <p:spTgt spid="50"/>
                                        </p:tgtEl>
                                        <p:attrNameLst>
                                          <p:attrName>style.visibility</p:attrName>
                                        </p:attrNameLst>
                                      </p:cBhvr>
                                      <p:to>
                                        <p:strVal val="visible"/>
                                      </p:to>
                                    </p:set>
                                  </p:childTnLst>
                                </p:cTn>
                              </p:par>
                              <p:par>
                                <p:cTn id="69" presetID="10" presetClass="exit" presetSubtype="0" fill="hold" nodeType="withEffect">
                                  <p:stCondLst>
                                    <p:cond delay="400"/>
                                  </p:stCondLst>
                                  <p:childTnLst>
                                    <p:animEffect transition="out" filter="fade">
                                      <p:cBhvr>
                                        <p:cTn id="70" dur="500"/>
                                        <p:tgtEl>
                                          <p:spTgt spid="50"/>
                                        </p:tgtEl>
                                      </p:cBhvr>
                                    </p:animEffect>
                                    <p:set>
                                      <p:cBhvr>
                                        <p:cTn id="71" dur="1" fill="hold">
                                          <p:stCondLst>
                                            <p:cond delay="499"/>
                                          </p:stCondLst>
                                        </p:cTn>
                                        <p:tgtEl>
                                          <p:spTgt spid="50"/>
                                        </p:tgtEl>
                                        <p:attrNameLst>
                                          <p:attrName>style.visibility</p:attrName>
                                        </p:attrNameLst>
                                      </p:cBhvr>
                                      <p:to>
                                        <p:strVal val="hidden"/>
                                      </p:to>
                                    </p:set>
                                  </p:childTnLst>
                                </p:cTn>
                              </p:par>
                              <p:par>
                                <p:cTn id="72" presetID="1" presetClass="entr" presetSubtype="0" fill="hold" nodeType="withEffect">
                                  <p:stCondLst>
                                    <p:cond delay="500"/>
                                  </p:stCondLst>
                                  <p:childTnLst>
                                    <p:set>
                                      <p:cBhvr>
                                        <p:cTn id="73" dur="1" fill="hold">
                                          <p:stCondLst>
                                            <p:cond delay="0"/>
                                          </p:stCondLst>
                                        </p:cTn>
                                        <p:tgtEl>
                                          <p:spTgt spid="54"/>
                                        </p:tgtEl>
                                        <p:attrNameLst>
                                          <p:attrName>style.visibility</p:attrName>
                                        </p:attrNameLst>
                                      </p:cBhvr>
                                      <p:to>
                                        <p:strVal val="visible"/>
                                      </p:to>
                                    </p:set>
                                  </p:childTnLst>
                                </p:cTn>
                              </p:par>
                              <p:par>
                                <p:cTn id="74" presetID="10" presetClass="exit" presetSubtype="0" fill="hold" nodeType="withEffect">
                                  <p:stCondLst>
                                    <p:cond delay="500"/>
                                  </p:stCondLst>
                                  <p:childTnLst>
                                    <p:animEffect transition="out" filter="fade">
                                      <p:cBhvr>
                                        <p:cTn id="75" dur="500"/>
                                        <p:tgtEl>
                                          <p:spTgt spid="54"/>
                                        </p:tgtEl>
                                      </p:cBhvr>
                                    </p:animEffect>
                                    <p:set>
                                      <p:cBhvr>
                                        <p:cTn id="76" dur="1" fill="hold">
                                          <p:stCondLst>
                                            <p:cond delay="499"/>
                                          </p:stCondLst>
                                        </p:cTn>
                                        <p:tgtEl>
                                          <p:spTgt spid="54"/>
                                        </p:tgtEl>
                                        <p:attrNameLst>
                                          <p:attrName>style.visibility</p:attrName>
                                        </p:attrNameLst>
                                      </p:cBhvr>
                                      <p:to>
                                        <p:strVal val="hidden"/>
                                      </p:to>
                                    </p:set>
                                  </p:childTnLst>
                                </p:cTn>
                              </p:par>
                              <p:par>
                                <p:cTn id="77" presetID="1" presetClass="entr" presetSubtype="0" fill="hold" nodeType="withEffect">
                                  <p:stCondLst>
                                    <p:cond delay="600"/>
                                  </p:stCondLst>
                                  <p:childTnLst>
                                    <p:set>
                                      <p:cBhvr>
                                        <p:cTn id="78" dur="1" fill="hold">
                                          <p:stCondLst>
                                            <p:cond delay="0"/>
                                          </p:stCondLst>
                                        </p:cTn>
                                        <p:tgtEl>
                                          <p:spTgt spid="58"/>
                                        </p:tgtEl>
                                        <p:attrNameLst>
                                          <p:attrName>style.visibility</p:attrName>
                                        </p:attrNameLst>
                                      </p:cBhvr>
                                      <p:to>
                                        <p:strVal val="visible"/>
                                      </p:to>
                                    </p:set>
                                  </p:childTnLst>
                                </p:cTn>
                              </p:par>
                              <p:par>
                                <p:cTn id="79" presetID="10" presetClass="exit" presetSubtype="0" fill="hold" nodeType="withEffect">
                                  <p:stCondLst>
                                    <p:cond delay="600"/>
                                  </p:stCondLst>
                                  <p:childTnLst>
                                    <p:animEffect transition="out" filter="fade">
                                      <p:cBhvr>
                                        <p:cTn id="80" dur="500"/>
                                        <p:tgtEl>
                                          <p:spTgt spid="58"/>
                                        </p:tgtEl>
                                      </p:cBhvr>
                                    </p:animEffect>
                                    <p:set>
                                      <p:cBhvr>
                                        <p:cTn id="81" dur="1" fill="hold">
                                          <p:stCondLst>
                                            <p:cond delay="499"/>
                                          </p:stCondLst>
                                        </p:cTn>
                                        <p:tgtEl>
                                          <p:spTgt spid="58"/>
                                        </p:tgtEl>
                                        <p:attrNameLst>
                                          <p:attrName>style.visibility</p:attrName>
                                        </p:attrNameLst>
                                      </p:cBhvr>
                                      <p:to>
                                        <p:strVal val="hidden"/>
                                      </p:to>
                                    </p:set>
                                  </p:childTnLst>
                                </p:cTn>
                              </p:par>
                              <p:par>
                                <p:cTn id="82" presetID="1" presetClass="entr" presetSubtype="0" fill="hold" nodeType="withEffect">
                                  <p:stCondLst>
                                    <p:cond delay="700"/>
                                  </p:stCondLst>
                                  <p:childTnLst>
                                    <p:set>
                                      <p:cBhvr>
                                        <p:cTn id="83" dur="1" fill="hold">
                                          <p:stCondLst>
                                            <p:cond delay="0"/>
                                          </p:stCondLst>
                                        </p:cTn>
                                        <p:tgtEl>
                                          <p:spTgt spid="9"/>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0" presetClass="exit" presetSubtype="0" fill="hold" nodeType="clickEffect">
                                  <p:stCondLst>
                                    <p:cond delay="0"/>
                                  </p:stCondLst>
                                  <p:childTnLst>
                                    <p:animEffect transition="out" filter="fade">
                                      <p:cBhvr>
                                        <p:cTn id="87" dur="500"/>
                                        <p:tgtEl>
                                          <p:spTgt spid="9"/>
                                        </p:tgtEl>
                                      </p:cBhvr>
                                    </p:animEffect>
                                    <p:set>
                                      <p:cBhvr>
                                        <p:cTn id="88" dur="1" fill="hold">
                                          <p:stCondLst>
                                            <p:cond delay="499"/>
                                          </p:stCondLst>
                                        </p:cTn>
                                        <p:tgtEl>
                                          <p:spTgt spid="9"/>
                                        </p:tgtEl>
                                        <p:attrNameLst>
                                          <p:attrName>style.visibility</p:attrName>
                                        </p:attrNameLst>
                                      </p:cBhvr>
                                      <p:to>
                                        <p:strVal val="hidden"/>
                                      </p:to>
                                    </p:set>
                                  </p:childTnLst>
                                </p:cTn>
                              </p:par>
                              <p:par>
                                <p:cTn id="89" presetID="10" presetClass="exit" presetSubtype="0" fill="hold" grpId="1" nodeType="withEffect">
                                  <p:stCondLst>
                                    <p:cond delay="0"/>
                                  </p:stCondLst>
                                  <p:childTnLst>
                                    <p:animEffect transition="out" filter="fade">
                                      <p:cBhvr>
                                        <p:cTn id="90" dur="1000"/>
                                        <p:tgtEl>
                                          <p:spTgt spid="117"/>
                                        </p:tgtEl>
                                      </p:cBhvr>
                                    </p:animEffect>
                                    <p:set>
                                      <p:cBhvr>
                                        <p:cTn id="91" dur="1" fill="hold">
                                          <p:stCondLst>
                                            <p:cond delay="999"/>
                                          </p:stCondLst>
                                        </p:cTn>
                                        <p:tgtEl>
                                          <p:spTgt spid="117"/>
                                        </p:tgtEl>
                                        <p:attrNameLst>
                                          <p:attrName>style.visibility</p:attrName>
                                        </p:attrNameLst>
                                      </p:cBhvr>
                                      <p:to>
                                        <p:strVal val="hidden"/>
                                      </p:to>
                                    </p:set>
                                  </p:childTnLst>
                                </p:cTn>
                              </p:par>
                              <p:par>
                                <p:cTn id="92" presetID="10" presetClass="entr" presetSubtype="0" fill="hold" grpId="0" nodeType="withEffect">
                                  <p:stCondLst>
                                    <p:cond delay="0"/>
                                  </p:stCondLst>
                                  <p:childTnLst>
                                    <p:set>
                                      <p:cBhvr>
                                        <p:cTn id="93" dur="1" fill="hold">
                                          <p:stCondLst>
                                            <p:cond delay="0"/>
                                          </p:stCondLst>
                                        </p:cTn>
                                        <p:tgtEl>
                                          <p:spTgt spid="118"/>
                                        </p:tgtEl>
                                        <p:attrNameLst>
                                          <p:attrName>style.visibility</p:attrName>
                                        </p:attrNameLst>
                                      </p:cBhvr>
                                      <p:to>
                                        <p:strVal val="visible"/>
                                      </p:to>
                                    </p:set>
                                    <p:animEffect transition="in" filter="fade">
                                      <p:cBhvr>
                                        <p:cTn id="94" dur="1000"/>
                                        <p:tgtEl>
                                          <p:spTgt spid="118"/>
                                        </p:tgtEl>
                                      </p:cBhvr>
                                    </p:animEffect>
                                  </p:childTnLst>
                                </p:cTn>
                              </p:par>
                              <p:par>
                                <p:cTn id="95" presetID="1" presetClass="entr" presetSubtype="0" fill="hold" nodeType="withEffect">
                                  <p:stCondLst>
                                    <p:cond delay="100"/>
                                  </p:stCondLst>
                                  <p:childTnLst>
                                    <p:set>
                                      <p:cBhvr>
                                        <p:cTn id="96" dur="1" fill="hold">
                                          <p:stCondLst>
                                            <p:cond delay="0"/>
                                          </p:stCondLst>
                                        </p:cTn>
                                        <p:tgtEl>
                                          <p:spTgt spid="66"/>
                                        </p:tgtEl>
                                        <p:attrNameLst>
                                          <p:attrName>style.visibility</p:attrName>
                                        </p:attrNameLst>
                                      </p:cBhvr>
                                      <p:to>
                                        <p:strVal val="visible"/>
                                      </p:to>
                                    </p:set>
                                  </p:childTnLst>
                                </p:cTn>
                              </p:par>
                              <p:par>
                                <p:cTn id="97" presetID="10" presetClass="exit" presetSubtype="0" fill="hold" nodeType="withEffect">
                                  <p:stCondLst>
                                    <p:cond delay="100"/>
                                  </p:stCondLst>
                                  <p:childTnLst>
                                    <p:animEffect transition="out" filter="fade">
                                      <p:cBhvr>
                                        <p:cTn id="98" dur="500"/>
                                        <p:tgtEl>
                                          <p:spTgt spid="66"/>
                                        </p:tgtEl>
                                      </p:cBhvr>
                                    </p:animEffect>
                                    <p:set>
                                      <p:cBhvr>
                                        <p:cTn id="99" dur="1" fill="hold">
                                          <p:stCondLst>
                                            <p:cond delay="499"/>
                                          </p:stCondLst>
                                        </p:cTn>
                                        <p:tgtEl>
                                          <p:spTgt spid="66"/>
                                        </p:tgtEl>
                                        <p:attrNameLst>
                                          <p:attrName>style.visibility</p:attrName>
                                        </p:attrNameLst>
                                      </p:cBhvr>
                                      <p:to>
                                        <p:strVal val="hidden"/>
                                      </p:to>
                                    </p:set>
                                  </p:childTnLst>
                                </p:cTn>
                              </p:par>
                              <p:par>
                                <p:cTn id="100" presetID="1" presetClass="entr" presetSubtype="0" fill="hold" nodeType="withEffect">
                                  <p:stCondLst>
                                    <p:cond delay="200"/>
                                  </p:stCondLst>
                                  <p:childTnLst>
                                    <p:set>
                                      <p:cBhvr>
                                        <p:cTn id="101" dur="1" fill="hold">
                                          <p:stCondLst>
                                            <p:cond delay="0"/>
                                          </p:stCondLst>
                                        </p:cTn>
                                        <p:tgtEl>
                                          <p:spTgt spid="70"/>
                                        </p:tgtEl>
                                        <p:attrNameLst>
                                          <p:attrName>style.visibility</p:attrName>
                                        </p:attrNameLst>
                                      </p:cBhvr>
                                      <p:to>
                                        <p:strVal val="visible"/>
                                      </p:to>
                                    </p:set>
                                  </p:childTnLst>
                                </p:cTn>
                              </p:par>
                              <p:par>
                                <p:cTn id="102" presetID="10" presetClass="exit" presetSubtype="0" fill="hold" nodeType="withEffect">
                                  <p:stCondLst>
                                    <p:cond delay="200"/>
                                  </p:stCondLst>
                                  <p:childTnLst>
                                    <p:animEffect transition="out" filter="fade">
                                      <p:cBhvr>
                                        <p:cTn id="103" dur="500"/>
                                        <p:tgtEl>
                                          <p:spTgt spid="70"/>
                                        </p:tgtEl>
                                      </p:cBhvr>
                                    </p:animEffect>
                                    <p:set>
                                      <p:cBhvr>
                                        <p:cTn id="104" dur="1" fill="hold">
                                          <p:stCondLst>
                                            <p:cond delay="499"/>
                                          </p:stCondLst>
                                        </p:cTn>
                                        <p:tgtEl>
                                          <p:spTgt spid="70"/>
                                        </p:tgtEl>
                                        <p:attrNameLst>
                                          <p:attrName>style.visibility</p:attrName>
                                        </p:attrNameLst>
                                      </p:cBhvr>
                                      <p:to>
                                        <p:strVal val="hidden"/>
                                      </p:to>
                                    </p:set>
                                  </p:childTnLst>
                                </p:cTn>
                              </p:par>
                              <p:par>
                                <p:cTn id="105" presetID="1" presetClass="entr" presetSubtype="0" fill="hold" nodeType="withEffect">
                                  <p:stCondLst>
                                    <p:cond delay="300"/>
                                  </p:stCondLst>
                                  <p:childTnLst>
                                    <p:set>
                                      <p:cBhvr>
                                        <p:cTn id="106" dur="1" fill="hold">
                                          <p:stCondLst>
                                            <p:cond delay="0"/>
                                          </p:stCondLst>
                                        </p:cTn>
                                        <p:tgtEl>
                                          <p:spTgt spid="74"/>
                                        </p:tgtEl>
                                        <p:attrNameLst>
                                          <p:attrName>style.visibility</p:attrName>
                                        </p:attrNameLst>
                                      </p:cBhvr>
                                      <p:to>
                                        <p:strVal val="visible"/>
                                      </p:to>
                                    </p:set>
                                  </p:childTnLst>
                                </p:cTn>
                              </p:par>
                              <p:par>
                                <p:cTn id="107" presetID="10" presetClass="exit" presetSubtype="0" fill="hold" nodeType="withEffect">
                                  <p:stCondLst>
                                    <p:cond delay="300"/>
                                  </p:stCondLst>
                                  <p:childTnLst>
                                    <p:animEffect transition="out" filter="fade">
                                      <p:cBhvr>
                                        <p:cTn id="108" dur="500"/>
                                        <p:tgtEl>
                                          <p:spTgt spid="74"/>
                                        </p:tgtEl>
                                      </p:cBhvr>
                                    </p:animEffect>
                                    <p:set>
                                      <p:cBhvr>
                                        <p:cTn id="109" dur="1" fill="hold">
                                          <p:stCondLst>
                                            <p:cond delay="499"/>
                                          </p:stCondLst>
                                        </p:cTn>
                                        <p:tgtEl>
                                          <p:spTgt spid="74"/>
                                        </p:tgtEl>
                                        <p:attrNameLst>
                                          <p:attrName>style.visibility</p:attrName>
                                        </p:attrNameLst>
                                      </p:cBhvr>
                                      <p:to>
                                        <p:strVal val="hidden"/>
                                      </p:to>
                                    </p:set>
                                  </p:childTnLst>
                                </p:cTn>
                              </p:par>
                              <p:par>
                                <p:cTn id="110" presetID="1" presetClass="entr" presetSubtype="0" fill="hold" nodeType="withEffect">
                                  <p:stCondLst>
                                    <p:cond delay="400"/>
                                  </p:stCondLst>
                                  <p:childTnLst>
                                    <p:set>
                                      <p:cBhvr>
                                        <p:cTn id="111" dur="1" fill="hold">
                                          <p:stCondLst>
                                            <p:cond delay="0"/>
                                          </p:stCondLst>
                                        </p:cTn>
                                        <p:tgtEl>
                                          <p:spTgt spid="78"/>
                                        </p:tgtEl>
                                        <p:attrNameLst>
                                          <p:attrName>style.visibility</p:attrName>
                                        </p:attrNameLst>
                                      </p:cBhvr>
                                      <p:to>
                                        <p:strVal val="visible"/>
                                      </p:to>
                                    </p:set>
                                  </p:childTnLst>
                                </p:cTn>
                              </p:par>
                              <p:par>
                                <p:cTn id="112" presetID="10" presetClass="exit" presetSubtype="0" fill="hold" nodeType="withEffect">
                                  <p:stCondLst>
                                    <p:cond delay="400"/>
                                  </p:stCondLst>
                                  <p:childTnLst>
                                    <p:animEffect transition="out" filter="fade">
                                      <p:cBhvr>
                                        <p:cTn id="113" dur="500"/>
                                        <p:tgtEl>
                                          <p:spTgt spid="78"/>
                                        </p:tgtEl>
                                      </p:cBhvr>
                                    </p:animEffect>
                                    <p:set>
                                      <p:cBhvr>
                                        <p:cTn id="114" dur="1" fill="hold">
                                          <p:stCondLst>
                                            <p:cond delay="499"/>
                                          </p:stCondLst>
                                        </p:cTn>
                                        <p:tgtEl>
                                          <p:spTgt spid="78"/>
                                        </p:tgtEl>
                                        <p:attrNameLst>
                                          <p:attrName>style.visibility</p:attrName>
                                        </p:attrNameLst>
                                      </p:cBhvr>
                                      <p:to>
                                        <p:strVal val="hidden"/>
                                      </p:to>
                                    </p:set>
                                  </p:childTnLst>
                                </p:cTn>
                              </p:par>
                              <p:par>
                                <p:cTn id="115" presetID="1" presetClass="entr" presetSubtype="0" fill="hold" nodeType="withEffect">
                                  <p:stCondLst>
                                    <p:cond delay="500"/>
                                  </p:stCondLst>
                                  <p:childTnLst>
                                    <p:set>
                                      <p:cBhvr>
                                        <p:cTn id="116" dur="1" fill="hold">
                                          <p:stCondLst>
                                            <p:cond delay="0"/>
                                          </p:stCondLst>
                                        </p:cTn>
                                        <p:tgtEl>
                                          <p:spTgt spid="82"/>
                                        </p:tgtEl>
                                        <p:attrNameLst>
                                          <p:attrName>style.visibility</p:attrName>
                                        </p:attrNameLst>
                                      </p:cBhvr>
                                      <p:to>
                                        <p:strVal val="visible"/>
                                      </p:to>
                                    </p:set>
                                  </p:childTnLst>
                                </p:cTn>
                              </p:par>
                              <p:par>
                                <p:cTn id="117" presetID="10" presetClass="exit" presetSubtype="0" fill="hold" nodeType="withEffect">
                                  <p:stCondLst>
                                    <p:cond delay="500"/>
                                  </p:stCondLst>
                                  <p:childTnLst>
                                    <p:animEffect transition="out" filter="fade">
                                      <p:cBhvr>
                                        <p:cTn id="118" dur="500"/>
                                        <p:tgtEl>
                                          <p:spTgt spid="82"/>
                                        </p:tgtEl>
                                      </p:cBhvr>
                                    </p:animEffect>
                                    <p:set>
                                      <p:cBhvr>
                                        <p:cTn id="119" dur="1" fill="hold">
                                          <p:stCondLst>
                                            <p:cond delay="499"/>
                                          </p:stCondLst>
                                        </p:cTn>
                                        <p:tgtEl>
                                          <p:spTgt spid="82"/>
                                        </p:tgtEl>
                                        <p:attrNameLst>
                                          <p:attrName>style.visibility</p:attrName>
                                        </p:attrNameLst>
                                      </p:cBhvr>
                                      <p:to>
                                        <p:strVal val="hidden"/>
                                      </p:to>
                                    </p:set>
                                  </p:childTnLst>
                                </p:cTn>
                              </p:par>
                              <p:par>
                                <p:cTn id="120" presetID="1" presetClass="entr" presetSubtype="0" fill="hold" nodeType="withEffect">
                                  <p:stCondLst>
                                    <p:cond delay="600"/>
                                  </p:stCondLst>
                                  <p:childTnLst>
                                    <p:set>
                                      <p:cBhvr>
                                        <p:cTn id="121" dur="1" fill="hold">
                                          <p:stCondLst>
                                            <p:cond delay="0"/>
                                          </p:stCondLst>
                                        </p:cTn>
                                        <p:tgtEl>
                                          <p:spTgt spid="86"/>
                                        </p:tgtEl>
                                        <p:attrNameLst>
                                          <p:attrName>style.visibility</p:attrName>
                                        </p:attrNameLst>
                                      </p:cBhvr>
                                      <p:to>
                                        <p:strVal val="visible"/>
                                      </p:to>
                                    </p:set>
                                  </p:childTnLst>
                                </p:cTn>
                              </p:par>
                              <p:par>
                                <p:cTn id="122" presetID="10" presetClass="exit" presetSubtype="0" fill="hold" nodeType="withEffect">
                                  <p:stCondLst>
                                    <p:cond delay="600"/>
                                  </p:stCondLst>
                                  <p:childTnLst>
                                    <p:animEffect transition="out" filter="fade">
                                      <p:cBhvr>
                                        <p:cTn id="123" dur="500"/>
                                        <p:tgtEl>
                                          <p:spTgt spid="86"/>
                                        </p:tgtEl>
                                      </p:cBhvr>
                                    </p:animEffect>
                                    <p:set>
                                      <p:cBhvr>
                                        <p:cTn id="124" dur="1" fill="hold">
                                          <p:stCondLst>
                                            <p:cond delay="499"/>
                                          </p:stCondLst>
                                        </p:cTn>
                                        <p:tgtEl>
                                          <p:spTgt spid="86"/>
                                        </p:tgtEl>
                                        <p:attrNameLst>
                                          <p:attrName>style.visibility</p:attrName>
                                        </p:attrNameLst>
                                      </p:cBhvr>
                                      <p:to>
                                        <p:strVal val="hidden"/>
                                      </p:to>
                                    </p:set>
                                  </p:childTnLst>
                                </p:cTn>
                              </p:par>
                              <p:par>
                                <p:cTn id="125" presetID="1" presetClass="entr" presetSubtype="0" fill="hold" nodeType="withEffect">
                                  <p:stCondLst>
                                    <p:cond delay="700"/>
                                  </p:stCondLst>
                                  <p:childTnLst>
                                    <p:set>
                                      <p:cBhvr>
                                        <p:cTn id="126"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5" grpId="0"/>
      <p:bldP spid="116" grpId="0"/>
      <p:bldP spid="116" grpId="1"/>
      <p:bldP spid="117" grpId="0"/>
      <p:bldP spid="117" grpId="1"/>
      <p:bldP spid="11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Smoothing &amp; Accentuating of the </a:t>
            </a:r>
            <a:r>
              <a:rPr lang="en-US" dirty="0" err="1"/>
              <a:t>rIP</a:t>
            </a:r>
            <a:endParaRPr lang="en-US" dirty="0"/>
          </a:p>
        </p:txBody>
      </p:sp>
      <p:grpSp>
        <p:nvGrpSpPr>
          <p:cNvPr id="5" name="offset1"/>
          <p:cNvGrpSpPr/>
          <p:nvPr/>
        </p:nvGrpSpPr>
        <p:grpSpPr>
          <a:xfrm>
            <a:off x="1023239" y="4064769"/>
            <a:ext cx="5395450" cy="0"/>
            <a:chOff x="1871900" y="4064769"/>
            <a:chExt cx="5395450" cy="0"/>
          </a:xfrm>
        </p:grpSpPr>
        <p:cxnSp>
          <p:nvCxnSpPr>
            <p:cNvPr id="6" name="Gerader Verbinder 5"/>
            <p:cNvCxnSpPr/>
            <p:nvPr/>
          </p:nvCxnSpPr>
          <p:spPr>
            <a:xfrm flipH="1">
              <a:off x="1871900"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 name="Gerader Verbinder 6"/>
            <p:cNvCxnSpPr/>
            <p:nvPr/>
          </p:nvCxnSpPr>
          <p:spPr>
            <a:xfrm flipH="1">
              <a:off x="3670525"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flipH="1">
              <a:off x="5467350"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9" name="softmax1"/>
          <p:cNvGrpSpPr/>
          <p:nvPr/>
        </p:nvGrpSpPr>
        <p:grpSpPr>
          <a:xfrm>
            <a:off x="1023239" y="1473200"/>
            <a:ext cx="5402025" cy="3401200"/>
            <a:chOff x="1871900" y="2178800"/>
            <a:chExt cx="5402025" cy="3401200"/>
          </a:xfrm>
        </p:grpSpPr>
        <p:cxnSp>
          <p:nvCxnSpPr>
            <p:cNvPr id="10" name="Gerader Verbinder 9"/>
            <p:cNvCxnSpPr/>
            <p:nvPr/>
          </p:nvCxnSpPr>
          <p:spPr>
            <a:xfrm flipH="1">
              <a:off x="1871900" y="5580000"/>
              <a:ext cx="1800200" cy="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1" name="Gerader Verbinder 10"/>
            <p:cNvCxnSpPr/>
            <p:nvPr/>
          </p:nvCxnSpPr>
          <p:spPr>
            <a:xfrm flipV="1">
              <a:off x="3672100" y="5436000"/>
              <a:ext cx="1800000" cy="14400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flipH="1">
              <a:off x="5472100" y="2178800"/>
              <a:ext cx="1801825" cy="325720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14" name="Textfeld 13"/>
          <p:cNvSpPr txBox="1"/>
          <p:nvPr/>
        </p:nvSpPr>
        <p:spPr>
          <a:xfrm>
            <a:off x="728667" y="5154999"/>
            <a:ext cx="593432"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GMBH</a:t>
            </a:r>
          </a:p>
        </p:txBody>
      </p:sp>
      <p:sp>
        <p:nvSpPr>
          <p:cNvPr id="15" name="Textfeld 14"/>
          <p:cNvSpPr txBox="1"/>
          <p:nvPr/>
        </p:nvSpPr>
        <p:spPr>
          <a:xfrm>
            <a:off x="2466416" y="5154999"/>
            <a:ext cx="729495"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TECHNIK</a:t>
            </a:r>
          </a:p>
        </p:txBody>
      </p:sp>
      <p:sp>
        <p:nvSpPr>
          <p:cNvPr id="16" name="Textfeld 15"/>
          <p:cNvSpPr txBox="1"/>
          <p:nvPr/>
        </p:nvSpPr>
        <p:spPr>
          <a:xfrm>
            <a:off x="4143973" y="5154999"/>
            <a:ext cx="98277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FORSCHUNG</a:t>
            </a:r>
          </a:p>
        </p:txBody>
      </p:sp>
      <p:sp>
        <p:nvSpPr>
          <p:cNvPr id="17" name="Textfeld 16"/>
          <p:cNvSpPr txBox="1"/>
          <p:nvPr/>
        </p:nvSpPr>
        <p:spPr>
          <a:xfrm>
            <a:off x="6166927" y="5154999"/>
            <a:ext cx="53572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BMW</a:t>
            </a:r>
          </a:p>
        </p:txBody>
      </p:sp>
      <p:grpSp>
        <p:nvGrpSpPr>
          <p:cNvPr id="18" name="Gruppieren 17"/>
          <p:cNvGrpSpPr/>
          <p:nvPr/>
        </p:nvGrpSpPr>
        <p:grpSpPr>
          <a:xfrm>
            <a:off x="699003" y="4031597"/>
            <a:ext cx="72008" cy="981579"/>
            <a:chOff x="1547664" y="4031597"/>
            <a:chExt cx="72008" cy="981579"/>
          </a:xfrm>
        </p:grpSpPr>
        <p:cxnSp>
          <p:nvCxnSpPr>
            <p:cNvPr id="19" name="Gerader Verbinder 18"/>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1" name="Gerader Verbinder 20"/>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2" name="Gruppieren 21"/>
          <p:cNvGrpSpPr/>
          <p:nvPr/>
        </p:nvGrpSpPr>
        <p:grpSpPr>
          <a:xfrm>
            <a:off x="698091" y="3050018"/>
            <a:ext cx="72008" cy="981579"/>
            <a:chOff x="1547664" y="4031597"/>
            <a:chExt cx="72008" cy="981579"/>
          </a:xfrm>
        </p:grpSpPr>
        <p:cxnSp>
          <p:nvCxnSpPr>
            <p:cNvPr id="23" name="Gerader Verbinder 22"/>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4" name="Gerader Verbinder 23"/>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5" name="Gerader Verbinder 24"/>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6" name="Gruppieren 25"/>
          <p:cNvGrpSpPr/>
          <p:nvPr/>
        </p:nvGrpSpPr>
        <p:grpSpPr>
          <a:xfrm>
            <a:off x="698091" y="2070680"/>
            <a:ext cx="72008" cy="981579"/>
            <a:chOff x="1547664" y="4031597"/>
            <a:chExt cx="72008" cy="981579"/>
          </a:xfrm>
        </p:grpSpPr>
        <p:cxnSp>
          <p:nvCxnSpPr>
            <p:cNvPr id="27" name="Gerader Verbinder 26"/>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 name="Gerader Verbinder 27"/>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 name="Gerader Verbinder 28"/>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0" name="Gruppieren 29"/>
          <p:cNvGrpSpPr/>
          <p:nvPr/>
        </p:nvGrpSpPr>
        <p:grpSpPr>
          <a:xfrm>
            <a:off x="698091" y="1089101"/>
            <a:ext cx="72008" cy="981579"/>
            <a:chOff x="1547664" y="4031597"/>
            <a:chExt cx="72008" cy="981579"/>
          </a:xfrm>
        </p:grpSpPr>
        <p:cxnSp>
          <p:nvCxnSpPr>
            <p:cNvPr id="31" name="Gerader Verbinder 30"/>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 name="Gerader Verbinder 31"/>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 name="Gerader Verbinder 32"/>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34" name="Textfeld 33"/>
          <p:cNvSpPr txBox="1"/>
          <p:nvPr/>
        </p:nvSpPr>
        <p:spPr>
          <a:xfrm>
            <a:off x="488028" y="4878000"/>
            <a:ext cx="26321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0</a:t>
            </a:r>
          </a:p>
        </p:txBody>
      </p:sp>
      <p:sp>
        <p:nvSpPr>
          <p:cNvPr id="35" name="Textfeld 34"/>
          <p:cNvSpPr txBox="1"/>
          <p:nvPr/>
        </p:nvSpPr>
        <p:spPr>
          <a:xfrm>
            <a:off x="429251" y="3897927"/>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25</a:t>
            </a:r>
          </a:p>
        </p:txBody>
      </p:sp>
      <p:sp>
        <p:nvSpPr>
          <p:cNvPr id="36" name="Textfeld 35"/>
          <p:cNvSpPr txBox="1"/>
          <p:nvPr/>
        </p:nvSpPr>
        <p:spPr>
          <a:xfrm>
            <a:off x="409482" y="2911518"/>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50</a:t>
            </a:r>
          </a:p>
        </p:txBody>
      </p:sp>
      <p:sp>
        <p:nvSpPr>
          <p:cNvPr id="37" name="Textfeld 36"/>
          <p:cNvSpPr txBox="1"/>
          <p:nvPr/>
        </p:nvSpPr>
        <p:spPr>
          <a:xfrm>
            <a:off x="428339" y="1936750"/>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75</a:t>
            </a:r>
          </a:p>
        </p:txBody>
      </p:sp>
      <p:sp>
        <p:nvSpPr>
          <p:cNvPr id="38" name="Textfeld 37"/>
          <p:cNvSpPr txBox="1"/>
          <p:nvPr/>
        </p:nvSpPr>
        <p:spPr>
          <a:xfrm>
            <a:off x="349791" y="950601"/>
            <a:ext cx="420308"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100</a:t>
            </a:r>
          </a:p>
        </p:txBody>
      </p:sp>
      <p:sp>
        <p:nvSpPr>
          <p:cNvPr id="39" name="base"/>
          <p:cNvSpPr txBox="1"/>
          <p:nvPr/>
        </p:nvSpPr>
        <p:spPr>
          <a:xfrm>
            <a:off x="6531651" y="2027644"/>
            <a:ext cx="476412"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base</a:t>
            </a:r>
          </a:p>
        </p:txBody>
      </p:sp>
      <p:sp>
        <p:nvSpPr>
          <p:cNvPr id="40" name="log"/>
          <p:cNvSpPr txBox="1"/>
          <p:nvPr/>
        </p:nvSpPr>
        <p:spPr>
          <a:xfrm>
            <a:off x="6531651" y="2768256"/>
            <a:ext cx="373820"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log</a:t>
            </a:r>
          </a:p>
        </p:txBody>
      </p:sp>
      <p:sp>
        <p:nvSpPr>
          <p:cNvPr id="41" name="softmax"/>
          <p:cNvSpPr txBox="1"/>
          <p:nvPr/>
        </p:nvSpPr>
        <p:spPr>
          <a:xfrm>
            <a:off x="6528476" y="1302851"/>
            <a:ext cx="914225" cy="276999"/>
          </a:xfrm>
          <a:prstGeom prst="rect">
            <a:avLst/>
          </a:prstGeom>
          <a:noFill/>
          <a:ln w="12700">
            <a:noFill/>
          </a:ln>
        </p:spPr>
        <p:txBody>
          <a:bodyPr wrap="none" rtlCol="0">
            <a:spAutoFit/>
          </a:bodyPr>
          <a:lstStyle/>
          <a:p>
            <a:r>
              <a:rPr lang="en-US" sz="1200" dirty="0" err="1" smtClean="0">
                <a:solidFill>
                  <a:srgbClr val="00AAE5"/>
                </a:solidFill>
                <a:latin typeface="Calibri" panose="020F0502020204030204" pitchFamily="34" charset="0"/>
              </a:rPr>
              <a:t>softmax</a:t>
            </a:r>
            <a:r>
              <a:rPr lang="en-US" sz="1200" dirty="0" smtClean="0">
                <a:solidFill>
                  <a:srgbClr val="00AAE5"/>
                </a:solidFill>
                <a:latin typeface="Calibri" panose="020F0502020204030204" pitchFamily="34" charset="0"/>
              </a:rPr>
              <a:t> = 4</a:t>
            </a:r>
          </a:p>
        </p:txBody>
      </p:sp>
      <p:sp>
        <p:nvSpPr>
          <p:cNvPr id="42" name="offset"/>
          <p:cNvSpPr txBox="1"/>
          <p:nvPr/>
        </p:nvSpPr>
        <p:spPr>
          <a:xfrm>
            <a:off x="6531651" y="3919438"/>
            <a:ext cx="1287981" cy="276999"/>
          </a:xfrm>
          <a:prstGeom prst="rect">
            <a:avLst/>
          </a:prstGeom>
          <a:noFill/>
          <a:ln w="12700">
            <a:noFill/>
          </a:ln>
        </p:spPr>
        <p:txBody>
          <a:bodyPr wrap="none" rtlCol="0">
            <a:spAutoFit/>
          </a:bodyPr>
          <a:lstStyle/>
          <a:p>
            <a:r>
              <a:rPr lang="en-US" sz="1200" dirty="0">
                <a:solidFill>
                  <a:srgbClr val="00AAE5"/>
                </a:solidFill>
                <a:latin typeface="Calibri" panose="020F0502020204030204" pitchFamily="34" charset="0"/>
              </a:rPr>
              <a:t>o</a:t>
            </a:r>
            <a:r>
              <a:rPr lang="en-US" sz="1200" dirty="0" smtClean="0">
                <a:solidFill>
                  <a:srgbClr val="00AAE5"/>
                </a:solidFill>
                <a:latin typeface="Calibri" panose="020F0502020204030204" pitchFamily="34" charset="0"/>
              </a:rPr>
              <a:t>ffset = -9999999</a:t>
            </a:r>
          </a:p>
        </p:txBody>
      </p:sp>
      <p:grpSp>
        <p:nvGrpSpPr>
          <p:cNvPr id="43" name="log1"/>
          <p:cNvGrpSpPr/>
          <p:nvPr/>
        </p:nvGrpSpPr>
        <p:grpSpPr>
          <a:xfrm>
            <a:off x="1023239" y="2916000"/>
            <a:ext cx="5410072" cy="1800000"/>
            <a:chOff x="1871900" y="3621600"/>
            <a:chExt cx="5410072" cy="1800000"/>
          </a:xfrm>
        </p:grpSpPr>
        <p:cxnSp>
          <p:nvCxnSpPr>
            <p:cNvPr id="44" name="Gerader Verbinder 43"/>
            <p:cNvCxnSpPr/>
            <p:nvPr/>
          </p:nvCxnSpPr>
          <p:spPr>
            <a:xfrm>
              <a:off x="1871900" y="5421600"/>
              <a:ext cx="1800200" cy="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5" name="Gerader Verbinder 44"/>
            <p:cNvCxnSpPr/>
            <p:nvPr/>
          </p:nvCxnSpPr>
          <p:spPr>
            <a:xfrm flipH="1">
              <a:off x="3672100" y="3924000"/>
              <a:ext cx="1800000" cy="149760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6" name="Gerader Verbinder 45"/>
            <p:cNvCxnSpPr/>
            <p:nvPr/>
          </p:nvCxnSpPr>
          <p:spPr>
            <a:xfrm flipH="1">
              <a:off x="5470525" y="3621600"/>
              <a:ext cx="1811447" cy="30345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7" name="base1"/>
          <p:cNvGrpSpPr/>
          <p:nvPr/>
        </p:nvGrpSpPr>
        <p:grpSpPr>
          <a:xfrm>
            <a:off x="1023239" y="2174400"/>
            <a:ext cx="5400200" cy="2775680"/>
            <a:chOff x="1871900" y="2174400"/>
            <a:chExt cx="5400200" cy="2775680"/>
          </a:xfrm>
        </p:grpSpPr>
        <p:cxnSp>
          <p:nvCxnSpPr>
            <p:cNvPr id="48" name="Gerader Verbinder 47"/>
            <p:cNvCxnSpPr/>
            <p:nvPr/>
          </p:nvCxnSpPr>
          <p:spPr>
            <a:xfrm flipV="1">
              <a:off x="5472100" y="2174400"/>
              <a:ext cx="1800000" cy="19944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flipV="1">
              <a:off x="3672100" y="4168800"/>
              <a:ext cx="1800000" cy="709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0" name="Gerader Verbinder 49"/>
            <p:cNvCxnSpPr/>
            <p:nvPr/>
          </p:nvCxnSpPr>
          <p:spPr>
            <a:xfrm flipH="1">
              <a:off x="1871900" y="4888880"/>
              <a:ext cx="1800200" cy="612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grpSp>
      <p:sp>
        <p:nvSpPr>
          <p:cNvPr id="51" name="Textfeld 50"/>
          <p:cNvSpPr txBox="1"/>
          <p:nvPr/>
        </p:nvSpPr>
        <p:spPr>
          <a:xfrm>
            <a:off x="7733023" y="2027644"/>
            <a:ext cx="2111091" cy="276999"/>
          </a:xfrm>
          <a:prstGeom prst="rect">
            <a:avLst/>
          </a:prstGeom>
          <a:noFill/>
        </p:spPr>
        <p:txBody>
          <a:bodyPr wrap="none" rtlCol="0">
            <a:spAutoFit/>
          </a:bodyPr>
          <a:lstStyle/>
          <a:p>
            <a:r>
              <a:rPr lang="en-US" sz="1200" dirty="0" smtClean="0"/>
              <a:t>high recall, moderate precision</a:t>
            </a:r>
            <a:endParaRPr lang="en-US" sz="1200" dirty="0"/>
          </a:p>
        </p:txBody>
      </p:sp>
      <p:sp>
        <p:nvSpPr>
          <p:cNvPr id="52" name="Textfeld 51"/>
          <p:cNvSpPr txBox="1"/>
          <p:nvPr/>
        </p:nvSpPr>
        <p:spPr>
          <a:xfrm>
            <a:off x="7733023" y="2768256"/>
            <a:ext cx="2111091" cy="276999"/>
          </a:xfrm>
          <a:prstGeom prst="rect">
            <a:avLst/>
          </a:prstGeom>
          <a:noFill/>
        </p:spPr>
        <p:txBody>
          <a:bodyPr wrap="none" rtlCol="0">
            <a:spAutoFit/>
          </a:bodyPr>
          <a:lstStyle/>
          <a:p>
            <a:r>
              <a:rPr lang="en-US" sz="1200" dirty="0" smtClean="0"/>
              <a:t>high precision, moderate recall</a:t>
            </a:r>
            <a:endParaRPr lang="en-US" sz="1200" dirty="0"/>
          </a:p>
        </p:txBody>
      </p:sp>
      <mc:AlternateContent xmlns:mc="http://schemas.openxmlformats.org/markup-compatibility/2006" xmlns:a14="http://schemas.microsoft.com/office/drawing/2010/main">
        <mc:Choice Requires="a14">
          <p:sp>
            <p:nvSpPr>
              <p:cNvPr id="53" name="Textfeld 52"/>
              <p:cNvSpPr txBox="1"/>
              <p:nvPr/>
            </p:nvSpPr>
            <p:spPr>
              <a:xfrm>
                <a:off x="7733023" y="1302851"/>
                <a:ext cx="3557962" cy="830997"/>
              </a:xfrm>
              <a:prstGeom prst="rect">
                <a:avLst/>
              </a:prstGeom>
              <a:noFill/>
            </p:spPr>
            <p:txBody>
              <a:bodyPr wrap="none" rtlCol="0">
                <a:spAutoFit/>
              </a:bodyPr>
              <a:lstStyle/>
              <a:p>
                <a:r>
                  <a:rPr lang="en-US" sz="1200" dirty="0" smtClean="0"/>
                  <a:t>experimental, keyword clustering for abstracts &amp; </a:t>
                </a:r>
                <a:r>
                  <a:rPr lang="en-US" sz="1200" dirty="0"/>
                  <a:t>titles</a:t>
                </a:r>
                <a:br>
                  <a:rPr lang="en-US" sz="1200" dirty="0"/>
                </a:br>
                <a:r>
                  <a:rPr lang="en-US" sz="1200" dirty="0"/>
                  <a:t>0 </a:t>
                </a:r>
                <a:r>
                  <a:rPr lang="en-US" sz="1200" dirty="0" smtClean="0"/>
                  <a:t>&lt; 𝑠𝑜𝑓𝑡𝑚𝑎𝑥 ≤ 1.5 </a:t>
                </a:r>
                <a:r>
                  <a:rPr lang="en-US" sz="1200" dirty="0"/>
                  <a:t>: </a:t>
                </a:r>
                <a:r>
                  <a:rPr lang="en-US" sz="1200" dirty="0" smtClean="0"/>
                  <a:t>smoothing (</a:t>
                </a:r>
                <a14:m>
                  <m:oMath xmlns:m="http://schemas.openxmlformats.org/officeDocument/2006/math">
                    <m:r>
                      <a:rPr lang="de-DE" sz="1200" b="0" i="0" smtClean="0">
                        <a:latin typeface="Cambria Math" panose="02040503050406030204" pitchFamily="18" charset="0"/>
                        <a:ea typeface="Cambria Math" panose="02040503050406030204" pitchFamily="18" charset="0"/>
                      </a:rPr>
                      <m:t>0.5</m:t>
                    </m:r>
                    <m:r>
                      <a:rPr lang="en-US" sz="1200" i="1" smtClean="0">
                        <a:latin typeface="Cambria Math" panose="02040503050406030204" pitchFamily="18" charset="0"/>
                        <a:ea typeface="Cambria Math" panose="02040503050406030204" pitchFamily="18" charset="0"/>
                      </a:rPr>
                      <m:t>≈</m:t>
                    </m:r>
                  </m:oMath>
                </a14:m>
                <a:r>
                  <a:rPr lang="en-US" sz="1200" dirty="0" smtClean="0"/>
                  <a:t> log) </a:t>
                </a:r>
                <a:endParaRPr lang="en-US" sz="1200" dirty="0"/>
              </a:p>
              <a:p>
                <a:r>
                  <a:rPr lang="en-US" sz="1200" dirty="0" smtClean="0"/>
                  <a:t>1.5 </a:t>
                </a:r>
                <a:r>
                  <a:rPr lang="en-US" sz="1200" dirty="0"/>
                  <a:t>&lt; 𝑠𝑜𝑓𝑡𝑚𝑎𝑥 </a:t>
                </a:r>
                <a:r>
                  <a:rPr lang="en-US" sz="1200" dirty="0" smtClean="0"/>
                  <a:t>≤ 30 </a:t>
                </a:r>
                <a:r>
                  <a:rPr lang="en-US" sz="1200" dirty="0"/>
                  <a:t>: accentuating</a:t>
                </a:r>
              </a:p>
              <a:p>
                <a:endParaRPr lang="en-US" sz="1200" dirty="0"/>
              </a:p>
            </p:txBody>
          </p:sp>
        </mc:Choice>
        <mc:Fallback xmlns="">
          <p:sp>
            <p:nvSpPr>
              <p:cNvPr id="53" name="Textfeld 52"/>
              <p:cNvSpPr txBox="1">
                <a:spLocks noRot="1" noChangeAspect="1" noMove="1" noResize="1" noEditPoints="1" noAdjustHandles="1" noChangeArrowheads="1" noChangeShapeType="1" noTextEdit="1"/>
              </p:cNvSpPr>
              <p:nvPr/>
            </p:nvSpPr>
            <p:spPr>
              <a:xfrm>
                <a:off x="7733023" y="1302851"/>
                <a:ext cx="3557962" cy="830997"/>
              </a:xfrm>
              <a:prstGeom prst="rect">
                <a:avLst/>
              </a:prstGeom>
              <a:blipFill rotWithShape="0">
                <a:blip r:embed="rId2"/>
                <a:stretch>
                  <a:fillRect l="-172" t="-735"/>
                </a:stretch>
              </a:blipFill>
            </p:spPr>
            <p:txBody>
              <a:bodyPr/>
              <a:lstStyle/>
              <a:p>
                <a:r>
                  <a:rPr lang="en-US">
                    <a:noFill/>
                  </a:rPr>
                  <a:t> </a:t>
                </a:r>
              </a:p>
            </p:txBody>
          </p:sp>
        </mc:Fallback>
      </mc:AlternateContent>
      <p:sp>
        <p:nvSpPr>
          <p:cNvPr id="54" name="Textfeld 53"/>
          <p:cNvSpPr txBox="1"/>
          <p:nvPr/>
        </p:nvSpPr>
        <p:spPr>
          <a:xfrm>
            <a:off x="7733023" y="3919438"/>
            <a:ext cx="3790974" cy="276999"/>
          </a:xfrm>
          <a:prstGeom prst="rect">
            <a:avLst/>
          </a:prstGeom>
          <a:noFill/>
        </p:spPr>
        <p:txBody>
          <a:bodyPr wrap="none" rtlCol="0">
            <a:spAutoFit/>
          </a:bodyPr>
          <a:lstStyle/>
          <a:p>
            <a:r>
              <a:rPr lang="en-US" sz="1200" dirty="0" smtClean="0"/>
              <a:t>transformation into word based heuristic, outdated by log</a:t>
            </a:r>
            <a:endParaRPr lang="en-US" sz="1200"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19</a:t>
            </a:fld>
            <a:endParaRPr lang="en-US" dirty="0"/>
          </a:p>
        </p:txBody>
      </p:sp>
    </p:spTree>
    <p:extLst>
      <p:ext uri="{BB962C8B-B14F-4D97-AF65-F5344CB8AC3E}">
        <p14:creationId xmlns:p14="http://schemas.microsoft.com/office/powerpoint/2010/main" val="429380883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87967"/>
            <a:ext cx="12192000" cy="482773"/>
          </a:xfrm>
        </p:spPr>
        <p:txBody>
          <a:bodyPr/>
          <a:lstStyle/>
          <a:p>
            <a:r>
              <a:rPr lang="en-US" dirty="0" smtClean="0">
                <a:solidFill>
                  <a:srgbClr val="00AAE5"/>
                </a:solidFill>
              </a:rPr>
              <a:t>3-Gram</a:t>
            </a:r>
            <a:r>
              <a:rPr lang="en-US" dirty="0" smtClean="0"/>
              <a:t> Search for “</a:t>
            </a:r>
            <a:r>
              <a:rPr lang="en-US" dirty="0" err="1" smtClean="0"/>
              <a:t>Blaupause</a:t>
            </a:r>
            <a:r>
              <a:rPr lang="en-US" dirty="0" smtClean="0"/>
              <a:t>” with Log-Smoothing </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20</a:t>
            </a:fld>
            <a:endParaRPr lang="en-US" dirty="0"/>
          </a:p>
        </p:txBody>
      </p:sp>
      <p:graphicFrame>
        <p:nvGraphicFramePr>
          <p:cNvPr id="7" name="Tabelle 6"/>
          <p:cNvGraphicFramePr>
            <a:graphicFrameLocks noGrp="1"/>
          </p:cNvGraphicFramePr>
          <p:nvPr>
            <p:extLst>
              <p:ext uri="{D42A27DB-BD31-4B8C-83A1-F6EECF244321}">
                <p14:modId xmlns:p14="http://schemas.microsoft.com/office/powerpoint/2010/main" val="4161469262"/>
              </p:ext>
            </p:extLst>
          </p:nvPr>
        </p:nvGraphicFramePr>
        <p:xfrm>
          <a:off x="180000" y="612000"/>
          <a:ext cx="5892800" cy="3810000"/>
        </p:xfrm>
        <a:graphic>
          <a:graphicData uri="http://schemas.openxmlformats.org/drawingml/2006/table">
            <a:tbl>
              <a:tblPr/>
              <a:tblGrid>
                <a:gridCol w="533113"/>
                <a:gridCol w="5359687"/>
              </a:tblGrid>
              <a:tr h="190500">
                <a:tc>
                  <a:txBody>
                    <a:bodyPr/>
                    <a:lstStyle/>
                    <a:p>
                      <a:pPr algn="l"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smtClean="0">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Bootsbau GmbH</a:t>
                      </a:r>
                    </a:p>
                  </a:txBody>
                  <a:tcPr marL="9525" marR="9525" marT="9525"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Projekt Blaupause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Alexander Schilder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e.V. - mobile und flexible Hilfen für Menschen mit einer Alkoholerkrankung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 Initiative für mentale Gesundheit im Gesundheitswesen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9525" marR="9525" marT="9525"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Jens Naumann Jan Welsch Blaupause GbR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Agentur Blaupause 36 UG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83.54</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83.54</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9525" marR="9525" marT="9525" marB="0" anchor="b">
                    <a:lnL>
                      <a:noFill/>
                    </a:lnL>
                    <a:lnR>
                      <a:noFill/>
                    </a:lnR>
                    <a:lnT>
                      <a:noFill/>
                    </a:lnT>
                    <a:lnB>
                      <a:noFill/>
                    </a:lnB>
                  </a:tcPr>
                </a:tc>
              </a:tr>
            </a:tbl>
          </a:graphicData>
        </a:graphic>
      </p:graphicFrame>
      <p:graphicFrame>
        <p:nvGraphicFramePr>
          <p:cNvPr id="8" name="Tabelle 7"/>
          <p:cNvGraphicFramePr>
            <a:graphicFrameLocks noGrp="1"/>
          </p:cNvGraphicFramePr>
          <p:nvPr>
            <p:extLst>
              <p:ext uri="{D42A27DB-BD31-4B8C-83A1-F6EECF244321}">
                <p14:modId xmlns:p14="http://schemas.microsoft.com/office/powerpoint/2010/main" val="1311284189"/>
              </p:ext>
            </p:extLst>
          </p:nvPr>
        </p:nvGraphicFramePr>
        <p:xfrm>
          <a:off x="5936563" y="612000"/>
          <a:ext cx="6012000" cy="3810000"/>
        </p:xfrm>
        <a:graphic>
          <a:graphicData uri="http://schemas.openxmlformats.org/drawingml/2006/table">
            <a:tbl>
              <a:tblPr/>
              <a:tblGrid>
                <a:gridCol w="612000"/>
                <a:gridCol w="5400000"/>
              </a:tblGrid>
              <a:tr h="1905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0"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72000" marR="72000" marT="0"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72000" marR="72000" marT="0" marB="0" anchor="b">
                    <a:lnL>
                      <a:noFill/>
                    </a:lnL>
                    <a:lnR>
                      <a:noFill/>
                    </a:lnR>
                    <a:lnT>
                      <a:noFill/>
                    </a:lnT>
                    <a:lnB>
                      <a:noFill/>
                    </a:lnB>
                  </a:tcPr>
                </a:tc>
              </a:tr>
            </a:tbl>
          </a:graphicData>
        </a:graphic>
      </p:graphicFrame>
      <p:sp>
        <p:nvSpPr>
          <p:cNvPr id="9" name="Rechteck 8"/>
          <p:cNvSpPr/>
          <p:nvPr/>
        </p:nvSpPr>
        <p:spPr>
          <a:xfrm>
            <a:off x="6467456" y="84743"/>
            <a:ext cx="2043060" cy="461665"/>
          </a:xfrm>
          <a:prstGeom prst="rect">
            <a:avLst/>
          </a:prstGeom>
        </p:spPr>
        <p:txBody>
          <a:bodyPr wrap="none">
            <a:spAutoFit/>
          </a:bodyPr>
          <a:lstStyle/>
          <a:p>
            <a:r>
              <a:rPr lang="en-US" sz="2400" dirty="0">
                <a:solidFill>
                  <a:srgbClr val="00B0F0"/>
                </a:solidFill>
              </a:rPr>
              <a:t>vs. Refinement</a:t>
            </a:r>
          </a:p>
        </p:txBody>
      </p:sp>
      <p:sp>
        <p:nvSpPr>
          <p:cNvPr id="10" name="Textfeld 9"/>
          <p:cNvSpPr txBox="1"/>
          <p:nvPr/>
        </p:nvSpPr>
        <p:spPr>
          <a:xfrm>
            <a:off x="1191004" y="4952010"/>
            <a:ext cx="9809993" cy="738664"/>
          </a:xfrm>
          <a:prstGeom prst="rect">
            <a:avLst/>
          </a:prstGeom>
          <a:noFill/>
        </p:spPr>
        <p:txBody>
          <a:bodyPr wrap="none" rtlCol="0">
            <a:spAutoFit/>
          </a:bodyPr>
          <a:lstStyle/>
          <a:p>
            <a:r>
              <a:rPr lang="en-US" sz="1400" dirty="0" smtClean="0"/>
              <a:t>Why should “UPA” be much more relevant then “BLA”? Log-smoothing </a:t>
            </a:r>
            <a:r>
              <a:rPr lang="en-US" sz="1400" dirty="0"/>
              <a:t>suppresses the undeserved dominance of specific n-grams</a:t>
            </a:r>
            <a:r>
              <a:rPr lang="en-US" sz="1400" dirty="0" smtClean="0"/>
              <a:t>.</a:t>
            </a:r>
          </a:p>
          <a:p>
            <a:r>
              <a:rPr lang="en-US" sz="1400" dirty="0" smtClean="0"/>
              <a:t>Still, refinement should always be engaged for n-grams because the </a:t>
            </a:r>
            <a:r>
              <a:rPr lang="en-US" sz="1400" dirty="0" err="1" smtClean="0"/>
              <a:t>SearchEngine</a:t>
            </a:r>
            <a:r>
              <a:rPr lang="en-US" sz="1400" dirty="0" smtClean="0"/>
              <a:t> notoriously disregards positioning.</a:t>
            </a:r>
            <a:br>
              <a:rPr lang="en-US" sz="1400" dirty="0" smtClean="0"/>
            </a:br>
            <a:r>
              <a:rPr lang="en-US" sz="1400" dirty="0" smtClean="0"/>
              <a:t>N-grams with and without smoothing complement each other, hence alternate both in dedicated search runs for best effect.</a:t>
            </a:r>
            <a:endParaRPr lang="en-US" sz="1400" dirty="0"/>
          </a:p>
        </p:txBody>
      </p:sp>
    </p:spTree>
    <p:extLst>
      <p:ext uri="{BB962C8B-B14F-4D97-AF65-F5344CB8AC3E}">
        <p14:creationId xmlns:p14="http://schemas.microsoft.com/office/powerpoint/2010/main" val="1758751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childTnLst>
                          </p:cTn>
                        </p:par>
                        <p:par>
                          <p:cTn id="11" fill="hold">
                            <p:stCondLst>
                              <p:cond delay="500"/>
                            </p:stCondLst>
                            <p:childTnLst>
                              <p:par>
                                <p:cTn id="12" presetID="22" presetClass="entr" presetSubtype="1" fill="hold" grpId="0" nodeType="after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up)">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8" name="Gruppieren 247"/>
          <p:cNvGrpSpPr/>
          <p:nvPr/>
        </p:nvGrpSpPr>
        <p:grpSpPr>
          <a:xfrm>
            <a:off x="10362930" y="1401106"/>
            <a:ext cx="1103796" cy="3814936"/>
            <a:chOff x="635236" y="1401106"/>
            <a:chExt cx="1103796" cy="3814936"/>
          </a:xfrm>
        </p:grpSpPr>
        <p:cxnSp>
          <p:nvCxnSpPr>
            <p:cNvPr id="15" name="Gerade Verbindung mit Pfeil 14"/>
            <p:cNvCxnSpPr>
              <a:stCxn id="200" idx="3"/>
              <a:endCxn id="177" idx="1"/>
            </p:cNvCxnSpPr>
            <p:nvPr/>
          </p:nvCxnSpPr>
          <p:spPr>
            <a:xfrm>
              <a:off x="635236" y="4542818"/>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6" name="Gerade Verbindung mit Pfeil 15"/>
            <p:cNvCxnSpPr>
              <a:stCxn id="200" idx="3"/>
              <a:endCxn id="174" idx="1"/>
            </p:cNvCxnSpPr>
            <p:nvPr/>
          </p:nvCxnSpPr>
          <p:spPr>
            <a:xfrm>
              <a:off x="635236" y="4542818"/>
              <a:ext cx="1103796" cy="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7" name="Gerade Verbindung mit Pfeil 16"/>
            <p:cNvCxnSpPr>
              <a:stCxn id="200" idx="3"/>
              <a:endCxn id="175" idx="1"/>
            </p:cNvCxnSpPr>
            <p:nvPr/>
          </p:nvCxnSpPr>
          <p:spPr>
            <a:xfrm>
              <a:off x="635236" y="4542818"/>
              <a:ext cx="1103796" cy="22440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8" name="Gerade Verbindung mit Pfeil 17"/>
            <p:cNvCxnSpPr>
              <a:stCxn id="200" idx="3"/>
              <a:endCxn id="176" idx="1"/>
            </p:cNvCxnSpPr>
            <p:nvPr/>
          </p:nvCxnSpPr>
          <p:spPr>
            <a:xfrm>
              <a:off x="635236" y="4542818"/>
              <a:ext cx="1103796" cy="44881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9" name="Gerade Verbindung mit Pfeil 18"/>
            <p:cNvCxnSpPr>
              <a:stCxn id="200" idx="3"/>
            </p:cNvCxnSpPr>
            <p:nvPr/>
          </p:nvCxnSpPr>
          <p:spPr>
            <a:xfrm flipV="1">
              <a:off x="635236" y="1849922"/>
              <a:ext cx="1095358" cy="269289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0" name="Gerade Verbindung mit Pfeil 229"/>
            <p:cNvCxnSpPr>
              <a:stCxn id="200" idx="3"/>
              <a:endCxn id="163" idx="1"/>
            </p:cNvCxnSpPr>
            <p:nvPr/>
          </p:nvCxnSpPr>
          <p:spPr>
            <a:xfrm flipV="1">
              <a:off x="635236" y="2074330"/>
              <a:ext cx="1103796" cy="246848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2" name="Gerade Verbindung mit Pfeil 231"/>
            <p:cNvCxnSpPr>
              <a:stCxn id="200" idx="3"/>
              <a:endCxn id="160" idx="1"/>
            </p:cNvCxnSpPr>
            <p:nvPr/>
          </p:nvCxnSpPr>
          <p:spPr>
            <a:xfrm flipV="1">
              <a:off x="635236" y="1401106"/>
              <a:ext cx="1103796" cy="314171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4" name="Gerade Verbindung mit Pfeil 233"/>
            <p:cNvCxnSpPr>
              <a:stCxn id="200" idx="3"/>
              <a:endCxn id="164" idx="1"/>
            </p:cNvCxnSpPr>
            <p:nvPr/>
          </p:nvCxnSpPr>
          <p:spPr>
            <a:xfrm flipV="1">
              <a:off x="635236" y="2298738"/>
              <a:ext cx="1103796" cy="224408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6" name="Gerade Verbindung mit Pfeil 235"/>
            <p:cNvCxnSpPr>
              <a:stCxn id="200" idx="3"/>
              <a:endCxn id="165" idx="1"/>
            </p:cNvCxnSpPr>
            <p:nvPr/>
          </p:nvCxnSpPr>
          <p:spPr>
            <a:xfrm flipV="1">
              <a:off x="635236" y="2523146"/>
              <a:ext cx="1103796" cy="201967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8" name="Gerade Verbindung mit Pfeil 237"/>
            <p:cNvCxnSpPr>
              <a:stCxn id="200" idx="3"/>
              <a:endCxn id="166" idx="1"/>
            </p:cNvCxnSpPr>
            <p:nvPr/>
          </p:nvCxnSpPr>
          <p:spPr>
            <a:xfrm flipV="1">
              <a:off x="635236" y="2747554"/>
              <a:ext cx="1103796" cy="179526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0" name="Gerade Verbindung mit Pfeil 239"/>
            <p:cNvCxnSpPr>
              <a:stCxn id="200" idx="3"/>
              <a:endCxn id="168" idx="1"/>
            </p:cNvCxnSpPr>
            <p:nvPr/>
          </p:nvCxnSpPr>
          <p:spPr>
            <a:xfrm flipV="1">
              <a:off x="635236" y="3196370"/>
              <a:ext cx="1103796" cy="134644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2" name="Gerade Verbindung mit Pfeil 241"/>
            <p:cNvCxnSpPr>
              <a:stCxn id="200" idx="3"/>
              <a:endCxn id="169" idx="1"/>
            </p:cNvCxnSpPr>
            <p:nvPr/>
          </p:nvCxnSpPr>
          <p:spPr>
            <a:xfrm flipV="1">
              <a:off x="635236" y="3420778"/>
              <a:ext cx="1103796" cy="112204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4" name="Gerade Verbindung mit Pfeil 243"/>
            <p:cNvCxnSpPr>
              <a:stCxn id="200" idx="3"/>
              <a:endCxn id="171" idx="1"/>
            </p:cNvCxnSpPr>
            <p:nvPr/>
          </p:nvCxnSpPr>
          <p:spPr>
            <a:xfrm flipV="1">
              <a:off x="635236" y="3869594"/>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grpSp>
      <p:sp>
        <p:nvSpPr>
          <p:cNvPr id="5" name="Rechteck 4"/>
          <p:cNvSpPr/>
          <p:nvPr/>
        </p:nvSpPr>
        <p:spPr>
          <a:xfrm>
            <a:off x="0" y="6243484"/>
            <a:ext cx="1406013" cy="6145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RL"/>
          <p:cNvSpPr/>
          <p:nvPr/>
        </p:nvSpPr>
        <p:spPr>
          <a:xfrm rot="5400000" flipH="1">
            <a:off x="223722" y="695631"/>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8" name="DRL"/>
          <p:cNvSpPr/>
          <p:nvPr/>
        </p:nvSpPr>
        <p:spPr>
          <a:xfrm rot="5400000" flipH="1">
            <a:off x="221139" y="692345"/>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cxnSp>
        <p:nvCxnSpPr>
          <p:cNvPr id="9" name="Gerade Verbindung mit Pfeil 8"/>
          <p:cNvCxnSpPr>
            <a:stCxn id="143" idx="3"/>
            <a:endCxn id="116" idx="1"/>
          </p:cNvCxnSpPr>
          <p:nvPr/>
        </p:nvCxnSpPr>
        <p:spPr>
          <a:xfrm flipV="1">
            <a:off x="738724" y="3645186"/>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10" name="Gruppieren 9"/>
          <p:cNvGrpSpPr/>
          <p:nvPr/>
        </p:nvGrpSpPr>
        <p:grpSpPr>
          <a:xfrm>
            <a:off x="10362930" y="4991634"/>
            <a:ext cx="1103796" cy="1122040"/>
            <a:chOff x="635236" y="4991634"/>
            <a:chExt cx="1103796" cy="1122040"/>
          </a:xfrm>
        </p:grpSpPr>
        <p:cxnSp>
          <p:nvCxnSpPr>
            <p:cNvPr id="11" name="Gerade Verbindung mit Pfeil 10"/>
            <p:cNvCxnSpPr>
              <a:stCxn id="202" idx="3"/>
              <a:endCxn id="178" idx="1"/>
            </p:cNvCxnSpPr>
            <p:nvPr/>
          </p:nvCxnSpPr>
          <p:spPr>
            <a:xfrm>
              <a:off x="635236" y="4991634"/>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2" name="Gerade Verbindung mit Pfeil 11"/>
            <p:cNvCxnSpPr>
              <a:stCxn id="202" idx="3"/>
              <a:endCxn id="179" idx="1"/>
            </p:cNvCxnSpPr>
            <p:nvPr/>
          </p:nvCxnSpPr>
          <p:spPr>
            <a:xfrm>
              <a:off x="635236" y="499163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3" name="Gerade Verbindung mit Pfeil 12"/>
            <p:cNvCxnSpPr>
              <a:stCxn id="202" idx="3"/>
              <a:endCxn id="181" idx="1"/>
            </p:cNvCxnSpPr>
            <p:nvPr/>
          </p:nvCxnSpPr>
          <p:spPr>
            <a:xfrm>
              <a:off x="635236" y="499163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cxnSp>
        <p:nvCxnSpPr>
          <p:cNvPr id="20" name="Gerade Verbindung mit Pfeil 19"/>
          <p:cNvCxnSpPr>
            <a:stCxn id="130" idx="3"/>
            <a:endCxn id="105" idx="1"/>
          </p:cNvCxnSpPr>
          <p:nvPr/>
        </p:nvCxnSpPr>
        <p:spPr>
          <a:xfrm>
            <a:off x="738724" y="952290"/>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21" name="Gruppieren 20"/>
          <p:cNvGrpSpPr/>
          <p:nvPr/>
        </p:nvGrpSpPr>
        <p:grpSpPr>
          <a:xfrm>
            <a:off x="738724" y="952290"/>
            <a:ext cx="1103796" cy="1346448"/>
            <a:chOff x="7380312" y="952290"/>
            <a:chExt cx="1103796" cy="1346448"/>
          </a:xfrm>
        </p:grpSpPr>
        <p:cxnSp>
          <p:nvCxnSpPr>
            <p:cNvPr id="22" name="Gerade Verbindung mit Pfeil 21"/>
            <p:cNvCxnSpPr>
              <a:stCxn id="133" idx="3"/>
              <a:endCxn id="104" idx="1"/>
            </p:cNvCxnSpPr>
            <p:nvPr/>
          </p:nvCxnSpPr>
          <p:spPr>
            <a:xfrm flipV="1">
              <a:off x="7380312" y="952290"/>
              <a:ext cx="1103796" cy="673224"/>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23" name="Gerade Verbindung mit Pfeil 22"/>
            <p:cNvCxnSpPr>
              <a:stCxn id="133" idx="3"/>
              <a:endCxn id="110" idx="1"/>
            </p:cNvCxnSpPr>
            <p:nvPr/>
          </p:nvCxnSpPr>
          <p:spPr>
            <a:xfrm>
              <a:off x="7380312" y="1625514"/>
              <a:ext cx="1103796" cy="673224"/>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grpSp>
        <p:nvGrpSpPr>
          <p:cNvPr id="24" name="Gruppieren 23"/>
          <p:cNvGrpSpPr/>
          <p:nvPr/>
        </p:nvGrpSpPr>
        <p:grpSpPr>
          <a:xfrm>
            <a:off x="738724" y="952290"/>
            <a:ext cx="1103796" cy="1570856"/>
            <a:chOff x="7380312" y="952290"/>
            <a:chExt cx="1103796" cy="1570856"/>
          </a:xfrm>
        </p:grpSpPr>
        <p:cxnSp>
          <p:nvCxnSpPr>
            <p:cNvPr id="25" name="Gerade Verbindung mit Pfeil 24"/>
            <p:cNvCxnSpPr>
              <a:stCxn id="137" idx="3"/>
              <a:endCxn id="110" idx="1"/>
            </p:cNvCxnSpPr>
            <p:nvPr/>
          </p:nvCxnSpPr>
          <p:spPr>
            <a:xfrm flipV="1">
              <a:off x="7380312" y="2298738"/>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26" name="Gerade Verbindung mit Pfeil 25"/>
            <p:cNvCxnSpPr>
              <a:stCxn id="137" idx="3"/>
              <a:endCxn id="104" idx="1"/>
            </p:cNvCxnSpPr>
            <p:nvPr/>
          </p:nvCxnSpPr>
          <p:spPr>
            <a:xfrm flipV="1">
              <a:off x="7380312" y="952290"/>
              <a:ext cx="1103796" cy="1570856"/>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cxnSp>
        <p:nvCxnSpPr>
          <p:cNvPr id="27" name="Gerade Verbindung mit Pfeil 26"/>
          <p:cNvCxnSpPr>
            <a:stCxn id="139" idx="3"/>
            <a:endCxn id="114" idx="1"/>
          </p:cNvCxnSpPr>
          <p:nvPr/>
        </p:nvCxnSpPr>
        <p:spPr>
          <a:xfrm>
            <a:off x="738724" y="2971962"/>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28" name="Gruppieren 27"/>
          <p:cNvGrpSpPr/>
          <p:nvPr/>
        </p:nvGrpSpPr>
        <p:grpSpPr>
          <a:xfrm>
            <a:off x="728997" y="3420778"/>
            <a:ext cx="1113523" cy="2462138"/>
            <a:chOff x="7370585" y="3420778"/>
            <a:chExt cx="1113523" cy="2462138"/>
          </a:xfrm>
        </p:grpSpPr>
        <p:cxnSp>
          <p:nvCxnSpPr>
            <p:cNvPr id="29" name="Gerade Verbindung mit Pfeil 28"/>
            <p:cNvCxnSpPr>
              <a:stCxn id="147" idx="3"/>
              <a:endCxn id="115" idx="1"/>
            </p:cNvCxnSpPr>
            <p:nvPr/>
          </p:nvCxnSpPr>
          <p:spPr>
            <a:xfrm flipV="1">
              <a:off x="7380312" y="3420778"/>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30" name="Gerade Verbindung mit Pfeil 29"/>
            <p:cNvCxnSpPr/>
            <p:nvPr/>
          </p:nvCxnSpPr>
          <p:spPr>
            <a:xfrm>
              <a:off x="7370585" y="4767226"/>
              <a:ext cx="1100621" cy="1115690"/>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cxnSp>
        <p:nvCxnSpPr>
          <p:cNvPr id="31" name="Gerade Verbindung mit Pfeil 30"/>
          <p:cNvCxnSpPr>
            <a:stCxn id="129" idx="3"/>
            <a:endCxn id="103" idx="1"/>
          </p:cNvCxnSpPr>
          <p:nvPr/>
        </p:nvCxnSpPr>
        <p:spPr>
          <a:xfrm>
            <a:off x="738724" y="734306"/>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32" name="Gruppieren 31"/>
          <p:cNvGrpSpPr/>
          <p:nvPr/>
        </p:nvGrpSpPr>
        <p:grpSpPr>
          <a:xfrm>
            <a:off x="10362930" y="4094002"/>
            <a:ext cx="1103796" cy="2019672"/>
            <a:chOff x="635236" y="4094002"/>
            <a:chExt cx="1103796" cy="2019672"/>
          </a:xfrm>
        </p:grpSpPr>
        <p:cxnSp>
          <p:nvCxnSpPr>
            <p:cNvPr id="33" name="Gerade Verbindung mit Pfeil 32"/>
            <p:cNvCxnSpPr>
              <a:stCxn id="198" idx="3"/>
              <a:endCxn id="179" idx="1"/>
            </p:cNvCxnSpPr>
            <p:nvPr/>
          </p:nvCxnSpPr>
          <p:spPr>
            <a:xfrm>
              <a:off x="635236" y="4094002"/>
              <a:ext cx="1103796" cy="1570856"/>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4" name="Gerade Verbindung mit Pfeil 33"/>
            <p:cNvCxnSpPr>
              <a:stCxn id="198" idx="3"/>
              <a:endCxn id="181" idx="1"/>
            </p:cNvCxnSpPr>
            <p:nvPr/>
          </p:nvCxnSpPr>
          <p:spPr>
            <a:xfrm>
              <a:off x="635236" y="4094002"/>
              <a:ext cx="1103796" cy="2019672"/>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5" name="Gerade Verbindung mit Pfeil 34"/>
            <p:cNvCxnSpPr>
              <a:stCxn id="198" idx="3"/>
              <a:endCxn id="178" idx="1"/>
            </p:cNvCxnSpPr>
            <p:nvPr/>
          </p:nvCxnSpPr>
          <p:spPr>
            <a:xfrm>
              <a:off x="635236" y="4094002"/>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36" name="Gruppieren 35"/>
          <p:cNvGrpSpPr/>
          <p:nvPr/>
        </p:nvGrpSpPr>
        <p:grpSpPr>
          <a:xfrm>
            <a:off x="10362930" y="734306"/>
            <a:ext cx="1103796" cy="2462064"/>
            <a:chOff x="635236" y="734306"/>
            <a:chExt cx="1103796" cy="2462064"/>
          </a:xfrm>
        </p:grpSpPr>
        <p:cxnSp>
          <p:nvCxnSpPr>
            <p:cNvPr id="37" name="Gerade Verbindung mit Pfeil 36"/>
            <p:cNvCxnSpPr>
              <a:stCxn id="184" idx="3"/>
              <a:endCxn id="159" idx="1"/>
            </p:cNvCxnSpPr>
            <p:nvPr/>
          </p:nvCxnSpPr>
          <p:spPr>
            <a:xfrm>
              <a:off x="635236" y="952290"/>
              <a:ext cx="1103796" cy="224408"/>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8" name="Gerade Verbindung mit Pfeil 37"/>
            <p:cNvCxnSpPr>
              <a:stCxn id="184" idx="3"/>
              <a:endCxn id="160" idx="1"/>
            </p:cNvCxnSpPr>
            <p:nvPr/>
          </p:nvCxnSpPr>
          <p:spPr>
            <a:xfrm>
              <a:off x="635236" y="952290"/>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39" name="Gerade Verbindung mit Pfeil 38"/>
            <p:cNvCxnSpPr>
              <a:stCxn id="184" idx="3"/>
              <a:endCxn id="164" idx="1"/>
            </p:cNvCxnSpPr>
            <p:nvPr/>
          </p:nvCxnSpPr>
          <p:spPr>
            <a:xfrm>
              <a:off x="635236" y="952290"/>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40" name="Gerade Verbindung mit Pfeil 39"/>
            <p:cNvCxnSpPr>
              <a:stCxn id="184" idx="3"/>
              <a:endCxn id="168" idx="1"/>
            </p:cNvCxnSpPr>
            <p:nvPr/>
          </p:nvCxnSpPr>
          <p:spPr>
            <a:xfrm>
              <a:off x="635236" y="952290"/>
              <a:ext cx="1103796" cy="2244080"/>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1" name="Gerade Verbindung mit Pfeil 40"/>
            <p:cNvCxnSpPr>
              <a:stCxn id="184" idx="3"/>
              <a:endCxn id="157" idx="1"/>
            </p:cNvCxnSpPr>
            <p:nvPr/>
          </p:nvCxnSpPr>
          <p:spPr>
            <a:xfrm flipV="1">
              <a:off x="635236" y="734306"/>
              <a:ext cx="1103796" cy="217984"/>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42" name="Gruppieren 41"/>
          <p:cNvGrpSpPr/>
          <p:nvPr/>
        </p:nvGrpSpPr>
        <p:grpSpPr>
          <a:xfrm>
            <a:off x="10362930" y="1401106"/>
            <a:ext cx="1103796" cy="1795264"/>
            <a:chOff x="635236" y="1401106"/>
            <a:chExt cx="1103796" cy="1795264"/>
          </a:xfrm>
        </p:grpSpPr>
        <p:cxnSp>
          <p:nvCxnSpPr>
            <p:cNvPr id="43" name="Gerade Verbindung mit Pfeil 42"/>
            <p:cNvCxnSpPr>
              <a:stCxn id="188" idx="3"/>
              <a:endCxn id="162" idx="1"/>
            </p:cNvCxnSpPr>
            <p:nvPr/>
          </p:nvCxnSpPr>
          <p:spPr>
            <a:xfrm>
              <a:off x="635236" y="1849922"/>
              <a:ext cx="1103796" cy="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4" name="Gerade Verbindung mit Pfeil 43"/>
            <p:cNvCxnSpPr>
              <a:stCxn id="188" idx="3"/>
              <a:endCxn id="164" idx="1"/>
            </p:cNvCxnSpPr>
            <p:nvPr/>
          </p:nvCxnSpPr>
          <p:spPr>
            <a:xfrm>
              <a:off x="635236" y="1849922"/>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5" name="Gerade Verbindung mit Pfeil 44"/>
            <p:cNvCxnSpPr>
              <a:stCxn id="188" idx="3"/>
              <a:endCxn id="160" idx="1"/>
            </p:cNvCxnSpPr>
            <p:nvPr/>
          </p:nvCxnSpPr>
          <p:spPr>
            <a:xfrm flipV="1">
              <a:off x="635236" y="1401106"/>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6" name="Gerade Verbindung mit Pfeil 45"/>
            <p:cNvCxnSpPr>
              <a:stCxn id="188" idx="3"/>
              <a:endCxn id="168" idx="1"/>
            </p:cNvCxnSpPr>
            <p:nvPr/>
          </p:nvCxnSpPr>
          <p:spPr>
            <a:xfrm>
              <a:off x="635236" y="1849922"/>
              <a:ext cx="1103796" cy="1346448"/>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7" name="Gerade Verbindung mit Pfeil 46"/>
            <p:cNvCxnSpPr>
              <a:stCxn id="188" idx="3"/>
              <a:endCxn id="165" idx="1"/>
            </p:cNvCxnSpPr>
            <p:nvPr/>
          </p:nvCxnSpPr>
          <p:spPr>
            <a:xfrm>
              <a:off x="635236" y="1849922"/>
              <a:ext cx="1103796" cy="67322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grpSp>
      <p:grpSp>
        <p:nvGrpSpPr>
          <p:cNvPr id="48" name="Gruppieren 47"/>
          <p:cNvGrpSpPr/>
          <p:nvPr/>
        </p:nvGrpSpPr>
        <p:grpSpPr>
          <a:xfrm>
            <a:off x="10362930" y="2074330"/>
            <a:ext cx="1103796" cy="3141712"/>
            <a:chOff x="635236" y="2074330"/>
            <a:chExt cx="1103796" cy="3141712"/>
          </a:xfrm>
        </p:grpSpPr>
        <p:cxnSp>
          <p:nvCxnSpPr>
            <p:cNvPr id="49" name="Gerade Verbindung mit Pfeil 48"/>
            <p:cNvCxnSpPr>
              <a:stCxn id="192" idx="3"/>
              <a:endCxn id="171" idx="1"/>
            </p:cNvCxnSpPr>
            <p:nvPr/>
          </p:nvCxnSpPr>
          <p:spPr>
            <a:xfrm>
              <a:off x="635236" y="274755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0" name="Gerade Verbindung mit Pfeil 49"/>
            <p:cNvCxnSpPr>
              <a:stCxn id="192" idx="3"/>
              <a:endCxn id="169" idx="1"/>
            </p:cNvCxnSpPr>
            <p:nvPr/>
          </p:nvCxnSpPr>
          <p:spPr>
            <a:xfrm>
              <a:off x="635236" y="274755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nvGrpSpPr>
            <p:cNvPr id="51" name="Gruppieren 50"/>
            <p:cNvGrpSpPr/>
            <p:nvPr/>
          </p:nvGrpSpPr>
          <p:grpSpPr>
            <a:xfrm>
              <a:off x="635236" y="2074330"/>
              <a:ext cx="1103796" cy="3141712"/>
              <a:chOff x="635236" y="2074330"/>
              <a:chExt cx="1103796" cy="3141712"/>
            </a:xfrm>
          </p:grpSpPr>
          <p:cxnSp>
            <p:nvCxnSpPr>
              <p:cNvPr id="52" name="Gerade Verbindung mit Pfeil 51"/>
              <p:cNvCxnSpPr>
                <a:stCxn id="192" idx="3"/>
                <a:endCxn id="176" idx="1"/>
              </p:cNvCxnSpPr>
              <p:nvPr/>
            </p:nvCxnSpPr>
            <p:spPr>
              <a:xfrm>
                <a:off x="635236" y="2747554"/>
                <a:ext cx="1103796" cy="224408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3" name="Gerade Verbindung mit Pfeil 52"/>
              <p:cNvCxnSpPr>
                <a:stCxn id="192" idx="3"/>
                <a:endCxn id="175" idx="1"/>
              </p:cNvCxnSpPr>
              <p:nvPr/>
            </p:nvCxnSpPr>
            <p:spPr>
              <a:xfrm>
                <a:off x="635236" y="2747554"/>
                <a:ext cx="1103796" cy="2019672"/>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4" name="Gerade Verbindung mit Pfeil 53"/>
              <p:cNvCxnSpPr>
                <a:stCxn id="192" idx="3"/>
                <a:endCxn id="174" idx="1"/>
              </p:cNvCxnSpPr>
              <p:nvPr/>
            </p:nvCxnSpPr>
            <p:spPr>
              <a:xfrm>
                <a:off x="635236" y="2747554"/>
                <a:ext cx="1103796" cy="179526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55" name="Gerade Verbindung mit Pfeil 54"/>
              <p:cNvCxnSpPr>
                <a:stCxn id="192" idx="3"/>
                <a:endCxn id="166" idx="1"/>
              </p:cNvCxnSpPr>
              <p:nvPr/>
            </p:nvCxnSpPr>
            <p:spPr>
              <a:xfrm>
                <a:off x="635236" y="274755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6" name="Gerade Verbindung mit Pfeil 55"/>
              <p:cNvCxnSpPr>
                <a:stCxn id="192" idx="3"/>
                <a:endCxn id="163" idx="1"/>
              </p:cNvCxnSpPr>
              <p:nvPr/>
            </p:nvCxnSpPr>
            <p:spPr>
              <a:xfrm flipV="1">
                <a:off x="635236" y="2074330"/>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7" name="Gerade Verbindung mit Pfeil 56"/>
              <p:cNvCxnSpPr>
                <a:stCxn id="192" idx="3"/>
                <a:endCxn id="177" idx="1"/>
              </p:cNvCxnSpPr>
              <p:nvPr/>
            </p:nvCxnSpPr>
            <p:spPr>
              <a:xfrm>
                <a:off x="635236" y="2747554"/>
                <a:ext cx="1103796" cy="2468488"/>
              </a:xfrm>
              <a:prstGeom prst="straightConnector1">
                <a:avLst/>
              </a:prstGeom>
              <a:noFill/>
              <a:ln w="12700" cap="sq" cmpd="sng" algn="ctr">
                <a:solidFill>
                  <a:sysClr val="windowText" lastClr="000000"/>
                </a:solidFill>
                <a:prstDash val="solid"/>
                <a:miter lim="800000"/>
                <a:headEnd type="oval"/>
                <a:tailEnd type="triangle"/>
              </a:ln>
              <a:effectLst/>
            </p:spPr>
          </p:cxnSp>
        </p:grpSp>
      </p:grpSp>
      <p:grpSp>
        <p:nvGrpSpPr>
          <p:cNvPr id="58" name="Gruppieren 57"/>
          <p:cNvGrpSpPr/>
          <p:nvPr/>
        </p:nvGrpSpPr>
        <p:grpSpPr>
          <a:xfrm>
            <a:off x="10362930" y="2971962"/>
            <a:ext cx="1103796" cy="1122040"/>
            <a:chOff x="635236" y="2971962"/>
            <a:chExt cx="1103796" cy="1122040"/>
          </a:xfrm>
        </p:grpSpPr>
        <p:cxnSp>
          <p:nvCxnSpPr>
            <p:cNvPr id="59" name="Gerade Verbindung mit Pfeil 58"/>
            <p:cNvCxnSpPr>
              <a:stCxn id="193" idx="3"/>
              <a:endCxn id="167" idx="1"/>
            </p:cNvCxnSpPr>
            <p:nvPr/>
          </p:nvCxnSpPr>
          <p:spPr>
            <a:xfrm>
              <a:off x="635236" y="297196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60" name="Gruppieren 59"/>
            <p:cNvGrpSpPr/>
            <p:nvPr/>
          </p:nvGrpSpPr>
          <p:grpSpPr>
            <a:xfrm>
              <a:off x="635236" y="2971962"/>
              <a:ext cx="1103796" cy="1122040"/>
              <a:chOff x="635236" y="2971962"/>
              <a:chExt cx="1103796" cy="1122040"/>
            </a:xfrm>
          </p:grpSpPr>
          <p:cxnSp>
            <p:nvCxnSpPr>
              <p:cNvPr id="61" name="Gerade Verbindung mit Pfeil 60"/>
              <p:cNvCxnSpPr>
                <a:stCxn id="193" idx="3"/>
                <a:endCxn id="170" idx="1"/>
              </p:cNvCxnSpPr>
              <p:nvPr/>
            </p:nvCxnSpPr>
            <p:spPr>
              <a:xfrm>
                <a:off x="635236" y="2971962"/>
                <a:ext cx="1103796" cy="673224"/>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2" name="Gerade Verbindung mit Pfeil 61"/>
              <p:cNvCxnSpPr>
                <a:stCxn id="193" idx="3"/>
                <a:endCxn id="172" idx="1"/>
              </p:cNvCxnSpPr>
              <p:nvPr/>
            </p:nvCxnSpPr>
            <p:spPr>
              <a:xfrm>
                <a:off x="635236" y="2971962"/>
                <a:ext cx="1103796" cy="112204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grpSp>
      </p:grpSp>
      <p:grpSp>
        <p:nvGrpSpPr>
          <p:cNvPr id="63" name="Gruppieren 62"/>
          <p:cNvGrpSpPr/>
          <p:nvPr/>
        </p:nvGrpSpPr>
        <p:grpSpPr>
          <a:xfrm>
            <a:off x="10362930" y="3196370"/>
            <a:ext cx="1103796" cy="897632"/>
            <a:chOff x="635236" y="3196370"/>
            <a:chExt cx="1103796" cy="897632"/>
          </a:xfrm>
        </p:grpSpPr>
        <p:cxnSp>
          <p:nvCxnSpPr>
            <p:cNvPr id="64" name="Gerade Verbindung mit Pfeil 63"/>
            <p:cNvCxnSpPr>
              <a:stCxn id="194" idx="3"/>
              <a:endCxn id="170" idx="1"/>
            </p:cNvCxnSpPr>
            <p:nvPr/>
          </p:nvCxnSpPr>
          <p:spPr>
            <a:xfrm>
              <a:off x="635236" y="3196370"/>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5" name="Gerade Verbindung mit Pfeil 64"/>
            <p:cNvCxnSpPr>
              <a:stCxn id="194" idx="3"/>
              <a:endCxn id="172" idx="1"/>
            </p:cNvCxnSpPr>
            <p:nvPr/>
          </p:nvCxnSpPr>
          <p:spPr>
            <a:xfrm>
              <a:off x="635236" y="3196370"/>
              <a:ext cx="1103796" cy="897632"/>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grpSp>
      <p:grpSp>
        <p:nvGrpSpPr>
          <p:cNvPr id="67" name="Gruppieren 66"/>
          <p:cNvGrpSpPr/>
          <p:nvPr/>
        </p:nvGrpSpPr>
        <p:grpSpPr>
          <a:xfrm>
            <a:off x="10362930" y="5889266"/>
            <a:ext cx="1103796" cy="448816"/>
            <a:chOff x="635236" y="5889266"/>
            <a:chExt cx="1103796" cy="448816"/>
          </a:xfrm>
        </p:grpSpPr>
        <p:cxnSp>
          <p:nvCxnSpPr>
            <p:cNvPr id="68" name="Gerade Verbindung mit Pfeil 67"/>
            <p:cNvCxnSpPr>
              <a:stCxn id="206" idx="3"/>
              <a:endCxn id="180" idx="1"/>
            </p:cNvCxnSpPr>
            <p:nvPr/>
          </p:nvCxnSpPr>
          <p:spPr>
            <a:xfrm>
              <a:off x="635236" y="5889266"/>
              <a:ext cx="1103796" cy="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69" name="Gerade Verbindung mit Pfeil 68"/>
            <p:cNvCxnSpPr>
              <a:stCxn id="206" idx="3"/>
              <a:endCxn id="182" idx="1"/>
            </p:cNvCxnSpPr>
            <p:nvPr/>
          </p:nvCxnSpPr>
          <p:spPr>
            <a:xfrm>
              <a:off x="635236" y="5889266"/>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grpSp>
        <p:nvGrpSpPr>
          <p:cNvPr id="70" name="Gruppieren 69"/>
          <p:cNvGrpSpPr/>
          <p:nvPr/>
        </p:nvGrpSpPr>
        <p:grpSpPr>
          <a:xfrm>
            <a:off x="10362930" y="5889266"/>
            <a:ext cx="1103796" cy="448816"/>
            <a:chOff x="635236" y="5889266"/>
            <a:chExt cx="1103796" cy="448816"/>
          </a:xfrm>
        </p:grpSpPr>
        <p:cxnSp>
          <p:nvCxnSpPr>
            <p:cNvPr id="71" name="Gerade Verbindung mit Pfeil 70"/>
            <p:cNvCxnSpPr>
              <a:stCxn id="207" idx="3"/>
              <a:endCxn id="180" idx="1"/>
            </p:cNvCxnSpPr>
            <p:nvPr/>
          </p:nvCxnSpPr>
          <p:spPr>
            <a:xfrm flipV="1">
              <a:off x="635236" y="588926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2" name="Gerade Verbindung mit Pfeil 71"/>
            <p:cNvCxnSpPr>
              <a:stCxn id="207" idx="3"/>
              <a:endCxn id="182" idx="1"/>
            </p:cNvCxnSpPr>
            <p:nvPr/>
          </p:nvCxnSpPr>
          <p:spPr>
            <a:xfrm>
              <a:off x="635236" y="611367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73" name="Gerade Verbindung mit Pfeil 72"/>
          <p:cNvCxnSpPr>
            <a:stCxn id="131" idx="3"/>
            <a:endCxn id="103" idx="1"/>
          </p:cNvCxnSpPr>
          <p:nvPr/>
        </p:nvCxnSpPr>
        <p:spPr>
          <a:xfrm flipV="1">
            <a:off x="738724" y="734306"/>
            <a:ext cx="1103796" cy="442392"/>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4" name="Gerade Verbindung mit Pfeil 73"/>
          <p:cNvCxnSpPr>
            <a:stCxn id="144" idx="3"/>
            <a:endCxn id="111" idx="1"/>
          </p:cNvCxnSpPr>
          <p:nvPr/>
        </p:nvCxnSpPr>
        <p:spPr>
          <a:xfrm flipV="1">
            <a:off x="738724" y="2523146"/>
            <a:ext cx="1103796" cy="1570856"/>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75" name="Gruppieren 74"/>
          <p:cNvGrpSpPr/>
          <p:nvPr/>
        </p:nvGrpSpPr>
        <p:grpSpPr>
          <a:xfrm>
            <a:off x="738724" y="4094002"/>
            <a:ext cx="1103796" cy="224408"/>
            <a:chOff x="7380312" y="4094002"/>
            <a:chExt cx="1103796" cy="224408"/>
          </a:xfrm>
        </p:grpSpPr>
        <p:cxnSp>
          <p:nvCxnSpPr>
            <p:cNvPr id="76" name="Gerade Verbindung mit Pfeil 75"/>
            <p:cNvCxnSpPr>
              <a:stCxn id="145" idx="3"/>
              <a:endCxn id="118" idx="1"/>
            </p:cNvCxnSpPr>
            <p:nvPr/>
          </p:nvCxnSpPr>
          <p:spPr>
            <a:xfrm flipV="1">
              <a:off x="7380312" y="409400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7" name="Gerade Verbindung mit Pfeil 76"/>
            <p:cNvCxnSpPr>
              <a:stCxn id="145" idx="3"/>
              <a:endCxn id="119" idx="1"/>
            </p:cNvCxnSpPr>
            <p:nvPr/>
          </p:nvCxnSpPr>
          <p:spPr>
            <a:xfrm>
              <a:off x="7380312" y="4318410"/>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78" name="Gruppieren 77"/>
          <p:cNvGrpSpPr/>
          <p:nvPr/>
        </p:nvGrpSpPr>
        <p:grpSpPr>
          <a:xfrm>
            <a:off x="738724" y="2747554"/>
            <a:ext cx="1103796" cy="1795264"/>
            <a:chOff x="7380312" y="2747554"/>
            <a:chExt cx="1103796" cy="1795264"/>
          </a:xfrm>
        </p:grpSpPr>
        <p:cxnSp>
          <p:nvCxnSpPr>
            <p:cNvPr id="79" name="Gerade Verbindung mit Pfeil 78"/>
            <p:cNvCxnSpPr>
              <a:stCxn id="146" idx="3"/>
              <a:endCxn id="112" idx="1"/>
            </p:cNvCxnSpPr>
            <p:nvPr/>
          </p:nvCxnSpPr>
          <p:spPr>
            <a:xfrm flipV="1">
              <a:off x="7380312" y="2747554"/>
              <a:ext cx="1103796" cy="179526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0" name="Gerade Verbindung mit Pfeil 79"/>
            <p:cNvCxnSpPr>
              <a:stCxn id="146" idx="3"/>
              <a:endCxn id="120" idx="1"/>
            </p:cNvCxnSpPr>
            <p:nvPr/>
          </p:nvCxnSpPr>
          <p:spPr>
            <a:xfrm>
              <a:off x="7380312" y="4542818"/>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1" name="Gerade Verbindung mit Pfeil 80"/>
            <p:cNvCxnSpPr>
              <a:stCxn id="146" idx="3"/>
              <a:endCxn id="113" idx="1"/>
            </p:cNvCxnSpPr>
            <p:nvPr/>
          </p:nvCxnSpPr>
          <p:spPr>
            <a:xfrm flipV="1">
              <a:off x="7380312" y="2971962"/>
              <a:ext cx="1103796" cy="1570856"/>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82" name="Gerade Verbindung mit Pfeil 81"/>
          <p:cNvCxnSpPr>
            <a:stCxn id="141" idx="3"/>
            <a:endCxn id="109" idx="1"/>
          </p:cNvCxnSpPr>
          <p:nvPr/>
        </p:nvCxnSpPr>
        <p:spPr>
          <a:xfrm flipV="1">
            <a:off x="738724" y="2074330"/>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3" name="Gerade Verbindung mit Pfeil 82"/>
          <p:cNvCxnSpPr>
            <a:stCxn id="142" idx="3"/>
            <a:endCxn id="117" idx="1"/>
          </p:cNvCxnSpPr>
          <p:nvPr/>
        </p:nvCxnSpPr>
        <p:spPr>
          <a:xfrm>
            <a:off x="738724" y="364518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84" name="Gruppieren 83"/>
          <p:cNvGrpSpPr/>
          <p:nvPr/>
        </p:nvGrpSpPr>
        <p:grpSpPr>
          <a:xfrm>
            <a:off x="738724" y="4767226"/>
            <a:ext cx="1105635" cy="445641"/>
            <a:chOff x="7380312" y="4767226"/>
            <a:chExt cx="1105635" cy="445641"/>
          </a:xfrm>
        </p:grpSpPr>
        <p:cxnSp>
          <p:nvCxnSpPr>
            <p:cNvPr id="85" name="Gerade Verbindung mit Pfeil 84"/>
            <p:cNvCxnSpPr>
              <a:stCxn id="148" idx="3"/>
              <a:endCxn id="121" idx="1"/>
            </p:cNvCxnSpPr>
            <p:nvPr/>
          </p:nvCxnSpPr>
          <p:spPr>
            <a:xfrm flipV="1">
              <a:off x="7380312" y="476722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6" name="Gerade Verbindung mit Pfeil 85"/>
            <p:cNvCxnSpPr/>
            <p:nvPr/>
          </p:nvCxnSpPr>
          <p:spPr>
            <a:xfrm>
              <a:off x="7390043" y="4991634"/>
              <a:ext cx="1095904" cy="221233"/>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87" name="Gruppieren 86"/>
          <p:cNvGrpSpPr/>
          <p:nvPr/>
        </p:nvGrpSpPr>
        <p:grpSpPr>
          <a:xfrm>
            <a:off x="738724" y="4767226"/>
            <a:ext cx="1103796" cy="673224"/>
            <a:chOff x="7380312" y="4767226"/>
            <a:chExt cx="1103796" cy="673224"/>
          </a:xfrm>
        </p:grpSpPr>
        <p:cxnSp>
          <p:nvCxnSpPr>
            <p:cNvPr id="88" name="Gerade Verbindung mit Pfeil 87"/>
            <p:cNvCxnSpPr>
              <a:stCxn id="150" idx="3"/>
              <a:endCxn id="121" idx="1"/>
            </p:cNvCxnSpPr>
            <p:nvPr/>
          </p:nvCxnSpPr>
          <p:spPr>
            <a:xfrm flipV="1">
              <a:off x="7380312" y="4767226"/>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9" name="Gerade Verbindung mit Pfeil 88"/>
            <p:cNvCxnSpPr>
              <a:stCxn id="150" idx="3"/>
              <a:endCxn id="123" idx="1"/>
            </p:cNvCxnSpPr>
            <p:nvPr/>
          </p:nvCxnSpPr>
          <p:spPr>
            <a:xfrm flipV="1">
              <a:off x="7380312" y="521604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90" name="Gerade Verbindung mit Pfeil 89"/>
          <p:cNvCxnSpPr>
            <a:stCxn id="149" idx="3"/>
            <a:endCxn id="124" idx="1"/>
          </p:cNvCxnSpPr>
          <p:nvPr/>
        </p:nvCxnSpPr>
        <p:spPr>
          <a:xfrm>
            <a:off x="738724" y="521604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1" name="Gerade Verbindung mit Pfeil 90"/>
          <p:cNvCxnSpPr>
            <a:stCxn id="151" idx="3"/>
            <a:endCxn id="125" idx="1"/>
          </p:cNvCxnSpPr>
          <p:nvPr/>
        </p:nvCxnSpPr>
        <p:spPr>
          <a:xfrm>
            <a:off x="738724" y="5664858"/>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92" name="Gruppieren 91"/>
          <p:cNvGrpSpPr/>
          <p:nvPr/>
        </p:nvGrpSpPr>
        <p:grpSpPr>
          <a:xfrm>
            <a:off x="738724" y="1401106"/>
            <a:ext cx="1103796" cy="448816"/>
            <a:chOff x="7380312" y="1401106"/>
            <a:chExt cx="1103796" cy="448816"/>
          </a:xfrm>
        </p:grpSpPr>
        <p:cxnSp>
          <p:nvCxnSpPr>
            <p:cNvPr id="93" name="Gerade Verbindung mit Pfeil 92"/>
            <p:cNvCxnSpPr>
              <a:stCxn id="134" idx="3"/>
              <a:endCxn id="106" idx="1"/>
            </p:cNvCxnSpPr>
            <p:nvPr/>
          </p:nvCxnSpPr>
          <p:spPr>
            <a:xfrm flipV="1">
              <a:off x="7380312" y="1401106"/>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4" name="Gerade Verbindung mit Pfeil 93"/>
            <p:cNvCxnSpPr>
              <a:stCxn id="134" idx="3"/>
              <a:endCxn id="108" idx="1"/>
            </p:cNvCxnSpPr>
            <p:nvPr/>
          </p:nvCxnSpPr>
          <p:spPr>
            <a:xfrm>
              <a:off x="7380312" y="184992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5" name="Gerade Verbindung mit Pfeil 94"/>
            <p:cNvCxnSpPr>
              <a:stCxn id="134" idx="3"/>
              <a:endCxn id="107" idx="1"/>
            </p:cNvCxnSpPr>
            <p:nvPr/>
          </p:nvCxnSpPr>
          <p:spPr>
            <a:xfrm flipV="1">
              <a:off x="7380312" y="162551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96" name="Gruppieren 95"/>
          <p:cNvGrpSpPr/>
          <p:nvPr/>
        </p:nvGrpSpPr>
        <p:grpSpPr>
          <a:xfrm>
            <a:off x="738724" y="4991634"/>
            <a:ext cx="1103796" cy="1122040"/>
            <a:chOff x="7380312" y="4991634"/>
            <a:chExt cx="1103796" cy="1122040"/>
          </a:xfrm>
        </p:grpSpPr>
        <p:cxnSp>
          <p:nvCxnSpPr>
            <p:cNvPr id="97" name="Gerade Verbindung mit Pfeil 96"/>
            <p:cNvCxnSpPr>
              <a:stCxn id="153" idx="3"/>
              <a:endCxn id="127" idx="1"/>
            </p:cNvCxnSpPr>
            <p:nvPr/>
          </p:nvCxnSpPr>
          <p:spPr>
            <a:xfrm>
              <a:off x="7380312" y="611367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8" name="Gerade Verbindung mit Pfeil 97"/>
            <p:cNvCxnSpPr>
              <a:stCxn id="153" idx="3"/>
              <a:endCxn id="122" idx="1"/>
            </p:cNvCxnSpPr>
            <p:nvPr/>
          </p:nvCxnSpPr>
          <p:spPr>
            <a:xfrm flipV="1">
              <a:off x="7380312" y="4991634"/>
              <a:ext cx="1103796" cy="1122040"/>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99" name="Gruppieren 98"/>
          <p:cNvGrpSpPr/>
          <p:nvPr/>
        </p:nvGrpSpPr>
        <p:grpSpPr>
          <a:xfrm>
            <a:off x="738724" y="3196370"/>
            <a:ext cx="1103796" cy="1122040"/>
            <a:chOff x="7380312" y="3196370"/>
            <a:chExt cx="1103796" cy="1122040"/>
          </a:xfrm>
        </p:grpSpPr>
        <p:cxnSp>
          <p:nvCxnSpPr>
            <p:cNvPr id="100" name="Gerade Verbindung mit Pfeil 99"/>
            <p:cNvCxnSpPr>
              <a:stCxn id="140" idx="3"/>
              <a:endCxn id="119" idx="1"/>
            </p:cNvCxnSpPr>
            <p:nvPr/>
          </p:nvCxnSpPr>
          <p:spPr>
            <a:xfrm>
              <a:off x="7380312" y="3196370"/>
              <a:ext cx="1103796" cy="112204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101" name="Gerade Verbindung mit Pfeil 100"/>
            <p:cNvCxnSpPr>
              <a:stCxn id="140" idx="3"/>
              <a:endCxn id="118" idx="1"/>
            </p:cNvCxnSpPr>
            <p:nvPr/>
          </p:nvCxnSpPr>
          <p:spPr>
            <a:xfrm>
              <a:off x="7380312" y="3196370"/>
              <a:ext cx="1103796" cy="897632"/>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102" name="Gruppieren 101"/>
          <p:cNvGrpSpPr/>
          <p:nvPr/>
        </p:nvGrpSpPr>
        <p:grpSpPr>
          <a:xfrm>
            <a:off x="378684" y="662298"/>
            <a:ext cx="1823876" cy="5747792"/>
            <a:chOff x="267304" y="662298"/>
            <a:chExt cx="1823876" cy="5747792"/>
          </a:xfrm>
        </p:grpSpPr>
        <p:sp>
          <p:nvSpPr>
            <p:cNvPr id="103" name="Rechteck 102"/>
            <p:cNvSpPr/>
            <p:nvPr/>
          </p:nvSpPr>
          <p:spPr>
            <a:xfrm>
              <a:off x="1731140"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4" name="Rechteck 103"/>
            <p:cNvSpPr/>
            <p:nvPr/>
          </p:nvSpPr>
          <p:spPr>
            <a:xfrm>
              <a:off x="1731140"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5" name="Rechteck 104"/>
            <p:cNvSpPr/>
            <p:nvPr/>
          </p:nvSpPr>
          <p:spPr>
            <a:xfrm>
              <a:off x="1731140"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6" name="Rechteck 105"/>
            <p:cNvSpPr/>
            <p:nvPr/>
          </p:nvSpPr>
          <p:spPr>
            <a:xfrm>
              <a:off x="1731140"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7" name="Rechteck 106"/>
            <p:cNvSpPr/>
            <p:nvPr/>
          </p:nvSpPr>
          <p:spPr>
            <a:xfrm>
              <a:off x="1731140"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8" name="Rechteck 107"/>
            <p:cNvSpPr/>
            <p:nvPr/>
          </p:nvSpPr>
          <p:spPr>
            <a:xfrm>
              <a:off x="1731140"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9" name="Rechteck 108"/>
            <p:cNvSpPr/>
            <p:nvPr/>
          </p:nvSpPr>
          <p:spPr>
            <a:xfrm>
              <a:off x="1731140"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0" name="Rechteck 109"/>
            <p:cNvSpPr/>
            <p:nvPr/>
          </p:nvSpPr>
          <p:spPr>
            <a:xfrm>
              <a:off x="1731140"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1" name="Rechteck 110"/>
            <p:cNvSpPr/>
            <p:nvPr/>
          </p:nvSpPr>
          <p:spPr>
            <a:xfrm>
              <a:off x="1731140"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2" name="Rechteck 111"/>
            <p:cNvSpPr/>
            <p:nvPr/>
          </p:nvSpPr>
          <p:spPr>
            <a:xfrm>
              <a:off x="1731140"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3" name="Rechteck 112"/>
            <p:cNvSpPr/>
            <p:nvPr/>
          </p:nvSpPr>
          <p:spPr>
            <a:xfrm>
              <a:off x="1731140"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4" name="Rechteck 113"/>
            <p:cNvSpPr/>
            <p:nvPr/>
          </p:nvSpPr>
          <p:spPr>
            <a:xfrm>
              <a:off x="1731140"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5" name="Rechteck 114"/>
            <p:cNvSpPr/>
            <p:nvPr/>
          </p:nvSpPr>
          <p:spPr>
            <a:xfrm>
              <a:off x="1731140"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6" name="Rechteck 115"/>
            <p:cNvSpPr/>
            <p:nvPr/>
          </p:nvSpPr>
          <p:spPr>
            <a:xfrm>
              <a:off x="1731140"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7" name="Rechteck 116"/>
            <p:cNvSpPr/>
            <p:nvPr/>
          </p:nvSpPr>
          <p:spPr>
            <a:xfrm>
              <a:off x="1731140"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8" name="Rechteck 117"/>
            <p:cNvSpPr/>
            <p:nvPr/>
          </p:nvSpPr>
          <p:spPr>
            <a:xfrm>
              <a:off x="1731140"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9" name="Rechteck 118"/>
            <p:cNvSpPr/>
            <p:nvPr/>
          </p:nvSpPr>
          <p:spPr>
            <a:xfrm>
              <a:off x="1731140"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0" name="Rechteck 119"/>
            <p:cNvSpPr/>
            <p:nvPr/>
          </p:nvSpPr>
          <p:spPr>
            <a:xfrm>
              <a:off x="1731140"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1" name="Rechteck 120"/>
            <p:cNvSpPr/>
            <p:nvPr/>
          </p:nvSpPr>
          <p:spPr>
            <a:xfrm>
              <a:off x="1731140"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2" name="Rechteck 121"/>
            <p:cNvSpPr/>
            <p:nvPr/>
          </p:nvSpPr>
          <p:spPr>
            <a:xfrm>
              <a:off x="1731140"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3" name="Rechteck 122"/>
            <p:cNvSpPr/>
            <p:nvPr/>
          </p:nvSpPr>
          <p:spPr>
            <a:xfrm>
              <a:off x="1731140"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4" name="Rechteck 123"/>
            <p:cNvSpPr/>
            <p:nvPr/>
          </p:nvSpPr>
          <p:spPr>
            <a:xfrm>
              <a:off x="1731140"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5" name="Rechteck 124"/>
            <p:cNvSpPr/>
            <p:nvPr/>
          </p:nvSpPr>
          <p:spPr>
            <a:xfrm>
              <a:off x="1731140"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6" name="Rechteck 125"/>
            <p:cNvSpPr/>
            <p:nvPr/>
          </p:nvSpPr>
          <p:spPr>
            <a:xfrm>
              <a:off x="1731140"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7" name="Rechteck 126"/>
            <p:cNvSpPr/>
            <p:nvPr/>
          </p:nvSpPr>
          <p:spPr>
            <a:xfrm>
              <a:off x="1731140"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8" name="Rechteck 127"/>
            <p:cNvSpPr/>
            <p:nvPr/>
          </p:nvSpPr>
          <p:spPr>
            <a:xfrm>
              <a:off x="1731140"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9" name="Rechteck 128"/>
            <p:cNvSpPr/>
            <p:nvPr/>
          </p:nvSpPr>
          <p:spPr>
            <a:xfrm>
              <a:off x="267304"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0" name="Rechteck 129"/>
            <p:cNvSpPr/>
            <p:nvPr/>
          </p:nvSpPr>
          <p:spPr>
            <a:xfrm>
              <a:off x="267304"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1" name="Rechteck 130"/>
            <p:cNvSpPr/>
            <p:nvPr/>
          </p:nvSpPr>
          <p:spPr>
            <a:xfrm>
              <a:off x="267304"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2" name="Rechteck 131"/>
            <p:cNvSpPr/>
            <p:nvPr/>
          </p:nvSpPr>
          <p:spPr>
            <a:xfrm>
              <a:off x="267304"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3" name="Rechteck 132"/>
            <p:cNvSpPr/>
            <p:nvPr/>
          </p:nvSpPr>
          <p:spPr>
            <a:xfrm>
              <a:off x="267304"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4" name="Rechteck 133"/>
            <p:cNvSpPr/>
            <p:nvPr/>
          </p:nvSpPr>
          <p:spPr>
            <a:xfrm>
              <a:off x="267304"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5" name="Rechteck 134"/>
            <p:cNvSpPr/>
            <p:nvPr/>
          </p:nvSpPr>
          <p:spPr>
            <a:xfrm>
              <a:off x="267304"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6" name="Rechteck 135"/>
            <p:cNvSpPr/>
            <p:nvPr/>
          </p:nvSpPr>
          <p:spPr>
            <a:xfrm>
              <a:off x="267304"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7" name="Rechteck 136"/>
            <p:cNvSpPr/>
            <p:nvPr/>
          </p:nvSpPr>
          <p:spPr>
            <a:xfrm>
              <a:off x="267304"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8" name="Rechteck 137"/>
            <p:cNvSpPr/>
            <p:nvPr/>
          </p:nvSpPr>
          <p:spPr>
            <a:xfrm>
              <a:off x="267304"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9" name="Rechteck 138"/>
            <p:cNvSpPr/>
            <p:nvPr/>
          </p:nvSpPr>
          <p:spPr>
            <a:xfrm>
              <a:off x="267304"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0" name="Rechteck 139"/>
            <p:cNvSpPr/>
            <p:nvPr/>
          </p:nvSpPr>
          <p:spPr>
            <a:xfrm>
              <a:off x="267304"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1" name="Rechteck 140"/>
            <p:cNvSpPr/>
            <p:nvPr/>
          </p:nvSpPr>
          <p:spPr>
            <a:xfrm>
              <a:off x="267304"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2" name="Rechteck 141"/>
            <p:cNvSpPr/>
            <p:nvPr/>
          </p:nvSpPr>
          <p:spPr>
            <a:xfrm>
              <a:off x="267304"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3" name="Rechteck 142"/>
            <p:cNvSpPr/>
            <p:nvPr/>
          </p:nvSpPr>
          <p:spPr>
            <a:xfrm>
              <a:off x="267304"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4" name="Rechteck 143"/>
            <p:cNvSpPr/>
            <p:nvPr/>
          </p:nvSpPr>
          <p:spPr>
            <a:xfrm>
              <a:off x="267304"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5" name="Rechteck 144"/>
            <p:cNvSpPr/>
            <p:nvPr/>
          </p:nvSpPr>
          <p:spPr>
            <a:xfrm>
              <a:off x="267304"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6" name="Rechteck 145"/>
            <p:cNvSpPr/>
            <p:nvPr/>
          </p:nvSpPr>
          <p:spPr>
            <a:xfrm>
              <a:off x="267304"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7" name="Rechteck 146"/>
            <p:cNvSpPr/>
            <p:nvPr/>
          </p:nvSpPr>
          <p:spPr>
            <a:xfrm>
              <a:off x="267304"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8" name="Rechteck 147"/>
            <p:cNvSpPr/>
            <p:nvPr/>
          </p:nvSpPr>
          <p:spPr>
            <a:xfrm>
              <a:off x="267304"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9" name="Rechteck 148"/>
            <p:cNvSpPr/>
            <p:nvPr/>
          </p:nvSpPr>
          <p:spPr>
            <a:xfrm>
              <a:off x="267304"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0" name="Rechteck 149"/>
            <p:cNvSpPr/>
            <p:nvPr/>
          </p:nvSpPr>
          <p:spPr>
            <a:xfrm>
              <a:off x="267304"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1" name="Rechteck 150"/>
            <p:cNvSpPr/>
            <p:nvPr/>
          </p:nvSpPr>
          <p:spPr>
            <a:xfrm>
              <a:off x="267304"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2" name="Rechteck 151"/>
            <p:cNvSpPr/>
            <p:nvPr/>
          </p:nvSpPr>
          <p:spPr>
            <a:xfrm>
              <a:off x="267304"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3" name="Rechteck 152"/>
            <p:cNvSpPr/>
            <p:nvPr/>
          </p:nvSpPr>
          <p:spPr>
            <a:xfrm>
              <a:off x="267304"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4" name="Rechteck 153"/>
            <p:cNvSpPr/>
            <p:nvPr/>
          </p:nvSpPr>
          <p:spPr>
            <a:xfrm>
              <a:off x="267304"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09" name="DRL"/>
          <p:cNvSpPr/>
          <p:nvPr/>
        </p:nvSpPr>
        <p:spPr>
          <a:xfrm rot="5400000" flipH="1">
            <a:off x="9847928" y="695631"/>
            <a:ext cx="160780" cy="72008"/>
          </a:xfrm>
          <a:prstGeom prst="triangle">
            <a:avLst/>
          </a:prstGeom>
          <a:solidFill>
            <a:srgbClr val="B9E7E0"/>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14" name="Textfeld 213"/>
          <p:cNvSpPr txBox="1"/>
          <p:nvPr/>
        </p:nvSpPr>
        <p:spPr>
          <a:xfrm>
            <a:off x="6082748" y="3324908"/>
            <a:ext cx="3589200" cy="2893100"/>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BADA15"/>
                </a:solidFill>
                <a:effectLst/>
                <a:uLnTx/>
                <a:uFillTx/>
              </a:rPr>
              <a:t>Compound Search Strategy</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noProof="0" dirty="0" smtClean="0">
                <a:solidFill>
                  <a:srgbClr val="000000"/>
                </a:solidFill>
              </a:rPr>
              <a:t>Only few complementary search runs with a low threshold to accommodate variants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All candidates have to be accepted due to ambiguous firm identification (</a:t>
            </a:r>
            <a:r>
              <a:rPr lang="en-US" sz="1400" strike="sngStrike" kern="0" dirty="0" err="1" smtClean="0">
                <a:solidFill>
                  <a:srgbClr val="00AAE5"/>
                </a:solidFill>
              </a:rPr>
              <a:t>darwininan</a:t>
            </a:r>
            <a:r>
              <a:rPr lang="en-US" sz="1400" kern="0" dirty="0" smtClean="0">
                <a:solidFill>
                  <a:srgbClr val="000000"/>
                </a:solidFill>
              </a:rPr>
              <a:t>)</a:t>
            </a:r>
            <a:r>
              <a:rPr lang="en-US" sz="1400" kern="0" noProof="0" dirty="0" smtClean="0">
                <a:solidFill>
                  <a:srgbClr val="000000"/>
                </a:solidFill>
              </a:rPr>
              <a:t> </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dirty="0" smtClean="0">
                <a:ln>
                  <a:noFill/>
                </a:ln>
                <a:solidFill>
                  <a:srgbClr val="00AAE5"/>
                </a:solidFill>
                <a:effectLst/>
                <a:uLnTx/>
                <a:uFillTx/>
              </a:rPr>
              <a:t>Containment</a:t>
            </a:r>
            <a:r>
              <a:rPr kumimoji="0" lang="en-US" sz="1400" b="0" i="0" u="none" strike="noStrike" kern="0" cap="none" spc="0" normalizeH="0" baseline="0" dirty="0" smtClean="0">
                <a:ln>
                  <a:noFill/>
                </a:ln>
                <a:solidFill>
                  <a:srgbClr val="000000"/>
                </a:solidFill>
                <a:effectLst/>
                <a:uLnTx/>
                <a:uFillTx/>
              </a:rPr>
              <a:t>: loose/none, difficult to assess</a:t>
            </a:r>
            <a:endParaRPr kumimoji="0" lang="en-US" sz="1400" b="0" i="0" u="none" strike="noStrike" kern="0" cap="none" spc="0" normalizeH="0" baseline="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Merging</a:t>
            </a:r>
            <a:r>
              <a:rPr kumimoji="0" lang="en-US" sz="1400" b="0" i="0" u="none" strike="noStrike" kern="0" cap="none" spc="0" normalizeH="0" baseline="0" noProof="0" dirty="0" smtClean="0">
                <a:ln>
                  <a:noFill/>
                </a:ln>
                <a:solidFill>
                  <a:srgbClr val="000000"/>
                </a:solidFill>
                <a:effectLst/>
                <a:uLnTx/>
                <a:uFillTx/>
              </a:rPr>
              <a:t>: candidate list of subsequent search runs have to be merged</a:t>
            </a:r>
            <a:r>
              <a:rPr kumimoji="0" lang="en-US" sz="1400" b="0" i="0" u="none" strike="noStrike" kern="0" cap="none" spc="0" normalizeH="0" noProof="0" dirty="0" smtClean="0">
                <a:ln>
                  <a:noFill/>
                </a:ln>
                <a:solidFill>
                  <a:srgbClr val="000000"/>
                </a:solidFill>
                <a:effectLst/>
                <a:uLnTx/>
                <a:uFillTx/>
              </a:rPr>
              <a:t> </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Prone to false positives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Bloated candidate lists with mixed identities</a:t>
            </a:r>
          </a:p>
          <a:p>
            <a:pPr marL="432000" marR="0" lvl="0" indent="-216000" defTabSz="914400" eaLnBrk="1" fontAlgn="auto" latinLnBrk="0" hangingPunct="1">
              <a:lnSpc>
                <a:spcPct val="100000"/>
              </a:lnSpc>
              <a:spcBef>
                <a:spcPts val="0"/>
              </a:spcBef>
              <a:spcAft>
                <a:spcPts val="0"/>
              </a:spcAft>
              <a:buClr>
                <a:srgbClr val="00AAE5"/>
              </a:buClr>
              <a:buSzTx/>
              <a:buFont typeface="Calibri" panose="020F0502020204030204" pitchFamily="34" charset="0"/>
              <a:buChar char="→"/>
              <a:tabLst/>
              <a:defRPr/>
            </a:pPr>
            <a:r>
              <a:rPr lang="en-US" sz="1400" kern="0" dirty="0" smtClean="0">
                <a:solidFill>
                  <a:srgbClr val="000000"/>
                </a:solidFill>
              </a:rPr>
              <a:t>Cumbersome to label training data</a:t>
            </a:r>
          </a:p>
          <a:p>
            <a:pPr marL="432000" marR="0" lvl="0" indent="-216000" defTabSz="914400" eaLnBrk="1" fontAlgn="auto" latinLnBrk="0" hangingPunct="1">
              <a:lnSpc>
                <a:spcPct val="100000"/>
              </a:lnSpc>
              <a:spcBef>
                <a:spcPts val="0"/>
              </a:spcBef>
              <a:spcAft>
                <a:spcPts val="0"/>
              </a:spcAft>
              <a:buClr>
                <a:srgbClr val="00AAE5"/>
              </a:buClr>
              <a:buSzTx/>
              <a:buFont typeface="Calibri" panose="020F0502020204030204" pitchFamily="34" charset="0"/>
              <a:buChar char="→"/>
              <a:tabLst/>
              <a:defRPr/>
            </a:pPr>
            <a:r>
              <a:rPr kumimoji="0" lang="en-US" sz="1400" b="0" i="0" u="none" strike="noStrike" kern="0" cap="none" spc="0" normalizeH="0" baseline="0" noProof="0" dirty="0" smtClean="0">
                <a:ln>
                  <a:noFill/>
                </a:ln>
                <a:solidFill>
                  <a:srgbClr val="00AAE5"/>
                </a:solidFill>
                <a:effectLst/>
                <a:uLnTx/>
                <a:uFillTx/>
              </a:rPr>
              <a:t>SEML</a:t>
            </a:r>
            <a:r>
              <a:rPr kumimoji="0" lang="en-US" sz="1400" b="0" i="0" u="none" strike="noStrike" kern="0" cap="none" spc="0" normalizeH="0" baseline="0" noProof="0" dirty="0" smtClean="0">
                <a:ln>
                  <a:noFill/>
                </a:ln>
                <a:solidFill>
                  <a:srgbClr val="000000"/>
                </a:solidFill>
                <a:effectLst/>
                <a:uLnTx/>
                <a:uFillTx/>
              </a:rPr>
              <a:t> identifies</a:t>
            </a:r>
            <a:r>
              <a:rPr kumimoji="0" lang="en-US" sz="1400" b="0" i="0" u="none" strike="noStrike" kern="0" cap="none" spc="0" normalizeH="0" noProof="0" dirty="0" smtClean="0">
                <a:ln>
                  <a:noFill/>
                </a:ln>
                <a:solidFill>
                  <a:srgbClr val="000000"/>
                </a:solidFill>
                <a:effectLst/>
                <a:uLnTx/>
                <a:uFillTx/>
              </a:rPr>
              <a:t> false positives with moderate accuracy</a:t>
            </a:r>
            <a:r>
              <a:rPr kumimoji="0" lang="en-US" sz="1400" b="0" i="0" u="none" strike="noStrike" kern="0" cap="none" spc="0" normalizeH="0" baseline="0" noProof="0" dirty="0" smtClean="0">
                <a:ln>
                  <a:noFill/>
                </a:ln>
                <a:solidFill>
                  <a:srgbClr val="000000"/>
                </a:solidFill>
                <a:effectLst/>
                <a:uLnTx/>
                <a:uFillTx/>
              </a:rPr>
              <a:t> </a:t>
            </a:r>
          </a:p>
        </p:txBody>
      </p:sp>
      <p:sp>
        <p:nvSpPr>
          <p:cNvPr id="2" name="Foliennummernplatzhalter 1"/>
          <p:cNvSpPr>
            <a:spLocks noGrp="1"/>
          </p:cNvSpPr>
          <p:nvPr>
            <p:ph type="sldNum" sz="quarter" idx="10"/>
          </p:nvPr>
        </p:nvSpPr>
        <p:spPr/>
        <p:txBody>
          <a:bodyPr/>
          <a:lstStyle/>
          <a:p>
            <a:fld id="{A29D8577-601D-4845-9C29-D9E13FE3E8DB}" type="slidenum">
              <a:rPr lang="en-US" smtClean="0"/>
              <a:pPr/>
              <a:t>21</a:t>
            </a:fld>
            <a:endParaRPr lang="en-US" dirty="0"/>
          </a:p>
        </p:txBody>
      </p:sp>
      <p:grpSp>
        <p:nvGrpSpPr>
          <p:cNvPr id="253" name="Gruppieren 252"/>
          <p:cNvGrpSpPr/>
          <p:nvPr/>
        </p:nvGrpSpPr>
        <p:grpSpPr>
          <a:xfrm>
            <a:off x="10362930" y="1849922"/>
            <a:ext cx="1103796" cy="2468488"/>
            <a:chOff x="635236" y="1849922"/>
            <a:chExt cx="1103796" cy="2468488"/>
          </a:xfrm>
        </p:grpSpPr>
        <p:cxnSp>
          <p:nvCxnSpPr>
            <p:cNvPr id="4" name="Gerade Verbindung mit Pfeil 3"/>
            <p:cNvCxnSpPr>
              <a:stCxn id="197" idx="3"/>
              <a:endCxn id="162" idx="1"/>
            </p:cNvCxnSpPr>
            <p:nvPr/>
          </p:nvCxnSpPr>
          <p:spPr>
            <a:xfrm flipV="1">
              <a:off x="635236" y="1849922"/>
              <a:ext cx="1103796" cy="2019672"/>
            </a:xfrm>
            <a:prstGeom prst="straightConnector1">
              <a:avLst/>
            </a:prstGeom>
            <a:ln w="12700" cap="rnd">
              <a:solidFill>
                <a:schemeClr val="bg1">
                  <a:lumMod val="85000"/>
                </a:schemeClr>
              </a:solidFill>
              <a:roun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66" name="Gerade Verbindung mit Pfeil 65"/>
            <p:cNvCxnSpPr>
              <a:stCxn id="197" idx="3"/>
              <a:endCxn id="173" idx="1"/>
            </p:cNvCxnSpPr>
            <p:nvPr/>
          </p:nvCxnSpPr>
          <p:spPr>
            <a:xfrm>
              <a:off x="635236" y="3869594"/>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156" name="Gruppieren 155"/>
          <p:cNvGrpSpPr/>
          <p:nvPr/>
        </p:nvGrpSpPr>
        <p:grpSpPr>
          <a:xfrm>
            <a:off x="10002890" y="662298"/>
            <a:ext cx="1823876" cy="5747792"/>
            <a:chOff x="267304" y="662298"/>
            <a:chExt cx="1823876" cy="5747792"/>
          </a:xfrm>
        </p:grpSpPr>
        <p:sp>
          <p:nvSpPr>
            <p:cNvPr id="157" name="Rechteck 156"/>
            <p:cNvSpPr/>
            <p:nvPr/>
          </p:nvSpPr>
          <p:spPr>
            <a:xfrm>
              <a:off x="1731140"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8" name="Rechteck 157"/>
            <p:cNvSpPr/>
            <p:nvPr/>
          </p:nvSpPr>
          <p:spPr>
            <a:xfrm>
              <a:off x="1731140"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9" name="Rechteck 158"/>
            <p:cNvSpPr/>
            <p:nvPr/>
          </p:nvSpPr>
          <p:spPr>
            <a:xfrm>
              <a:off x="1731140"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0" name="Rechteck 159"/>
            <p:cNvSpPr/>
            <p:nvPr/>
          </p:nvSpPr>
          <p:spPr>
            <a:xfrm>
              <a:off x="1731140"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1" name="Rechteck 160"/>
            <p:cNvSpPr/>
            <p:nvPr/>
          </p:nvSpPr>
          <p:spPr>
            <a:xfrm>
              <a:off x="1731140"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2" name="Rechteck 161"/>
            <p:cNvSpPr/>
            <p:nvPr/>
          </p:nvSpPr>
          <p:spPr>
            <a:xfrm>
              <a:off x="1731140"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3" name="Rechteck 162"/>
            <p:cNvSpPr/>
            <p:nvPr/>
          </p:nvSpPr>
          <p:spPr>
            <a:xfrm>
              <a:off x="1731140"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4" name="Rechteck 163"/>
            <p:cNvSpPr/>
            <p:nvPr/>
          </p:nvSpPr>
          <p:spPr>
            <a:xfrm>
              <a:off x="1731140"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5" name="Rechteck 164"/>
            <p:cNvSpPr/>
            <p:nvPr/>
          </p:nvSpPr>
          <p:spPr>
            <a:xfrm>
              <a:off x="1731140"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6" name="Rechteck 165"/>
            <p:cNvSpPr/>
            <p:nvPr/>
          </p:nvSpPr>
          <p:spPr>
            <a:xfrm>
              <a:off x="1731140"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7" name="Rechteck 166"/>
            <p:cNvSpPr/>
            <p:nvPr/>
          </p:nvSpPr>
          <p:spPr>
            <a:xfrm>
              <a:off x="1731140"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8" name="Rechteck 167"/>
            <p:cNvSpPr/>
            <p:nvPr/>
          </p:nvSpPr>
          <p:spPr>
            <a:xfrm>
              <a:off x="1731140"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9" name="Rechteck 168"/>
            <p:cNvSpPr/>
            <p:nvPr/>
          </p:nvSpPr>
          <p:spPr>
            <a:xfrm>
              <a:off x="1731140"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0" name="Rechteck 169"/>
            <p:cNvSpPr/>
            <p:nvPr/>
          </p:nvSpPr>
          <p:spPr>
            <a:xfrm>
              <a:off x="1731140"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1" name="Rechteck 170"/>
            <p:cNvSpPr/>
            <p:nvPr/>
          </p:nvSpPr>
          <p:spPr>
            <a:xfrm>
              <a:off x="1731140"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2" name="Rechteck 171"/>
            <p:cNvSpPr/>
            <p:nvPr/>
          </p:nvSpPr>
          <p:spPr>
            <a:xfrm>
              <a:off x="1731140"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3" name="Rechteck 172"/>
            <p:cNvSpPr/>
            <p:nvPr/>
          </p:nvSpPr>
          <p:spPr>
            <a:xfrm>
              <a:off x="1731140"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4" name="Rechteck 173"/>
            <p:cNvSpPr/>
            <p:nvPr/>
          </p:nvSpPr>
          <p:spPr>
            <a:xfrm>
              <a:off x="1731140"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5" name="Rechteck 174"/>
            <p:cNvSpPr/>
            <p:nvPr/>
          </p:nvSpPr>
          <p:spPr>
            <a:xfrm>
              <a:off x="1731140"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6" name="Rechteck 175"/>
            <p:cNvSpPr/>
            <p:nvPr/>
          </p:nvSpPr>
          <p:spPr>
            <a:xfrm>
              <a:off x="1731140"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7" name="Rechteck 176"/>
            <p:cNvSpPr/>
            <p:nvPr/>
          </p:nvSpPr>
          <p:spPr>
            <a:xfrm>
              <a:off x="1731140"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8" name="Rechteck 177"/>
            <p:cNvSpPr/>
            <p:nvPr/>
          </p:nvSpPr>
          <p:spPr>
            <a:xfrm>
              <a:off x="1731140"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9" name="Rechteck 178"/>
            <p:cNvSpPr/>
            <p:nvPr/>
          </p:nvSpPr>
          <p:spPr>
            <a:xfrm>
              <a:off x="1731140"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0" name="Rechteck 179"/>
            <p:cNvSpPr/>
            <p:nvPr/>
          </p:nvSpPr>
          <p:spPr>
            <a:xfrm>
              <a:off x="1731140"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1" name="Rechteck 180"/>
            <p:cNvSpPr/>
            <p:nvPr/>
          </p:nvSpPr>
          <p:spPr>
            <a:xfrm>
              <a:off x="1731140"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2" name="Rechteck 181"/>
            <p:cNvSpPr/>
            <p:nvPr/>
          </p:nvSpPr>
          <p:spPr>
            <a:xfrm>
              <a:off x="1731140"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3" name="Rechteck 182"/>
            <p:cNvSpPr/>
            <p:nvPr/>
          </p:nvSpPr>
          <p:spPr>
            <a:xfrm>
              <a:off x="267304"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4" name="Rechteck 183"/>
            <p:cNvSpPr/>
            <p:nvPr/>
          </p:nvSpPr>
          <p:spPr>
            <a:xfrm>
              <a:off x="267304"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5" name="Rechteck 184"/>
            <p:cNvSpPr/>
            <p:nvPr/>
          </p:nvSpPr>
          <p:spPr>
            <a:xfrm>
              <a:off x="267304"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6" name="Rechteck 185"/>
            <p:cNvSpPr/>
            <p:nvPr/>
          </p:nvSpPr>
          <p:spPr>
            <a:xfrm>
              <a:off x="267304"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7" name="Rechteck 186"/>
            <p:cNvSpPr/>
            <p:nvPr/>
          </p:nvSpPr>
          <p:spPr>
            <a:xfrm>
              <a:off x="267304"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8" name="Rechteck 187"/>
            <p:cNvSpPr/>
            <p:nvPr/>
          </p:nvSpPr>
          <p:spPr>
            <a:xfrm>
              <a:off x="267304"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9" name="Rechteck 188"/>
            <p:cNvSpPr/>
            <p:nvPr/>
          </p:nvSpPr>
          <p:spPr>
            <a:xfrm>
              <a:off x="267304"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0" name="Rechteck 189"/>
            <p:cNvSpPr/>
            <p:nvPr/>
          </p:nvSpPr>
          <p:spPr>
            <a:xfrm>
              <a:off x="267304"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1" name="Rechteck 190"/>
            <p:cNvSpPr/>
            <p:nvPr/>
          </p:nvSpPr>
          <p:spPr>
            <a:xfrm>
              <a:off x="267304"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2" name="Rechteck 191"/>
            <p:cNvSpPr/>
            <p:nvPr/>
          </p:nvSpPr>
          <p:spPr>
            <a:xfrm>
              <a:off x="267304"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3" name="Rechteck 192"/>
            <p:cNvSpPr/>
            <p:nvPr/>
          </p:nvSpPr>
          <p:spPr>
            <a:xfrm>
              <a:off x="267304"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4" name="Rechteck 193"/>
            <p:cNvSpPr/>
            <p:nvPr/>
          </p:nvSpPr>
          <p:spPr>
            <a:xfrm>
              <a:off x="267304"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5" name="Rechteck 194"/>
            <p:cNvSpPr/>
            <p:nvPr/>
          </p:nvSpPr>
          <p:spPr>
            <a:xfrm>
              <a:off x="267304"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6" name="Rechteck 195"/>
            <p:cNvSpPr/>
            <p:nvPr/>
          </p:nvSpPr>
          <p:spPr>
            <a:xfrm>
              <a:off x="267304"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7" name="Rechteck 196"/>
            <p:cNvSpPr/>
            <p:nvPr/>
          </p:nvSpPr>
          <p:spPr>
            <a:xfrm>
              <a:off x="267304"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8" name="Rechteck 197"/>
            <p:cNvSpPr/>
            <p:nvPr/>
          </p:nvSpPr>
          <p:spPr>
            <a:xfrm>
              <a:off x="267304"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9" name="Rechteck 198"/>
            <p:cNvSpPr/>
            <p:nvPr/>
          </p:nvSpPr>
          <p:spPr>
            <a:xfrm>
              <a:off x="267304"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0" name="Rechteck 199"/>
            <p:cNvSpPr/>
            <p:nvPr/>
          </p:nvSpPr>
          <p:spPr>
            <a:xfrm>
              <a:off x="267304"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1" name="Rechteck 200"/>
            <p:cNvSpPr/>
            <p:nvPr/>
          </p:nvSpPr>
          <p:spPr>
            <a:xfrm>
              <a:off x="267304"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2" name="Rechteck 201"/>
            <p:cNvSpPr/>
            <p:nvPr/>
          </p:nvSpPr>
          <p:spPr>
            <a:xfrm>
              <a:off x="267304"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3" name="Rechteck 202"/>
            <p:cNvSpPr/>
            <p:nvPr/>
          </p:nvSpPr>
          <p:spPr>
            <a:xfrm>
              <a:off x="267304"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4" name="Rechteck 203"/>
            <p:cNvSpPr/>
            <p:nvPr/>
          </p:nvSpPr>
          <p:spPr>
            <a:xfrm>
              <a:off x="267304"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5" name="Rechteck 204"/>
            <p:cNvSpPr/>
            <p:nvPr/>
          </p:nvSpPr>
          <p:spPr>
            <a:xfrm>
              <a:off x="267304"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6" name="Rechteck 205"/>
            <p:cNvSpPr/>
            <p:nvPr/>
          </p:nvSpPr>
          <p:spPr>
            <a:xfrm>
              <a:off x="267304"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7" name="Rechteck 206"/>
            <p:cNvSpPr/>
            <p:nvPr/>
          </p:nvSpPr>
          <p:spPr>
            <a:xfrm>
              <a:off x="267304"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8" name="Rechteck 207"/>
            <p:cNvSpPr/>
            <p:nvPr/>
          </p:nvSpPr>
          <p:spPr>
            <a:xfrm>
              <a:off x="267304"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10" name="Rechteck 209"/>
          <p:cNvSpPr/>
          <p:nvPr/>
        </p:nvSpPr>
        <p:spPr>
          <a:xfrm>
            <a:off x="0" y="0"/>
            <a:ext cx="12192000" cy="1207277"/>
          </a:xfrm>
          <a:prstGeom prst="rect">
            <a:avLst/>
          </a:prstGeom>
          <a:gradFill flip="none" rotWithShape="1">
            <a:gsLst>
              <a:gs pos="43000">
                <a:srgbClr val="FFFFFF"/>
              </a:gs>
              <a:gs pos="24000">
                <a:srgbClr val="FFFFFF">
                  <a:alpha val="78000"/>
                </a:srgbClr>
              </a:gs>
              <a:gs pos="0">
                <a:sysClr val="window" lastClr="FFFFFF">
                  <a:alpha val="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smtClean="0">
              <a:ln>
                <a:noFill/>
              </a:ln>
              <a:solidFill>
                <a:prstClr val="black"/>
              </a:solidFill>
              <a:effectLst/>
              <a:uLnTx/>
              <a:uFillTx/>
            </a:endParaRPr>
          </a:p>
        </p:txBody>
      </p:sp>
      <p:sp>
        <p:nvSpPr>
          <p:cNvPr id="213" name="Textfeld 212"/>
          <p:cNvSpPr txBox="1"/>
          <p:nvPr/>
        </p:nvSpPr>
        <p:spPr>
          <a:xfrm>
            <a:off x="6082748" y="642320"/>
            <a:ext cx="3587969" cy="2677656"/>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000000"/>
                </a:solidFill>
                <a:effectLst/>
                <a:uLnTx/>
                <a:uFillTx/>
              </a:rPr>
              <a:t>Data with misaligned focus</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Data source/provider has a different focus</a:t>
            </a:r>
          </a:p>
          <a:p>
            <a:pPr marL="432000" lvl="1" indent="-216000">
              <a:buClr>
                <a:srgbClr val="00AAE5"/>
              </a:buClr>
              <a:buFont typeface="Wingdings" panose="05000000000000000000" pitchFamily="2" charset="2"/>
              <a:buChar char="§"/>
              <a:defRPr/>
            </a:pPr>
            <a:r>
              <a:rPr lang="en-US" sz="1400" kern="0" dirty="0" smtClean="0">
                <a:solidFill>
                  <a:srgbClr val="000000"/>
                </a:solidFill>
              </a:rPr>
              <a:t>Subordinate entities to firms, i.e. establishments, departments</a:t>
            </a:r>
          </a:p>
          <a:p>
            <a:pPr marL="432000" lvl="1" indent="-216000">
              <a:buClr>
                <a:srgbClr val="00AAE5"/>
              </a:buClr>
              <a:buFont typeface="Wingdings" panose="05000000000000000000" pitchFamily="2" charset="2"/>
              <a:buChar char="§"/>
              <a:defRPr/>
            </a:pPr>
            <a:r>
              <a:rPr kumimoji="0" lang="en-US" sz="1400" b="0" i="0" u="none" strike="noStrike" kern="0" cap="none" spc="0" normalizeH="0" baseline="0" noProof="0" dirty="0" smtClean="0">
                <a:ln>
                  <a:noFill/>
                </a:ln>
                <a:solidFill>
                  <a:srgbClr val="000000"/>
                </a:solidFill>
                <a:effectLst/>
                <a:uLnTx/>
                <a:uFillTx/>
              </a:rPr>
              <a:t>Unrelated</a:t>
            </a:r>
            <a:r>
              <a:rPr kumimoji="0" lang="en-US" sz="1400" b="0" i="0" u="none" strike="noStrike" kern="0" cap="none" spc="0" normalizeH="0" noProof="0" dirty="0" smtClean="0">
                <a:ln>
                  <a:noFill/>
                </a:ln>
                <a:solidFill>
                  <a:srgbClr val="000000"/>
                </a:solidFill>
                <a:effectLst/>
                <a:uLnTx/>
                <a:uFillTx/>
              </a:rPr>
              <a:t> entities, i.e. patents, publications, subsidy lists</a:t>
            </a:r>
          </a:p>
          <a:p>
            <a:pPr marL="432000" lvl="1" indent="-216000">
              <a:buClr>
                <a:srgbClr val="00AAE5"/>
              </a:buClr>
              <a:buFont typeface="Wingdings" panose="05000000000000000000" pitchFamily="2" charset="2"/>
              <a:buChar char="§"/>
              <a:defRPr/>
            </a:pPr>
            <a:r>
              <a:rPr lang="en-US" sz="1400" kern="0" baseline="0" dirty="0" smtClean="0">
                <a:solidFill>
                  <a:srgbClr val="000000"/>
                </a:solidFill>
              </a:rPr>
              <a:t>No</a:t>
            </a:r>
            <a:r>
              <a:rPr lang="en-US" sz="1400" kern="0" dirty="0" smtClean="0">
                <a:solidFill>
                  <a:srgbClr val="000000"/>
                </a:solidFill>
              </a:rPr>
              <a:t> focus at all, i.e. scraped web data</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Firms do not have a dedicated key</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Multiple undeclared variants for an entity</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May not be suited as search table because additional</a:t>
            </a:r>
            <a:r>
              <a:rPr kumimoji="0" lang="en-US" sz="1400" b="0" i="0" u="none" strike="noStrike" kern="0" cap="none" spc="0" normalizeH="0" noProof="0" dirty="0" smtClean="0">
                <a:ln>
                  <a:noFill/>
                </a:ln>
                <a:solidFill>
                  <a:srgbClr val="000000"/>
                </a:solidFill>
                <a:effectLst/>
                <a:uLnTx/>
                <a:uFillTx/>
              </a:rPr>
              <a:t> </a:t>
            </a:r>
            <a:r>
              <a:rPr lang="en-US" sz="1400" kern="0" dirty="0" smtClean="0">
                <a:solidFill>
                  <a:srgbClr val="000000"/>
                </a:solidFill>
              </a:rPr>
              <a:t>n</a:t>
            </a:r>
            <a:r>
              <a:rPr kumimoji="0" lang="en-US" sz="1400" b="0" i="0" u="none" strike="noStrike" kern="0" cap="none" spc="0" normalizeH="0" noProof="0" dirty="0" err="1" smtClean="0">
                <a:ln>
                  <a:noFill/>
                </a:ln>
                <a:solidFill>
                  <a:srgbClr val="000000"/>
                </a:solidFill>
                <a:effectLst/>
                <a:uLnTx/>
                <a:uFillTx/>
              </a:rPr>
              <a:t>oise</a:t>
            </a:r>
            <a:r>
              <a:rPr kumimoji="0" lang="en-US" sz="1400" b="0" i="0" u="none" strike="noStrike" kern="0" cap="none" spc="0" normalizeH="0" noProof="0" dirty="0" smtClean="0">
                <a:ln>
                  <a:noFill/>
                </a:ln>
                <a:solidFill>
                  <a:srgbClr val="000000"/>
                </a:solidFill>
                <a:effectLst/>
                <a:uLnTx/>
                <a:uFillTx/>
              </a:rPr>
              <a:t> due to misaligned focus or low data quality may confound search terms</a:t>
            </a:r>
          </a:p>
        </p:txBody>
      </p:sp>
      <p:sp>
        <p:nvSpPr>
          <p:cNvPr id="215" name="Textfeld 214"/>
          <p:cNvSpPr txBox="1"/>
          <p:nvPr/>
        </p:nvSpPr>
        <p:spPr>
          <a:xfrm>
            <a:off x="2462194" y="642320"/>
            <a:ext cx="3491345" cy="1815882"/>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000000"/>
                </a:solidFill>
                <a:effectLst/>
                <a:uLnTx/>
                <a:uFillTx/>
              </a:rPr>
              <a:t>Curated data with firm focus</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0000"/>
                </a:solidFill>
              </a:rPr>
              <a:t>Data provider focused on search context</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Sound entity definition: </a:t>
            </a:r>
            <a:r>
              <a:rPr lang="en-US" sz="1400" kern="0" dirty="0">
                <a:solidFill>
                  <a:srgbClr val="000000"/>
                </a:solidFill>
              </a:rPr>
              <a:t>f</a:t>
            </a:r>
            <a:r>
              <a:rPr kumimoji="0" lang="en-US" sz="1400" b="0" i="0" u="none" strike="noStrike" kern="0" cap="none" spc="0" normalizeH="0" baseline="0" noProof="0" dirty="0" err="1" smtClean="0">
                <a:ln>
                  <a:noFill/>
                </a:ln>
                <a:solidFill>
                  <a:srgbClr val="000000"/>
                </a:solidFill>
                <a:effectLst/>
                <a:uLnTx/>
                <a:uFillTx/>
              </a:rPr>
              <a:t>irms</a:t>
            </a:r>
            <a:r>
              <a:rPr kumimoji="0" lang="en-US" sz="1400" b="0" i="0" u="none" strike="noStrike" kern="0" cap="none" spc="0" normalizeH="0" baseline="0" noProof="0" dirty="0" smtClean="0">
                <a:ln>
                  <a:noFill/>
                </a:ln>
                <a:solidFill>
                  <a:srgbClr val="000000"/>
                </a:solidFill>
                <a:effectLst/>
                <a:uLnTx/>
                <a:uFillTx/>
              </a:rPr>
              <a:t> have a dedicated key, i.e. </a:t>
            </a:r>
            <a:r>
              <a:rPr kumimoji="0" lang="en-US" sz="1400" b="0" i="0" u="none" strike="noStrike" kern="0" cap="none" spc="0" normalizeH="0" baseline="0" noProof="0" dirty="0" err="1" smtClean="0">
                <a:ln>
                  <a:noFill/>
                </a:ln>
                <a:solidFill>
                  <a:srgbClr val="000000"/>
                </a:solidFill>
                <a:effectLst/>
                <a:uLnTx/>
                <a:uFillTx/>
              </a:rPr>
              <a:t>bvdid</a:t>
            </a:r>
            <a:r>
              <a:rPr kumimoji="0" lang="en-US" sz="1400" b="0" i="0" u="none" strike="noStrike" kern="0" cap="none" spc="0" normalizeH="0" baseline="0" noProof="0" dirty="0" smtClean="0">
                <a:ln>
                  <a:noFill/>
                </a:ln>
                <a:solidFill>
                  <a:srgbClr val="000000"/>
                </a:solidFill>
                <a:effectLst/>
                <a:uLnTx/>
                <a:uFillTx/>
              </a:rPr>
              <a:t>, tax number</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Duplicates are avoided</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0000"/>
                </a:solidFill>
              </a:rPr>
              <a:t>Clean names and addresses without clutter </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err="1" smtClean="0">
                <a:ln>
                  <a:noFill/>
                </a:ln>
                <a:solidFill>
                  <a:srgbClr val="000000"/>
                </a:solidFill>
                <a:effectLst/>
                <a:uLnTx/>
                <a:uFillTx/>
              </a:rPr>
              <a:t>Orbis</a:t>
            </a:r>
            <a:r>
              <a:rPr kumimoji="0" lang="en-US" sz="1400" b="0" i="0" u="none" strike="noStrike" kern="0" cap="none" spc="0" normalizeH="0" baseline="0" noProof="0" dirty="0" smtClean="0">
                <a:ln>
                  <a:noFill/>
                </a:ln>
                <a:solidFill>
                  <a:srgbClr val="000000"/>
                </a:solidFill>
                <a:effectLst/>
                <a:uLnTx/>
                <a:uFillTx/>
              </a:rPr>
              <a:t>, </a:t>
            </a:r>
            <a:r>
              <a:rPr kumimoji="0" lang="en-US" sz="1400" b="0" i="0" u="none" strike="noStrike" kern="0" cap="none" spc="0" normalizeH="0" baseline="0" noProof="0" dirty="0" err="1" smtClean="0">
                <a:ln>
                  <a:noFill/>
                </a:ln>
                <a:solidFill>
                  <a:srgbClr val="000000"/>
                </a:solidFill>
                <a:effectLst/>
                <a:uLnTx/>
                <a:uFillTx/>
              </a:rPr>
              <a:t>Compustat</a:t>
            </a:r>
            <a:r>
              <a:rPr kumimoji="0" lang="en-US" sz="1400" b="0" i="0" u="none" strike="noStrike" kern="0" cap="none" spc="0" normalizeH="0" baseline="0" noProof="0" dirty="0" smtClean="0">
                <a:ln>
                  <a:noFill/>
                </a:ln>
                <a:solidFill>
                  <a:srgbClr val="000000"/>
                </a:solidFill>
                <a:effectLst/>
                <a:uLnTx/>
                <a:uFillTx/>
              </a:rPr>
              <a:t>, </a:t>
            </a:r>
            <a:r>
              <a:rPr kumimoji="0" lang="en-US" sz="1400" b="0" i="0" u="none" strike="noStrike" kern="0" cap="none" spc="0" normalizeH="0" baseline="0" noProof="0" dirty="0" err="1" smtClean="0">
                <a:ln>
                  <a:noFill/>
                </a:ln>
                <a:solidFill>
                  <a:srgbClr val="000000"/>
                </a:solidFill>
                <a:effectLst/>
                <a:uLnTx/>
                <a:uFillTx/>
              </a:rPr>
              <a:t>creditreform</a:t>
            </a:r>
            <a:r>
              <a:rPr kumimoji="0" lang="en-US" sz="1400" b="0" i="0" u="none" strike="noStrike" kern="0" cap="none" spc="0" normalizeH="0" baseline="0" noProof="0" dirty="0" smtClean="0">
                <a:ln>
                  <a:noFill/>
                </a:ln>
                <a:solidFill>
                  <a:srgbClr val="000000"/>
                </a:solidFill>
                <a:effectLst/>
                <a:uLnTx/>
                <a:uFillTx/>
              </a:rPr>
              <a:t>, authorities</a:t>
            </a:r>
          </a:p>
        </p:txBody>
      </p:sp>
      <p:sp>
        <p:nvSpPr>
          <p:cNvPr id="212" name="Titel 1"/>
          <p:cNvSpPr txBox="1">
            <a:spLocks/>
          </p:cNvSpPr>
          <p:nvPr/>
        </p:nvSpPr>
        <p:spPr>
          <a:xfrm>
            <a:off x="8235261" y="156730"/>
            <a:ext cx="396044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r" defTabSz="914400" rtl="0" eaLnBrk="1" fontAlgn="auto" latinLnBrk="0" hangingPunct="1">
              <a:lnSpc>
                <a:spcPct val="100000"/>
              </a:lnSpc>
              <a:spcBef>
                <a:spcPct val="0"/>
              </a:spcBef>
              <a:spcAft>
                <a:spcPts val="0"/>
              </a:spcAft>
              <a:buClrTx/>
              <a:buSzTx/>
              <a:buFontTx/>
              <a:buNone/>
              <a:tabLst>
                <a:tab pos="1433513" algn="l"/>
              </a:tabLst>
              <a:defRPr/>
            </a:pPr>
            <a:r>
              <a:rPr kumimoji="0" lang="en-US" sz="2400" b="0" i="0" u="none" strike="noStrike" kern="1200" cap="none" spc="0" normalizeH="0" baseline="0" noProof="0" dirty="0" smtClean="0">
                <a:ln>
                  <a:noFill/>
                </a:ln>
                <a:solidFill>
                  <a:srgbClr val="BADA15"/>
                </a:solidFill>
                <a:effectLst/>
                <a:uLnTx/>
                <a:uFillTx/>
                <a:latin typeface="Calibri"/>
                <a:ea typeface="+mj-ea"/>
                <a:cs typeface="+mj-cs"/>
              </a:rPr>
              <a:t>Unfocused Base Table</a:t>
            </a:r>
            <a:endParaRPr kumimoji="0" lang="en-US" sz="2400" b="0" i="0" u="none" strike="noStrike" kern="1200" cap="none" spc="0" normalizeH="0" baseline="0" noProof="0" dirty="0">
              <a:ln>
                <a:noFill/>
              </a:ln>
              <a:solidFill>
                <a:srgbClr val="BADA15"/>
              </a:solidFill>
              <a:effectLst/>
              <a:uLnTx/>
              <a:uFillTx/>
              <a:latin typeface="Calibri"/>
              <a:ea typeface="+mj-ea"/>
              <a:cs typeface="+mj-cs"/>
            </a:endParaRPr>
          </a:p>
        </p:txBody>
      </p:sp>
      <p:sp>
        <p:nvSpPr>
          <p:cNvPr id="217" name="Titel 1"/>
          <p:cNvSpPr txBox="1">
            <a:spLocks/>
          </p:cNvSpPr>
          <p:nvPr/>
        </p:nvSpPr>
        <p:spPr>
          <a:xfrm>
            <a:off x="1547" y="156730"/>
            <a:ext cx="3168352"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7CD2C6"/>
                </a:solidFill>
                <a:effectLst/>
                <a:uLnTx/>
                <a:uFillTx/>
                <a:latin typeface="Calibri"/>
                <a:ea typeface="+mj-ea"/>
                <a:cs typeface="+mj-cs"/>
              </a:rPr>
              <a:t>Focused Base Table</a:t>
            </a:r>
            <a:endParaRPr kumimoji="0" lang="en-US" sz="2400" b="0" i="0" u="none" strike="noStrike" kern="1200" cap="none" spc="0" normalizeH="0" baseline="0" noProof="0" dirty="0">
              <a:ln>
                <a:noFill/>
              </a:ln>
              <a:solidFill>
                <a:srgbClr val="7CD2C6"/>
              </a:solidFill>
              <a:effectLst/>
              <a:uLnTx/>
              <a:uFillTx/>
              <a:latin typeface="Calibri"/>
              <a:ea typeface="+mj-ea"/>
              <a:cs typeface="+mj-cs"/>
            </a:endParaRPr>
          </a:p>
        </p:txBody>
      </p:sp>
      <p:sp>
        <p:nvSpPr>
          <p:cNvPr id="218" name="Titel 1"/>
          <p:cNvSpPr txBox="1">
            <a:spLocks/>
          </p:cNvSpPr>
          <p:nvPr/>
        </p:nvSpPr>
        <p:spPr>
          <a:xfrm>
            <a:off x="5829208" y="156730"/>
            <a:ext cx="533585" cy="463958"/>
          </a:xfrm>
          <a:prstGeom prst="rect">
            <a:avLst/>
          </a:prstGeom>
        </p:spPr>
        <p:txBody>
          <a:bodyPr vert="horz" wrap="square" lIns="91440" tIns="45720" rIns="91440" bIns="45720" rtlCol="0" anchor="ctr">
            <a:sp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effectLst/>
                <a:uLnTx/>
                <a:uFillTx/>
                <a:latin typeface="Calibri"/>
                <a:ea typeface="+mj-ea"/>
                <a:cs typeface="+mj-cs"/>
              </a:rPr>
              <a:t>vs.</a:t>
            </a:r>
            <a:endParaRPr kumimoji="0" lang="en-US" sz="2400" b="0" i="0" u="none" strike="noStrike" kern="1200" cap="none" spc="0" normalizeH="0" baseline="0" noProof="0" dirty="0">
              <a:ln>
                <a:noFill/>
              </a:ln>
              <a:effectLst/>
              <a:uLnTx/>
              <a:uFillTx/>
              <a:latin typeface="Calibri"/>
              <a:ea typeface="+mj-ea"/>
              <a:cs typeface="+mj-cs"/>
            </a:endParaRPr>
          </a:p>
        </p:txBody>
      </p:sp>
      <p:sp>
        <p:nvSpPr>
          <p:cNvPr id="211" name="Rechteck 210"/>
          <p:cNvSpPr/>
          <p:nvPr/>
        </p:nvSpPr>
        <p:spPr>
          <a:xfrm flipV="1">
            <a:off x="-2240" y="5817258"/>
            <a:ext cx="4286207" cy="1040742"/>
          </a:xfrm>
          <a:prstGeom prst="rect">
            <a:avLst/>
          </a:prstGeom>
          <a:gradFill flip="none" rotWithShape="1">
            <a:gsLst>
              <a:gs pos="0">
                <a:sysClr val="window" lastClr="FFFFFF">
                  <a:alpha val="0"/>
                </a:sysClr>
              </a:gs>
              <a:gs pos="30000">
                <a:sysClr val="window" lastClr="FFFFFF">
                  <a:alpha val="75000"/>
                </a:sysClr>
              </a:gs>
              <a:gs pos="50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220"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41" name="Rechteck 240"/>
          <p:cNvSpPr/>
          <p:nvPr/>
        </p:nvSpPr>
        <p:spPr>
          <a:xfrm flipV="1">
            <a:off x="8074988" y="5817258"/>
            <a:ext cx="4286207" cy="1040742"/>
          </a:xfrm>
          <a:prstGeom prst="rect">
            <a:avLst/>
          </a:prstGeom>
          <a:gradFill flip="none" rotWithShape="1">
            <a:gsLst>
              <a:gs pos="0">
                <a:sysClr val="window" lastClr="FFFFFF">
                  <a:alpha val="0"/>
                </a:sysClr>
              </a:gs>
              <a:gs pos="29000">
                <a:sysClr val="window" lastClr="FFFFFF">
                  <a:alpha val="75000"/>
                </a:sysClr>
              </a:gs>
              <a:gs pos="49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243" name="Bild 4" descr="Leibniz__Logo_DE_Blau-Schwarz_100mm.jpg"/>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11460049" y="6321725"/>
            <a:ext cx="627611" cy="499299"/>
          </a:xfrm>
          <a:prstGeom prst="rect">
            <a:avLst/>
          </a:prstGeom>
        </p:spPr>
      </p:pic>
      <p:sp>
        <p:nvSpPr>
          <p:cNvPr id="216" name="Textfeld 215"/>
          <p:cNvSpPr txBox="1"/>
          <p:nvPr/>
        </p:nvSpPr>
        <p:spPr>
          <a:xfrm>
            <a:off x="2462194" y="2464312"/>
            <a:ext cx="3492197" cy="3539430"/>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7AD0C4"/>
                </a:solidFill>
                <a:effectLst/>
                <a:uLnTx/>
                <a:uFillTx/>
              </a:rPr>
              <a:t>Incremental Search Strategy</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Multiple incremental search runs</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Search parameters are gradually relaxed between runs </a:t>
            </a:r>
          </a:p>
          <a:p>
            <a:pPr marL="432000" lvl="1" indent="-216000">
              <a:buClr>
                <a:srgbClr val="00B0F0"/>
              </a:buClr>
              <a:buFont typeface="Calibri" panose="020F0502020204030204" pitchFamily="34" charset="0"/>
              <a:buChar char="→"/>
              <a:defRPr/>
            </a:pPr>
            <a:r>
              <a:rPr kumimoji="0" lang="en-US" sz="1400" b="0" i="0" u="none" strike="noStrike" kern="0" cap="none" spc="0" normalizeH="0" baseline="0" noProof="0" dirty="0" smtClean="0">
                <a:ln>
                  <a:noFill/>
                </a:ln>
                <a:solidFill>
                  <a:srgbClr val="000000"/>
                </a:solidFill>
                <a:effectLst/>
                <a:uLnTx/>
                <a:uFillTx/>
              </a:rPr>
              <a:t>Earlier runs</a:t>
            </a:r>
            <a:r>
              <a:rPr kumimoji="0" lang="en-US" sz="1400" b="0" i="0" u="none" strike="noStrike" kern="0" cap="none" spc="0" normalizeH="0" noProof="0" dirty="0" smtClean="0">
                <a:ln>
                  <a:noFill/>
                </a:ln>
                <a:solidFill>
                  <a:srgbClr val="000000"/>
                </a:solidFill>
                <a:effectLst/>
                <a:uLnTx/>
                <a:uFillTx/>
              </a:rPr>
              <a:t> have higher quality</a:t>
            </a:r>
          </a:p>
          <a:p>
            <a:pPr marL="432000" lvl="1" indent="-216000">
              <a:buClr>
                <a:srgbClr val="00B0F0"/>
              </a:buClr>
              <a:buFont typeface="Calibri" panose="020F0502020204030204" pitchFamily="34" charset="0"/>
              <a:buChar char="→"/>
              <a:defRPr/>
            </a:pPr>
            <a:r>
              <a:rPr lang="en-US" sz="1400" kern="0" baseline="0" dirty="0" smtClean="0">
                <a:solidFill>
                  <a:srgbClr val="000000"/>
                </a:solidFill>
              </a:rPr>
              <a:t>Later runs increase recall</a:t>
            </a:r>
            <a:endParaRPr kumimoji="0" lang="en-US" sz="1400" b="0" i="0" u="none" strike="noStrike" kern="0" cap="none" spc="0" normalizeH="0" baseline="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Darwinian</a:t>
            </a:r>
            <a:r>
              <a:rPr kumimoji="0" lang="en-US" sz="1400" b="0" i="0" u="none" strike="noStrike" kern="0" cap="none" spc="0" normalizeH="0" baseline="0" noProof="0" dirty="0" smtClean="0">
                <a:ln>
                  <a:noFill/>
                </a:ln>
                <a:solidFill>
                  <a:srgbClr val="000000"/>
                </a:solidFill>
                <a:effectLst/>
                <a:uLnTx/>
                <a:uFillTx/>
              </a:rPr>
              <a:t>: only the best candidates are picked</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AAE5"/>
                </a:solidFill>
              </a:rPr>
              <a:t>Containment</a:t>
            </a:r>
            <a:r>
              <a:rPr lang="en-US" sz="1400" kern="0" dirty="0" smtClean="0">
                <a:solidFill>
                  <a:srgbClr val="000000"/>
                </a:solidFill>
              </a:rPr>
              <a:t>: tight, easy to assess</a:t>
            </a:r>
            <a:endParaRPr kumimoji="0" lang="en-US" sz="1400" b="0" i="0" u="none" strike="noStrike" kern="0" cap="none" spc="0" normalizeH="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Completing</a:t>
            </a:r>
            <a:r>
              <a:rPr kumimoji="0" lang="en-US" sz="1400" b="0" i="0" u="none" strike="noStrike" kern="0" cap="none" spc="0" normalizeH="0" baseline="0" noProof="0" dirty="0" smtClean="0">
                <a:ln>
                  <a:noFill/>
                </a:ln>
                <a:solidFill>
                  <a:srgbClr val="000000"/>
                </a:solidFill>
                <a:effectLst/>
                <a:uLnTx/>
                <a:uFillTx/>
              </a:rPr>
              <a:t>: search records with candidates are saturated and omitted from subsequent search runs</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Lean candidate lists with uniform identities</a:t>
            </a:r>
          </a:p>
          <a:p>
            <a:pPr marL="432000" marR="0" lvl="0" indent="-216000" defTabSz="914400" eaLnBrk="1" fontAlgn="auto" latinLnBrk="0" hangingPunct="1">
              <a:lnSpc>
                <a:spcPct val="100000"/>
              </a:lnSpc>
              <a:spcBef>
                <a:spcPts val="0"/>
              </a:spcBef>
              <a:spcAft>
                <a:spcPts val="0"/>
              </a:spcAft>
              <a:buClr>
                <a:srgbClr val="00B0F0"/>
              </a:buClr>
              <a:buSzTx/>
              <a:buFont typeface="Calibri" panose="020F0502020204030204" pitchFamily="34" charset="0"/>
              <a:buChar char="→"/>
              <a:tabLst/>
              <a:defRPr/>
            </a:pPr>
            <a:r>
              <a:rPr lang="en-US" sz="1400" kern="0" dirty="0" smtClean="0">
                <a:solidFill>
                  <a:srgbClr val="000000"/>
                </a:solidFill>
              </a:rPr>
              <a:t>Convenient to label training data</a:t>
            </a:r>
          </a:p>
          <a:p>
            <a:pPr marL="432000" marR="0" lvl="0" indent="-216000" defTabSz="914400" eaLnBrk="1" fontAlgn="auto" latinLnBrk="0" hangingPunct="1">
              <a:lnSpc>
                <a:spcPct val="100000"/>
              </a:lnSpc>
              <a:spcBef>
                <a:spcPts val="0"/>
              </a:spcBef>
              <a:spcAft>
                <a:spcPts val="0"/>
              </a:spcAft>
              <a:buClr>
                <a:srgbClr val="00B0F0"/>
              </a:buClr>
              <a:buSzTx/>
              <a:buFont typeface="Calibri" panose="020F0502020204030204" pitchFamily="34" charset="0"/>
              <a:buChar char="→"/>
              <a:tabLst/>
              <a:defRPr/>
            </a:pPr>
            <a:r>
              <a:rPr kumimoji="0" lang="en-US" sz="1400" b="0" i="0" u="none" strike="noStrike" kern="0" cap="none" spc="0" normalizeH="0" baseline="0" noProof="0" dirty="0" smtClean="0">
                <a:ln>
                  <a:noFill/>
                </a:ln>
                <a:solidFill>
                  <a:srgbClr val="00AAE5"/>
                </a:solidFill>
                <a:effectLst/>
                <a:uLnTx/>
                <a:uFillTx/>
              </a:rPr>
              <a:t>SEML</a:t>
            </a:r>
            <a:r>
              <a:rPr kumimoji="0" lang="en-US" sz="1400" b="0" i="0" u="none" strike="noStrike" kern="0" cap="none" spc="0" normalizeH="0" baseline="0" noProof="0" dirty="0" smtClean="0">
                <a:ln>
                  <a:noFill/>
                </a:ln>
                <a:solidFill>
                  <a:srgbClr val="000000"/>
                </a:solidFill>
                <a:effectLst/>
                <a:uLnTx/>
                <a:uFillTx/>
              </a:rPr>
              <a:t> identifies false</a:t>
            </a:r>
            <a:r>
              <a:rPr kumimoji="0" lang="en-US" sz="1400" b="0" i="0" u="none" strike="noStrike" kern="0" cap="none" spc="0" normalizeH="0" noProof="0" dirty="0" smtClean="0">
                <a:ln>
                  <a:noFill/>
                </a:ln>
                <a:solidFill>
                  <a:srgbClr val="000000"/>
                </a:solidFill>
                <a:effectLst/>
                <a:uLnTx/>
                <a:uFillTx/>
              </a:rPr>
              <a:t> positives with</a:t>
            </a:r>
            <a:r>
              <a:rPr kumimoji="0" lang="en-US" sz="1400" b="0" i="0" u="none" strike="noStrike" kern="0" cap="none" spc="0" normalizeH="0" baseline="0" noProof="0" dirty="0" smtClean="0">
                <a:ln>
                  <a:noFill/>
                </a:ln>
                <a:solidFill>
                  <a:srgbClr val="000000"/>
                </a:solidFill>
                <a:effectLst/>
                <a:uLnTx/>
                <a:uFillTx/>
              </a:rPr>
              <a:t> high accuracy</a:t>
            </a:r>
          </a:p>
        </p:txBody>
      </p:sp>
    </p:spTree>
    <p:extLst>
      <p:ext uri="{BB962C8B-B14F-4D97-AF65-F5344CB8AC3E}">
        <p14:creationId xmlns:p14="http://schemas.microsoft.com/office/powerpoint/2010/main" val="207288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6"/>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0"/>
                            </p:stCondLst>
                            <p:childTnLst>
                              <p:par>
                                <p:cTn id="11" presetID="22" presetClass="entr" presetSubtype="8" fill="hold" nodeType="after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wipe(left)">
                                      <p:cBhvr>
                                        <p:cTn id="13" dur="250"/>
                                        <p:tgtEl>
                                          <p:spTgt spid="31"/>
                                        </p:tgtEl>
                                      </p:cBhvr>
                                    </p:animEffect>
                                  </p:childTnLst>
                                </p:cTn>
                              </p:par>
                            </p:childTnLst>
                          </p:cTn>
                        </p:par>
                        <p:par>
                          <p:cTn id="14" fill="hold">
                            <p:stCondLst>
                              <p:cond delay="250"/>
                            </p:stCondLst>
                            <p:childTnLst>
                              <p:par>
                                <p:cTn id="15" presetID="42" presetClass="path" presetSubtype="0" accel="50000" decel="50000" fill="hold" grpId="1" nodeType="afterEffect">
                                  <p:stCondLst>
                                    <p:cond delay="0"/>
                                  </p:stCondLst>
                                  <p:childTnLst>
                                    <p:animMotion origin="layout" path="M 2.08333E-7 -2.96296E-6 L -0.00013 0.03588 " pathEditMode="relative" rAng="0" ptsTypes="AA">
                                      <p:cBhvr>
                                        <p:cTn id="16" dur="250" fill="hold"/>
                                        <p:tgtEl>
                                          <p:spTgt spid="7"/>
                                        </p:tgtEl>
                                        <p:attrNameLst>
                                          <p:attrName>ppt_x</p:attrName>
                                          <p:attrName>ppt_y</p:attrName>
                                        </p:attrNameLst>
                                      </p:cBhvr>
                                      <p:rCtr x="-13" y="1782"/>
                                    </p:animMotion>
                                  </p:childTnLst>
                                </p:cTn>
                              </p:par>
                            </p:childTnLst>
                          </p:cTn>
                        </p:par>
                        <p:par>
                          <p:cTn id="17" fill="hold">
                            <p:stCondLst>
                              <p:cond delay="500"/>
                            </p:stCondLst>
                            <p:childTnLst>
                              <p:par>
                                <p:cTn id="18" presetID="42" presetClass="path" presetSubtype="0" accel="50000" decel="50000" fill="hold" grpId="2" nodeType="afterEffect">
                                  <p:stCondLst>
                                    <p:cond delay="0"/>
                                  </p:stCondLst>
                                  <p:childTnLst>
                                    <p:animMotion origin="layout" path="M -0.00013 0.03588 L -0.00052 0.0669 " pathEditMode="relative" rAng="0" ptsTypes="AA">
                                      <p:cBhvr>
                                        <p:cTn id="19" dur="250" fill="hold"/>
                                        <p:tgtEl>
                                          <p:spTgt spid="7"/>
                                        </p:tgtEl>
                                        <p:attrNameLst>
                                          <p:attrName>ppt_x</p:attrName>
                                          <p:attrName>ppt_y</p:attrName>
                                        </p:attrNameLst>
                                      </p:cBhvr>
                                      <p:rCtr x="-26" y="1551"/>
                                    </p:animMotion>
                                  </p:childTnLst>
                                </p:cTn>
                              </p:par>
                            </p:childTnLst>
                          </p:cTn>
                        </p:par>
                        <p:par>
                          <p:cTn id="20" fill="hold">
                            <p:stCondLst>
                              <p:cond delay="750"/>
                            </p:stCondLst>
                            <p:childTnLst>
                              <p:par>
                                <p:cTn id="21" presetID="22" presetClass="entr" presetSubtype="8" fill="hold" nodeType="afterEffect">
                                  <p:stCondLst>
                                    <p:cond delay="0"/>
                                  </p:stCondLst>
                                  <p:childTnLst>
                                    <p:set>
                                      <p:cBhvr>
                                        <p:cTn id="22" dur="1" fill="hold">
                                          <p:stCondLst>
                                            <p:cond delay="0"/>
                                          </p:stCondLst>
                                        </p:cTn>
                                        <p:tgtEl>
                                          <p:spTgt spid="73"/>
                                        </p:tgtEl>
                                        <p:attrNameLst>
                                          <p:attrName>style.visibility</p:attrName>
                                        </p:attrNameLst>
                                      </p:cBhvr>
                                      <p:to>
                                        <p:strVal val="visible"/>
                                      </p:to>
                                    </p:set>
                                    <p:animEffect transition="in" filter="wipe(left)">
                                      <p:cBhvr>
                                        <p:cTn id="23" dur="250"/>
                                        <p:tgtEl>
                                          <p:spTgt spid="73"/>
                                        </p:tgtEl>
                                      </p:cBhvr>
                                    </p:animEffect>
                                  </p:childTnLst>
                                </p:cTn>
                              </p:par>
                            </p:childTnLst>
                          </p:cTn>
                        </p:par>
                        <p:par>
                          <p:cTn id="24" fill="hold">
                            <p:stCondLst>
                              <p:cond delay="1000"/>
                            </p:stCondLst>
                            <p:childTnLst>
                              <p:par>
                                <p:cTn id="25" presetID="42" presetClass="path" presetSubtype="0" accel="50000" decel="50000" fill="hold" grpId="3" nodeType="afterEffect">
                                  <p:stCondLst>
                                    <p:cond delay="0"/>
                                  </p:stCondLst>
                                  <p:childTnLst>
                                    <p:animMotion origin="layout" path="M -0.00052 0.0669 L -0.00052 0.09977 " pathEditMode="relative" rAng="0" ptsTypes="AA">
                                      <p:cBhvr>
                                        <p:cTn id="26" dur="250" fill="hold"/>
                                        <p:tgtEl>
                                          <p:spTgt spid="7"/>
                                        </p:tgtEl>
                                        <p:attrNameLst>
                                          <p:attrName>ppt_x</p:attrName>
                                          <p:attrName>ppt_y</p:attrName>
                                        </p:attrNameLst>
                                      </p:cBhvr>
                                      <p:rCtr x="0" y="1644"/>
                                    </p:animMotion>
                                  </p:childTnLst>
                                </p:cTn>
                              </p:par>
                            </p:childTnLst>
                          </p:cTn>
                        </p:par>
                        <p:par>
                          <p:cTn id="27" fill="hold">
                            <p:stCondLst>
                              <p:cond delay="1250"/>
                            </p:stCondLst>
                            <p:childTnLst>
                              <p:par>
                                <p:cTn id="28" presetID="42" presetClass="path" presetSubtype="0" accel="50000" decel="50000" fill="hold" grpId="4" nodeType="afterEffect">
                                  <p:stCondLst>
                                    <p:cond delay="0"/>
                                  </p:stCondLst>
                                  <p:childTnLst>
                                    <p:animMotion origin="layout" path="M -0.00052 0.09977 L -0.00013 0.13264 " pathEditMode="relative" rAng="0" ptsTypes="AA">
                                      <p:cBhvr>
                                        <p:cTn id="29" dur="250" fill="hold"/>
                                        <p:tgtEl>
                                          <p:spTgt spid="7"/>
                                        </p:tgtEl>
                                        <p:attrNameLst>
                                          <p:attrName>ppt_x</p:attrName>
                                          <p:attrName>ppt_y</p:attrName>
                                        </p:attrNameLst>
                                      </p:cBhvr>
                                      <p:rCtr x="13" y="1644"/>
                                    </p:animMotion>
                                  </p:childTnLst>
                                </p:cTn>
                              </p:par>
                            </p:childTnLst>
                          </p:cTn>
                        </p:par>
                        <p:par>
                          <p:cTn id="30" fill="hold">
                            <p:stCondLst>
                              <p:cond delay="1500"/>
                            </p:stCondLst>
                            <p:childTnLst>
                              <p:par>
                                <p:cTn id="31" presetID="42" presetClass="path" presetSubtype="0" accel="50000" decel="50000" fill="hold" grpId="5" nodeType="afterEffect">
                                  <p:stCondLst>
                                    <p:cond delay="0"/>
                                  </p:stCondLst>
                                  <p:childTnLst>
                                    <p:animMotion origin="layout" path="M -0.00013 0.13264 L -0.00013 0.16505 " pathEditMode="relative" rAng="0" ptsTypes="AA">
                                      <p:cBhvr>
                                        <p:cTn id="32" dur="250" fill="hold"/>
                                        <p:tgtEl>
                                          <p:spTgt spid="7"/>
                                        </p:tgtEl>
                                        <p:attrNameLst>
                                          <p:attrName>ppt_x</p:attrName>
                                          <p:attrName>ppt_y</p:attrName>
                                        </p:attrNameLst>
                                      </p:cBhvr>
                                      <p:rCtr x="0" y="1620"/>
                                    </p:animMotion>
                                  </p:childTnLst>
                                </p:cTn>
                              </p:par>
                            </p:childTnLst>
                          </p:cTn>
                        </p:par>
                        <p:par>
                          <p:cTn id="33" fill="hold">
                            <p:stCondLst>
                              <p:cond delay="1750"/>
                            </p:stCondLst>
                            <p:childTnLst>
                              <p:par>
                                <p:cTn id="34" presetID="22" presetClass="entr" presetSubtype="8" fill="hold" nodeType="afterEffect">
                                  <p:stCondLst>
                                    <p:cond delay="0"/>
                                  </p:stCondLst>
                                  <p:childTnLst>
                                    <p:set>
                                      <p:cBhvr>
                                        <p:cTn id="35" dur="1" fill="hold">
                                          <p:stCondLst>
                                            <p:cond delay="0"/>
                                          </p:stCondLst>
                                        </p:cTn>
                                        <p:tgtEl>
                                          <p:spTgt spid="92"/>
                                        </p:tgtEl>
                                        <p:attrNameLst>
                                          <p:attrName>style.visibility</p:attrName>
                                        </p:attrNameLst>
                                      </p:cBhvr>
                                      <p:to>
                                        <p:strVal val="visible"/>
                                      </p:to>
                                    </p:set>
                                    <p:animEffect transition="in" filter="wipe(left)">
                                      <p:cBhvr>
                                        <p:cTn id="36" dur="250"/>
                                        <p:tgtEl>
                                          <p:spTgt spid="92"/>
                                        </p:tgtEl>
                                      </p:cBhvr>
                                    </p:animEffect>
                                  </p:childTnLst>
                                </p:cTn>
                              </p:par>
                            </p:childTnLst>
                          </p:cTn>
                        </p:par>
                        <p:par>
                          <p:cTn id="37" fill="hold">
                            <p:stCondLst>
                              <p:cond delay="2000"/>
                            </p:stCondLst>
                            <p:childTnLst>
                              <p:par>
                                <p:cTn id="38" presetID="42" presetClass="path" presetSubtype="0" accel="50000" decel="50000" fill="hold" grpId="6" nodeType="afterEffect">
                                  <p:stCondLst>
                                    <p:cond delay="0"/>
                                  </p:stCondLst>
                                  <p:childTnLst>
                                    <p:animMotion origin="layout" path="M -0.00013 0.16505 L -0.00013 0.19792 " pathEditMode="relative" rAng="0" ptsTypes="AA">
                                      <p:cBhvr>
                                        <p:cTn id="39" dur="250" fill="hold"/>
                                        <p:tgtEl>
                                          <p:spTgt spid="7"/>
                                        </p:tgtEl>
                                        <p:attrNameLst>
                                          <p:attrName>ppt_x</p:attrName>
                                          <p:attrName>ppt_y</p:attrName>
                                        </p:attrNameLst>
                                      </p:cBhvr>
                                      <p:rCtr x="0" y="1644"/>
                                    </p:animMotion>
                                  </p:childTnLst>
                                </p:cTn>
                              </p:par>
                            </p:childTnLst>
                          </p:cTn>
                        </p:par>
                        <p:par>
                          <p:cTn id="40" fill="hold">
                            <p:stCondLst>
                              <p:cond delay="2250"/>
                            </p:stCondLst>
                            <p:childTnLst>
                              <p:par>
                                <p:cTn id="41" presetID="42" presetClass="path" presetSubtype="0" accel="50000" decel="50000" fill="hold" grpId="7" nodeType="afterEffect">
                                  <p:stCondLst>
                                    <p:cond delay="0"/>
                                  </p:stCondLst>
                                  <p:childTnLst>
                                    <p:animMotion origin="layout" path="M -0.00013 0.19792 L -0.00013 0.23079 " pathEditMode="relative" rAng="0" ptsTypes="AA">
                                      <p:cBhvr>
                                        <p:cTn id="42" dur="250" fill="hold"/>
                                        <p:tgtEl>
                                          <p:spTgt spid="7"/>
                                        </p:tgtEl>
                                        <p:attrNameLst>
                                          <p:attrName>ppt_x</p:attrName>
                                          <p:attrName>ppt_y</p:attrName>
                                        </p:attrNameLst>
                                      </p:cBhvr>
                                      <p:rCtr x="0" y="1644"/>
                                    </p:animMotion>
                                  </p:childTnLst>
                                </p:cTn>
                              </p:par>
                            </p:childTnLst>
                          </p:cTn>
                        </p:par>
                        <p:par>
                          <p:cTn id="43" fill="hold">
                            <p:stCondLst>
                              <p:cond delay="2500"/>
                            </p:stCondLst>
                            <p:childTnLst>
                              <p:par>
                                <p:cTn id="44" presetID="42" presetClass="path" presetSubtype="0" accel="50000" decel="50000" fill="hold" grpId="8" nodeType="afterEffect">
                                  <p:stCondLst>
                                    <p:cond delay="0"/>
                                  </p:stCondLst>
                                  <p:childTnLst>
                                    <p:animMotion origin="layout" path="M -0.00013 0.23079 L 0.00013 0.26181 " pathEditMode="relative" rAng="0" ptsTypes="AA">
                                      <p:cBhvr>
                                        <p:cTn id="45" dur="250" fill="hold"/>
                                        <p:tgtEl>
                                          <p:spTgt spid="7"/>
                                        </p:tgtEl>
                                        <p:attrNameLst>
                                          <p:attrName>ppt_x</p:attrName>
                                          <p:attrName>ppt_y</p:attrName>
                                        </p:attrNameLst>
                                      </p:cBhvr>
                                      <p:rCtr x="13" y="1551"/>
                                    </p:animMotion>
                                  </p:childTnLst>
                                </p:cTn>
                              </p:par>
                            </p:childTnLst>
                          </p:cTn>
                        </p:par>
                        <p:par>
                          <p:cTn id="46" fill="hold">
                            <p:stCondLst>
                              <p:cond delay="2750"/>
                            </p:stCondLst>
                            <p:childTnLst>
                              <p:par>
                                <p:cTn id="47" presetID="42" presetClass="path" presetSubtype="0" accel="50000" decel="50000" fill="hold" grpId="9" nodeType="afterEffect">
                                  <p:stCondLst>
                                    <p:cond delay="0"/>
                                  </p:stCondLst>
                                  <p:childTnLst>
                                    <p:animMotion origin="layout" path="M 0.00013 0.26181 L 0.00013 0.29514 " pathEditMode="relative" rAng="0" ptsTypes="AA">
                                      <p:cBhvr>
                                        <p:cTn id="48" dur="250" fill="hold"/>
                                        <p:tgtEl>
                                          <p:spTgt spid="7"/>
                                        </p:tgtEl>
                                        <p:attrNameLst>
                                          <p:attrName>ppt_x</p:attrName>
                                          <p:attrName>ppt_y</p:attrName>
                                        </p:attrNameLst>
                                      </p:cBhvr>
                                      <p:rCtr x="0" y="1667"/>
                                    </p:animMotion>
                                  </p:childTnLst>
                                </p:cTn>
                              </p:par>
                            </p:childTnLst>
                          </p:cTn>
                        </p:par>
                        <p:par>
                          <p:cTn id="49" fill="hold">
                            <p:stCondLst>
                              <p:cond delay="3000"/>
                            </p:stCondLst>
                            <p:childTnLst>
                              <p:par>
                                <p:cTn id="50" presetID="42" presetClass="path" presetSubtype="0" accel="50000" decel="50000" fill="hold" grpId="10" nodeType="afterEffect">
                                  <p:stCondLst>
                                    <p:cond delay="0"/>
                                  </p:stCondLst>
                                  <p:childTnLst>
                                    <p:animMotion origin="layout" path="M 0.00013 0.29514 L 0.00091 0.32755 " pathEditMode="relative" rAng="0" ptsTypes="AA">
                                      <p:cBhvr>
                                        <p:cTn id="51" dur="250" fill="hold"/>
                                        <p:tgtEl>
                                          <p:spTgt spid="7"/>
                                        </p:tgtEl>
                                        <p:attrNameLst>
                                          <p:attrName>ppt_x</p:attrName>
                                          <p:attrName>ppt_y</p:attrName>
                                        </p:attrNameLst>
                                      </p:cBhvr>
                                      <p:rCtr x="39" y="1620"/>
                                    </p:animMotion>
                                  </p:childTnLst>
                                </p:cTn>
                              </p:par>
                            </p:childTnLst>
                          </p:cTn>
                        </p:par>
                        <p:par>
                          <p:cTn id="52" fill="hold">
                            <p:stCondLst>
                              <p:cond delay="3250"/>
                            </p:stCondLst>
                            <p:childTnLst>
                              <p:par>
                                <p:cTn id="53" presetID="42" presetClass="path" presetSubtype="0" accel="50000" decel="50000" fill="hold" grpId="11" nodeType="afterEffect">
                                  <p:stCondLst>
                                    <p:cond delay="0"/>
                                  </p:stCondLst>
                                  <p:childTnLst>
                                    <p:animMotion origin="layout" path="M 0.00091 0.32755 L 0.00117 0.36088 " pathEditMode="relative" rAng="0" ptsTypes="AA">
                                      <p:cBhvr>
                                        <p:cTn id="54" dur="250" fill="hold"/>
                                        <p:tgtEl>
                                          <p:spTgt spid="7"/>
                                        </p:tgtEl>
                                        <p:attrNameLst>
                                          <p:attrName>ppt_x</p:attrName>
                                          <p:attrName>ppt_y</p:attrName>
                                        </p:attrNameLst>
                                      </p:cBhvr>
                                      <p:rCtr x="13" y="1667"/>
                                    </p:animMotion>
                                  </p:childTnLst>
                                </p:cTn>
                              </p:par>
                            </p:childTnLst>
                          </p:cTn>
                        </p:par>
                        <p:par>
                          <p:cTn id="55" fill="hold">
                            <p:stCondLst>
                              <p:cond delay="3500"/>
                            </p:stCondLst>
                            <p:childTnLst>
                              <p:par>
                                <p:cTn id="56" presetID="22" presetClass="entr" presetSubtype="8" fill="hold" nodeType="afterEffect">
                                  <p:stCondLst>
                                    <p:cond delay="0"/>
                                  </p:stCondLst>
                                  <p:childTnLst>
                                    <p:set>
                                      <p:cBhvr>
                                        <p:cTn id="57" dur="1" fill="hold">
                                          <p:stCondLst>
                                            <p:cond delay="0"/>
                                          </p:stCondLst>
                                        </p:cTn>
                                        <p:tgtEl>
                                          <p:spTgt spid="99"/>
                                        </p:tgtEl>
                                        <p:attrNameLst>
                                          <p:attrName>style.visibility</p:attrName>
                                        </p:attrNameLst>
                                      </p:cBhvr>
                                      <p:to>
                                        <p:strVal val="visible"/>
                                      </p:to>
                                    </p:set>
                                    <p:animEffect transition="in" filter="wipe(left)">
                                      <p:cBhvr>
                                        <p:cTn id="58" dur="250"/>
                                        <p:tgtEl>
                                          <p:spTgt spid="99"/>
                                        </p:tgtEl>
                                      </p:cBhvr>
                                    </p:animEffect>
                                  </p:childTnLst>
                                </p:cTn>
                              </p:par>
                            </p:childTnLst>
                          </p:cTn>
                        </p:par>
                        <p:par>
                          <p:cTn id="59" fill="hold">
                            <p:stCondLst>
                              <p:cond delay="3750"/>
                            </p:stCondLst>
                            <p:childTnLst>
                              <p:par>
                                <p:cTn id="60" presetID="42" presetClass="path" presetSubtype="0" accel="50000" decel="50000" fill="hold" grpId="12" nodeType="afterEffect">
                                  <p:stCondLst>
                                    <p:cond delay="0"/>
                                  </p:stCondLst>
                                  <p:childTnLst>
                                    <p:animMotion origin="layout" path="M 0.00117 0.36088 L 0.00091 0.39514 " pathEditMode="relative" rAng="0" ptsTypes="AA">
                                      <p:cBhvr>
                                        <p:cTn id="61" dur="250" fill="hold"/>
                                        <p:tgtEl>
                                          <p:spTgt spid="7"/>
                                        </p:tgtEl>
                                        <p:attrNameLst>
                                          <p:attrName>ppt_x</p:attrName>
                                          <p:attrName>ppt_y</p:attrName>
                                        </p:attrNameLst>
                                      </p:cBhvr>
                                      <p:rCtr x="-13" y="1713"/>
                                    </p:animMotion>
                                  </p:childTnLst>
                                </p:cTn>
                              </p:par>
                            </p:childTnLst>
                          </p:cTn>
                        </p:par>
                        <p:par>
                          <p:cTn id="62" fill="hold">
                            <p:stCondLst>
                              <p:cond delay="4000"/>
                            </p:stCondLst>
                            <p:childTnLst>
                              <p:par>
                                <p:cTn id="63" presetID="22" presetClass="entr" presetSubtype="8" fill="hold" nodeType="afterEffect">
                                  <p:stCondLst>
                                    <p:cond delay="0"/>
                                  </p:stCondLst>
                                  <p:childTnLst>
                                    <p:set>
                                      <p:cBhvr>
                                        <p:cTn id="64" dur="1" fill="hold">
                                          <p:stCondLst>
                                            <p:cond delay="0"/>
                                          </p:stCondLst>
                                        </p:cTn>
                                        <p:tgtEl>
                                          <p:spTgt spid="82"/>
                                        </p:tgtEl>
                                        <p:attrNameLst>
                                          <p:attrName>style.visibility</p:attrName>
                                        </p:attrNameLst>
                                      </p:cBhvr>
                                      <p:to>
                                        <p:strVal val="visible"/>
                                      </p:to>
                                    </p:set>
                                    <p:animEffect transition="in" filter="wipe(left)">
                                      <p:cBhvr>
                                        <p:cTn id="65" dur="250"/>
                                        <p:tgtEl>
                                          <p:spTgt spid="82"/>
                                        </p:tgtEl>
                                      </p:cBhvr>
                                    </p:animEffect>
                                  </p:childTnLst>
                                </p:cTn>
                              </p:par>
                            </p:childTnLst>
                          </p:cTn>
                        </p:par>
                        <p:par>
                          <p:cTn id="66" fill="hold">
                            <p:stCondLst>
                              <p:cond delay="4250"/>
                            </p:stCondLst>
                            <p:childTnLst>
                              <p:par>
                                <p:cTn id="67" presetID="42" presetClass="path" presetSubtype="0" accel="50000" decel="50000" fill="hold" grpId="13" nodeType="afterEffect">
                                  <p:stCondLst>
                                    <p:cond delay="0"/>
                                  </p:stCondLst>
                                  <p:childTnLst>
                                    <p:animMotion origin="layout" path="M 0.00091 0.39514 L 0.00052 0.4257 " pathEditMode="relative" rAng="0" ptsTypes="AA">
                                      <p:cBhvr>
                                        <p:cTn id="68" dur="250" fill="hold"/>
                                        <p:tgtEl>
                                          <p:spTgt spid="7"/>
                                        </p:tgtEl>
                                        <p:attrNameLst>
                                          <p:attrName>ppt_x</p:attrName>
                                          <p:attrName>ppt_y</p:attrName>
                                        </p:attrNameLst>
                                      </p:cBhvr>
                                      <p:rCtr x="-26" y="1528"/>
                                    </p:animMotion>
                                  </p:childTnLst>
                                </p:cTn>
                              </p:par>
                            </p:childTnLst>
                          </p:cTn>
                        </p:par>
                        <p:par>
                          <p:cTn id="69" fill="hold">
                            <p:stCondLst>
                              <p:cond delay="4500"/>
                            </p:stCondLst>
                            <p:childTnLst>
                              <p:par>
                                <p:cTn id="70" presetID="22" presetClass="entr" presetSubtype="8" fill="hold" nodeType="afterEffect">
                                  <p:stCondLst>
                                    <p:cond delay="0"/>
                                  </p:stCondLst>
                                  <p:childTnLst>
                                    <p:set>
                                      <p:cBhvr>
                                        <p:cTn id="71" dur="1" fill="hold">
                                          <p:stCondLst>
                                            <p:cond delay="0"/>
                                          </p:stCondLst>
                                        </p:cTn>
                                        <p:tgtEl>
                                          <p:spTgt spid="83"/>
                                        </p:tgtEl>
                                        <p:attrNameLst>
                                          <p:attrName>style.visibility</p:attrName>
                                        </p:attrNameLst>
                                      </p:cBhvr>
                                      <p:to>
                                        <p:strVal val="visible"/>
                                      </p:to>
                                    </p:set>
                                    <p:animEffect transition="in" filter="wipe(left)">
                                      <p:cBhvr>
                                        <p:cTn id="72" dur="250"/>
                                        <p:tgtEl>
                                          <p:spTgt spid="83"/>
                                        </p:tgtEl>
                                      </p:cBhvr>
                                    </p:animEffect>
                                  </p:childTnLst>
                                </p:cTn>
                              </p:par>
                            </p:childTnLst>
                          </p:cTn>
                        </p:par>
                        <p:par>
                          <p:cTn id="73" fill="hold">
                            <p:stCondLst>
                              <p:cond delay="4750"/>
                            </p:stCondLst>
                            <p:childTnLst>
                              <p:par>
                                <p:cTn id="74" presetID="42" presetClass="path" presetSubtype="0" accel="50000" decel="50000" fill="hold" grpId="14" nodeType="afterEffect">
                                  <p:stCondLst>
                                    <p:cond delay="0"/>
                                  </p:stCondLst>
                                  <p:childTnLst>
                                    <p:animMotion origin="layout" path="M 0.00052 0.4257 L 0.00052 0.45857 " pathEditMode="relative" rAng="0" ptsTypes="AA">
                                      <p:cBhvr>
                                        <p:cTn id="75" dur="250" fill="hold"/>
                                        <p:tgtEl>
                                          <p:spTgt spid="7"/>
                                        </p:tgtEl>
                                        <p:attrNameLst>
                                          <p:attrName>ppt_x</p:attrName>
                                          <p:attrName>ppt_y</p:attrName>
                                        </p:attrNameLst>
                                      </p:cBhvr>
                                      <p:rCtr x="0" y="1644"/>
                                    </p:animMotion>
                                  </p:childTnLst>
                                </p:cTn>
                              </p:par>
                            </p:childTnLst>
                          </p:cTn>
                        </p:par>
                        <p:par>
                          <p:cTn id="76" fill="hold">
                            <p:stCondLst>
                              <p:cond delay="5000"/>
                            </p:stCondLst>
                            <p:childTnLst>
                              <p:par>
                                <p:cTn id="77" presetID="42" presetClass="path" presetSubtype="0" accel="50000" decel="50000" fill="hold" grpId="15" nodeType="afterEffect">
                                  <p:stCondLst>
                                    <p:cond delay="0"/>
                                  </p:stCondLst>
                                  <p:childTnLst>
                                    <p:animMotion origin="layout" path="M 0.00052 0.45857 L 0.00013 0.48797 " pathEditMode="relative" rAng="0" ptsTypes="AA">
                                      <p:cBhvr>
                                        <p:cTn id="78" dur="250" fill="hold"/>
                                        <p:tgtEl>
                                          <p:spTgt spid="7"/>
                                        </p:tgtEl>
                                        <p:attrNameLst>
                                          <p:attrName>ppt_x</p:attrName>
                                          <p:attrName>ppt_y</p:attrName>
                                        </p:attrNameLst>
                                      </p:cBhvr>
                                      <p:rCtr x="-26" y="1458"/>
                                    </p:animMotion>
                                  </p:childTnLst>
                                </p:cTn>
                              </p:par>
                            </p:childTnLst>
                          </p:cTn>
                        </p:par>
                        <p:par>
                          <p:cTn id="79" fill="hold">
                            <p:stCondLst>
                              <p:cond delay="5250"/>
                            </p:stCondLst>
                            <p:childTnLst>
                              <p:par>
                                <p:cTn id="80" presetID="22" presetClass="entr" presetSubtype="8" fill="hold" nodeType="afterEffect">
                                  <p:stCondLst>
                                    <p:cond delay="0"/>
                                  </p:stCondLst>
                                  <p:childTnLst>
                                    <p:set>
                                      <p:cBhvr>
                                        <p:cTn id="81" dur="1" fill="hold">
                                          <p:stCondLst>
                                            <p:cond delay="0"/>
                                          </p:stCondLst>
                                        </p:cTn>
                                        <p:tgtEl>
                                          <p:spTgt spid="74"/>
                                        </p:tgtEl>
                                        <p:attrNameLst>
                                          <p:attrName>style.visibility</p:attrName>
                                        </p:attrNameLst>
                                      </p:cBhvr>
                                      <p:to>
                                        <p:strVal val="visible"/>
                                      </p:to>
                                    </p:set>
                                    <p:animEffect transition="in" filter="wipe(left)">
                                      <p:cBhvr>
                                        <p:cTn id="82" dur="250"/>
                                        <p:tgtEl>
                                          <p:spTgt spid="74"/>
                                        </p:tgtEl>
                                      </p:cBhvr>
                                    </p:animEffect>
                                  </p:childTnLst>
                                </p:cTn>
                              </p:par>
                            </p:childTnLst>
                          </p:cTn>
                        </p:par>
                        <p:par>
                          <p:cTn id="83" fill="hold">
                            <p:stCondLst>
                              <p:cond delay="5500"/>
                            </p:stCondLst>
                            <p:childTnLst>
                              <p:par>
                                <p:cTn id="84" presetID="42" presetClass="path" presetSubtype="0" accel="50000" decel="50000" fill="hold" grpId="16" nodeType="afterEffect">
                                  <p:stCondLst>
                                    <p:cond delay="0"/>
                                  </p:stCondLst>
                                  <p:childTnLst>
                                    <p:animMotion origin="layout" path="M 0.00013 0.48797 L 0.00091 0.52223 " pathEditMode="relative" rAng="0" ptsTypes="AA">
                                      <p:cBhvr>
                                        <p:cTn id="85" dur="250" fill="hold"/>
                                        <p:tgtEl>
                                          <p:spTgt spid="7"/>
                                        </p:tgtEl>
                                        <p:attrNameLst>
                                          <p:attrName>ppt_x</p:attrName>
                                          <p:attrName>ppt_y</p:attrName>
                                        </p:attrNameLst>
                                      </p:cBhvr>
                                      <p:rCtr x="39" y="1713"/>
                                    </p:animMotion>
                                  </p:childTnLst>
                                </p:cTn>
                              </p:par>
                            </p:childTnLst>
                          </p:cTn>
                        </p:par>
                        <p:par>
                          <p:cTn id="86" fill="hold">
                            <p:stCondLst>
                              <p:cond delay="5750"/>
                            </p:stCondLst>
                            <p:childTnLst>
                              <p:par>
                                <p:cTn id="87" presetID="22" presetClass="entr" presetSubtype="8" fill="hold" nodeType="afterEffect">
                                  <p:stCondLst>
                                    <p:cond delay="0"/>
                                  </p:stCondLst>
                                  <p:childTnLst>
                                    <p:set>
                                      <p:cBhvr>
                                        <p:cTn id="88" dur="1" fill="hold">
                                          <p:stCondLst>
                                            <p:cond delay="0"/>
                                          </p:stCondLst>
                                        </p:cTn>
                                        <p:tgtEl>
                                          <p:spTgt spid="75"/>
                                        </p:tgtEl>
                                        <p:attrNameLst>
                                          <p:attrName>style.visibility</p:attrName>
                                        </p:attrNameLst>
                                      </p:cBhvr>
                                      <p:to>
                                        <p:strVal val="visible"/>
                                      </p:to>
                                    </p:set>
                                    <p:animEffect transition="in" filter="wipe(left)">
                                      <p:cBhvr>
                                        <p:cTn id="89" dur="250"/>
                                        <p:tgtEl>
                                          <p:spTgt spid="75"/>
                                        </p:tgtEl>
                                      </p:cBhvr>
                                    </p:animEffect>
                                  </p:childTnLst>
                                </p:cTn>
                              </p:par>
                            </p:childTnLst>
                          </p:cTn>
                        </p:par>
                        <p:par>
                          <p:cTn id="90" fill="hold">
                            <p:stCondLst>
                              <p:cond delay="6000"/>
                            </p:stCondLst>
                            <p:childTnLst>
                              <p:par>
                                <p:cTn id="91" presetID="42" presetClass="path" presetSubtype="0" accel="50000" decel="50000" fill="hold" grpId="17" nodeType="afterEffect">
                                  <p:stCondLst>
                                    <p:cond delay="0"/>
                                  </p:stCondLst>
                                  <p:childTnLst>
                                    <p:animMotion origin="layout" path="M 0.00091 0.52223 L 0.00104 0.55648 " pathEditMode="relative" rAng="0" ptsTypes="AA">
                                      <p:cBhvr>
                                        <p:cTn id="92" dur="250" fill="hold"/>
                                        <p:tgtEl>
                                          <p:spTgt spid="7"/>
                                        </p:tgtEl>
                                        <p:attrNameLst>
                                          <p:attrName>ppt_x</p:attrName>
                                          <p:attrName>ppt_y</p:attrName>
                                        </p:attrNameLst>
                                      </p:cBhvr>
                                      <p:rCtr x="0" y="1713"/>
                                    </p:animMotion>
                                  </p:childTnLst>
                                </p:cTn>
                              </p:par>
                            </p:childTnLst>
                          </p:cTn>
                        </p:par>
                        <p:par>
                          <p:cTn id="93" fill="hold">
                            <p:stCondLst>
                              <p:cond delay="6250"/>
                            </p:stCondLst>
                            <p:childTnLst>
                              <p:par>
                                <p:cTn id="94" presetID="22" presetClass="entr" presetSubtype="8" fill="hold" nodeType="afterEffect">
                                  <p:stCondLst>
                                    <p:cond delay="0"/>
                                  </p:stCondLst>
                                  <p:childTnLst>
                                    <p:set>
                                      <p:cBhvr>
                                        <p:cTn id="95" dur="1" fill="hold">
                                          <p:stCondLst>
                                            <p:cond delay="0"/>
                                          </p:stCondLst>
                                        </p:cTn>
                                        <p:tgtEl>
                                          <p:spTgt spid="78"/>
                                        </p:tgtEl>
                                        <p:attrNameLst>
                                          <p:attrName>style.visibility</p:attrName>
                                        </p:attrNameLst>
                                      </p:cBhvr>
                                      <p:to>
                                        <p:strVal val="visible"/>
                                      </p:to>
                                    </p:set>
                                    <p:animEffect transition="in" filter="wipe(left)">
                                      <p:cBhvr>
                                        <p:cTn id="96" dur="250"/>
                                        <p:tgtEl>
                                          <p:spTgt spid="78"/>
                                        </p:tgtEl>
                                      </p:cBhvr>
                                    </p:animEffect>
                                  </p:childTnLst>
                                </p:cTn>
                              </p:par>
                            </p:childTnLst>
                          </p:cTn>
                        </p:par>
                        <p:par>
                          <p:cTn id="97" fill="hold">
                            <p:stCondLst>
                              <p:cond delay="6500"/>
                            </p:stCondLst>
                            <p:childTnLst>
                              <p:par>
                                <p:cTn id="98" presetID="42" presetClass="path" presetSubtype="0" accel="50000" decel="50000" fill="hold" grpId="18" nodeType="afterEffect">
                                  <p:stCondLst>
                                    <p:cond delay="0"/>
                                  </p:stCondLst>
                                  <p:childTnLst>
                                    <p:animMotion origin="layout" path="M 0.00104 0.55648 L 0.00195 0.58611 " pathEditMode="relative" rAng="0" ptsTypes="AA">
                                      <p:cBhvr>
                                        <p:cTn id="99" dur="250" fill="hold"/>
                                        <p:tgtEl>
                                          <p:spTgt spid="7"/>
                                        </p:tgtEl>
                                        <p:attrNameLst>
                                          <p:attrName>ppt_x</p:attrName>
                                          <p:attrName>ppt_y</p:attrName>
                                        </p:attrNameLst>
                                      </p:cBhvr>
                                      <p:rCtr x="39" y="1481"/>
                                    </p:animMotion>
                                  </p:childTnLst>
                                </p:cTn>
                              </p:par>
                            </p:childTnLst>
                          </p:cTn>
                        </p:par>
                        <p:par>
                          <p:cTn id="100" fill="hold">
                            <p:stCondLst>
                              <p:cond delay="6750"/>
                            </p:stCondLst>
                            <p:childTnLst>
                              <p:par>
                                <p:cTn id="101" presetID="42" presetClass="path" presetSubtype="0" accel="50000" decel="50000" fill="hold" grpId="19" nodeType="afterEffect">
                                  <p:stCondLst>
                                    <p:cond delay="0"/>
                                  </p:stCondLst>
                                  <p:childTnLst>
                                    <p:animMotion origin="layout" path="M 0.00195 0.58611 L 0.0026 0.6213 " pathEditMode="relative" rAng="0" ptsTypes="AA">
                                      <p:cBhvr>
                                        <p:cTn id="102" dur="250" fill="hold"/>
                                        <p:tgtEl>
                                          <p:spTgt spid="7"/>
                                        </p:tgtEl>
                                        <p:attrNameLst>
                                          <p:attrName>ppt_x</p:attrName>
                                          <p:attrName>ppt_y</p:attrName>
                                        </p:attrNameLst>
                                      </p:cBhvr>
                                      <p:rCtr x="26" y="1759"/>
                                    </p:animMotion>
                                  </p:childTnLst>
                                </p:cTn>
                              </p:par>
                            </p:childTnLst>
                          </p:cTn>
                        </p:par>
                        <p:par>
                          <p:cTn id="103" fill="hold">
                            <p:stCondLst>
                              <p:cond delay="7000"/>
                            </p:stCondLst>
                            <p:childTnLst>
                              <p:par>
                                <p:cTn id="104" presetID="22" presetClass="entr" presetSubtype="8" fill="hold" nodeType="afterEffect">
                                  <p:stCondLst>
                                    <p:cond delay="0"/>
                                  </p:stCondLst>
                                  <p:childTnLst>
                                    <p:set>
                                      <p:cBhvr>
                                        <p:cTn id="105" dur="1" fill="hold">
                                          <p:stCondLst>
                                            <p:cond delay="0"/>
                                          </p:stCondLst>
                                        </p:cTn>
                                        <p:tgtEl>
                                          <p:spTgt spid="84"/>
                                        </p:tgtEl>
                                        <p:attrNameLst>
                                          <p:attrName>style.visibility</p:attrName>
                                        </p:attrNameLst>
                                      </p:cBhvr>
                                      <p:to>
                                        <p:strVal val="visible"/>
                                      </p:to>
                                    </p:set>
                                    <p:animEffect transition="in" filter="wipe(left)">
                                      <p:cBhvr>
                                        <p:cTn id="106" dur="250"/>
                                        <p:tgtEl>
                                          <p:spTgt spid="84"/>
                                        </p:tgtEl>
                                      </p:cBhvr>
                                    </p:animEffect>
                                  </p:childTnLst>
                                </p:cTn>
                              </p:par>
                            </p:childTnLst>
                          </p:cTn>
                        </p:par>
                        <p:par>
                          <p:cTn id="107" fill="hold">
                            <p:stCondLst>
                              <p:cond delay="7250"/>
                            </p:stCondLst>
                            <p:childTnLst>
                              <p:par>
                                <p:cTn id="108" presetID="42" presetClass="path" presetSubtype="0" accel="50000" decel="50000" fill="hold" grpId="20" nodeType="afterEffect">
                                  <p:stCondLst>
                                    <p:cond delay="0"/>
                                  </p:stCondLst>
                                  <p:childTnLst>
                                    <p:animMotion origin="layout" path="M 0.0026 0.6213 L 0.00195 0.65371 " pathEditMode="relative" rAng="0" ptsTypes="AA">
                                      <p:cBhvr>
                                        <p:cTn id="109" dur="250" fill="hold"/>
                                        <p:tgtEl>
                                          <p:spTgt spid="7"/>
                                        </p:tgtEl>
                                        <p:attrNameLst>
                                          <p:attrName>ppt_x</p:attrName>
                                          <p:attrName>ppt_y</p:attrName>
                                        </p:attrNameLst>
                                      </p:cBhvr>
                                      <p:rCtr x="-39" y="1620"/>
                                    </p:animMotion>
                                  </p:childTnLst>
                                </p:cTn>
                              </p:par>
                            </p:childTnLst>
                          </p:cTn>
                        </p:par>
                        <p:par>
                          <p:cTn id="110" fill="hold">
                            <p:stCondLst>
                              <p:cond delay="7500"/>
                            </p:stCondLst>
                            <p:childTnLst>
                              <p:par>
                                <p:cTn id="111" presetID="22" presetClass="entr" presetSubtype="8" fill="hold" nodeType="afterEffect">
                                  <p:stCondLst>
                                    <p:cond delay="0"/>
                                  </p:stCondLst>
                                  <p:childTnLst>
                                    <p:set>
                                      <p:cBhvr>
                                        <p:cTn id="112" dur="1" fill="hold">
                                          <p:stCondLst>
                                            <p:cond delay="0"/>
                                          </p:stCondLst>
                                        </p:cTn>
                                        <p:tgtEl>
                                          <p:spTgt spid="90"/>
                                        </p:tgtEl>
                                        <p:attrNameLst>
                                          <p:attrName>style.visibility</p:attrName>
                                        </p:attrNameLst>
                                      </p:cBhvr>
                                      <p:to>
                                        <p:strVal val="visible"/>
                                      </p:to>
                                    </p:set>
                                    <p:animEffect transition="in" filter="wipe(left)">
                                      <p:cBhvr>
                                        <p:cTn id="113" dur="250"/>
                                        <p:tgtEl>
                                          <p:spTgt spid="90"/>
                                        </p:tgtEl>
                                      </p:cBhvr>
                                    </p:animEffect>
                                  </p:childTnLst>
                                </p:cTn>
                              </p:par>
                            </p:childTnLst>
                          </p:cTn>
                        </p:par>
                        <p:par>
                          <p:cTn id="114" fill="hold">
                            <p:stCondLst>
                              <p:cond delay="7750"/>
                            </p:stCondLst>
                            <p:childTnLst>
                              <p:par>
                                <p:cTn id="115" presetID="42" presetClass="path" presetSubtype="0" accel="50000" decel="50000" fill="hold" grpId="21" nodeType="afterEffect">
                                  <p:stCondLst>
                                    <p:cond delay="0"/>
                                  </p:stCondLst>
                                  <p:childTnLst>
                                    <p:animMotion origin="layout" path="M 0.00195 0.65371 L 0.00195 0.68704 " pathEditMode="relative" rAng="0" ptsTypes="AA">
                                      <p:cBhvr>
                                        <p:cTn id="116" dur="250" fill="hold"/>
                                        <p:tgtEl>
                                          <p:spTgt spid="7"/>
                                        </p:tgtEl>
                                        <p:attrNameLst>
                                          <p:attrName>ppt_x</p:attrName>
                                          <p:attrName>ppt_y</p:attrName>
                                        </p:attrNameLst>
                                      </p:cBhvr>
                                      <p:rCtr x="0" y="1667"/>
                                    </p:animMotion>
                                  </p:childTnLst>
                                </p:cTn>
                              </p:par>
                            </p:childTnLst>
                          </p:cTn>
                        </p:par>
                        <p:par>
                          <p:cTn id="117" fill="hold">
                            <p:stCondLst>
                              <p:cond delay="8000"/>
                            </p:stCondLst>
                            <p:childTnLst>
                              <p:par>
                                <p:cTn id="118" presetID="22" presetClass="entr" presetSubtype="8" fill="hold" nodeType="afterEffect">
                                  <p:stCondLst>
                                    <p:cond delay="0"/>
                                  </p:stCondLst>
                                  <p:childTnLst>
                                    <p:set>
                                      <p:cBhvr>
                                        <p:cTn id="119" dur="1" fill="hold">
                                          <p:stCondLst>
                                            <p:cond delay="0"/>
                                          </p:stCondLst>
                                        </p:cTn>
                                        <p:tgtEl>
                                          <p:spTgt spid="87"/>
                                        </p:tgtEl>
                                        <p:attrNameLst>
                                          <p:attrName>style.visibility</p:attrName>
                                        </p:attrNameLst>
                                      </p:cBhvr>
                                      <p:to>
                                        <p:strVal val="visible"/>
                                      </p:to>
                                    </p:set>
                                    <p:animEffect transition="in" filter="wipe(left)">
                                      <p:cBhvr>
                                        <p:cTn id="120" dur="250"/>
                                        <p:tgtEl>
                                          <p:spTgt spid="87"/>
                                        </p:tgtEl>
                                      </p:cBhvr>
                                    </p:animEffect>
                                  </p:childTnLst>
                                </p:cTn>
                              </p:par>
                            </p:childTnLst>
                          </p:cTn>
                        </p:par>
                        <p:par>
                          <p:cTn id="121" fill="hold">
                            <p:stCondLst>
                              <p:cond delay="8250"/>
                            </p:stCondLst>
                            <p:childTnLst>
                              <p:par>
                                <p:cTn id="122" presetID="42" presetClass="path" presetSubtype="0" accel="50000" decel="50000" fill="hold" grpId="22" nodeType="afterEffect">
                                  <p:stCondLst>
                                    <p:cond delay="0"/>
                                  </p:stCondLst>
                                  <p:childTnLst>
                                    <p:animMotion origin="layout" path="M 0.00195 0.68704 L 0.00195 0.71852 " pathEditMode="relative" rAng="0" ptsTypes="AA">
                                      <p:cBhvr>
                                        <p:cTn id="123" dur="250" fill="hold"/>
                                        <p:tgtEl>
                                          <p:spTgt spid="7"/>
                                        </p:tgtEl>
                                        <p:attrNameLst>
                                          <p:attrName>ppt_x</p:attrName>
                                          <p:attrName>ppt_y</p:attrName>
                                        </p:attrNameLst>
                                      </p:cBhvr>
                                      <p:rCtr x="0" y="1574"/>
                                    </p:animMotion>
                                  </p:childTnLst>
                                </p:cTn>
                              </p:par>
                            </p:childTnLst>
                          </p:cTn>
                        </p:par>
                        <p:par>
                          <p:cTn id="124" fill="hold">
                            <p:stCondLst>
                              <p:cond delay="8500"/>
                            </p:stCondLst>
                            <p:childTnLst>
                              <p:par>
                                <p:cTn id="125" presetID="22" presetClass="entr" presetSubtype="8" fill="hold" nodeType="afterEffect">
                                  <p:stCondLst>
                                    <p:cond delay="0"/>
                                  </p:stCondLst>
                                  <p:childTnLst>
                                    <p:set>
                                      <p:cBhvr>
                                        <p:cTn id="126" dur="1" fill="hold">
                                          <p:stCondLst>
                                            <p:cond delay="0"/>
                                          </p:stCondLst>
                                        </p:cTn>
                                        <p:tgtEl>
                                          <p:spTgt spid="91"/>
                                        </p:tgtEl>
                                        <p:attrNameLst>
                                          <p:attrName>style.visibility</p:attrName>
                                        </p:attrNameLst>
                                      </p:cBhvr>
                                      <p:to>
                                        <p:strVal val="visible"/>
                                      </p:to>
                                    </p:set>
                                    <p:animEffect transition="in" filter="wipe(left)">
                                      <p:cBhvr>
                                        <p:cTn id="127" dur="250"/>
                                        <p:tgtEl>
                                          <p:spTgt spid="91"/>
                                        </p:tgtEl>
                                      </p:cBhvr>
                                    </p:animEffect>
                                  </p:childTnLst>
                                </p:cTn>
                              </p:par>
                            </p:childTnLst>
                          </p:cTn>
                        </p:par>
                        <p:par>
                          <p:cTn id="128" fill="hold">
                            <p:stCondLst>
                              <p:cond delay="8750"/>
                            </p:stCondLst>
                            <p:childTnLst>
                              <p:par>
                                <p:cTn id="129" presetID="42" presetClass="path" presetSubtype="0" accel="50000" decel="50000" fill="hold" grpId="23" nodeType="afterEffect">
                                  <p:stCondLst>
                                    <p:cond delay="0"/>
                                  </p:stCondLst>
                                  <p:childTnLst>
                                    <p:animMotion origin="layout" path="M 0.00195 0.71852 L 0.00195 0.75278 " pathEditMode="relative" rAng="0" ptsTypes="AA">
                                      <p:cBhvr>
                                        <p:cTn id="130" dur="250" fill="hold"/>
                                        <p:tgtEl>
                                          <p:spTgt spid="7"/>
                                        </p:tgtEl>
                                        <p:attrNameLst>
                                          <p:attrName>ppt_x</p:attrName>
                                          <p:attrName>ppt_y</p:attrName>
                                        </p:attrNameLst>
                                      </p:cBhvr>
                                      <p:rCtr x="0" y="1713"/>
                                    </p:animMotion>
                                  </p:childTnLst>
                                </p:cTn>
                              </p:par>
                            </p:childTnLst>
                          </p:cTn>
                        </p:par>
                        <p:par>
                          <p:cTn id="131" fill="hold">
                            <p:stCondLst>
                              <p:cond delay="9000"/>
                            </p:stCondLst>
                            <p:childTnLst>
                              <p:par>
                                <p:cTn id="132" presetID="42" presetClass="path" presetSubtype="0" accel="50000" decel="50000" fill="hold" grpId="24" nodeType="afterEffect">
                                  <p:stCondLst>
                                    <p:cond delay="0"/>
                                  </p:stCondLst>
                                  <p:childTnLst>
                                    <p:animMotion origin="layout" path="M 0.00195 0.75278 L 0.00117 0.78426 " pathEditMode="relative" rAng="0" ptsTypes="AA">
                                      <p:cBhvr>
                                        <p:cTn id="133" dur="250" fill="hold"/>
                                        <p:tgtEl>
                                          <p:spTgt spid="7"/>
                                        </p:tgtEl>
                                        <p:attrNameLst>
                                          <p:attrName>ppt_x</p:attrName>
                                          <p:attrName>ppt_y</p:attrName>
                                        </p:attrNameLst>
                                      </p:cBhvr>
                                      <p:rCtr x="-39" y="1574"/>
                                    </p:animMotion>
                                  </p:childTnLst>
                                </p:cTn>
                              </p:par>
                            </p:childTnLst>
                          </p:cTn>
                        </p:par>
                        <p:par>
                          <p:cTn id="134" fill="hold">
                            <p:stCondLst>
                              <p:cond delay="9250"/>
                            </p:stCondLst>
                            <p:childTnLst>
                              <p:par>
                                <p:cTn id="135" presetID="22" presetClass="entr" presetSubtype="8" fill="hold" nodeType="afterEffect">
                                  <p:stCondLst>
                                    <p:cond delay="0"/>
                                  </p:stCondLst>
                                  <p:childTnLst>
                                    <p:set>
                                      <p:cBhvr>
                                        <p:cTn id="136" dur="1" fill="hold">
                                          <p:stCondLst>
                                            <p:cond delay="0"/>
                                          </p:stCondLst>
                                        </p:cTn>
                                        <p:tgtEl>
                                          <p:spTgt spid="96"/>
                                        </p:tgtEl>
                                        <p:attrNameLst>
                                          <p:attrName>style.visibility</p:attrName>
                                        </p:attrNameLst>
                                      </p:cBhvr>
                                      <p:to>
                                        <p:strVal val="visible"/>
                                      </p:to>
                                    </p:set>
                                    <p:animEffect transition="in" filter="wipe(left)">
                                      <p:cBhvr>
                                        <p:cTn id="137" dur="250"/>
                                        <p:tgtEl>
                                          <p:spTgt spid="96"/>
                                        </p:tgtEl>
                                      </p:cBhvr>
                                    </p:animEffect>
                                  </p:childTnLst>
                                </p:cTn>
                              </p:par>
                            </p:childTnLst>
                          </p:cTn>
                        </p:par>
                        <p:par>
                          <p:cTn id="138" fill="hold">
                            <p:stCondLst>
                              <p:cond delay="9500"/>
                            </p:stCondLst>
                            <p:childTnLst>
                              <p:par>
                                <p:cTn id="139" presetID="42" presetClass="path" presetSubtype="0" accel="50000" decel="50000" fill="hold" grpId="25" nodeType="afterEffect">
                                  <p:stCondLst>
                                    <p:cond delay="0"/>
                                  </p:stCondLst>
                                  <p:childTnLst>
                                    <p:animMotion origin="layout" path="M 0.00117 0.78426 L 0.00195 0.81482 " pathEditMode="relative" rAng="0" ptsTypes="AA">
                                      <p:cBhvr>
                                        <p:cTn id="140" dur="250" fill="hold"/>
                                        <p:tgtEl>
                                          <p:spTgt spid="7"/>
                                        </p:tgtEl>
                                        <p:attrNameLst>
                                          <p:attrName>ppt_x</p:attrName>
                                          <p:attrName>ppt_y</p:attrName>
                                        </p:attrNameLst>
                                      </p:cBhvr>
                                      <p:rCtr x="39" y="1528"/>
                                    </p:animMotion>
                                  </p:childTnLst>
                                </p:cTn>
                              </p:par>
                            </p:childTnLst>
                          </p:cTn>
                        </p:par>
                        <p:par>
                          <p:cTn id="141" fill="hold">
                            <p:stCondLst>
                              <p:cond delay="9750"/>
                            </p:stCondLst>
                            <p:childTnLst>
                              <p:par>
                                <p:cTn id="142" presetID="1" presetClass="exit" presetSubtype="0" fill="hold" grpId="26" nodeType="afterEffect">
                                  <p:stCondLst>
                                    <p:cond delay="0"/>
                                  </p:stCondLst>
                                  <p:childTnLst>
                                    <p:set>
                                      <p:cBhvr>
                                        <p:cTn id="143" dur="1" fill="hold">
                                          <p:stCondLst>
                                            <p:cond delay="0"/>
                                          </p:stCondLst>
                                        </p:cTn>
                                        <p:tgtEl>
                                          <p:spTgt spid="7"/>
                                        </p:tgtEl>
                                        <p:attrNameLst>
                                          <p:attrName>style.visibility</p:attrName>
                                        </p:attrNameLst>
                                      </p:cBhvr>
                                      <p:to>
                                        <p:strVal val="hidden"/>
                                      </p:to>
                                    </p:set>
                                  </p:childTnLst>
                                </p:cTn>
                              </p:par>
                            </p:childTnLst>
                          </p:cTn>
                        </p:par>
                        <p:par>
                          <p:cTn id="144" fill="hold">
                            <p:stCondLst>
                              <p:cond delay="9750"/>
                            </p:stCondLst>
                            <p:childTnLst>
                              <p:par>
                                <p:cTn id="145" presetID="1" presetClass="entr" presetSubtype="0" fill="hold" grpId="0" nodeType="afterEffect">
                                  <p:stCondLst>
                                    <p:cond delay="0"/>
                                  </p:stCondLst>
                                  <p:childTnLst>
                                    <p:set>
                                      <p:cBhvr>
                                        <p:cTn id="146" dur="1" fill="hold">
                                          <p:stCondLst>
                                            <p:cond delay="0"/>
                                          </p:stCondLst>
                                        </p:cTn>
                                        <p:tgtEl>
                                          <p:spTgt spid="8"/>
                                        </p:tgtEl>
                                        <p:attrNameLst>
                                          <p:attrName>style.visibility</p:attrName>
                                        </p:attrNameLst>
                                      </p:cBhvr>
                                      <p:to>
                                        <p:strVal val="visible"/>
                                      </p:to>
                                    </p:set>
                                  </p:childTnLst>
                                </p:cTn>
                              </p:par>
                            </p:childTnLst>
                          </p:cTn>
                        </p:par>
                        <p:par>
                          <p:cTn id="147" fill="hold">
                            <p:stCondLst>
                              <p:cond delay="9750"/>
                            </p:stCondLst>
                            <p:childTnLst>
                              <p:par>
                                <p:cTn id="148" presetID="42" presetClass="path" presetSubtype="0" accel="50000" decel="50000" fill="hold" grpId="1" nodeType="afterEffect">
                                  <p:stCondLst>
                                    <p:cond delay="0"/>
                                  </p:stCondLst>
                                  <p:childTnLst>
                                    <p:animMotion origin="layout" path="M 4.16667E-7 1.48148E-6 L -0.00013 0.03588 " pathEditMode="relative" rAng="0" ptsTypes="AA">
                                      <p:cBhvr>
                                        <p:cTn id="149" dur="250" fill="hold"/>
                                        <p:tgtEl>
                                          <p:spTgt spid="8"/>
                                        </p:tgtEl>
                                        <p:attrNameLst>
                                          <p:attrName>ppt_x</p:attrName>
                                          <p:attrName>ppt_y</p:attrName>
                                        </p:attrNameLst>
                                      </p:cBhvr>
                                      <p:rCtr x="-13" y="1782"/>
                                    </p:animMotion>
                                  </p:childTnLst>
                                </p:cTn>
                              </p:par>
                            </p:childTnLst>
                          </p:cTn>
                        </p:par>
                        <p:par>
                          <p:cTn id="150" fill="hold">
                            <p:stCondLst>
                              <p:cond delay="10000"/>
                            </p:stCondLst>
                            <p:childTnLst>
                              <p:par>
                                <p:cTn id="151" presetID="22" presetClass="entr" presetSubtype="8" fill="hold" nodeType="afterEffect">
                                  <p:stCondLst>
                                    <p:cond delay="0"/>
                                  </p:stCondLst>
                                  <p:childTnLst>
                                    <p:set>
                                      <p:cBhvr>
                                        <p:cTn id="152" dur="1" fill="hold">
                                          <p:stCondLst>
                                            <p:cond delay="0"/>
                                          </p:stCondLst>
                                        </p:cTn>
                                        <p:tgtEl>
                                          <p:spTgt spid="20"/>
                                        </p:tgtEl>
                                        <p:attrNameLst>
                                          <p:attrName>style.visibility</p:attrName>
                                        </p:attrNameLst>
                                      </p:cBhvr>
                                      <p:to>
                                        <p:strVal val="visible"/>
                                      </p:to>
                                    </p:set>
                                    <p:animEffect transition="in" filter="wipe(left)">
                                      <p:cBhvr>
                                        <p:cTn id="153" dur="250"/>
                                        <p:tgtEl>
                                          <p:spTgt spid="20"/>
                                        </p:tgtEl>
                                      </p:cBhvr>
                                    </p:animEffect>
                                  </p:childTnLst>
                                </p:cTn>
                              </p:par>
                            </p:childTnLst>
                          </p:cTn>
                        </p:par>
                        <p:par>
                          <p:cTn id="154" fill="hold">
                            <p:stCondLst>
                              <p:cond delay="10250"/>
                            </p:stCondLst>
                            <p:childTnLst>
                              <p:par>
                                <p:cTn id="155" presetID="42" presetClass="path" presetSubtype="0" accel="50000" decel="50000" fill="hold" grpId="2" nodeType="afterEffect">
                                  <p:stCondLst>
                                    <p:cond delay="0"/>
                                  </p:stCondLst>
                                  <p:childTnLst>
                                    <p:animMotion origin="layout" path="M -0.00013 0.03588 L -0.00052 0.0669 " pathEditMode="relative" rAng="0" ptsTypes="AA">
                                      <p:cBhvr>
                                        <p:cTn id="156" dur="250" fill="hold"/>
                                        <p:tgtEl>
                                          <p:spTgt spid="8"/>
                                        </p:tgtEl>
                                        <p:attrNameLst>
                                          <p:attrName>ppt_x</p:attrName>
                                          <p:attrName>ppt_y</p:attrName>
                                        </p:attrNameLst>
                                      </p:cBhvr>
                                      <p:rCtr x="-26" y="1551"/>
                                    </p:animMotion>
                                  </p:childTnLst>
                                </p:cTn>
                              </p:par>
                            </p:childTnLst>
                          </p:cTn>
                        </p:par>
                        <p:par>
                          <p:cTn id="157" fill="hold">
                            <p:stCondLst>
                              <p:cond delay="10500"/>
                            </p:stCondLst>
                            <p:childTnLst>
                              <p:par>
                                <p:cTn id="158" presetID="42" presetClass="path" presetSubtype="0" accel="50000" decel="50000" fill="hold" grpId="3" nodeType="afterEffect">
                                  <p:stCondLst>
                                    <p:cond delay="0"/>
                                  </p:stCondLst>
                                  <p:childTnLst>
                                    <p:animMotion origin="layout" path="M -0.00052 0.0669 L -0.00052 0.09977 " pathEditMode="relative" rAng="0" ptsTypes="AA">
                                      <p:cBhvr>
                                        <p:cTn id="159" dur="250" fill="hold"/>
                                        <p:tgtEl>
                                          <p:spTgt spid="8"/>
                                        </p:tgtEl>
                                        <p:attrNameLst>
                                          <p:attrName>ppt_x</p:attrName>
                                          <p:attrName>ppt_y</p:attrName>
                                        </p:attrNameLst>
                                      </p:cBhvr>
                                      <p:rCtr x="0" y="1644"/>
                                    </p:animMotion>
                                  </p:childTnLst>
                                </p:cTn>
                              </p:par>
                            </p:childTnLst>
                          </p:cTn>
                        </p:par>
                        <p:par>
                          <p:cTn id="160" fill="hold">
                            <p:stCondLst>
                              <p:cond delay="10750"/>
                            </p:stCondLst>
                            <p:childTnLst>
                              <p:par>
                                <p:cTn id="161" presetID="42" presetClass="path" presetSubtype="0" accel="50000" decel="50000" fill="hold" grpId="4" nodeType="afterEffect">
                                  <p:stCondLst>
                                    <p:cond delay="0"/>
                                  </p:stCondLst>
                                  <p:childTnLst>
                                    <p:animMotion origin="layout" path="M -0.00052 0.09977 L -0.00013 0.13264 " pathEditMode="relative" rAng="0" ptsTypes="AA">
                                      <p:cBhvr>
                                        <p:cTn id="162" dur="250" fill="hold"/>
                                        <p:tgtEl>
                                          <p:spTgt spid="8"/>
                                        </p:tgtEl>
                                        <p:attrNameLst>
                                          <p:attrName>ppt_x</p:attrName>
                                          <p:attrName>ppt_y</p:attrName>
                                        </p:attrNameLst>
                                      </p:cBhvr>
                                      <p:rCtr x="13" y="1644"/>
                                    </p:animMotion>
                                  </p:childTnLst>
                                </p:cTn>
                              </p:par>
                            </p:childTnLst>
                          </p:cTn>
                        </p:par>
                        <p:par>
                          <p:cTn id="163" fill="hold">
                            <p:stCondLst>
                              <p:cond delay="11000"/>
                            </p:stCondLst>
                            <p:childTnLst>
                              <p:par>
                                <p:cTn id="164" presetID="22" presetClass="entr" presetSubtype="8" fill="hold" nodeType="afterEffect">
                                  <p:stCondLst>
                                    <p:cond delay="0"/>
                                  </p:stCondLst>
                                  <p:childTnLst>
                                    <p:set>
                                      <p:cBhvr>
                                        <p:cTn id="165" dur="1" fill="hold">
                                          <p:stCondLst>
                                            <p:cond delay="0"/>
                                          </p:stCondLst>
                                        </p:cTn>
                                        <p:tgtEl>
                                          <p:spTgt spid="21"/>
                                        </p:tgtEl>
                                        <p:attrNameLst>
                                          <p:attrName>style.visibility</p:attrName>
                                        </p:attrNameLst>
                                      </p:cBhvr>
                                      <p:to>
                                        <p:strVal val="visible"/>
                                      </p:to>
                                    </p:set>
                                    <p:animEffect transition="in" filter="wipe(left)">
                                      <p:cBhvr>
                                        <p:cTn id="166" dur="250"/>
                                        <p:tgtEl>
                                          <p:spTgt spid="21"/>
                                        </p:tgtEl>
                                      </p:cBhvr>
                                    </p:animEffect>
                                  </p:childTnLst>
                                </p:cTn>
                              </p:par>
                            </p:childTnLst>
                          </p:cTn>
                        </p:par>
                        <p:par>
                          <p:cTn id="167" fill="hold">
                            <p:stCondLst>
                              <p:cond delay="11250"/>
                            </p:stCondLst>
                            <p:childTnLst>
                              <p:par>
                                <p:cTn id="168" presetID="42" presetClass="path" presetSubtype="0" accel="50000" decel="50000" fill="hold" grpId="5" nodeType="afterEffect">
                                  <p:stCondLst>
                                    <p:cond delay="0"/>
                                  </p:stCondLst>
                                  <p:childTnLst>
                                    <p:animMotion origin="layout" path="M -0.00013 0.13264 L -0.00013 0.16504 " pathEditMode="relative" rAng="0" ptsTypes="AA">
                                      <p:cBhvr>
                                        <p:cTn id="169" dur="250" fill="hold"/>
                                        <p:tgtEl>
                                          <p:spTgt spid="8"/>
                                        </p:tgtEl>
                                        <p:attrNameLst>
                                          <p:attrName>ppt_x</p:attrName>
                                          <p:attrName>ppt_y</p:attrName>
                                        </p:attrNameLst>
                                      </p:cBhvr>
                                      <p:rCtr x="0" y="1620"/>
                                    </p:animMotion>
                                  </p:childTnLst>
                                </p:cTn>
                              </p:par>
                            </p:childTnLst>
                          </p:cTn>
                        </p:par>
                        <p:par>
                          <p:cTn id="170" fill="hold">
                            <p:stCondLst>
                              <p:cond delay="11500"/>
                            </p:stCondLst>
                            <p:childTnLst>
                              <p:par>
                                <p:cTn id="171" presetID="42" presetClass="path" presetSubtype="0" accel="50000" decel="50000" fill="hold" grpId="6" nodeType="afterEffect">
                                  <p:stCondLst>
                                    <p:cond delay="0"/>
                                  </p:stCondLst>
                                  <p:childTnLst>
                                    <p:animMotion origin="layout" path="M -0.00013 0.16504 L -0.00013 0.19792 " pathEditMode="relative" rAng="0" ptsTypes="AA">
                                      <p:cBhvr>
                                        <p:cTn id="172" dur="250" fill="hold"/>
                                        <p:tgtEl>
                                          <p:spTgt spid="8"/>
                                        </p:tgtEl>
                                        <p:attrNameLst>
                                          <p:attrName>ppt_x</p:attrName>
                                          <p:attrName>ppt_y</p:attrName>
                                        </p:attrNameLst>
                                      </p:cBhvr>
                                      <p:rCtr x="0" y="1644"/>
                                    </p:animMotion>
                                  </p:childTnLst>
                                </p:cTn>
                              </p:par>
                            </p:childTnLst>
                          </p:cTn>
                        </p:par>
                        <p:par>
                          <p:cTn id="173" fill="hold">
                            <p:stCondLst>
                              <p:cond delay="11750"/>
                            </p:stCondLst>
                            <p:childTnLst>
                              <p:par>
                                <p:cTn id="174" presetID="42" presetClass="path" presetSubtype="0" accel="50000" decel="50000" fill="hold" grpId="7" nodeType="afterEffect">
                                  <p:stCondLst>
                                    <p:cond delay="0"/>
                                  </p:stCondLst>
                                  <p:childTnLst>
                                    <p:animMotion origin="layout" path="M -0.00013 0.19792 L -0.00013 0.23079 " pathEditMode="relative" rAng="0" ptsTypes="AA">
                                      <p:cBhvr>
                                        <p:cTn id="175" dur="250" fill="hold"/>
                                        <p:tgtEl>
                                          <p:spTgt spid="8"/>
                                        </p:tgtEl>
                                        <p:attrNameLst>
                                          <p:attrName>ppt_x</p:attrName>
                                          <p:attrName>ppt_y</p:attrName>
                                        </p:attrNameLst>
                                      </p:cBhvr>
                                      <p:rCtr x="0" y="1644"/>
                                    </p:animMotion>
                                  </p:childTnLst>
                                </p:cTn>
                              </p:par>
                            </p:childTnLst>
                          </p:cTn>
                        </p:par>
                        <p:par>
                          <p:cTn id="176" fill="hold">
                            <p:stCondLst>
                              <p:cond delay="12000"/>
                            </p:stCondLst>
                            <p:childTnLst>
                              <p:par>
                                <p:cTn id="177" presetID="42" presetClass="path" presetSubtype="0" accel="50000" decel="50000" fill="hold" grpId="8" nodeType="afterEffect">
                                  <p:stCondLst>
                                    <p:cond delay="0"/>
                                  </p:stCondLst>
                                  <p:childTnLst>
                                    <p:animMotion origin="layout" path="M -0.00013 0.23079 L 0.00013 0.2618 " pathEditMode="relative" rAng="0" ptsTypes="AA">
                                      <p:cBhvr>
                                        <p:cTn id="178" dur="250" fill="hold"/>
                                        <p:tgtEl>
                                          <p:spTgt spid="8"/>
                                        </p:tgtEl>
                                        <p:attrNameLst>
                                          <p:attrName>ppt_x</p:attrName>
                                          <p:attrName>ppt_y</p:attrName>
                                        </p:attrNameLst>
                                      </p:cBhvr>
                                      <p:rCtr x="13" y="1551"/>
                                    </p:animMotion>
                                  </p:childTnLst>
                                </p:cTn>
                              </p:par>
                            </p:childTnLst>
                          </p:cTn>
                        </p:par>
                        <p:par>
                          <p:cTn id="179" fill="hold">
                            <p:stCondLst>
                              <p:cond delay="12250"/>
                            </p:stCondLst>
                            <p:childTnLst>
                              <p:par>
                                <p:cTn id="180" presetID="22" presetClass="entr" presetSubtype="8" fill="hold" nodeType="afterEffect">
                                  <p:stCondLst>
                                    <p:cond delay="0"/>
                                  </p:stCondLst>
                                  <p:childTnLst>
                                    <p:set>
                                      <p:cBhvr>
                                        <p:cTn id="181" dur="1" fill="hold">
                                          <p:stCondLst>
                                            <p:cond delay="0"/>
                                          </p:stCondLst>
                                        </p:cTn>
                                        <p:tgtEl>
                                          <p:spTgt spid="24"/>
                                        </p:tgtEl>
                                        <p:attrNameLst>
                                          <p:attrName>style.visibility</p:attrName>
                                        </p:attrNameLst>
                                      </p:cBhvr>
                                      <p:to>
                                        <p:strVal val="visible"/>
                                      </p:to>
                                    </p:set>
                                    <p:animEffect transition="in" filter="wipe(left)">
                                      <p:cBhvr>
                                        <p:cTn id="182" dur="250"/>
                                        <p:tgtEl>
                                          <p:spTgt spid="24"/>
                                        </p:tgtEl>
                                      </p:cBhvr>
                                    </p:animEffect>
                                  </p:childTnLst>
                                </p:cTn>
                              </p:par>
                            </p:childTnLst>
                          </p:cTn>
                        </p:par>
                        <p:par>
                          <p:cTn id="183" fill="hold">
                            <p:stCondLst>
                              <p:cond delay="12500"/>
                            </p:stCondLst>
                            <p:childTnLst>
                              <p:par>
                                <p:cTn id="184" presetID="42" presetClass="path" presetSubtype="0" accel="50000" decel="50000" fill="hold" grpId="9" nodeType="afterEffect">
                                  <p:stCondLst>
                                    <p:cond delay="0"/>
                                  </p:stCondLst>
                                  <p:childTnLst>
                                    <p:animMotion origin="layout" path="M 0.00013 0.2618 L 0.00013 0.29514 " pathEditMode="relative" rAng="0" ptsTypes="AA">
                                      <p:cBhvr>
                                        <p:cTn id="185" dur="250" fill="hold"/>
                                        <p:tgtEl>
                                          <p:spTgt spid="8"/>
                                        </p:tgtEl>
                                        <p:attrNameLst>
                                          <p:attrName>ppt_x</p:attrName>
                                          <p:attrName>ppt_y</p:attrName>
                                        </p:attrNameLst>
                                      </p:cBhvr>
                                      <p:rCtr x="0" y="1667"/>
                                    </p:animMotion>
                                  </p:childTnLst>
                                </p:cTn>
                              </p:par>
                            </p:childTnLst>
                          </p:cTn>
                        </p:par>
                        <p:par>
                          <p:cTn id="186" fill="hold">
                            <p:stCondLst>
                              <p:cond delay="12750"/>
                            </p:stCondLst>
                            <p:childTnLst>
                              <p:par>
                                <p:cTn id="187" presetID="42" presetClass="path" presetSubtype="0" accel="50000" decel="50000" fill="hold" grpId="10" nodeType="afterEffect">
                                  <p:stCondLst>
                                    <p:cond delay="0"/>
                                  </p:stCondLst>
                                  <p:childTnLst>
                                    <p:animMotion origin="layout" path="M 0.00013 0.29514 L 0.00091 0.32754 " pathEditMode="relative" rAng="0" ptsTypes="AA">
                                      <p:cBhvr>
                                        <p:cTn id="188" dur="250" fill="hold"/>
                                        <p:tgtEl>
                                          <p:spTgt spid="8"/>
                                        </p:tgtEl>
                                        <p:attrNameLst>
                                          <p:attrName>ppt_x</p:attrName>
                                          <p:attrName>ppt_y</p:attrName>
                                        </p:attrNameLst>
                                      </p:cBhvr>
                                      <p:rCtr x="39" y="1620"/>
                                    </p:animMotion>
                                  </p:childTnLst>
                                </p:cTn>
                              </p:par>
                            </p:childTnLst>
                          </p:cTn>
                        </p:par>
                        <p:par>
                          <p:cTn id="189" fill="hold">
                            <p:stCondLst>
                              <p:cond delay="13000"/>
                            </p:stCondLst>
                            <p:childTnLst>
                              <p:par>
                                <p:cTn id="190" presetID="22" presetClass="entr" presetSubtype="8" fill="hold" nodeType="afterEffect">
                                  <p:stCondLst>
                                    <p:cond delay="0"/>
                                  </p:stCondLst>
                                  <p:childTnLst>
                                    <p:set>
                                      <p:cBhvr>
                                        <p:cTn id="191" dur="1" fill="hold">
                                          <p:stCondLst>
                                            <p:cond delay="0"/>
                                          </p:stCondLst>
                                        </p:cTn>
                                        <p:tgtEl>
                                          <p:spTgt spid="27"/>
                                        </p:tgtEl>
                                        <p:attrNameLst>
                                          <p:attrName>style.visibility</p:attrName>
                                        </p:attrNameLst>
                                      </p:cBhvr>
                                      <p:to>
                                        <p:strVal val="visible"/>
                                      </p:to>
                                    </p:set>
                                    <p:animEffect transition="in" filter="wipe(left)">
                                      <p:cBhvr>
                                        <p:cTn id="192" dur="250"/>
                                        <p:tgtEl>
                                          <p:spTgt spid="27"/>
                                        </p:tgtEl>
                                      </p:cBhvr>
                                    </p:animEffect>
                                  </p:childTnLst>
                                </p:cTn>
                              </p:par>
                            </p:childTnLst>
                          </p:cTn>
                        </p:par>
                        <p:par>
                          <p:cTn id="193" fill="hold">
                            <p:stCondLst>
                              <p:cond delay="13250"/>
                            </p:stCondLst>
                            <p:childTnLst>
                              <p:par>
                                <p:cTn id="194" presetID="42" presetClass="path" presetSubtype="0" accel="50000" decel="50000" fill="hold" grpId="11" nodeType="afterEffect">
                                  <p:stCondLst>
                                    <p:cond delay="0"/>
                                  </p:stCondLst>
                                  <p:childTnLst>
                                    <p:animMotion origin="layout" path="M 0.00091 0.32754 L 0.00117 0.36088 " pathEditMode="relative" rAng="0" ptsTypes="AA">
                                      <p:cBhvr>
                                        <p:cTn id="195" dur="250" fill="hold"/>
                                        <p:tgtEl>
                                          <p:spTgt spid="8"/>
                                        </p:tgtEl>
                                        <p:attrNameLst>
                                          <p:attrName>ppt_x</p:attrName>
                                          <p:attrName>ppt_y</p:attrName>
                                        </p:attrNameLst>
                                      </p:cBhvr>
                                      <p:rCtr x="13" y="1667"/>
                                    </p:animMotion>
                                  </p:childTnLst>
                                </p:cTn>
                              </p:par>
                            </p:childTnLst>
                          </p:cTn>
                        </p:par>
                        <p:par>
                          <p:cTn id="196" fill="hold">
                            <p:stCondLst>
                              <p:cond delay="13500"/>
                            </p:stCondLst>
                            <p:childTnLst>
                              <p:par>
                                <p:cTn id="197" presetID="42" presetClass="path" presetSubtype="0" accel="50000" decel="50000" fill="hold" grpId="12" nodeType="afterEffect">
                                  <p:stCondLst>
                                    <p:cond delay="0"/>
                                  </p:stCondLst>
                                  <p:childTnLst>
                                    <p:animMotion origin="layout" path="M 0.00117 0.36088 L 0.00091 0.39514 " pathEditMode="relative" rAng="0" ptsTypes="AA">
                                      <p:cBhvr>
                                        <p:cTn id="198" dur="250" fill="hold"/>
                                        <p:tgtEl>
                                          <p:spTgt spid="8"/>
                                        </p:tgtEl>
                                        <p:attrNameLst>
                                          <p:attrName>ppt_x</p:attrName>
                                          <p:attrName>ppt_y</p:attrName>
                                        </p:attrNameLst>
                                      </p:cBhvr>
                                      <p:rCtr x="-13" y="1713"/>
                                    </p:animMotion>
                                  </p:childTnLst>
                                </p:cTn>
                              </p:par>
                            </p:childTnLst>
                          </p:cTn>
                        </p:par>
                        <p:par>
                          <p:cTn id="199" fill="hold">
                            <p:stCondLst>
                              <p:cond delay="13750"/>
                            </p:stCondLst>
                            <p:childTnLst>
                              <p:par>
                                <p:cTn id="200" presetID="42" presetClass="path" presetSubtype="0" accel="50000" decel="50000" fill="hold" grpId="13" nodeType="afterEffect">
                                  <p:stCondLst>
                                    <p:cond delay="0"/>
                                  </p:stCondLst>
                                  <p:childTnLst>
                                    <p:animMotion origin="layout" path="M 0.00091 0.39514 L 0.00052 0.42569 " pathEditMode="relative" rAng="0" ptsTypes="AA">
                                      <p:cBhvr>
                                        <p:cTn id="201" dur="250" fill="hold"/>
                                        <p:tgtEl>
                                          <p:spTgt spid="8"/>
                                        </p:tgtEl>
                                        <p:attrNameLst>
                                          <p:attrName>ppt_x</p:attrName>
                                          <p:attrName>ppt_y</p:attrName>
                                        </p:attrNameLst>
                                      </p:cBhvr>
                                      <p:rCtr x="-26" y="1528"/>
                                    </p:animMotion>
                                  </p:childTnLst>
                                </p:cTn>
                              </p:par>
                            </p:childTnLst>
                          </p:cTn>
                        </p:par>
                        <p:par>
                          <p:cTn id="202" fill="hold">
                            <p:stCondLst>
                              <p:cond delay="14000"/>
                            </p:stCondLst>
                            <p:childTnLst>
                              <p:par>
                                <p:cTn id="203" presetID="42" presetClass="path" presetSubtype="0" accel="50000" decel="50000" fill="hold" grpId="14" nodeType="afterEffect">
                                  <p:stCondLst>
                                    <p:cond delay="0"/>
                                  </p:stCondLst>
                                  <p:childTnLst>
                                    <p:animMotion origin="layout" path="M 0.00052 0.42569 L 0.00052 0.45856 " pathEditMode="relative" rAng="0" ptsTypes="AA">
                                      <p:cBhvr>
                                        <p:cTn id="204" dur="250" fill="hold"/>
                                        <p:tgtEl>
                                          <p:spTgt spid="8"/>
                                        </p:tgtEl>
                                        <p:attrNameLst>
                                          <p:attrName>ppt_x</p:attrName>
                                          <p:attrName>ppt_y</p:attrName>
                                        </p:attrNameLst>
                                      </p:cBhvr>
                                      <p:rCtr x="0" y="1644"/>
                                    </p:animMotion>
                                  </p:childTnLst>
                                </p:cTn>
                              </p:par>
                            </p:childTnLst>
                          </p:cTn>
                        </p:par>
                        <p:par>
                          <p:cTn id="205" fill="hold">
                            <p:stCondLst>
                              <p:cond delay="14250"/>
                            </p:stCondLst>
                            <p:childTnLst>
                              <p:par>
                                <p:cTn id="206" presetID="22" presetClass="entr" presetSubtype="8" fill="hold" nodeType="afterEffect">
                                  <p:stCondLst>
                                    <p:cond delay="0"/>
                                  </p:stCondLst>
                                  <p:childTnLst>
                                    <p:set>
                                      <p:cBhvr>
                                        <p:cTn id="207" dur="1" fill="hold">
                                          <p:stCondLst>
                                            <p:cond delay="0"/>
                                          </p:stCondLst>
                                        </p:cTn>
                                        <p:tgtEl>
                                          <p:spTgt spid="9"/>
                                        </p:tgtEl>
                                        <p:attrNameLst>
                                          <p:attrName>style.visibility</p:attrName>
                                        </p:attrNameLst>
                                      </p:cBhvr>
                                      <p:to>
                                        <p:strVal val="visible"/>
                                      </p:to>
                                    </p:set>
                                    <p:animEffect transition="in" filter="wipe(left)">
                                      <p:cBhvr>
                                        <p:cTn id="208" dur="250"/>
                                        <p:tgtEl>
                                          <p:spTgt spid="9"/>
                                        </p:tgtEl>
                                      </p:cBhvr>
                                    </p:animEffect>
                                  </p:childTnLst>
                                </p:cTn>
                              </p:par>
                            </p:childTnLst>
                          </p:cTn>
                        </p:par>
                        <p:par>
                          <p:cTn id="209" fill="hold">
                            <p:stCondLst>
                              <p:cond delay="14500"/>
                            </p:stCondLst>
                            <p:childTnLst>
                              <p:par>
                                <p:cTn id="210" presetID="42" presetClass="path" presetSubtype="0" accel="50000" decel="50000" fill="hold" grpId="15" nodeType="afterEffect">
                                  <p:stCondLst>
                                    <p:cond delay="0"/>
                                  </p:stCondLst>
                                  <p:childTnLst>
                                    <p:animMotion origin="layout" path="M 0.00052 0.45856 L 0.00013 0.48796 " pathEditMode="relative" rAng="0" ptsTypes="AA">
                                      <p:cBhvr>
                                        <p:cTn id="211" dur="250" fill="hold"/>
                                        <p:tgtEl>
                                          <p:spTgt spid="8"/>
                                        </p:tgtEl>
                                        <p:attrNameLst>
                                          <p:attrName>ppt_x</p:attrName>
                                          <p:attrName>ppt_y</p:attrName>
                                        </p:attrNameLst>
                                      </p:cBhvr>
                                      <p:rCtr x="-26" y="1458"/>
                                    </p:animMotion>
                                  </p:childTnLst>
                                </p:cTn>
                              </p:par>
                            </p:childTnLst>
                          </p:cTn>
                        </p:par>
                        <p:par>
                          <p:cTn id="212" fill="hold">
                            <p:stCondLst>
                              <p:cond delay="14750"/>
                            </p:stCondLst>
                            <p:childTnLst>
                              <p:par>
                                <p:cTn id="213" presetID="42" presetClass="path" presetSubtype="0" accel="50000" decel="50000" fill="hold" grpId="16" nodeType="afterEffect">
                                  <p:stCondLst>
                                    <p:cond delay="0"/>
                                  </p:stCondLst>
                                  <p:childTnLst>
                                    <p:animMotion origin="layout" path="M 0.00013 0.48796 L 0.00091 0.52222 " pathEditMode="relative" rAng="0" ptsTypes="AA">
                                      <p:cBhvr>
                                        <p:cTn id="214" dur="250" fill="hold"/>
                                        <p:tgtEl>
                                          <p:spTgt spid="8"/>
                                        </p:tgtEl>
                                        <p:attrNameLst>
                                          <p:attrName>ppt_x</p:attrName>
                                          <p:attrName>ppt_y</p:attrName>
                                        </p:attrNameLst>
                                      </p:cBhvr>
                                      <p:rCtr x="39" y="1713"/>
                                    </p:animMotion>
                                  </p:childTnLst>
                                </p:cTn>
                              </p:par>
                            </p:childTnLst>
                          </p:cTn>
                        </p:par>
                        <p:par>
                          <p:cTn id="215" fill="hold">
                            <p:stCondLst>
                              <p:cond delay="15000"/>
                            </p:stCondLst>
                            <p:childTnLst>
                              <p:par>
                                <p:cTn id="216" presetID="42" presetClass="path" presetSubtype="0" accel="50000" decel="50000" fill="hold" grpId="17" nodeType="afterEffect">
                                  <p:stCondLst>
                                    <p:cond delay="0"/>
                                  </p:stCondLst>
                                  <p:childTnLst>
                                    <p:animMotion origin="layout" path="M 0.00091 0.52222 L 0.00104 0.55648 " pathEditMode="relative" rAng="0" ptsTypes="AA">
                                      <p:cBhvr>
                                        <p:cTn id="217" dur="250" fill="hold"/>
                                        <p:tgtEl>
                                          <p:spTgt spid="8"/>
                                        </p:tgtEl>
                                        <p:attrNameLst>
                                          <p:attrName>ppt_x</p:attrName>
                                          <p:attrName>ppt_y</p:attrName>
                                        </p:attrNameLst>
                                      </p:cBhvr>
                                      <p:rCtr x="0" y="1713"/>
                                    </p:animMotion>
                                  </p:childTnLst>
                                </p:cTn>
                              </p:par>
                            </p:childTnLst>
                          </p:cTn>
                        </p:par>
                        <p:par>
                          <p:cTn id="218" fill="hold">
                            <p:stCondLst>
                              <p:cond delay="15250"/>
                            </p:stCondLst>
                            <p:childTnLst>
                              <p:par>
                                <p:cTn id="219" presetID="42" presetClass="path" presetSubtype="0" accel="50000" decel="50000" fill="hold" grpId="18" nodeType="afterEffect">
                                  <p:stCondLst>
                                    <p:cond delay="0"/>
                                  </p:stCondLst>
                                  <p:childTnLst>
                                    <p:animMotion origin="layout" path="M 0.00104 0.55648 L 0.00195 0.58611 " pathEditMode="relative" rAng="0" ptsTypes="AA">
                                      <p:cBhvr>
                                        <p:cTn id="220" dur="250" fill="hold"/>
                                        <p:tgtEl>
                                          <p:spTgt spid="8"/>
                                        </p:tgtEl>
                                        <p:attrNameLst>
                                          <p:attrName>ppt_x</p:attrName>
                                          <p:attrName>ppt_y</p:attrName>
                                        </p:attrNameLst>
                                      </p:cBhvr>
                                      <p:rCtr x="39" y="1481"/>
                                    </p:animMotion>
                                  </p:childTnLst>
                                </p:cTn>
                              </p:par>
                            </p:childTnLst>
                          </p:cTn>
                        </p:par>
                        <p:par>
                          <p:cTn id="221" fill="hold">
                            <p:stCondLst>
                              <p:cond delay="15500"/>
                            </p:stCondLst>
                            <p:childTnLst>
                              <p:par>
                                <p:cTn id="222" presetID="22" presetClass="entr" presetSubtype="8" fill="hold" nodeType="afterEffect">
                                  <p:stCondLst>
                                    <p:cond delay="0"/>
                                  </p:stCondLst>
                                  <p:childTnLst>
                                    <p:set>
                                      <p:cBhvr>
                                        <p:cTn id="223" dur="1" fill="hold">
                                          <p:stCondLst>
                                            <p:cond delay="0"/>
                                          </p:stCondLst>
                                        </p:cTn>
                                        <p:tgtEl>
                                          <p:spTgt spid="28"/>
                                        </p:tgtEl>
                                        <p:attrNameLst>
                                          <p:attrName>style.visibility</p:attrName>
                                        </p:attrNameLst>
                                      </p:cBhvr>
                                      <p:to>
                                        <p:strVal val="visible"/>
                                      </p:to>
                                    </p:set>
                                    <p:animEffect transition="in" filter="wipe(left)">
                                      <p:cBhvr>
                                        <p:cTn id="224" dur="250"/>
                                        <p:tgtEl>
                                          <p:spTgt spid="28"/>
                                        </p:tgtEl>
                                      </p:cBhvr>
                                    </p:animEffect>
                                  </p:childTnLst>
                                </p:cTn>
                              </p:par>
                            </p:childTnLst>
                          </p:cTn>
                        </p:par>
                        <p:par>
                          <p:cTn id="225" fill="hold">
                            <p:stCondLst>
                              <p:cond delay="15750"/>
                            </p:stCondLst>
                            <p:childTnLst>
                              <p:par>
                                <p:cTn id="226" presetID="42" presetClass="path" presetSubtype="0" accel="50000" decel="50000" fill="hold" grpId="19" nodeType="afterEffect">
                                  <p:stCondLst>
                                    <p:cond delay="0"/>
                                  </p:stCondLst>
                                  <p:childTnLst>
                                    <p:animMotion origin="layout" path="M 0.00195 0.58611 L 0.0026 0.62129 " pathEditMode="relative" rAng="0" ptsTypes="AA">
                                      <p:cBhvr>
                                        <p:cTn id="227" dur="250" fill="hold"/>
                                        <p:tgtEl>
                                          <p:spTgt spid="8"/>
                                        </p:tgtEl>
                                        <p:attrNameLst>
                                          <p:attrName>ppt_x</p:attrName>
                                          <p:attrName>ppt_y</p:attrName>
                                        </p:attrNameLst>
                                      </p:cBhvr>
                                      <p:rCtr x="26" y="1759"/>
                                    </p:animMotion>
                                  </p:childTnLst>
                                </p:cTn>
                              </p:par>
                            </p:childTnLst>
                          </p:cTn>
                        </p:par>
                        <p:par>
                          <p:cTn id="228" fill="hold">
                            <p:stCondLst>
                              <p:cond delay="16000"/>
                            </p:stCondLst>
                            <p:childTnLst>
                              <p:par>
                                <p:cTn id="229" presetID="42" presetClass="path" presetSubtype="0" accel="50000" decel="50000" fill="hold" grpId="20" nodeType="afterEffect">
                                  <p:stCondLst>
                                    <p:cond delay="0"/>
                                  </p:stCondLst>
                                  <p:childTnLst>
                                    <p:animMotion origin="layout" path="M 0.0026 0.62129 L 0.00195 0.6537 " pathEditMode="relative" rAng="0" ptsTypes="AA">
                                      <p:cBhvr>
                                        <p:cTn id="230" dur="250" fill="hold"/>
                                        <p:tgtEl>
                                          <p:spTgt spid="8"/>
                                        </p:tgtEl>
                                        <p:attrNameLst>
                                          <p:attrName>ppt_x</p:attrName>
                                          <p:attrName>ppt_y</p:attrName>
                                        </p:attrNameLst>
                                      </p:cBhvr>
                                      <p:rCtr x="-39" y="1620"/>
                                    </p:animMotion>
                                  </p:childTnLst>
                                </p:cTn>
                              </p:par>
                            </p:childTnLst>
                          </p:cTn>
                        </p:par>
                        <p:par>
                          <p:cTn id="231" fill="hold">
                            <p:stCondLst>
                              <p:cond delay="16250"/>
                            </p:stCondLst>
                            <p:childTnLst>
                              <p:par>
                                <p:cTn id="232" presetID="42" presetClass="path" presetSubtype="0" accel="50000" decel="50000" fill="hold" grpId="21" nodeType="afterEffect">
                                  <p:stCondLst>
                                    <p:cond delay="0"/>
                                  </p:stCondLst>
                                  <p:childTnLst>
                                    <p:animMotion origin="layout" path="M 0.00195 0.6537 L 0.00195 0.68704 " pathEditMode="relative" rAng="0" ptsTypes="AA">
                                      <p:cBhvr>
                                        <p:cTn id="233" dur="250" fill="hold"/>
                                        <p:tgtEl>
                                          <p:spTgt spid="8"/>
                                        </p:tgtEl>
                                        <p:attrNameLst>
                                          <p:attrName>ppt_x</p:attrName>
                                          <p:attrName>ppt_y</p:attrName>
                                        </p:attrNameLst>
                                      </p:cBhvr>
                                      <p:rCtr x="0" y="1667"/>
                                    </p:animMotion>
                                  </p:childTnLst>
                                </p:cTn>
                              </p:par>
                            </p:childTnLst>
                          </p:cTn>
                        </p:par>
                        <p:par>
                          <p:cTn id="234" fill="hold">
                            <p:stCondLst>
                              <p:cond delay="16500"/>
                            </p:stCondLst>
                            <p:childTnLst>
                              <p:par>
                                <p:cTn id="235" presetID="42" presetClass="path" presetSubtype="0" accel="50000" decel="50000" fill="hold" grpId="22" nodeType="afterEffect">
                                  <p:stCondLst>
                                    <p:cond delay="0"/>
                                  </p:stCondLst>
                                  <p:childTnLst>
                                    <p:animMotion origin="layout" path="M 0.00195 0.68704 L 0.00195 0.71852 " pathEditMode="relative" rAng="0" ptsTypes="AA">
                                      <p:cBhvr>
                                        <p:cTn id="236" dur="250" fill="hold"/>
                                        <p:tgtEl>
                                          <p:spTgt spid="8"/>
                                        </p:tgtEl>
                                        <p:attrNameLst>
                                          <p:attrName>ppt_x</p:attrName>
                                          <p:attrName>ppt_y</p:attrName>
                                        </p:attrNameLst>
                                      </p:cBhvr>
                                      <p:rCtr x="0" y="1574"/>
                                    </p:animMotion>
                                  </p:childTnLst>
                                </p:cTn>
                              </p:par>
                            </p:childTnLst>
                          </p:cTn>
                        </p:par>
                        <p:par>
                          <p:cTn id="237" fill="hold">
                            <p:stCondLst>
                              <p:cond delay="16750"/>
                            </p:stCondLst>
                            <p:childTnLst>
                              <p:par>
                                <p:cTn id="238" presetID="42" presetClass="path" presetSubtype="0" accel="50000" decel="50000" fill="hold" grpId="23" nodeType="afterEffect">
                                  <p:stCondLst>
                                    <p:cond delay="0"/>
                                  </p:stCondLst>
                                  <p:childTnLst>
                                    <p:animMotion origin="layout" path="M 0.00195 0.71852 L 0.00195 0.75278 " pathEditMode="relative" rAng="0" ptsTypes="AA">
                                      <p:cBhvr>
                                        <p:cTn id="239" dur="250" fill="hold"/>
                                        <p:tgtEl>
                                          <p:spTgt spid="8"/>
                                        </p:tgtEl>
                                        <p:attrNameLst>
                                          <p:attrName>ppt_x</p:attrName>
                                          <p:attrName>ppt_y</p:attrName>
                                        </p:attrNameLst>
                                      </p:cBhvr>
                                      <p:rCtr x="0" y="1713"/>
                                    </p:animMotion>
                                  </p:childTnLst>
                                </p:cTn>
                              </p:par>
                            </p:childTnLst>
                          </p:cTn>
                        </p:par>
                        <p:par>
                          <p:cTn id="240" fill="hold">
                            <p:stCondLst>
                              <p:cond delay="17000"/>
                            </p:stCondLst>
                            <p:childTnLst>
                              <p:par>
                                <p:cTn id="241" presetID="42" presetClass="path" presetSubtype="0" accel="50000" decel="50000" fill="hold" grpId="24" nodeType="afterEffect">
                                  <p:stCondLst>
                                    <p:cond delay="0"/>
                                  </p:stCondLst>
                                  <p:childTnLst>
                                    <p:animMotion origin="layout" path="M 0.00195 0.75278 L 0.00117 0.78426 " pathEditMode="relative" rAng="0" ptsTypes="AA">
                                      <p:cBhvr>
                                        <p:cTn id="242" dur="250" fill="hold"/>
                                        <p:tgtEl>
                                          <p:spTgt spid="8"/>
                                        </p:tgtEl>
                                        <p:attrNameLst>
                                          <p:attrName>ppt_x</p:attrName>
                                          <p:attrName>ppt_y</p:attrName>
                                        </p:attrNameLst>
                                      </p:cBhvr>
                                      <p:rCtr x="-39" y="1574"/>
                                    </p:animMotion>
                                  </p:childTnLst>
                                </p:cTn>
                              </p:par>
                            </p:childTnLst>
                          </p:cTn>
                        </p:par>
                        <p:par>
                          <p:cTn id="243" fill="hold">
                            <p:stCondLst>
                              <p:cond delay="17250"/>
                            </p:stCondLst>
                            <p:childTnLst>
                              <p:par>
                                <p:cTn id="244" presetID="42" presetClass="path" presetSubtype="0" accel="50000" decel="50000" fill="hold" grpId="25" nodeType="afterEffect">
                                  <p:stCondLst>
                                    <p:cond delay="0"/>
                                  </p:stCondLst>
                                  <p:childTnLst>
                                    <p:animMotion origin="layout" path="M 0.00117 0.78426 L 0.00195 0.81481 " pathEditMode="relative" rAng="0" ptsTypes="AA">
                                      <p:cBhvr>
                                        <p:cTn id="245" dur="250" fill="hold"/>
                                        <p:tgtEl>
                                          <p:spTgt spid="8"/>
                                        </p:tgtEl>
                                        <p:attrNameLst>
                                          <p:attrName>ppt_x</p:attrName>
                                          <p:attrName>ppt_y</p:attrName>
                                        </p:attrNameLst>
                                      </p:cBhvr>
                                      <p:rCtr x="39" y="1528"/>
                                    </p:animMotion>
                                  </p:childTnLst>
                                </p:cTn>
                              </p:par>
                            </p:childTnLst>
                          </p:cTn>
                        </p:par>
                        <p:par>
                          <p:cTn id="246" fill="hold">
                            <p:stCondLst>
                              <p:cond delay="17500"/>
                            </p:stCondLst>
                            <p:childTnLst>
                              <p:par>
                                <p:cTn id="247" presetID="1" presetClass="exit" presetSubtype="0" fill="hold" grpId="26" nodeType="afterEffect">
                                  <p:stCondLst>
                                    <p:cond delay="0"/>
                                  </p:stCondLst>
                                  <p:childTnLst>
                                    <p:set>
                                      <p:cBhvr>
                                        <p:cTn id="248" dur="1" fill="hold">
                                          <p:stCondLst>
                                            <p:cond delay="0"/>
                                          </p:stCondLst>
                                        </p:cTn>
                                        <p:tgtEl>
                                          <p:spTgt spid="8"/>
                                        </p:tgtEl>
                                        <p:attrNameLst>
                                          <p:attrName>style.visibility</p:attrName>
                                        </p:attrNameLst>
                                      </p:cBhvr>
                                      <p:to>
                                        <p:strVal val="hidden"/>
                                      </p:to>
                                    </p:set>
                                  </p:childTnLst>
                                </p:cTn>
                              </p:par>
                            </p:childTnLst>
                          </p:cTn>
                        </p:par>
                      </p:childTnLst>
                    </p:cTn>
                  </p:par>
                  <p:par>
                    <p:cTn id="249" fill="hold">
                      <p:stCondLst>
                        <p:cond delay="indefinite"/>
                      </p:stCondLst>
                      <p:childTnLst>
                        <p:par>
                          <p:cTn id="250" fill="hold">
                            <p:stCondLst>
                              <p:cond delay="0"/>
                            </p:stCondLst>
                            <p:childTnLst>
                              <p:par>
                                <p:cTn id="251" presetID="1" presetClass="entr" presetSubtype="0" fill="hold" grpId="0" nodeType="clickEffect">
                                  <p:stCondLst>
                                    <p:cond delay="0"/>
                                  </p:stCondLst>
                                  <p:childTnLst>
                                    <p:set>
                                      <p:cBhvr>
                                        <p:cTn id="252" dur="1" fill="hold">
                                          <p:stCondLst>
                                            <p:cond delay="0"/>
                                          </p:stCondLst>
                                        </p:cTn>
                                        <p:tgtEl>
                                          <p:spTgt spid="214"/>
                                        </p:tgtEl>
                                        <p:attrNameLst>
                                          <p:attrName>style.visibility</p:attrName>
                                        </p:attrNameLst>
                                      </p:cBhvr>
                                      <p:to>
                                        <p:strVal val="visible"/>
                                      </p:to>
                                    </p:set>
                                  </p:childTnLst>
                                </p:cTn>
                              </p:par>
                            </p:childTnLst>
                          </p:cTn>
                        </p:par>
                        <p:par>
                          <p:cTn id="253" fill="hold">
                            <p:stCondLst>
                              <p:cond delay="0"/>
                            </p:stCondLst>
                            <p:childTnLst>
                              <p:par>
                                <p:cTn id="254" presetID="1" presetClass="entr" presetSubtype="0" fill="hold" grpId="0" nodeType="afterEffect">
                                  <p:stCondLst>
                                    <p:cond delay="0"/>
                                  </p:stCondLst>
                                  <p:childTnLst>
                                    <p:set>
                                      <p:cBhvr>
                                        <p:cTn id="255" dur="1" fill="hold">
                                          <p:stCondLst>
                                            <p:cond delay="0"/>
                                          </p:stCondLst>
                                        </p:cTn>
                                        <p:tgtEl>
                                          <p:spTgt spid="209"/>
                                        </p:tgtEl>
                                        <p:attrNameLst>
                                          <p:attrName>style.visibility</p:attrName>
                                        </p:attrNameLst>
                                      </p:cBhvr>
                                      <p:to>
                                        <p:strVal val="visible"/>
                                      </p:to>
                                    </p:set>
                                  </p:childTnLst>
                                </p:cTn>
                              </p:par>
                            </p:childTnLst>
                          </p:cTn>
                        </p:par>
                        <p:par>
                          <p:cTn id="256" fill="hold">
                            <p:stCondLst>
                              <p:cond delay="0"/>
                            </p:stCondLst>
                            <p:childTnLst>
                              <p:par>
                                <p:cTn id="257" presetID="42" presetClass="path" presetSubtype="0" accel="50000" decel="50000" fill="hold" grpId="1" nodeType="afterEffect">
                                  <p:stCondLst>
                                    <p:cond delay="0"/>
                                  </p:stCondLst>
                                  <p:childTnLst>
                                    <p:animMotion origin="layout" path="M -2.91667E-6 -2.96296E-6 L -0.00013 0.03588 " pathEditMode="relative" rAng="0" ptsTypes="AA">
                                      <p:cBhvr>
                                        <p:cTn id="258" dur="250" fill="hold"/>
                                        <p:tgtEl>
                                          <p:spTgt spid="209"/>
                                        </p:tgtEl>
                                        <p:attrNameLst>
                                          <p:attrName>ppt_x</p:attrName>
                                          <p:attrName>ppt_y</p:attrName>
                                        </p:attrNameLst>
                                      </p:cBhvr>
                                      <p:rCtr x="-13" y="1782"/>
                                    </p:animMotion>
                                  </p:childTnLst>
                                </p:cTn>
                              </p:par>
                            </p:childTnLst>
                          </p:cTn>
                        </p:par>
                        <p:par>
                          <p:cTn id="259" fill="hold">
                            <p:stCondLst>
                              <p:cond delay="250"/>
                            </p:stCondLst>
                            <p:childTnLst>
                              <p:par>
                                <p:cTn id="260" presetID="22" presetClass="entr" presetSubtype="8" fill="hold" nodeType="afterEffect">
                                  <p:stCondLst>
                                    <p:cond delay="0"/>
                                  </p:stCondLst>
                                  <p:childTnLst>
                                    <p:set>
                                      <p:cBhvr>
                                        <p:cTn id="261" dur="1" fill="hold">
                                          <p:stCondLst>
                                            <p:cond delay="0"/>
                                          </p:stCondLst>
                                        </p:cTn>
                                        <p:tgtEl>
                                          <p:spTgt spid="36"/>
                                        </p:tgtEl>
                                        <p:attrNameLst>
                                          <p:attrName>style.visibility</p:attrName>
                                        </p:attrNameLst>
                                      </p:cBhvr>
                                      <p:to>
                                        <p:strVal val="visible"/>
                                      </p:to>
                                    </p:set>
                                    <p:animEffect transition="in" filter="wipe(left)">
                                      <p:cBhvr>
                                        <p:cTn id="262" dur="250"/>
                                        <p:tgtEl>
                                          <p:spTgt spid="36"/>
                                        </p:tgtEl>
                                      </p:cBhvr>
                                    </p:animEffect>
                                  </p:childTnLst>
                                </p:cTn>
                              </p:par>
                            </p:childTnLst>
                          </p:cTn>
                        </p:par>
                        <p:par>
                          <p:cTn id="263" fill="hold">
                            <p:stCondLst>
                              <p:cond delay="500"/>
                            </p:stCondLst>
                            <p:childTnLst>
                              <p:par>
                                <p:cTn id="264" presetID="42" presetClass="path" presetSubtype="0" accel="50000" decel="50000" fill="hold" grpId="2" nodeType="afterEffect">
                                  <p:stCondLst>
                                    <p:cond delay="0"/>
                                  </p:stCondLst>
                                  <p:childTnLst>
                                    <p:animMotion origin="layout" path="M -0.00013 0.03588 L -0.00052 0.0669 " pathEditMode="relative" rAng="0" ptsTypes="AA">
                                      <p:cBhvr>
                                        <p:cTn id="265" dur="250" fill="hold"/>
                                        <p:tgtEl>
                                          <p:spTgt spid="209"/>
                                        </p:tgtEl>
                                        <p:attrNameLst>
                                          <p:attrName>ppt_x</p:attrName>
                                          <p:attrName>ppt_y</p:attrName>
                                        </p:attrNameLst>
                                      </p:cBhvr>
                                      <p:rCtr x="-26" y="1551"/>
                                    </p:animMotion>
                                  </p:childTnLst>
                                </p:cTn>
                              </p:par>
                            </p:childTnLst>
                          </p:cTn>
                        </p:par>
                        <p:par>
                          <p:cTn id="266" fill="hold">
                            <p:stCondLst>
                              <p:cond delay="750"/>
                            </p:stCondLst>
                            <p:childTnLst>
                              <p:par>
                                <p:cTn id="267" presetID="42" presetClass="path" presetSubtype="0" accel="50000" decel="50000" fill="hold" grpId="3" nodeType="afterEffect">
                                  <p:stCondLst>
                                    <p:cond delay="0"/>
                                  </p:stCondLst>
                                  <p:childTnLst>
                                    <p:animMotion origin="layout" path="M -0.00052 0.0669 L -0.00052 0.09977 " pathEditMode="relative" rAng="0" ptsTypes="AA">
                                      <p:cBhvr>
                                        <p:cTn id="268" dur="250" fill="hold"/>
                                        <p:tgtEl>
                                          <p:spTgt spid="209"/>
                                        </p:tgtEl>
                                        <p:attrNameLst>
                                          <p:attrName>ppt_x</p:attrName>
                                          <p:attrName>ppt_y</p:attrName>
                                        </p:attrNameLst>
                                      </p:cBhvr>
                                      <p:rCtr x="0" y="1644"/>
                                    </p:animMotion>
                                  </p:childTnLst>
                                </p:cTn>
                              </p:par>
                            </p:childTnLst>
                          </p:cTn>
                        </p:par>
                        <p:par>
                          <p:cTn id="269" fill="hold">
                            <p:stCondLst>
                              <p:cond delay="1000"/>
                            </p:stCondLst>
                            <p:childTnLst>
                              <p:par>
                                <p:cTn id="270" presetID="42" presetClass="path" presetSubtype="0" accel="50000" decel="50000" fill="hold" grpId="4" nodeType="afterEffect">
                                  <p:stCondLst>
                                    <p:cond delay="0"/>
                                  </p:stCondLst>
                                  <p:childTnLst>
                                    <p:animMotion origin="layout" path="M -0.00052 0.09977 L -0.00013 0.13264 " pathEditMode="relative" rAng="0" ptsTypes="AA">
                                      <p:cBhvr>
                                        <p:cTn id="271" dur="250" fill="hold"/>
                                        <p:tgtEl>
                                          <p:spTgt spid="209"/>
                                        </p:tgtEl>
                                        <p:attrNameLst>
                                          <p:attrName>ppt_x</p:attrName>
                                          <p:attrName>ppt_y</p:attrName>
                                        </p:attrNameLst>
                                      </p:cBhvr>
                                      <p:rCtr x="13" y="1644"/>
                                    </p:animMotion>
                                  </p:childTnLst>
                                </p:cTn>
                              </p:par>
                            </p:childTnLst>
                          </p:cTn>
                        </p:par>
                        <p:par>
                          <p:cTn id="272" fill="hold">
                            <p:stCondLst>
                              <p:cond delay="1250"/>
                            </p:stCondLst>
                            <p:childTnLst>
                              <p:par>
                                <p:cTn id="273" presetID="42" presetClass="path" presetSubtype="0" accel="50000" decel="50000" fill="hold" grpId="5" nodeType="afterEffect">
                                  <p:stCondLst>
                                    <p:cond delay="0"/>
                                  </p:stCondLst>
                                  <p:childTnLst>
                                    <p:animMotion origin="layout" path="M -0.00013 0.13264 L -0.00013 0.16505 " pathEditMode="relative" rAng="0" ptsTypes="AA">
                                      <p:cBhvr>
                                        <p:cTn id="274" dur="250" fill="hold"/>
                                        <p:tgtEl>
                                          <p:spTgt spid="209"/>
                                        </p:tgtEl>
                                        <p:attrNameLst>
                                          <p:attrName>ppt_x</p:attrName>
                                          <p:attrName>ppt_y</p:attrName>
                                        </p:attrNameLst>
                                      </p:cBhvr>
                                      <p:rCtr x="0" y="1620"/>
                                    </p:animMotion>
                                  </p:childTnLst>
                                </p:cTn>
                              </p:par>
                            </p:childTnLst>
                          </p:cTn>
                        </p:par>
                        <p:par>
                          <p:cTn id="275" fill="hold">
                            <p:stCondLst>
                              <p:cond delay="1500"/>
                            </p:stCondLst>
                            <p:childTnLst>
                              <p:par>
                                <p:cTn id="276" presetID="22" presetClass="entr" presetSubtype="8" fill="hold" nodeType="afterEffect">
                                  <p:stCondLst>
                                    <p:cond delay="0"/>
                                  </p:stCondLst>
                                  <p:childTnLst>
                                    <p:set>
                                      <p:cBhvr>
                                        <p:cTn id="277" dur="1" fill="hold">
                                          <p:stCondLst>
                                            <p:cond delay="0"/>
                                          </p:stCondLst>
                                        </p:cTn>
                                        <p:tgtEl>
                                          <p:spTgt spid="42"/>
                                        </p:tgtEl>
                                        <p:attrNameLst>
                                          <p:attrName>style.visibility</p:attrName>
                                        </p:attrNameLst>
                                      </p:cBhvr>
                                      <p:to>
                                        <p:strVal val="visible"/>
                                      </p:to>
                                    </p:set>
                                    <p:animEffect transition="in" filter="wipe(left)">
                                      <p:cBhvr>
                                        <p:cTn id="278" dur="250"/>
                                        <p:tgtEl>
                                          <p:spTgt spid="42"/>
                                        </p:tgtEl>
                                      </p:cBhvr>
                                    </p:animEffect>
                                  </p:childTnLst>
                                </p:cTn>
                              </p:par>
                            </p:childTnLst>
                          </p:cTn>
                        </p:par>
                        <p:par>
                          <p:cTn id="279" fill="hold">
                            <p:stCondLst>
                              <p:cond delay="1750"/>
                            </p:stCondLst>
                            <p:childTnLst>
                              <p:par>
                                <p:cTn id="280" presetID="42" presetClass="path" presetSubtype="0" accel="50000" decel="50000" fill="hold" grpId="6" nodeType="afterEffect">
                                  <p:stCondLst>
                                    <p:cond delay="0"/>
                                  </p:stCondLst>
                                  <p:childTnLst>
                                    <p:animMotion origin="layout" path="M -0.00013 0.16505 L -0.00013 0.19792 " pathEditMode="relative" rAng="0" ptsTypes="AA">
                                      <p:cBhvr>
                                        <p:cTn id="281" dur="250" fill="hold"/>
                                        <p:tgtEl>
                                          <p:spTgt spid="209"/>
                                        </p:tgtEl>
                                        <p:attrNameLst>
                                          <p:attrName>ppt_x</p:attrName>
                                          <p:attrName>ppt_y</p:attrName>
                                        </p:attrNameLst>
                                      </p:cBhvr>
                                      <p:rCtr x="0" y="1644"/>
                                    </p:animMotion>
                                  </p:childTnLst>
                                </p:cTn>
                              </p:par>
                            </p:childTnLst>
                          </p:cTn>
                        </p:par>
                        <p:par>
                          <p:cTn id="282" fill="hold">
                            <p:stCondLst>
                              <p:cond delay="2000"/>
                            </p:stCondLst>
                            <p:childTnLst>
                              <p:par>
                                <p:cTn id="283" presetID="42" presetClass="path" presetSubtype="0" accel="50000" decel="50000" fill="hold" grpId="7" nodeType="afterEffect">
                                  <p:stCondLst>
                                    <p:cond delay="0"/>
                                  </p:stCondLst>
                                  <p:childTnLst>
                                    <p:animMotion origin="layout" path="M -0.00013 0.19792 L -0.00013 0.23079 " pathEditMode="relative" rAng="0" ptsTypes="AA">
                                      <p:cBhvr>
                                        <p:cTn id="284" dur="250" fill="hold"/>
                                        <p:tgtEl>
                                          <p:spTgt spid="209"/>
                                        </p:tgtEl>
                                        <p:attrNameLst>
                                          <p:attrName>ppt_x</p:attrName>
                                          <p:attrName>ppt_y</p:attrName>
                                        </p:attrNameLst>
                                      </p:cBhvr>
                                      <p:rCtr x="0" y="1644"/>
                                    </p:animMotion>
                                  </p:childTnLst>
                                </p:cTn>
                              </p:par>
                            </p:childTnLst>
                          </p:cTn>
                        </p:par>
                        <p:par>
                          <p:cTn id="285" fill="hold">
                            <p:stCondLst>
                              <p:cond delay="2250"/>
                            </p:stCondLst>
                            <p:childTnLst>
                              <p:par>
                                <p:cTn id="286" presetID="42" presetClass="path" presetSubtype="0" accel="50000" decel="50000" fill="hold" grpId="8" nodeType="afterEffect">
                                  <p:stCondLst>
                                    <p:cond delay="0"/>
                                  </p:stCondLst>
                                  <p:childTnLst>
                                    <p:animMotion origin="layout" path="M -0.00013 0.23079 L 0.00013 0.26181 " pathEditMode="relative" rAng="0" ptsTypes="AA">
                                      <p:cBhvr>
                                        <p:cTn id="287" dur="250" fill="hold"/>
                                        <p:tgtEl>
                                          <p:spTgt spid="209"/>
                                        </p:tgtEl>
                                        <p:attrNameLst>
                                          <p:attrName>ppt_x</p:attrName>
                                          <p:attrName>ppt_y</p:attrName>
                                        </p:attrNameLst>
                                      </p:cBhvr>
                                      <p:rCtr x="13" y="1551"/>
                                    </p:animMotion>
                                  </p:childTnLst>
                                </p:cTn>
                              </p:par>
                            </p:childTnLst>
                          </p:cTn>
                        </p:par>
                        <p:par>
                          <p:cTn id="288" fill="hold">
                            <p:stCondLst>
                              <p:cond delay="2500"/>
                            </p:stCondLst>
                            <p:childTnLst>
                              <p:par>
                                <p:cTn id="289" presetID="42" presetClass="path" presetSubtype="0" accel="50000" decel="50000" fill="hold" grpId="9" nodeType="afterEffect">
                                  <p:stCondLst>
                                    <p:cond delay="0"/>
                                  </p:stCondLst>
                                  <p:childTnLst>
                                    <p:animMotion origin="layout" path="M 0.00013 0.26181 L 0.00013 0.29514 " pathEditMode="relative" rAng="0" ptsTypes="AA">
                                      <p:cBhvr>
                                        <p:cTn id="290" dur="250" fill="hold"/>
                                        <p:tgtEl>
                                          <p:spTgt spid="209"/>
                                        </p:tgtEl>
                                        <p:attrNameLst>
                                          <p:attrName>ppt_x</p:attrName>
                                          <p:attrName>ppt_y</p:attrName>
                                        </p:attrNameLst>
                                      </p:cBhvr>
                                      <p:rCtr x="0" y="1667"/>
                                    </p:animMotion>
                                  </p:childTnLst>
                                </p:cTn>
                              </p:par>
                            </p:childTnLst>
                          </p:cTn>
                        </p:par>
                        <p:par>
                          <p:cTn id="291" fill="hold">
                            <p:stCondLst>
                              <p:cond delay="2750"/>
                            </p:stCondLst>
                            <p:childTnLst>
                              <p:par>
                                <p:cTn id="292" presetID="22" presetClass="entr" presetSubtype="8" fill="hold" nodeType="afterEffect">
                                  <p:stCondLst>
                                    <p:cond delay="0"/>
                                  </p:stCondLst>
                                  <p:childTnLst>
                                    <p:set>
                                      <p:cBhvr>
                                        <p:cTn id="293" dur="1" fill="hold">
                                          <p:stCondLst>
                                            <p:cond delay="0"/>
                                          </p:stCondLst>
                                        </p:cTn>
                                        <p:tgtEl>
                                          <p:spTgt spid="48"/>
                                        </p:tgtEl>
                                        <p:attrNameLst>
                                          <p:attrName>style.visibility</p:attrName>
                                        </p:attrNameLst>
                                      </p:cBhvr>
                                      <p:to>
                                        <p:strVal val="visible"/>
                                      </p:to>
                                    </p:set>
                                    <p:animEffect transition="in" filter="wipe(left)">
                                      <p:cBhvr>
                                        <p:cTn id="294" dur="250"/>
                                        <p:tgtEl>
                                          <p:spTgt spid="48"/>
                                        </p:tgtEl>
                                      </p:cBhvr>
                                    </p:animEffect>
                                  </p:childTnLst>
                                </p:cTn>
                              </p:par>
                            </p:childTnLst>
                          </p:cTn>
                        </p:par>
                        <p:par>
                          <p:cTn id="295" fill="hold">
                            <p:stCondLst>
                              <p:cond delay="3000"/>
                            </p:stCondLst>
                            <p:childTnLst>
                              <p:par>
                                <p:cTn id="296" presetID="42" presetClass="path" presetSubtype="0" accel="50000" decel="50000" fill="hold" grpId="10" nodeType="afterEffect">
                                  <p:stCondLst>
                                    <p:cond delay="0"/>
                                  </p:stCondLst>
                                  <p:childTnLst>
                                    <p:animMotion origin="layout" path="M 0.00013 0.29514 L 0.00091 0.32755 " pathEditMode="relative" rAng="0" ptsTypes="AA">
                                      <p:cBhvr>
                                        <p:cTn id="297" dur="250" fill="hold"/>
                                        <p:tgtEl>
                                          <p:spTgt spid="209"/>
                                        </p:tgtEl>
                                        <p:attrNameLst>
                                          <p:attrName>ppt_x</p:attrName>
                                          <p:attrName>ppt_y</p:attrName>
                                        </p:attrNameLst>
                                      </p:cBhvr>
                                      <p:rCtr x="39" y="1620"/>
                                    </p:animMotion>
                                  </p:childTnLst>
                                </p:cTn>
                              </p:par>
                            </p:childTnLst>
                          </p:cTn>
                        </p:par>
                        <p:par>
                          <p:cTn id="298" fill="hold">
                            <p:stCondLst>
                              <p:cond delay="3250"/>
                            </p:stCondLst>
                            <p:childTnLst>
                              <p:par>
                                <p:cTn id="299" presetID="22" presetClass="entr" presetSubtype="8" fill="hold" nodeType="afterEffect">
                                  <p:stCondLst>
                                    <p:cond delay="0"/>
                                  </p:stCondLst>
                                  <p:childTnLst>
                                    <p:set>
                                      <p:cBhvr>
                                        <p:cTn id="300" dur="1" fill="hold">
                                          <p:stCondLst>
                                            <p:cond delay="0"/>
                                          </p:stCondLst>
                                        </p:cTn>
                                        <p:tgtEl>
                                          <p:spTgt spid="58"/>
                                        </p:tgtEl>
                                        <p:attrNameLst>
                                          <p:attrName>style.visibility</p:attrName>
                                        </p:attrNameLst>
                                      </p:cBhvr>
                                      <p:to>
                                        <p:strVal val="visible"/>
                                      </p:to>
                                    </p:set>
                                    <p:animEffect transition="in" filter="wipe(left)">
                                      <p:cBhvr>
                                        <p:cTn id="301" dur="250"/>
                                        <p:tgtEl>
                                          <p:spTgt spid="58"/>
                                        </p:tgtEl>
                                      </p:cBhvr>
                                    </p:animEffect>
                                  </p:childTnLst>
                                </p:cTn>
                              </p:par>
                            </p:childTnLst>
                          </p:cTn>
                        </p:par>
                        <p:par>
                          <p:cTn id="302" fill="hold">
                            <p:stCondLst>
                              <p:cond delay="3500"/>
                            </p:stCondLst>
                            <p:childTnLst>
                              <p:par>
                                <p:cTn id="303" presetID="42" presetClass="path" presetSubtype="0" accel="50000" decel="50000" fill="hold" grpId="11" nodeType="afterEffect">
                                  <p:stCondLst>
                                    <p:cond delay="0"/>
                                  </p:stCondLst>
                                  <p:childTnLst>
                                    <p:animMotion origin="layout" path="M 0.00091 0.32755 L 0.00117 0.36088 " pathEditMode="relative" rAng="0" ptsTypes="AA">
                                      <p:cBhvr>
                                        <p:cTn id="304" dur="250" fill="hold"/>
                                        <p:tgtEl>
                                          <p:spTgt spid="209"/>
                                        </p:tgtEl>
                                        <p:attrNameLst>
                                          <p:attrName>ppt_x</p:attrName>
                                          <p:attrName>ppt_y</p:attrName>
                                        </p:attrNameLst>
                                      </p:cBhvr>
                                      <p:rCtr x="13" y="1667"/>
                                    </p:animMotion>
                                  </p:childTnLst>
                                </p:cTn>
                              </p:par>
                            </p:childTnLst>
                          </p:cTn>
                        </p:par>
                        <p:par>
                          <p:cTn id="305" fill="hold">
                            <p:stCondLst>
                              <p:cond delay="3750"/>
                            </p:stCondLst>
                            <p:childTnLst>
                              <p:par>
                                <p:cTn id="306" presetID="22" presetClass="entr" presetSubtype="8" fill="hold" nodeType="afterEffect">
                                  <p:stCondLst>
                                    <p:cond delay="0"/>
                                  </p:stCondLst>
                                  <p:childTnLst>
                                    <p:set>
                                      <p:cBhvr>
                                        <p:cTn id="307" dur="1" fill="hold">
                                          <p:stCondLst>
                                            <p:cond delay="0"/>
                                          </p:stCondLst>
                                        </p:cTn>
                                        <p:tgtEl>
                                          <p:spTgt spid="63"/>
                                        </p:tgtEl>
                                        <p:attrNameLst>
                                          <p:attrName>style.visibility</p:attrName>
                                        </p:attrNameLst>
                                      </p:cBhvr>
                                      <p:to>
                                        <p:strVal val="visible"/>
                                      </p:to>
                                    </p:set>
                                    <p:animEffect transition="in" filter="wipe(left)">
                                      <p:cBhvr>
                                        <p:cTn id="308" dur="250"/>
                                        <p:tgtEl>
                                          <p:spTgt spid="63"/>
                                        </p:tgtEl>
                                      </p:cBhvr>
                                    </p:animEffect>
                                  </p:childTnLst>
                                </p:cTn>
                              </p:par>
                            </p:childTnLst>
                          </p:cTn>
                        </p:par>
                        <p:par>
                          <p:cTn id="309" fill="hold">
                            <p:stCondLst>
                              <p:cond delay="4000"/>
                            </p:stCondLst>
                            <p:childTnLst>
                              <p:par>
                                <p:cTn id="310" presetID="42" presetClass="path" presetSubtype="0" accel="50000" decel="50000" fill="hold" grpId="12" nodeType="afterEffect">
                                  <p:stCondLst>
                                    <p:cond delay="0"/>
                                  </p:stCondLst>
                                  <p:childTnLst>
                                    <p:animMotion origin="layout" path="M 0.00117 0.36088 L 0.00091 0.39514 " pathEditMode="relative" rAng="0" ptsTypes="AA">
                                      <p:cBhvr>
                                        <p:cTn id="311" dur="250" fill="hold"/>
                                        <p:tgtEl>
                                          <p:spTgt spid="209"/>
                                        </p:tgtEl>
                                        <p:attrNameLst>
                                          <p:attrName>ppt_x</p:attrName>
                                          <p:attrName>ppt_y</p:attrName>
                                        </p:attrNameLst>
                                      </p:cBhvr>
                                      <p:rCtr x="-13" y="1713"/>
                                    </p:animMotion>
                                  </p:childTnLst>
                                </p:cTn>
                              </p:par>
                            </p:childTnLst>
                          </p:cTn>
                        </p:par>
                        <p:par>
                          <p:cTn id="312" fill="hold">
                            <p:stCondLst>
                              <p:cond delay="4250"/>
                            </p:stCondLst>
                            <p:childTnLst>
                              <p:par>
                                <p:cTn id="313" presetID="42" presetClass="path" presetSubtype="0" accel="50000" decel="50000" fill="hold" grpId="13" nodeType="afterEffect">
                                  <p:stCondLst>
                                    <p:cond delay="0"/>
                                  </p:stCondLst>
                                  <p:childTnLst>
                                    <p:animMotion origin="layout" path="M 0.00091 0.39514 L 0.00052 0.4257 " pathEditMode="relative" rAng="0" ptsTypes="AA">
                                      <p:cBhvr>
                                        <p:cTn id="314" dur="250" fill="hold"/>
                                        <p:tgtEl>
                                          <p:spTgt spid="209"/>
                                        </p:tgtEl>
                                        <p:attrNameLst>
                                          <p:attrName>ppt_x</p:attrName>
                                          <p:attrName>ppt_y</p:attrName>
                                        </p:attrNameLst>
                                      </p:cBhvr>
                                      <p:rCtr x="-26" y="1528"/>
                                    </p:animMotion>
                                  </p:childTnLst>
                                </p:cTn>
                              </p:par>
                            </p:childTnLst>
                          </p:cTn>
                        </p:par>
                        <p:par>
                          <p:cTn id="315" fill="hold">
                            <p:stCondLst>
                              <p:cond delay="4500"/>
                            </p:stCondLst>
                            <p:childTnLst>
                              <p:par>
                                <p:cTn id="316" presetID="42" presetClass="path" presetSubtype="0" accel="50000" decel="50000" fill="hold" grpId="14" nodeType="afterEffect">
                                  <p:stCondLst>
                                    <p:cond delay="0"/>
                                  </p:stCondLst>
                                  <p:childTnLst>
                                    <p:animMotion origin="layout" path="M 0.00052 0.4257 L 0.00052 0.45857 " pathEditMode="relative" rAng="0" ptsTypes="AA">
                                      <p:cBhvr>
                                        <p:cTn id="317" dur="250" fill="hold"/>
                                        <p:tgtEl>
                                          <p:spTgt spid="209"/>
                                        </p:tgtEl>
                                        <p:attrNameLst>
                                          <p:attrName>ppt_x</p:attrName>
                                          <p:attrName>ppt_y</p:attrName>
                                        </p:attrNameLst>
                                      </p:cBhvr>
                                      <p:rCtr x="0" y="1644"/>
                                    </p:animMotion>
                                  </p:childTnLst>
                                </p:cTn>
                              </p:par>
                            </p:childTnLst>
                          </p:cTn>
                        </p:par>
                        <p:par>
                          <p:cTn id="318" fill="hold">
                            <p:stCondLst>
                              <p:cond delay="4750"/>
                            </p:stCondLst>
                            <p:childTnLst>
                              <p:par>
                                <p:cTn id="319" presetID="22" presetClass="entr" presetSubtype="8" fill="hold" nodeType="afterEffect">
                                  <p:stCondLst>
                                    <p:cond delay="0"/>
                                  </p:stCondLst>
                                  <p:childTnLst>
                                    <p:set>
                                      <p:cBhvr>
                                        <p:cTn id="320" dur="1" fill="hold">
                                          <p:stCondLst>
                                            <p:cond delay="0"/>
                                          </p:stCondLst>
                                        </p:cTn>
                                        <p:tgtEl>
                                          <p:spTgt spid="253"/>
                                        </p:tgtEl>
                                        <p:attrNameLst>
                                          <p:attrName>style.visibility</p:attrName>
                                        </p:attrNameLst>
                                      </p:cBhvr>
                                      <p:to>
                                        <p:strVal val="visible"/>
                                      </p:to>
                                    </p:set>
                                    <p:animEffect transition="in" filter="wipe(left)">
                                      <p:cBhvr>
                                        <p:cTn id="321" dur="250"/>
                                        <p:tgtEl>
                                          <p:spTgt spid="253"/>
                                        </p:tgtEl>
                                      </p:cBhvr>
                                    </p:animEffect>
                                  </p:childTnLst>
                                </p:cTn>
                              </p:par>
                            </p:childTnLst>
                          </p:cTn>
                        </p:par>
                        <p:par>
                          <p:cTn id="322" fill="hold">
                            <p:stCondLst>
                              <p:cond delay="5000"/>
                            </p:stCondLst>
                            <p:childTnLst>
                              <p:par>
                                <p:cTn id="323" presetID="42" presetClass="path" presetSubtype="0" accel="50000" decel="50000" fill="hold" grpId="15" nodeType="afterEffect">
                                  <p:stCondLst>
                                    <p:cond delay="0"/>
                                  </p:stCondLst>
                                  <p:childTnLst>
                                    <p:animMotion origin="layout" path="M 0.00052 0.45857 L 0.00013 0.48797 " pathEditMode="relative" rAng="0" ptsTypes="AA">
                                      <p:cBhvr>
                                        <p:cTn id="324" dur="250" fill="hold"/>
                                        <p:tgtEl>
                                          <p:spTgt spid="209"/>
                                        </p:tgtEl>
                                        <p:attrNameLst>
                                          <p:attrName>ppt_x</p:attrName>
                                          <p:attrName>ppt_y</p:attrName>
                                        </p:attrNameLst>
                                      </p:cBhvr>
                                      <p:rCtr x="-26" y="1458"/>
                                    </p:animMotion>
                                  </p:childTnLst>
                                </p:cTn>
                              </p:par>
                            </p:childTnLst>
                          </p:cTn>
                        </p:par>
                        <p:par>
                          <p:cTn id="325" fill="hold">
                            <p:stCondLst>
                              <p:cond delay="5250"/>
                            </p:stCondLst>
                            <p:childTnLst>
                              <p:par>
                                <p:cTn id="326" presetID="22" presetClass="entr" presetSubtype="8" fill="hold" nodeType="afterEffect">
                                  <p:stCondLst>
                                    <p:cond delay="0"/>
                                  </p:stCondLst>
                                  <p:childTnLst>
                                    <p:set>
                                      <p:cBhvr>
                                        <p:cTn id="327" dur="1" fill="hold">
                                          <p:stCondLst>
                                            <p:cond delay="0"/>
                                          </p:stCondLst>
                                        </p:cTn>
                                        <p:tgtEl>
                                          <p:spTgt spid="32"/>
                                        </p:tgtEl>
                                        <p:attrNameLst>
                                          <p:attrName>style.visibility</p:attrName>
                                        </p:attrNameLst>
                                      </p:cBhvr>
                                      <p:to>
                                        <p:strVal val="visible"/>
                                      </p:to>
                                    </p:set>
                                    <p:animEffect transition="in" filter="wipe(left)">
                                      <p:cBhvr>
                                        <p:cTn id="328" dur="250"/>
                                        <p:tgtEl>
                                          <p:spTgt spid="32"/>
                                        </p:tgtEl>
                                      </p:cBhvr>
                                    </p:animEffect>
                                  </p:childTnLst>
                                </p:cTn>
                              </p:par>
                            </p:childTnLst>
                          </p:cTn>
                        </p:par>
                        <p:par>
                          <p:cTn id="329" fill="hold">
                            <p:stCondLst>
                              <p:cond delay="5500"/>
                            </p:stCondLst>
                            <p:childTnLst>
                              <p:par>
                                <p:cTn id="330" presetID="42" presetClass="path" presetSubtype="0" accel="50000" decel="50000" fill="hold" grpId="16" nodeType="afterEffect">
                                  <p:stCondLst>
                                    <p:cond delay="0"/>
                                  </p:stCondLst>
                                  <p:childTnLst>
                                    <p:animMotion origin="layout" path="M 0.00013 0.48797 L 0.00091 0.52223 " pathEditMode="relative" rAng="0" ptsTypes="AA">
                                      <p:cBhvr>
                                        <p:cTn id="331" dur="250" fill="hold"/>
                                        <p:tgtEl>
                                          <p:spTgt spid="209"/>
                                        </p:tgtEl>
                                        <p:attrNameLst>
                                          <p:attrName>ppt_x</p:attrName>
                                          <p:attrName>ppt_y</p:attrName>
                                        </p:attrNameLst>
                                      </p:cBhvr>
                                      <p:rCtr x="39" y="1713"/>
                                    </p:animMotion>
                                  </p:childTnLst>
                                </p:cTn>
                              </p:par>
                            </p:childTnLst>
                          </p:cTn>
                        </p:par>
                        <p:par>
                          <p:cTn id="332" fill="hold">
                            <p:stCondLst>
                              <p:cond delay="5750"/>
                            </p:stCondLst>
                            <p:childTnLst>
                              <p:par>
                                <p:cTn id="333" presetID="42" presetClass="path" presetSubtype="0" accel="50000" decel="50000" fill="hold" grpId="17" nodeType="afterEffect">
                                  <p:stCondLst>
                                    <p:cond delay="0"/>
                                  </p:stCondLst>
                                  <p:childTnLst>
                                    <p:animMotion origin="layout" path="M 0.00091 0.52223 L 0.00104 0.55648 " pathEditMode="relative" rAng="0" ptsTypes="AA">
                                      <p:cBhvr>
                                        <p:cTn id="334" dur="250" fill="hold"/>
                                        <p:tgtEl>
                                          <p:spTgt spid="209"/>
                                        </p:tgtEl>
                                        <p:attrNameLst>
                                          <p:attrName>ppt_x</p:attrName>
                                          <p:attrName>ppt_y</p:attrName>
                                        </p:attrNameLst>
                                      </p:cBhvr>
                                      <p:rCtr x="0" y="1713"/>
                                    </p:animMotion>
                                  </p:childTnLst>
                                </p:cTn>
                              </p:par>
                            </p:childTnLst>
                          </p:cTn>
                        </p:par>
                        <p:par>
                          <p:cTn id="335" fill="hold">
                            <p:stCondLst>
                              <p:cond delay="6000"/>
                            </p:stCondLst>
                            <p:childTnLst>
                              <p:par>
                                <p:cTn id="336" presetID="22" presetClass="entr" presetSubtype="4" fill="hold" nodeType="afterEffect">
                                  <p:stCondLst>
                                    <p:cond delay="0"/>
                                  </p:stCondLst>
                                  <p:childTnLst>
                                    <p:set>
                                      <p:cBhvr>
                                        <p:cTn id="337" dur="1" fill="hold">
                                          <p:stCondLst>
                                            <p:cond delay="0"/>
                                          </p:stCondLst>
                                        </p:cTn>
                                        <p:tgtEl>
                                          <p:spTgt spid="248"/>
                                        </p:tgtEl>
                                        <p:attrNameLst>
                                          <p:attrName>style.visibility</p:attrName>
                                        </p:attrNameLst>
                                      </p:cBhvr>
                                      <p:to>
                                        <p:strVal val="visible"/>
                                      </p:to>
                                    </p:set>
                                    <p:animEffect transition="in" filter="wipe(down)">
                                      <p:cBhvr>
                                        <p:cTn id="338" dur="250"/>
                                        <p:tgtEl>
                                          <p:spTgt spid="248"/>
                                        </p:tgtEl>
                                      </p:cBhvr>
                                    </p:animEffect>
                                  </p:childTnLst>
                                </p:cTn>
                              </p:par>
                            </p:childTnLst>
                          </p:cTn>
                        </p:par>
                        <p:par>
                          <p:cTn id="339" fill="hold">
                            <p:stCondLst>
                              <p:cond delay="6250"/>
                            </p:stCondLst>
                            <p:childTnLst>
                              <p:par>
                                <p:cTn id="340" presetID="42" presetClass="path" presetSubtype="0" accel="50000" decel="50000" fill="hold" grpId="18" nodeType="afterEffect">
                                  <p:stCondLst>
                                    <p:cond delay="0"/>
                                  </p:stCondLst>
                                  <p:childTnLst>
                                    <p:animMotion origin="layout" path="M 0.00104 0.55648 L 0.00196 0.58611 " pathEditMode="relative" rAng="0" ptsTypes="AA">
                                      <p:cBhvr>
                                        <p:cTn id="341" dur="250" fill="hold"/>
                                        <p:tgtEl>
                                          <p:spTgt spid="209"/>
                                        </p:tgtEl>
                                        <p:attrNameLst>
                                          <p:attrName>ppt_x</p:attrName>
                                          <p:attrName>ppt_y</p:attrName>
                                        </p:attrNameLst>
                                      </p:cBhvr>
                                      <p:rCtr x="39" y="1481"/>
                                    </p:animMotion>
                                  </p:childTnLst>
                                </p:cTn>
                              </p:par>
                            </p:childTnLst>
                          </p:cTn>
                        </p:par>
                        <p:par>
                          <p:cTn id="342" fill="hold">
                            <p:stCondLst>
                              <p:cond delay="6500"/>
                            </p:stCondLst>
                            <p:childTnLst>
                              <p:par>
                                <p:cTn id="343" presetID="42" presetClass="path" presetSubtype="0" accel="50000" decel="50000" fill="hold" grpId="19" nodeType="afterEffect">
                                  <p:stCondLst>
                                    <p:cond delay="0"/>
                                  </p:stCondLst>
                                  <p:childTnLst>
                                    <p:animMotion origin="layout" path="M 0.00196 0.58611 L 0.00261 0.6213 " pathEditMode="relative" rAng="0" ptsTypes="AA">
                                      <p:cBhvr>
                                        <p:cTn id="344" dur="250" fill="hold"/>
                                        <p:tgtEl>
                                          <p:spTgt spid="209"/>
                                        </p:tgtEl>
                                        <p:attrNameLst>
                                          <p:attrName>ppt_x</p:attrName>
                                          <p:attrName>ppt_y</p:attrName>
                                        </p:attrNameLst>
                                      </p:cBhvr>
                                      <p:rCtr x="26" y="1759"/>
                                    </p:animMotion>
                                  </p:childTnLst>
                                </p:cTn>
                              </p:par>
                            </p:childTnLst>
                          </p:cTn>
                        </p:par>
                        <p:par>
                          <p:cTn id="345" fill="hold">
                            <p:stCondLst>
                              <p:cond delay="6750"/>
                            </p:stCondLst>
                            <p:childTnLst>
                              <p:par>
                                <p:cTn id="346" presetID="22" presetClass="entr" presetSubtype="8" fill="hold" nodeType="afterEffect">
                                  <p:stCondLst>
                                    <p:cond delay="0"/>
                                  </p:stCondLst>
                                  <p:childTnLst>
                                    <p:set>
                                      <p:cBhvr>
                                        <p:cTn id="347" dur="1" fill="hold">
                                          <p:stCondLst>
                                            <p:cond delay="0"/>
                                          </p:stCondLst>
                                        </p:cTn>
                                        <p:tgtEl>
                                          <p:spTgt spid="10"/>
                                        </p:tgtEl>
                                        <p:attrNameLst>
                                          <p:attrName>style.visibility</p:attrName>
                                        </p:attrNameLst>
                                      </p:cBhvr>
                                      <p:to>
                                        <p:strVal val="visible"/>
                                      </p:to>
                                    </p:set>
                                    <p:animEffect transition="in" filter="wipe(left)">
                                      <p:cBhvr>
                                        <p:cTn id="348" dur="250"/>
                                        <p:tgtEl>
                                          <p:spTgt spid="10"/>
                                        </p:tgtEl>
                                      </p:cBhvr>
                                    </p:animEffect>
                                  </p:childTnLst>
                                </p:cTn>
                              </p:par>
                            </p:childTnLst>
                          </p:cTn>
                        </p:par>
                        <p:par>
                          <p:cTn id="349" fill="hold">
                            <p:stCondLst>
                              <p:cond delay="7000"/>
                            </p:stCondLst>
                            <p:childTnLst>
                              <p:par>
                                <p:cTn id="350" presetID="42" presetClass="path" presetSubtype="0" accel="50000" decel="50000" fill="hold" grpId="20" nodeType="afterEffect">
                                  <p:stCondLst>
                                    <p:cond delay="0"/>
                                  </p:stCondLst>
                                  <p:childTnLst>
                                    <p:animMotion origin="layout" path="M 0.00261 0.6213 L 0.00196 0.65371 " pathEditMode="relative" rAng="0" ptsTypes="AA">
                                      <p:cBhvr>
                                        <p:cTn id="351" dur="250" fill="hold"/>
                                        <p:tgtEl>
                                          <p:spTgt spid="209"/>
                                        </p:tgtEl>
                                        <p:attrNameLst>
                                          <p:attrName>ppt_x</p:attrName>
                                          <p:attrName>ppt_y</p:attrName>
                                        </p:attrNameLst>
                                      </p:cBhvr>
                                      <p:rCtr x="-39" y="1620"/>
                                    </p:animMotion>
                                  </p:childTnLst>
                                </p:cTn>
                              </p:par>
                            </p:childTnLst>
                          </p:cTn>
                        </p:par>
                        <p:par>
                          <p:cTn id="352" fill="hold">
                            <p:stCondLst>
                              <p:cond delay="7250"/>
                            </p:stCondLst>
                            <p:childTnLst>
                              <p:par>
                                <p:cTn id="353" presetID="42" presetClass="path" presetSubtype="0" accel="50000" decel="50000" fill="hold" grpId="21" nodeType="afterEffect">
                                  <p:stCondLst>
                                    <p:cond delay="0"/>
                                  </p:stCondLst>
                                  <p:childTnLst>
                                    <p:animMotion origin="layout" path="M 0.00196 0.65371 L 0.00196 0.68704 " pathEditMode="relative" rAng="0" ptsTypes="AA">
                                      <p:cBhvr>
                                        <p:cTn id="354" dur="250" fill="hold"/>
                                        <p:tgtEl>
                                          <p:spTgt spid="209"/>
                                        </p:tgtEl>
                                        <p:attrNameLst>
                                          <p:attrName>ppt_x</p:attrName>
                                          <p:attrName>ppt_y</p:attrName>
                                        </p:attrNameLst>
                                      </p:cBhvr>
                                      <p:rCtr x="0" y="1667"/>
                                    </p:animMotion>
                                  </p:childTnLst>
                                </p:cTn>
                              </p:par>
                            </p:childTnLst>
                          </p:cTn>
                        </p:par>
                        <p:par>
                          <p:cTn id="355" fill="hold">
                            <p:stCondLst>
                              <p:cond delay="7500"/>
                            </p:stCondLst>
                            <p:childTnLst>
                              <p:par>
                                <p:cTn id="356" presetID="42" presetClass="path" presetSubtype="0" accel="50000" decel="50000" fill="hold" grpId="22" nodeType="afterEffect">
                                  <p:stCondLst>
                                    <p:cond delay="0"/>
                                  </p:stCondLst>
                                  <p:childTnLst>
                                    <p:animMotion origin="layout" path="M 0.00196 0.68704 L 0.00196 0.71852 " pathEditMode="relative" rAng="0" ptsTypes="AA">
                                      <p:cBhvr>
                                        <p:cTn id="357" dur="250" fill="hold"/>
                                        <p:tgtEl>
                                          <p:spTgt spid="209"/>
                                        </p:tgtEl>
                                        <p:attrNameLst>
                                          <p:attrName>ppt_x</p:attrName>
                                          <p:attrName>ppt_y</p:attrName>
                                        </p:attrNameLst>
                                      </p:cBhvr>
                                      <p:rCtr x="0" y="1574"/>
                                    </p:animMotion>
                                  </p:childTnLst>
                                </p:cTn>
                              </p:par>
                            </p:childTnLst>
                          </p:cTn>
                        </p:par>
                        <p:par>
                          <p:cTn id="358" fill="hold">
                            <p:stCondLst>
                              <p:cond delay="7750"/>
                            </p:stCondLst>
                            <p:childTnLst>
                              <p:par>
                                <p:cTn id="359" presetID="42" presetClass="path" presetSubtype="0" accel="50000" decel="50000" fill="hold" grpId="23" nodeType="afterEffect">
                                  <p:stCondLst>
                                    <p:cond delay="0"/>
                                  </p:stCondLst>
                                  <p:childTnLst>
                                    <p:animMotion origin="layout" path="M 0.00196 0.71852 L 0.00196 0.75278 " pathEditMode="relative" rAng="0" ptsTypes="AA">
                                      <p:cBhvr>
                                        <p:cTn id="360" dur="250" fill="hold"/>
                                        <p:tgtEl>
                                          <p:spTgt spid="209"/>
                                        </p:tgtEl>
                                        <p:attrNameLst>
                                          <p:attrName>ppt_x</p:attrName>
                                          <p:attrName>ppt_y</p:attrName>
                                        </p:attrNameLst>
                                      </p:cBhvr>
                                      <p:rCtr x="0" y="1713"/>
                                    </p:animMotion>
                                  </p:childTnLst>
                                </p:cTn>
                              </p:par>
                            </p:childTnLst>
                          </p:cTn>
                        </p:par>
                        <p:par>
                          <p:cTn id="361" fill="hold">
                            <p:stCondLst>
                              <p:cond delay="8000"/>
                            </p:stCondLst>
                            <p:childTnLst>
                              <p:par>
                                <p:cTn id="362" presetID="22" presetClass="entr" presetSubtype="8" fill="hold" nodeType="afterEffect">
                                  <p:stCondLst>
                                    <p:cond delay="0"/>
                                  </p:stCondLst>
                                  <p:childTnLst>
                                    <p:set>
                                      <p:cBhvr>
                                        <p:cTn id="363" dur="1" fill="hold">
                                          <p:stCondLst>
                                            <p:cond delay="0"/>
                                          </p:stCondLst>
                                        </p:cTn>
                                        <p:tgtEl>
                                          <p:spTgt spid="67"/>
                                        </p:tgtEl>
                                        <p:attrNameLst>
                                          <p:attrName>style.visibility</p:attrName>
                                        </p:attrNameLst>
                                      </p:cBhvr>
                                      <p:to>
                                        <p:strVal val="visible"/>
                                      </p:to>
                                    </p:set>
                                    <p:animEffect transition="in" filter="wipe(left)">
                                      <p:cBhvr>
                                        <p:cTn id="364" dur="250"/>
                                        <p:tgtEl>
                                          <p:spTgt spid="67"/>
                                        </p:tgtEl>
                                      </p:cBhvr>
                                    </p:animEffect>
                                  </p:childTnLst>
                                </p:cTn>
                              </p:par>
                            </p:childTnLst>
                          </p:cTn>
                        </p:par>
                        <p:par>
                          <p:cTn id="365" fill="hold">
                            <p:stCondLst>
                              <p:cond delay="8250"/>
                            </p:stCondLst>
                            <p:childTnLst>
                              <p:par>
                                <p:cTn id="366" presetID="42" presetClass="path" presetSubtype="0" accel="50000" decel="50000" fill="hold" grpId="24" nodeType="afterEffect">
                                  <p:stCondLst>
                                    <p:cond delay="0"/>
                                  </p:stCondLst>
                                  <p:childTnLst>
                                    <p:animMotion origin="layout" path="M 0.00196 0.75278 L 0.00117 0.78426 " pathEditMode="relative" rAng="0" ptsTypes="AA">
                                      <p:cBhvr>
                                        <p:cTn id="367" dur="250" fill="hold"/>
                                        <p:tgtEl>
                                          <p:spTgt spid="209"/>
                                        </p:tgtEl>
                                        <p:attrNameLst>
                                          <p:attrName>ppt_x</p:attrName>
                                          <p:attrName>ppt_y</p:attrName>
                                        </p:attrNameLst>
                                      </p:cBhvr>
                                      <p:rCtr x="-39" y="1574"/>
                                    </p:animMotion>
                                  </p:childTnLst>
                                </p:cTn>
                              </p:par>
                            </p:childTnLst>
                          </p:cTn>
                        </p:par>
                        <p:par>
                          <p:cTn id="368" fill="hold">
                            <p:stCondLst>
                              <p:cond delay="8500"/>
                            </p:stCondLst>
                            <p:childTnLst>
                              <p:par>
                                <p:cTn id="369" presetID="22" presetClass="entr" presetSubtype="8" fill="hold" nodeType="afterEffect">
                                  <p:stCondLst>
                                    <p:cond delay="0"/>
                                  </p:stCondLst>
                                  <p:childTnLst>
                                    <p:set>
                                      <p:cBhvr>
                                        <p:cTn id="370" dur="1" fill="hold">
                                          <p:stCondLst>
                                            <p:cond delay="0"/>
                                          </p:stCondLst>
                                        </p:cTn>
                                        <p:tgtEl>
                                          <p:spTgt spid="70"/>
                                        </p:tgtEl>
                                        <p:attrNameLst>
                                          <p:attrName>style.visibility</p:attrName>
                                        </p:attrNameLst>
                                      </p:cBhvr>
                                      <p:to>
                                        <p:strVal val="visible"/>
                                      </p:to>
                                    </p:set>
                                    <p:animEffect transition="in" filter="wipe(left)">
                                      <p:cBhvr>
                                        <p:cTn id="371" dur="250"/>
                                        <p:tgtEl>
                                          <p:spTgt spid="70"/>
                                        </p:tgtEl>
                                      </p:cBhvr>
                                    </p:animEffect>
                                  </p:childTnLst>
                                </p:cTn>
                              </p:par>
                            </p:childTnLst>
                          </p:cTn>
                        </p:par>
                        <p:par>
                          <p:cTn id="372" fill="hold">
                            <p:stCondLst>
                              <p:cond delay="8750"/>
                            </p:stCondLst>
                            <p:childTnLst>
                              <p:par>
                                <p:cTn id="373" presetID="42" presetClass="path" presetSubtype="0" accel="50000" decel="50000" fill="hold" grpId="25" nodeType="afterEffect">
                                  <p:stCondLst>
                                    <p:cond delay="0"/>
                                  </p:stCondLst>
                                  <p:childTnLst>
                                    <p:animMotion origin="layout" path="M 0.00117 0.78426 L 0.00196 0.81482 " pathEditMode="relative" rAng="0" ptsTypes="AA">
                                      <p:cBhvr>
                                        <p:cTn id="374" dur="250" fill="hold"/>
                                        <p:tgtEl>
                                          <p:spTgt spid="209"/>
                                        </p:tgtEl>
                                        <p:attrNameLst>
                                          <p:attrName>ppt_x</p:attrName>
                                          <p:attrName>ppt_y</p:attrName>
                                        </p:attrNameLst>
                                      </p:cBhvr>
                                      <p:rCtr x="39" y="1528"/>
                                    </p:animMotion>
                                  </p:childTnLst>
                                </p:cTn>
                              </p:par>
                            </p:childTnLst>
                          </p:cTn>
                        </p:par>
                        <p:par>
                          <p:cTn id="375" fill="hold">
                            <p:stCondLst>
                              <p:cond delay="9000"/>
                            </p:stCondLst>
                            <p:childTnLst>
                              <p:par>
                                <p:cTn id="376" presetID="1" presetClass="exit" presetSubtype="0" fill="hold" grpId="26" nodeType="afterEffect">
                                  <p:stCondLst>
                                    <p:cond delay="0"/>
                                  </p:stCondLst>
                                  <p:childTnLst>
                                    <p:set>
                                      <p:cBhvr>
                                        <p:cTn id="377" dur="1" fill="hold">
                                          <p:stCondLst>
                                            <p:cond delay="0"/>
                                          </p:stCondLst>
                                        </p:cTn>
                                        <p:tgtEl>
                                          <p:spTgt spid="20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P spid="7" grpId="8" animBg="1"/>
      <p:bldP spid="7" grpId="9" animBg="1"/>
      <p:bldP spid="7" grpId="10" animBg="1"/>
      <p:bldP spid="7" grpId="11" animBg="1"/>
      <p:bldP spid="7" grpId="12" animBg="1"/>
      <p:bldP spid="7" grpId="13" animBg="1"/>
      <p:bldP spid="7" grpId="14" animBg="1"/>
      <p:bldP spid="7" grpId="15" animBg="1"/>
      <p:bldP spid="7" grpId="16" animBg="1"/>
      <p:bldP spid="7" grpId="17" animBg="1"/>
      <p:bldP spid="7" grpId="18" animBg="1"/>
      <p:bldP spid="7" grpId="19" animBg="1"/>
      <p:bldP spid="7" grpId="20" animBg="1"/>
      <p:bldP spid="7" grpId="21" animBg="1"/>
      <p:bldP spid="7" grpId="22" animBg="1"/>
      <p:bldP spid="7" grpId="23" animBg="1"/>
      <p:bldP spid="7" grpId="24" animBg="1"/>
      <p:bldP spid="7" grpId="25" animBg="1"/>
      <p:bldP spid="7" grpId="26" animBg="1"/>
      <p:bldP spid="8" grpId="0" animBg="1"/>
      <p:bldP spid="8" grpId="1" animBg="1"/>
      <p:bldP spid="8" grpId="2" animBg="1"/>
      <p:bldP spid="8" grpId="3" animBg="1"/>
      <p:bldP spid="8" grpId="4" animBg="1"/>
      <p:bldP spid="8" grpId="5" animBg="1"/>
      <p:bldP spid="8" grpId="6" animBg="1"/>
      <p:bldP spid="8" grpId="7" animBg="1"/>
      <p:bldP spid="8" grpId="8" animBg="1"/>
      <p:bldP spid="8" grpId="9" animBg="1"/>
      <p:bldP spid="8" grpId="10" animBg="1"/>
      <p:bldP spid="8" grpId="11" animBg="1"/>
      <p:bldP spid="8" grpId="12" animBg="1"/>
      <p:bldP spid="8" grpId="13" animBg="1"/>
      <p:bldP spid="8" grpId="14" animBg="1"/>
      <p:bldP spid="8" grpId="15" animBg="1"/>
      <p:bldP spid="8" grpId="16" animBg="1"/>
      <p:bldP spid="8" grpId="17" animBg="1"/>
      <p:bldP spid="8" grpId="18" animBg="1"/>
      <p:bldP spid="8" grpId="19" animBg="1"/>
      <p:bldP spid="8" grpId="20" animBg="1"/>
      <p:bldP spid="8" grpId="21" animBg="1"/>
      <p:bldP spid="8" grpId="22" animBg="1"/>
      <p:bldP spid="8" grpId="23" animBg="1"/>
      <p:bldP spid="8" grpId="24" animBg="1"/>
      <p:bldP spid="8" grpId="25" animBg="1"/>
      <p:bldP spid="8" grpId="26" animBg="1"/>
      <p:bldP spid="209" grpId="0" animBg="1"/>
      <p:bldP spid="209" grpId="1" animBg="1"/>
      <p:bldP spid="209" grpId="2" animBg="1"/>
      <p:bldP spid="209" grpId="3" animBg="1"/>
      <p:bldP spid="209" grpId="4" animBg="1"/>
      <p:bldP spid="209" grpId="5" animBg="1"/>
      <p:bldP spid="209" grpId="6" animBg="1"/>
      <p:bldP spid="209" grpId="7" animBg="1"/>
      <p:bldP spid="209" grpId="8" animBg="1"/>
      <p:bldP spid="209" grpId="9" animBg="1"/>
      <p:bldP spid="209" grpId="10" animBg="1"/>
      <p:bldP spid="209" grpId="11" animBg="1"/>
      <p:bldP spid="209" grpId="12" animBg="1"/>
      <p:bldP spid="209" grpId="13" animBg="1"/>
      <p:bldP spid="209" grpId="14" animBg="1"/>
      <p:bldP spid="209" grpId="15" animBg="1"/>
      <p:bldP spid="209" grpId="16" animBg="1"/>
      <p:bldP spid="209" grpId="17" animBg="1"/>
      <p:bldP spid="209" grpId="18" animBg="1"/>
      <p:bldP spid="209" grpId="19" animBg="1"/>
      <p:bldP spid="209" grpId="20" animBg="1"/>
      <p:bldP spid="209" grpId="21" animBg="1"/>
      <p:bldP spid="209" grpId="22" animBg="1"/>
      <p:bldP spid="209" grpId="23" animBg="1"/>
      <p:bldP spid="209" grpId="24" animBg="1"/>
      <p:bldP spid="209" grpId="25" animBg="1"/>
      <p:bldP spid="209" grpId="26" animBg="1"/>
      <p:bldP spid="214" grpId="0"/>
      <p:bldP spid="2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6" name="Gerade Verbindung mit Pfeil 45"/>
          <p:cNvCxnSpPr>
            <a:stCxn id="188" idx="3"/>
            <a:endCxn id="168" idx="1"/>
          </p:cNvCxnSpPr>
          <p:nvPr/>
        </p:nvCxnSpPr>
        <p:spPr>
          <a:xfrm>
            <a:off x="10368903" y="1849922"/>
            <a:ext cx="1103796" cy="1346448"/>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sp>
        <p:nvSpPr>
          <p:cNvPr id="233" name="DRL"/>
          <p:cNvSpPr/>
          <p:nvPr/>
        </p:nvSpPr>
        <p:spPr>
          <a:xfrm rot="16200000" flipH="1">
            <a:off x="11831459" y="697851"/>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cxnSp>
        <p:nvCxnSpPr>
          <p:cNvPr id="15" name="Gerade Verbindung mit Pfeil 14"/>
          <p:cNvCxnSpPr>
            <a:stCxn id="200" idx="3"/>
            <a:endCxn id="177" idx="1"/>
          </p:cNvCxnSpPr>
          <p:nvPr/>
        </p:nvCxnSpPr>
        <p:spPr>
          <a:xfrm>
            <a:off x="10368903" y="4542818"/>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6" name="Gerade Verbindung mit Pfeil 15"/>
          <p:cNvCxnSpPr>
            <a:stCxn id="200" idx="3"/>
            <a:endCxn id="174" idx="1"/>
          </p:cNvCxnSpPr>
          <p:nvPr/>
        </p:nvCxnSpPr>
        <p:spPr>
          <a:xfrm>
            <a:off x="10368903" y="4542818"/>
            <a:ext cx="1103796" cy="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7" name="Gerade Verbindung mit Pfeil 16"/>
          <p:cNvCxnSpPr>
            <a:stCxn id="200" idx="3"/>
            <a:endCxn id="175" idx="1"/>
          </p:cNvCxnSpPr>
          <p:nvPr/>
        </p:nvCxnSpPr>
        <p:spPr>
          <a:xfrm>
            <a:off x="10368903" y="4542818"/>
            <a:ext cx="1103796" cy="22440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8" name="Gerade Verbindung mit Pfeil 17"/>
          <p:cNvCxnSpPr>
            <a:stCxn id="200" idx="3"/>
            <a:endCxn id="176" idx="1"/>
          </p:cNvCxnSpPr>
          <p:nvPr/>
        </p:nvCxnSpPr>
        <p:spPr>
          <a:xfrm>
            <a:off x="10368903" y="4542818"/>
            <a:ext cx="1103796" cy="44881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9" name="Gerade Verbindung mit Pfeil 18"/>
          <p:cNvCxnSpPr>
            <a:stCxn id="200" idx="3"/>
            <a:endCxn id="162" idx="1"/>
          </p:cNvCxnSpPr>
          <p:nvPr/>
        </p:nvCxnSpPr>
        <p:spPr>
          <a:xfrm flipV="1">
            <a:off x="10368903" y="1849922"/>
            <a:ext cx="1103796" cy="269289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0" name="Gerade Verbindung mit Pfeil 229"/>
          <p:cNvCxnSpPr>
            <a:stCxn id="200" idx="3"/>
            <a:endCxn id="163" idx="1"/>
          </p:cNvCxnSpPr>
          <p:nvPr/>
        </p:nvCxnSpPr>
        <p:spPr>
          <a:xfrm flipV="1">
            <a:off x="10368903" y="2074330"/>
            <a:ext cx="1103796" cy="246848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2" name="Gerade Verbindung mit Pfeil 231"/>
          <p:cNvCxnSpPr>
            <a:stCxn id="200" idx="3"/>
            <a:endCxn id="160" idx="1"/>
          </p:cNvCxnSpPr>
          <p:nvPr/>
        </p:nvCxnSpPr>
        <p:spPr>
          <a:xfrm flipV="1">
            <a:off x="10368903" y="1401106"/>
            <a:ext cx="1103796" cy="314171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4" name="Gerade Verbindung mit Pfeil 233"/>
          <p:cNvCxnSpPr>
            <a:stCxn id="200" idx="3"/>
            <a:endCxn id="164" idx="1"/>
          </p:cNvCxnSpPr>
          <p:nvPr/>
        </p:nvCxnSpPr>
        <p:spPr>
          <a:xfrm flipV="1">
            <a:off x="10368903" y="2298738"/>
            <a:ext cx="1103796" cy="224408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6" name="Gerade Verbindung mit Pfeil 235"/>
          <p:cNvCxnSpPr>
            <a:stCxn id="200" idx="3"/>
            <a:endCxn id="165" idx="1"/>
          </p:cNvCxnSpPr>
          <p:nvPr/>
        </p:nvCxnSpPr>
        <p:spPr>
          <a:xfrm flipV="1">
            <a:off x="10368903" y="2523146"/>
            <a:ext cx="1103796" cy="201967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8" name="Gerade Verbindung mit Pfeil 237"/>
          <p:cNvCxnSpPr>
            <a:stCxn id="200" idx="3"/>
            <a:endCxn id="166" idx="1"/>
          </p:cNvCxnSpPr>
          <p:nvPr/>
        </p:nvCxnSpPr>
        <p:spPr>
          <a:xfrm flipV="1">
            <a:off x="10368903" y="2747554"/>
            <a:ext cx="1103796" cy="179526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0" name="Gerade Verbindung mit Pfeil 239"/>
          <p:cNvCxnSpPr>
            <a:stCxn id="200" idx="3"/>
            <a:endCxn id="168" idx="1"/>
          </p:cNvCxnSpPr>
          <p:nvPr/>
        </p:nvCxnSpPr>
        <p:spPr>
          <a:xfrm flipV="1">
            <a:off x="10368903" y="3196370"/>
            <a:ext cx="1103796" cy="134644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2" name="Gerade Verbindung mit Pfeil 241"/>
          <p:cNvCxnSpPr>
            <a:stCxn id="200" idx="3"/>
            <a:endCxn id="169" idx="1"/>
          </p:cNvCxnSpPr>
          <p:nvPr/>
        </p:nvCxnSpPr>
        <p:spPr>
          <a:xfrm flipV="1">
            <a:off x="10368903" y="3420778"/>
            <a:ext cx="1103796" cy="112204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4" name="Gerade Verbindung mit Pfeil 243"/>
          <p:cNvCxnSpPr>
            <a:stCxn id="200" idx="3"/>
            <a:endCxn id="171" idx="1"/>
          </p:cNvCxnSpPr>
          <p:nvPr/>
        </p:nvCxnSpPr>
        <p:spPr>
          <a:xfrm flipV="1">
            <a:off x="10368903" y="3869594"/>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sp>
        <p:nvSpPr>
          <p:cNvPr id="5" name="Rechteck 4"/>
          <p:cNvSpPr/>
          <p:nvPr/>
        </p:nvSpPr>
        <p:spPr>
          <a:xfrm>
            <a:off x="0" y="6243484"/>
            <a:ext cx="1406013" cy="6145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Gerade Verbindung mit Pfeil 10"/>
          <p:cNvCxnSpPr>
            <a:stCxn id="202" idx="3"/>
            <a:endCxn id="178" idx="1"/>
          </p:cNvCxnSpPr>
          <p:nvPr/>
        </p:nvCxnSpPr>
        <p:spPr>
          <a:xfrm>
            <a:off x="10368903" y="4991634"/>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2" name="Gerade Verbindung mit Pfeil 11"/>
          <p:cNvCxnSpPr>
            <a:stCxn id="202" idx="3"/>
            <a:endCxn id="179" idx="1"/>
          </p:cNvCxnSpPr>
          <p:nvPr/>
        </p:nvCxnSpPr>
        <p:spPr>
          <a:xfrm>
            <a:off x="10368903" y="499163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3" name="Gerade Verbindung mit Pfeil 12"/>
          <p:cNvCxnSpPr>
            <a:stCxn id="202" idx="3"/>
            <a:endCxn id="181" idx="1"/>
          </p:cNvCxnSpPr>
          <p:nvPr/>
        </p:nvCxnSpPr>
        <p:spPr>
          <a:xfrm>
            <a:off x="10368903" y="499163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7" name="Gerade Verbindung mit Pfeil 36"/>
          <p:cNvCxnSpPr>
            <a:stCxn id="184" idx="3"/>
            <a:endCxn id="159" idx="1"/>
          </p:cNvCxnSpPr>
          <p:nvPr/>
        </p:nvCxnSpPr>
        <p:spPr>
          <a:xfrm>
            <a:off x="10368903" y="952290"/>
            <a:ext cx="1103796" cy="224408"/>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9" name="Gerade Verbindung mit Pfeil 38"/>
          <p:cNvCxnSpPr>
            <a:stCxn id="184" idx="3"/>
            <a:endCxn id="164" idx="1"/>
          </p:cNvCxnSpPr>
          <p:nvPr/>
        </p:nvCxnSpPr>
        <p:spPr>
          <a:xfrm>
            <a:off x="10368903" y="952290"/>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40" name="Gerade Verbindung mit Pfeil 39"/>
          <p:cNvCxnSpPr>
            <a:stCxn id="184" idx="3"/>
            <a:endCxn id="168" idx="1"/>
          </p:cNvCxnSpPr>
          <p:nvPr/>
        </p:nvCxnSpPr>
        <p:spPr>
          <a:xfrm>
            <a:off x="10368903" y="952290"/>
            <a:ext cx="1103796" cy="2244080"/>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3" name="Gerade Verbindung mit Pfeil 42"/>
          <p:cNvCxnSpPr>
            <a:stCxn id="188" idx="3"/>
            <a:endCxn id="162" idx="1"/>
          </p:cNvCxnSpPr>
          <p:nvPr/>
        </p:nvCxnSpPr>
        <p:spPr>
          <a:xfrm>
            <a:off x="10368903" y="1849922"/>
            <a:ext cx="1103796" cy="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5" name="Gerade Verbindung mit Pfeil 44"/>
          <p:cNvCxnSpPr>
            <a:stCxn id="188" idx="3"/>
            <a:endCxn id="160" idx="1"/>
          </p:cNvCxnSpPr>
          <p:nvPr/>
        </p:nvCxnSpPr>
        <p:spPr>
          <a:xfrm flipV="1">
            <a:off x="10368903" y="1401106"/>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9" name="Gerade Verbindung mit Pfeil 48"/>
          <p:cNvCxnSpPr>
            <a:stCxn id="192" idx="3"/>
            <a:endCxn id="171" idx="1"/>
          </p:cNvCxnSpPr>
          <p:nvPr/>
        </p:nvCxnSpPr>
        <p:spPr>
          <a:xfrm>
            <a:off x="10368903" y="274755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0" name="Gerade Verbindung mit Pfeil 49"/>
          <p:cNvCxnSpPr>
            <a:stCxn id="192" idx="3"/>
            <a:endCxn id="169" idx="1"/>
          </p:cNvCxnSpPr>
          <p:nvPr/>
        </p:nvCxnSpPr>
        <p:spPr>
          <a:xfrm>
            <a:off x="10368903" y="274755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2" name="Gerade Verbindung mit Pfeil 51"/>
          <p:cNvCxnSpPr>
            <a:stCxn id="192" idx="3"/>
            <a:endCxn id="176" idx="1"/>
          </p:cNvCxnSpPr>
          <p:nvPr/>
        </p:nvCxnSpPr>
        <p:spPr>
          <a:xfrm>
            <a:off x="10368903" y="2747554"/>
            <a:ext cx="1103796" cy="224408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4" name="Gerade Verbindung mit Pfeil 53"/>
          <p:cNvCxnSpPr>
            <a:stCxn id="192" idx="3"/>
            <a:endCxn id="174" idx="1"/>
          </p:cNvCxnSpPr>
          <p:nvPr/>
        </p:nvCxnSpPr>
        <p:spPr>
          <a:xfrm>
            <a:off x="10368903" y="2747554"/>
            <a:ext cx="1103796" cy="179526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55" name="Gerade Verbindung mit Pfeil 54"/>
          <p:cNvCxnSpPr>
            <a:stCxn id="192" idx="3"/>
            <a:endCxn id="166" idx="1"/>
          </p:cNvCxnSpPr>
          <p:nvPr/>
        </p:nvCxnSpPr>
        <p:spPr>
          <a:xfrm>
            <a:off x="10368903" y="274755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6" name="Gerade Verbindung mit Pfeil 55"/>
          <p:cNvCxnSpPr>
            <a:stCxn id="192" idx="3"/>
            <a:endCxn id="163" idx="1"/>
          </p:cNvCxnSpPr>
          <p:nvPr/>
        </p:nvCxnSpPr>
        <p:spPr>
          <a:xfrm flipV="1">
            <a:off x="10368903" y="2074330"/>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7" name="Gerade Verbindung mit Pfeil 56"/>
          <p:cNvCxnSpPr>
            <a:stCxn id="192" idx="3"/>
            <a:endCxn id="177" idx="1"/>
          </p:cNvCxnSpPr>
          <p:nvPr/>
        </p:nvCxnSpPr>
        <p:spPr>
          <a:xfrm>
            <a:off x="10368903" y="2747554"/>
            <a:ext cx="1103796" cy="246848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61" name="Gerade Verbindung mit Pfeil 60"/>
          <p:cNvCxnSpPr>
            <a:stCxn id="193" idx="3"/>
            <a:endCxn id="170" idx="1"/>
          </p:cNvCxnSpPr>
          <p:nvPr/>
        </p:nvCxnSpPr>
        <p:spPr>
          <a:xfrm>
            <a:off x="10368903" y="2971962"/>
            <a:ext cx="1103796" cy="673224"/>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2" name="Gerade Verbindung mit Pfeil 61"/>
          <p:cNvCxnSpPr>
            <a:stCxn id="193" idx="3"/>
            <a:endCxn id="172" idx="1"/>
          </p:cNvCxnSpPr>
          <p:nvPr/>
        </p:nvCxnSpPr>
        <p:spPr>
          <a:xfrm>
            <a:off x="10368903" y="2971962"/>
            <a:ext cx="1103796" cy="112204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4" name="Gerade Verbindung mit Pfeil 63"/>
          <p:cNvCxnSpPr>
            <a:stCxn id="194" idx="3"/>
            <a:endCxn id="170" idx="1"/>
          </p:cNvCxnSpPr>
          <p:nvPr/>
        </p:nvCxnSpPr>
        <p:spPr>
          <a:xfrm>
            <a:off x="10368903" y="3196370"/>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5" name="Gerade Verbindung mit Pfeil 64"/>
          <p:cNvCxnSpPr>
            <a:stCxn id="194" idx="3"/>
            <a:endCxn id="172" idx="1"/>
          </p:cNvCxnSpPr>
          <p:nvPr/>
        </p:nvCxnSpPr>
        <p:spPr>
          <a:xfrm>
            <a:off x="10368903" y="3196370"/>
            <a:ext cx="1103796" cy="897632"/>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8" name="Gerade Verbindung mit Pfeil 67"/>
          <p:cNvCxnSpPr>
            <a:stCxn id="206" idx="3"/>
            <a:endCxn id="180" idx="1"/>
          </p:cNvCxnSpPr>
          <p:nvPr/>
        </p:nvCxnSpPr>
        <p:spPr>
          <a:xfrm>
            <a:off x="10368903" y="5889266"/>
            <a:ext cx="1103796" cy="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69" name="Gerade Verbindung mit Pfeil 68"/>
          <p:cNvCxnSpPr>
            <a:stCxn id="206" idx="3"/>
            <a:endCxn id="182" idx="1"/>
          </p:cNvCxnSpPr>
          <p:nvPr/>
        </p:nvCxnSpPr>
        <p:spPr>
          <a:xfrm>
            <a:off x="10368903" y="5889266"/>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sp>
        <p:nvSpPr>
          <p:cNvPr id="209" name="DRL"/>
          <p:cNvSpPr/>
          <p:nvPr/>
        </p:nvSpPr>
        <p:spPr>
          <a:xfrm rot="5400000" flipH="1">
            <a:off x="9853901" y="695631"/>
            <a:ext cx="160780" cy="72008"/>
          </a:xfrm>
          <a:prstGeom prst="triangle">
            <a:avLst/>
          </a:prstGeom>
          <a:solidFill>
            <a:srgbClr val="B9E7E0"/>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 name="Foliennummernplatzhalter 1"/>
          <p:cNvSpPr>
            <a:spLocks noGrp="1"/>
          </p:cNvSpPr>
          <p:nvPr>
            <p:ph type="sldNum" sz="quarter" idx="10"/>
          </p:nvPr>
        </p:nvSpPr>
        <p:spPr/>
        <p:txBody>
          <a:bodyPr/>
          <a:lstStyle/>
          <a:p>
            <a:fld id="{A29D8577-601D-4845-9C29-D9E13FE3E8DB}" type="slidenum">
              <a:rPr lang="en-US" smtClean="0"/>
              <a:pPr/>
              <a:t>22</a:t>
            </a:fld>
            <a:endParaRPr lang="en-US" dirty="0"/>
          </a:p>
        </p:txBody>
      </p:sp>
      <p:cxnSp>
        <p:nvCxnSpPr>
          <p:cNvPr id="4" name="Gerade Verbindung mit Pfeil 3"/>
          <p:cNvCxnSpPr>
            <a:stCxn id="197" idx="3"/>
            <a:endCxn id="162" idx="1"/>
          </p:cNvCxnSpPr>
          <p:nvPr/>
        </p:nvCxnSpPr>
        <p:spPr>
          <a:xfrm flipV="1">
            <a:off x="10368903" y="1849922"/>
            <a:ext cx="1103796" cy="2019672"/>
          </a:xfrm>
          <a:prstGeom prst="straightConnector1">
            <a:avLst/>
          </a:prstGeom>
          <a:ln w="12700" cap="rnd">
            <a:solidFill>
              <a:schemeClr val="bg1">
                <a:lumMod val="85000"/>
              </a:schemeClr>
            </a:solidFill>
            <a:roun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72" name="Gerade Verbindung mit Pfeil 71"/>
          <p:cNvCxnSpPr>
            <a:stCxn id="207" idx="3"/>
            <a:endCxn id="182" idx="1"/>
          </p:cNvCxnSpPr>
          <p:nvPr/>
        </p:nvCxnSpPr>
        <p:spPr>
          <a:xfrm>
            <a:off x="10368903" y="611367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34" name="Gerade Verbindung mit Pfeil 33"/>
          <p:cNvCxnSpPr>
            <a:stCxn id="198" idx="3"/>
            <a:endCxn id="181" idx="1"/>
          </p:cNvCxnSpPr>
          <p:nvPr/>
        </p:nvCxnSpPr>
        <p:spPr>
          <a:xfrm>
            <a:off x="10368903" y="4094002"/>
            <a:ext cx="1103796" cy="2019672"/>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71" name="Gerade Verbindung mit Pfeil 70"/>
          <p:cNvCxnSpPr>
            <a:stCxn id="207" idx="3"/>
            <a:endCxn id="180" idx="1"/>
          </p:cNvCxnSpPr>
          <p:nvPr/>
        </p:nvCxnSpPr>
        <p:spPr>
          <a:xfrm flipV="1">
            <a:off x="10368903" y="588926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33" name="Gerade Verbindung mit Pfeil 32"/>
          <p:cNvCxnSpPr>
            <a:stCxn id="198" idx="3"/>
            <a:endCxn id="179" idx="1"/>
          </p:cNvCxnSpPr>
          <p:nvPr/>
        </p:nvCxnSpPr>
        <p:spPr>
          <a:xfrm>
            <a:off x="10368903" y="4094002"/>
            <a:ext cx="1103796" cy="1570856"/>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5" name="Gerade Verbindung mit Pfeil 34"/>
          <p:cNvCxnSpPr>
            <a:stCxn id="198" idx="3"/>
            <a:endCxn id="178" idx="1"/>
          </p:cNvCxnSpPr>
          <p:nvPr/>
        </p:nvCxnSpPr>
        <p:spPr>
          <a:xfrm>
            <a:off x="10368903" y="4094002"/>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9" name="Gerade Verbindung mit Pfeil 58"/>
          <p:cNvCxnSpPr>
            <a:stCxn id="193" idx="3"/>
            <a:endCxn id="167" idx="1"/>
          </p:cNvCxnSpPr>
          <p:nvPr/>
        </p:nvCxnSpPr>
        <p:spPr>
          <a:xfrm>
            <a:off x="10368903" y="297196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44" name="Gerade Verbindung mit Pfeil 43"/>
          <p:cNvCxnSpPr>
            <a:stCxn id="188" idx="3"/>
            <a:endCxn id="164" idx="1"/>
          </p:cNvCxnSpPr>
          <p:nvPr/>
        </p:nvCxnSpPr>
        <p:spPr>
          <a:xfrm>
            <a:off x="10368903" y="1849922"/>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7" name="Gerade Verbindung mit Pfeil 46"/>
          <p:cNvCxnSpPr>
            <a:stCxn id="188" idx="3"/>
            <a:endCxn id="165" idx="1"/>
          </p:cNvCxnSpPr>
          <p:nvPr/>
        </p:nvCxnSpPr>
        <p:spPr>
          <a:xfrm>
            <a:off x="10368903" y="1849922"/>
            <a:ext cx="1103796" cy="67322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8" name="Gerade Verbindung mit Pfeil 37"/>
          <p:cNvCxnSpPr>
            <a:stCxn id="184" idx="3"/>
            <a:endCxn id="160" idx="1"/>
          </p:cNvCxnSpPr>
          <p:nvPr/>
        </p:nvCxnSpPr>
        <p:spPr>
          <a:xfrm>
            <a:off x="10368903" y="952290"/>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1" name="Gerade Verbindung mit Pfeil 40"/>
          <p:cNvCxnSpPr>
            <a:stCxn id="184" idx="3"/>
            <a:endCxn id="157" idx="1"/>
          </p:cNvCxnSpPr>
          <p:nvPr/>
        </p:nvCxnSpPr>
        <p:spPr>
          <a:xfrm flipV="1">
            <a:off x="10368903" y="734306"/>
            <a:ext cx="1103796" cy="21798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66" name="Gerade Verbindung mit Pfeil 65"/>
          <p:cNvCxnSpPr>
            <a:stCxn id="197" idx="3"/>
            <a:endCxn id="173" idx="1"/>
          </p:cNvCxnSpPr>
          <p:nvPr/>
        </p:nvCxnSpPr>
        <p:spPr>
          <a:xfrm>
            <a:off x="10368903" y="3869594"/>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3" name="Gerade Verbindung mit Pfeil 52"/>
          <p:cNvCxnSpPr>
            <a:stCxn id="192" idx="3"/>
            <a:endCxn id="175" idx="1"/>
          </p:cNvCxnSpPr>
          <p:nvPr/>
        </p:nvCxnSpPr>
        <p:spPr>
          <a:xfrm>
            <a:off x="10368903" y="2747554"/>
            <a:ext cx="1103796" cy="2019672"/>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156" name="Gruppieren 155"/>
          <p:cNvGrpSpPr/>
          <p:nvPr/>
        </p:nvGrpSpPr>
        <p:grpSpPr>
          <a:xfrm>
            <a:off x="10008863" y="662298"/>
            <a:ext cx="1823876" cy="5747792"/>
            <a:chOff x="267304" y="662298"/>
            <a:chExt cx="1823876" cy="5747792"/>
          </a:xfrm>
        </p:grpSpPr>
        <p:sp>
          <p:nvSpPr>
            <p:cNvPr id="157" name="Rechteck 156"/>
            <p:cNvSpPr/>
            <p:nvPr/>
          </p:nvSpPr>
          <p:spPr>
            <a:xfrm>
              <a:off x="1731140"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8" name="Rechteck 157"/>
            <p:cNvSpPr/>
            <p:nvPr/>
          </p:nvSpPr>
          <p:spPr>
            <a:xfrm>
              <a:off x="1731140"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9" name="Rechteck 158"/>
            <p:cNvSpPr/>
            <p:nvPr/>
          </p:nvSpPr>
          <p:spPr>
            <a:xfrm>
              <a:off x="1731140"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0" name="Rechteck 159"/>
            <p:cNvSpPr/>
            <p:nvPr/>
          </p:nvSpPr>
          <p:spPr>
            <a:xfrm>
              <a:off x="1731140"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1" name="Rechteck 160"/>
            <p:cNvSpPr/>
            <p:nvPr/>
          </p:nvSpPr>
          <p:spPr>
            <a:xfrm>
              <a:off x="1731140"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2" name="Rechteck 161"/>
            <p:cNvSpPr/>
            <p:nvPr/>
          </p:nvSpPr>
          <p:spPr>
            <a:xfrm>
              <a:off x="1731140"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3" name="Rechteck 162"/>
            <p:cNvSpPr/>
            <p:nvPr/>
          </p:nvSpPr>
          <p:spPr>
            <a:xfrm>
              <a:off x="1731140"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4" name="Rechteck 163"/>
            <p:cNvSpPr/>
            <p:nvPr/>
          </p:nvSpPr>
          <p:spPr>
            <a:xfrm>
              <a:off x="1731140"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5" name="Rechteck 164"/>
            <p:cNvSpPr/>
            <p:nvPr/>
          </p:nvSpPr>
          <p:spPr>
            <a:xfrm>
              <a:off x="1731140"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6" name="Rechteck 165"/>
            <p:cNvSpPr/>
            <p:nvPr/>
          </p:nvSpPr>
          <p:spPr>
            <a:xfrm>
              <a:off x="1731140"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7" name="Rechteck 166"/>
            <p:cNvSpPr/>
            <p:nvPr/>
          </p:nvSpPr>
          <p:spPr>
            <a:xfrm>
              <a:off x="1731140"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8" name="Rechteck 167"/>
            <p:cNvSpPr/>
            <p:nvPr/>
          </p:nvSpPr>
          <p:spPr>
            <a:xfrm>
              <a:off x="1731140"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9" name="Rechteck 168"/>
            <p:cNvSpPr/>
            <p:nvPr/>
          </p:nvSpPr>
          <p:spPr>
            <a:xfrm>
              <a:off x="1731140"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0" name="Rechteck 169"/>
            <p:cNvSpPr/>
            <p:nvPr/>
          </p:nvSpPr>
          <p:spPr>
            <a:xfrm>
              <a:off x="1731140"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1" name="Rechteck 170"/>
            <p:cNvSpPr/>
            <p:nvPr/>
          </p:nvSpPr>
          <p:spPr>
            <a:xfrm>
              <a:off x="1731140"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2" name="Rechteck 171"/>
            <p:cNvSpPr/>
            <p:nvPr/>
          </p:nvSpPr>
          <p:spPr>
            <a:xfrm>
              <a:off x="1731140"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3" name="Rechteck 172"/>
            <p:cNvSpPr/>
            <p:nvPr/>
          </p:nvSpPr>
          <p:spPr>
            <a:xfrm>
              <a:off x="1731140"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4" name="Rechteck 173"/>
            <p:cNvSpPr/>
            <p:nvPr/>
          </p:nvSpPr>
          <p:spPr>
            <a:xfrm>
              <a:off x="1731140"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5" name="Rechteck 174"/>
            <p:cNvSpPr/>
            <p:nvPr/>
          </p:nvSpPr>
          <p:spPr>
            <a:xfrm>
              <a:off x="1731140"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6" name="Rechteck 175"/>
            <p:cNvSpPr/>
            <p:nvPr/>
          </p:nvSpPr>
          <p:spPr>
            <a:xfrm>
              <a:off x="1731140"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7" name="Rechteck 176"/>
            <p:cNvSpPr/>
            <p:nvPr/>
          </p:nvSpPr>
          <p:spPr>
            <a:xfrm>
              <a:off x="1731140"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8" name="Rechteck 177"/>
            <p:cNvSpPr/>
            <p:nvPr/>
          </p:nvSpPr>
          <p:spPr>
            <a:xfrm>
              <a:off x="1731140"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9" name="Rechteck 178"/>
            <p:cNvSpPr/>
            <p:nvPr/>
          </p:nvSpPr>
          <p:spPr>
            <a:xfrm>
              <a:off x="1731140"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0" name="Rechteck 179"/>
            <p:cNvSpPr/>
            <p:nvPr/>
          </p:nvSpPr>
          <p:spPr>
            <a:xfrm>
              <a:off x="1731140"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1" name="Rechteck 180"/>
            <p:cNvSpPr/>
            <p:nvPr/>
          </p:nvSpPr>
          <p:spPr>
            <a:xfrm>
              <a:off x="1731140"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2" name="Rechteck 181"/>
            <p:cNvSpPr/>
            <p:nvPr/>
          </p:nvSpPr>
          <p:spPr>
            <a:xfrm>
              <a:off x="1731140"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3" name="Rechteck 182"/>
            <p:cNvSpPr/>
            <p:nvPr/>
          </p:nvSpPr>
          <p:spPr>
            <a:xfrm>
              <a:off x="267304"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4" name="Rechteck 183"/>
            <p:cNvSpPr/>
            <p:nvPr/>
          </p:nvSpPr>
          <p:spPr>
            <a:xfrm>
              <a:off x="267304"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5" name="Rechteck 184"/>
            <p:cNvSpPr/>
            <p:nvPr/>
          </p:nvSpPr>
          <p:spPr>
            <a:xfrm>
              <a:off x="267304"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6" name="Rechteck 185"/>
            <p:cNvSpPr/>
            <p:nvPr/>
          </p:nvSpPr>
          <p:spPr>
            <a:xfrm>
              <a:off x="267304"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7" name="Rechteck 186"/>
            <p:cNvSpPr/>
            <p:nvPr/>
          </p:nvSpPr>
          <p:spPr>
            <a:xfrm>
              <a:off x="267304"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8" name="Rechteck 187"/>
            <p:cNvSpPr/>
            <p:nvPr/>
          </p:nvSpPr>
          <p:spPr>
            <a:xfrm>
              <a:off x="267304"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9" name="Rechteck 188"/>
            <p:cNvSpPr/>
            <p:nvPr/>
          </p:nvSpPr>
          <p:spPr>
            <a:xfrm>
              <a:off x="267304"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0" name="Rechteck 189"/>
            <p:cNvSpPr/>
            <p:nvPr/>
          </p:nvSpPr>
          <p:spPr>
            <a:xfrm>
              <a:off x="267304"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1" name="Rechteck 190"/>
            <p:cNvSpPr/>
            <p:nvPr/>
          </p:nvSpPr>
          <p:spPr>
            <a:xfrm>
              <a:off x="267304"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2" name="Rechteck 191"/>
            <p:cNvSpPr/>
            <p:nvPr/>
          </p:nvSpPr>
          <p:spPr>
            <a:xfrm>
              <a:off x="267304"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3" name="Rechteck 192"/>
            <p:cNvSpPr/>
            <p:nvPr/>
          </p:nvSpPr>
          <p:spPr>
            <a:xfrm>
              <a:off x="267304"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4" name="Rechteck 193"/>
            <p:cNvSpPr/>
            <p:nvPr/>
          </p:nvSpPr>
          <p:spPr>
            <a:xfrm>
              <a:off x="267304"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5" name="Rechteck 194"/>
            <p:cNvSpPr/>
            <p:nvPr/>
          </p:nvSpPr>
          <p:spPr>
            <a:xfrm>
              <a:off x="267304"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6" name="Rechteck 195"/>
            <p:cNvSpPr/>
            <p:nvPr/>
          </p:nvSpPr>
          <p:spPr>
            <a:xfrm>
              <a:off x="267304"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7" name="Rechteck 196"/>
            <p:cNvSpPr/>
            <p:nvPr/>
          </p:nvSpPr>
          <p:spPr>
            <a:xfrm>
              <a:off x="267304"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8" name="Rechteck 197"/>
            <p:cNvSpPr/>
            <p:nvPr/>
          </p:nvSpPr>
          <p:spPr>
            <a:xfrm>
              <a:off x="267304"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9" name="Rechteck 198"/>
            <p:cNvSpPr/>
            <p:nvPr/>
          </p:nvSpPr>
          <p:spPr>
            <a:xfrm>
              <a:off x="267304"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0" name="Rechteck 199"/>
            <p:cNvSpPr/>
            <p:nvPr/>
          </p:nvSpPr>
          <p:spPr>
            <a:xfrm>
              <a:off x="267304"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1" name="Rechteck 200"/>
            <p:cNvSpPr/>
            <p:nvPr/>
          </p:nvSpPr>
          <p:spPr>
            <a:xfrm>
              <a:off x="267304"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2" name="Rechteck 201"/>
            <p:cNvSpPr/>
            <p:nvPr/>
          </p:nvSpPr>
          <p:spPr>
            <a:xfrm>
              <a:off x="267304"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3" name="Rechteck 202"/>
            <p:cNvSpPr/>
            <p:nvPr/>
          </p:nvSpPr>
          <p:spPr>
            <a:xfrm>
              <a:off x="267304"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4" name="Rechteck 203"/>
            <p:cNvSpPr/>
            <p:nvPr/>
          </p:nvSpPr>
          <p:spPr>
            <a:xfrm>
              <a:off x="267304"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5" name="Rechteck 204"/>
            <p:cNvSpPr/>
            <p:nvPr/>
          </p:nvSpPr>
          <p:spPr>
            <a:xfrm>
              <a:off x="267304"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6" name="Rechteck 205"/>
            <p:cNvSpPr/>
            <p:nvPr/>
          </p:nvSpPr>
          <p:spPr>
            <a:xfrm>
              <a:off x="267304"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7" name="Rechteck 206"/>
            <p:cNvSpPr/>
            <p:nvPr/>
          </p:nvSpPr>
          <p:spPr>
            <a:xfrm>
              <a:off x="267304"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8" name="Rechteck 207"/>
            <p:cNvSpPr/>
            <p:nvPr/>
          </p:nvSpPr>
          <p:spPr>
            <a:xfrm>
              <a:off x="267304"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10" name="Rechteck 209"/>
          <p:cNvSpPr/>
          <p:nvPr/>
        </p:nvSpPr>
        <p:spPr>
          <a:xfrm>
            <a:off x="-3258" y="0"/>
            <a:ext cx="12192000" cy="1207277"/>
          </a:xfrm>
          <a:prstGeom prst="rect">
            <a:avLst/>
          </a:prstGeom>
          <a:gradFill flip="none" rotWithShape="1">
            <a:gsLst>
              <a:gs pos="43000">
                <a:srgbClr val="FFFFFF"/>
              </a:gs>
              <a:gs pos="24000">
                <a:srgbClr val="FFFFFF">
                  <a:alpha val="78000"/>
                </a:srgbClr>
              </a:gs>
              <a:gs pos="0">
                <a:sysClr val="window" lastClr="FFFFFF">
                  <a:alpha val="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smtClean="0">
              <a:ln>
                <a:noFill/>
              </a:ln>
              <a:solidFill>
                <a:prstClr val="black"/>
              </a:solidFill>
              <a:effectLst/>
              <a:uLnTx/>
              <a:uFillTx/>
            </a:endParaRPr>
          </a:p>
        </p:txBody>
      </p:sp>
      <p:sp>
        <p:nvSpPr>
          <p:cNvPr id="211" name="Rechteck 210"/>
          <p:cNvSpPr/>
          <p:nvPr/>
        </p:nvSpPr>
        <p:spPr>
          <a:xfrm flipV="1">
            <a:off x="0" y="5817258"/>
            <a:ext cx="4286207" cy="1040742"/>
          </a:xfrm>
          <a:prstGeom prst="rect">
            <a:avLst/>
          </a:prstGeom>
          <a:gradFill flip="none" rotWithShape="1">
            <a:gsLst>
              <a:gs pos="0">
                <a:sysClr val="window" lastClr="FFFFFF">
                  <a:alpha val="0"/>
                </a:sysClr>
              </a:gs>
              <a:gs pos="23000">
                <a:sysClr val="window" lastClr="FFFFFF">
                  <a:alpha val="75000"/>
                </a:sysClr>
              </a:gs>
              <a:gs pos="60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12" name="Titel 1"/>
          <p:cNvSpPr txBox="1">
            <a:spLocks/>
          </p:cNvSpPr>
          <p:nvPr/>
        </p:nvSpPr>
        <p:spPr>
          <a:xfrm>
            <a:off x="0" y="156730"/>
            <a:ext cx="396044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tab pos="1433513" algn="l"/>
              </a:tabLst>
              <a:defRPr/>
            </a:pPr>
            <a:r>
              <a:rPr kumimoji="0" lang="en-US" sz="2400" b="0" i="0" u="none" strike="noStrike" kern="1200" cap="none" spc="0" normalizeH="0" baseline="0" noProof="0" dirty="0" smtClean="0">
                <a:ln>
                  <a:noFill/>
                </a:ln>
                <a:effectLst/>
                <a:uLnTx/>
                <a:uFillTx/>
                <a:latin typeface="Calibri"/>
                <a:ea typeface="+mj-ea"/>
                <a:cs typeface="+mj-cs"/>
              </a:rPr>
              <a:t>Inverse Darwinian Cutoff</a:t>
            </a:r>
            <a:endParaRPr kumimoji="0" lang="en-US" sz="2400" b="0" i="0" u="none" strike="noStrike" kern="1200" cap="none" spc="0" normalizeH="0" baseline="0" noProof="0" dirty="0">
              <a:ln>
                <a:noFill/>
              </a:ln>
              <a:effectLst/>
              <a:uLnTx/>
              <a:uFillTx/>
              <a:latin typeface="Calibri"/>
              <a:ea typeface="+mj-ea"/>
              <a:cs typeface="+mj-cs"/>
            </a:endParaRPr>
          </a:p>
        </p:txBody>
      </p:sp>
      <p:pic>
        <p:nvPicPr>
          <p:cNvPr id="220"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115" name="Rechteck 114"/>
          <p:cNvSpPr/>
          <p:nvPr/>
        </p:nvSpPr>
        <p:spPr>
          <a:xfrm flipV="1">
            <a:off x="8074988" y="5817258"/>
            <a:ext cx="4286207" cy="1040742"/>
          </a:xfrm>
          <a:prstGeom prst="rect">
            <a:avLst/>
          </a:prstGeom>
          <a:gradFill flip="none" rotWithShape="1">
            <a:gsLst>
              <a:gs pos="0">
                <a:sysClr val="window" lastClr="FFFFFF">
                  <a:alpha val="0"/>
                </a:sysClr>
              </a:gs>
              <a:gs pos="29000">
                <a:sysClr val="window" lastClr="FFFFFF">
                  <a:alpha val="75000"/>
                </a:sysClr>
              </a:gs>
              <a:gs pos="49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116" name="Bild 4" descr="Leibniz__Logo_DE_Blau-Schwarz_100mm.jpg"/>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11460049" y="6321725"/>
            <a:ext cx="627611" cy="499299"/>
          </a:xfrm>
          <a:prstGeom prst="rect">
            <a:avLst/>
          </a:prstGeom>
        </p:spPr>
      </p:pic>
      <p:sp>
        <p:nvSpPr>
          <p:cNvPr id="9" name="Textfeld 8"/>
          <p:cNvSpPr txBox="1"/>
          <p:nvPr/>
        </p:nvSpPr>
        <p:spPr>
          <a:xfrm>
            <a:off x="207818" y="627776"/>
            <a:ext cx="5842625" cy="646331"/>
          </a:xfrm>
          <a:prstGeom prst="rect">
            <a:avLst/>
          </a:prstGeom>
          <a:noFill/>
        </p:spPr>
        <p:txBody>
          <a:bodyPr wrap="none" rtlCol="0">
            <a:spAutoFit/>
          </a:bodyPr>
          <a:lstStyle/>
          <a:p>
            <a:r>
              <a:rPr lang="en-US" dirty="0" smtClean="0"/>
              <a:t>If I have to match </a:t>
            </a:r>
            <a:r>
              <a:rPr lang="en-US" dirty="0" smtClean="0">
                <a:solidFill>
                  <a:srgbClr val="7AD0C4"/>
                </a:solidFill>
              </a:rPr>
              <a:t>focused</a:t>
            </a:r>
            <a:r>
              <a:rPr lang="en-US" dirty="0" smtClean="0"/>
              <a:t> with </a:t>
            </a:r>
            <a:r>
              <a:rPr lang="en-US" dirty="0" smtClean="0">
                <a:solidFill>
                  <a:srgbClr val="BADA15"/>
                </a:solidFill>
              </a:rPr>
              <a:t>unfocused</a:t>
            </a:r>
            <a:r>
              <a:rPr lang="en-US" dirty="0" smtClean="0"/>
              <a:t> data,</a:t>
            </a:r>
          </a:p>
          <a:p>
            <a:r>
              <a:rPr lang="en-US" dirty="0" smtClean="0"/>
              <a:t>why </a:t>
            </a:r>
            <a:r>
              <a:rPr lang="en-US" dirty="0"/>
              <a:t>on earth should I use </a:t>
            </a:r>
            <a:r>
              <a:rPr lang="en-US" dirty="0" smtClean="0"/>
              <a:t>the </a:t>
            </a:r>
            <a:r>
              <a:rPr lang="en-US" dirty="0" smtClean="0">
                <a:solidFill>
                  <a:srgbClr val="BADA15"/>
                </a:solidFill>
              </a:rPr>
              <a:t>unfocused</a:t>
            </a:r>
            <a:r>
              <a:rPr lang="en-US" dirty="0" smtClean="0"/>
              <a:t> </a:t>
            </a:r>
            <a:r>
              <a:rPr lang="en-US" dirty="0"/>
              <a:t>data as base table</a:t>
            </a:r>
            <a:r>
              <a:rPr lang="en-US" dirty="0" smtClean="0"/>
              <a:t>?</a:t>
            </a:r>
          </a:p>
        </p:txBody>
      </p:sp>
      <p:pic>
        <p:nvPicPr>
          <p:cNvPr id="25" name="Grafik 24"/>
          <p:cNvPicPr>
            <a:picLocks noChangeAspect="1"/>
          </p:cNvPicPr>
          <p:nvPr/>
        </p:nvPicPr>
        <p:blipFill>
          <a:blip r:embed="rId4"/>
          <a:stretch>
            <a:fillRect/>
          </a:stretch>
        </p:blipFill>
        <p:spPr>
          <a:xfrm>
            <a:off x="141314" y="1140331"/>
            <a:ext cx="4584589" cy="499915"/>
          </a:xfrm>
          <a:prstGeom prst="rect">
            <a:avLst/>
          </a:prstGeom>
          <a:effectLst>
            <a:glow>
              <a:schemeClr val="bg1">
                <a:lumMod val="50000"/>
              </a:schemeClr>
            </a:glow>
          </a:effectLst>
        </p:spPr>
      </p:pic>
      <p:sp>
        <p:nvSpPr>
          <p:cNvPr id="26" name="Textfeld 25"/>
          <p:cNvSpPr txBox="1"/>
          <p:nvPr/>
        </p:nvSpPr>
        <p:spPr>
          <a:xfrm>
            <a:off x="207818" y="1446670"/>
            <a:ext cx="4331814" cy="738664"/>
          </a:xfrm>
          <a:prstGeom prst="rect">
            <a:avLst/>
          </a:prstGeom>
          <a:noFill/>
        </p:spPr>
        <p:txBody>
          <a:bodyPr wrap="square" rtlCol="0">
            <a:spAutoFit/>
          </a:bodyPr>
          <a:lstStyle/>
          <a:p>
            <a:r>
              <a:rPr lang="en-US" sz="1400" dirty="0" smtClean="0"/>
              <a:t>noise </a:t>
            </a:r>
            <a:r>
              <a:rPr lang="de-DE" sz="1400" dirty="0" smtClean="0"/>
              <a:t>[</a:t>
            </a:r>
            <a:r>
              <a:rPr lang="de-DE" sz="1400" dirty="0" err="1" smtClean="0"/>
              <a:t>nɔɪz</a:t>
            </a:r>
            <a:r>
              <a:rPr lang="de-DE" sz="1400" dirty="0" smtClean="0"/>
              <a:t>]</a:t>
            </a:r>
          </a:p>
          <a:p>
            <a:pPr marL="216000"/>
            <a:r>
              <a:rPr lang="en-US" sz="1400" i="1" dirty="0"/>
              <a:t>random fluctuations that obscure or do not contain meaningful data or other information</a:t>
            </a:r>
            <a:r>
              <a:rPr lang="de-DE" sz="1400" i="1" dirty="0" smtClean="0"/>
              <a:t> </a:t>
            </a:r>
          </a:p>
        </p:txBody>
      </p:sp>
      <p:sp>
        <p:nvSpPr>
          <p:cNvPr id="28" name="Rechteck 27"/>
          <p:cNvSpPr/>
          <p:nvPr/>
        </p:nvSpPr>
        <p:spPr>
          <a:xfrm>
            <a:off x="207818" y="2269208"/>
            <a:ext cx="4500000" cy="2031325"/>
          </a:xfrm>
          <a:prstGeom prst="rect">
            <a:avLst/>
          </a:prstGeom>
        </p:spPr>
        <p:txBody>
          <a:bodyPr wrap="square">
            <a:spAutoFit/>
          </a:bodyPr>
          <a:lstStyle/>
          <a:p>
            <a:pPr lvl="0"/>
            <a:r>
              <a:rPr lang="en-US" sz="1400" dirty="0">
                <a:solidFill>
                  <a:prstClr val="black"/>
                </a:solidFill>
              </a:rPr>
              <a:t>In the context of firm data this means additional words like departments, location information, marketing fluff, blurry field contexts (address ↔ firm name) etc</a:t>
            </a:r>
            <a:r>
              <a:rPr lang="en-US" sz="1400" dirty="0" smtClean="0">
                <a:solidFill>
                  <a:prstClr val="black"/>
                </a:solidFill>
              </a:rPr>
              <a:t>. drown the definition of the entity in noise.</a:t>
            </a:r>
            <a:endParaRPr lang="en-US" sz="1400" dirty="0">
              <a:solidFill>
                <a:prstClr val="black"/>
              </a:solidFill>
            </a:endParaRPr>
          </a:p>
          <a:p>
            <a:pPr lvl="0"/>
            <a:r>
              <a:rPr lang="en-US" sz="1400" dirty="0">
                <a:solidFill>
                  <a:prstClr val="black"/>
                </a:solidFill>
              </a:rPr>
              <a:t>Noisy data is just not suitable as Search Table; thus, it has to become the Base Table as additional clutter has no immediate effect on retrieval. The perfectly fine, </a:t>
            </a:r>
            <a:r>
              <a:rPr lang="en-US" sz="1400" dirty="0">
                <a:solidFill>
                  <a:srgbClr val="7AD0C4"/>
                </a:solidFill>
              </a:rPr>
              <a:t>focused</a:t>
            </a:r>
            <a:r>
              <a:rPr lang="en-US" sz="1400" dirty="0">
                <a:solidFill>
                  <a:prstClr val="black"/>
                </a:solidFill>
              </a:rPr>
              <a:t> company data is displaced into the role of the Search Table for providing the more concise search terms.</a:t>
            </a:r>
          </a:p>
        </p:txBody>
      </p:sp>
      <p:sp>
        <p:nvSpPr>
          <p:cNvPr id="29" name="Textfeld 28"/>
          <p:cNvSpPr txBox="1"/>
          <p:nvPr/>
        </p:nvSpPr>
        <p:spPr>
          <a:xfrm>
            <a:off x="207817" y="4374234"/>
            <a:ext cx="4500000" cy="1815882"/>
          </a:xfrm>
          <a:prstGeom prst="rect">
            <a:avLst/>
          </a:prstGeom>
          <a:noFill/>
        </p:spPr>
        <p:txBody>
          <a:bodyPr wrap="square" rtlCol="0">
            <a:spAutoFit/>
          </a:bodyPr>
          <a:lstStyle/>
          <a:p>
            <a:r>
              <a:rPr lang="en-US" sz="1400" dirty="0" smtClean="0"/>
              <a:t>This necessitates a </a:t>
            </a:r>
            <a:r>
              <a:rPr lang="en-US" sz="1400" dirty="0" smtClean="0">
                <a:solidFill>
                  <a:srgbClr val="BADA15"/>
                </a:solidFill>
              </a:rPr>
              <a:t>Compound Search Strategy</a:t>
            </a:r>
            <a:r>
              <a:rPr lang="en-US" sz="1400" dirty="0" smtClean="0"/>
              <a:t> entailing bloated candidate lists.</a:t>
            </a:r>
          </a:p>
          <a:p>
            <a:pPr marL="216000" indent="-216000">
              <a:buClr>
                <a:srgbClr val="00B0F0"/>
              </a:buClr>
              <a:buFont typeface="Wingdings" panose="05000000000000000000" pitchFamily="2" charset="2"/>
              <a:buChar char="§"/>
            </a:pPr>
            <a:r>
              <a:rPr lang="en-US" sz="1400" dirty="0">
                <a:solidFill>
                  <a:prstClr val="black"/>
                </a:solidFill>
              </a:rPr>
              <a:t>Darwinian approach (keeping only the best candidate(s)) is not possible as </a:t>
            </a:r>
            <a:r>
              <a:rPr lang="en-US" sz="1400" dirty="0" smtClean="0">
                <a:solidFill>
                  <a:prstClr val="black"/>
                </a:solidFill>
              </a:rPr>
              <a:t>the Base </a:t>
            </a:r>
            <a:r>
              <a:rPr lang="en-US" sz="1400" dirty="0">
                <a:solidFill>
                  <a:prstClr val="black"/>
                </a:solidFill>
              </a:rPr>
              <a:t>Table is not </a:t>
            </a:r>
            <a:r>
              <a:rPr lang="en-US" sz="1400" dirty="0">
                <a:solidFill>
                  <a:srgbClr val="7AD0C4"/>
                </a:solidFill>
              </a:rPr>
              <a:t>focused</a:t>
            </a:r>
            <a:endParaRPr lang="en-US" sz="1400" dirty="0">
              <a:solidFill>
                <a:prstClr val="black"/>
              </a:solidFill>
            </a:endParaRPr>
          </a:p>
          <a:p>
            <a:pPr marL="216000" lvl="0" indent="-216000">
              <a:buClr>
                <a:srgbClr val="00B0F0"/>
              </a:buClr>
              <a:buFont typeface="Wingdings" panose="05000000000000000000" pitchFamily="2" charset="2"/>
              <a:buChar char="§"/>
            </a:pPr>
            <a:r>
              <a:rPr lang="en-US" sz="1400" dirty="0">
                <a:solidFill>
                  <a:prstClr val="black"/>
                </a:solidFill>
              </a:rPr>
              <a:t>But, a candidate may be attached to multiple </a:t>
            </a:r>
            <a:r>
              <a:rPr lang="en-US" sz="1400" dirty="0">
                <a:solidFill>
                  <a:srgbClr val="7AD0C4"/>
                </a:solidFill>
              </a:rPr>
              <a:t>focused</a:t>
            </a:r>
            <a:r>
              <a:rPr lang="en-US" sz="1400" dirty="0"/>
              <a:t> search records, which are redundant except the best</a:t>
            </a:r>
            <a:br>
              <a:rPr lang="en-US" sz="1400" dirty="0"/>
            </a:br>
            <a:r>
              <a:rPr lang="en-US" sz="1400" dirty="0">
                <a:solidFill>
                  <a:prstClr val="black"/>
                </a:solidFill>
              </a:rPr>
              <a:t> </a:t>
            </a:r>
            <a:r>
              <a:rPr lang="en-US" sz="1400" dirty="0"/>
              <a:t>→ </a:t>
            </a:r>
            <a:r>
              <a:rPr lang="en-US" sz="1400" dirty="0">
                <a:solidFill>
                  <a:srgbClr val="00B0F0"/>
                </a:solidFill>
              </a:rPr>
              <a:t>Inverse Darwinian </a:t>
            </a:r>
            <a:r>
              <a:rPr lang="en-US" sz="1400" dirty="0" smtClean="0">
                <a:solidFill>
                  <a:srgbClr val="00B0F0"/>
                </a:solidFill>
              </a:rPr>
              <a:t>Cutoff</a:t>
            </a:r>
            <a:endParaRPr lang="en-US" sz="1400" dirty="0">
              <a:solidFill>
                <a:srgbClr val="00B0F0"/>
              </a:solidFill>
            </a:endParaRPr>
          </a:p>
          <a:p>
            <a:r>
              <a:rPr lang="en-US" sz="1400" dirty="0" smtClean="0"/>
              <a:t> </a:t>
            </a:r>
            <a:endParaRPr lang="en-US" sz="1400" dirty="0"/>
          </a:p>
        </p:txBody>
      </p:sp>
      <p:sp>
        <p:nvSpPr>
          <p:cNvPr id="20" name="Textfeld 19"/>
          <p:cNvSpPr txBox="1"/>
          <p:nvPr/>
        </p:nvSpPr>
        <p:spPr>
          <a:xfrm>
            <a:off x="207818" y="1173447"/>
            <a:ext cx="4509183" cy="369332"/>
          </a:xfrm>
          <a:prstGeom prst="rect">
            <a:avLst/>
          </a:prstGeom>
          <a:noFill/>
        </p:spPr>
        <p:txBody>
          <a:bodyPr wrap="none" rtlCol="0">
            <a:spAutoFit/>
          </a:bodyPr>
          <a:lstStyle/>
          <a:p>
            <a:r>
              <a:rPr lang="en-US" dirty="0" smtClean="0"/>
              <a:t>It is too noisy to provide concise search terms.</a:t>
            </a:r>
            <a:endParaRPr lang="en-US" dirty="0"/>
          </a:p>
        </p:txBody>
      </p:sp>
      <p:sp>
        <p:nvSpPr>
          <p:cNvPr id="6" name="Textfeld 5"/>
          <p:cNvSpPr txBox="1"/>
          <p:nvPr/>
        </p:nvSpPr>
        <p:spPr>
          <a:xfrm>
            <a:off x="5056908" y="2269208"/>
            <a:ext cx="4629257" cy="3108543"/>
          </a:xfrm>
          <a:prstGeom prst="rect">
            <a:avLst/>
          </a:prstGeom>
          <a:noFill/>
        </p:spPr>
        <p:txBody>
          <a:bodyPr wrap="square" rtlCol="0">
            <a:spAutoFit/>
          </a:bodyPr>
          <a:lstStyle/>
          <a:p>
            <a:r>
              <a:rPr lang="en-US" sz="1400" dirty="0" smtClean="0">
                <a:solidFill>
                  <a:srgbClr val="00AAE5"/>
                </a:solidFill>
              </a:rPr>
              <a:t>Inverse Darwinian Cutoff</a:t>
            </a:r>
            <a:r>
              <a:rPr lang="en-US" sz="1400" dirty="0" smtClean="0"/>
              <a:t> is similar to </a:t>
            </a:r>
            <a:r>
              <a:rPr lang="en-US" sz="1400" dirty="0" smtClean="0">
                <a:solidFill>
                  <a:srgbClr val="00AAE5"/>
                </a:solidFill>
              </a:rPr>
              <a:t>containment</a:t>
            </a:r>
            <a:r>
              <a:rPr lang="en-US" sz="1400" dirty="0" smtClean="0"/>
              <a:t> of weak </a:t>
            </a:r>
            <a:r>
              <a:rPr lang="en-US" sz="1400" dirty="0"/>
              <a:t>search terms in terms of creating variance to facilitate </a:t>
            </a:r>
            <a:r>
              <a:rPr lang="en-US" sz="1400" dirty="0">
                <a:solidFill>
                  <a:srgbClr val="00AAE5"/>
                </a:solidFill>
              </a:rPr>
              <a:t>cutoff</a:t>
            </a:r>
            <a:r>
              <a:rPr lang="en-US" sz="1400" dirty="0"/>
              <a:t>. </a:t>
            </a:r>
            <a:endParaRPr lang="en-US" sz="1400" dirty="0" smtClean="0"/>
          </a:p>
          <a:p>
            <a:pPr marL="216000" indent="-216000">
              <a:buClr>
                <a:srgbClr val="00AAE5"/>
              </a:buClr>
              <a:buFont typeface="+mj-lt"/>
              <a:buAutoNum type="arabicPeriod"/>
            </a:pPr>
            <a:r>
              <a:rPr lang="en-US" sz="1400" dirty="0" smtClean="0"/>
              <a:t>Introduce variation by applying a </a:t>
            </a:r>
            <a:r>
              <a:rPr lang="en-US" sz="1400" dirty="0" smtClean="0">
                <a:solidFill>
                  <a:srgbClr val="00AAE5"/>
                </a:solidFill>
              </a:rPr>
              <a:t>feedback</a:t>
            </a:r>
            <a:r>
              <a:rPr lang="en-US" sz="1400" dirty="0" smtClean="0"/>
              <a:t> effect retroactively using the </a:t>
            </a:r>
            <a:r>
              <a:rPr lang="en-US" sz="1400" dirty="0" smtClean="0">
                <a:solidFill>
                  <a:srgbClr val="00AAE5"/>
                </a:solidFill>
              </a:rPr>
              <a:t>research</a:t>
            </a:r>
            <a:r>
              <a:rPr lang="en-US" sz="1400" dirty="0" smtClean="0"/>
              <a:t> function. This function readjusts the identity of existing candidates according to the current settings. Log-smoothing should be applied to the firm name. This affects weak search terms more than search terms with more overlap. A robust feedback of 20% or more seems appropriate.</a:t>
            </a:r>
          </a:p>
          <a:p>
            <a:pPr marL="216000" indent="-216000">
              <a:buClr>
                <a:srgbClr val="00AAE5"/>
              </a:buClr>
              <a:buFont typeface="+mj-lt"/>
              <a:buAutoNum type="arabicPeriod"/>
            </a:pPr>
            <a:r>
              <a:rPr lang="en-US" sz="1400" dirty="0" smtClean="0"/>
              <a:t>Remove all search terms from a candidate except the ones with the highest identity. The </a:t>
            </a:r>
            <a:r>
              <a:rPr lang="en-US" sz="1400" dirty="0" smtClean="0">
                <a:solidFill>
                  <a:srgbClr val="00AAE5"/>
                </a:solidFill>
              </a:rPr>
              <a:t>strip</a:t>
            </a:r>
            <a:r>
              <a:rPr lang="en-US" sz="1400" dirty="0" smtClean="0"/>
              <a:t> function allows to remove candidates retroactively. With the </a:t>
            </a:r>
            <a:r>
              <a:rPr lang="en-US" sz="1400" dirty="0" smtClean="0">
                <a:solidFill>
                  <a:srgbClr val="00AAE5"/>
                </a:solidFill>
              </a:rPr>
              <a:t>inverse</a:t>
            </a:r>
            <a:r>
              <a:rPr lang="en-US" sz="1400" dirty="0" smtClean="0"/>
              <a:t> option, this function will strip the candidates of redundant search terms with a </a:t>
            </a:r>
            <a:r>
              <a:rPr lang="en-US" sz="1400" dirty="0" smtClean="0">
                <a:solidFill>
                  <a:srgbClr val="00AAE5"/>
                </a:solidFill>
              </a:rPr>
              <a:t>cutoff</a:t>
            </a:r>
            <a:r>
              <a:rPr lang="en-US" sz="1400" dirty="0" smtClean="0"/>
              <a:t> of 1 ≈ </a:t>
            </a:r>
            <a:r>
              <a:rPr lang="en-US" sz="1400" dirty="0" smtClean="0">
                <a:solidFill>
                  <a:srgbClr val="00AAE5"/>
                </a:solidFill>
              </a:rPr>
              <a:t>Darwinian</a:t>
            </a:r>
            <a:r>
              <a:rPr lang="en-US" sz="1400" dirty="0" smtClean="0"/>
              <a:t>.</a:t>
            </a:r>
            <a:endParaRPr lang="en-US" sz="1400" dirty="0"/>
          </a:p>
        </p:txBody>
      </p:sp>
    </p:spTree>
    <p:extLst>
      <p:ext uri="{BB962C8B-B14F-4D97-AF65-F5344CB8AC3E}">
        <p14:creationId xmlns:p14="http://schemas.microsoft.com/office/powerpoint/2010/main" val="1841547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1000"/>
                                        <p:tgtEl>
                                          <p:spTgt spid="20"/>
                                        </p:tgtEl>
                                      </p:cBhvr>
                                    </p:animEffect>
                                  </p:childTnLst>
                                </p:cTn>
                              </p:par>
                              <p:par>
                                <p:cTn id="8" presetID="10" presetClass="exit" presetSubtype="0" fill="hold" nodeType="withEffect">
                                  <p:stCondLst>
                                    <p:cond delay="0"/>
                                  </p:stCondLst>
                                  <p:childTnLst>
                                    <p:animEffect transition="out" filter="fade">
                                      <p:cBhvr>
                                        <p:cTn id="9" dur="1000"/>
                                        <p:tgtEl>
                                          <p:spTgt spid="25"/>
                                        </p:tgtEl>
                                      </p:cBhvr>
                                    </p:animEffect>
                                    <p:set>
                                      <p:cBhvr>
                                        <p:cTn id="10" dur="1" fill="hold">
                                          <p:stCondLst>
                                            <p:cond delay="999"/>
                                          </p:stCondLst>
                                        </p:cTn>
                                        <p:tgtEl>
                                          <p:spTgt spid="25"/>
                                        </p:tgtEl>
                                        <p:attrNameLst>
                                          <p:attrName>style.visibility</p:attrName>
                                        </p:attrNameLst>
                                      </p:cBhvr>
                                      <p:to>
                                        <p:strVal val="hidden"/>
                                      </p:to>
                                    </p:set>
                                  </p:childTnLst>
                                </p:cTn>
                              </p:par>
                            </p:childTnLst>
                          </p:cTn>
                        </p:par>
                        <p:par>
                          <p:cTn id="11" fill="hold">
                            <p:stCondLst>
                              <p:cond delay="1000"/>
                            </p:stCondLst>
                            <p:childTnLst>
                              <p:par>
                                <p:cTn id="12" presetID="1" presetClass="entr" presetSubtype="0" fill="hold" nodeType="afterEffect">
                                  <p:stCondLst>
                                    <p:cond delay="0"/>
                                  </p:stCondLst>
                                  <p:childTnLst>
                                    <p:set>
                                      <p:cBhvr>
                                        <p:cTn id="13" dur="1" fill="hold">
                                          <p:stCondLst>
                                            <p:cond delay="0"/>
                                          </p:stCondLst>
                                        </p:cTn>
                                        <p:tgtEl>
                                          <p:spTgt spid="26">
                                            <p:txEl>
                                              <p:pRg st="0" end="0"/>
                                            </p:txEl>
                                          </p:spTgt>
                                        </p:tgtEl>
                                        <p:attrNameLst>
                                          <p:attrName>style.visibility</p:attrName>
                                        </p:attrNameLst>
                                      </p:cBhvr>
                                      <p:to>
                                        <p:strVal val="visible"/>
                                      </p:to>
                                    </p:set>
                                  </p:childTnLst>
                                </p:cTn>
                              </p:par>
                            </p:childTnLst>
                          </p:cTn>
                        </p:par>
                        <p:par>
                          <p:cTn id="14" fill="hold">
                            <p:stCondLst>
                              <p:cond delay="1000"/>
                            </p:stCondLst>
                            <p:childTnLst>
                              <p:par>
                                <p:cTn id="15" presetID="1" presetClass="entr" presetSubtype="0" fill="hold" nodeType="afterEffect">
                                  <p:stCondLst>
                                    <p:cond delay="0"/>
                                  </p:stCondLst>
                                  <p:childTnLst>
                                    <p:set>
                                      <p:cBhvr>
                                        <p:cTn id="16" dur="1" fill="hold">
                                          <p:stCondLst>
                                            <p:cond delay="0"/>
                                          </p:stCondLst>
                                        </p:cTn>
                                        <p:tgtEl>
                                          <p:spTgt spid="2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09"/>
                                        </p:tgtEl>
                                        <p:attrNameLst>
                                          <p:attrName>style.visibility</p:attrName>
                                        </p:attrNameLst>
                                      </p:cBhvr>
                                      <p:to>
                                        <p:strVal val="visible"/>
                                      </p:to>
                                    </p:set>
                                  </p:childTnLst>
                                </p:cTn>
                              </p:par>
                            </p:childTnLst>
                          </p:cTn>
                        </p:par>
                        <p:par>
                          <p:cTn id="37" fill="hold">
                            <p:stCondLst>
                              <p:cond delay="0"/>
                            </p:stCondLst>
                            <p:childTnLst>
                              <p:par>
                                <p:cTn id="38" presetID="42" presetClass="path" presetSubtype="0" accel="50000" decel="50000" fill="hold" grpId="1" nodeType="afterEffect">
                                  <p:stCondLst>
                                    <p:cond delay="0"/>
                                  </p:stCondLst>
                                  <p:childTnLst>
                                    <p:animMotion origin="layout" path="M -3.54167E-6 -2.96296E-6 L -0.00013 0.03588 " pathEditMode="relative" rAng="0" ptsTypes="AA">
                                      <p:cBhvr>
                                        <p:cTn id="39" dur="250" fill="hold"/>
                                        <p:tgtEl>
                                          <p:spTgt spid="209"/>
                                        </p:tgtEl>
                                        <p:attrNameLst>
                                          <p:attrName>ppt_x</p:attrName>
                                          <p:attrName>ppt_y</p:attrName>
                                        </p:attrNameLst>
                                      </p:cBhvr>
                                      <p:rCtr x="-13" y="1782"/>
                                    </p:animMotion>
                                  </p:childTnLst>
                                </p:cTn>
                              </p:par>
                            </p:childTnLst>
                          </p:cTn>
                        </p:par>
                        <p:par>
                          <p:cTn id="40" fill="hold">
                            <p:stCondLst>
                              <p:cond delay="250"/>
                            </p:stCondLst>
                            <p:childTnLst>
                              <p:par>
                                <p:cTn id="41" presetID="7" presetClass="emph" presetSubtype="2" fill="hold" nodeType="afterEffect">
                                  <p:stCondLst>
                                    <p:cond delay="0"/>
                                  </p:stCondLst>
                                  <p:childTnLst>
                                    <p:animClr clrSpc="rgb" dir="cw">
                                      <p:cBhvr>
                                        <p:cTn id="42" dur="500" fill="hold"/>
                                        <p:tgtEl>
                                          <p:spTgt spid="39"/>
                                        </p:tgtEl>
                                        <p:attrNameLst>
                                          <p:attrName>stroke.color</p:attrName>
                                        </p:attrNameLst>
                                      </p:cBhvr>
                                      <p:to>
                                        <a:schemeClr val="bg2"/>
                                      </p:to>
                                    </p:animClr>
                                    <p:set>
                                      <p:cBhvr>
                                        <p:cTn id="43" dur="500" fill="hold"/>
                                        <p:tgtEl>
                                          <p:spTgt spid="39"/>
                                        </p:tgtEl>
                                        <p:attrNameLst>
                                          <p:attrName>stroke.on</p:attrName>
                                        </p:attrNameLst>
                                      </p:cBhvr>
                                      <p:to>
                                        <p:strVal val="true"/>
                                      </p:to>
                                    </p:set>
                                  </p:childTnLst>
                                </p:cTn>
                              </p:par>
                              <p:par>
                                <p:cTn id="44" presetID="7" presetClass="emph" presetSubtype="2" fill="hold" nodeType="withEffect">
                                  <p:stCondLst>
                                    <p:cond delay="0"/>
                                  </p:stCondLst>
                                  <p:childTnLst>
                                    <p:animClr clrSpc="rgb" dir="cw">
                                      <p:cBhvr>
                                        <p:cTn id="45" dur="500" fill="hold"/>
                                        <p:tgtEl>
                                          <p:spTgt spid="40"/>
                                        </p:tgtEl>
                                        <p:attrNameLst>
                                          <p:attrName>stroke.color</p:attrName>
                                        </p:attrNameLst>
                                      </p:cBhvr>
                                      <p:to>
                                        <a:schemeClr val="bg2"/>
                                      </p:to>
                                    </p:animClr>
                                    <p:set>
                                      <p:cBhvr>
                                        <p:cTn id="46" dur="500" fill="hold"/>
                                        <p:tgtEl>
                                          <p:spTgt spid="40"/>
                                        </p:tgtEl>
                                        <p:attrNameLst>
                                          <p:attrName>stroke.on</p:attrName>
                                        </p:attrNameLst>
                                      </p:cBhvr>
                                      <p:to>
                                        <p:strVal val="true"/>
                                      </p:to>
                                    </p:set>
                                  </p:childTnLst>
                                </p:cTn>
                              </p:par>
                            </p:childTnLst>
                          </p:cTn>
                        </p:par>
                        <p:par>
                          <p:cTn id="47" fill="hold">
                            <p:stCondLst>
                              <p:cond delay="750"/>
                            </p:stCondLst>
                            <p:childTnLst>
                              <p:par>
                                <p:cTn id="48" presetID="42" presetClass="path" presetSubtype="0" accel="50000" decel="50000" fill="hold" grpId="2" nodeType="afterEffect">
                                  <p:stCondLst>
                                    <p:cond delay="0"/>
                                  </p:stCondLst>
                                  <p:childTnLst>
                                    <p:animMotion origin="layout" path="M -0.00013 0.03588 L -0.00013 0.16505 " pathEditMode="relative" rAng="0" ptsTypes="AA">
                                      <p:cBhvr>
                                        <p:cTn id="49" dur="250" fill="hold"/>
                                        <p:tgtEl>
                                          <p:spTgt spid="209"/>
                                        </p:tgtEl>
                                        <p:attrNameLst>
                                          <p:attrName>ppt_x</p:attrName>
                                          <p:attrName>ppt_y</p:attrName>
                                        </p:attrNameLst>
                                      </p:cBhvr>
                                      <p:rCtr x="0" y="6458"/>
                                    </p:animMotion>
                                  </p:childTnLst>
                                </p:cTn>
                              </p:par>
                            </p:childTnLst>
                          </p:cTn>
                        </p:par>
                        <p:par>
                          <p:cTn id="50" fill="hold">
                            <p:stCondLst>
                              <p:cond delay="1000"/>
                            </p:stCondLst>
                            <p:childTnLst>
                              <p:par>
                                <p:cTn id="51" presetID="7" presetClass="emph" presetSubtype="2" fill="hold" nodeType="afterEffect">
                                  <p:stCondLst>
                                    <p:cond delay="0"/>
                                  </p:stCondLst>
                                  <p:childTnLst>
                                    <p:animClr clrSpc="rgb" dir="cw">
                                      <p:cBhvr>
                                        <p:cTn id="52" dur="500" fill="hold"/>
                                        <p:tgtEl>
                                          <p:spTgt spid="45"/>
                                        </p:tgtEl>
                                        <p:attrNameLst>
                                          <p:attrName>stroke.color</p:attrName>
                                        </p:attrNameLst>
                                      </p:cBhvr>
                                      <p:to>
                                        <a:srgbClr val="F3F3F3"/>
                                      </p:to>
                                    </p:animClr>
                                    <p:set>
                                      <p:cBhvr>
                                        <p:cTn id="53" dur="500" fill="hold"/>
                                        <p:tgtEl>
                                          <p:spTgt spid="45"/>
                                        </p:tgtEl>
                                        <p:attrNameLst>
                                          <p:attrName>stroke.on</p:attrName>
                                        </p:attrNameLst>
                                      </p:cBhvr>
                                      <p:to>
                                        <p:strVal val="true"/>
                                      </p:to>
                                    </p:set>
                                  </p:childTnLst>
                                </p:cTn>
                              </p:par>
                              <p:par>
                                <p:cTn id="54" presetID="7" presetClass="emph" presetSubtype="2" fill="hold" nodeType="withEffect">
                                  <p:stCondLst>
                                    <p:cond delay="0"/>
                                  </p:stCondLst>
                                  <p:childTnLst>
                                    <p:animClr clrSpc="rgb" dir="cw">
                                      <p:cBhvr>
                                        <p:cTn id="55" dur="500" fill="hold"/>
                                        <p:tgtEl>
                                          <p:spTgt spid="43"/>
                                        </p:tgtEl>
                                        <p:attrNameLst>
                                          <p:attrName>stroke.color</p:attrName>
                                        </p:attrNameLst>
                                      </p:cBhvr>
                                      <p:to>
                                        <a:srgbClr val="F3F3F3"/>
                                      </p:to>
                                    </p:animClr>
                                    <p:set>
                                      <p:cBhvr>
                                        <p:cTn id="56" dur="500" fill="hold"/>
                                        <p:tgtEl>
                                          <p:spTgt spid="43"/>
                                        </p:tgtEl>
                                        <p:attrNameLst>
                                          <p:attrName>stroke.on</p:attrName>
                                        </p:attrNameLst>
                                      </p:cBhvr>
                                      <p:to>
                                        <p:strVal val="true"/>
                                      </p:to>
                                    </p:set>
                                  </p:childTnLst>
                                </p:cTn>
                              </p:par>
                              <p:par>
                                <p:cTn id="57" presetID="7" presetClass="emph" presetSubtype="2" fill="hold" nodeType="withEffect">
                                  <p:stCondLst>
                                    <p:cond delay="0"/>
                                  </p:stCondLst>
                                  <p:childTnLst>
                                    <p:animClr clrSpc="rgb" dir="cw">
                                      <p:cBhvr>
                                        <p:cTn id="58" dur="500" fill="hold"/>
                                        <p:tgtEl>
                                          <p:spTgt spid="46"/>
                                        </p:tgtEl>
                                        <p:attrNameLst>
                                          <p:attrName>stroke.color</p:attrName>
                                        </p:attrNameLst>
                                      </p:cBhvr>
                                      <p:to>
                                        <a:srgbClr val="F3F3F3"/>
                                      </p:to>
                                    </p:animClr>
                                    <p:set>
                                      <p:cBhvr>
                                        <p:cTn id="59" dur="500" fill="hold"/>
                                        <p:tgtEl>
                                          <p:spTgt spid="46"/>
                                        </p:tgtEl>
                                        <p:attrNameLst>
                                          <p:attrName>stroke.on</p:attrName>
                                        </p:attrNameLst>
                                      </p:cBhvr>
                                      <p:to>
                                        <p:strVal val="true"/>
                                      </p:to>
                                    </p:set>
                                  </p:childTnLst>
                                </p:cTn>
                              </p:par>
                            </p:childTnLst>
                          </p:cTn>
                        </p:par>
                        <p:par>
                          <p:cTn id="60" fill="hold">
                            <p:stCondLst>
                              <p:cond delay="1500"/>
                            </p:stCondLst>
                            <p:childTnLst>
                              <p:par>
                                <p:cTn id="61" presetID="42" presetClass="path" presetSubtype="0" accel="50000" decel="50000" fill="hold" grpId="3" nodeType="afterEffect">
                                  <p:stCondLst>
                                    <p:cond delay="0"/>
                                  </p:stCondLst>
                                  <p:childTnLst>
                                    <p:animMotion origin="layout" path="M -0.00013 0.16505 L 0.00013 0.29514 " pathEditMode="relative" rAng="0" ptsTypes="AA">
                                      <p:cBhvr>
                                        <p:cTn id="62" dur="250" fill="hold"/>
                                        <p:tgtEl>
                                          <p:spTgt spid="209"/>
                                        </p:tgtEl>
                                        <p:attrNameLst>
                                          <p:attrName>ppt_x</p:attrName>
                                          <p:attrName>ppt_y</p:attrName>
                                        </p:attrNameLst>
                                      </p:cBhvr>
                                      <p:rCtr x="13" y="6505"/>
                                    </p:animMotion>
                                  </p:childTnLst>
                                </p:cTn>
                              </p:par>
                            </p:childTnLst>
                          </p:cTn>
                        </p:par>
                        <p:par>
                          <p:cTn id="63" fill="hold">
                            <p:stCondLst>
                              <p:cond delay="1750"/>
                            </p:stCondLst>
                            <p:childTnLst>
                              <p:par>
                                <p:cTn id="64" presetID="7" presetClass="emph" presetSubtype="2" fill="hold" nodeType="afterEffect">
                                  <p:stCondLst>
                                    <p:cond delay="0"/>
                                  </p:stCondLst>
                                  <p:childTnLst>
                                    <p:animClr clrSpc="rgb" dir="cw">
                                      <p:cBhvr>
                                        <p:cTn id="65" dur="500" fill="hold"/>
                                        <p:tgtEl>
                                          <p:spTgt spid="56"/>
                                        </p:tgtEl>
                                        <p:attrNameLst>
                                          <p:attrName>stroke.color</p:attrName>
                                        </p:attrNameLst>
                                      </p:cBhvr>
                                      <p:to>
                                        <a:srgbClr val="ADADAD"/>
                                      </p:to>
                                    </p:animClr>
                                    <p:set>
                                      <p:cBhvr>
                                        <p:cTn id="66" dur="500" fill="hold"/>
                                        <p:tgtEl>
                                          <p:spTgt spid="56"/>
                                        </p:tgtEl>
                                        <p:attrNameLst>
                                          <p:attrName>stroke.on</p:attrName>
                                        </p:attrNameLst>
                                      </p:cBhvr>
                                      <p:to>
                                        <p:strVal val="true"/>
                                      </p:to>
                                    </p:set>
                                  </p:childTnLst>
                                </p:cTn>
                              </p:par>
                              <p:par>
                                <p:cTn id="67" presetID="7" presetClass="emph" presetSubtype="2" fill="hold" nodeType="withEffect">
                                  <p:stCondLst>
                                    <p:cond delay="0"/>
                                  </p:stCondLst>
                                  <p:childTnLst>
                                    <p:animClr clrSpc="rgb" dir="cw">
                                      <p:cBhvr>
                                        <p:cTn id="68" dur="500" fill="hold"/>
                                        <p:tgtEl>
                                          <p:spTgt spid="55"/>
                                        </p:tgtEl>
                                        <p:attrNameLst>
                                          <p:attrName>stroke.color</p:attrName>
                                        </p:attrNameLst>
                                      </p:cBhvr>
                                      <p:to>
                                        <a:srgbClr val="D3D3D3"/>
                                      </p:to>
                                    </p:animClr>
                                    <p:set>
                                      <p:cBhvr>
                                        <p:cTn id="69" dur="500" fill="hold"/>
                                        <p:tgtEl>
                                          <p:spTgt spid="55"/>
                                        </p:tgtEl>
                                        <p:attrNameLst>
                                          <p:attrName>stroke.on</p:attrName>
                                        </p:attrNameLst>
                                      </p:cBhvr>
                                      <p:to>
                                        <p:strVal val="true"/>
                                      </p:to>
                                    </p:set>
                                  </p:childTnLst>
                                </p:cTn>
                              </p:par>
                              <p:par>
                                <p:cTn id="70" presetID="7" presetClass="emph" presetSubtype="2" fill="hold" nodeType="withEffect">
                                  <p:stCondLst>
                                    <p:cond delay="0"/>
                                  </p:stCondLst>
                                  <p:childTnLst>
                                    <p:animClr clrSpc="rgb" dir="cw">
                                      <p:cBhvr>
                                        <p:cTn id="71" dur="500" fill="hold"/>
                                        <p:tgtEl>
                                          <p:spTgt spid="49"/>
                                        </p:tgtEl>
                                        <p:attrNameLst>
                                          <p:attrName>stroke.color</p:attrName>
                                        </p:attrNameLst>
                                      </p:cBhvr>
                                      <p:to>
                                        <a:srgbClr val="F3F3F3"/>
                                      </p:to>
                                    </p:animClr>
                                    <p:set>
                                      <p:cBhvr>
                                        <p:cTn id="72" dur="500" fill="hold"/>
                                        <p:tgtEl>
                                          <p:spTgt spid="49"/>
                                        </p:tgtEl>
                                        <p:attrNameLst>
                                          <p:attrName>stroke.on</p:attrName>
                                        </p:attrNameLst>
                                      </p:cBhvr>
                                      <p:to>
                                        <p:strVal val="true"/>
                                      </p:to>
                                    </p:set>
                                  </p:childTnLst>
                                </p:cTn>
                              </p:par>
                              <p:par>
                                <p:cTn id="73" presetID="7" presetClass="emph" presetSubtype="2" fill="hold" nodeType="withEffect">
                                  <p:stCondLst>
                                    <p:cond delay="0"/>
                                  </p:stCondLst>
                                  <p:childTnLst>
                                    <p:animClr clrSpc="rgb" dir="cw">
                                      <p:cBhvr>
                                        <p:cTn id="74" dur="500" fill="hold"/>
                                        <p:tgtEl>
                                          <p:spTgt spid="50"/>
                                        </p:tgtEl>
                                        <p:attrNameLst>
                                          <p:attrName>stroke.color</p:attrName>
                                        </p:attrNameLst>
                                      </p:cBhvr>
                                      <p:to>
                                        <a:srgbClr val="F3F3F3"/>
                                      </p:to>
                                    </p:animClr>
                                    <p:set>
                                      <p:cBhvr>
                                        <p:cTn id="75" dur="500" fill="hold"/>
                                        <p:tgtEl>
                                          <p:spTgt spid="50"/>
                                        </p:tgtEl>
                                        <p:attrNameLst>
                                          <p:attrName>stroke.on</p:attrName>
                                        </p:attrNameLst>
                                      </p:cBhvr>
                                      <p:to>
                                        <p:strVal val="true"/>
                                      </p:to>
                                    </p:set>
                                  </p:childTnLst>
                                </p:cTn>
                              </p:par>
                              <p:par>
                                <p:cTn id="76" presetID="7" presetClass="emph" presetSubtype="2" fill="hold" nodeType="withEffect">
                                  <p:stCondLst>
                                    <p:cond delay="0"/>
                                  </p:stCondLst>
                                  <p:childTnLst>
                                    <p:animClr clrSpc="rgb" dir="cw">
                                      <p:cBhvr>
                                        <p:cTn id="77" dur="500" fill="hold"/>
                                        <p:tgtEl>
                                          <p:spTgt spid="54"/>
                                        </p:tgtEl>
                                        <p:attrNameLst>
                                          <p:attrName>stroke.color</p:attrName>
                                        </p:attrNameLst>
                                      </p:cBhvr>
                                      <p:to>
                                        <a:srgbClr val="F3F3F3"/>
                                      </p:to>
                                    </p:animClr>
                                    <p:set>
                                      <p:cBhvr>
                                        <p:cTn id="78" dur="500" fill="hold"/>
                                        <p:tgtEl>
                                          <p:spTgt spid="54"/>
                                        </p:tgtEl>
                                        <p:attrNameLst>
                                          <p:attrName>stroke.on</p:attrName>
                                        </p:attrNameLst>
                                      </p:cBhvr>
                                      <p:to>
                                        <p:strVal val="true"/>
                                      </p:to>
                                    </p:set>
                                  </p:childTnLst>
                                </p:cTn>
                              </p:par>
                            </p:childTnLst>
                          </p:cTn>
                        </p:par>
                        <p:par>
                          <p:cTn id="79" fill="hold">
                            <p:stCondLst>
                              <p:cond delay="2250"/>
                            </p:stCondLst>
                            <p:childTnLst>
                              <p:par>
                                <p:cTn id="80" presetID="42" presetClass="path" presetSubtype="0" accel="50000" decel="50000" fill="hold" grpId="4" nodeType="afterEffect">
                                  <p:stCondLst>
                                    <p:cond delay="0"/>
                                  </p:stCondLst>
                                  <p:childTnLst>
                                    <p:animMotion origin="layout" path="M 0.00013 0.29514 L 0.00092 0.32755 " pathEditMode="relative" rAng="0" ptsTypes="AA">
                                      <p:cBhvr>
                                        <p:cTn id="81" dur="250" fill="hold"/>
                                        <p:tgtEl>
                                          <p:spTgt spid="209"/>
                                        </p:tgtEl>
                                        <p:attrNameLst>
                                          <p:attrName>ppt_x</p:attrName>
                                          <p:attrName>ppt_y</p:attrName>
                                        </p:attrNameLst>
                                      </p:cBhvr>
                                      <p:rCtr x="39" y="1620"/>
                                    </p:animMotion>
                                  </p:childTnLst>
                                </p:cTn>
                              </p:par>
                            </p:childTnLst>
                          </p:cTn>
                        </p:par>
                        <p:par>
                          <p:cTn id="82" fill="hold">
                            <p:stCondLst>
                              <p:cond delay="2500"/>
                            </p:stCondLst>
                            <p:childTnLst>
                              <p:par>
                                <p:cTn id="83" presetID="7" presetClass="emph" presetSubtype="2" fill="hold" nodeType="afterEffect">
                                  <p:stCondLst>
                                    <p:cond delay="0"/>
                                  </p:stCondLst>
                                  <p:childTnLst>
                                    <p:animClr clrSpc="rgb" dir="cw">
                                      <p:cBhvr>
                                        <p:cTn id="84" dur="500" fill="hold"/>
                                        <p:tgtEl>
                                          <p:spTgt spid="61"/>
                                        </p:tgtEl>
                                        <p:attrNameLst>
                                          <p:attrName>stroke.color</p:attrName>
                                        </p:attrNameLst>
                                      </p:cBhvr>
                                      <p:to>
                                        <a:srgbClr val="F3F3F3"/>
                                      </p:to>
                                    </p:animClr>
                                    <p:set>
                                      <p:cBhvr>
                                        <p:cTn id="85" dur="500" fill="hold"/>
                                        <p:tgtEl>
                                          <p:spTgt spid="61"/>
                                        </p:tgtEl>
                                        <p:attrNameLst>
                                          <p:attrName>stroke.on</p:attrName>
                                        </p:attrNameLst>
                                      </p:cBhvr>
                                      <p:to>
                                        <p:strVal val="true"/>
                                      </p:to>
                                    </p:set>
                                  </p:childTnLst>
                                </p:cTn>
                              </p:par>
                              <p:par>
                                <p:cTn id="86" presetID="7" presetClass="emph" presetSubtype="2" fill="hold" nodeType="withEffect">
                                  <p:stCondLst>
                                    <p:cond delay="0"/>
                                  </p:stCondLst>
                                  <p:childTnLst>
                                    <p:animClr clrSpc="rgb" dir="cw">
                                      <p:cBhvr>
                                        <p:cTn id="87" dur="500" fill="hold"/>
                                        <p:tgtEl>
                                          <p:spTgt spid="62"/>
                                        </p:tgtEl>
                                        <p:attrNameLst>
                                          <p:attrName>stroke.color</p:attrName>
                                        </p:attrNameLst>
                                      </p:cBhvr>
                                      <p:to>
                                        <a:srgbClr val="F3F3F3"/>
                                      </p:to>
                                    </p:animClr>
                                    <p:set>
                                      <p:cBhvr>
                                        <p:cTn id="88" dur="500" fill="hold"/>
                                        <p:tgtEl>
                                          <p:spTgt spid="62"/>
                                        </p:tgtEl>
                                        <p:attrNameLst>
                                          <p:attrName>stroke.on</p:attrName>
                                        </p:attrNameLst>
                                      </p:cBhvr>
                                      <p:to>
                                        <p:strVal val="true"/>
                                      </p:to>
                                    </p:set>
                                  </p:childTnLst>
                                </p:cTn>
                              </p:par>
                            </p:childTnLst>
                          </p:cTn>
                        </p:par>
                        <p:par>
                          <p:cTn id="89" fill="hold">
                            <p:stCondLst>
                              <p:cond delay="3000"/>
                            </p:stCondLst>
                            <p:childTnLst>
                              <p:par>
                                <p:cTn id="90" presetID="42" presetClass="path" presetSubtype="0" accel="50000" decel="50000" fill="hold" grpId="5" nodeType="afterEffect">
                                  <p:stCondLst>
                                    <p:cond delay="0"/>
                                  </p:stCondLst>
                                  <p:childTnLst>
                                    <p:animMotion origin="layout" path="M 0.00092 0.32755 L 0.00118 0.36088 " pathEditMode="relative" rAng="0" ptsTypes="AA">
                                      <p:cBhvr>
                                        <p:cTn id="91" dur="250" fill="hold"/>
                                        <p:tgtEl>
                                          <p:spTgt spid="209"/>
                                        </p:tgtEl>
                                        <p:attrNameLst>
                                          <p:attrName>ppt_x</p:attrName>
                                          <p:attrName>ppt_y</p:attrName>
                                        </p:attrNameLst>
                                      </p:cBhvr>
                                      <p:rCtr x="13" y="1667"/>
                                    </p:animMotion>
                                  </p:childTnLst>
                                </p:cTn>
                              </p:par>
                            </p:childTnLst>
                          </p:cTn>
                        </p:par>
                        <p:par>
                          <p:cTn id="92" fill="hold">
                            <p:stCondLst>
                              <p:cond delay="3250"/>
                            </p:stCondLst>
                            <p:childTnLst>
                              <p:par>
                                <p:cTn id="93" presetID="7" presetClass="emph" presetSubtype="2" fill="hold" nodeType="afterEffect">
                                  <p:stCondLst>
                                    <p:cond delay="0"/>
                                  </p:stCondLst>
                                  <p:childTnLst>
                                    <p:animClr clrSpc="rgb" dir="cw">
                                      <p:cBhvr>
                                        <p:cTn id="94" dur="500" fill="hold"/>
                                        <p:tgtEl>
                                          <p:spTgt spid="66"/>
                                        </p:tgtEl>
                                        <p:attrNameLst>
                                          <p:attrName>stroke.color</p:attrName>
                                        </p:attrNameLst>
                                      </p:cBhvr>
                                      <p:to>
                                        <a:srgbClr val="868686"/>
                                      </p:to>
                                    </p:animClr>
                                    <p:set>
                                      <p:cBhvr>
                                        <p:cTn id="95" dur="500" fill="hold"/>
                                        <p:tgtEl>
                                          <p:spTgt spid="66"/>
                                        </p:tgtEl>
                                        <p:attrNameLst>
                                          <p:attrName>stroke.on</p:attrName>
                                        </p:attrNameLst>
                                      </p:cBhvr>
                                      <p:to>
                                        <p:strVal val="true"/>
                                      </p:to>
                                    </p:set>
                                  </p:childTnLst>
                                </p:cTn>
                              </p:par>
                            </p:childTnLst>
                          </p:cTn>
                        </p:par>
                        <p:par>
                          <p:cTn id="96" fill="hold">
                            <p:stCondLst>
                              <p:cond delay="3750"/>
                            </p:stCondLst>
                            <p:childTnLst>
                              <p:par>
                                <p:cTn id="97" presetID="42" presetClass="path" presetSubtype="0" accel="50000" decel="50000" fill="hold" grpId="6" nodeType="afterEffect">
                                  <p:stCondLst>
                                    <p:cond delay="0"/>
                                  </p:stCondLst>
                                  <p:childTnLst>
                                    <p:animMotion origin="layout" path="M 0.00118 0.36088 L 0.00052 0.45857 " pathEditMode="relative" rAng="0" ptsTypes="AA">
                                      <p:cBhvr>
                                        <p:cTn id="98" dur="250" fill="hold"/>
                                        <p:tgtEl>
                                          <p:spTgt spid="209"/>
                                        </p:tgtEl>
                                        <p:attrNameLst>
                                          <p:attrName>ppt_x</p:attrName>
                                          <p:attrName>ppt_y</p:attrName>
                                        </p:attrNameLst>
                                      </p:cBhvr>
                                      <p:rCtr x="-39" y="4884"/>
                                    </p:animMotion>
                                  </p:childTnLst>
                                </p:cTn>
                              </p:par>
                            </p:childTnLst>
                          </p:cTn>
                        </p:par>
                        <p:par>
                          <p:cTn id="99" fill="hold">
                            <p:stCondLst>
                              <p:cond delay="4000"/>
                            </p:stCondLst>
                            <p:childTnLst>
                              <p:par>
                                <p:cTn id="100" presetID="7" presetClass="emph" presetSubtype="2" fill="hold" nodeType="afterEffect">
                                  <p:stCondLst>
                                    <p:cond delay="0"/>
                                  </p:stCondLst>
                                  <p:childTnLst>
                                    <p:animClr clrSpc="rgb" dir="cw">
                                      <p:cBhvr>
                                        <p:cTn id="101" dur="500" fill="hold"/>
                                        <p:tgtEl>
                                          <p:spTgt spid="33"/>
                                        </p:tgtEl>
                                        <p:attrNameLst>
                                          <p:attrName>stroke.color</p:attrName>
                                        </p:attrNameLst>
                                      </p:cBhvr>
                                      <p:to>
                                        <a:srgbClr val="D3D3D3"/>
                                      </p:to>
                                    </p:animClr>
                                    <p:set>
                                      <p:cBhvr>
                                        <p:cTn id="102" dur="500" fill="hold"/>
                                        <p:tgtEl>
                                          <p:spTgt spid="33"/>
                                        </p:tgtEl>
                                        <p:attrNameLst>
                                          <p:attrName>stroke.on</p:attrName>
                                        </p:attrNameLst>
                                      </p:cBhvr>
                                      <p:to>
                                        <p:strVal val="true"/>
                                      </p:to>
                                    </p:set>
                                  </p:childTnLst>
                                </p:cTn>
                              </p:par>
                            </p:childTnLst>
                          </p:cTn>
                        </p:par>
                        <p:par>
                          <p:cTn id="103" fill="hold">
                            <p:stCondLst>
                              <p:cond delay="4500"/>
                            </p:stCondLst>
                            <p:childTnLst>
                              <p:par>
                                <p:cTn id="104" presetID="42" presetClass="path" presetSubtype="0" accel="50000" decel="50000" fill="hold" grpId="7" nodeType="afterEffect">
                                  <p:stCondLst>
                                    <p:cond delay="0"/>
                                  </p:stCondLst>
                                  <p:childTnLst>
                                    <p:animMotion origin="layout" path="M 0.00052 0.45857 L 0.00013 0.48797 " pathEditMode="relative" rAng="0" ptsTypes="AA">
                                      <p:cBhvr>
                                        <p:cTn id="105" dur="250" fill="hold"/>
                                        <p:tgtEl>
                                          <p:spTgt spid="209"/>
                                        </p:tgtEl>
                                        <p:attrNameLst>
                                          <p:attrName>ppt_x</p:attrName>
                                          <p:attrName>ppt_y</p:attrName>
                                        </p:attrNameLst>
                                      </p:cBhvr>
                                      <p:rCtr x="-26" y="1458"/>
                                    </p:animMotion>
                                  </p:childTnLst>
                                </p:cTn>
                              </p:par>
                            </p:childTnLst>
                          </p:cTn>
                        </p:par>
                        <p:par>
                          <p:cTn id="106" fill="hold">
                            <p:stCondLst>
                              <p:cond delay="4750"/>
                            </p:stCondLst>
                            <p:childTnLst>
                              <p:par>
                                <p:cTn id="107" presetID="42" presetClass="path" presetSubtype="0" accel="50000" decel="50000" fill="hold" grpId="8" nodeType="afterEffect">
                                  <p:stCondLst>
                                    <p:cond delay="0"/>
                                  </p:stCondLst>
                                  <p:childTnLst>
                                    <p:animMotion origin="layout" path="M 0.00013 0.48797 L 0.00105 0.55648 " pathEditMode="relative" rAng="0" ptsTypes="AA">
                                      <p:cBhvr>
                                        <p:cTn id="108" dur="250" fill="hold"/>
                                        <p:tgtEl>
                                          <p:spTgt spid="209"/>
                                        </p:tgtEl>
                                        <p:attrNameLst>
                                          <p:attrName>ppt_x</p:attrName>
                                          <p:attrName>ppt_y</p:attrName>
                                        </p:attrNameLst>
                                      </p:cBhvr>
                                      <p:rCtr x="39" y="3426"/>
                                    </p:animMotion>
                                  </p:childTnLst>
                                </p:cTn>
                              </p:par>
                            </p:childTnLst>
                          </p:cTn>
                        </p:par>
                        <p:par>
                          <p:cTn id="109" fill="hold">
                            <p:stCondLst>
                              <p:cond delay="5000"/>
                            </p:stCondLst>
                            <p:childTnLst>
                              <p:par>
                                <p:cTn id="110" presetID="7" presetClass="emph" presetSubtype="2" fill="hold" nodeType="afterEffect">
                                  <p:stCondLst>
                                    <p:cond delay="0"/>
                                  </p:stCondLst>
                                  <p:childTnLst>
                                    <p:animClr clrSpc="rgb" dir="cw">
                                      <p:cBhvr>
                                        <p:cTn id="111" dur="500" fill="hold"/>
                                        <p:tgtEl>
                                          <p:spTgt spid="15"/>
                                        </p:tgtEl>
                                        <p:attrNameLst>
                                          <p:attrName>stroke.color</p:attrName>
                                        </p:attrNameLst>
                                      </p:cBhvr>
                                      <p:to>
                                        <a:srgbClr val="EDEDED"/>
                                      </p:to>
                                    </p:animClr>
                                    <p:set>
                                      <p:cBhvr>
                                        <p:cTn id="112" dur="500" fill="hold"/>
                                        <p:tgtEl>
                                          <p:spTgt spid="15"/>
                                        </p:tgtEl>
                                        <p:attrNameLst>
                                          <p:attrName>stroke.on</p:attrName>
                                        </p:attrNameLst>
                                      </p:cBhvr>
                                      <p:to>
                                        <p:strVal val="true"/>
                                      </p:to>
                                    </p:set>
                                  </p:childTnLst>
                                </p:cTn>
                              </p:par>
                              <p:par>
                                <p:cTn id="113" presetID="7" presetClass="emph" presetSubtype="2" fill="hold" nodeType="withEffect">
                                  <p:stCondLst>
                                    <p:cond delay="0"/>
                                  </p:stCondLst>
                                  <p:childTnLst>
                                    <p:animClr clrSpc="rgb" dir="cw">
                                      <p:cBhvr>
                                        <p:cTn id="114" dur="500" fill="hold"/>
                                        <p:tgtEl>
                                          <p:spTgt spid="57"/>
                                        </p:tgtEl>
                                        <p:attrNameLst>
                                          <p:attrName>stroke.color</p:attrName>
                                        </p:attrNameLst>
                                      </p:cBhvr>
                                      <p:to>
                                        <a:srgbClr val="EDEDED"/>
                                      </p:to>
                                    </p:animClr>
                                    <p:set>
                                      <p:cBhvr>
                                        <p:cTn id="115" dur="500" fill="hold"/>
                                        <p:tgtEl>
                                          <p:spTgt spid="57"/>
                                        </p:tgtEl>
                                        <p:attrNameLst>
                                          <p:attrName>stroke.on</p:attrName>
                                        </p:attrNameLst>
                                      </p:cBhvr>
                                      <p:to>
                                        <p:strVal val="true"/>
                                      </p:to>
                                    </p:set>
                                  </p:childTnLst>
                                </p:cTn>
                              </p:par>
                              <p:par>
                                <p:cTn id="116" presetID="7" presetClass="emph" presetSubtype="2" fill="hold" nodeType="withEffect">
                                  <p:stCondLst>
                                    <p:cond delay="0"/>
                                  </p:stCondLst>
                                  <p:childTnLst>
                                    <p:animClr clrSpc="rgb" dir="cw">
                                      <p:cBhvr>
                                        <p:cTn id="117" dur="500" fill="hold"/>
                                        <p:tgtEl>
                                          <p:spTgt spid="18"/>
                                        </p:tgtEl>
                                        <p:attrNameLst>
                                          <p:attrName>stroke.color</p:attrName>
                                        </p:attrNameLst>
                                      </p:cBhvr>
                                      <p:to>
                                        <a:srgbClr val="EDEDED"/>
                                      </p:to>
                                    </p:animClr>
                                    <p:set>
                                      <p:cBhvr>
                                        <p:cTn id="118" dur="500" fill="hold"/>
                                        <p:tgtEl>
                                          <p:spTgt spid="18"/>
                                        </p:tgtEl>
                                        <p:attrNameLst>
                                          <p:attrName>stroke.on</p:attrName>
                                        </p:attrNameLst>
                                      </p:cBhvr>
                                      <p:to>
                                        <p:strVal val="true"/>
                                      </p:to>
                                    </p:set>
                                  </p:childTnLst>
                                </p:cTn>
                              </p:par>
                              <p:par>
                                <p:cTn id="119" presetID="7" presetClass="emph" presetSubtype="2" fill="hold" nodeType="withEffect">
                                  <p:stCondLst>
                                    <p:cond delay="0"/>
                                  </p:stCondLst>
                                  <p:childTnLst>
                                    <p:animClr clrSpc="rgb" dir="cw">
                                      <p:cBhvr>
                                        <p:cTn id="120" dur="500" fill="hold"/>
                                        <p:tgtEl>
                                          <p:spTgt spid="17"/>
                                        </p:tgtEl>
                                        <p:attrNameLst>
                                          <p:attrName>stroke.color</p:attrName>
                                        </p:attrNameLst>
                                      </p:cBhvr>
                                      <p:to>
                                        <a:srgbClr val="EDEDED"/>
                                      </p:to>
                                    </p:animClr>
                                    <p:set>
                                      <p:cBhvr>
                                        <p:cTn id="121" dur="500" fill="hold"/>
                                        <p:tgtEl>
                                          <p:spTgt spid="17"/>
                                        </p:tgtEl>
                                        <p:attrNameLst>
                                          <p:attrName>stroke.on</p:attrName>
                                        </p:attrNameLst>
                                      </p:cBhvr>
                                      <p:to>
                                        <p:strVal val="true"/>
                                      </p:to>
                                    </p:set>
                                  </p:childTnLst>
                                </p:cTn>
                              </p:par>
                              <p:par>
                                <p:cTn id="122" presetID="7" presetClass="emph" presetSubtype="2" fill="hold" nodeType="withEffect">
                                  <p:stCondLst>
                                    <p:cond delay="0"/>
                                  </p:stCondLst>
                                  <p:childTnLst>
                                    <p:animClr clrSpc="rgb" dir="cw">
                                      <p:cBhvr>
                                        <p:cTn id="123" dur="500" fill="hold"/>
                                        <p:tgtEl>
                                          <p:spTgt spid="16"/>
                                        </p:tgtEl>
                                        <p:attrNameLst>
                                          <p:attrName>stroke.color</p:attrName>
                                        </p:attrNameLst>
                                      </p:cBhvr>
                                      <p:to>
                                        <a:srgbClr val="EDEDED"/>
                                      </p:to>
                                    </p:animClr>
                                    <p:set>
                                      <p:cBhvr>
                                        <p:cTn id="124" dur="500" fill="hold"/>
                                        <p:tgtEl>
                                          <p:spTgt spid="16"/>
                                        </p:tgtEl>
                                        <p:attrNameLst>
                                          <p:attrName>stroke.on</p:attrName>
                                        </p:attrNameLst>
                                      </p:cBhvr>
                                      <p:to>
                                        <p:strVal val="true"/>
                                      </p:to>
                                    </p:set>
                                  </p:childTnLst>
                                </p:cTn>
                              </p:par>
                              <p:par>
                                <p:cTn id="125" presetID="7" presetClass="emph" presetSubtype="2" fill="hold" nodeType="withEffect">
                                  <p:stCondLst>
                                    <p:cond delay="0"/>
                                  </p:stCondLst>
                                  <p:childTnLst>
                                    <p:animClr clrSpc="rgb" dir="cw">
                                      <p:cBhvr>
                                        <p:cTn id="126" dur="500" fill="hold"/>
                                        <p:tgtEl>
                                          <p:spTgt spid="242"/>
                                        </p:tgtEl>
                                        <p:attrNameLst>
                                          <p:attrName>stroke.color</p:attrName>
                                        </p:attrNameLst>
                                      </p:cBhvr>
                                      <p:to>
                                        <a:srgbClr val="EDEDED"/>
                                      </p:to>
                                    </p:animClr>
                                    <p:set>
                                      <p:cBhvr>
                                        <p:cTn id="127" dur="500" fill="hold"/>
                                        <p:tgtEl>
                                          <p:spTgt spid="242"/>
                                        </p:tgtEl>
                                        <p:attrNameLst>
                                          <p:attrName>stroke.on</p:attrName>
                                        </p:attrNameLst>
                                      </p:cBhvr>
                                      <p:to>
                                        <p:strVal val="true"/>
                                      </p:to>
                                    </p:set>
                                  </p:childTnLst>
                                </p:cTn>
                              </p:par>
                              <p:par>
                                <p:cTn id="128" presetID="7" presetClass="emph" presetSubtype="2" fill="hold" nodeType="withEffect">
                                  <p:stCondLst>
                                    <p:cond delay="0"/>
                                  </p:stCondLst>
                                  <p:childTnLst>
                                    <p:animClr clrSpc="rgb" dir="cw">
                                      <p:cBhvr>
                                        <p:cTn id="129" dur="500" fill="hold"/>
                                        <p:tgtEl>
                                          <p:spTgt spid="240"/>
                                        </p:tgtEl>
                                        <p:attrNameLst>
                                          <p:attrName>stroke.color</p:attrName>
                                        </p:attrNameLst>
                                      </p:cBhvr>
                                      <p:to>
                                        <a:srgbClr val="EDEDED"/>
                                      </p:to>
                                    </p:animClr>
                                    <p:set>
                                      <p:cBhvr>
                                        <p:cTn id="130" dur="500" fill="hold"/>
                                        <p:tgtEl>
                                          <p:spTgt spid="240"/>
                                        </p:tgtEl>
                                        <p:attrNameLst>
                                          <p:attrName>stroke.on</p:attrName>
                                        </p:attrNameLst>
                                      </p:cBhvr>
                                      <p:to>
                                        <p:strVal val="true"/>
                                      </p:to>
                                    </p:set>
                                  </p:childTnLst>
                                </p:cTn>
                              </p:par>
                              <p:par>
                                <p:cTn id="131" presetID="7" presetClass="emph" presetSubtype="2" fill="hold" nodeType="withEffect">
                                  <p:stCondLst>
                                    <p:cond delay="0"/>
                                  </p:stCondLst>
                                  <p:childTnLst>
                                    <p:animClr clrSpc="rgb" dir="cw">
                                      <p:cBhvr>
                                        <p:cTn id="132" dur="500" fill="hold"/>
                                        <p:tgtEl>
                                          <p:spTgt spid="238"/>
                                        </p:tgtEl>
                                        <p:attrNameLst>
                                          <p:attrName>stroke.color</p:attrName>
                                        </p:attrNameLst>
                                      </p:cBhvr>
                                      <p:to>
                                        <a:srgbClr val="EDEDED"/>
                                      </p:to>
                                    </p:animClr>
                                    <p:set>
                                      <p:cBhvr>
                                        <p:cTn id="133" dur="500" fill="hold"/>
                                        <p:tgtEl>
                                          <p:spTgt spid="238"/>
                                        </p:tgtEl>
                                        <p:attrNameLst>
                                          <p:attrName>stroke.on</p:attrName>
                                        </p:attrNameLst>
                                      </p:cBhvr>
                                      <p:to>
                                        <p:strVal val="true"/>
                                      </p:to>
                                    </p:set>
                                  </p:childTnLst>
                                </p:cTn>
                              </p:par>
                              <p:par>
                                <p:cTn id="134" presetID="7" presetClass="emph" presetSubtype="2" fill="hold" nodeType="withEffect">
                                  <p:stCondLst>
                                    <p:cond delay="0"/>
                                  </p:stCondLst>
                                  <p:childTnLst>
                                    <p:animClr clrSpc="rgb" dir="cw">
                                      <p:cBhvr>
                                        <p:cTn id="135" dur="500" fill="hold"/>
                                        <p:tgtEl>
                                          <p:spTgt spid="236"/>
                                        </p:tgtEl>
                                        <p:attrNameLst>
                                          <p:attrName>stroke.color</p:attrName>
                                        </p:attrNameLst>
                                      </p:cBhvr>
                                      <p:to>
                                        <a:srgbClr val="EDEDED"/>
                                      </p:to>
                                    </p:animClr>
                                    <p:set>
                                      <p:cBhvr>
                                        <p:cTn id="136" dur="500" fill="hold"/>
                                        <p:tgtEl>
                                          <p:spTgt spid="236"/>
                                        </p:tgtEl>
                                        <p:attrNameLst>
                                          <p:attrName>stroke.on</p:attrName>
                                        </p:attrNameLst>
                                      </p:cBhvr>
                                      <p:to>
                                        <p:strVal val="true"/>
                                      </p:to>
                                    </p:set>
                                  </p:childTnLst>
                                </p:cTn>
                              </p:par>
                              <p:par>
                                <p:cTn id="137" presetID="7" presetClass="emph" presetSubtype="2" fill="hold" nodeType="withEffect">
                                  <p:stCondLst>
                                    <p:cond delay="0"/>
                                  </p:stCondLst>
                                  <p:childTnLst>
                                    <p:animClr clrSpc="rgb" dir="cw">
                                      <p:cBhvr>
                                        <p:cTn id="138" dur="500" fill="hold"/>
                                        <p:tgtEl>
                                          <p:spTgt spid="234"/>
                                        </p:tgtEl>
                                        <p:attrNameLst>
                                          <p:attrName>stroke.color</p:attrName>
                                        </p:attrNameLst>
                                      </p:cBhvr>
                                      <p:to>
                                        <a:srgbClr val="EDEDED"/>
                                      </p:to>
                                    </p:animClr>
                                    <p:set>
                                      <p:cBhvr>
                                        <p:cTn id="139" dur="500" fill="hold"/>
                                        <p:tgtEl>
                                          <p:spTgt spid="234"/>
                                        </p:tgtEl>
                                        <p:attrNameLst>
                                          <p:attrName>stroke.on</p:attrName>
                                        </p:attrNameLst>
                                      </p:cBhvr>
                                      <p:to>
                                        <p:strVal val="true"/>
                                      </p:to>
                                    </p:set>
                                  </p:childTnLst>
                                </p:cTn>
                              </p:par>
                              <p:par>
                                <p:cTn id="140" presetID="7" presetClass="emph" presetSubtype="2" fill="hold" nodeType="withEffect">
                                  <p:stCondLst>
                                    <p:cond delay="0"/>
                                  </p:stCondLst>
                                  <p:childTnLst>
                                    <p:animClr clrSpc="rgb" dir="cw">
                                      <p:cBhvr>
                                        <p:cTn id="141" dur="500" fill="hold"/>
                                        <p:tgtEl>
                                          <p:spTgt spid="230"/>
                                        </p:tgtEl>
                                        <p:attrNameLst>
                                          <p:attrName>stroke.color</p:attrName>
                                        </p:attrNameLst>
                                      </p:cBhvr>
                                      <p:to>
                                        <a:srgbClr val="EDEDED"/>
                                      </p:to>
                                    </p:animClr>
                                    <p:set>
                                      <p:cBhvr>
                                        <p:cTn id="142" dur="500" fill="hold"/>
                                        <p:tgtEl>
                                          <p:spTgt spid="230"/>
                                        </p:tgtEl>
                                        <p:attrNameLst>
                                          <p:attrName>stroke.on</p:attrName>
                                        </p:attrNameLst>
                                      </p:cBhvr>
                                      <p:to>
                                        <p:strVal val="true"/>
                                      </p:to>
                                    </p:set>
                                  </p:childTnLst>
                                </p:cTn>
                              </p:par>
                              <p:par>
                                <p:cTn id="143" presetID="7" presetClass="emph" presetSubtype="2" fill="hold" nodeType="withEffect">
                                  <p:stCondLst>
                                    <p:cond delay="0"/>
                                  </p:stCondLst>
                                  <p:childTnLst>
                                    <p:animClr clrSpc="rgb" dir="cw">
                                      <p:cBhvr>
                                        <p:cTn id="144" dur="500" fill="hold"/>
                                        <p:tgtEl>
                                          <p:spTgt spid="19"/>
                                        </p:tgtEl>
                                        <p:attrNameLst>
                                          <p:attrName>stroke.color</p:attrName>
                                        </p:attrNameLst>
                                      </p:cBhvr>
                                      <p:to>
                                        <a:srgbClr val="EDEDED"/>
                                      </p:to>
                                    </p:animClr>
                                    <p:set>
                                      <p:cBhvr>
                                        <p:cTn id="145" dur="500" fill="hold"/>
                                        <p:tgtEl>
                                          <p:spTgt spid="19"/>
                                        </p:tgtEl>
                                        <p:attrNameLst>
                                          <p:attrName>stroke.on</p:attrName>
                                        </p:attrNameLst>
                                      </p:cBhvr>
                                      <p:to>
                                        <p:strVal val="true"/>
                                      </p:to>
                                    </p:set>
                                  </p:childTnLst>
                                </p:cTn>
                              </p:par>
                              <p:par>
                                <p:cTn id="146" presetID="7" presetClass="emph" presetSubtype="2" fill="hold" nodeType="withEffect">
                                  <p:stCondLst>
                                    <p:cond delay="0"/>
                                  </p:stCondLst>
                                  <p:childTnLst>
                                    <p:animClr clrSpc="rgb" dir="cw">
                                      <p:cBhvr>
                                        <p:cTn id="147" dur="500" fill="hold"/>
                                        <p:tgtEl>
                                          <p:spTgt spid="232"/>
                                        </p:tgtEl>
                                        <p:attrNameLst>
                                          <p:attrName>stroke.color</p:attrName>
                                        </p:attrNameLst>
                                      </p:cBhvr>
                                      <p:to>
                                        <a:srgbClr val="EDEDED"/>
                                      </p:to>
                                    </p:animClr>
                                    <p:set>
                                      <p:cBhvr>
                                        <p:cTn id="148" dur="500" fill="hold"/>
                                        <p:tgtEl>
                                          <p:spTgt spid="232"/>
                                        </p:tgtEl>
                                        <p:attrNameLst>
                                          <p:attrName>stroke.on</p:attrName>
                                        </p:attrNameLst>
                                      </p:cBhvr>
                                      <p:to>
                                        <p:strVal val="true"/>
                                      </p:to>
                                    </p:set>
                                  </p:childTnLst>
                                </p:cTn>
                              </p:par>
                            </p:childTnLst>
                          </p:cTn>
                        </p:par>
                        <p:par>
                          <p:cTn id="149" fill="hold">
                            <p:stCondLst>
                              <p:cond delay="5500"/>
                            </p:stCondLst>
                            <p:childTnLst>
                              <p:par>
                                <p:cTn id="150" presetID="42" presetClass="path" presetSubtype="0" accel="50000" decel="50000" fill="hold" grpId="9" nodeType="afterEffect">
                                  <p:stCondLst>
                                    <p:cond delay="0"/>
                                  </p:stCondLst>
                                  <p:childTnLst>
                                    <p:animMotion origin="layout" path="M 0.00105 0.55648 L 0.00261 0.6213 " pathEditMode="relative" rAng="0" ptsTypes="AA">
                                      <p:cBhvr>
                                        <p:cTn id="151" dur="250" fill="hold"/>
                                        <p:tgtEl>
                                          <p:spTgt spid="209"/>
                                        </p:tgtEl>
                                        <p:attrNameLst>
                                          <p:attrName>ppt_x</p:attrName>
                                          <p:attrName>ppt_y</p:attrName>
                                        </p:attrNameLst>
                                      </p:cBhvr>
                                      <p:rCtr x="78" y="3241"/>
                                    </p:animMotion>
                                  </p:childTnLst>
                                </p:cTn>
                              </p:par>
                            </p:childTnLst>
                          </p:cTn>
                        </p:par>
                        <p:par>
                          <p:cTn id="152" fill="hold">
                            <p:stCondLst>
                              <p:cond delay="5750"/>
                            </p:stCondLst>
                            <p:childTnLst>
                              <p:par>
                                <p:cTn id="153" presetID="7" presetClass="emph" presetSubtype="2" fill="hold" nodeType="afterEffect">
                                  <p:stCondLst>
                                    <p:cond delay="0"/>
                                  </p:stCondLst>
                                  <p:childTnLst>
                                    <p:animClr clrSpc="rgb" dir="cw">
                                      <p:cBhvr>
                                        <p:cTn id="154" dur="500" fill="hold"/>
                                        <p:tgtEl>
                                          <p:spTgt spid="11"/>
                                        </p:tgtEl>
                                        <p:attrNameLst>
                                          <p:attrName>stroke.color</p:attrName>
                                        </p:attrNameLst>
                                      </p:cBhvr>
                                      <p:to>
                                        <a:srgbClr val="F3F3F3"/>
                                      </p:to>
                                    </p:animClr>
                                    <p:set>
                                      <p:cBhvr>
                                        <p:cTn id="155" dur="500" fill="hold"/>
                                        <p:tgtEl>
                                          <p:spTgt spid="11"/>
                                        </p:tgtEl>
                                        <p:attrNameLst>
                                          <p:attrName>stroke.on</p:attrName>
                                        </p:attrNameLst>
                                      </p:cBhvr>
                                      <p:to>
                                        <p:strVal val="true"/>
                                      </p:to>
                                    </p:set>
                                  </p:childTnLst>
                                </p:cTn>
                              </p:par>
                              <p:par>
                                <p:cTn id="156" presetID="7" presetClass="emph" presetSubtype="2" fill="hold" nodeType="withEffect">
                                  <p:stCondLst>
                                    <p:cond delay="0"/>
                                  </p:stCondLst>
                                  <p:childTnLst>
                                    <p:animClr clrSpc="rgb" dir="cw">
                                      <p:cBhvr>
                                        <p:cTn id="157" dur="500" fill="hold"/>
                                        <p:tgtEl>
                                          <p:spTgt spid="12"/>
                                        </p:tgtEl>
                                        <p:attrNameLst>
                                          <p:attrName>stroke.color</p:attrName>
                                        </p:attrNameLst>
                                      </p:cBhvr>
                                      <p:to>
                                        <a:srgbClr val="F3F3F3"/>
                                      </p:to>
                                    </p:animClr>
                                    <p:set>
                                      <p:cBhvr>
                                        <p:cTn id="158" dur="500" fill="hold"/>
                                        <p:tgtEl>
                                          <p:spTgt spid="12"/>
                                        </p:tgtEl>
                                        <p:attrNameLst>
                                          <p:attrName>stroke.on</p:attrName>
                                        </p:attrNameLst>
                                      </p:cBhvr>
                                      <p:to>
                                        <p:strVal val="true"/>
                                      </p:to>
                                    </p:set>
                                  </p:childTnLst>
                                </p:cTn>
                              </p:par>
                              <p:par>
                                <p:cTn id="159" presetID="7" presetClass="emph" presetSubtype="2" fill="hold" nodeType="withEffect">
                                  <p:stCondLst>
                                    <p:cond delay="0"/>
                                  </p:stCondLst>
                                  <p:childTnLst>
                                    <p:animClr clrSpc="rgb" dir="cw">
                                      <p:cBhvr>
                                        <p:cTn id="160" dur="500" fill="hold"/>
                                        <p:tgtEl>
                                          <p:spTgt spid="13"/>
                                        </p:tgtEl>
                                        <p:attrNameLst>
                                          <p:attrName>stroke.color</p:attrName>
                                        </p:attrNameLst>
                                      </p:cBhvr>
                                      <p:to>
                                        <a:srgbClr val="F3F3F3"/>
                                      </p:to>
                                    </p:animClr>
                                    <p:set>
                                      <p:cBhvr>
                                        <p:cTn id="161" dur="500" fill="hold"/>
                                        <p:tgtEl>
                                          <p:spTgt spid="13"/>
                                        </p:tgtEl>
                                        <p:attrNameLst>
                                          <p:attrName>stroke.on</p:attrName>
                                        </p:attrNameLst>
                                      </p:cBhvr>
                                      <p:to>
                                        <p:strVal val="true"/>
                                      </p:to>
                                    </p:set>
                                  </p:childTnLst>
                                </p:cTn>
                              </p:par>
                            </p:childTnLst>
                          </p:cTn>
                        </p:par>
                        <p:par>
                          <p:cTn id="162" fill="hold">
                            <p:stCondLst>
                              <p:cond delay="6250"/>
                            </p:stCondLst>
                            <p:childTnLst>
                              <p:par>
                                <p:cTn id="163" presetID="42" presetClass="path" presetSubtype="0" accel="50000" decel="50000" fill="hold" grpId="10" nodeType="afterEffect">
                                  <p:stCondLst>
                                    <p:cond delay="0"/>
                                  </p:stCondLst>
                                  <p:childTnLst>
                                    <p:animMotion origin="layout" path="M 0.00261 0.6213 L 0.00196 0.75278 " pathEditMode="relative" rAng="0" ptsTypes="AA">
                                      <p:cBhvr>
                                        <p:cTn id="164" dur="250" fill="hold"/>
                                        <p:tgtEl>
                                          <p:spTgt spid="209"/>
                                        </p:tgtEl>
                                        <p:attrNameLst>
                                          <p:attrName>ppt_x</p:attrName>
                                          <p:attrName>ppt_y</p:attrName>
                                        </p:attrNameLst>
                                      </p:cBhvr>
                                      <p:rCtr x="-39" y="6574"/>
                                    </p:animMotion>
                                  </p:childTnLst>
                                </p:cTn>
                              </p:par>
                            </p:childTnLst>
                          </p:cTn>
                        </p:par>
                        <p:par>
                          <p:cTn id="165" fill="hold">
                            <p:stCondLst>
                              <p:cond delay="6500"/>
                            </p:stCondLst>
                            <p:childTnLst>
                              <p:par>
                                <p:cTn id="166" presetID="7" presetClass="emph" presetSubtype="2" fill="hold" nodeType="afterEffect">
                                  <p:stCondLst>
                                    <p:cond delay="0"/>
                                  </p:stCondLst>
                                  <p:childTnLst>
                                    <p:animClr clrSpc="rgb" dir="cw">
                                      <p:cBhvr>
                                        <p:cTn id="167" dur="500" fill="hold"/>
                                        <p:tgtEl>
                                          <p:spTgt spid="68"/>
                                        </p:tgtEl>
                                        <p:attrNameLst>
                                          <p:attrName>stroke.color</p:attrName>
                                        </p:attrNameLst>
                                      </p:cBhvr>
                                      <p:to>
                                        <a:srgbClr val="F7F7F7"/>
                                      </p:to>
                                    </p:animClr>
                                    <p:set>
                                      <p:cBhvr>
                                        <p:cTn id="168" dur="500" fill="hold"/>
                                        <p:tgtEl>
                                          <p:spTgt spid="68"/>
                                        </p:tgtEl>
                                        <p:attrNameLst>
                                          <p:attrName>stroke.on</p:attrName>
                                        </p:attrNameLst>
                                      </p:cBhvr>
                                      <p:to>
                                        <p:strVal val="true"/>
                                      </p:to>
                                    </p:set>
                                  </p:childTnLst>
                                </p:cTn>
                              </p:par>
                              <p:par>
                                <p:cTn id="169" presetID="7" presetClass="emph" presetSubtype="2" fill="hold" nodeType="withEffect">
                                  <p:stCondLst>
                                    <p:cond delay="0"/>
                                  </p:stCondLst>
                                  <p:childTnLst>
                                    <p:animClr clrSpc="rgb" dir="cw">
                                      <p:cBhvr>
                                        <p:cTn id="170" dur="500" fill="hold"/>
                                        <p:tgtEl>
                                          <p:spTgt spid="69"/>
                                        </p:tgtEl>
                                        <p:attrNameLst>
                                          <p:attrName>stroke.color</p:attrName>
                                        </p:attrNameLst>
                                      </p:cBhvr>
                                      <p:to>
                                        <a:srgbClr val="F7F7F7"/>
                                      </p:to>
                                    </p:animClr>
                                    <p:set>
                                      <p:cBhvr>
                                        <p:cTn id="171" dur="500" fill="hold"/>
                                        <p:tgtEl>
                                          <p:spTgt spid="69"/>
                                        </p:tgtEl>
                                        <p:attrNameLst>
                                          <p:attrName>stroke.on</p:attrName>
                                        </p:attrNameLst>
                                      </p:cBhvr>
                                      <p:to>
                                        <p:strVal val="true"/>
                                      </p:to>
                                    </p:set>
                                  </p:childTnLst>
                                </p:cTn>
                              </p:par>
                            </p:childTnLst>
                          </p:cTn>
                        </p:par>
                        <p:par>
                          <p:cTn id="172" fill="hold">
                            <p:stCondLst>
                              <p:cond delay="7000"/>
                            </p:stCondLst>
                            <p:childTnLst>
                              <p:par>
                                <p:cTn id="173" presetID="42" presetClass="path" presetSubtype="0" accel="50000" decel="50000" fill="hold" grpId="11" nodeType="afterEffect">
                                  <p:stCondLst>
                                    <p:cond delay="0"/>
                                  </p:stCondLst>
                                  <p:childTnLst>
                                    <p:animMotion origin="layout" path="M 0.00196 0.75278 L 0.00118 0.78426 " pathEditMode="relative" rAng="0" ptsTypes="AA">
                                      <p:cBhvr>
                                        <p:cTn id="174" dur="250" fill="hold"/>
                                        <p:tgtEl>
                                          <p:spTgt spid="209"/>
                                        </p:tgtEl>
                                        <p:attrNameLst>
                                          <p:attrName>ppt_x</p:attrName>
                                          <p:attrName>ppt_y</p:attrName>
                                        </p:attrNameLst>
                                      </p:cBhvr>
                                      <p:rCtr x="-39" y="1574"/>
                                    </p:animMotion>
                                  </p:childTnLst>
                                </p:cTn>
                              </p:par>
                            </p:childTnLst>
                          </p:cTn>
                        </p:par>
                        <p:par>
                          <p:cTn id="175" fill="hold">
                            <p:stCondLst>
                              <p:cond delay="7250"/>
                            </p:stCondLst>
                            <p:childTnLst>
                              <p:par>
                                <p:cTn id="176" presetID="42" presetClass="path" presetSubtype="0" accel="50000" decel="50000" fill="hold" grpId="12" nodeType="afterEffect">
                                  <p:stCondLst>
                                    <p:cond delay="0"/>
                                  </p:stCondLst>
                                  <p:childTnLst>
                                    <p:animMotion origin="layout" path="M 0.00118 0.78426 L 0.00196 0.81482 " pathEditMode="relative" rAng="0" ptsTypes="AA">
                                      <p:cBhvr>
                                        <p:cTn id="177" dur="250" fill="hold"/>
                                        <p:tgtEl>
                                          <p:spTgt spid="209"/>
                                        </p:tgtEl>
                                        <p:attrNameLst>
                                          <p:attrName>ppt_x</p:attrName>
                                          <p:attrName>ppt_y</p:attrName>
                                        </p:attrNameLst>
                                      </p:cBhvr>
                                      <p:rCtr x="39" y="1528"/>
                                    </p:animMotion>
                                  </p:childTnLst>
                                </p:cTn>
                              </p:par>
                            </p:childTnLst>
                          </p:cTn>
                        </p:par>
                        <p:par>
                          <p:cTn id="178" fill="hold">
                            <p:stCondLst>
                              <p:cond delay="7500"/>
                            </p:stCondLst>
                            <p:childTnLst>
                              <p:par>
                                <p:cTn id="179" presetID="1" presetClass="exit" presetSubtype="0" fill="hold" grpId="13" nodeType="afterEffect">
                                  <p:stCondLst>
                                    <p:cond delay="0"/>
                                  </p:stCondLst>
                                  <p:childTnLst>
                                    <p:set>
                                      <p:cBhvr>
                                        <p:cTn id="180" dur="1" fill="hold">
                                          <p:stCondLst>
                                            <p:cond delay="0"/>
                                          </p:stCondLst>
                                        </p:cTn>
                                        <p:tgtEl>
                                          <p:spTgt spid="209"/>
                                        </p:tgtEl>
                                        <p:attrNameLst>
                                          <p:attrName>style.visibility</p:attrName>
                                        </p:attrNameLst>
                                      </p:cBhvr>
                                      <p:to>
                                        <p:strVal val="hidden"/>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nodeType="clickEffect">
                                  <p:stCondLst>
                                    <p:cond delay="0"/>
                                  </p:stCondLst>
                                  <p:childTnLst>
                                    <p:set>
                                      <p:cBhvr>
                                        <p:cTn id="18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85" fill="hold">
                      <p:stCondLst>
                        <p:cond delay="indefinite"/>
                      </p:stCondLst>
                      <p:childTnLst>
                        <p:par>
                          <p:cTn id="186" fill="hold">
                            <p:stCondLst>
                              <p:cond delay="0"/>
                            </p:stCondLst>
                            <p:childTnLst>
                              <p:par>
                                <p:cTn id="187" presetID="1" presetClass="entr" presetSubtype="0" fill="hold" grpId="0" nodeType="clickEffect">
                                  <p:stCondLst>
                                    <p:cond delay="0"/>
                                  </p:stCondLst>
                                  <p:childTnLst>
                                    <p:set>
                                      <p:cBhvr>
                                        <p:cTn id="188" dur="1" fill="hold">
                                          <p:stCondLst>
                                            <p:cond delay="0"/>
                                          </p:stCondLst>
                                        </p:cTn>
                                        <p:tgtEl>
                                          <p:spTgt spid="233"/>
                                        </p:tgtEl>
                                        <p:attrNameLst>
                                          <p:attrName>style.visibility</p:attrName>
                                        </p:attrNameLst>
                                      </p:cBhvr>
                                      <p:to>
                                        <p:strVal val="visible"/>
                                      </p:to>
                                    </p:set>
                                  </p:childTnLst>
                                </p:cTn>
                              </p:par>
                            </p:childTnLst>
                          </p:cTn>
                        </p:par>
                        <p:par>
                          <p:cTn id="189" fill="hold">
                            <p:stCondLst>
                              <p:cond delay="0"/>
                            </p:stCondLst>
                            <p:childTnLst>
                              <p:par>
                                <p:cTn id="190" presetID="42" presetClass="path" presetSubtype="0" accel="50000" decel="50000" fill="hold" grpId="1" nodeType="afterEffect">
                                  <p:stCondLst>
                                    <p:cond delay="0"/>
                                  </p:stCondLst>
                                  <p:childTnLst>
                                    <p:animMotion origin="layout" path="M -3.125E-6 -4.44444E-6 L -0.00013 0.06505 " pathEditMode="relative" rAng="0" ptsTypes="AA">
                                      <p:cBhvr>
                                        <p:cTn id="191" dur="250" fill="hold"/>
                                        <p:tgtEl>
                                          <p:spTgt spid="233"/>
                                        </p:tgtEl>
                                        <p:attrNameLst>
                                          <p:attrName>ppt_x</p:attrName>
                                          <p:attrName>ppt_y</p:attrName>
                                        </p:attrNameLst>
                                      </p:cBhvr>
                                      <p:rCtr x="-13" y="3241"/>
                                    </p:animMotion>
                                  </p:childTnLst>
                                </p:cTn>
                              </p:par>
                            </p:childTnLst>
                          </p:cTn>
                        </p:par>
                        <p:par>
                          <p:cTn id="192" fill="hold">
                            <p:stCondLst>
                              <p:cond delay="250"/>
                            </p:stCondLst>
                            <p:childTnLst>
                              <p:par>
                                <p:cTn id="193" presetID="42" presetClass="path" presetSubtype="0" accel="50000" decel="50000" fill="hold" grpId="2" nodeType="afterEffect">
                                  <p:stCondLst>
                                    <p:cond delay="0"/>
                                  </p:stCondLst>
                                  <p:childTnLst>
                                    <p:animMotion origin="layout" path="M -0.00013 0.06505 L -0.00013 0.09723 " pathEditMode="relative" rAng="0" ptsTypes="AA">
                                      <p:cBhvr>
                                        <p:cTn id="194" dur="250" fill="hold"/>
                                        <p:tgtEl>
                                          <p:spTgt spid="233"/>
                                        </p:tgtEl>
                                        <p:attrNameLst>
                                          <p:attrName>ppt_x</p:attrName>
                                          <p:attrName>ppt_y</p:attrName>
                                        </p:attrNameLst>
                                      </p:cBhvr>
                                      <p:rCtr x="0" y="1597"/>
                                    </p:animMotion>
                                  </p:childTnLst>
                                </p:cTn>
                              </p:par>
                            </p:childTnLst>
                          </p:cTn>
                        </p:par>
                        <p:par>
                          <p:cTn id="195" fill="hold">
                            <p:stCondLst>
                              <p:cond delay="500"/>
                            </p:stCondLst>
                            <p:childTnLst>
                              <p:par>
                                <p:cTn id="196" presetID="22" presetClass="exit" presetSubtype="2" fill="hold" nodeType="afterEffect">
                                  <p:stCondLst>
                                    <p:cond delay="0"/>
                                  </p:stCondLst>
                                  <p:childTnLst>
                                    <p:animEffect transition="out" filter="wipe(right)">
                                      <p:cBhvr>
                                        <p:cTn id="197" dur="500"/>
                                        <p:tgtEl>
                                          <p:spTgt spid="45"/>
                                        </p:tgtEl>
                                      </p:cBhvr>
                                    </p:animEffect>
                                    <p:set>
                                      <p:cBhvr>
                                        <p:cTn id="198" dur="1" fill="hold">
                                          <p:stCondLst>
                                            <p:cond delay="499"/>
                                          </p:stCondLst>
                                        </p:cTn>
                                        <p:tgtEl>
                                          <p:spTgt spid="45"/>
                                        </p:tgtEl>
                                        <p:attrNameLst>
                                          <p:attrName>style.visibility</p:attrName>
                                        </p:attrNameLst>
                                      </p:cBhvr>
                                      <p:to>
                                        <p:strVal val="hidden"/>
                                      </p:to>
                                    </p:set>
                                  </p:childTnLst>
                                </p:cTn>
                              </p:par>
                              <p:par>
                                <p:cTn id="199" presetID="22" presetClass="exit" presetSubtype="1" fill="hold" nodeType="withEffect">
                                  <p:stCondLst>
                                    <p:cond delay="0"/>
                                  </p:stCondLst>
                                  <p:childTnLst>
                                    <p:animEffect transition="out" filter="wipe(up)">
                                      <p:cBhvr>
                                        <p:cTn id="200" dur="500"/>
                                        <p:tgtEl>
                                          <p:spTgt spid="232"/>
                                        </p:tgtEl>
                                      </p:cBhvr>
                                    </p:animEffect>
                                    <p:set>
                                      <p:cBhvr>
                                        <p:cTn id="201" dur="1" fill="hold">
                                          <p:stCondLst>
                                            <p:cond delay="499"/>
                                          </p:stCondLst>
                                        </p:cTn>
                                        <p:tgtEl>
                                          <p:spTgt spid="232"/>
                                        </p:tgtEl>
                                        <p:attrNameLst>
                                          <p:attrName>style.visibility</p:attrName>
                                        </p:attrNameLst>
                                      </p:cBhvr>
                                      <p:to>
                                        <p:strVal val="hidden"/>
                                      </p:to>
                                    </p:set>
                                  </p:childTnLst>
                                </p:cTn>
                              </p:par>
                            </p:childTnLst>
                          </p:cTn>
                        </p:par>
                        <p:par>
                          <p:cTn id="202" fill="hold">
                            <p:stCondLst>
                              <p:cond delay="1000"/>
                            </p:stCondLst>
                            <p:childTnLst>
                              <p:par>
                                <p:cTn id="203" presetID="42" presetClass="path" presetSubtype="0" accel="50000" decel="50000" fill="hold" grpId="3" nodeType="afterEffect">
                                  <p:stCondLst>
                                    <p:cond delay="0"/>
                                  </p:stCondLst>
                                  <p:childTnLst>
                                    <p:animMotion origin="layout" path="M -0.00013 0.09723 L -0.00013 0.16343 " pathEditMode="relative" rAng="0" ptsTypes="AA">
                                      <p:cBhvr>
                                        <p:cTn id="204" dur="250" fill="hold"/>
                                        <p:tgtEl>
                                          <p:spTgt spid="233"/>
                                        </p:tgtEl>
                                        <p:attrNameLst>
                                          <p:attrName>ppt_x</p:attrName>
                                          <p:attrName>ppt_y</p:attrName>
                                        </p:attrNameLst>
                                      </p:cBhvr>
                                      <p:rCtr x="0" y="3310"/>
                                    </p:animMotion>
                                  </p:childTnLst>
                                </p:cTn>
                              </p:par>
                            </p:childTnLst>
                          </p:cTn>
                        </p:par>
                        <p:par>
                          <p:cTn id="205" fill="hold">
                            <p:stCondLst>
                              <p:cond delay="1250"/>
                            </p:stCondLst>
                            <p:childTnLst>
                              <p:par>
                                <p:cTn id="206" presetID="22" presetClass="exit" presetSubtype="2" fill="hold" nodeType="afterEffect">
                                  <p:stCondLst>
                                    <p:cond delay="0"/>
                                  </p:stCondLst>
                                  <p:childTnLst>
                                    <p:animEffect transition="out" filter="wipe(right)">
                                      <p:cBhvr>
                                        <p:cTn id="207" dur="500"/>
                                        <p:tgtEl>
                                          <p:spTgt spid="43"/>
                                        </p:tgtEl>
                                      </p:cBhvr>
                                    </p:animEffect>
                                    <p:set>
                                      <p:cBhvr>
                                        <p:cTn id="208" dur="1" fill="hold">
                                          <p:stCondLst>
                                            <p:cond delay="499"/>
                                          </p:stCondLst>
                                        </p:cTn>
                                        <p:tgtEl>
                                          <p:spTgt spid="43"/>
                                        </p:tgtEl>
                                        <p:attrNameLst>
                                          <p:attrName>style.visibility</p:attrName>
                                        </p:attrNameLst>
                                      </p:cBhvr>
                                      <p:to>
                                        <p:strVal val="hidden"/>
                                      </p:to>
                                    </p:set>
                                  </p:childTnLst>
                                </p:cTn>
                              </p:par>
                              <p:par>
                                <p:cTn id="209" presetID="22" presetClass="exit" presetSubtype="1" fill="hold" nodeType="withEffect">
                                  <p:stCondLst>
                                    <p:cond delay="0"/>
                                  </p:stCondLst>
                                  <p:childTnLst>
                                    <p:animEffect transition="out" filter="wipe(up)">
                                      <p:cBhvr>
                                        <p:cTn id="210" dur="500"/>
                                        <p:tgtEl>
                                          <p:spTgt spid="19"/>
                                        </p:tgtEl>
                                      </p:cBhvr>
                                    </p:animEffect>
                                    <p:set>
                                      <p:cBhvr>
                                        <p:cTn id="211" dur="1" fill="hold">
                                          <p:stCondLst>
                                            <p:cond delay="499"/>
                                          </p:stCondLst>
                                        </p:cTn>
                                        <p:tgtEl>
                                          <p:spTgt spid="19"/>
                                        </p:tgtEl>
                                        <p:attrNameLst>
                                          <p:attrName>style.visibility</p:attrName>
                                        </p:attrNameLst>
                                      </p:cBhvr>
                                      <p:to>
                                        <p:strVal val="hidden"/>
                                      </p:to>
                                    </p:set>
                                  </p:childTnLst>
                                </p:cTn>
                              </p:par>
                            </p:childTnLst>
                          </p:cTn>
                        </p:par>
                        <p:par>
                          <p:cTn id="212" fill="hold">
                            <p:stCondLst>
                              <p:cond delay="1750"/>
                            </p:stCondLst>
                            <p:childTnLst>
                              <p:par>
                                <p:cTn id="213" presetID="42" presetClass="path" presetSubtype="0" accel="50000" decel="50000" fill="hold" grpId="4" nodeType="afterEffect">
                                  <p:stCondLst>
                                    <p:cond delay="0"/>
                                  </p:stCondLst>
                                  <p:childTnLst>
                                    <p:animMotion origin="layout" path="M -0.00013 0.16343 L -0.00013 0.19468 " pathEditMode="relative" rAng="0" ptsTypes="AA">
                                      <p:cBhvr>
                                        <p:cTn id="214" dur="250" fill="hold"/>
                                        <p:tgtEl>
                                          <p:spTgt spid="233"/>
                                        </p:tgtEl>
                                        <p:attrNameLst>
                                          <p:attrName>ppt_x</p:attrName>
                                          <p:attrName>ppt_y</p:attrName>
                                        </p:attrNameLst>
                                      </p:cBhvr>
                                      <p:rCtr x="0" y="1551"/>
                                    </p:animMotion>
                                  </p:childTnLst>
                                </p:cTn>
                              </p:par>
                            </p:childTnLst>
                          </p:cTn>
                        </p:par>
                        <p:par>
                          <p:cTn id="215" fill="hold">
                            <p:stCondLst>
                              <p:cond delay="2000"/>
                            </p:stCondLst>
                            <p:childTnLst>
                              <p:par>
                                <p:cTn id="216" presetID="22" presetClass="exit" presetSubtype="1" fill="hold" nodeType="afterEffect">
                                  <p:stCondLst>
                                    <p:cond delay="0"/>
                                  </p:stCondLst>
                                  <p:childTnLst>
                                    <p:animEffect transition="out" filter="wipe(up)">
                                      <p:cBhvr>
                                        <p:cTn id="217" dur="500"/>
                                        <p:tgtEl>
                                          <p:spTgt spid="230"/>
                                        </p:tgtEl>
                                      </p:cBhvr>
                                    </p:animEffect>
                                    <p:set>
                                      <p:cBhvr>
                                        <p:cTn id="218" dur="1" fill="hold">
                                          <p:stCondLst>
                                            <p:cond delay="499"/>
                                          </p:stCondLst>
                                        </p:cTn>
                                        <p:tgtEl>
                                          <p:spTgt spid="230"/>
                                        </p:tgtEl>
                                        <p:attrNameLst>
                                          <p:attrName>style.visibility</p:attrName>
                                        </p:attrNameLst>
                                      </p:cBhvr>
                                      <p:to>
                                        <p:strVal val="hidden"/>
                                      </p:to>
                                    </p:set>
                                  </p:childTnLst>
                                </p:cTn>
                              </p:par>
                            </p:childTnLst>
                          </p:cTn>
                        </p:par>
                        <p:par>
                          <p:cTn id="219" fill="hold">
                            <p:stCondLst>
                              <p:cond delay="2500"/>
                            </p:stCondLst>
                            <p:childTnLst>
                              <p:par>
                                <p:cTn id="220" presetID="42" presetClass="path" presetSubtype="0" accel="50000" decel="50000" fill="hold" grpId="5" nodeType="afterEffect">
                                  <p:stCondLst>
                                    <p:cond delay="0"/>
                                  </p:stCondLst>
                                  <p:childTnLst>
                                    <p:animMotion origin="layout" path="M -0.00013 0.19468 L -0.00013 0.22825 " pathEditMode="relative" rAng="0" ptsTypes="AA">
                                      <p:cBhvr>
                                        <p:cTn id="221" dur="250" fill="hold"/>
                                        <p:tgtEl>
                                          <p:spTgt spid="233"/>
                                        </p:tgtEl>
                                        <p:attrNameLst>
                                          <p:attrName>ppt_x</p:attrName>
                                          <p:attrName>ppt_y</p:attrName>
                                        </p:attrNameLst>
                                      </p:cBhvr>
                                      <p:rCtr x="0" y="1667"/>
                                    </p:animMotion>
                                  </p:childTnLst>
                                </p:cTn>
                              </p:par>
                            </p:childTnLst>
                          </p:cTn>
                        </p:par>
                        <p:par>
                          <p:cTn id="222" fill="hold">
                            <p:stCondLst>
                              <p:cond delay="2750"/>
                            </p:stCondLst>
                            <p:childTnLst>
                              <p:par>
                                <p:cTn id="223" presetID="22" presetClass="exit" presetSubtype="1" fill="hold" nodeType="afterEffect">
                                  <p:stCondLst>
                                    <p:cond delay="0"/>
                                  </p:stCondLst>
                                  <p:childTnLst>
                                    <p:animEffect transition="out" filter="wipe(up)">
                                      <p:cBhvr>
                                        <p:cTn id="224" dur="500"/>
                                        <p:tgtEl>
                                          <p:spTgt spid="234"/>
                                        </p:tgtEl>
                                      </p:cBhvr>
                                    </p:animEffect>
                                    <p:set>
                                      <p:cBhvr>
                                        <p:cTn id="225" dur="1" fill="hold">
                                          <p:stCondLst>
                                            <p:cond delay="499"/>
                                          </p:stCondLst>
                                        </p:cTn>
                                        <p:tgtEl>
                                          <p:spTgt spid="234"/>
                                        </p:tgtEl>
                                        <p:attrNameLst>
                                          <p:attrName>style.visibility</p:attrName>
                                        </p:attrNameLst>
                                      </p:cBhvr>
                                      <p:to>
                                        <p:strVal val="hidden"/>
                                      </p:to>
                                    </p:set>
                                  </p:childTnLst>
                                </p:cTn>
                              </p:par>
                              <p:par>
                                <p:cTn id="226" presetID="22" presetClass="exit" presetSubtype="4" fill="hold" nodeType="withEffect">
                                  <p:stCondLst>
                                    <p:cond delay="0"/>
                                  </p:stCondLst>
                                  <p:childTnLst>
                                    <p:animEffect transition="out" filter="wipe(down)">
                                      <p:cBhvr>
                                        <p:cTn id="227" dur="500"/>
                                        <p:tgtEl>
                                          <p:spTgt spid="39"/>
                                        </p:tgtEl>
                                      </p:cBhvr>
                                    </p:animEffect>
                                    <p:set>
                                      <p:cBhvr>
                                        <p:cTn id="228" dur="1" fill="hold">
                                          <p:stCondLst>
                                            <p:cond delay="499"/>
                                          </p:stCondLst>
                                        </p:cTn>
                                        <p:tgtEl>
                                          <p:spTgt spid="39"/>
                                        </p:tgtEl>
                                        <p:attrNameLst>
                                          <p:attrName>style.visibility</p:attrName>
                                        </p:attrNameLst>
                                      </p:cBhvr>
                                      <p:to>
                                        <p:strVal val="hidden"/>
                                      </p:to>
                                    </p:set>
                                  </p:childTnLst>
                                </p:cTn>
                              </p:par>
                            </p:childTnLst>
                          </p:cTn>
                        </p:par>
                        <p:par>
                          <p:cTn id="229" fill="hold">
                            <p:stCondLst>
                              <p:cond delay="3250"/>
                            </p:stCondLst>
                            <p:childTnLst>
                              <p:par>
                                <p:cTn id="230" presetID="42" presetClass="path" presetSubtype="0" accel="50000" decel="50000" fill="hold" grpId="6" nodeType="afterEffect">
                                  <p:stCondLst>
                                    <p:cond delay="0"/>
                                  </p:stCondLst>
                                  <p:childTnLst>
                                    <p:animMotion origin="layout" path="M -0.00013 0.22825 L -0.00013 0.26181 " pathEditMode="relative" rAng="0" ptsTypes="AA">
                                      <p:cBhvr>
                                        <p:cTn id="231" dur="250" fill="hold"/>
                                        <p:tgtEl>
                                          <p:spTgt spid="233"/>
                                        </p:tgtEl>
                                        <p:attrNameLst>
                                          <p:attrName>ppt_x</p:attrName>
                                          <p:attrName>ppt_y</p:attrName>
                                        </p:attrNameLst>
                                      </p:cBhvr>
                                      <p:rCtr x="0" y="1667"/>
                                    </p:animMotion>
                                  </p:childTnLst>
                                </p:cTn>
                              </p:par>
                            </p:childTnLst>
                          </p:cTn>
                        </p:par>
                        <p:par>
                          <p:cTn id="232" fill="hold">
                            <p:stCondLst>
                              <p:cond delay="3500"/>
                            </p:stCondLst>
                            <p:childTnLst>
                              <p:par>
                                <p:cTn id="233" presetID="22" presetClass="exit" presetSubtype="1" fill="hold" nodeType="afterEffect">
                                  <p:stCondLst>
                                    <p:cond delay="0"/>
                                  </p:stCondLst>
                                  <p:childTnLst>
                                    <p:animEffect transition="out" filter="wipe(up)">
                                      <p:cBhvr>
                                        <p:cTn id="234" dur="500"/>
                                        <p:tgtEl>
                                          <p:spTgt spid="236"/>
                                        </p:tgtEl>
                                      </p:cBhvr>
                                    </p:animEffect>
                                    <p:set>
                                      <p:cBhvr>
                                        <p:cTn id="235" dur="1" fill="hold">
                                          <p:stCondLst>
                                            <p:cond delay="499"/>
                                          </p:stCondLst>
                                        </p:cTn>
                                        <p:tgtEl>
                                          <p:spTgt spid="236"/>
                                        </p:tgtEl>
                                        <p:attrNameLst>
                                          <p:attrName>style.visibility</p:attrName>
                                        </p:attrNameLst>
                                      </p:cBhvr>
                                      <p:to>
                                        <p:strVal val="hidden"/>
                                      </p:to>
                                    </p:set>
                                  </p:childTnLst>
                                </p:cTn>
                              </p:par>
                            </p:childTnLst>
                          </p:cTn>
                        </p:par>
                        <p:par>
                          <p:cTn id="236" fill="hold">
                            <p:stCondLst>
                              <p:cond delay="4000"/>
                            </p:stCondLst>
                            <p:childTnLst>
                              <p:par>
                                <p:cTn id="237" presetID="42" presetClass="path" presetSubtype="0" accel="50000" decel="50000" fill="hold" grpId="7" nodeType="afterEffect">
                                  <p:stCondLst>
                                    <p:cond delay="0"/>
                                  </p:stCondLst>
                                  <p:childTnLst>
                                    <p:animMotion origin="layout" path="M -0.00013 0.26181 L 0.00013 0.29399 " pathEditMode="relative" rAng="0" ptsTypes="AA">
                                      <p:cBhvr>
                                        <p:cTn id="238" dur="250" fill="hold"/>
                                        <p:tgtEl>
                                          <p:spTgt spid="233"/>
                                        </p:tgtEl>
                                        <p:attrNameLst>
                                          <p:attrName>ppt_x</p:attrName>
                                          <p:attrName>ppt_y</p:attrName>
                                        </p:attrNameLst>
                                      </p:cBhvr>
                                      <p:rCtr x="13" y="1597"/>
                                    </p:animMotion>
                                  </p:childTnLst>
                                </p:cTn>
                              </p:par>
                            </p:childTnLst>
                          </p:cTn>
                        </p:par>
                        <p:par>
                          <p:cTn id="239" fill="hold">
                            <p:stCondLst>
                              <p:cond delay="4250"/>
                            </p:stCondLst>
                            <p:childTnLst>
                              <p:par>
                                <p:cTn id="240" presetID="22" presetClass="exit" presetSubtype="2" fill="hold" nodeType="afterEffect">
                                  <p:stCondLst>
                                    <p:cond delay="0"/>
                                  </p:stCondLst>
                                  <p:childTnLst>
                                    <p:animEffect transition="out" filter="wipe(right)">
                                      <p:cBhvr>
                                        <p:cTn id="241" dur="500"/>
                                        <p:tgtEl>
                                          <p:spTgt spid="238"/>
                                        </p:tgtEl>
                                      </p:cBhvr>
                                    </p:animEffect>
                                    <p:set>
                                      <p:cBhvr>
                                        <p:cTn id="242" dur="1" fill="hold">
                                          <p:stCondLst>
                                            <p:cond delay="499"/>
                                          </p:stCondLst>
                                        </p:cTn>
                                        <p:tgtEl>
                                          <p:spTgt spid="238"/>
                                        </p:tgtEl>
                                        <p:attrNameLst>
                                          <p:attrName>style.visibility</p:attrName>
                                        </p:attrNameLst>
                                      </p:cBhvr>
                                      <p:to>
                                        <p:strVal val="hidden"/>
                                      </p:to>
                                    </p:set>
                                  </p:childTnLst>
                                </p:cTn>
                              </p:par>
                            </p:childTnLst>
                          </p:cTn>
                        </p:par>
                        <p:par>
                          <p:cTn id="243" fill="hold">
                            <p:stCondLst>
                              <p:cond delay="4750"/>
                            </p:stCondLst>
                            <p:childTnLst>
                              <p:par>
                                <p:cTn id="244" presetID="42" presetClass="path" presetSubtype="0" accel="50000" decel="50000" fill="hold" grpId="8" nodeType="afterEffect">
                                  <p:stCondLst>
                                    <p:cond delay="0"/>
                                  </p:stCondLst>
                                  <p:childTnLst>
                                    <p:animMotion origin="layout" path="M 0.00013 0.29399 L 0.00104 0.32639 " pathEditMode="relative" rAng="0" ptsTypes="AA">
                                      <p:cBhvr>
                                        <p:cTn id="245" dur="250" fill="hold"/>
                                        <p:tgtEl>
                                          <p:spTgt spid="233"/>
                                        </p:tgtEl>
                                        <p:attrNameLst>
                                          <p:attrName>ppt_x</p:attrName>
                                          <p:attrName>ppt_y</p:attrName>
                                        </p:attrNameLst>
                                      </p:cBhvr>
                                      <p:rCtr x="39" y="1620"/>
                                    </p:animMotion>
                                  </p:childTnLst>
                                </p:cTn>
                              </p:par>
                            </p:childTnLst>
                          </p:cTn>
                        </p:par>
                        <p:par>
                          <p:cTn id="246" fill="hold">
                            <p:stCondLst>
                              <p:cond delay="5000"/>
                            </p:stCondLst>
                            <p:childTnLst>
                              <p:par>
                                <p:cTn id="247" presetID="42" presetClass="path" presetSubtype="0" accel="50000" decel="50000" fill="hold" grpId="9" nodeType="afterEffect">
                                  <p:stCondLst>
                                    <p:cond delay="0"/>
                                  </p:stCondLst>
                                  <p:childTnLst>
                                    <p:animMotion origin="layout" path="M 0.00104 0.32639 L 0.00104 0.35764 " pathEditMode="relative" rAng="0" ptsTypes="AA">
                                      <p:cBhvr>
                                        <p:cTn id="248" dur="250" fill="hold"/>
                                        <p:tgtEl>
                                          <p:spTgt spid="233"/>
                                        </p:tgtEl>
                                        <p:attrNameLst>
                                          <p:attrName>ppt_x</p:attrName>
                                          <p:attrName>ppt_y</p:attrName>
                                        </p:attrNameLst>
                                      </p:cBhvr>
                                      <p:rCtr x="0" y="1551"/>
                                    </p:animMotion>
                                  </p:childTnLst>
                                </p:cTn>
                              </p:par>
                            </p:childTnLst>
                          </p:cTn>
                        </p:par>
                        <p:par>
                          <p:cTn id="249" fill="hold">
                            <p:stCondLst>
                              <p:cond delay="5250"/>
                            </p:stCondLst>
                            <p:childTnLst>
                              <p:par>
                                <p:cTn id="250" presetID="22" presetClass="exit" presetSubtype="4" fill="hold" nodeType="afterEffect">
                                  <p:stCondLst>
                                    <p:cond delay="0"/>
                                  </p:stCondLst>
                                  <p:childTnLst>
                                    <p:animEffect transition="out" filter="wipe(down)">
                                      <p:cBhvr>
                                        <p:cTn id="251" dur="500"/>
                                        <p:tgtEl>
                                          <p:spTgt spid="46"/>
                                        </p:tgtEl>
                                      </p:cBhvr>
                                    </p:animEffect>
                                    <p:set>
                                      <p:cBhvr>
                                        <p:cTn id="252" dur="1" fill="hold">
                                          <p:stCondLst>
                                            <p:cond delay="499"/>
                                          </p:stCondLst>
                                        </p:cTn>
                                        <p:tgtEl>
                                          <p:spTgt spid="46"/>
                                        </p:tgtEl>
                                        <p:attrNameLst>
                                          <p:attrName>style.visibility</p:attrName>
                                        </p:attrNameLst>
                                      </p:cBhvr>
                                      <p:to>
                                        <p:strVal val="hidden"/>
                                      </p:to>
                                    </p:set>
                                  </p:childTnLst>
                                </p:cTn>
                              </p:par>
                              <p:par>
                                <p:cTn id="253" presetID="22" presetClass="exit" presetSubtype="1" fill="hold" nodeType="withEffect">
                                  <p:stCondLst>
                                    <p:cond delay="0"/>
                                  </p:stCondLst>
                                  <p:childTnLst>
                                    <p:animEffect transition="out" filter="wipe(up)">
                                      <p:cBhvr>
                                        <p:cTn id="254" dur="500"/>
                                        <p:tgtEl>
                                          <p:spTgt spid="240"/>
                                        </p:tgtEl>
                                      </p:cBhvr>
                                    </p:animEffect>
                                    <p:set>
                                      <p:cBhvr>
                                        <p:cTn id="255" dur="1" fill="hold">
                                          <p:stCondLst>
                                            <p:cond delay="499"/>
                                          </p:stCondLst>
                                        </p:cTn>
                                        <p:tgtEl>
                                          <p:spTgt spid="240"/>
                                        </p:tgtEl>
                                        <p:attrNameLst>
                                          <p:attrName>style.visibility</p:attrName>
                                        </p:attrNameLst>
                                      </p:cBhvr>
                                      <p:to>
                                        <p:strVal val="hidden"/>
                                      </p:to>
                                    </p:set>
                                  </p:childTnLst>
                                </p:cTn>
                              </p:par>
                            </p:childTnLst>
                          </p:cTn>
                        </p:par>
                        <p:par>
                          <p:cTn id="256" fill="hold">
                            <p:stCondLst>
                              <p:cond delay="5750"/>
                            </p:stCondLst>
                            <p:childTnLst>
                              <p:par>
                                <p:cTn id="257" presetID="42" presetClass="path" presetSubtype="0" accel="50000" decel="50000" fill="hold" grpId="10" nodeType="afterEffect">
                                  <p:stCondLst>
                                    <p:cond delay="0"/>
                                  </p:stCondLst>
                                  <p:childTnLst>
                                    <p:animMotion origin="layout" path="M 0.00104 0.35764 L 0.00104 0.38959 " pathEditMode="relative" rAng="0" ptsTypes="AA">
                                      <p:cBhvr>
                                        <p:cTn id="258" dur="250" fill="hold"/>
                                        <p:tgtEl>
                                          <p:spTgt spid="233"/>
                                        </p:tgtEl>
                                        <p:attrNameLst>
                                          <p:attrName>ppt_x</p:attrName>
                                          <p:attrName>ppt_y</p:attrName>
                                        </p:attrNameLst>
                                      </p:cBhvr>
                                      <p:rCtr x="0" y="1597"/>
                                    </p:animMotion>
                                  </p:childTnLst>
                                </p:cTn>
                              </p:par>
                            </p:childTnLst>
                          </p:cTn>
                        </p:par>
                        <p:par>
                          <p:cTn id="259" fill="hold">
                            <p:stCondLst>
                              <p:cond delay="6000"/>
                            </p:stCondLst>
                            <p:childTnLst>
                              <p:par>
                                <p:cTn id="260" presetID="22" presetClass="exit" presetSubtype="2" fill="hold" nodeType="afterEffect">
                                  <p:stCondLst>
                                    <p:cond delay="0"/>
                                  </p:stCondLst>
                                  <p:childTnLst>
                                    <p:animEffect transition="out" filter="wipe(right)">
                                      <p:cBhvr>
                                        <p:cTn id="261" dur="500"/>
                                        <p:tgtEl>
                                          <p:spTgt spid="50"/>
                                        </p:tgtEl>
                                      </p:cBhvr>
                                    </p:animEffect>
                                    <p:set>
                                      <p:cBhvr>
                                        <p:cTn id="262" dur="1" fill="hold">
                                          <p:stCondLst>
                                            <p:cond delay="499"/>
                                          </p:stCondLst>
                                        </p:cTn>
                                        <p:tgtEl>
                                          <p:spTgt spid="50"/>
                                        </p:tgtEl>
                                        <p:attrNameLst>
                                          <p:attrName>style.visibility</p:attrName>
                                        </p:attrNameLst>
                                      </p:cBhvr>
                                      <p:to>
                                        <p:strVal val="hidden"/>
                                      </p:to>
                                    </p:set>
                                  </p:childTnLst>
                                </p:cTn>
                              </p:par>
                            </p:childTnLst>
                          </p:cTn>
                        </p:par>
                        <p:par>
                          <p:cTn id="263" fill="hold">
                            <p:stCondLst>
                              <p:cond delay="6500"/>
                            </p:stCondLst>
                            <p:childTnLst>
                              <p:par>
                                <p:cTn id="264" presetID="42" presetClass="path" presetSubtype="0" accel="50000" decel="50000" fill="hold" grpId="11" nodeType="afterEffect">
                                  <p:stCondLst>
                                    <p:cond delay="0"/>
                                  </p:stCondLst>
                                  <p:childTnLst>
                                    <p:animMotion origin="layout" path="M 0.00104 0.38959 L 0.00196 0.425 " pathEditMode="relative" rAng="0" ptsTypes="AA">
                                      <p:cBhvr>
                                        <p:cTn id="265" dur="250" fill="hold"/>
                                        <p:tgtEl>
                                          <p:spTgt spid="233"/>
                                        </p:tgtEl>
                                        <p:attrNameLst>
                                          <p:attrName>ppt_x</p:attrName>
                                          <p:attrName>ppt_y</p:attrName>
                                        </p:attrNameLst>
                                      </p:cBhvr>
                                      <p:rCtr x="39" y="1759"/>
                                    </p:animMotion>
                                  </p:childTnLst>
                                </p:cTn>
                              </p:par>
                            </p:childTnLst>
                          </p:cTn>
                        </p:par>
                        <p:par>
                          <p:cTn id="266" fill="hold">
                            <p:stCondLst>
                              <p:cond delay="6750"/>
                            </p:stCondLst>
                            <p:childTnLst>
                              <p:par>
                                <p:cTn id="267" presetID="42" presetClass="path" presetSubtype="0" accel="50000" decel="50000" fill="hold" grpId="12" nodeType="afterEffect">
                                  <p:stCondLst>
                                    <p:cond delay="0"/>
                                  </p:stCondLst>
                                  <p:childTnLst>
                                    <p:animMotion origin="layout" path="M 0.00196 0.425 L 0.00157 0.45903 " pathEditMode="relative" rAng="0" ptsTypes="AA">
                                      <p:cBhvr>
                                        <p:cTn id="268" dur="250" fill="hold"/>
                                        <p:tgtEl>
                                          <p:spTgt spid="233"/>
                                        </p:tgtEl>
                                        <p:attrNameLst>
                                          <p:attrName>ppt_x</p:attrName>
                                          <p:attrName>ppt_y</p:attrName>
                                        </p:attrNameLst>
                                      </p:cBhvr>
                                      <p:rCtr x="-26" y="1690"/>
                                    </p:animMotion>
                                  </p:childTnLst>
                                </p:cTn>
                              </p:par>
                            </p:childTnLst>
                          </p:cTn>
                        </p:par>
                        <p:par>
                          <p:cTn id="269" fill="hold">
                            <p:stCondLst>
                              <p:cond delay="7000"/>
                            </p:stCondLst>
                            <p:childTnLst>
                              <p:par>
                                <p:cTn id="270" presetID="22" presetClass="exit" presetSubtype="4" fill="hold" nodeType="afterEffect">
                                  <p:stCondLst>
                                    <p:cond delay="0"/>
                                  </p:stCondLst>
                                  <p:childTnLst>
                                    <p:animEffect transition="out" filter="wipe(down)">
                                      <p:cBhvr>
                                        <p:cTn id="271" dur="500"/>
                                        <p:tgtEl>
                                          <p:spTgt spid="49"/>
                                        </p:tgtEl>
                                      </p:cBhvr>
                                    </p:animEffect>
                                    <p:set>
                                      <p:cBhvr>
                                        <p:cTn id="272" dur="1" fill="hold">
                                          <p:stCondLst>
                                            <p:cond delay="499"/>
                                          </p:stCondLst>
                                        </p:cTn>
                                        <p:tgtEl>
                                          <p:spTgt spid="49"/>
                                        </p:tgtEl>
                                        <p:attrNameLst>
                                          <p:attrName>style.visibility</p:attrName>
                                        </p:attrNameLst>
                                      </p:cBhvr>
                                      <p:to>
                                        <p:strVal val="hidden"/>
                                      </p:to>
                                    </p:set>
                                  </p:childTnLst>
                                </p:cTn>
                              </p:par>
                            </p:childTnLst>
                          </p:cTn>
                        </p:par>
                        <p:par>
                          <p:cTn id="273" fill="hold">
                            <p:stCondLst>
                              <p:cond delay="7500"/>
                            </p:stCondLst>
                            <p:childTnLst>
                              <p:par>
                                <p:cTn id="274" presetID="42" presetClass="path" presetSubtype="0" accel="50000" decel="50000" fill="hold" grpId="13" nodeType="afterEffect">
                                  <p:stCondLst>
                                    <p:cond delay="0"/>
                                  </p:stCondLst>
                                  <p:childTnLst>
                                    <p:animMotion origin="layout" path="M 0.00157 0.45903 L 0.00157 0.49167 " pathEditMode="relative" rAng="0" ptsTypes="AA">
                                      <p:cBhvr>
                                        <p:cTn id="275" dur="250" fill="hold"/>
                                        <p:tgtEl>
                                          <p:spTgt spid="233"/>
                                        </p:tgtEl>
                                        <p:attrNameLst>
                                          <p:attrName>ppt_x</p:attrName>
                                          <p:attrName>ppt_y</p:attrName>
                                        </p:attrNameLst>
                                      </p:cBhvr>
                                      <p:rCtr x="0" y="1620"/>
                                    </p:animMotion>
                                  </p:childTnLst>
                                </p:cTn>
                              </p:par>
                            </p:childTnLst>
                          </p:cTn>
                        </p:par>
                        <p:par>
                          <p:cTn id="276" fill="hold">
                            <p:stCondLst>
                              <p:cond delay="7750"/>
                            </p:stCondLst>
                            <p:childTnLst>
                              <p:par>
                                <p:cTn id="277" presetID="22" presetClass="exit" presetSubtype="4" fill="hold" nodeType="afterEffect">
                                  <p:stCondLst>
                                    <p:cond delay="0"/>
                                  </p:stCondLst>
                                  <p:childTnLst>
                                    <p:animEffect transition="out" filter="wipe(down)">
                                      <p:cBhvr>
                                        <p:cTn id="278" dur="500"/>
                                        <p:tgtEl>
                                          <p:spTgt spid="62"/>
                                        </p:tgtEl>
                                      </p:cBhvr>
                                    </p:animEffect>
                                    <p:set>
                                      <p:cBhvr>
                                        <p:cTn id="279" dur="1" fill="hold">
                                          <p:stCondLst>
                                            <p:cond delay="499"/>
                                          </p:stCondLst>
                                        </p:cTn>
                                        <p:tgtEl>
                                          <p:spTgt spid="62"/>
                                        </p:tgtEl>
                                        <p:attrNameLst>
                                          <p:attrName>style.visibility</p:attrName>
                                        </p:attrNameLst>
                                      </p:cBhvr>
                                      <p:to>
                                        <p:strVal val="hidden"/>
                                      </p:to>
                                    </p:set>
                                  </p:childTnLst>
                                </p:cTn>
                              </p:par>
                            </p:childTnLst>
                          </p:cTn>
                        </p:par>
                        <p:par>
                          <p:cTn id="280" fill="hold">
                            <p:stCondLst>
                              <p:cond delay="8250"/>
                            </p:stCondLst>
                            <p:childTnLst>
                              <p:par>
                                <p:cTn id="281" presetID="42" presetClass="path" presetSubtype="0" accel="50000" decel="50000" fill="hold" grpId="14" nodeType="afterEffect">
                                  <p:stCondLst>
                                    <p:cond delay="0"/>
                                  </p:stCondLst>
                                  <p:childTnLst>
                                    <p:animMotion origin="layout" path="M 0.00157 0.49167 L 0.00196 0.52153 " pathEditMode="relative" rAng="0" ptsTypes="AA">
                                      <p:cBhvr>
                                        <p:cTn id="282" dur="250" fill="hold"/>
                                        <p:tgtEl>
                                          <p:spTgt spid="233"/>
                                        </p:tgtEl>
                                        <p:attrNameLst>
                                          <p:attrName>ppt_x</p:attrName>
                                          <p:attrName>ppt_y</p:attrName>
                                        </p:attrNameLst>
                                      </p:cBhvr>
                                      <p:rCtr x="13" y="1481"/>
                                    </p:animMotion>
                                  </p:childTnLst>
                                </p:cTn>
                              </p:par>
                            </p:childTnLst>
                          </p:cTn>
                        </p:par>
                        <p:par>
                          <p:cTn id="283" fill="hold">
                            <p:stCondLst>
                              <p:cond delay="8500"/>
                            </p:stCondLst>
                            <p:childTnLst>
                              <p:par>
                                <p:cTn id="284" presetID="42" presetClass="path" presetSubtype="0" accel="50000" decel="50000" fill="hold" grpId="15" nodeType="afterEffect">
                                  <p:stCondLst>
                                    <p:cond delay="0"/>
                                  </p:stCondLst>
                                  <p:childTnLst>
                                    <p:animMotion origin="layout" path="M 0.00196 0.52153 L 0.00157 0.55487 " pathEditMode="relative" rAng="0" ptsTypes="AA">
                                      <p:cBhvr>
                                        <p:cTn id="285" dur="250" fill="hold"/>
                                        <p:tgtEl>
                                          <p:spTgt spid="233"/>
                                        </p:tgtEl>
                                        <p:attrNameLst>
                                          <p:attrName>ppt_x</p:attrName>
                                          <p:attrName>ppt_y</p:attrName>
                                        </p:attrNameLst>
                                      </p:cBhvr>
                                      <p:rCtr x="-26" y="1667"/>
                                    </p:animMotion>
                                  </p:childTnLst>
                                </p:cTn>
                              </p:par>
                            </p:childTnLst>
                          </p:cTn>
                        </p:par>
                        <p:par>
                          <p:cTn id="286" fill="hold">
                            <p:stCondLst>
                              <p:cond delay="8750"/>
                            </p:stCondLst>
                            <p:childTnLst>
                              <p:par>
                                <p:cTn id="287" presetID="22" presetClass="exit" presetSubtype="2" fill="hold" nodeType="afterEffect">
                                  <p:stCondLst>
                                    <p:cond delay="0"/>
                                  </p:stCondLst>
                                  <p:childTnLst>
                                    <p:animEffect transition="out" filter="wipe(right)">
                                      <p:cBhvr>
                                        <p:cTn id="288" dur="500"/>
                                        <p:tgtEl>
                                          <p:spTgt spid="16"/>
                                        </p:tgtEl>
                                      </p:cBhvr>
                                    </p:animEffect>
                                    <p:set>
                                      <p:cBhvr>
                                        <p:cTn id="289" dur="1" fill="hold">
                                          <p:stCondLst>
                                            <p:cond delay="499"/>
                                          </p:stCondLst>
                                        </p:cTn>
                                        <p:tgtEl>
                                          <p:spTgt spid="16"/>
                                        </p:tgtEl>
                                        <p:attrNameLst>
                                          <p:attrName>style.visibility</p:attrName>
                                        </p:attrNameLst>
                                      </p:cBhvr>
                                      <p:to>
                                        <p:strVal val="hidden"/>
                                      </p:to>
                                    </p:set>
                                  </p:childTnLst>
                                </p:cTn>
                              </p:par>
                            </p:childTnLst>
                          </p:cTn>
                        </p:par>
                        <p:par>
                          <p:cTn id="290" fill="hold">
                            <p:stCondLst>
                              <p:cond delay="9250"/>
                            </p:stCondLst>
                            <p:childTnLst>
                              <p:par>
                                <p:cTn id="291" presetID="42" presetClass="path" presetSubtype="0" accel="50000" decel="50000" fill="hold" grpId="16" nodeType="afterEffect">
                                  <p:stCondLst>
                                    <p:cond delay="0"/>
                                  </p:stCondLst>
                                  <p:childTnLst>
                                    <p:animMotion origin="layout" path="M 0.00157 0.55487 L 0.00196 0.58727 " pathEditMode="relative" rAng="0" ptsTypes="AA">
                                      <p:cBhvr>
                                        <p:cTn id="292" dur="250" fill="hold"/>
                                        <p:tgtEl>
                                          <p:spTgt spid="233"/>
                                        </p:tgtEl>
                                        <p:attrNameLst>
                                          <p:attrName>ppt_x</p:attrName>
                                          <p:attrName>ppt_y</p:attrName>
                                        </p:attrNameLst>
                                      </p:cBhvr>
                                      <p:rCtr x="13" y="1620"/>
                                    </p:animMotion>
                                  </p:childTnLst>
                                </p:cTn>
                              </p:par>
                            </p:childTnLst>
                          </p:cTn>
                        </p:par>
                        <p:par>
                          <p:cTn id="293" fill="hold">
                            <p:stCondLst>
                              <p:cond delay="9500"/>
                            </p:stCondLst>
                            <p:childTnLst>
                              <p:par>
                                <p:cTn id="294" presetID="22" presetClass="exit" presetSubtype="2" fill="hold" nodeType="afterEffect">
                                  <p:stCondLst>
                                    <p:cond delay="0"/>
                                  </p:stCondLst>
                                  <p:childTnLst>
                                    <p:animEffect transition="out" filter="wipe(right)">
                                      <p:cBhvr>
                                        <p:cTn id="295" dur="500"/>
                                        <p:tgtEl>
                                          <p:spTgt spid="17"/>
                                        </p:tgtEl>
                                      </p:cBhvr>
                                    </p:animEffect>
                                    <p:set>
                                      <p:cBhvr>
                                        <p:cTn id="296" dur="1" fill="hold">
                                          <p:stCondLst>
                                            <p:cond delay="499"/>
                                          </p:stCondLst>
                                        </p:cTn>
                                        <p:tgtEl>
                                          <p:spTgt spid="17"/>
                                        </p:tgtEl>
                                        <p:attrNameLst>
                                          <p:attrName>style.visibility</p:attrName>
                                        </p:attrNameLst>
                                      </p:cBhvr>
                                      <p:to>
                                        <p:strVal val="hidden"/>
                                      </p:to>
                                    </p:set>
                                  </p:childTnLst>
                                </p:cTn>
                              </p:par>
                            </p:childTnLst>
                          </p:cTn>
                        </p:par>
                        <p:par>
                          <p:cTn id="297" fill="hold">
                            <p:stCondLst>
                              <p:cond delay="10000"/>
                            </p:stCondLst>
                            <p:childTnLst>
                              <p:par>
                                <p:cTn id="298" presetID="42" presetClass="path" presetSubtype="0" accel="50000" decel="50000" fill="hold" grpId="17" nodeType="afterEffect">
                                  <p:stCondLst>
                                    <p:cond delay="0"/>
                                  </p:stCondLst>
                                  <p:childTnLst>
                                    <p:animMotion origin="layout" path="M 0.00196 0.58727 L 0.00235 0.62061 " pathEditMode="relative" rAng="0" ptsTypes="AA">
                                      <p:cBhvr>
                                        <p:cTn id="299" dur="250" fill="hold"/>
                                        <p:tgtEl>
                                          <p:spTgt spid="233"/>
                                        </p:tgtEl>
                                        <p:attrNameLst>
                                          <p:attrName>ppt_x</p:attrName>
                                          <p:attrName>ppt_y</p:attrName>
                                        </p:attrNameLst>
                                      </p:cBhvr>
                                      <p:rCtr x="13" y="1667"/>
                                    </p:animMotion>
                                  </p:childTnLst>
                                </p:cTn>
                              </p:par>
                            </p:childTnLst>
                          </p:cTn>
                        </p:par>
                        <p:par>
                          <p:cTn id="300" fill="hold">
                            <p:stCondLst>
                              <p:cond delay="10250"/>
                            </p:stCondLst>
                            <p:childTnLst>
                              <p:par>
                                <p:cTn id="301" presetID="22" presetClass="exit" presetSubtype="2" fill="hold" nodeType="afterEffect">
                                  <p:stCondLst>
                                    <p:cond delay="0"/>
                                  </p:stCondLst>
                                  <p:childTnLst>
                                    <p:animEffect transition="out" filter="wipe(right)">
                                      <p:cBhvr>
                                        <p:cTn id="302" dur="500"/>
                                        <p:tgtEl>
                                          <p:spTgt spid="18"/>
                                        </p:tgtEl>
                                      </p:cBhvr>
                                    </p:animEffect>
                                    <p:set>
                                      <p:cBhvr>
                                        <p:cTn id="303" dur="1" fill="hold">
                                          <p:stCondLst>
                                            <p:cond delay="499"/>
                                          </p:stCondLst>
                                        </p:cTn>
                                        <p:tgtEl>
                                          <p:spTgt spid="18"/>
                                        </p:tgtEl>
                                        <p:attrNameLst>
                                          <p:attrName>style.visibility</p:attrName>
                                        </p:attrNameLst>
                                      </p:cBhvr>
                                      <p:to>
                                        <p:strVal val="hidden"/>
                                      </p:to>
                                    </p:set>
                                  </p:childTnLst>
                                </p:cTn>
                              </p:par>
                            </p:childTnLst>
                          </p:cTn>
                        </p:par>
                        <p:par>
                          <p:cTn id="304" fill="hold">
                            <p:stCondLst>
                              <p:cond delay="10750"/>
                            </p:stCondLst>
                            <p:childTnLst>
                              <p:par>
                                <p:cTn id="305" presetID="42" presetClass="path" presetSubtype="0" accel="50000" decel="50000" fill="hold" grpId="18" nodeType="afterEffect">
                                  <p:stCondLst>
                                    <p:cond delay="0"/>
                                  </p:stCondLst>
                                  <p:childTnLst>
                                    <p:animMotion origin="layout" path="M 0.00235 0.62061 L 0.00274 0.65325 " pathEditMode="relative" rAng="0" ptsTypes="AA">
                                      <p:cBhvr>
                                        <p:cTn id="306" dur="250" fill="hold"/>
                                        <p:tgtEl>
                                          <p:spTgt spid="233"/>
                                        </p:tgtEl>
                                        <p:attrNameLst>
                                          <p:attrName>ppt_x</p:attrName>
                                          <p:attrName>ppt_y</p:attrName>
                                        </p:attrNameLst>
                                      </p:cBhvr>
                                      <p:rCtr x="13" y="1620"/>
                                    </p:animMotion>
                                  </p:childTnLst>
                                </p:cTn>
                              </p:par>
                            </p:childTnLst>
                          </p:cTn>
                        </p:par>
                        <p:par>
                          <p:cTn id="307" fill="hold">
                            <p:stCondLst>
                              <p:cond delay="11000"/>
                            </p:stCondLst>
                            <p:childTnLst>
                              <p:par>
                                <p:cTn id="308" presetID="22" presetClass="exit" presetSubtype="4" fill="hold" nodeType="afterEffect">
                                  <p:stCondLst>
                                    <p:cond delay="0"/>
                                  </p:stCondLst>
                                  <p:childTnLst>
                                    <p:animEffect transition="out" filter="wipe(down)">
                                      <p:cBhvr>
                                        <p:cTn id="309" dur="500"/>
                                        <p:tgtEl>
                                          <p:spTgt spid="15"/>
                                        </p:tgtEl>
                                      </p:cBhvr>
                                    </p:animEffect>
                                    <p:set>
                                      <p:cBhvr>
                                        <p:cTn id="310" dur="1" fill="hold">
                                          <p:stCondLst>
                                            <p:cond delay="499"/>
                                          </p:stCondLst>
                                        </p:cTn>
                                        <p:tgtEl>
                                          <p:spTgt spid="15"/>
                                        </p:tgtEl>
                                        <p:attrNameLst>
                                          <p:attrName>style.visibility</p:attrName>
                                        </p:attrNameLst>
                                      </p:cBhvr>
                                      <p:to>
                                        <p:strVal val="hidden"/>
                                      </p:to>
                                    </p:set>
                                  </p:childTnLst>
                                </p:cTn>
                              </p:par>
                            </p:childTnLst>
                          </p:cTn>
                        </p:par>
                        <p:par>
                          <p:cTn id="311" fill="hold">
                            <p:stCondLst>
                              <p:cond delay="11500"/>
                            </p:stCondLst>
                            <p:childTnLst>
                              <p:par>
                                <p:cTn id="312" presetID="42" presetClass="path" presetSubtype="0" accel="50000" decel="50000" fill="hold" grpId="19" nodeType="afterEffect">
                                  <p:stCondLst>
                                    <p:cond delay="0"/>
                                  </p:stCondLst>
                                  <p:childTnLst>
                                    <p:animMotion origin="layout" path="M 0.00274 0.65325 L 0.00235 0.68658 " pathEditMode="relative" rAng="0" ptsTypes="AA">
                                      <p:cBhvr>
                                        <p:cTn id="313" dur="250" fill="hold"/>
                                        <p:tgtEl>
                                          <p:spTgt spid="233"/>
                                        </p:tgtEl>
                                        <p:attrNameLst>
                                          <p:attrName>ppt_x</p:attrName>
                                          <p:attrName>ppt_y</p:attrName>
                                        </p:attrNameLst>
                                      </p:cBhvr>
                                      <p:rCtr x="-26" y="1667"/>
                                    </p:animMotion>
                                  </p:childTnLst>
                                </p:cTn>
                              </p:par>
                            </p:childTnLst>
                          </p:cTn>
                        </p:par>
                        <p:par>
                          <p:cTn id="314" fill="hold">
                            <p:stCondLst>
                              <p:cond delay="11750"/>
                            </p:stCondLst>
                            <p:childTnLst>
                              <p:par>
                                <p:cTn id="315" presetID="22" presetClass="exit" presetSubtype="2" fill="hold" nodeType="afterEffect">
                                  <p:stCondLst>
                                    <p:cond delay="0"/>
                                  </p:stCondLst>
                                  <p:childTnLst>
                                    <p:animEffect transition="out" filter="wipe(right)">
                                      <p:cBhvr>
                                        <p:cTn id="316" dur="500"/>
                                        <p:tgtEl>
                                          <p:spTgt spid="11"/>
                                        </p:tgtEl>
                                      </p:cBhvr>
                                    </p:animEffect>
                                    <p:set>
                                      <p:cBhvr>
                                        <p:cTn id="317" dur="1" fill="hold">
                                          <p:stCondLst>
                                            <p:cond delay="499"/>
                                          </p:stCondLst>
                                        </p:cTn>
                                        <p:tgtEl>
                                          <p:spTgt spid="11"/>
                                        </p:tgtEl>
                                        <p:attrNameLst>
                                          <p:attrName>style.visibility</p:attrName>
                                        </p:attrNameLst>
                                      </p:cBhvr>
                                      <p:to>
                                        <p:strVal val="hidden"/>
                                      </p:to>
                                    </p:set>
                                  </p:childTnLst>
                                </p:cTn>
                              </p:par>
                            </p:childTnLst>
                          </p:cTn>
                        </p:par>
                        <p:par>
                          <p:cTn id="318" fill="hold">
                            <p:stCondLst>
                              <p:cond delay="12250"/>
                            </p:stCondLst>
                            <p:childTnLst>
                              <p:par>
                                <p:cTn id="319" presetID="42" presetClass="path" presetSubtype="0" accel="50000" decel="50000" fill="hold" grpId="20" nodeType="afterEffect">
                                  <p:stCondLst>
                                    <p:cond delay="0"/>
                                  </p:stCondLst>
                                  <p:childTnLst>
                                    <p:animMotion origin="layout" path="M 0.00235 0.68658 L 0.00235 0.71922 " pathEditMode="relative" rAng="0" ptsTypes="AA">
                                      <p:cBhvr>
                                        <p:cTn id="320" dur="250" fill="hold"/>
                                        <p:tgtEl>
                                          <p:spTgt spid="233"/>
                                        </p:tgtEl>
                                        <p:attrNameLst>
                                          <p:attrName>ppt_x</p:attrName>
                                          <p:attrName>ppt_y</p:attrName>
                                        </p:attrNameLst>
                                      </p:cBhvr>
                                      <p:rCtr x="0" y="1620"/>
                                    </p:animMotion>
                                  </p:childTnLst>
                                </p:cTn>
                              </p:par>
                            </p:childTnLst>
                          </p:cTn>
                        </p:par>
                        <p:par>
                          <p:cTn id="321" fill="hold">
                            <p:stCondLst>
                              <p:cond delay="12500"/>
                            </p:stCondLst>
                            <p:childTnLst>
                              <p:par>
                                <p:cTn id="322" presetID="22" presetClass="exit" presetSubtype="2" fill="hold" nodeType="afterEffect">
                                  <p:stCondLst>
                                    <p:cond delay="0"/>
                                  </p:stCondLst>
                                  <p:childTnLst>
                                    <p:animEffect transition="out" filter="wipe(right)">
                                      <p:cBhvr>
                                        <p:cTn id="323" dur="500"/>
                                        <p:tgtEl>
                                          <p:spTgt spid="12"/>
                                        </p:tgtEl>
                                      </p:cBhvr>
                                    </p:animEffect>
                                    <p:set>
                                      <p:cBhvr>
                                        <p:cTn id="324" dur="1" fill="hold">
                                          <p:stCondLst>
                                            <p:cond delay="499"/>
                                          </p:stCondLst>
                                        </p:cTn>
                                        <p:tgtEl>
                                          <p:spTgt spid="12"/>
                                        </p:tgtEl>
                                        <p:attrNameLst>
                                          <p:attrName>style.visibility</p:attrName>
                                        </p:attrNameLst>
                                      </p:cBhvr>
                                      <p:to>
                                        <p:strVal val="hidden"/>
                                      </p:to>
                                    </p:set>
                                  </p:childTnLst>
                                </p:cTn>
                              </p:par>
                            </p:childTnLst>
                          </p:cTn>
                        </p:par>
                        <p:par>
                          <p:cTn id="325" fill="hold">
                            <p:stCondLst>
                              <p:cond delay="13000"/>
                            </p:stCondLst>
                            <p:childTnLst>
                              <p:par>
                                <p:cTn id="326" presetID="42" presetClass="path" presetSubtype="0" accel="50000" decel="50000" fill="hold" grpId="21" nodeType="afterEffect">
                                  <p:stCondLst>
                                    <p:cond delay="0"/>
                                  </p:stCondLst>
                                  <p:childTnLst>
                                    <p:animMotion origin="layout" path="M 0.00235 0.71922 L 0.00274 0.75255 " pathEditMode="relative" rAng="0" ptsTypes="AA">
                                      <p:cBhvr>
                                        <p:cTn id="327" dur="250" fill="hold"/>
                                        <p:tgtEl>
                                          <p:spTgt spid="233"/>
                                        </p:tgtEl>
                                        <p:attrNameLst>
                                          <p:attrName>ppt_x</p:attrName>
                                          <p:attrName>ppt_y</p:attrName>
                                        </p:attrNameLst>
                                      </p:cBhvr>
                                      <p:rCtr x="13" y="1667"/>
                                    </p:animMotion>
                                  </p:childTnLst>
                                </p:cTn>
                              </p:par>
                            </p:childTnLst>
                          </p:cTn>
                        </p:par>
                        <p:par>
                          <p:cTn id="328" fill="hold">
                            <p:stCondLst>
                              <p:cond delay="13250"/>
                            </p:stCondLst>
                            <p:childTnLst>
                              <p:par>
                                <p:cTn id="329" presetID="22" presetClass="exit" presetSubtype="2" fill="hold" nodeType="afterEffect">
                                  <p:stCondLst>
                                    <p:cond delay="0"/>
                                  </p:stCondLst>
                                  <p:childTnLst>
                                    <p:animEffect transition="out" filter="wipe(right)">
                                      <p:cBhvr>
                                        <p:cTn id="330" dur="500"/>
                                        <p:tgtEl>
                                          <p:spTgt spid="68"/>
                                        </p:tgtEl>
                                      </p:cBhvr>
                                    </p:animEffect>
                                    <p:set>
                                      <p:cBhvr>
                                        <p:cTn id="331" dur="1" fill="hold">
                                          <p:stCondLst>
                                            <p:cond delay="499"/>
                                          </p:stCondLst>
                                        </p:cTn>
                                        <p:tgtEl>
                                          <p:spTgt spid="68"/>
                                        </p:tgtEl>
                                        <p:attrNameLst>
                                          <p:attrName>style.visibility</p:attrName>
                                        </p:attrNameLst>
                                      </p:cBhvr>
                                      <p:to>
                                        <p:strVal val="hidden"/>
                                      </p:to>
                                    </p:set>
                                  </p:childTnLst>
                                </p:cTn>
                              </p:par>
                            </p:childTnLst>
                          </p:cTn>
                        </p:par>
                        <p:par>
                          <p:cTn id="332" fill="hold">
                            <p:stCondLst>
                              <p:cond delay="13750"/>
                            </p:stCondLst>
                            <p:childTnLst>
                              <p:par>
                                <p:cTn id="333" presetID="42" presetClass="path" presetSubtype="0" accel="50000" decel="50000" fill="hold" grpId="22" nodeType="afterEffect">
                                  <p:stCondLst>
                                    <p:cond delay="0"/>
                                  </p:stCondLst>
                                  <p:childTnLst>
                                    <p:animMotion origin="layout" path="M 0.00274 0.75255 L 0.00274 0.7845 " pathEditMode="relative" rAng="0" ptsTypes="AA">
                                      <p:cBhvr>
                                        <p:cTn id="334" dur="250" fill="hold"/>
                                        <p:tgtEl>
                                          <p:spTgt spid="233"/>
                                        </p:tgtEl>
                                        <p:attrNameLst>
                                          <p:attrName>ppt_x</p:attrName>
                                          <p:attrName>ppt_y</p:attrName>
                                        </p:attrNameLst>
                                      </p:cBhvr>
                                      <p:rCtr x="0" y="1597"/>
                                    </p:animMotion>
                                  </p:childTnLst>
                                </p:cTn>
                              </p:par>
                            </p:childTnLst>
                          </p:cTn>
                        </p:par>
                        <p:par>
                          <p:cTn id="335" fill="hold">
                            <p:stCondLst>
                              <p:cond delay="14000"/>
                            </p:stCondLst>
                            <p:childTnLst>
                              <p:par>
                                <p:cTn id="336" presetID="22" presetClass="exit" presetSubtype="4" fill="hold" nodeType="afterEffect">
                                  <p:stCondLst>
                                    <p:cond delay="0"/>
                                  </p:stCondLst>
                                  <p:childTnLst>
                                    <p:animEffect transition="out" filter="wipe(down)">
                                      <p:cBhvr>
                                        <p:cTn id="337" dur="500"/>
                                        <p:tgtEl>
                                          <p:spTgt spid="13"/>
                                        </p:tgtEl>
                                      </p:cBhvr>
                                    </p:animEffect>
                                    <p:set>
                                      <p:cBhvr>
                                        <p:cTn id="338" dur="1" fill="hold">
                                          <p:stCondLst>
                                            <p:cond delay="499"/>
                                          </p:stCondLst>
                                        </p:cTn>
                                        <p:tgtEl>
                                          <p:spTgt spid="13"/>
                                        </p:tgtEl>
                                        <p:attrNameLst>
                                          <p:attrName>style.visibility</p:attrName>
                                        </p:attrNameLst>
                                      </p:cBhvr>
                                      <p:to>
                                        <p:strVal val="hidden"/>
                                      </p:to>
                                    </p:set>
                                  </p:childTnLst>
                                </p:cTn>
                              </p:par>
                            </p:childTnLst>
                          </p:cTn>
                        </p:par>
                        <p:par>
                          <p:cTn id="339" fill="hold">
                            <p:stCondLst>
                              <p:cond delay="14500"/>
                            </p:stCondLst>
                            <p:childTnLst>
                              <p:par>
                                <p:cTn id="340" presetID="42" presetClass="path" presetSubtype="0" accel="50000" decel="50000" fill="hold" grpId="23" nodeType="afterEffect">
                                  <p:stCondLst>
                                    <p:cond delay="0"/>
                                  </p:stCondLst>
                                  <p:childTnLst>
                                    <p:animMotion origin="layout" path="M 0.00274 0.7845 L 0.00352 0.81852 " pathEditMode="relative" rAng="0" ptsTypes="AA">
                                      <p:cBhvr>
                                        <p:cTn id="341" dur="250" fill="hold"/>
                                        <p:tgtEl>
                                          <p:spTgt spid="233"/>
                                        </p:tgtEl>
                                        <p:attrNameLst>
                                          <p:attrName>ppt_x</p:attrName>
                                          <p:attrName>ppt_y</p:attrName>
                                        </p:attrNameLst>
                                      </p:cBhvr>
                                      <p:rCtr x="39" y="1690"/>
                                    </p:animMotion>
                                  </p:childTnLst>
                                </p:cTn>
                              </p:par>
                            </p:childTnLst>
                          </p:cTn>
                        </p:par>
                        <p:par>
                          <p:cTn id="342" fill="hold">
                            <p:stCondLst>
                              <p:cond delay="14750"/>
                            </p:stCondLst>
                            <p:childTnLst>
                              <p:par>
                                <p:cTn id="343" presetID="22" presetClass="exit" presetSubtype="2" fill="hold" nodeType="afterEffect">
                                  <p:stCondLst>
                                    <p:cond delay="0"/>
                                  </p:stCondLst>
                                  <p:childTnLst>
                                    <p:animEffect transition="out" filter="wipe(right)">
                                      <p:cBhvr>
                                        <p:cTn id="344" dur="500"/>
                                        <p:tgtEl>
                                          <p:spTgt spid="69"/>
                                        </p:tgtEl>
                                      </p:cBhvr>
                                    </p:animEffect>
                                    <p:set>
                                      <p:cBhvr>
                                        <p:cTn id="345" dur="1" fill="hold">
                                          <p:stCondLst>
                                            <p:cond delay="499"/>
                                          </p:stCondLst>
                                        </p:cTn>
                                        <p:tgtEl>
                                          <p:spTgt spid="69"/>
                                        </p:tgtEl>
                                        <p:attrNameLst>
                                          <p:attrName>style.visibility</p:attrName>
                                        </p:attrNameLst>
                                      </p:cBhvr>
                                      <p:to>
                                        <p:strVal val="hidden"/>
                                      </p:to>
                                    </p:set>
                                  </p:childTnLst>
                                </p:cTn>
                              </p:par>
                            </p:childTnLst>
                          </p:cTn>
                        </p:par>
                        <p:par>
                          <p:cTn id="346" fill="hold">
                            <p:stCondLst>
                              <p:cond delay="15250"/>
                            </p:stCondLst>
                            <p:childTnLst>
                              <p:par>
                                <p:cTn id="347" presetID="1" presetClass="exit" presetSubtype="0" fill="hold" grpId="24" nodeType="afterEffect">
                                  <p:stCondLst>
                                    <p:cond delay="0"/>
                                  </p:stCondLst>
                                  <p:childTnLst>
                                    <p:set>
                                      <p:cBhvr>
                                        <p:cTn id="348" dur="1" fill="hold">
                                          <p:stCondLst>
                                            <p:cond delay="0"/>
                                          </p:stCondLst>
                                        </p:cTn>
                                        <p:tgtEl>
                                          <p:spTgt spid="23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3" grpId="0" animBg="1"/>
      <p:bldP spid="233" grpId="1" animBg="1"/>
      <p:bldP spid="233" grpId="2" animBg="1"/>
      <p:bldP spid="233" grpId="3" animBg="1"/>
      <p:bldP spid="233" grpId="4" animBg="1"/>
      <p:bldP spid="233" grpId="5" animBg="1"/>
      <p:bldP spid="233" grpId="6" animBg="1"/>
      <p:bldP spid="233" grpId="7" animBg="1"/>
      <p:bldP spid="233" grpId="8" animBg="1"/>
      <p:bldP spid="233" grpId="9" animBg="1"/>
      <p:bldP spid="233" grpId="10" animBg="1"/>
      <p:bldP spid="233" grpId="11" animBg="1"/>
      <p:bldP spid="233" grpId="12" animBg="1"/>
      <p:bldP spid="233" grpId="13" animBg="1"/>
      <p:bldP spid="233" grpId="14" animBg="1"/>
      <p:bldP spid="233" grpId="15" animBg="1"/>
      <p:bldP spid="233" grpId="16" animBg="1"/>
      <p:bldP spid="233" grpId="17" animBg="1"/>
      <p:bldP spid="233" grpId="18" animBg="1"/>
      <p:bldP spid="233" grpId="19" animBg="1"/>
      <p:bldP spid="233" grpId="20" animBg="1"/>
      <p:bldP spid="233" grpId="21" animBg="1"/>
      <p:bldP spid="233" grpId="22" animBg="1"/>
      <p:bldP spid="233" grpId="23" animBg="1"/>
      <p:bldP spid="233" grpId="24" animBg="1"/>
      <p:bldP spid="209" grpId="0" animBg="1"/>
      <p:bldP spid="209" grpId="1" animBg="1"/>
      <p:bldP spid="209" grpId="2" animBg="1"/>
      <p:bldP spid="209" grpId="3" animBg="1"/>
      <p:bldP spid="209" grpId="4" animBg="1"/>
      <p:bldP spid="209" grpId="5" animBg="1"/>
      <p:bldP spid="209" grpId="6" animBg="1"/>
      <p:bldP spid="209" grpId="7" animBg="1"/>
      <p:bldP spid="209" grpId="8" animBg="1"/>
      <p:bldP spid="209" grpId="9" animBg="1"/>
      <p:bldP spid="209" grpId="10" animBg="1"/>
      <p:bldP spid="209" grpId="11" animBg="1"/>
      <p:bldP spid="209" grpId="12" animBg="1"/>
      <p:bldP spid="209" grpId="13" animBg="1"/>
      <p:bldP spid="28" grpId="0"/>
      <p:bldP spid="29" grpId="0"/>
      <p:bldP spid="2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General Workflow</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23</a:t>
            </a:fld>
            <a:endParaRPr lang="en-US" dirty="0"/>
          </a:p>
        </p:txBody>
      </p:sp>
      <p:sp>
        <p:nvSpPr>
          <p:cNvPr id="4" name="Inhaltsplatzhalter 3"/>
          <p:cNvSpPr>
            <a:spLocks noGrp="1"/>
          </p:cNvSpPr>
          <p:nvPr>
            <p:ph idx="1"/>
          </p:nvPr>
        </p:nvSpPr>
        <p:spPr>
          <a:xfrm>
            <a:off x="130277" y="594247"/>
            <a:ext cx="11865077" cy="6091033"/>
          </a:xfrm>
        </p:spPr>
        <p:txBody>
          <a:bodyPr>
            <a:normAutofit fontScale="77500" lnSpcReduction="20000"/>
          </a:bodyPr>
          <a:lstStyle/>
          <a:p>
            <a:pPr marL="216000">
              <a:buClr>
                <a:srgbClr val="00AAE5"/>
              </a:buClr>
            </a:pPr>
            <a:r>
              <a:rPr lang="en-US" dirty="0" smtClean="0"/>
              <a:t>Preparing the Data (search and base table) </a:t>
            </a:r>
          </a:p>
          <a:p>
            <a:pPr lvl="1">
              <a:buClr>
                <a:srgbClr val="00AAE5"/>
              </a:buClr>
            </a:pPr>
            <a:r>
              <a:rPr lang="en-US" dirty="0" smtClean="0"/>
              <a:t>Establish congruency between the tables regarding data representation by joining or splitting field contents if necessary (address ↔ street, postcode, city).</a:t>
            </a:r>
          </a:p>
          <a:p>
            <a:pPr lvl="1">
              <a:buClr>
                <a:srgbClr val="00AAE5"/>
              </a:buClr>
            </a:pPr>
            <a:r>
              <a:rPr lang="en-US" dirty="0" smtClean="0"/>
              <a:t>Harmonize idiosyncratic disparities between the datasets, like consistently using different kinds of abbreviations.</a:t>
            </a:r>
            <a:br>
              <a:rPr lang="en-US" dirty="0" smtClean="0"/>
            </a:br>
            <a:r>
              <a:rPr lang="en-US" dirty="0" smtClean="0"/>
              <a:t>“</a:t>
            </a:r>
            <a:r>
              <a:rPr lang="en-US" dirty="0" err="1" smtClean="0"/>
              <a:t>Univ</a:t>
            </a:r>
            <a:r>
              <a:rPr lang="en-US" dirty="0" smtClean="0"/>
              <a:t>” vs. “University” vs. “</a:t>
            </a:r>
            <a:r>
              <a:rPr lang="en-US" dirty="0" err="1" smtClean="0"/>
              <a:t>Uni</a:t>
            </a:r>
            <a:r>
              <a:rPr lang="en-US" dirty="0" smtClean="0"/>
              <a:t>”, “limited” vs. “ltd”, “</a:t>
            </a:r>
            <a:r>
              <a:rPr lang="en-US" dirty="0" err="1" smtClean="0"/>
              <a:t>Strasse</a:t>
            </a:r>
            <a:r>
              <a:rPr lang="en-US" dirty="0" smtClean="0"/>
              <a:t>” vs. “Str.” and so on</a:t>
            </a:r>
            <a:br>
              <a:rPr lang="en-US" dirty="0" smtClean="0"/>
            </a:br>
            <a:r>
              <a:rPr lang="en-US" dirty="0" smtClean="0"/>
              <a:t>Optionally: development of custom Preparers (there are already some in the “preparer” directory)</a:t>
            </a:r>
          </a:p>
          <a:p>
            <a:pPr lvl="1">
              <a:buClr>
                <a:srgbClr val="00AAE5"/>
              </a:buClr>
            </a:pPr>
            <a:r>
              <a:rPr lang="en-US" dirty="0" smtClean="0"/>
              <a:t>Removal of duplicate entries in the data especially in unfocused datasets, i.e. patent applicants, but also  in panel data. This removes unwanted distortions of the heuristic and redundancies. Keep a linkage to the original data!</a:t>
            </a:r>
          </a:p>
          <a:p>
            <a:pPr lvl="1">
              <a:buClr>
                <a:srgbClr val="00AAE5"/>
              </a:buClr>
            </a:pPr>
            <a:r>
              <a:rPr lang="en-US" dirty="0" smtClean="0"/>
              <a:t>The </a:t>
            </a:r>
            <a:r>
              <a:rPr lang="en-US" dirty="0" err="1" smtClean="0"/>
              <a:t>SearchEngine</a:t>
            </a:r>
            <a:r>
              <a:rPr lang="en-US" dirty="0" smtClean="0"/>
              <a:t> imports tab-delimited text files with column headers (not too fancy). Avoid unnecessary fields</a:t>
            </a:r>
            <a:r>
              <a:rPr lang="en-US" dirty="0"/>
              <a:t>! Avoid control characters in the data</a:t>
            </a:r>
            <a:r>
              <a:rPr lang="en-US" dirty="0" smtClean="0"/>
              <a:t>!</a:t>
            </a:r>
          </a:p>
          <a:p>
            <a:pPr>
              <a:buClr>
                <a:srgbClr val="00AAE5"/>
              </a:buClr>
            </a:pPr>
            <a:r>
              <a:rPr lang="en-US" dirty="0" smtClean="0"/>
              <a:t>Create the </a:t>
            </a:r>
            <a:r>
              <a:rPr lang="en-US" dirty="0" err="1" smtClean="0"/>
              <a:t>SearchEngine</a:t>
            </a:r>
            <a:endParaRPr lang="en-US" dirty="0" smtClean="0"/>
          </a:p>
          <a:p>
            <a:pPr lvl="1">
              <a:buClr>
                <a:srgbClr val="00AAE5"/>
              </a:buClr>
            </a:pPr>
            <a:r>
              <a:rPr lang="en-US" dirty="0" smtClean="0"/>
              <a:t>Choose the base table by balancing the following priorities: being more focused, having more clutter, being significantly larger</a:t>
            </a:r>
          </a:p>
          <a:p>
            <a:pPr lvl="1">
              <a:buClr>
                <a:srgbClr val="00AAE5"/>
              </a:buClr>
            </a:pPr>
            <a:r>
              <a:rPr lang="en-US" dirty="0" smtClean="0"/>
              <a:t>Define search types by adding preparers to search fields. Usually, every search field has a conventional search type and only the most relevant field(s) will get an additional destructive search type using a n-gram preparer.</a:t>
            </a:r>
          </a:p>
          <a:p>
            <a:pPr>
              <a:buClr>
                <a:srgbClr val="00AAE5"/>
              </a:buClr>
            </a:pPr>
            <a:r>
              <a:rPr lang="en-US" dirty="0" smtClean="0"/>
              <a:t>Search Strategy for Firm Matching</a:t>
            </a:r>
          </a:p>
          <a:p>
            <a:pPr lvl="1">
              <a:buClr>
                <a:srgbClr val="00AAE5"/>
              </a:buClr>
            </a:pPr>
            <a:r>
              <a:rPr lang="en-US" dirty="0" smtClean="0"/>
              <a:t>Define a weight distribution according the relevancy of the search fields, ignoring additional destructive search types, e.g. 70% for relevant fields (firm name) and 30% for auxiliary fields (address). Define a containment by choosing a justifiable size for a large candidate list.</a:t>
            </a:r>
          </a:p>
          <a:p>
            <a:pPr lvl="1">
              <a:buClr>
                <a:srgbClr val="00AAE5"/>
              </a:buClr>
            </a:pPr>
            <a:r>
              <a:rPr lang="en-US" dirty="0" smtClean="0">
                <a:solidFill>
                  <a:srgbClr val="7AD0C4"/>
                </a:solidFill>
              </a:rPr>
              <a:t>Incremental</a:t>
            </a:r>
            <a:r>
              <a:rPr lang="en-US" dirty="0" smtClean="0"/>
              <a:t>: complete search terms without candidates from earlier runs, gradually reduce retrieval restrictions, Darwinian (keep only the best)</a:t>
            </a:r>
          </a:p>
          <a:p>
            <a:pPr lvl="2">
              <a:buClr>
                <a:srgbClr val="00AAE5"/>
              </a:buClr>
            </a:pPr>
            <a:r>
              <a:rPr lang="en-US" dirty="0" smtClean="0"/>
              <a:t>Start with a high threshold requiring auxiliary fields using only conventional search types. You may even prelude with a run based on log smoothed conventional search types for the relevant fields followed by a non-smoothed version.</a:t>
            </a:r>
          </a:p>
          <a:p>
            <a:pPr lvl="2">
              <a:buClr>
                <a:srgbClr val="00AAE5"/>
              </a:buClr>
            </a:pPr>
            <a:r>
              <a:rPr lang="en-US" dirty="0"/>
              <a:t>S</a:t>
            </a:r>
            <a:r>
              <a:rPr lang="en-US" dirty="0" smtClean="0"/>
              <a:t>witch to destructive search types by shifting the corresponding weights and perform two search runs, one with log smoothing and one without smoothing of the destructive search types.</a:t>
            </a:r>
          </a:p>
          <a:p>
            <a:pPr lvl="2">
              <a:buClr>
                <a:srgbClr val="00AAE5"/>
              </a:buClr>
            </a:pPr>
            <a:r>
              <a:rPr lang="en-US" dirty="0" smtClean="0"/>
              <a:t>Lower the threshold forfeiting the necessity of auxiliary fields and repeat the search steps.</a:t>
            </a:r>
          </a:p>
          <a:p>
            <a:pPr lvl="1">
              <a:buClr>
                <a:srgbClr val="00AAE5"/>
              </a:buClr>
            </a:pPr>
            <a:r>
              <a:rPr lang="en-US" dirty="0" smtClean="0">
                <a:solidFill>
                  <a:srgbClr val="BADA15"/>
                </a:solidFill>
              </a:rPr>
              <a:t>Compound</a:t>
            </a:r>
            <a:r>
              <a:rPr lang="en-US" dirty="0" smtClean="0"/>
              <a:t>: merge search runs based on a reasonably low threshold</a:t>
            </a:r>
          </a:p>
          <a:p>
            <a:pPr lvl="2">
              <a:buClr>
                <a:srgbClr val="00AAE5"/>
              </a:buClr>
            </a:pPr>
            <a:r>
              <a:rPr lang="en-US" dirty="0" smtClean="0"/>
              <a:t>Start with a conventional search run by setting the weights of the destructive search types to </a:t>
            </a:r>
            <a:r>
              <a:rPr lang="en-US" dirty="0"/>
              <a:t>zero. You may even prelude with a run based on log smoothed conventional search types for the relevant fields followed by a non-smoothed version.</a:t>
            </a:r>
            <a:endParaRPr lang="en-US" dirty="0" smtClean="0"/>
          </a:p>
          <a:p>
            <a:pPr lvl="2">
              <a:buClr>
                <a:srgbClr val="00AAE5"/>
              </a:buClr>
            </a:pPr>
            <a:r>
              <a:rPr lang="en-US" dirty="0" smtClean="0"/>
              <a:t>If misspellings are of concern, </a:t>
            </a:r>
            <a:r>
              <a:rPr lang="en-US" dirty="0"/>
              <a:t>s</a:t>
            </a:r>
            <a:r>
              <a:rPr lang="en-US" dirty="0" smtClean="0"/>
              <a:t>witch </a:t>
            </a:r>
            <a:r>
              <a:rPr lang="en-US" dirty="0"/>
              <a:t>to destructive search types by </a:t>
            </a:r>
            <a:r>
              <a:rPr lang="en-US" dirty="0" smtClean="0"/>
              <a:t>shifting </a:t>
            </a:r>
            <a:r>
              <a:rPr lang="en-US" dirty="0"/>
              <a:t>the corresponding weights and perform two search runs, one with log smoothing and one without smoothing of the destructive search types</a:t>
            </a:r>
            <a:r>
              <a:rPr lang="en-US" dirty="0" smtClean="0"/>
              <a:t>.</a:t>
            </a:r>
          </a:p>
          <a:p>
            <a:pPr lvl="2">
              <a:buClr>
                <a:srgbClr val="00AAE5"/>
              </a:buClr>
            </a:pPr>
            <a:r>
              <a:rPr lang="en-US" dirty="0" smtClean="0"/>
              <a:t>Apply Inverse Darwinian Cutoff if search table is </a:t>
            </a:r>
            <a:r>
              <a:rPr lang="en-US" dirty="0" smtClean="0">
                <a:solidFill>
                  <a:srgbClr val="7AD0C4"/>
                </a:solidFill>
              </a:rPr>
              <a:t>focused</a:t>
            </a:r>
            <a:r>
              <a:rPr lang="en-US" dirty="0" smtClean="0"/>
              <a:t>.  Use research to repeat the search steps with log-smoothing and added feedback maximizing the identity and strip the candidates of redundant search terms.</a:t>
            </a:r>
          </a:p>
          <a:p>
            <a:pPr marL="216000" lvl="1">
              <a:buClr>
                <a:srgbClr val="00AAE5"/>
              </a:buClr>
            </a:pPr>
            <a:r>
              <a:rPr lang="en-US" dirty="0" smtClean="0"/>
              <a:t>Concentrate on appropriate retrieval and less on identity refinement because the identity will be replaced by the meta vector carrying much more similarity indicators for the </a:t>
            </a:r>
            <a:r>
              <a:rPr lang="en-US" dirty="0" err="1" smtClean="0"/>
              <a:t>SearchEngine</a:t>
            </a:r>
            <a:r>
              <a:rPr lang="en-US" dirty="0" smtClean="0"/>
              <a:t> Machine Learning approach </a:t>
            </a:r>
            <a:r>
              <a:rPr lang="en-US" dirty="0" smtClean="0">
                <a:solidFill>
                  <a:srgbClr val="00AAE5"/>
                </a:solidFill>
              </a:rPr>
              <a:t>SEML</a:t>
            </a:r>
            <a:r>
              <a:rPr lang="en-US" dirty="0" smtClean="0"/>
              <a:t>.</a:t>
            </a:r>
          </a:p>
        </p:txBody>
      </p:sp>
    </p:spTree>
    <p:extLst>
      <p:ext uri="{BB962C8B-B14F-4D97-AF65-F5344CB8AC3E}">
        <p14:creationId xmlns:p14="http://schemas.microsoft.com/office/powerpoint/2010/main" val="82963784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Search Strategy Components</a:t>
            </a:r>
            <a:endParaRPr lang="en-US" dirty="0"/>
          </a:p>
        </p:txBody>
      </p:sp>
      <p:sp>
        <p:nvSpPr>
          <p:cNvPr id="4" name="Inhaltsplatzhalter 3"/>
          <p:cNvSpPr>
            <a:spLocks noGrp="1"/>
          </p:cNvSpPr>
          <p:nvPr>
            <p:ph idx="1"/>
          </p:nvPr>
        </p:nvSpPr>
        <p:spPr/>
        <p:txBody>
          <a:bodyPr>
            <a:noAutofit/>
          </a:bodyPr>
          <a:lstStyle/>
          <a:p>
            <a:pPr marL="216000" lvl="0">
              <a:spcBef>
                <a:spcPts val="600"/>
              </a:spcBef>
              <a:buClr>
                <a:srgbClr val="00AAE5"/>
              </a:buClr>
            </a:pPr>
            <a:r>
              <a:rPr lang="en-US" sz="1400" dirty="0">
                <a:solidFill>
                  <a:prstClr val="black"/>
                </a:solidFill>
              </a:rPr>
              <a:t>Threshold</a:t>
            </a:r>
          </a:p>
          <a:p>
            <a:pPr lvl="1">
              <a:spcBef>
                <a:spcPts val="0"/>
              </a:spcBef>
              <a:buClr>
                <a:srgbClr val="00AAE5"/>
              </a:buClr>
            </a:pPr>
            <a:r>
              <a:rPr lang="en-US" sz="1400" dirty="0">
                <a:solidFill>
                  <a:prstClr val="black"/>
                </a:solidFill>
              </a:rPr>
              <a:t>Interaction with the search type weights constitutes the search strategy</a:t>
            </a:r>
          </a:p>
          <a:p>
            <a:pPr lvl="1">
              <a:spcBef>
                <a:spcPts val="0"/>
              </a:spcBef>
              <a:buClr>
                <a:srgbClr val="00AAE5"/>
              </a:buClr>
            </a:pPr>
            <a:r>
              <a:rPr lang="en-US" sz="1400" dirty="0">
                <a:solidFill>
                  <a:prstClr val="black"/>
                </a:solidFill>
              </a:rPr>
              <a:t>A threshold above the firm name weight enforces partial address similarity</a:t>
            </a:r>
          </a:p>
          <a:p>
            <a:pPr lvl="1">
              <a:spcBef>
                <a:spcPts val="0"/>
              </a:spcBef>
              <a:buClr>
                <a:srgbClr val="00AAE5"/>
              </a:buClr>
            </a:pPr>
            <a:r>
              <a:rPr lang="en-US" sz="1400" dirty="0">
                <a:solidFill>
                  <a:prstClr val="black"/>
                </a:solidFill>
              </a:rPr>
              <a:t>If the threshold is below the firm name weight, similarity in the address increases the leeway</a:t>
            </a:r>
          </a:p>
          <a:p>
            <a:pPr marL="216000" lvl="0">
              <a:spcBef>
                <a:spcPts val="600"/>
              </a:spcBef>
              <a:buClr>
                <a:srgbClr val="00AAE5"/>
              </a:buClr>
            </a:pPr>
            <a:r>
              <a:rPr lang="en-US" sz="1400" dirty="0">
                <a:solidFill>
                  <a:prstClr val="black"/>
                </a:solidFill>
              </a:rPr>
              <a:t>Redistribution of </a:t>
            </a:r>
            <a:r>
              <a:rPr lang="en-US" sz="1400" dirty="0" smtClean="0">
                <a:solidFill>
                  <a:prstClr val="black"/>
                </a:solidFill>
              </a:rPr>
              <a:t>search </a:t>
            </a:r>
            <a:r>
              <a:rPr lang="en-US" sz="1400" dirty="0">
                <a:solidFill>
                  <a:prstClr val="black"/>
                </a:solidFill>
              </a:rPr>
              <a:t>t</a:t>
            </a:r>
            <a:r>
              <a:rPr lang="en-US" sz="1400" dirty="0" smtClean="0">
                <a:solidFill>
                  <a:prstClr val="black"/>
                </a:solidFill>
              </a:rPr>
              <a:t>ype weights</a:t>
            </a:r>
            <a:endParaRPr lang="en-US" sz="1400" dirty="0">
              <a:solidFill>
                <a:prstClr val="black"/>
              </a:solidFill>
            </a:endParaRPr>
          </a:p>
          <a:p>
            <a:pPr lvl="1">
              <a:spcBef>
                <a:spcPts val="0"/>
              </a:spcBef>
              <a:buClr>
                <a:srgbClr val="00AAE5"/>
              </a:buClr>
            </a:pPr>
            <a:r>
              <a:rPr lang="en-US" sz="1400" dirty="0">
                <a:solidFill>
                  <a:prstClr val="black"/>
                </a:solidFill>
              </a:rPr>
              <a:t>Increasing/decreasing the impact of </a:t>
            </a:r>
            <a:r>
              <a:rPr lang="en-US" sz="1400" dirty="0" smtClean="0">
                <a:solidFill>
                  <a:prstClr val="black"/>
                </a:solidFill>
              </a:rPr>
              <a:t>search types </a:t>
            </a:r>
            <a:r>
              <a:rPr lang="en-US" sz="1400" dirty="0">
                <a:solidFill>
                  <a:prstClr val="black"/>
                </a:solidFill>
              </a:rPr>
              <a:t>on the relative Identity</a:t>
            </a:r>
          </a:p>
          <a:p>
            <a:pPr lvl="1">
              <a:spcBef>
                <a:spcPts val="0"/>
              </a:spcBef>
              <a:buClr>
                <a:srgbClr val="00AAE5"/>
              </a:buClr>
            </a:pPr>
            <a:r>
              <a:rPr lang="en-US" sz="1400" dirty="0">
                <a:solidFill>
                  <a:prstClr val="black"/>
                </a:solidFill>
              </a:rPr>
              <a:t>The more weight on address search types, the higher the leeway for the firm name</a:t>
            </a:r>
          </a:p>
          <a:p>
            <a:pPr lvl="1">
              <a:spcBef>
                <a:spcPts val="0"/>
              </a:spcBef>
              <a:buClr>
                <a:srgbClr val="00AAE5"/>
              </a:buClr>
            </a:pPr>
            <a:r>
              <a:rPr lang="en-US" sz="1400" dirty="0">
                <a:solidFill>
                  <a:prstClr val="black"/>
                </a:solidFill>
              </a:rPr>
              <a:t>A weight of zero deactivates a search </a:t>
            </a:r>
            <a:r>
              <a:rPr lang="en-US" sz="1400" dirty="0" smtClean="0">
                <a:solidFill>
                  <a:prstClr val="black"/>
                </a:solidFill>
              </a:rPr>
              <a:t>type for strategies with dedicated misspelling steps:</a:t>
            </a:r>
          </a:p>
          <a:p>
            <a:pPr lvl="2">
              <a:spcBef>
                <a:spcPts val="0"/>
              </a:spcBef>
              <a:buClr>
                <a:srgbClr val="00AAE5"/>
              </a:buClr>
            </a:pPr>
            <a:r>
              <a:rPr lang="en-US" sz="1400" dirty="0" smtClean="0">
                <a:solidFill>
                  <a:prstClr val="black"/>
                </a:solidFill>
              </a:rPr>
              <a:t>Start with runs not capturing misspellings → associated search types (n-grams) has a weight of zero</a:t>
            </a:r>
          </a:p>
          <a:p>
            <a:pPr lvl="2">
              <a:spcBef>
                <a:spcPts val="0"/>
              </a:spcBef>
              <a:buClr>
                <a:srgbClr val="00AAE5"/>
              </a:buClr>
            </a:pPr>
            <a:r>
              <a:rPr lang="en-US" sz="1400" dirty="0" smtClean="0">
                <a:solidFill>
                  <a:prstClr val="black"/>
                </a:solidFill>
              </a:rPr>
              <a:t>Continue with misspelling runs → switch weight to linguistic search types, set conventional to zero</a:t>
            </a:r>
          </a:p>
          <a:p>
            <a:pPr marL="72000">
              <a:spcBef>
                <a:spcPts val="600"/>
              </a:spcBef>
              <a:buClr>
                <a:srgbClr val="00AAE5"/>
              </a:buClr>
            </a:pPr>
            <a:r>
              <a:rPr lang="en-US" sz="1400" dirty="0">
                <a:solidFill>
                  <a:prstClr val="black"/>
                </a:solidFill>
              </a:rPr>
              <a:t>Containment</a:t>
            </a:r>
          </a:p>
          <a:p>
            <a:pPr lvl="1">
              <a:spcBef>
                <a:spcPts val="0"/>
              </a:spcBef>
              <a:buClr>
                <a:srgbClr val="00AAE5"/>
              </a:buClr>
            </a:pPr>
            <a:r>
              <a:rPr lang="en-US" sz="1400" dirty="0">
                <a:solidFill>
                  <a:prstClr val="black"/>
                </a:solidFill>
              </a:rPr>
              <a:t>Keep weak search terms at bay by assessing a sensible cutoff: maximum expected number of plausible candidates</a:t>
            </a:r>
          </a:p>
          <a:p>
            <a:pPr marL="216000" lvl="0">
              <a:spcBef>
                <a:spcPts val="600"/>
              </a:spcBef>
              <a:buClr>
                <a:srgbClr val="00AAE5"/>
              </a:buClr>
            </a:pPr>
            <a:r>
              <a:rPr lang="en-US" sz="1400" dirty="0" smtClean="0">
                <a:solidFill>
                  <a:prstClr val="black"/>
                </a:solidFill>
              </a:rPr>
              <a:t>Capturing misspellings</a:t>
            </a:r>
          </a:p>
          <a:p>
            <a:pPr lvl="1">
              <a:spcBef>
                <a:spcPts val="0"/>
              </a:spcBef>
              <a:buClr>
                <a:srgbClr val="00AAE5"/>
              </a:buClr>
            </a:pPr>
            <a:r>
              <a:rPr lang="en-US" sz="1400" dirty="0" smtClean="0">
                <a:solidFill>
                  <a:prstClr val="black"/>
                </a:solidFill>
              </a:rPr>
              <a:t>Activating </a:t>
            </a:r>
            <a:r>
              <a:rPr lang="en-US" sz="1400" dirty="0">
                <a:solidFill>
                  <a:prstClr val="black"/>
                </a:solidFill>
              </a:rPr>
              <a:t>linguistic search types (n-grams) by assigning a weight &gt; </a:t>
            </a:r>
            <a:r>
              <a:rPr lang="en-US" sz="1400" dirty="0" smtClean="0">
                <a:solidFill>
                  <a:prstClr val="black"/>
                </a:solidFill>
              </a:rPr>
              <a:t>0 and deactivating the corresponding conventional search type</a:t>
            </a:r>
            <a:endParaRPr lang="en-US" sz="1400" dirty="0">
              <a:solidFill>
                <a:prstClr val="black"/>
              </a:solidFill>
            </a:endParaRPr>
          </a:p>
          <a:p>
            <a:pPr lvl="1">
              <a:spcBef>
                <a:spcPts val="0"/>
              </a:spcBef>
              <a:buClr>
                <a:srgbClr val="00AAE5"/>
              </a:buClr>
            </a:pPr>
            <a:r>
              <a:rPr lang="en-US" sz="1400" dirty="0">
                <a:solidFill>
                  <a:prstClr val="black"/>
                </a:solidFill>
              </a:rPr>
              <a:t>Usually only relevant search fields like the firm name are equipped with linguistic preparer</a:t>
            </a:r>
          </a:p>
          <a:p>
            <a:pPr marL="216000" lvl="0">
              <a:spcBef>
                <a:spcPts val="600"/>
              </a:spcBef>
              <a:buClr>
                <a:srgbClr val="00AAE5"/>
              </a:buClr>
            </a:pPr>
            <a:r>
              <a:rPr lang="en-US" sz="1400" dirty="0">
                <a:solidFill>
                  <a:prstClr val="black"/>
                </a:solidFill>
              </a:rPr>
              <a:t>Smoothing of the </a:t>
            </a:r>
            <a:r>
              <a:rPr lang="en-US" sz="1400" dirty="0" err="1">
                <a:solidFill>
                  <a:prstClr val="black"/>
                </a:solidFill>
              </a:rPr>
              <a:t>rIP</a:t>
            </a:r>
            <a:r>
              <a:rPr lang="en-US" sz="1400" dirty="0">
                <a:solidFill>
                  <a:prstClr val="black"/>
                </a:solidFill>
              </a:rPr>
              <a:t> distribution</a:t>
            </a:r>
          </a:p>
          <a:p>
            <a:pPr lvl="1">
              <a:spcBef>
                <a:spcPts val="0"/>
              </a:spcBef>
              <a:buClr>
                <a:srgbClr val="00AAE5"/>
              </a:buClr>
            </a:pPr>
            <a:r>
              <a:rPr lang="en-US" sz="1400" dirty="0">
                <a:solidFill>
                  <a:prstClr val="black"/>
                </a:solidFill>
              </a:rPr>
              <a:t>A smoothed distribution requires more words to match → dominant words lose </a:t>
            </a:r>
            <a:r>
              <a:rPr lang="en-US" sz="1400" dirty="0" smtClean="0">
                <a:solidFill>
                  <a:prstClr val="black"/>
                </a:solidFill>
              </a:rPr>
              <a:t>dominance</a:t>
            </a:r>
          </a:p>
          <a:p>
            <a:pPr lvl="1">
              <a:spcBef>
                <a:spcPts val="0"/>
              </a:spcBef>
              <a:buClr>
                <a:srgbClr val="00AAE5"/>
              </a:buClr>
            </a:pPr>
            <a:r>
              <a:rPr lang="en-US" sz="1400" dirty="0" smtClean="0">
                <a:solidFill>
                  <a:prstClr val="black"/>
                </a:solidFill>
              </a:rPr>
              <a:t>Higher precision at the expense of </a:t>
            </a:r>
            <a:r>
              <a:rPr lang="en-US" sz="1400" dirty="0">
                <a:solidFill>
                  <a:prstClr val="black"/>
                </a:solidFill>
              </a:rPr>
              <a:t>recall </a:t>
            </a:r>
            <a:r>
              <a:rPr lang="en-US" sz="1400" dirty="0" smtClean="0">
                <a:solidFill>
                  <a:prstClr val="black"/>
                </a:solidFill>
              </a:rPr>
              <a:t>→ readjusting the identity with the research function without losing candidates (Inverse Darwinian Stripping)</a:t>
            </a:r>
          </a:p>
          <a:p>
            <a:pPr lvl="1">
              <a:spcBef>
                <a:spcPts val="0"/>
              </a:spcBef>
              <a:buClr>
                <a:srgbClr val="00AAE5"/>
              </a:buClr>
            </a:pPr>
            <a:r>
              <a:rPr lang="en-US" sz="1400" dirty="0" smtClean="0">
                <a:solidFill>
                  <a:prstClr val="black"/>
                </a:solidFill>
              </a:rPr>
              <a:t>Some search contexts fare better with smoothing, i.e. street addresses or person names</a:t>
            </a:r>
            <a:endParaRPr lang="en-US" sz="1400" dirty="0">
              <a:solidFill>
                <a:prstClr val="black"/>
              </a:solidFill>
            </a:endParaRPr>
          </a:p>
          <a:p>
            <a:pPr lvl="1">
              <a:spcBef>
                <a:spcPts val="0"/>
              </a:spcBef>
              <a:buClr>
                <a:srgbClr val="00AAE5"/>
              </a:buClr>
            </a:pPr>
            <a:r>
              <a:rPr lang="en-US" sz="1400" dirty="0">
                <a:solidFill>
                  <a:prstClr val="black"/>
                </a:solidFill>
              </a:rPr>
              <a:t>N-grams covering misspellings may become dominant preventing matches </a:t>
            </a:r>
            <a:r>
              <a:rPr lang="en-US" sz="1400" dirty="0" smtClean="0">
                <a:solidFill>
                  <a:prstClr val="black"/>
                </a:solidFill>
              </a:rPr>
              <a:t>→ two search runs: one with and one without smoothing</a:t>
            </a:r>
          </a:p>
          <a:p>
            <a:pPr marL="72000">
              <a:spcBef>
                <a:spcPts val="600"/>
              </a:spcBef>
              <a:buClr>
                <a:srgbClr val="00AAE5"/>
              </a:buClr>
            </a:pPr>
            <a:r>
              <a:rPr lang="en-US" sz="1400" dirty="0" smtClean="0">
                <a:solidFill>
                  <a:prstClr val="black"/>
                </a:solidFill>
              </a:rPr>
              <a:t>Strategies over multiple search steps</a:t>
            </a:r>
          </a:p>
          <a:p>
            <a:pPr lvl="1">
              <a:spcBef>
                <a:spcPts val="0"/>
              </a:spcBef>
              <a:buClr>
                <a:srgbClr val="00AAE5"/>
              </a:buClr>
            </a:pPr>
            <a:r>
              <a:rPr lang="en-US" sz="1400" dirty="0" smtClean="0">
                <a:solidFill>
                  <a:srgbClr val="7AD0C4"/>
                </a:solidFill>
              </a:rPr>
              <a:t>Incremental</a:t>
            </a:r>
            <a:r>
              <a:rPr lang="en-US" sz="1400" dirty="0" smtClean="0">
                <a:solidFill>
                  <a:prstClr val="black"/>
                </a:solidFill>
              </a:rPr>
              <a:t>: exclude search records with candidates from subsequent search runs, Darwinian (keeping only the best candidates) → </a:t>
            </a:r>
            <a:r>
              <a:rPr lang="en-US" sz="1400" dirty="0" smtClean="0">
                <a:solidFill>
                  <a:srgbClr val="7CD2C6"/>
                </a:solidFill>
              </a:rPr>
              <a:t>Focused Base Table</a:t>
            </a:r>
          </a:p>
          <a:p>
            <a:pPr lvl="1">
              <a:spcBef>
                <a:spcPts val="0"/>
              </a:spcBef>
              <a:buClr>
                <a:srgbClr val="00AAE5"/>
              </a:buClr>
            </a:pPr>
            <a:r>
              <a:rPr lang="en-US" sz="1400" dirty="0" smtClean="0">
                <a:solidFill>
                  <a:srgbClr val="BADA15"/>
                </a:solidFill>
              </a:rPr>
              <a:t>Compound</a:t>
            </a:r>
            <a:r>
              <a:rPr lang="en-US" sz="1400" dirty="0" smtClean="0">
                <a:solidFill>
                  <a:prstClr val="black"/>
                </a:solidFill>
              </a:rPr>
              <a:t>: candidates of subsequent runs are merged (union of candidate sets) → </a:t>
            </a:r>
            <a:r>
              <a:rPr lang="en-US" sz="1400" dirty="0" smtClean="0">
                <a:solidFill>
                  <a:srgbClr val="BADA15"/>
                </a:solidFill>
              </a:rPr>
              <a:t>Unfocused Base Table</a:t>
            </a:r>
          </a:p>
          <a:p>
            <a:pPr marL="648000" lvl="1">
              <a:spcBef>
                <a:spcPts val="0"/>
              </a:spcBef>
              <a:buClr>
                <a:srgbClr val="00AAE5"/>
              </a:buClr>
              <a:buFont typeface="Calibri" panose="020F0502020204030204" pitchFamily="34" charset="0"/>
              <a:buChar char="+"/>
            </a:pPr>
            <a:r>
              <a:rPr lang="en-US" sz="1400" dirty="0" smtClean="0"/>
              <a:t>Inverse Darwinian Stripping if</a:t>
            </a:r>
            <a:r>
              <a:rPr lang="en-US" sz="1400" dirty="0" smtClean="0">
                <a:solidFill>
                  <a:srgbClr val="BADA15"/>
                </a:solidFill>
              </a:rPr>
              <a:t> </a:t>
            </a:r>
            <a:r>
              <a:rPr lang="en-US" sz="1400" dirty="0" smtClean="0">
                <a:solidFill>
                  <a:srgbClr val="7AD0C4"/>
                </a:solidFill>
              </a:rPr>
              <a:t>Focused Search Table</a:t>
            </a:r>
          </a:p>
          <a:p>
            <a:pPr marL="504000" lvl="1">
              <a:spcBef>
                <a:spcPts val="0"/>
              </a:spcBef>
              <a:buClr>
                <a:srgbClr val="00AAE5"/>
              </a:buClr>
            </a:pPr>
            <a:endParaRPr lang="en-US" sz="1400" dirty="0"/>
          </a:p>
          <a:p>
            <a:pPr lvl="0" indent="0">
              <a:spcBef>
                <a:spcPts val="600"/>
              </a:spcBef>
              <a:buClr>
                <a:srgbClr val="00AAE5"/>
              </a:buClr>
              <a:buNone/>
            </a:pPr>
            <a:endParaRPr lang="en-US" sz="1400" dirty="0">
              <a:solidFill>
                <a:prstClr val="black"/>
              </a:solidFill>
            </a:endParaRPr>
          </a:p>
          <a:p>
            <a:endParaRPr lang="en-US" sz="1400" dirty="0"/>
          </a:p>
        </p:txBody>
      </p:sp>
      <p:sp>
        <p:nvSpPr>
          <p:cNvPr id="5" name="Foliennummernplatzhalter 4"/>
          <p:cNvSpPr>
            <a:spLocks noGrp="1"/>
          </p:cNvSpPr>
          <p:nvPr>
            <p:ph type="sldNum" sz="quarter" idx="10"/>
          </p:nvPr>
        </p:nvSpPr>
        <p:spPr/>
        <p:txBody>
          <a:bodyPr/>
          <a:lstStyle/>
          <a:p>
            <a:fld id="{A29D8577-601D-4845-9C29-D9E13FE3E8DB}" type="slidenum">
              <a:rPr lang="en-US" smtClean="0"/>
              <a:pPr/>
              <a:t>24</a:t>
            </a:fld>
            <a:endParaRPr lang="en-US" dirty="0"/>
          </a:p>
        </p:txBody>
      </p:sp>
    </p:spTree>
    <p:extLst>
      <p:ext uri="{BB962C8B-B14F-4D97-AF65-F5344CB8AC3E}">
        <p14:creationId xmlns:p14="http://schemas.microsoft.com/office/powerpoint/2010/main" val="1100648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Search Strategy: Establishment Panel vs. Company Panel (MUP)</a:t>
            </a:r>
          </a:p>
        </p:txBody>
      </p:sp>
      <p:sp>
        <p:nvSpPr>
          <p:cNvPr id="4" name="Inhaltsplatzhalter 3"/>
          <p:cNvSpPr>
            <a:spLocks noGrp="1"/>
          </p:cNvSpPr>
          <p:nvPr>
            <p:ph idx="1"/>
          </p:nvPr>
        </p:nvSpPr>
        <p:spPr/>
        <p:txBody>
          <a:bodyPr/>
          <a:lstStyle/>
          <a:p>
            <a:pPr marL="216000" lvl="0">
              <a:spcBef>
                <a:spcPts val="600"/>
              </a:spcBef>
              <a:buClr>
                <a:srgbClr val="00AAE5"/>
              </a:buClr>
            </a:pPr>
            <a:r>
              <a:rPr lang="en-US" dirty="0" smtClean="0">
                <a:solidFill>
                  <a:prstClr val="black"/>
                </a:solidFill>
              </a:rPr>
              <a:t>Data</a:t>
            </a:r>
            <a:endParaRPr lang="en-US" dirty="0">
              <a:solidFill>
                <a:prstClr val="black"/>
              </a:solidFill>
            </a:endParaRPr>
          </a:p>
          <a:p>
            <a:pPr marL="504000" lvl="1">
              <a:spcBef>
                <a:spcPts val="0"/>
              </a:spcBef>
              <a:buClr>
                <a:srgbClr val="00AAE5"/>
              </a:buClr>
            </a:pPr>
            <a:r>
              <a:rPr lang="en-US" dirty="0" err="1">
                <a:solidFill>
                  <a:prstClr val="black"/>
                </a:solidFill>
              </a:rPr>
              <a:t>Mannheimer</a:t>
            </a:r>
            <a:r>
              <a:rPr lang="en-US" dirty="0">
                <a:solidFill>
                  <a:prstClr val="black"/>
                </a:solidFill>
              </a:rPr>
              <a:t> </a:t>
            </a:r>
            <a:r>
              <a:rPr lang="en-US" dirty="0" err="1">
                <a:solidFill>
                  <a:prstClr val="black"/>
                </a:solidFill>
              </a:rPr>
              <a:t>Unternehmens</a:t>
            </a:r>
            <a:r>
              <a:rPr lang="en-US" dirty="0">
                <a:solidFill>
                  <a:prstClr val="black"/>
                </a:solidFill>
              </a:rPr>
              <a:t> Panel (MUP 2000-2021, German Company Panel)</a:t>
            </a:r>
          </a:p>
          <a:p>
            <a:pPr marL="792000" lvl="2">
              <a:spcBef>
                <a:spcPts val="0"/>
              </a:spcBef>
              <a:buClr>
                <a:srgbClr val="00B0F0"/>
              </a:buClr>
            </a:pPr>
            <a:r>
              <a:rPr lang="en-US" dirty="0">
                <a:solidFill>
                  <a:prstClr val="black"/>
                </a:solidFill>
              </a:rPr>
              <a:t>Removing duplicates → firm </a:t>
            </a:r>
            <a:r>
              <a:rPr lang="en-US" dirty="0" smtClean="0">
                <a:solidFill>
                  <a:prstClr val="black"/>
                </a:solidFill>
              </a:rPr>
              <a:t>name &amp; </a:t>
            </a:r>
            <a:r>
              <a:rPr lang="en-US" dirty="0">
                <a:solidFill>
                  <a:prstClr val="black"/>
                </a:solidFill>
              </a:rPr>
              <a:t>address aggregates: 24 million</a:t>
            </a:r>
          </a:p>
          <a:p>
            <a:pPr marL="504000" lvl="1">
              <a:spcBef>
                <a:spcPts val="0"/>
              </a:spcBef>
              <a:buClr>
                <a:srgbClr val="00AAE5"/>
              </a:buClr>
            </a:pPr>
            <a:r>
              <a:rPr lang="en-US" dirty="0" err="1">
                <a:solidFill>
                  <a:prstClr val="black"/>
                </a:solidFill>
              </a:rPr>
              <a:t>Betriebsdatenpanel</a:t>
            </a:r>
            <a:r>
              <a:rPr lang="en-US" dirty="0">
                <a:solidFill>
                  <a:prstClr val="black"/>
                </a:solidFill>
              </a:rPr>
              <a:t> (Establishment Panel 2000-2020)</a:t>
            </a:r>
          </a:p>
          <a:p>
            <a:pPr marL="792000" lvl="2">
              <a:spcBef>
                <a:spcPts val="0"/>
              </a:spcBef>
              <a:buClr>
                <a:srgbClr val="00B0F0"/>
              </a:buClr>
            </a:pPr>
            <a:r>
              <a:rPr lang="en-US" dirty="0">
                <a:solidFill>
                  <a:prstClr val="black"/>
                </a:solidFill>
              </a:rPr>
              <a:t>Harmonizing street addresses due to systematic changes over years</a:t>
            </a:r>
          </a:p>
          <a:p>
            <a:pPr marL="792000" lvl="2">
              <a:spcBef>
                <a:spcPts val="0"/>
              </a:spcBef>
              <a:buClr>
                <a:srgbClr val="00B0F0"/>
              </a:buClr>
            </a:pPr>
            <a:r>
              <a:rPr lang="en-US" dirty="0">
                <a:solidFill>
                  <a:prstClr val="black"/>
                </a:solidFill>
              </a:rPr>
              <a:t>Removing duplicates → establishment &amp; address aggregates: 21 million</a:t>
            </a:r>
          </a:p>
          <a:p>
            <a:pPr marL="216000" lvl="0">
              <a:spcBef>
                <a:spcPts val="1200"/>
              </a:spcBef>
              <a:buClr>
                <a:srgbClr val="00AAE5"/>
              </a:buClr>
            </a:pPr>
            <a:r>
              <a:rPr lang="en-US" dirty="0" err="1">
                <a:solidFill>
                  <a:prstClr val="black"/>
                </a:solidFill>
              </a:rPr>
              <a:t>SearchEngine</a:t>
            </a:r>
            <a:endParaRPr lang="en-US" dirty="0">
              <a:solidFill>
                <a:prstClr val="black"/>
              </a:solidFill>
            </a:endParaRPr>
          </a:p>
          <a:p>
            <a:pPr marL="504000" lvl="1">
              <a:spcBef>
                <a:spcPts val="0"/>
              </a:spcBef>
              <a:buClr>
                <a:srgbClr val="00AAE5"/>
              </a:buClr>
            </a:pPr>
            <a:r>
              <a:rPr lang="en-US" dirty="0">
                <a:solidFill>
                  <a:prstClr val="black"/>
                </a:solidFill>
              </a:rPr>
              <a:t>Base table: MUP </a:t>
            </a:r>
          </a:p>
          <a:p>
            <a:pPr marL="504000" lvl="1">
              <a:spcBef>
                <a:spcPts val="0"/>
              </a:spcBef>
              <a:buClr>
                <a:srgbClr val="00AAE5"/>
              </a:buClr>
            </a:pPr>
            <a:r>
              <a:rPr lang="en-US" dirty="0">
                <a:solidFill>
                  <a:prstClr val="black"/>
                </a:solidFill>
              </a:rPr>
              <a:t>Search types: n</a:t>
            </a:r>
            <a:r>
              <a:rPr lang="en-US" dirty="0" smtClean="0">
                <a:solidFill>
                  <a:prstClr val="black"/>
                </a:solidFill>
              </a:rPr>
              <a:t>ame </a:t>
            </a:r>
            <a:r>
              <a:rPr lang="en-US" dirty="0">
                <a:solidFill>
                  <a:prstClr val="black"/>
                </a:solidFill>
              </a:rPr>
              <a:t>FIRMA, n</a:t>
            </a:r>
            <a:r>
              <a:rPr lang="en-US" dirty="0" smtClean="0">
                <a:solidFill>
                  <a:prstClr val="black"/>
                </a:solidFill>
              </a:rPr>
              <a:t>ame </a:t>
            </a:r>
            <a:r>
              <a:rPr lang="en-US" dirty="0">
                <a:solidFill>
                  <a:prstClr val="black"/>
                </a:solidFill>
              </a:rPr>
              <a:t>FIRMA GRAM3, </a:t>
            </a:r>
            <a:r>
              <a:rPr lang="en-US" dirty="0" smtClean="0">
                <a:solidFill>
                  <a:prstClr val="black"/>
                </a:solidFill>
              </a:rPr>
              <a:t>street </a:t>
            </a:r>
            <a:r>
              <a:rPr lang="en-US" dirty="0">
                <a:solidFill>
                  <a:prstClr val="black"/>
                </a:solidFill>
              </a:rPr>
              <a:t>STRASSE, </a:t>
            </a:r>
            <a:r>
              <a:rPr lang="en-US" dirty="0" smtClean="0">
                <a:solidFill>
                  <a:prstClr val="black"/>
                </a:solidFill>
              </a:rPr>
              <a:t>zip, city</a:t>
            </a:r>
            <a:endParaRPr lang="en-US" dirty="0">
              <a:solidFill>
                <a:prstClr val="black"/>
              </a:solidFill>
            </a:endParaRPr>
          </a:p>
          <a:p>
            <a:pPr marL="504000" lvl="1">
              <a:spcBef>
                <a:spcPts val="0"/>
              </a:spcBef>
              <a:buClr>
                <a:srgbClr val="00AAE5"/>
              </a:buClr>
            </a:pPr>
            <a:r>
              <a:rPr lang="en-US" dirty="0">
                <a:solidFill>
                  <a:prstClr val="black"/>
                </a:solidFill>
              </a:rPr>
              <a:t>Darwinian search mode: pick only the candidates with the highest </a:t>
            </a:r>
            <a:r>
              <a:rPr lang="en-US" dirty="0" smtClean="0">
                <a:solidFill>
                  <a:prstClr val="black"/>
                </a:solidFill>
              </a:rPr>
              <a:t>Identity</a:t>
            </a:r>
            <a:endParaRPr lang="en-US" dirty="0">
              <a:solidFill>
                <a:prstClr val="black"/>
              </a:solidFill>
            </a:endParaRPr>
          </a:p>
          <a:p>
            <a:pPr marL="504000" lvl="1">
              <a:spcBef>
                <a:spcPts val="0"/>
              </a:spcBef>
              <a:buClr>
                <a:srgbClr val="00AAE5"/>
              </a:buClr>
            </a:pPr>
            <a:r>
              <a:rPr lang="en-US" dirty="0" smtClean="0">
                <a:solidFill>
                  <a:prstClr val="black"/>
                </a:solidFill>
              </a:rPr>
              <a:t>Incremental: skip </a:t>
            </a:r>
            <a:r>
              <a:rPr lang="en-US" dirty="0">
                <a:solidFill>
                  <a:prstClr val="black"/>
                </a:solidFill>
              </a:rPr>
              <a:t>search records with candidates in subsequent search runs</a:t>
            </a:r>
          </a:p>
          <a:p>
            <a:pPr marL="216000" lvl="0">
              <a:spcBef>
                <a:spcPts val="1200"/>
              </a:spcBef>
              <a:buClr>
                <a:srgbClr val="00AAE5"/>
              </a:buClr>
            </a:pPr>
            <a:r>
              <a:rPr lang="en-US" dirty="0">
                <a:solidFill>
                  <a:prstClr val="black"/>
                </a:solidFill>
              </a:rPr>
              <a:t>Strategy</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056168593"/>
              </p:ext>
            </p:extLst>
          </p:nvPr>
        </p:nvGraphicFramePr>
        <p:xfrm>
          <a:off x="635357" y="4054448"/>
          <a:ext cx="7632000" cy="1966840"/>
        </p:xfrm>
        <a:graphic>
          <a:graphicData uri="http://schemas.openxmlformats.org/drawingml/2006/table">
            <a:tbl>
              <a:tblPr firstRow="1" firstCol="1" bandRow="1"/>
              <a:tblGrid>
                <a:gridCol w="540000"/>
                <a:gridCol w="4032000"/>
                <a:gridCol w="900000"/>
                <a:gridCol w="1080000"/>
                <a:gridCol w="1080000"/>
              </a:tblGrid>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run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description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threshold</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establishments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candidates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9,393,950</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14,531,161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log,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294,805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356,327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32,075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39,234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9999999,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841,062</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1,296,231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6,964,399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43,400,697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log,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571,931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801,739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141,064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202,351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18,239,286</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60,627,740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6" name="Foliennummernplatzhalter 5"/>
          <p:cNvSpPr>
            <a:spLocks noGrp="1"/>
          </p:cNvSpPr>
          <p:nvPr>
            <p:ph type="sldNum" sz="quarter" idx="10"/>
          </p:nvPr>
        </p:nvSpPr>
        <p:spPr/>
        <p:txBody>
          <a:bodyPr/>
          <a:lstStyle/>
          <a:p>
            <a:fld id="{A29D8577-601D-4845-9C29-D9E13FE3E8DB}" type="slidenum">
              <a:rPr lang="en-US" smtClean="0"/>
              <a:pPr/>
              <a:t>25</a:t>
            </a:fld>
            <a:endParaRPr lang="en-US" dirty="0"/>
          </a:p>
        </p:txBody>
      </p:sp>
    </p:spTree>
    <p:extLst>
      <p:ext uri="{BB962C8B-B14F-4D97-AF65-F5344CB8AC3E}">
        <p14:creationId xmlns:p14="http://schemas.microsoft.com/office/powerpoint/2010/main" val="65054583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4"/>
          <p:cNvGraphicFramePr>
            <a:graphicFrameLocks noGrp="1"/>
          </p:cNvGraphicFramePr>
          <p:nvPr>
            <p:extLst>
              <p:ext uri="{D42A27DB-BD31-4B8C-83A1-F6EECF244321}">
                <p14:modId xmlns:p14="http://schemas.microsoft.com/office/powerpoint/2010/main" val="963681506"/>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rgbClr val="000000"/>
                          </a:solidFill>
                          <a:effectLst/>
                          <a:latin typeface="Calibri" panose="020F0502020204030204" pitchFamily="34" charset="0"/>
                        </a:rPr>
                        <a:t>searched</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found</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equal</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street</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city</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cnt</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run</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Isotopen Technologien </a:t>
                      </a:r>
                      <a:r>
                        <a:rPr lang="de-DE" sz="800" b="0" i="0" u="none" strike="noStrike" dirty="0" err="1" smtClean="0">
                          <a:solidFill>
                            <a:srgbClr val="000000"/>
                          </a:solidFill>
                          <a:effectLst/>
                          <a:latin typeface="Calibri" panose="020F0502020204030204" pitchFamily="34" charset="0"/>
                        </a:rPr>
                        <a:t>Munich</a:t>
                      </a:r>
                      <a:r>
                        <a:rPr lang="de-DE" sz="800" b="0" i="0" u="none" strike="noStrike" dirty="0" smtClean="0">
                          <a:solidFill>
                            <a:srgbClr val="000000"/>
                          </a:solidFill>
                          <a:effectLst/>
                          <a:latin typeface="Calibri" panose="020F0502020204030204" pitchFamily="34" charset="0"/>
                        </a:rPr>
                        <a:t> </a:t>
                      </a:r>
                      <a:r>
                        <a:rPr lang="de-DE" sz="800" b="0" i="0" u="none" strike="noStrike" dirty="0">
                          <a:solidFill>
                            <a:srgbClr val="000000"/>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Schleißheimer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Keplerstrasse</a:t>
                      </a:r>
                      <a:r>
                        <a:rPr lang="de-DE" sz="800" b="0" i="0" u="none" strike="noStrike" dirty="0">
                          <a:solidFill>
                            <a:srgbClr val="000000"/>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Akademische Motorsportgruppe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Vereinigung von Freunden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Förderkreis Betriebswirtschaft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Verwaltungsgesellschaft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Engesserstrasse 8 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RP </a:t>
                      </a:r>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RP </a:t>
                      </a:r>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Engesserstr</a:t>
                      </a:r>
                      <a:r>
                        <a:rPr lang="de-DE" sz="800" b="0" i="0" u="none" strike="noStrike" dirty="0">
                          <a:solidFill>
                            <a:srgbClr val="000000"/>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t>
                      </a:r>
                      <a:r>
                        <a:rPr lang="de-DE" sz="800" b="0" i="0" u="none" strike="noStrike" dirty="0" err="1">
                          <a:solidFill>
                            <a:srgbClr val="000000"/>
                          </a:solidFill>
                          <a:effectLst/>
                          <a:latin typeface="Calibri" panose="020F0502020204030204" pitchFamily="34" charset="0"/>
                        </a:rPr>
                        <a:t>Acetow</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Körperschaft des öffentlichen Rechts</a:t>
                      </a:r>
                      <a:r>
                        <a:rPr lang="de-DE" sz="800" b="0" i="0" u="none" strike="noStrike" dirty="0" smtClean="0">
                          <a:solidFill>
                            <a:srgbClr val="000000"/>
                          </a:solidFill>
                          <a:effectLst/>
                          <a:latin typeface="Calibri" panose="020F0502020204030204" pitchFamily="34" charset="0"/>
                        </a:rPr>
                        <a:t>, </a:t>
                      </a:r>
                      <a:r>
                        <a:rPr lang="de-DE" sz="800" b="0" i="0" u="none" strike="noStrike" dirty="0" err="1" smtClean="0">
                          <a:solidFill>
                            <a:srgbClr val="000000"/>
                          </a:solidFill>
                          <a:effectLst/>
                          <a:latin typeface="Calibri" panose="020F0502020204030204" pitchFamily="34" charset="0"/>
                        </a:rPr>
                        <a:t>Kaiserstrasse</a:t>
                      </a:r>
                      <a:r>
                        <a:rPr lang="de-DE" sz="800" b="0" i="0" u="none" strike="noStrike" dirty="0" smtClean="0">
                          <a:solidFill>
                            <a:srgbClr val="000000"/>
                          </a:solidFill>
                          <a:effectLst/>
                          <a:latin typeface="Calibri" panose="020F0502020204030204" pitchFamily="34" charset="0"/>
                        </a:rPr>
                        <a:t> </a:t>
                      </a:r>
                      <a:r>
                        <a:rPr lang="de-DE" sz="800" b="0" i="0" u="none" strike="noStrike" dirty="0">
                          <a:solidFill>
                            <a:srgbClr val="000000"/>
                          </a:solidFill>
                          <a:effectLst/>
                          <a:latin typeface="Calibri" panose="020F0502020204030204" pitchFamily="34" charset="0"/>
                        </a:rPr>
                        <a:t>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Akademische Fliegergruppe am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Akademische Fliegergruppe am Karlsruher Institut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KIT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rgbClr val="000000"/>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rgbClr val="000000"/>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 Brotzmann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a:solidFill>
                            <a:srgbClr val="000000"/>
                          </a:solidFill>
                          <a:effectLst/>
                          <a:latin typeface="Calibri" panose="020F0502020204030204" pitchFamily="34" charset="0"/>
                        </a:rPr>
                        <a:t>K a r l B r o t z m a n n C o n s u l t i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Eerec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Merkers/Thür.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Merkers-Kieselbach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ALMÜ Präzisions-Werkzeug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1</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Gesellschaft zur Förderung angewandter Optik, Optoelektronik, Quantenelektronik und Spektroskopie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OPTOSENS Optische Spektroskopie und Sensortechnik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
        <p:nvSpPr>
          <p:cNvPr id="2" name="Titel 1"/>
          <p:cNvSpPr>
            <a:spLocks noGrp="1"/>
          </p:cNvSpPr>
          <p:nvPr>
            <p:ph type="title"/>
          </p:nvPr>
        </p:nvSpPr>
        <p:spPr/>
        <p:txBody>
          <a:bodyPr/>
          <a:lstStyle/>
          <a:p>
            <a:r>
              <a:rPr lang="en-US" dirty="0" smtClean="0"/>
              <a:t>Training Data</a:t>
            </a:r>
            <a:endParaRPr lang="en-US"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26</a:t>
            </a:fld>
            <a:endParaRPr lang="en-US" dirty="0"/>
          </a:p>
        </p:txBody>
      </p:sp>
    </p:spTree>
    <p:extLst>
      <p:ext uri="{BB962C8B-B14F-4D97-AF65-F5344CB8AC3E}">
        <p14:creationId xmlns:p14="http://schemas.microsoft.com/office/powerpoint/2010/main" val="208614184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Meta Vector Components</a:t>
            </a:r>
            <a:endParaRPr lang="en-US" dirty="0"/>
          </a:p>
        </p:txBody>
      </p:sp>
      <p:sp>
        <p:nvSpPr>
          <p:cNvPr id="4" name="Inhaltsplatzhalter 3"/>
          <p:cNvSpPr>
            <a:spLocks noGrp="1"/>
          </p:cNvSpPr>
          <p:nvPr>
            <p:ph idx="1"/>
          </p:nvPr>
        </p:nvSpPr>
        <p:spPr>
          <a:xfrm>
            <a:off x="130277" y="4696691"/>
            <a:ext cx="11865077" cy="1507463"/>
          </a:xfrm>
        </p:spPr>
        <p:txBody>
          <a:bodyPr>
            <a:normAutofit/>
          </a:bodyPr>
          <a:lstStyle/>
          <a:p>
            <a:pPr>
              <a:buClr>
                <a:srgbClr val="00B050"/>
              </a:buClr>
            </a:pPr>
            <a:r>
              <a:rPr lang="en-US" dirty="0" smtClean="0"/>
              <a:t>Relatively slim parameter set per observation (around 110 variables) </a:t>
            </a:r>
          </a:p>
          <a:p>
            <a:pPr lvl="1">
              <a:spcBef>
                <a:spcPts val="0"/>
              </a:spcBef>
              <a:buClr>
                <a:srgbClr val="00B050"/>
              </a:buClr>
            </a:pPr>
            <a:r>
              <a:rPr lang="en-US" dirty="0" smtClean="0"/>
              <a:t>Low risk of over-specification: having too many variables for too little data</a:t>
            </a:r>
          </a:p>
          <a:p>
            <a:pPr>
              <a:buClr>
                <a:srgbClr val="FF0000"/>
              </a:buClr>
            </a:pPr>
            <a:r>
              <a:rPr lang="en-US" dirty="0"/>
              <a:t>No semantics </a:t>
            </a:r>
            <a:endParaRPr lang="en-US" dirty="0" smtClean="0"/>
          </a:p>
          <a:p>
            <a:pPr lvl="1">
              <a:spcBef>
                <a:spcPts val="0"/>
              </a:spcBef>
              <a:buClr>
                <a:srgbClr val="FF0000"/>
              </a:buClr>
            </a:pPr>
            <a:r>
              <a:rPr lang="en-US" dirty="0" smtClean="0"/>
              <a:t>“second hand metal wares” and “scrapyard” are not identified as tantamount</a:t>
            </a:r>
          </a:p>
          <a:p>
            <a:pPr lvl="1">
              <a:spcBef>
                <a:spcPts val="0"/>
              </a:spcBef>
              <a:buClr>
                <a:srgbClr val="FF0000"/>
              </a:buClr>
              <a:buFont typeface="Calibri" panose="020F0502020204030204" pitchFamily="34" charset="0"/>
              <a:buChar char="→"/>
            </a:pPr>
            <a:r>
              <a:rPr lang="en-US" dirty="0" smtClean="0"/>
              <a:t>Lenient labeling required (use post-processing with core data to settle ambiguities) </a:t>
            </a:r>
            <a:endParaRPr lang="en-US" dirty="0"/>
          </a:p>
        </p:txBody>
      </p:sp>
      <p:sp>
        <p:nvSpPr>
          <p:cNvPr id="5" name="Foliennummernplatzhalter 4"/>
          <p:cNvSpPr>
            <a:spLocks noGrp="1"/>
          </p:cNvSpPr>
          <p:nvPr>
            <p:ph type="sldNum" sz="quarter" idx="10"/>
          </p:nvPr>
        </p:nvSpPr>
        <p:spPr/>
        <p:txBody>
          <a:bodyPr/>
          <a:lstStyle/>
          <a:p>
            <a:fld id="{A29D8577-601D-4845-9C29-D9E13FE3E8DB}" type="slidenum">
              <a:rPr lang="en-US" smtClean="0">
                <a:solidFill>
                  <a:prstClr val="white">
                    <a:lumMod val="50000"/>
                  </a:prstClr>
                </a:solidFill>
              </a:rPr>
              <a:pPr/>
              <a:t>27</a:t>
            </a:fld>
            <a:endParaRPr lang="en-US" dirty="0">
              <a:solidFill>
                <a:prstClr val="white">
                  <a:lumMod val="50000"/>
                </a:prstClr>
              </a:solidFill>
            </a:endParaRPr>
          </a:p>
        </p:txBody>
      </p:sp>
      <mc:AlternateContent xmlns:mc="http://schemas.openxmlformats.org/markup-compatibility/2006" xmlns:a14="http://schemas.microsoft.com/office/drawing/2010/main">
        <mc:Choice Requires="a14">
          <p:sp>
            <p:nvSpPr>
              <p:cNvPr id="7" name="Textfeld 6"/>
              <p:cNvSpPr txBox="1"/>
              <p:nvPr/>
            </p:nvSpPr>
            <p:spPr>
              <a:xfrm>
                <a:off x="1378035" y="680946"/>
                <a:ext cx="8624454" cy="4278094"/>
              </a:xfrm>
              <a:prstGeom prst="rect">
                <a:avLst/>
              </a:prstGeom>
              <a:noFill/>
            </p:spPr>
            <p:txBody>
              <a:bodyPr wrap="square" rtlCol="0">
                <a:spAutoFit/>
              </a:bodyPr>
              <a:lstStyle/>
              <a:p>
                <a:pPr lvl="0" indent="0">
                  <a:spcBef>
                    <a:spcPts val="600"/>
                  </a:spcBef>
                  <a:buClr>
                    <a:srgbClr val="00AAE5"/>
                  </a:buClr>
                  <a:buNone/>
                </a:pPr>
                <a:r>
                  <a:rPr lang="en-US" sz="1600" dirty="0">
                    <a:solidFill>
                      <a:prstClr val="black"/>
                    </a:solidFill>
                  </a:rPr>
                  <a:t>Absolute Identification Potential: </a:t>
                </a:r>
                <a14:m>
                  <m:oMath xmlns:m="http://schemas.openxmlformats.org/officeDocument/2006/math">
                    <m:r>
                      <a:rPr lang="de-DE" sz="1600" i="1" dirty="0">
                        <a:solidFill>
                          <a:prstClr val="black"/>
                        </a:solidFill>
                        <a:latin typeface="Cambria Math" panose="02040503050406030204" pitchFamily="18" charset="0"/>
                      </a:rPr>
                      <m:t>𝑎𝐼𝑃</m:t>
                    </m:r>
                    <m:d>
                      <m:dPr>
                        <m:ctrlPr>
                          <a:rPr lang="de-DE" sz="1600" i="1" dirty="0">
                            <a:solidFill>
                              <a:prstClr val="black"/>
                            </a:solidFill>
                            <a:latin typeface="Cambria Math" panose="02040503050406030204" pitchFamily="18" charset="0"/>
                          </a:rPr>
                        </m:ctrlPr>
                      </m:dPr>
                      <m:e>
                        <m:r>
                          <a:rPr lang="de-DE" sz="1600" i="1" dirty="0">
                            <a:solidFill>
                              <a:prstClr val="black"/>
                            </a:solidFill>
                            <a:latin typeface="Cambria Math" panose="02040503050406030204" pitchFamily="18" charset="0"/>
                          </a:rPr>
                          <m:t>𝑤</m:t>
                        </m:r>
                      </m:e>
                    </m:d>
                    <m:r>
                      <a:rPr lang="de-DE" sz="1600" i="1" dirty="0">
                        <a:solidFill>
                          <a:prstClr val="black"/>
                        </a:solidFill>
                        <a:latin typeface="Cambria Math" panose="02040503050406030204" pitchFamily="18" charset="0"/>
                      </a:rPr>
                      <m:t>=</m:t>
                    </m:r>
                    <m:r>
                      <a:rPr lang="en-US" sz="1600" i="1" dirty="0">
                        <a:solidFill>
                          <a:prstClr val="black"/>
                        </a:solidFill>
                        <a:latin typeface="Cambria Math" panose="02040503050406030204" pitchFamily="18" charset="0"/>
                      </a:rPr>
                      <m:t>1−</m:t>
                    </m:r>
                    <m:r>
                      <a:rPr lang="en-US" sz="1600" i="1" dirty="0">
                        <a:solidFill>
                          <a:prstClr val="black"/>
                        </a:solidFill>
                        <a:latin typeface="Cambria Math" panose="02040503050406030204" pitchFamily="18" charset="0"/>
                      </a:rPr>
                      <m:t>𝑙𝑛</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𝑜𝑐𝑐</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𝑤</m:t>
                    </m:r>
                    <m:r>
                      <a:rPr lang="en-US" sz="1600" i="1" dirty="0" err="1">
                        <a:solidFill>
                          <a:prstClr val="black"/>
                        </a:solidFill>
                        <a:latin typeface="Cambria Math" panose="02040503050406030204" pitchFamily="18" charset="0"/>
                      </a:rPr>
                      <m:t>,</m:t>
                    </m:r>
                    <m:sSub>
                      <m:sSubPr>
                        <m:ctrlPr>
                          <a:rPr lang="en-US" sz="1600" i="1" dirty="0">
                            <a:solidFill>
                              <a:prstClr val="black"/>
                            </a:solidFill>
                            <a:latin typeface="Cambria Math" panose="02040503050406030204" pitchFamily="18" charset="0"/>
                          </a:rPr>
                        </m:ctrlPr>
                      </m:sSubPr>
                      <m:e>
                        <m:r>
                          <a:rPr lang="de-DE" sz="1600" i="1" dirty="0">
                            <a:solidFill>
                              <a:prstClr val="black"/>
                            </a:solidFill>
                            <a:latin typeface="Cambria Math" panose="02040503050406030204" pitchFamily="18" charset="0"/>
                          </a:rPr>
                          <m:t>𝑠𝑡</m:t>
                        </m:r>
                      </m:e>
                      <m:sub>
                        <m:r>
                          <a:rPr lang="de-DE" sz="1600" i="1" dirty="0">
                            <a:solidFill>
                              <a:prstClr val="black"/>
                            </a:solidFill>
                            <a:latin typeface="Cambria Math" panose="02040503050406030204" pitchFamily="18" charset="0"/>
                          </a:rPr>
                          <m:t>𝑤</m:t>
                        </m:r>
                      </m:sub>
                    </m:sSub>
                    <m:r>
                      <a:rPr lang="en-US" sz="1600" i="1" dirty="0">
                        <a:solidFill>
                          <a:prstClr val="black"/>
                        </a:solidFill>
                        <a:latin typeface="Cambria Math" panose="02040503050406030204" pitchFamily="18" charset="0"/>
                      </a:rPr>
                      <m:t>))/</m:t>
                    </m:r>
                    <m:r>
                      <a:rPr lang="en-US" sz="1600" i="1" dirty="0">
                        <a:solidFill>
                          <a:prstClr val="black"/>
                        </a:solidFill>
                        <a:latin typeface="Cambria Math" panose="02040503050406030204" pitchFamily="18" charset="0"/>
                      </a:rPr>
                      <m:t>𝑙𝑛</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𝑚𝑎𝑥𝑜𝑐𝑐</m:t>
                    </m:r>
                    <m:r>
                      <a:rPr lang="en-US" sz="1600" i="1" dirty="0">
                        <a:solidFill>
                          <a:prstClr val="black"/>
                        </a:solidFill>
                        <a:latin typeface="Cambria Math" panose="02040503050406030204" pitchFamily="18" charset="0"/>
                      </a:rPr>
                      <m:t>(</m:t>
                    </m:r>
                    <m:sSub>
                      <m:sSubPr>
                        <m:ctrlPr>
                          <a:rPr lang="en-US" sz="1600" i="1" dirty="0">
                            <a:solidFill>
                              <a:prstClr val="black"/>
                            </a:solidFill>
                            <a:latin typeface="Cambria Math" panose="02040503050406030204" pitchFamily="18" charset="0"/>
                          </a:rPr>
                        </m:ctrlPr>
                      </m:sSubPr>
                      <m:e>
                        <m:r>
                          <a:rPr lang="de-DE" sz="1600" i="1" dirty="0">
                            <a:solidFill>
                              <a:prstClr val="black"/>
                            </a:solidFill>
                            <a:latin typeface="Cambria Math" panose="02040503050406030204" pitchFamily="18" charset="0"/>
                          </a:rPr>
                          <m:t>𝑠𝑡</m:t>
                        </m:r>
                      </m:e>
                      <m:sub>
                        <m:r>
                          <a:rPr lang="de-DE" sz="1600" i="1" dirty="0">
                            <a:solidFill>
                              <a:prstClr val="black"/>
                            </a:solidFill>
                            <a:latin typeface="Cambria Math" panose="02040503050406030204" pitchFamily="18" charset="0"/>
                          </a:rPr>
                          <m:t>𝑤</m:t>
                        </m:r>
                      </m:sub>
                    </m:sSub>
                    <m:r>
                      <a:rPr lang="en-US" sz="1600" i="1" dirty="0">
                        <a:solidFill>
                          <a:prstClr val="black"/>
                        </a:solidFill>
                        <a:latin typeface="Cambria Math" panose="02040503050406030204" pitchFamily="18" charset="0"/>
                      </a:rPr>
                      <m:t>))</m:t>
                    </m:r>
                  </m:oMath>
                </a14:m>
                <a:r>
                  <a:rPr lang="en-US" sz="1600" i="1" dirty="0">
                    <a:solidFill>
                      <a:prstClr val="black"/>
                    </a:solidFill>
                  </a:rPr>
                  <a:t> </a:t>
                </a:r>
                <a:br>
                  <a:rPr lang="en-US" sz="1600" i="1" dirty="0">
                    <a:solidFill>
                      <a:prstClr val="black"/>
                    </a:solidFill>
                  </a:rPr>
                </a:br>
                <a:r>
                  <a:rPr lang="en-US" sz="1600" dirty="0">
                    <a:solidFill>
                      <a:prstClr val="black"/>
                    </a:solidFill>
                  </a:rPr>
                  <a:t>Report only the </a:t>
                </a:r>
                <a:r>
                  <a:rPr lang="en-US" sz="1600" dirty="0">
                    <a:solidFill>
                      <a:srgbClr val="0078D7"/>
                    </a:solidFill>
                  </a:rPr>
                  <a:t>n</a:t>
                </a:r>
                <a:r>
                  <a:rPr lang="en-US" sz="1600" dirty="0">
                    <a:solidFill>
                      <a:prstClr val="black"/>
                    </a:solidFill>
                  </a:rPr>
                  <a:t> largest </a:t>
                </a:r>
                <a:r>
                  <a:rPr lang="en-US" sz="1600" dirty="0" err="1">
                    <a:solidFill>
                      <a:prstClr val="black"/>
                    </a:solidFill>
                  </a:rPr>
                  <a:t>aIP</a:t>
                </a:r>
                <a:r>
                  <a:rPr lang="en-US" sz="1600" dirty="0">
                    <a:solidFill>
                      <a:prstClr val="black"/>
                    </a:solidFill>
                  </a:rPr>
                  <a:t> in descending order for…</a:t>
                </a:r>
              </a:p>
              <a:p>
                <a:pPr marL="0" lvl="1">
                  <a:spcBef>
                    <a:spcPts val="0"/>
                  </a:spcBef>
                  <a:buClr>
                    <a:srgbClr val="00AAE5"/>
                  </a:buClr>
                  <a:buFont typeface="Calibri" panose="020F0502020204030204" pitchFamily="34" charset="0"/>
                  <a:buChar char="…"/>
                </a:pPr>
                <a:r>
                  <a:rPr lang="en-US" sz="1600" dirty="0">
                    <a:solidFill>
                      <a:srgbClr val="00B050"/>
                    </a:solidFill>
                  </a:rPr>
                  <a:t>matching words in search term and candidate</a:t>
                </a:r>
              </a:p>
              <a:p>
                <a:pPr marL="0" lvl="1">
                  <a:spcBef>
                    <a:spcPts val="0"/>
                  </a:spcBef>
                  <a:buClr>
                    <a:srgbClr val="00AAE5"/>
                  </a:buClr>
                  <a:buFont typeface="Calibri" panose="020F0502020204030204" pitchFamily="34" charset="0"/>
                  <a:buChar char="…"/>
                </a:pPr>
                <a:r>
                  <a:rPr lang="en-US" sz="1600" dirty="0">
                    <a:solidFill>
                      <a:prstClr val="black"/>
                    </a:solidFill>
                  </a:rPr>
                  <a:t>words exclusive to the candidate</a:t>
                </a:r>
              </a:p>
              <a:p>
                <a:pPr marL="0" lvl="1">
                  <a:spcBef>
                    <a:spcPts val="0"/>
                  </a:spcBef>
                  <a:buClr>
                    <a:srgbClr val="00AAE5"/>
                  </a:buClr>
                  <a:buFont typeface="Calibri" panose="020F0502020204030204" pitchFamily="34" charset="0"/>
                  <a:buChar char="…"/>
                </a:pPr>
                <a:r>
                  <a:rPr lang="en-US" sz="1600" dirty="0">
                    <a:solidFill>
                      <a:srgbClr val="FF0000"/>
                    </a:solidFill>
                  </a:rPr>
                  <a:t>words exclusive to the search term </a:t>
                </a:r>
                <a:r>
                  <a:rPr lang="en-US" sz="1600" dirty="0">
                    <a:solidFill>
                      <a:prstClr val="black"/>
                    </a:solidFill>
                  </a:rPr>
                  <a:t>(requires auxiliary registry of the search table)</a:t>
                </a:r>
              </a:p>
              <a:p>
                <a:pPr lvl="0" indent="0">
                  <a:spcBef>
                    <a:spcPts val="0"/>
                  </a:spcBef>
                  <a:buClr>
                    <a:srgbClr val="00AAE5"/>
                  </a:buClr>
                  <a:buNone/>
                </a:pPr>
                <a:r>
                  <a:rPr lang="en-US" sz="1600" dirty="0">
                    <a:solidFill>
                      <a:prstClr val="black"/>
                    </a:solidFill>
                  </a:rPr>
                  <a:t>for all search types, i.e.: name = </a:t>
                </a:r>
                <a:r>
                  <a:rPr lang="en-US" sz="1600" dirty="0">
                    <a:solidFill>
                      <a:srgbClr val="0078D7"/>
                    </a:solidFill>
                  </a:rPr>
                  <a:t>5</a:t>
                </a:r>
                <a:r>
                  <a:rPr lang="en-US" sz="1600" dirty="0">
                    <a:solidFill>
                      <a:prstClr val="black"/>
                    </a:solidFill>
                  </a:rPr>
                  <a:t>, name GRAM3 = </a:t>
                </a:r>
                <a:r>
                  <a:rPr lang="en-US" sz="1600" dirty="0">
                    <a:solidFill>
                      <a:srgbClr val="0078D7"/>
                    </a:solidFill>
                  </a:rPr>
                  <a:t>15</a:t>
                </a:r>
                <a:r>
                  <a:rPr lang="en-US" sz="1600" dirty="0">
                    <a:solidFill>
                      <a:prstClr val="black"/>
                    </a:solidFill>
                  </a:rPr>
                  <a:t>, street = </a:t>
                </a:r>
                <a:r>
                  <a:rPr lang="en-US" sz="1600" dirty="0">
                    <a:solidFill>
                      <a:srgbClr val="0078D7"/>
                    </a:solidFill>
                  </a:rPr>
                  <a:t>3</a:t>
                </a:r>
                <a:r>
                  <a:rPr lang="en-US" sz="1600" dirty="0">
                    <a:solidFill>
                      <a:prstClr val="black"/>
                    </a:solidFill>
                  </a:rPr>
                  <a:t>, zip = </a:t>
                </a:r>
                <a:r>
                  <a:rPr lang="en-US" sz="1600" dirty="0">
                    <a:solidFill>
                      <a:srgbClr val="0078D7"/>
                    </a:solidFill>
                  </a:rPr>
                  <a:t>1</a:t>
                </a:r>
                <a:r>
                  <a:rPr lang="en-US" sz="1600" dirty="0">
                    <a:solidFill>
                      <a:prstClr val="black"/>
                    </a:solidFill>
                  </a:rPr>
                  <a:t>, city = </a:t>
                </a:r>
                <a:r>
                  <a:rPr lang="en-US" sz="1600" dirty="0" smtClean="0">
                    <a:solidFill>
                      <a:srgbClr val="0078D7"/>
                    </a:solidFill>
                  </a:rPr>
                  <a:t>2</a:t>
                </a:r>
              </a:p>
              <a:p>
                <a:pPr lvl="0" indent="0">
                  <a:spcBef>
                    <a:spcPts val="1200"/>
                  </a:spcBef>
                  <a:buClr>
                    <a:srgbClr val="00AAE5"/>
                  </a:buClr>
                  <a:buNone/>
                </a:pPr>
                <a:r>
                  <a:rPr lang="en-US" sz="1600" dirty="0" smtClean="0">
                    <a:solidFill>
                      <a:prstClr val="black"/>
                    </a:solidFill>
                  </a:rPr>
                  <a:t>Asymmetric string distances based on maximizing word-by-word comparisons between search term and candidate and vice versa for </a:t>
                </a:r>
                <a:r>
                  <a:rPr lang="en-US" sz="1600" dirty="0">
                    <a:solidFill>
                      <a:prstClr val="black"/>
                    </a:solidFill>
                  </a:rPr>
                  <a:t>all search </a:t>
                </a:r>
                <a:r>
                  <a:rPr lang="en-US" sz="1600" dirty="0" smtClean="0">
                    <a:solidFill>
                      <a:prstClr val="black"/>
                    </a:solidFill>
                  </a:rPr>
                  <a:t>fields </a:t>
                </a:r>
                <a:r>
                  <a:rPr lang="en-US" sz="1600" dirty="0">
                    <a:solidFill>
                      <a:prstClr val="black"/>
                    </a:solidFill>
                  </a:rPr>
                  <a:t>(independent of the positioning of words</a:t>
                </a:r>
                <a:r>
                  <a:rPr lang="en-US" sz="1600" dirty="0" smtClean="0">
                    <a:solidFill>
                      <a:prstClr val="black"/>
                    </a:solidFill>
                  </a:rPr>
                  <a:t>).</a:t>
                </a:r>
              </a:p>
              <a:p>
                <a:pPr lvl="0" indent="0">
                  <a:spcBef>
                    <a:spcPts val="1200"/>
                  </a:spcBef>
                  <a:buClr>
                    <a:srgbClr val="00AAE5"/>
                  </a:buClr>
                  <a:buNone/>
                </a:pPr>
                <a:r>
                  <a:rPr lang="en-US" sz="1600" dirty="0" smtClean="0">
                    <a:solidFill>
                      <a:prstClr val="black"/>
                    </a:solidFill>
                  </a:rPr>
                  <a:t>Similarities between search field components, i.e. city name repeats in firm name</a:t>
                </a:r>
                <a:endParaRPr lang="en-US" sz="1600" dirty="0">
                  <a:solidFill>
                    <a:prstClr val="black"/>
                  </a:solidFill>
                </a:endParaRPr>
              </a:p>
              <a:p>
                <a:pPr lvl="0" indent="0">
                  <a:spcBef>
                    <a:spcPts val="1200"/>
                  </a:spcBef>
                  <a:buClr>
                    <a:srgbClr val="00AAE5"/>
                  </a:buClr>
                  <a:buNone/>
                </a:pPr>
                <a:r>
                  <a:rPr lang="en-US" sz="1600" dirty="0">
                    <a:solidFill>
                      <a:prstClr val="black"/>
                    </a:solidFill>
                  </a:rPr>
                  <a:t>Candidate block </a:t>
                </a:r>
                <a:r>
                  <a:rPr lang="en-US" sz="1600" dirty="0" smtClean="0">
                    <a:solidFill>
                      <a:prstClr val="black"/>
                    </a:solidFill>
                  </a:rPr>
                  <a:t>statistics</a:t>
                </a:r>
                <a:endParaRPr lang="en-US" sz="1600" dirty="0">
                  <a:solidFill>
                    <a:prstClr val="black"/>
                  </a:solidFill>
                </a:endParaRPr>
              </a:p>
              <a:p>
                <a:pPr marL="216000" lvl="1" indent="-216000">
                  <a:spcBef>
                    <a:spcPts val="0"/>
                  </a:spcBef>
                  <a:buClr>
                    <a:srgbClr val="00AAE5"/>
                  </a:buClr>
                  <a:buFont typeface="Wingdings" panose="05000000000000000000" pitchFamily="2" charset="2"/>
                  <a:buChar char="§"/>
                </a:pPr>
                <a:r>
                  <a:rPr lang="en-US" sz="1600" dirty="0">
                    <a:solidFill>
                      <a:prstClr val="black"/>
                    </a:solidFill>
                  </a:rPr>
                  <a:t>Number of candidates for the same search record</a:t>
                </a:r>
              </a:p>
              <a:p>
                <a:pPr marL="216000" lvl="1" indent="-216000">
                  <a:spcBef>
                    <a:spcPts val="0"/>
                  </a:spcBef>
                  <a:buClr>
                    <a:srgbClr val="00AAE5"/>
                  </a:buClr>
                  <a:buFont typeface="Wingdings" panose="05000000000000000000" pitchFamily="2" charset="2"/>
                  <a:buChar char="§"/>
                </a:pPr>
                <a:r>
                  <a:rPr lang="en-US" sz="1600" dirty="0">
                    <a:solidFill>
                      <a:prstClr val="black"/>
                    </a:solidFill>
                  </a:rPr>
                  <a:t>Number of distinct identities among those candidates</a:t>
                </a:r>
              </a:p>
              <a:p>
                <a:pPr marL="216000" lvl="1" indent="-216000">
                  <a:spcBef>
                    <a:spcPts val="0"/>
                  </a:spcBef>
                  <a:buClr>
                    <a:srgbClr val="00AAE5"/>
                  </a:buClr>
                  <a:buFont typeface="Wingdings" panose="05000000000000000000" pitchFamily="2" charset="2"/>
                  <a:buChar char="§"/>
                </a:pPr>
                <a:r>
                  <a:rPr lang="en-US" sz="1600" dirty="0">
                    <a:solidFill>
                      <a:prstClr val="black"/>
                    </a:solidFill>
                  </a:rPr>
                  <a:t>Percentile rank position within candidates</a:t>
                </a:r>
              </a:p>
              <a:p>
                <a:pPr marL="216000" lvl="1" indent="-216000">
                  <a:spcBef>
                    <a:spcPts val="0"/>
                  </a:spcBef>
                  <a:buClr>
                    <a:srgbClr val="00AAE5"/>
                  </a:buClr>
                  <a:buFont typeface="Wingdings" panose="05000000000000000000" pitchFamily="2" charset="2"/>
                  <a:buChar char="§"/>
                </a:pPr>
                <a:r>
                  <a:rPr lang="en-US" sz="1600" dirty="0">
                    <a:solidFill>
                      <a:prstClr val="black"/>
                    </a:solidFill>
                  </a:rPr>
                  <a:t>Standard deviations of the string distances (calculated externally)</a:t>
                </a:r>
              </a:p>
              <a:p>
                <a:endParaRPr lang="en-US" dirty="0"/>
              </a:p>
            </p:txBody>
          </p:sp>
        </mc:Choice>
        <mc:Fallback xmlns="">
          <p:sp>
            <p:nvSpPr>
              <p:cNvPr id="7" name="Textfeld 6"/>
              <p:cNvSpPr txBox="1">
                <a:spLocks noRot="1" noChangeAspect="1" noMove="1" noResize="1" noEditPoints="1" noAdjustHandles="1" noChangeArrowheads="1" noChangeShapeType="1" noTextEdit="1"/>
              </p:cNvSpPr>
              <p:nvPr/>
            </p:nvSpPr>
            <p:spPr>
              <a:xfrm>
                <a:off x="1378035" y="680946"/>
                <a:ext cx="8624454" cy="4278094"/>
              </a:xfrm>
              <a:prstGeom prst="rect">
                <a:avLst/>
              </a:prstGeom>
              <a:blipFill rotWithShape="0">
                <a:blip r:embed="rId2"/>
                <a:stretch>
                  <a:fillRect l="-353" t="-428"/>
                </a:stretch>
              </a:blipFill>
            </p:spPr>
            <p:txBody>
              <a:bodyPr/>
              <a:lstStyle/>
              <a:p>
                <a:r>
                  <a:rPr lang="en-US">
                    <a:noFill/>
                  </a:rPr>
                  <a:t> </a:t>
                </a:r>
              </a:p>
            </p:txBody>
          </p:sp>
        </mc:Fallback>
      </mc:AlternateContent>
      <p:sp>
        <p:nvSpPr>
          <p:cNvPr id="8" name="Textfeld 7"/>
          <p:cNvSpPr txBox="1"/>
          <p:nvPr/>
        </p:nvSpPr>
        <p:spPr>
          <a:xfrm>
            <a:off x="187036" y="680946"/>
            <a:ext cx="921342" cy="338554"/>
          </a:xfrm>
          <a:prstGeom prst="rect">
            <a:avLst/>
          </a:prstGeom>
          <a:noFill/>
        </p:spPr>
        <p:txBody>
          <a:bodyPr wrap="none" rtlCol="0">
            <a:spAutoFit/>
          </a:bodyPr>
          <a:lstStyle/>
          <a:p>
            <a:r>
              <a:rPr lang="en-US" sz="1600" dirty="0" smtClean="0">
                <a:solidFill>
                  <a:srgbClr val="00B0F0"/>
                </a:solidFill>
              </a:rPr>
              <a:t>Heuristic</a:t>
            </a:r>
            <a:endParaRPr lang="en-US" sz="1600" dirty="0">
              <a:solidFill>
                <a:srgbClr val="00B0F0"/>
              </a:solidFill>
            </a:endParaRPr>
          </a:p>
        </p:txBody>
      </p:sp>
      <p:sp>
        <p:nvSpPr>
          <p:cNvPr id="9" name="Textfeld 8"/>
          <p:cNvSpPr txBox="1"/>
          <p:nvPr/>
        </p:nvSpPr>
        <p:spPr>
          <a:xfrm>
            <a:off x="187036" y="2293835"/>
            <a:ext cx="679994" cy="338554"/>
          </a:xfrm>
          <a:prstGeom prst="rect">
            <a:avLst/>
          </a:prstGeom>
          <a:noFill/>
        </p:spPr>
        <p:txBody>
          <a:bodyPr wrap="none" rtlCol="0">
            <a:spAutoFit/>
          </a:bodyPr>
          <a:lstStyle/>
          <a:p>
            <a:r>
              <a:rPr lang="en-US" sz="1600" dirty="0" smtClean="0">
                <a:solidFill>
                  <a:srgbClr val="00B0F0"/>
                </a:solidFill>
              </a:rPr>
              <a:t>Visual</a:t>
            </a:r>
            <a:endParaRPr lang="en-US" sz="1600" dirty="0">
              <a:solidFill>
                <a:srgbClr val="00B0F0"/>
              </a:solidFill>
            </a:endParaRPr>
          </a:p>
        </p:txBody>
      </p:sp>
      <p:sp>
        <p:nvSpPr>
          <p:cNvPr id="10" name="Textfeld 9"/>
          <p:cNvSpPr txBox="1"/>
          <p:nvPr/>
        </p:nvSpPr>
        <p:spPr>
          <a:xfrm>
            <a:off x="187036" y="2933839"/>
            <a:ext cx="838306" cy="338554"/>
          </a:xfrm>
          <a:prstGeom prst="rect">
            <a:avLst/>
          </a:prstGeom>
          <a:noFill/>
        </p:spPr>
        <p:txBody>
          <a:bodyPr wrap="none" rtlCol="0">
            <a:spAutoFit/>
          </a:bodyPr>
          <a:lstStyle/>
          <a:p>
            <a:r>
              <a:rPr lang="en-US" sz="1600" dirty="0" smtClean="0">
                <a:solidFill>
                  <a:srgbClr val="00B0F0"/>
                </a:solidFill>
              </a:rPr>
              <a:t>Overlap</a:t>
            </a:r>
            <a:endParaRPr lang="en-US" sz="1600" dirty="0">
              <a:solidFill>
                <a:srgbClr val="00B0F0"/>
              </a:solidFill>
            </a:endParaRPr>
          </a:p>
        </p:txBody>
      </p:sp>
      <p:sp>
        <p:nvSpPr>
          <p:cNvPr id="11" name="Textfeld 10"/>
          <p:cNvSpPr txBox="1"/>
          <p:nvPr/>
        </p:nvSpPr>
        <p:spPr>
          <a:xfrm>
            <a:off x="187036" y="3332550"/>
            <a:ext cx="1114729" cy="338554"/>
          </a:xfrm>
          <a:prstGeom prst="rect">
            <a:avLst/>
          </a:prstGeom>
          <a:noFill/>
        </p:spPr>
        <p:txBody>
          <a:bodyPr wrap="none" rtlCol="0">
            <a:spAutoFit/>
          </a:bodyPr>
          <a:lstStyle/>
          <a:p>
            <a:r>
              <a:rPr lang="en-US" sz="1600" dirty="0" smtClean="0">
                <a:solidFill>
                  <a:srgbClr val="00B0F0"/>
                </a:solidFill>
              </a:rPr>
              <a:t>Descriptive</a:t>
            </a:r>
            <a:endParaRPr lang="en-US" sz="1600" dirty="0">
              <a:solidFill>
                <a:srgbClr val="00B0F0"/>
              </a:solidFill>
            </a:endParaRPr>
          </a:p>
        </p:txBody>
      </p:sp>
    </p:spTree>
    <p:extLst>
      <p:ext uri="{BB962C8B-B14F-4D97-AF65-F5344CB8AC3E}">
        <p14:creationId xmlns:p14="http://schemas.microsoft.com/office/powerpoint/2010/main" val="3322912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par>
                                <p:cTn id="12" presetID="22" presetClass="entr" presetSubtype="8" fill="hold" nodeType="with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wipe(left)">
                                      <p:cBhvr>
                                        <p:cTn id="14" dur="500"/>
                                        <p:tgtEl>
                                          <p:spTgt spid="7">
                                            <p:txEl>
                                              <p:pRg st="1" end="1"/>
                                            </p:txEl>
                                          </p:spTgt>
                                        </p:tgtEl>
                                      </p:cBhvr>
                                    </p:animEffect>
                                  </p:childTnLst>
                                </p:cTn>
                              </p:par>
                              <p:par>
                                <p:cTn id="15" presetID="22" presetClass="entr" presetSubtype="8" fill="hold" nodeType="with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animEffect transition="in" filter="wipe(left)">
                                      <p:cBhvr>
                                        <p:cTn id="17" dur="500"/>
                                        <p:tgtEl>
                                          <p:spTgt spid="7">
                                            <p:txEl>
                                              <p:pRg st="2" end="2"/>
                                            </p:txEl>
                                          </p:spTgt>
                                        </p:tgtEl>
                                      </p:cBhvr>
                                    </p:animEffect>
                                  </p:childTnLst>
                                </p:cTn>
                              </p:par>
                              <p:par>
                                <p:cTn id="18" presetID="22" presetClass="entr" presetSubtype="8" fill="hold" nodeType="withEffect">
                                  <p:stCondLst>
                                    <p:cond delay="0"/>
                                  </p:stCondLst>
                                  <p:childTnLst>
                                    <p:set>
                                      <p:cBhvr>
                                        <p:cTn id="19" dur="1" fill="hold">
                                          <p:stCondLst>
                                            <p:cond delay="0"/>
                                          </p:stCondLst>
                                        </p:cTn>
                                        <p:tgtEl>
                                          <p:spTgt spid="7">
                                            <p:txEl>
                                              <p:pRg st="3" end="3"/>
                                            </p:txEl>
                                          </p:spTgt>
                                        </p:tgtEl>
                                        <p:attrNameLst>
                                          <p:attrName>style.visibility</p:attrName>
                                        </p:attrNameLst>
                                      </p:cBhvr>
                                      <p:to>
                                        <p:strVal val="visible"/>
                                      </p:to>
                                    </p:set>
                                    <p:animEffect transition="in" filter="wipe(left)">
                                      <p:cBhvr>
                                        <p:cTn id="20" dur="500"/>
                                        <p:tgtEl>
                                          <p:spTgt spid="7">
                                            <p:txEl>
                                              <p:pRg st="3" end="3"/>
                                            </p:txEl>
                                          </p:spTgt>
                                        </p:tgtEl>
                                      </p:cBhvr>
                                    </p:animEffect>
                                  </p:childTnLst>
                                </p:cTn>
                              </p:par>
                              <p:par>
                                <p:cTn id="21" presetID="22" presetClass="entr" presetSubtype="8" fill="hold" nodeType="with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animEffect transition="in" filter="wipe(left)">
                                      <p:cBhvr>
                                        <p:cTn id="23" dur="500"/>
                                        <p:tgtEl>
                                          <p:spTgt spid="7">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500"/>
                                        <p:tgtEl>
                                          <p:spTgt spid="9"/>
                                        </p:tgtEl>
                                      </p:cBhvr>
                                    </p:animEffect>
                                  </p:childTnLst>
                                </p:cTn>
                              </p:par>
                            </p:childTnLst>
                          </p:cTn>
                        </p:par>
                        <p:par>
                          <p:cTn id="29" fill="hold">
                            <p:stCondLst>
                              <p:cond delay="500"/>
                            </p:stCondLst>
                            <p:childTnLst>
                              <p:par>
                                <p:cTn id="30" presetID="22" presetClass="entr" presetSubtype="8" fill="hold" nodeType="afterEffect">
                                  <p:stCondLst>
                                    <p:cond delay="0"/>
                                  </p:stCondLst>
                                  <p:childTnLst>
                                    <p:set>
                                      <p:cBhvr>
                                        <p:cTn id="31" dur="1" fill="hold">
                                          <p:stCondLst>
                                            <p:cond delay="0"/>
                                          </p:stCondLst>
                                        </p:cTn>
                                        <p:tgtEl>
                                          <p:spTgt spid="7">
                                            <p:txEl>
                                              <p:pRg st="5" end="5"/>
                                            </p:txEl>
                                          </p:spTgt>
                                        </p:tgtEl>
                                        <p:attrNameLst>
                                          <p:attrName>style.visibility</p:attrName>
                                        </p:attrNameLst>
                                      </p:cBhvr>
                                      <p:to>
                                        <p:strVal val="visible"/>
                                      </p:to>
                                    </p:set>
                                    <p:animEffect transition="in" filter="wipe(left)">
                                      <p:cBhvr>
                                        <p:cTn id="32" dur="500"/>
                                        <p:tgtEl>
                                          <p:spTgt spid="7">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par>
                          <p:cTn id="38" fill="hold">
                            <p:stCondLst>
                              <p:cond delay="500"/>
                            </p:stCondLst>
                            <p:childTnLst>
                              <p:par>
                                <p:cTn id="39" presetID="22" presetClass="entr" presetSubtype="8" fill="hold" nodeType="afterEffect">
                                  <p:stCondLst>
                                    <p:cond delay="0"/>
                                  </p:stCondLst>
                                  <p:childTnLst>
                                    <p:set>
                                      <p:cBhvr>
                                        <p:cTn id="40" dur="1" fill="hold">
                                          <p:stCondLst>
                                            <p:cond delay="0"/>
                                          </p:stCondLst>
                                        </p:cTn>
                                        <p:tgtEl>
                                          <p:spTgt spid="7">
                                            <p:txEl>
                                              <p:pRg st="6" end="6"/>
                                            </p:txEl>
                                          </p:spTgt>
                                        </p:tgtEl>
                                        <p:attrNameLst>
                                          <p:attrName>style.visibility</p:attrName>
                                        </p:attrNameLst>
                                      </p:cBhvr>
                                      <p:to>
                                        <p:strVal val="visible"/>
                                      </p:to>
                                    </p:set>
                                    <p:animEffect transition="in" filter="wipe(left)">
                                      <p:cBhvr>
                                        <p:cTn id="41" dur="500"/>
                                        <p:tgtEl>
                                          <p:spTgt spid="7">
                                            <p:txEl>
                                              <p:pRg st="6" end="6"/>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500"/>
                                        <p:tgtEl>
                                          <p:spTgt spid="11"/>
                                        </p:tgtEl>
                                      </p:cBhvr>
                                    </p:animEffect>
                                  </p:childTnLst>
                                </p:cTn>
                              </p:par>
                            </p:childTnLst>
                          </p:cTn>
                        </p:par>
                        <p:par>
                          <p:cTn id="47" fill="hold">
                            <p:stCondLst>
                              <p:cond delay="500"/>
                            </p:stCondLst>
                            <p:childTnLst>
                              <p:par>
                                <p:cTn id="48" presetID="22" presetClass="entr" presetSubtype="8" fill="hold" nodeType="afterEffect">
                                  <p:stCondLst>
                                    <p:cond delay="0"/>
                                  </p:stCondLst>
                                  <p:childTnLst>
                                    <p:set>
                                      <p:cBhvr>
                                        <p:cTn id="49" dur="1" fill="hold">
                                          <p:stCondLst>
                                            <p:cond delay="0"/>
                                          </p:stCondLst>
                                        </p:cTn>
                                        <p:tgtEl>
                                          <p:spTgt spid="7">
                                            <p:txEl>
                                              <p:pRg st="7" end="7"/>
                                            </p:txEl>
                                          </p:spTgt>
                                        </p:tgtEl>
                                        <p:attrNameLst>
                                          <p:attrName>style.visibility</p:attrName>
                                        </p:attrNameLst>
                                      </p:cBhvr>
                                      <p:to>
                                        <p:strVal val="visible"/>
                                      </p:to>
                                    </p:set>
                                    <p:animEffect transition="in" filter="wipe(left)">
                                      <p:cBhvr>
                                        <p:cTn id="50" dur="500"/>
                                        <p:tgtEl>
                                          <p:spTgt spid="7">
                                            <p:txEl>
                                              <p:pRg st="7" end="7"/>
                                            </p:txEl>
                                          </p:spTgt>
                                        </p:tgtEl>
                                      </p:cBhvr>
                                    </p:animEffect>
                                  </p:childTnLst>
                                </p:cTn>
                              </p:par>
                            </p:childTnLst>
                          </p:cTn>
                        </p:par>
                        <p:par>
                          <p:cTn id="51" fill="hold">
                            <p:stCondLst>
                              <p:cond delay="1000"/>
                            </p:stCondLst>
                            <p:childTnLst>
                              <p:par>
                                <p:cTn id="52" presetID="22" presetClass="entr" presetSubtype="8" fill="hold" nodeType="afterEffect">
                                  <p:stCondLst>
                                    <p:cond delay="0"/>
                                  </p:stCondLst>
                                  <p:childTnLst>
                                    <p:set>
                                      <p:cBhvr>
                                        <p:cTn id="53" dur="1" fill="hold">
                                          <p:stCondLst>
                                            <p:cond delay="0"/>
                                          </p:stCondLst>
                                        </p:cTn>
                                        <p:tgtEl>
                                          <p:spTgt spid="7">
                                            <p:txEl>
                                              <p:pRg st="8" end="8"/>
                                            </p:txEl>
                                          </p:spTgt>
                                        </p:tgtEl>
                                        <p:attrNameLst>
                                          <p:attrName>style.visibility</p:attrName>
                                        </p:attrNameLst>
                                      </p:cBhvr>
                                      <p:to>
                                        <p:strVal val="visible"/>
                                      </p:to>
                                    </p:set>
                                    <p:animEffect transition="in" filter="wipe(left)">
                                      <p:cBhvr>
                                        <p:cTn id="54" dur="500"/>
                                        <p:tgtEl>
                                          <p:spTgt spid="7">
                                            <p:txEl>
                                              <p:pRg st="8" end="8"/>
                                            </p:txEl>
                                          </p:spTgt>
                                        </p:tgtEl>
                                      </p:cBhvr>
                                    </p:animEffect>
                                  </p:childTnLst>
                                </p:cTn>
                              </p:par>
                            </p:childTnLst>
                          </p:cTn>
                        </p:par>
                        <p:par>
                          <p:cTn id="55" fill="hold">
                            <p:stCondLst>
                              <p:cond delay="1500"/>
                            </p:stCondLst>
                            <p:childTnLst>
                              <p:par>
                                <p:cTn id="56" presetID="22" presetClass="entr" presetSubtype="8" fill="hold" nodeType="afterEffect">
                                  <p:stCondLst>
                                    <p:cond delay="0"/>
                                  </p:stCondLst>
                                  <p:childTnLst>
                                    <p:set>
                                      <p:cBhvr>
                                        <p:cTn id="57" dur="1" fill="hold">
                                          <p:stCondLst>
                                            <p:cond delay="0"/>
                                          </p:stCondLst>
                                        </p:cTn>
                                        <p:tgtEl>
                                          <p:spTgt spid="7">
                                            <p:txEl>
                                              <p:pRg st="9" end="9"/>
                                            </p:txEl>
                                          </p:spTgt>
                                        </p:tgtEl>
                                        <p:attrNameLst>
                                          <p:attrName>style.visibility</p:attrName>
                                        </p:attrNameLst>
                                      </p:cBhvr>
                                      <p:to>
                                        <p:strVal val="visible"/>
                                      </p:to>
                                    </p:set>
                                    <p:animEffect transition="in" filter="wipe(left)">
                                      <p:cBhvr>
                                        <p:cTn id="58" dur="500"/>
                                        <p:tgtEl>
                                          <p:spTgt spid="7">
                                            <p:txEl>
                                              <p:pRg st="9" end="9"/>
                                            </p:txEl>
                                          </p:spTgt>
                                        </p:tgtEl>
                                      </p:cBhvr>
                                    </p:animEffect>
                                  </p:childTnLst>
                                </p:cTn>
                              </p:par>
                            </p:childTnLst>
                          </p:cTn>
                        </p:par>
                        <p:par>
                          <p:cTn id="59" fill="hold">
                            <p:stCondLst>
                              <p:cond delay="2000"/>
                            </p:stCondLst>
                            <p:childTnLst>
                              <p:par>
                                <p:cTn id="60" presetID="22" presetClass="entr" presetSubtype="8" fill="hold" nodeType="afterEffect">
                                  <p:stCondLst>
                                    <p:cond delay="0"/>
                                  </p:stCondLst>
                                  <p:childTnLst>
                                    <p:set>
                                      <p:cBhvr>
                                        <p:cTn id="61" dur="1" fill="hold">
                                          <p:stCondLst>
                                            <p:cond delay="0"/>
                                          </p:stCondLst>
                                        </p:cTn>
                                        <p:tgtEl>
                                          <p:spTgt spid="7">
                                            <p:txEl>
                                              <p:pRg st="10" end="10"/>
                                            </p:txEl>
                                          </p:spTgt>
                                        </p:tgtEl>
                                        <p:attrNameLst>
                                          <p:attrName>style.visibility</p:attrName>
                                        </p:attrNameLst>
                                      </p:cBhvr>
                                      <p:to>
                                        <p:strVal val="visible"/>
                                      </p:to>
                                    </p:set>
                                    <p:animEffect transition="in" filter="wipe(left)">
                                      <p:cBhvr>
                                        <p:cTn id="62" dur="500"/>
                                        <p:tgtEl>
                                          <p:spTgt spid="7">
                                            <p:txEl>
                                              <p:pRg st="10" end="10"/>
                                            </p:txEl>
                                          </p:spTgt>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7">
                                            <p:txEl>
                                              <p:pRg st="11" end="11"/>
                                            </p:txEl>
                                          </p:spTgt>
                                        </p:tgtEl>
                                        <p:attrNameLst>
                                          <p:attrName>style.visibility</p:attrName>
                                        </p:attrNameLst>
                                      </p:cBhvr>
                                      <p:to>
                                        <p:strVal val="visible"/>
                                      </p:to>
                                    </p:set>
                                    <p:animEffect transition="in" filter="wipe(left)">
                                      <p:cBhvr>
                                        <p:cTn id="66" dur="500"/>
                                        <p:tgtEl>
                                          <p:spTgt spid="7">
                                            <p:txEl>
                                              <p:pRg st="11" end="11"/>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4">
                                            <p:txEl>
                                              <p:pRg st="0" end="0"/>
                                            </p:txEl>
                                          </p:spTgt>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
                                            <p:txEl>
                                              <p:pRg st="1" end="1"/>
                                            </p:txEl>
                                          </p:spTgt>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
                                            <p:txEl>
                                              <p:pRg st="2" end="2"/>
                                            </p:txEl>
                                          </p:spTgt>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
                                            <p:txEl>
                                              <p:pRg st="3" end="3"/>
                                            </p:txEl>
                                          </p:spTgt>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8" grpId="0"/>
      <p:bldP spid="9" grpId="0"/>
      <p:bldP spid="10" grpId="0"/>
      <p:bldP spid="11"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SEML (</a:t>
            </a:r>
            <a:r>
              <a:rPr lang="en-US" dirty="0" err="1" smtClean="0"/>
              <a:t>SearchEngine</a:t>
            </a:r>
            <a:r>
              <a:rPr lang="en-US" dirty="0" smtClean="0"/>
              <a:t> </a:t>
            </a:r>
            <a:r>
              <a:rPr lang="en-US" dirty="0"/>
              <a:t>Machine </a:t>
            </a:r>
            <a:r>
              <a:rPr lang="en-US" dirty="0" smtClean="0"/>
              <a:t>Learning): Establishments vs. Company Panel </a:t>
            </a:r>
            <a:endParaRPr lang="en-US" dirty="0"/>
          </a:p>
        </p:txBody>
      </p:sp>
      <p:sp>
        <p:nvSpPr>
          <p:cNvPr id="4" name="Inhaltsplatzhalter 3"/>
          <p:cNvSpPr>
            <a:spLocks noGrp="1"/>
          </p:cNvSpPr>
          <p:nvPr>
            <p:ph idx="1"/>
          </p:nvPr>
        </p:nvSpPr>
        <p:spPr>
          <a:xfrm>
            <a:off x="130277" y="694915"/>
            <a:ext cx="11865077" cy="5509239"/>
          </a:xfrm>
        </p:spPr>
        <p:txBody>
          <a:bodyPr/>
          <a:lstStyle/>
          <a:p>
            <a:pPr marL="216000" lvl="0">
              <a:spcBef>
                <a:spcPts val="600"/>
              </a:spcBef>
              <a:buClr>
                <a:srgbClr val="00AAE5"/>
              </a:buClr>
            </a:pPr>
            <a:r>
              <a:rPr lang="en-US" dirty="0">
                <a:solidFill>
                  <a:prstClr val="black"/>
                </a:solidFill>
              </a:rPr>
              <a:t>SEML components</a:t>
            </a:r>
          </a:p>
          <a:p>
            <a:pPr lvl="1">
              <a:spcBef>
                <a:spcPts val="0"/>
              </a:spcBef>
              <a:buClr>
                <a:srgbClr val="00AAE5"/>
              </a:buClr>
            </a:pPr>
            <a:r>
              <a:rPr lang="en-US" dirty="0">
                <a:solidFill>
                  <a:srgbClr val="00AAE5"/>
                </a:solidFill>
                <a:cs typeface="Courier New" panose="02070309020205020404" pitchFamily="49" charset="0"/>
              </a:rPr>
              <a:t>seml.py</a:t>
            </a:r>
            <a:r>
              <a:rPr lang="en-US" dirty="0">
                <a:solidFill>
                  <a:prstClr val="black"/>
                </a:solidFill>
                <a:cs typeface="Courier New" panose="02070309020205020404" pitchFamily="49" charset="0"/>
              </a:rPr>
              <a:t> (python) using Tensor Flow/</a:t>
            </a:r>
            <a:r>
              <a:rPr lang="en-US" dirty="0" err="1">
                <a:solidFill>
                  <a:prstClr val="black"/>
                </a:solidFill>
                <a:cs typeface="Courier New" panose="02070309020205020404" pitchFamily="49" charset="0"/>
              </a:rPr>
              <a:t>Keras</a:t>
            </a:r>
            <a:r>
              <a:rPr lang="en-US" dirty="0">
                <a:solidFill>
                  <a:prstClr val="black"/>
                </a:solidFill>
                <a:cs typeface="Courier New" panose="02070309020205020404" pitchFamily="49" charset="0"/>
              </a:rPr>
              <a:t> </a:t>
            </a:r>
            <a:r>
              <a:rPr lang="en-US" dirty="0" smtClean="0">
                <a:solidFill>
                  <a:prstClr val="black"/>
                </a:solidFill>
                <a:cs typeface="Courier New" panose="02070309020205020404" pitchFamily="49" charset="0"/>
              </a:rPr>
              <a:t>or </a:t>
            </a:r>
            <a:r>
              <a:rPr lang="en-US" dirty="0" smtClean="0">
                <a:solidFill>
                  <a:srgbClr val="00AAE5"/>
                </a:solidFill>
                <a:cs typeface="Courier New" panose="02070309020205020404" pitchFamily="49" charset="0"/>
              </a:rPr>
              <a:t>seml.do</a:t>
            </a:r>
            <a:r>
              <a:rPr lang="en-US" dirty="0" smtClean="0">
                <a:solidFill>
                  <a:prstClr val="black"/>
                </a:solidFill>
                <a:cs typeface="Courier New" panose="02070309020205020404" pitchFamily="49" charset="0"/>
              </a:rPr>
              <a:t> (</a:t>
            </a:r>
            <a:r>
              <a:rPr lang="en-US" dirty="0" err="1" smtClean="0">
                <a:solidFill>
                  <a:prstClr val="black"/>
                </a:solidFill>
                <a:cs typeface="Courier New" panose="02070309020205020404" pitchFamily="49" charset="0"/>
              </a:rPr>
              <a:t>stata</a:t>
            </a:r>
            <a:r>
              <a:rPr lang="en-US" dirty="0" smtClean="0">
                <a:solidFill>
                  <a:prstClr val="black"/>
                </a:solidFill>
                <a:cs typeface="Courier New" panose="02070309020205020404" pitchFamily="49" charset="0"/>
              </a:rPr>
              <a:t>) using </a:t>
            </a:r>
            <a:r>
              <a:rPr lang="en-US" dirty="0" err="1" smtClean="0">
                <a:solidFill>
                  <a:prstClr val="black"/>
                </a:solidFill>
                <a:cs typeface="Courier New" panose="02070309020205020404" pitchFamily="49" charset="0"/>
              </a:rPr>
              <a:t>brain.ado</a:t>
            </a:r>
            <a:r>
              <a:rPr lang="en-US" dirty="0" smtClean="0">
                <a:solidFill>
                  <a:prstClr val="black"/>
                </a:solidFill>
                <a:cs typeface="Courier New" panose="02070309020205020404" pitchFamily="49" charset="0"/>
              </a:rPr>
              <a:t> or</a:t>
            </a:r>
            <a:endParaRPr lang="en-US" dirty="0">
              <a:solidFill>
                <a:prstClr val="black"/>
              </a:solidFill>
              <a:cs typeface="Courier New" panose="02070309020205020404" pitchFamily="49" charset="0"/>
            </a:endParaRPr>
          </a:p>
          <a:p>
            <a:pPr lvl="2">
              <a:spcBef>
                <a:spcPts val="0"/>
              </a:spcBef>
              <a:buClr>
                <a:srgbClr val="00B0F0"/>
              </a:buClr>
            </a:pPr>
            <a:r>
              <a:rPr lang="en-US" dirty="0">
                <a:solidFill>
                  <a:prstClr val="black"/>
                </a:solidFill>
                <a:cs typeface="Courier New" panose="02070309020205020404" pitchFamily="49" charset="0"/>
              </a:rPr>
              <a:t>Iterates h</a:t>
            </a:r>
            <a:r>
              <a:rPr lang="en-US" dirty="0">
                <a:solidFill>
                  <a:prstClr val="black"/>
                </a:solidFill>
              </a:rPr>
              <a:t>idden neuron setups: [25], [50], [100], [25x25], [50x50], [100x100]</a:t>
            </a:r>
          </a:p>
          <a:p>
            <a:pPr lvl="2">
              <a:spcBef>
                <a:spcPts val="0"/>
              </a:spcBef>
              <a:buClr>
                <a:srgbClr val="00B0F0"/>
              </a:buClr>
            </a:pPr>
            <a:r>
              <a:rPr lang="en-US" dirty="0">
                <a:solidFill>
                  <a:prstClr val="black"/>
                </a:solidFill>
              </a:rPr>
              <a:t>Reports the best performing NN pertaining out-of-sample prediction</a:t>
            </a:r>
          </a:p>
          <a:p>
            <a:pPr marL="648000" lvl="1">
              <a:spcBef>
                <a:spcPts val="0"/>
              </a:spcBef>
              <a:buClr>
                <a:srgbClr val="00AAE5"/>
              </a:buClr>
            </a:pPr>
            <a:r>
              <a:rPr lang="en-US" dirty="0" smtClean="0">
                <a:solidFill>
                  <a:prstClr val="black"/>
                </a:solidFill>
                <a:cs typeface="Courier New" panose="02070309020205020404" pitchFamily="49" charset="0"/>
              </a:rPr>
              <a:t>I</a:t>
            </a:r>
            <a:r>
              <a:rPr lang="en-US" dirty="0" smtClean="0">
                <a:solidFill>
                  <a:prstClr val="black"/>
                </a:solidFill>
              </a:rPr>
              <a:t>mplements </a:t>
            </a:r>
            <a:r>
              <a:rPr lang="en-US" dirty="0">
                <a:solidFill>
                  <a:prstClr val="black"/>
                </a:solidFill>
              </a:rPr>
              <a:t>the winning NN setup on the whole meta data</a:t>
            </a:r>
          </a:p>
          <a:p>
            <a:pPr marL="504000" lvl="1">
              <a:spcBef>
                <a:spcPts val="0"/>
              </a:spcBef>
              <a:buClr>
                <a:srgbClr val="00AAE5"/>
              </a:buClr>
            </a:pPr>
            <a:r>
              <a:rPr lang="en-US" dirty="0">
                <a:solidFill>
                  <a:prstClr val="black"/>
                </a:solidFill>
              </a:rPr>
              <a:t>BYOD – bring your own </a:t>
            </a:r>
            <a:r>
              <a:rPr lang="en-US" dirty="0" smtClean="0">
                <a:solidFill>
                  <a:prstClr val="black"/>
                </a:solidFill>
              </a:rPr>
              <a:t>device for your preferred method/environment</a:t>
            </a:r>
            <a:endParaRPr lang="en-US" dirty="0">
              <a:solidFill>
                <a:prstClr val="black"/>
              </a:solidFill>
            </a:endParaRPr>
          </a:p>
          <a:p>
            <a:pPr marL="216000" lvl="0">
              <a:spcBef>
                <a:spcPts val="1200"/>
              </a:spcBef>
              <a:buClr>
                <a:srgbClr val="00AAE5"/>
              </a:buClr>
            </a:pPr>
            <a:r>
              <a:rPr lang="en-US" dirty="0">
                <a:solidFill>
                  <a:prstClr val="black"/>
                </a:solidFill>
              </a:rPr>
              <a:t>Training sample</a:t>
            </a:r>
          </a:p>
          <a:p>
            <a:pPr marL="504000" lvl="1">
              <a:spcBef>
                <a:spcPts val="0"/>
              </a:spcBef>
              <a:buClr>
                <a:srgbClr val="00AAE5"/>
              </a:buClr>
            </a:pPr>
            <a:r>
              <a:rPr lang="en-US" dirty="0">
                <a:solidFill>
                  <a:prstClr val="black"/>
                </a:solidFill>
              </a:rPr>
              <a:t> 2,000 establishments paired with 5,523 candidates</a:t>
            </a:r>
          </a:p>
          <a:p>
            <a:pPr marL="504000" lvl="1">
              <a:spcBef>
                <a:spcPts val="0"/>
              </a:spcBef>
              <a:buClr>
                <a:srgbClr val="00AAE5"/>
              </a:buClr>
              <a:buFont typeface="Calibri" panose="020F0502020204030204" pitchFamily="34" charset="0"/>
              <a:buChar char="−"/>
            </a:pPr>
            <a:r>
              <a:rPr lang="en-US" dirty="0">
                <a:solidFill>
                  <a:prstClr val="black"/>
                </a:solidFill>
              </a:rPr>
              <a:t>569 pairings retained for out-of-sample prediction</a:t>
            </a:r>
          </a:p>
          <a:p>
            <a:pPr marL="216000" lvl="0">
              <a:spcBef>
                <a:spcPts val="1200"/>
              </a:spcBef>
              <a:buClr>
                <a:srgbClr val="00AAE5"/>
              </a:buClr>
            </a:pPr>
            <a:r>
              <a:rPr lang="en-US" dirty="0">
                <a:solidFill>
                  <a:prstClr val="black"/>
                </a:solidFill>
              </a:rPr>
              <a:t>Confusion matrix</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1394159533"/>
              </p:ext>
            </p:extLst>
          </p:nvPr>
        </p:nvGraphicFramePr>
        <p:xfrm>
          <a:off x="611560" y="3861048"/>
          <a:ext cx="5418259" cy="1620000"/>
        </p:xfrm>
        <a:graphic>
          <a:graphicData uri="http://schemas.openxmlformats.org/drawingml/2006/table">
            <a:tbl>
              <a:tblPr firstRow="1" firstCol="1" bandRow="1"/>
              <a:tblGrid>
                <a:gridCol w="972000"/>
                <a:gridCol w="792000"/>
                <a:gridCol w="792000"/>
                <a:gridCol w="306259"/>
                <a:gridCol w="972000"/>
                <a:gridCol w="792000"/>
                <a:gridCol w="792000"/>
              </a:tblGrid>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err="1">
                          <a:effectLst/>
                          <a:latin typeface="+mn-lt"/>
                          <a:ea typeface="Calibri" panose="020F0502020204030204" pitchFamily="34" charset="0"/>
                          <a:cs typeface="Times New Roman" panose="02020603050405020304" pitchFamily="18" charset="0"/>
                        </a:rPr>
                        <a:t>Probit</a:t>
                      </a:r>
                      <a:endParaRPr lang="de-DE" sz="1100" dirty="0">
                        <a:effectLst/>
                        <a:latin typeface="+mn-lt"/>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NN[25x25</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180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184</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367</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12</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374</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8</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93.75%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97.35%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95.83%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a:effectLst/>
                          <a:latin typeface="Cambria Math" panose="02040503050406030204" pitchFamily="18" charset="0"/>
                          <a:ea typeface="Calibri" panose="020F0502020204030204" pitchFamily="34" charset="0"/>
                          <a:cs typeface="Times New Roman" panose="02020603050405020304" pitchFamily="18" charset="0"/>
                        </a:rPr>
                        <a:t>99.20%</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mbria Math" panose="02040503050406030204" pitchFamily="18" charset="0"/>
                          <a:ea typeface="Calibri" panose="020F0502020204030204" pitchFamily="34" charset="0"/>
                          <a:cs typeface="Times New Roman" panose="02020603050405020304" pitchFamily="18" charset="0"/>
                        </a:rPr>
                        <a:t>94.74%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96.83%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98.40%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97.91%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96.13</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98.07%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r>
            </a:tbl>
          </a:graphicData>
        </a:graphic>
      </p:graphicFrame>
      <p:sp>
        <p:nvSpPr>
          <p:cNvPr id="6" name="Foliennummernplatzhalter 5"/>
          <p:cNvSpPr>
            <a:spLocks noGrp="1"/>
          </p:cNvSpPr>
          <p:nvPr>
            <p:ph type="sldNum" sz="quarter" idx="10"/>
          </p:nvPr>
        </p:nvSpPr>
        <p:spPr/>
        <p:txBody>
          <a:bodyPr/>
          <a:lstStyle/>
          <a:p>
            <a:fld id="{A29D8577-601D-4845-9C29-D9E13FE3E8DB}" type="slidenum">
              <a:rPr lang="en-US" smtClean="0"/>
              <a:pPr/>
              <a:t>28</a:t>
            </a:fld>
            <a:endParaRPr lang="en-US" dirty="0"/>
          </a:p>
        </p:txBody>
      </p:sp>
      <p:sp>
        <p:nvSpPr>
          <p:cNvPr id="8" name="Inhaltsplatzhalter 1"/>
          <p:cNvSpPr txBox="1">
            <a:spLocks/>
          </p:cNvSpPr>
          <p:nvPr/>
        </p:nvSpPr>
        <p:spPr>
          <a:xfrm>
            <a:off x="130276" y="5526380"/>
            <a:ext cx="11555587" cy="807307"/>
          </a:xfrm>
          <a:prstGeom prst="rect">
            <a:avLst/>
          </a:prstGeom>
        </p:spPr>
        <p:txBody>
          <a:bodyPr vert="horz" lIns="91440" tIns="45720" rIns="91440" bIns="45720" rtlCol="0">
            <a:normAutofit lnSpcReduction="10000"/>
          </a:bodyPr>
          <a:lstStyle>
            <a:lvl1pPr marL="216000" indent="-216000" algn="l" defTabSz="914400" rtl="0" eaLnBrk="1" latinLnBrk="0" hangingPunct="1">
              <a:spcBef>
                <a:spcPts val="60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1pPr>
            <a:lvl2pPr marL="504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2pPr>
            <a:lvl3pPr marL="792000" indent="-216000" algn="l" defTabSz="914400" rtl="0" eaLnBrk="1" latinLnBrk="0" hangingPunct="1">
              <a:spcBef>
                <a:spcPts val="0"/>
              </a:spcBef>
              <a:spcAft>
                <a:spcPts val="0"/>
              </a:spcAft>
              <a:buClr>
                <a:srgbClr val="00B0F0"/>
              </a:buClr>
              <a:buFont typeface="Wingdings" panose="05000000000000000000" pitchFamily="2" charset="2"/>
              <a:buChar char="§"/>
              <a:defRPr sz="1600" kern="1200">
                <a:solidFill>
                  <a:schemeClr val="tx1"/>
                </a:solidFill>
                <a:latin typeface="+mn-lt"/>
                <a:ea typeface="+mn-ea"/>
                <a:cs typeface="+mn-cs"/>
              </a:defRPr>
            </a:lvl3pPr>
            <a:lvl4pPr marL="1080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4pPr>
            <a:lvl5pPr marL="1368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16000" marR="0" lvl="0" indent="-216000" algn="l" defTabSz="914400" rtl="0" eaLnBrk="1" fontAlgn="auto" latinLnBrk="0" hangingPunct="1">
              <a:lnSpc>
                <a:spcPct val="100000"/>
              </a:lnSpc>
              <a:spcBef>
                <a:spcPts val="600"/>
              </a:spcBef>
              <a:spcAft>
                <a:spcPts val="0"/>
              </a:spcAft>
              <a:buClr>
                <a:srgbClr val="00AAE5"/>
              </a:buClr>
              <a:buSzTx/>
              <a:buFont typeface="Wingdings" panose="05000000000000000000" pitchFamily="2" charset="2"/>
              <a:buChar char="§"/>
              <a:tabLst/>
              <a:defRPr/>
            </a:pP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Quality assessment</a:t>
            </a:r>
          </a:p>
          <a:p>
            <a:pPr lvl="1"/>
            <a:r>
              <a:rPr lang="en-US" dirty="0" smtClean="0">
                <a:solidFill>
                  <a:prstClr val="black"/>
                </a:solidFill>
              </a:rPr>
              <a:t>85% of the establishments matched to a company</a:t>
            </a:r>
          </a:p>
          <a:p>
            <a:pPr lvl="1"/>
            <a:r>
              <a:rPr lang="en-US" dirty="0" smtClean="0">
                <a:solidFill>
                  <a:prstClr val="black"/>
                </a:solidFill>
              </a:rPr>
              <a:t>Final quality assessment is difficult due to structural disparities, i.e. self-employment vs. owner operated firms</a:t>
            </a:r>
            <a:endParaRPr kumimoji="0" lang="en-US" sz="1600" b="0" i="0" u="none" strike="noStrike" kern="1200" cap="none" spc="0" normalizeH="0" baseline="0" noProof="0" dirty="0">
              <a:ln>
                <a:noFill/>
              </a:ln>
              <a:solidFill>
                <a:srgbClr val="000000"/>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smtClean="0">
              <a:ln>
                <a:noFill/>
              </a:ln>
              <a:solidFill>
                <a:prstClr val="black"/>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68885721"/>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Search Strategy: </a:t>
            </a:r>
            <a:r>
              <a:rPr lang="en-US" dirty="0" smtClean="0"/>
              <a:t>German EPO Firm Applicants </a:t>
            </a:r>
            <a:r>
              <a:rPr lang="en-US" dirty="0"/>
              <a:t>vs. Company Panel (MUP)</a:t>
            </a:r>
          </a:p>
        </p:txBody>
      </p:sp>
      <p:sp>
        <p:nvSpPr>
          <p:cNvPr id="3" name="Foliennummernplatzhalter 2"/>
          <p:cNvSpPr>
            <a:spLocks noGrp="1"/>
          </p:cNvSpPr>
          <p:nvPr>
            <p:ph type="sldNum" sz="quarter" idx="10"/>
          </p:nvPr>
        </p:nvSpPr>
        <p:spPr/>
        <p:txBody>
          <a:bodyPr/>
          <a:lstStyle/>
          <a:p>
            <a:fld id="{A29D8577-601D-4845-9C29-D9E13FE3E8DB}" type="slidenum">
              <a:rPr lang="en-US" smtClean="0"/>
              <a:pPr/>
              <a:t>29</a:t>
            </a:fld>
            <a:endParaRPr lang="en-US" dirty="0"/>
          </a:p>
        </p:txBody>
      </p:sp>
      <p:sp>
        <p:nvSpPr>
          <p:cNvPr id="4" name="Inhaltsplatzhalter 3"/>
          <p:cNvSpPr>
            <a:spLocks noGrp="1"/>
          </p:cNvSpPr>
          <p:nvPr>
            <p:ph idx="1"/>
          </p:nvPr>
        </p:nvSpPr>
        <p:spPr/>
        <p:txBody>
          <a:bodyPr/>
          <a:lstStyle/>
          <a:p>
            <a:pPr marL="216000" lvl="0">
              <a:spcBef>
                <a:spcPts val="600"/>
              </a:spcBef>
              <a:buClr>
                <a:srgbClr val="00AAE5"/>
              </a:buClr>
            </a:pPr>
            <a:r>
              <a:rPr lang="en-US" dirty="0">
                <a:solidFill>
                  <a:prstClr val="black"/>
                </a:solidFill>
              </a:rPr>
              <a:t>Preparation</a:t>
            </a:r>
          </a:p>
          <a:p>
            <a:pPr marL="504000" lvl="1">
              <a:spcBef>
                <a:spcPts val="0"/>
              </a:spcBef>
              <a:buClr>
                <a:srgbClr val="00AAE5"/>
              </a:buClr>
            </a:pPr>
            <a:r>
              <a:rPr lang="en-US" dirty="0" err="1">
                <a:solidFill>
                  <a:prstClr val="black"/>
                </a:solidFill>
              </a:rPr>
              <a:t>Mannheimer</a:t>
            </a:r>
            <a:r>
              <a:rPr lang="en-US" dirty="0">
                <a:solidFill>
                  <a:prstClr val="black"/>
                </a:solidFill>
              </a:rPr>
              <a:t> </a:t>
            </a:r>
            <a:r>
              <a:rPr lang="en-US" dirty="0" err="1">
                <a:solidFill>
                  <a:prstClr val="black"/>
                </a:solidFill>
              </a:rPr>
              <a:t>Unternehmens</a:t>
            </a:r>
            <a:r>
              <a:rPr lang="en-US" dirty="0">
                <a:solidFill>
                  <a:prstClr val="black"/>
                </a:solidFill>
              </a:rPr>
              <a:t> Panel (MUP 2000-2021, German Company Panel)</a:t>
            </a:r>
          </a:p>
          <a:p>
            <a:pPr marL="792000" lvl="2">
              <a:spcBef>
                <a:spcPts val="0"/>
              </a:spcBef>
              <a:buClr>
                <a:srgbClr val="00B0F0"/>
              </a:buClr>
            </a:pPr>
            <a:r>
              <a:rPr lang="en-US" dirty="0">
                <a:solidFill>
                  <a:prstClr val="black"/>
                </a:solidFill>
              </a:rPr>
              <a:t>Removing duplicates → firm &amp; address aggregates: 24 million</a:t>
            </a:r>
          </a:p>
          <a:p>
            <a:pPr marL="504000" lvl="1">
              <a:spcBef>
                <a:spcPts val="0"/>
              </a:spcBef>
              <a:buClr>
                <a:srgbClr val="00AAE5"/>
              </a:buClr>
            </a:pPr>
            <a:r>
              <a:rPr lang="en-US" dirty="0">
                <a:solidFill>
                  <a:prstClr val="black"/>
                </a:solidFill>
              </a:rPr>
              <a:t>German EPO Applicants (</a:t>
            </a:r>
            <a:r>
              <a:rPr lang="en-US" dirty="0" err="1">
                <a:solidFill>
                  <a:prstClr val="black"/>
                </a:solidFill>
              </a:rPr>
              <a:t>Patstat</a:t>
            </a:r>
            <a:r>
              <a:rPr lang="en-US" dirty="0">
                <a:solidFill>
                  <a:prstClr val="black"/>
                </a:solidFill>
              </a:rPr>
              <a:t> 2021)</a:t>
            </a:r>
          </a:p>
          <a:p>
            <a:pPr marL="792000" lvl="2">
              <a:spcBef>
                <a:spcPts val="0"/>
              </a:spcBef>
              <a:buClr>
                <a:srgbClr val="00B0F0"/>
              </a:buClr>
            </a:pPr>
            <a:r>
              <a:rPr lang="en-US" dirty="0">
                <a:solidFill>
                  <a:prstClr val="black"/>
                </a:solidFill>
              </a:rPr>
              <a:t>Removing person owned patents with less than 10 patents</a:t>
            </a:r>
          </a:p>
          <a:p>
            <a:pPr marL="792000" lvl="2">
              <a:spcBef>
                <a:spcPts val="0"/>
              </a:spcBef>
              <a:buClr>
                <a:srgbClr val="00B0F0"/>
              </a:buClr>
            </a:pPr>
            <a:r>
              <a:rPr lang="en-US" dirty="0">
                <a:solidFill>
                  <a:prstClr val="black"/>
                </a:solidFill>
              </a:rPr>
              <a:t>Removing duplicates → firm &amp; address aggregates: 62,036</a:t>
            </a:r>
          </a:p>
          <a:p>
            <a:pPr marL="216000" lvl="0">
              <a:spcBef>
                <a:spcPts val="600"/>
              </a:spcBef>
              <a:buClr>
                <a:srgbClr val="00AAE5"/>
              </a:buClr>
            </a:pPr>
            <a:r>
              <a:rPr lang="en-US" dirty="0" err="1">
                <a:solidFill>
                  <a:prstClr val="black"/>
                </a:solidFill>
              </a:rPr>
              <a:t>SearchEngine</a:t>
            </a:r>
            <a:endParaRPr lang="en-US" dirty="0">
              <a:solidFill>
                <a:prstClr val="black"/>
              </a:solidFill>
            </a:endParaRPr>
          </a:p>
          <a:p>
            <a:pPr marL="504000" lvl="1">
              <a:spcBef>
                <a:spcPts val="0"/>
              </a:spcBef>
              <a:buClr>
                <a:srgbClr val="00AAE5"/>
              </a:buClr>
            </a:pPr>
            <a:r>
              <a:rPr lang="en-US" dirty="0">
                <a:solidFill>
                  <a:prstClr val="black"/>
                </a:solidFill>
              </a:rPr>
              <a:t>Base table: MUP </a:t>
            </a:r>
          </a:p>
          <a:p>
            <a:pPr marL="504000" lvl="1">
              <a:spcBef>
                <a:spcPts val="0"/>
              </a:spcBef>
              <a:buClr>
                <a:srgbClr val="00AAE5"/>
              </a:buClr>
            </a:pPr>
            <a:r>
              <a:rPr lang="en-US" dirty="0">
                <a:solidFill>
                  <a:prstClr val="black"/>
                </a:solidFill>
              </a:rPr>
              <a:t>Search types: name FIRMA, name FIRMA GRAM3, street STRASSE, zip, city</a:t>
            </a:r>
            <a:endParaRPr lang="en-US" dirty="0" smtClean="0">
              <a:solidFill>
                <a:prstClr val="black"/>
              </a:solidFill>
            </a:endParaRPr>
          </a:p>
          <a:p>
            <a:pPr marL="504000" lvl="1">
              <a:spcBef>
                <a:spcPts val="0"/>
              </a:spcBef>
              <a:buClr>
                <a:srgbClr val="00AAE5"/>
              </a:buClr>
            </a:pPr>
            <a:r>
              <a:rPr lang="en-US" dirty="0" smtClean="0">
                <a:solidFill>
                  <a:prstClr val="black"/>
                </a:solidFill>
              </a:rPr>
              <a:t>Darwinian search mode: pick only the candidates with the highest Identity</a:t>
            </a:r>
          </a:p>
          <a:p>
            <a:pPr marL="504000" lvl="1">
              <a:spcBef>
                <a:spcPts val="0"/>
              </a:spcBef>
              <a:buClr>
                <a:srgbClr val="00AAE5"/>
              </a:buClr>
            </a:pPr>
            <a:r>
              <a:rPr lang="en-US" dirty="0">
                <a:solidFill>
                  <a:prstClr val="black"/>
                </a:solidFill>
              </a:rPr>
              <a:t>Incremental: skip search records with candidates in subsequent search </a:t>
            </a:r>
            <a:r>
              <a:rPr lang="en-US" dirty="0" smtClean="0">
                <a:solidFill>
                  <a:prstClr val="black"/>
                </a:solidFill>
              </a:rPr>
              <a:t>runs</a:t>
            </a:r>
            <a:endParaRPr lang="en-US" dirty="0">
              <a:solidFill>
                <a:prstClr val="black"/>
              </a:solidFill>
            </a:endParaRPr>
          </a:p>
          <a:p>
            <a:pPr marL="216000" lvl="0">
              <a:spcBef>
                <a:spcPts val="600"/>
              </a:spcBef>
              <a:buClr>
                <a:srgbClr val="00AAE5"/>
              </a:buClr>
            </a:pPr>
            <a:r>
              <a:rPr lang="en-US" dirty="0">
                <a:solidFill>
                  <a:prstClr val="black"/>
                </a:solidFill>
              </a:rPr>
              <a:t>Strategy</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770376366"/>
              </p:ext>
            </p:extLst>
          </p:nvPr>
        </p:nvGraphicFramePr>
        <p:xfrm>
          <a:off x="636318" y="3920375"/>
          <a:ext cx="7777101" cy="2398640"/>
        </p:xfrm>
        <a:graphic>
          <a:graphicData uri="http://schemas.openxmlformats.org/drawingml/2006/table">
            <a:tbl>
              <a:tblPr firstRow="1" firstCol="1" bandRow="1"/>
              <a:tblGrid>
                <a:gridCol w="685101"/>
                <a:gridCol w="4032000"/>
                <a:gridCol w="900000"/>
                <a:gridCol w="1080000"/>
                <a:gridCol w="1080000"/>
              </a:tblGrid>
              <a:tr h="0">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run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description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threshold</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r">
                        <a:spcAft>
                          <a:spcPts val="0"/>
                        </a:spcAft>
                      </a:pPr>
                      <a:r>
                        <a:rPr lang="en-US" sz="1100" noProof="0" dirty="0" smtClean="0">
                          <a:effectLst/>
                          <a:latin typeface="Calibri" panose="020F0502020204030204" pitchFamily="34" charset="0"/>
                          <a:ea typeface="Calibri" panose="020F0502020204030204" pitchFamily="34" charset="0"/>
                          <a:cs typeface="Times New Roman" panose="02020603050405020304" pitchFamily="18" charset="0"/>
                        </a:rPr>
                        <a:t>applicants</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r">
                        <a:spcAft>
                          <a:spcPts val="0"/>
                        </a:spcAft>
                      </a:pPr>
                      <a:r>
                        <a:rPr lang="en-US" sz="1100" noProof="0" dirty="0" smtClean="0">
                          <a:effectLst/>
                          <a:latin typeface="Calibri" panose="020F0502020204030204" pitchFamily="34" charset="0"/>
                          <a:ea typeface="Calibri" panose="020F0502020204030204" pitchFamily="34" charset="0"/>
                          <a:cs typeface="Times New Roman" panose="02020603050405020304" pitchFamily="18" charset="0"/>
                        </a:rPr>
                        <a:t>candidates</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215900">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70</a:t>
                      </a: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56,603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108,775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70,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682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977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3-gram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log,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275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9999999,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167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358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3,078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8,251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6</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log,</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134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log,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53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ct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zealous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r>
              <a:tr h="215900">
                <a:tc>
                  <a:txBody>
                    <a:bodyPr/>
                    <a:lstStyle/>
                    <a:p>
                      <a:pPr algn="ctr">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l">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r>
                        <a:rPr lang="de-DE" sz="1100" dirty="0" smtClean="0">
                          <a:effectLst/>
                          <a:latin typeface="Calibri" panose="020F0502020204030204" pitchFamily="34" charset="0"/>
                          <a:ea typeface="Calibri" panose="020F0502020204030204" pitchFamily="34" charset="0"/>
                          <a:cs typeface="Times New Roman" panose="02020603050405020304" pitchFamily="18" charset="0"/>
                        </a:rPr>
                        <a:t>60,960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spcAft>
                          <a:spcPts val="0"/>
                        </a:spcAft>
                      </a:pPr>
                      <a:r>
                        <a:rPr lang="de-DE" sz="1100" dirty="0" smtClean="0">
                          <a:effectLst/>
                          <a:latin typeface="Calibri" panose="020F0502020204030204" pitchFamily="34" charset="0"/>
                          <a:ea typeface="Calibri" panose="020F0502020204030204" pitchFamily="34" charset="0"/>
                          <a:cs typeface="Times New Roman" panose="02020603050405020304" pitchFamily="18" charset="0"/>
                        </a:rPr>
                        <a:t>119,014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3922413459"/>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SEML: German EPO Applicants vs. Company Panel</a:t>
            </a:r>
          </a:p>
        </p:txBody>
      </p:sp>
      <p:sp>
        <p:nvSpPr>
          <p:cNvPr id="4" name="Inhaltsplatzhalter 3"/>
          <p:cNvSpPr>
            <a:spLocks noGrp="1"/>
          </p:cNvSpPr>
          <p:nvPr>
            <p:ph idx="1"/>
          </p:nvPr>
        </p:nvSpPr>
        <p:spPr/>
        <p:txBody>
          <a:bodyPr/>
          <a:lstStyle/>
          <a:p>
            <a:pPr marL="216000" lvl="0">
              <a:spcBef>
                <a:spcPts val="600"/>
              </a:spcBef>
              <a:buClr>
                <a:srgbClr val="00AAE5"/>
              </a:buClr>
            </a:pPr>
            <a:r>
              <a:rPr lang="en-US" dirty="0" smtClean="0">
                <a:solidFill>
                  <a:prstClr val="black"/>
                </a:solidFill>
              </a:rPr>
              <a:t>Training </a:t>
            </a:r>
            <a:r>
              <a:rPr lang="en-US" dirty="0">
                <a:solidFill>
                  <a:prstClr val="black"/>
                </a:solidFill>
              </a:rPr>
              <a:t>sample</a:t>
            </a:r>
          </a:p>
          <a:p>
            <a:pPr marL="504000" lvl="1">
              <a:spcBef>
                <a:spcPts val="0"/>
              </a:spcBef>
              <a:buClr>
                <a:srgbClr val="00AAE5"/>
              </a:buClr>
            </a:pPr>
            <a:r>
              <a:rPr lang="en-US" dirty="0">
                <a:solidFill>
                  <a:prstClr val="black"/>
                </a:solidFill>
              </a:rPr>
              <a:t> 3,264 applicants paired with 6,535 </a:t>
            </a:r>
            <a:r>
              <a:rPr lang="en-US" dirty="0" smtClean="0">
                <a:solidFill>
                  <a:prstClr val="black"/>
                </a:solidFill>
              </a:rPr>
              <a:t>candidates</a:t>
            </a:r>
          </a:p>
          <a:p>
            <a:pPr marL="504000" lvl="1">
              <a:spcBef>
                <a:spcPts val="0"/>
              </a:spcBef>
              <a:buClr>
                <a:srgbClr val="00AAE5"/>
              </a:buClr>
              <a:buFont typeface="Calibri" panose="020F0502020204030204" pitchFamily="34" charset="0"/>
              <a:buChar char="−"/>
            </a:pPr>
            <a:r>
              <a:rPr lang="en-US" dirty="0" smtClean="0">
                <a:solidFill>
                  <a:prstClr val="black"/>
                </a:solidFill>
              </a:rPr>
              <a:t>677 </a:t>
            </a:r>
            <a:r>
              <a:rPr lang="en-US" dirty="0">
                <a:solidFill>
                  <a:prstClr val="black"/>
                </a:solidFill>
              </a:rPr>
              <a:t>pairings retained for out-of-sample </a:t>
            </a:r>
            <a:r>
              <a:rPr lang="en-US" dirty="0" smtClean="0">
                <a:solidFill>
                  <a:prstClr val="black"/>
                </a:solidFill>
              </a:rPr>
              <a:t>prediction</a:t>
            </a:r>
          </a:p>
          <a:p>
            <a:pPr marL="504000" lvl="1">
              <a:spcBef>
                <a:spcPts val="0"/>
              </a:spcBef>
              <a:buClr>
                <a:srgbClr val="00AAE5"/>
              </a:buClr>
              <a:buFont typeface="Calibri" panose="020F0502020204030204" pitchFamily="34" charset="0"/>
              <a:buChar char="+"/>
            </a:pPr>
            <a:r>
              <a:rPr lang="en-US" dirty="0">
                <a:solidFill>
                  <a:prstClr val="black"/>
                </a:solidFill>
              </a:rPr>
              <a:t>completely scrutinized search runs 4 &amp; 6 to 9 due to marginal representation</a:t>
            </a:r>
          </a:p>
          <a:p>
            <a:r>
              <a:rPr lang="en-US" dirty="0" smtClean="0"/>
              <a:t>Confusion matrix</a:t>
            </a:r>
            <a:endParaRPr lang="en-US" dirty="0"/>
          </a:p>
        </p:txBody>
      </p:sp>
      <p:sp>
        <p:nvSpPr>
          <p:cNvPr id="6" name="Foliennummernplatzhalter 5"/>
          <p:cNvSpPr>
            <a:spLocks noGrp="1"/>
          </p:cNvSpPr>
          <p:nvPr>
            <p:ph type="sldNum" sz="quarter" idx="10"/>
          </p:nvPr>
        </p:nvSpPr>
        <p:spPr/>
        <p:txBody>
          <a:bodyPr/>
          <a:lstStyle/>
          <a:p>
            <a:fld id="{A29D8577-601D-4845-9C29-D9E13FE3E8DB}" type="slidenum">
              <a:rPr lang="en-US" smtClean="0"/>
              <a:pPr/>
              <a:t>30</a:t>
            </a:fld>
            <a:endParaRPr lang="en-US" dirty="0"/>
          </a:p>
        </p:txBody>
      </p:sp>
      <p:graphicFrame>
        <p:nvGraphicFramePr>
          <p:cNvPr id="7" name="Tabelle 6"/>
          <p:cNvGraphicFramePr>
            <a:graphicFrameLocks noGrp="1"/>
          </p:cNvGraphicFramePr>
          <p:nvPr>
            <p:extLst>
              <p:ext uri="{D42A27DB-BD31-4B8C-83A1-F6EECF244321}">
                <p14:modId xmlns:p14="http://schemas.microsoft.com/office/powerpoint/2010/main" val="3348864328"/>
              </p:ext>
            </p:extLst>
          </p:nvPr>
        </p:nvGraphicFramePr>
        <p:xfrm>
          <a:off x="611560" y="2224877"/>
          <a:ext cx="5418518" cy="1620000"/>
        </p:xfrm>
        <a:graphic>
          <a:graphicData uri="http://schemas.openxmlformats.org/drawingml/2006/table">
            <a:tbl>
              <a:tblPr firstRow="1" firstCol="1" bandRow="1"/>
              <a:tblGrid>
                <a:gridCol w="972000"/>
                <a:gridCol w="792000"/>
                <a:gridCol w="792000"/>
                <a:gridCol w="306518"/>
                <a:gridCol w="972000"/>
                <a:gridCol w="792000"/>
                <a:gridCol w="792000"/>
              </a:tblGrid>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err="1">
                          <a:effectLst/>
                          <a:latin typeface="Calibri" panose="020F0502020204030204" pitchFamily="34" charset="0"/>
                          <a:ea typeface="Calibri" panose="020F0502020204030204" pitchFamily="34" charset="0"/>
                          <a:cs typeface="Times New Roman" panose="02020603050405020304" pitchFamily="18" charset="0"/>
                        </a:rPr>
                        <a:t>Probit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NN[25]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575</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13</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590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5</a:t>
                      </a:r>
                      <a:r>
                        <a:rPr lang="de-DE"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70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19</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78</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4</a:t>
                      </a:r>
                      <a:r>
                        <a:rPr lang="de-DE"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96.80%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mbria Math" panose="02040503050406030204" pitchFamily="18" charset="0"/>
                          <a:ea typeface="Calibri" panose="020F0502020204030204" pitchFamily="34" charset="0"/>
                          <a:cs typeface="Times New Roman" panose="02020603050405020304" pitchFamily="18" charset="0"/>
                        </a:rPr>
                        <a:t>84.34%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99.33%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93.98%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97.79%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78.65%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99.16%</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95.12%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95.27</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98.67</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r>
            </a:tbl>
          </a:graphicData>
        </a:graphic>
      </p:graphicFrame>
      <p:sp>
        <p:nvSpPr>
          <p:cNvPr id="8" name="Inhaltsplatzhalter 1"/>
          <p:cNvSpPr txBox="1">
            <a:spLocks/>
          </p:cNvSpPr>
          <p:nvPr/>
        </p:nvSpPr>
        <p:spPr>
          <a:xfrm>
            <a:off x="130277" y="3941671"/>
            <a:ext cx="8496944" cy="608860"/>
          </a:xfrm>
          <a:prstGeom prst="rect">
            <a:avLst/>
          </a:prstGeom>
        </p:spPr>
        <p:txBody>
          <a:bodyPr vert="horz" lIns="91440" tIns="45720" rIns="91440" bIns="45720" rtlCol="0">
            <a:normAutofit/>
          </a:bodyPr>
          <a:lstStyle>
            <a:lvl1pPr marL="216000" indent="-216000" algn="l" defTabSz="914400" rtl="0" eaLnBrk="1" latinLnBrk="0" hangingPunct="1">
              <a:spcBef>
                <a:spcPts val="60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1pPr>
            <a:lvl2pPr marL="504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2pPr>
            <a:lvl3pPr marL="792000" indent="-216000" algn="l" defTabSz="914400" rtl="0" eaLnBrk="1" latinLnBrk="0" hangingPunct="1">
              <a:spcBef>
                <a:spcPts val="0"/>
              </a:spcBef>
              <a:spcAft>
                <a:spcPts val="0"/>
              </a:spcAft>
              <a:buClr>
                <a:srgbClr val="00B0F0"/>
              </a:buClr>
              <a:buFont typeface="Wingdings" panose="05000000000000000000" pitchFamily="2" charset="2"/>
              <a:buChar char="§"/>
              <a:defRPr sz="1600" kern="1200">
                <a:solidFill>
                  <a:schemeClr val="tx1"/>
                </a:solidFill>
                <a:latin typeface="+mn-lt"/>
                <a:ea typeface="+mn-ea"/>
                <a:cs typeface="+mn-cs"/>
              </a:defRPr>
            </a:lvl3pPr>
            <a:lvl4pPr marL="1080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4pPr>
            <a:lvl5pPr marL="1368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16000" marR="0" lvl="0" indent="-216000" algn="l" defTabSz="914400" rtl="0" eaLnBrk="1" fontAlgn="auto" latinLnBrk="0" hangingPunct="1">
              <a:lnSpc>
                <a:spcPct val="100000"/>
              </a:lnSpc>
              <a:spcBef>
                <a:spcPts val="600"/>
              </a:spcBef>
              <a:spcAft>
                <a:spcPts val="0"/>
              </a:spcAft>
              <a:buClr>
                <a:srgbClr val="00AAE5"/>
              </a:buClr>
              <a:buSzTx/>
              <a:buFont typeface="Wingdings" panose="05000000000000000000" pitchFamily="2" charset="2"/>
              <a:buChar char="§"/>
              <a:tabLst/>
              <a:defRPr/>
            </a:pP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Quality assessment</a:t>
            </a:r>
          </a:p>
          <a:p>
            <a:pPr lvl="1"/>
            <a:r>
              <a:rPr lang="en-US" dirty="0" smtClean="0">
                <a:solidFill>
                  <a:prstClr val="black"/>
                </a:solidFill>
              </a:rPr>
              <a:t>59,630 of 62,036 applicants assigned covering 98.81</a:t>
            </a:r>
            <a:r>
              <a:rPr kumimoji="0" lang="en-US" sz="1600" b="0" i="0" u="none" strike="noStrike" kern="1200" cap="none" spc="0" normalizeH="0" baseline="0" noProof="0" dirty="0">
                <a:ln>
                  <a:noFill/>
                </a:ln>
                <a:solidFill>
                  <a:prstClr val="black"/>
                </a:solidFill>
                <a:effectLst/>
                <a:uLnTx/>
                <a:uFillTx/>
                <a:latin typeface="Calibri"/>
                <a:ea typeface="+mn-ea"/>
                <a:cs typeface="+mn-cs"/>
              </a:rPr>
              <a:t>% of all </a:t>
            </a: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German firm patents</a:t>
            </a:r>
          </a:p>
          <a:p>
            <a:pPr lvl="1"/>
            <a:endParaRPr kumimoji="0" lang="en-US" sz="1600" b="0" i="0" u="none" strike="noStrike" kern="1200" cap="none" spc="0" normalizeH="0" baseline="0" noProof="0" dirty="0">
              <a:ln>
                <a:noFill/>
              </a:ln>
              <a:solidFill>
                <a:srgbClr val="000000"/>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smtClean="0">
              <a:ln>
                <a:noFill/>
              </a:ln>
              <a:solidFill>
                <a:prstClr val="black"/>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54090235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Entity Resolution: Search Table = Base Table</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31</a:t>
            </a:fld>
            <a:endParaRPr lang="en-US" dirty="0"/>
          </a:p>
        </p:txBody>
      </p:sp>
      <p:grpSp>
        <p:nvGrpSpPr>
          <p:cNvPr id="5" name="Group 17"/>
          <p:cNvGrpSpPr/>
          <p:nvPr/>
        </p:nvGrpSpPr>
        <p:grpSpPr>
          <a:xfrm>
            <a:off x="1100766" y="2823264"/>
            <a:ext cx="7689388" cy="144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6" name="Rectangle 18"/>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7" name="Rectangle 19"/>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8" name="Group 11"/>
          <p:cNvGrpSpPr/>
          <p:nvPr/>
        </p:nvGrpSpPr>
        <p:grpSpPr>
          <a:xfrm>
            <a:off x="1100766" y="2645324"/>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9" name="Rectangle 12"/>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0" name="Rectangle 13"/>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1" name="Group 41"/>
          <p:cNvGrpSpPr/>
          <p:nvPr/>
        </p:nvGrpSpPr>
        <p:grpSpPr>
          <a:xfrm>
            <a:off x="1134068" y="1267254"/>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2" name="Rectangle 42"/>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3" name="Rectangle 43"/>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4" name="Group 35"/>
          <p:cNvGrpSpPr/>
          <p:nvPr/>
        </p:nvGrpSpPr>
        <p:grpSpPr>
          <a:xfrm>
            <a:off x="1100766" y="4161468"/>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5" name="Rectangle 36"/>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6" name="Rectangle 37"/>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7" name="Group 25"/>
          <p:cNvGrpSpPr/>
          <p:nvPr/>
        </p:nvGrpSpPr>
        <p:grpSpPr>
          <a:xfrm>
            <a:off x="1140205" y="819260"/>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8" name="Rectangle 26"/>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9" name="Rectangle 27"/>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20" name="Group 20"/>
          <p:cNvGrpSpPr/>
          <p:nvPr/>
        </p:nvGrpSpPr>
        <p:grpSpPr>
          <a:xfrm>
            <a:off x="1100766" y="5523568"/>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21" name="Rectangle 21"/>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22" name="Rectangle 22"/>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23" name="Group 14"/>
          <p:cNvGrpSpPr/>
          <p:nvPr/>
        </p:nvGrpSpPr>
        <p:grpSpPr>
          <a:xfrm>
            <a:off x="1100766" y="3555602"/>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24" name="Rectangle 15"/>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25" name="Rectangle 16"/>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aphicFrame>
        <p:nvGraphicFramePr>
          <p:cNvPr id="26" name="Table 5"/>
          <p:cNvGraphicFramePr>
            <a:graphicFrameLocks noGrp="1"/>
          </p:cNvGraphicFramePr>
          <p:nvPr>
            <p:extLst>
              <p:ext uri="{D42A27DB-BD31-4B8C-83A1-F6EECF244321}">
                <p14:modId xmlns:p14="http://schemas.microsoft.com/office/powerpoint/2010/main" val="4211269009"/>
              </p:ext>
            </p:extLst>
          </p:nvPr>
        </p:nvGraphicFramePr>
        <p:xfrm>
          <a:off x="1031544" y="662469"/>
          <a:ext cx="8347359" cy="5632436"/>
        </p:xfrm>
        <a:graphic>
          <a:graphicData uri="http://schemas.openxmlformats.org/drawingml/2006/table">
            <a:tbl>
              <a:tblPr/>
              <a:tblGrid>
                <a:gridCol w="468000"/>
                <a:gridCol w="468000"/>
                <a:gridCol w="425972"/>
                <a:gridCol w="396000"/>
                <a:gridCol w="2393557"/>
                <a:gridCol w="396000"/>
                <a:gridCol w="936000"/>
                <a:gridCol w="2448000"/>
                <a:gridCol w="415830"/>
              </a:tblGrid>
              <a:tr h="152228">
                <a:tc>
                  <a:txBody>
                    <a:bodyPr/>
                    <a:lstStyle/>
                    <a:p>
                      <a:pPr algn="r" fontAlgn="b"/>
                      <a:r>
                        <a:rPr lang="en-US" sz="900" b="0" i="0" u="none" strike="noStrike" dirty="0">
                          <a:solidFill>
                            <a:srgbClr val="000000"/>
                          </a:solidFill>
                          <a:effectLst/>
                          <a:latin typeface="Calibri" panose="020F0502020204030204" pitchFamily="34" charset="0"/>
                        </a:rPr>
                        <a:t>searched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dirty="0">
                          <a:solidFill>
                            <a:srgbClr val="000000"/>
                          </a:solidFill>
                          <a:effectLst/>
                          <a:latin typeface="Calibri" panose="020F0502020204030204" pitchFamily="34" charset="0"/>
                        </a:rPr>
                        <a:t>found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dirty="0">
                          <a:solidFill>
                            <a:srgbClr val="000000"/>
                          </a:solidFill>
                          <a:effectLst/>
                          <a:latin typeface="Calibri" panose="020F0502020204030204" pitchFamily="34" charset="0"/>
                        </a:rPr>
                        <a:t>identity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ctr" fontAlgn="b"/>
                      <a:r>
                        <a:rPr lang="en-US" sz="900" b="0" i="0" u="none" strike="noStrike" dirty="0">
                          <a:solidFill>
                            <a:srgbClr val="000000"/>
                          </a:solidFill>
                          <a:effectLst/>
                          <a:latin typeface="Calibri" panose="020F0502020204030204" pitchFamily="34" charset="0"/>
                        </a:rPr>
                        <a:t>equal</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a:solidFill>
                            <a:srgbClr val="000000"/>
                          </a:solidFill>
                          <a:effectLst/>
                          <a:latin typeface="Calibri" panose="020F0502020204030204" pitchFamily="34" charset="0"/>
                        </a:rPr>
                        <a:t>name</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zip</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city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street</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country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r>
              <a:tr h="152228">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 PATENTE</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smtClean="0">
                          <a:solidFill>
                            <a:srgbClr val="000000"/>
                          </a:solidFill>
                          <a:effectLst/>
                          <a:latin typeface="Calibri" panose="020F0502020204030204" pitchFamily="34" charset="0"/>
                        </a:rPr>
                        <a:t>66486</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95.00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13347</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73565</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13509</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MIRAUSTRASSE 54</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99.57</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199658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99.29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PATENTE 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95.00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180193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303857</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 WEDDING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264</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94.57</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94.57</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171208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99.73</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99.40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94.68</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441578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543908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94.52</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 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93.76</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bl>
          </a:graphicData>
        </a:graphic>
      </p:graphicFrame>
      <p:sp>
        <p:nvSpPr>
          <p:cNvPr id="27" name="Freeform 33"/>
          <p:cNvSpPr/>
          <p:nvPr/>
        </p:nvSpPr>
        <p:spPr>
          <a:xfrm>
            <a:off x="517829" y="2891482"/>
            <a:ext cx="604204" cy="1365789"/>
          </a:xfrm>
          <a:custGeom>
            <a:avLst/>
            <a:gdLst>
              <a:gd name="connsiteX0" fmla="*/ 618846 w 631120"/>
              <a:gd name="connsiteY0" fmla="*/ 0 h 1368532"/>
              <a:gd name="connsiteX1" fmla="*/ 146303 w 631120"/>
              <a:gd name="connsiteY1" fmla="*/ 300709 h 1368532"/>
              <a:gd name="connsiteX2" fmla="*/ 29702 w 631120"/>
              <a:gd name="connsiteY2" fmla="*/ 920537 h 1368532"/>
              <a:gd name="connsiteX3" fmla="*/ 631120 w 631120"/>
              <a:gd name="connsiteY3" fmla="*/ 1368532 h 1368532"/>
              <a:gd name="connsiteX0" fmla="*/ 616187 w 616188"/>
              <a:gd name="connsiteY0" fmla="*/ 0 h 1362410"/>
              <a:gd name="connsiteX1" fmla="*/ 143644 w 616188"/>
              <a:gd name="connsiteY1" fmla="*/ 300709 h 1362410"/>
              <a:gd name="connsiteX2" fmla="*/ 27043 w 616188"/>
              <a:gd name="connsiteY2" fmla="*/ 920537 h 1362410"/>
              <a:gd name="connsiteX3" fmla="*/ 590909 w 616188"/>
              <a:gd name="connsiteY3" fmla="*/ 1362410 h 1362410"/>
            </a:gdLst>
            <a:ahLst/>
            <a:cxnLst>
              <a:cxn ang="0">
                <a:pos x="connsiteX0" y="connsiteY0"/>
              </a:cxn>
              <a:cxn ang="0">
                <a:pos x="connsiteX1" y="connsiteY1"/>
              </a:cxn>
              <a:cxn ang="0">
                <a:pos x="connsiteX2" y="connsiteY2"/>
              </a:cxn>
              <a:cxn ang="0">
                <a:pos x="connsiteX3" y="connsiteY3"/>
              </a:cxn>
            </a:cxnLst>
            <a:rect l="l" t="t" r="r" b="b"/>
            <a:pathLst>
              <a:path w="616188" h="1362410">
                <a:moveTo>
                  <a:pt x="616187" y="0"/>
                </a:moveTo>
                <a:cubicBezTo>
                  <a:pt x="429011" y="73643"/>
                  <a:pt x="241835" y="147286"/>
                  <a:pt x="143644" y="300709"/>
                </a:cubicBezTo>
                <a:cubicBezTo>
                  <a:pt x="45453" y="454132"/>
                  <a:pt x="-47501" y="743587"/>
                  <a:pt x="27043" y="920537"/>
                </a:cubicBezTo>
                <a:cubicBezTo>
                  <a:pt x="101587" y="1097487"/>
                  <a:pt x="330601" y="1227397"/>
                  <a:pt x="590909" y="136241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34"/>
          <p:cNvSpPr/>
          <p:nvPr/>
        </p:nvSpPr>
        <p:spPr>
          <a:xfrm>
            <a:off x="458192" y="909260"/>
            <a:ext cx="675877" cy="1813812"/>
          </a:xfrm>
          <a:custGeom>
            <a:avLst/>
            <a:gdLst>
              <a:gd name="connsiteX0" fmla="*/ 671063 w 677200"/>
              <a:gd name="connsiteY0" fmla="*/ 1816526 h 1816526"/>
              <a:gd name="connsiteX1" fmla="*/ 88056 w 677200"/>
              <a:gd name="connsiteY1" fmla="*/ 1405353 h 1816526"/>
              <a:gd name="connsiteX2" fmla="*/ 63508 w 677200"/>
              <a:gd name="connsiteY2" fmla="*/ 398899 h 1816526"/>
              <a:gd name="connsiteX3" fmla="*/ 677200 w 677200"/>
              <a:gd name="connsiteY3" fmla="*/ 0 h 1816526"/>
              <a:gd name="connsiteX0" fmla="*/ 645320 w 675877"/>
              <a:gd name="connsiteY0" fmla="*/ 1813812 h 1813812"/>
              <a:gd name="connsiteX1" fmla="*/ 86733 w 675877"/>
              <a:gd name="connsiteY1" fmla="*/ 1405353 h 1813812"/>
              <a:gd name="connsiteX2" fmla="*/ 62185 w 675877"/>
              <a:gd name="connsiteY2" fmla="*/ 398899 h 1813812"/>
              <a:gd name="connsiteX3" fmla="*/ 675877 w 675877"/>
              <a:gd name="connsiteY3" fmla="*/ 0 h 1813812"/>
            </a:gdLst>
            <a:ahLst/>
            <a:cxnLst>
              <a:cxn ang="0">
                <a:pos x="connsiteX0" y="connsiteY0"/>
              </a:cxn>
              <a:cxn ang="0">
                <a:pos x="connsiteX1" y="connsiteY1"/>
              </a:cxn>
              <a:cxn ang="0">
                <a:pos x="connsiteX2" y="connsiteY2"/>
              </a:cxn>
              <a:cxn ang="0">
                <a:pos x="connsiteX3" y="connsiteY3"/>
              </a:cxn>
            </a:cxnLst>
            <a:rect l="l" t="t" r="r" b="b"/>
            <a:pathLst>
              <a:path w="675877" h="1813812">
                <a:moveTo>
                  <a:pt x="645320" y="1813812"/>
                </a:moveTo>
                <a:cubicBezTo>
                  <a:pt x="404446" y="1726361"/>
                  <a:pt x="183922" y="1641172"/>
                  <a:pt x="86733" y="1405353"/>
                </a:cubicBezTo>
                <a:cubicBezTo>
                  <a:pt x="-10456" y="1169534"/>
                  <a:pt x="-36006" y="633124"/>
                  <a:pt x="62185" y="398899"/>
                </a:cubicBezTo>
                <a:cubicBezTo>
                  <a:pt x="160376" y="164674"/>
                  <a:pt x="418126" y="82337"/>
                  <a:pt x="675877" y="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39"/>
          <p:cNvSpPr/>
          <p:nvPr/>
        </p:nvSpPr>
        <p:spPr>
          <a:xfrm>
            <a:off x="608553" y="4300230"/>
            <a:ext cx="519378" cy="1319436"/>
          </a:xfrm>
          <a:custGeom>
            <a:avLst/>
            <a:gdLst>
              <a:gd name="connsiteX0" fmla="*/ 519378 w 519378"/>
              <a:gd name="connsiteY0" fmla="*/ 1319436 h 1319436"/>
              <a:gd name="connsiteX1" fmla="*/ 83657 w 519378"/>
              <a:gd name="connsiteY1" fmla="*/ 1037138 h 1319436"/>
              <a:gd name="connsiteX2" fmla="*/ 34562 w 519378"/>
              <a:gd name="connsiteY2" fmla="*/ 362078 h 1319436"/>
              <a:gd name="connsiteX3" fmla="*/ 476419 w 519378"/>
              <a:gd name="connsiteY3" fmla="*/ 0 h 1319436"/>
              <a:gd name="connsiteX4" fmla="*/ 476419 w 519378"/>
              <a:gd name="connsiteY4" fmla="*/ 0 h 13194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9378" h="1319436">
                <a:moveTo>
                  <a:pt x="519378" y="1319436"/>
                </a:moveTo>
                <a:cubicBezTo>
                  <a:pt x="341919" y="1258067"/>
                  <a:pt x="164460" y="1196698"/>
                  <a:pt x="83657" y="1037138"/>
                </a:cubicBezTo>
                <a:cubicBezTo>
                  <a:pt x="2854" y="877578"/>
                  <a:pt x="-30898" y="534934"/>
                  <a:pt x="34562" y="362078"/>
                </a:cubicBezTo>
                <a:cubicBezTo>
                  <a:pt x="100022" y="189222"/>
                  <a:pt x="476419" y="0"/>
                  <a:pt x="476419" y="0"/>
                </a:cubicBezTo>
                <a:lnTo>
                  <a:pt x="476419" y="0"/>
                </a:ln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40"/>
          <p:cNvSpPr/>
          <p:nvPr/>
        </p:nvSpPr>
        <p:spPr>
          <a:xfrm>
            <a:off x="526368" y="1375666"/>
            <a:ext cx="595426" cy="2282932"/>
          </a:xfrm>
          <a:custGeom>
            <a:avLst/>
            <a:gdLst>
              <a:gd name="connsiteX0" fmla="*/ 595426 w 644521"/>
              <a:gd name="connsiteY0" fmla="*/ 2289069 h 2289069"/>
              <a:gd name="connsiteX1" fmla="*/ 178116 w 644521"/>
              <a:gd name="connsiteY1" fmla="*/ 2019044 h 2289069"/>
              <a:gd name="connsiteX2" fmla="*/ 145 w 644521"/>
              <a:gd name="connsiteY2" fmla="*/ 1343984 h 2289069"/>
              <a:gd name="connsiteX3" fmla="*/ 202664 w 644521"/>
              <a:gd name="connsiteY3" fmla="*/ 441858 h 2289069"/>
              <a:gd name="connsiteX4" fmla="*/ 644521 w 644521"/>
              <a:gd name="connsiteY4" fmla="*/ 0 h 2289069"/>
              <a:gd name="connsiteX0" fmla="*/ 595426 w 595426"/>
              <a:gd name="connsiteY0" fmla="*/ 2282932 h 2282932"/>
              <a:gd name="connsiteX1" fmla="*/ 178116 w 595426"/>
              <a:gd name="connsiteY1" fmla="*/ 2012907 h 2282932"/>
              <a:gd name="connsiteX2" fmla="*/ 145 w 595426"/>
              <a:gd name="connsiteY2" fmla="*/ 1337847 h 2282932"/>
              <a:gd name="connsiteX3" fmla="*/ 202664 w 595426"/>
              <a:gd name="connsiteY3" fmla="*/ 435721 h 2282932"/>
              <a:gd name="connsiteX4" fmla="*/ 589289 w 595426"/>
              <a:gd name="connsiteY4" fmla="*/ 0 h 22829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5426" h="2282932">
                <a:moveTo>
                  <a:pt x="595426" y="2282932"/>
                </a:moveTo>
                <a:cubicBezTo>
                  <a:pt x="436377" y="2226676"/>
                  <a:pt x="277329" y="2170421"/>
                  <a:pt x="178116" y="2012907"/>
                </a:cubicBezTo>
                <a:cubicBezTo>
                  <a:pt x="78902" y="1855393"/>
                  <a:pt x="-3946" y="1600711"/>
                  <a:pt x="145" y="1337847"/>
                </a:cubicBezTo>
                <a:cubicBezTo>
                  <a:pt x="4236" y="1074983"/>
                  <a:pt x="104473" y="658696"/>
                  <a:pt x="202664" y="435721"/>
                </a:cubicBezTo>
                <a:cubicBezTo>
                  <a:pt x="300855" y="212746"/>
                  <a:pt x="422058" y="108930"/>
                  <a:pt x="589289" y="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47"/>
          <p:cNvSpPr txBox="1"/>
          <p:nvPr/>
        </p:nvSpPr>
        <p:spPr>
          <a:xfrm>
            <a:off x="1524660" y="2615413"/>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203346</a:t>
            </a:r>
            <a:endParaRPr lang="en-US" sz="900" dirty="0">
              <a:solidFill>
                <a:schemeClr val="bg1"/>
              </a:solidFill>
            </a:endParaRPr>
          </a:p>
        </p:txBody>
      </p:sp>
      <p:sp>
        <p:nvSpPr>
          <p:cNvPr id="32" name="TextBox 48"/>
          <p:cNvSpPr txBox="1"/>
          <p:nvPr/>
        </p:nvSpPr>
        <p:spPr>
          <a:xfrm>
            <a:off x="1058336" y="784645"/>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203346</a:t>
            </a:r>
            <a:endParaRPr lang="en-US" sz="900" dirty="0">
              <a:solidFill>
                <a:schemeClr val="bg1"/>
              </a:solidFill>
            </a:endParaRPr>
          </a:p>
        </p:txBody>
      </p:sp>
      <p:sp>
        <p:nvSpPr>
          <p:cNvPr id="33" name="TextBox 49"/>
          <p:cNvSpPr txBox="1"/>
          <p:nvPr/>
        </p:nvSpPr>
        <p:spPr>
          <a:xfrm>
            <a:off x="1582134" y="3528821"/>
            <a:ext cx="473206"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71132</a:t>
            </a:r>
          </a:p>
        </p:txBody>
      </p:sp>
      <p:sp>
        <p:nvSpPr>
          <p:cNvPr id="34" name="TextBox 51"/>
          <p:cNvSpPr txBox="1"/>
          <p:nvPr/>
        </p:nvSpPr>
        <p:spPr>
          <a:xfrm>
            <a:off x="1112660" y="1243191"/>
            <a:ext cx="473206"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71132</a:t>
            </a:r>
          </a:p>
        </p:txBody>
      </p:sp>
      <p:sp>
        <p:nvSpPr>
          <p:cNvPr id="35" name="TextBox 52"/>
          <p:cNvSpPr txBox="1"/>
          <p:nvPr/>
        </p:nvSpPr>
        <p:spPr>
          <a:xfrm>
            <a:off x="1524426" y="2768726"/>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
        <p:nvSpPr>
          <p:cNvPr id="36" name="TextBox 53"/>
          <p:cNvSpPr txBox="1"/>
          <p:nvPr/>
        </p:nvSpPr>
        <p:spPr>
          <a:xfrm>
            <a:off x="1055899" y="4137490"/>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
        <p:nvSpPr>
          <p:cNvPr id="37" name="TextBox 54"/>
          <p:cNvSpPr txBox="1"/>
          <p:nvPr/>
        </p:nvSpPr>
        <p:spPr>
          <a:xfrm>
            <a:off x="1524425" y="5507267"/>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Tree>
    <p:extLst>
      <p:ext uri="{BB962C8B-B14F-4D97-AF65-F5344CB8AC3E}">
        <p14:creationId xmlns:p14="http://schemas.microsoft.com/office/powerpoint/2010/main" val="1426326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wipe(left)">
                                      <p:cBhvr>
                                        <p:cTn id="10" dur="500"/>
                                        <p:tgtEl>
                                          <p:spTgt spid="31"/>
                                        </p:tgtEl>
                                      </p:cBhvr>
                                    </p:animEffect>
                                  </p:childTnLst>
                                </p:cTn>
                              </p:par>
                            </p:childTnLst>
                          </p:cTn>
                        </p:par>
                        <p:par>
                          <p:cTn id="11" fill="hold">
                            <p:stCondLst>
                              <p:cond delay="500"/>
                            </p:stCondLst>
                            <p:childTnLst>
                              <p:par>
                                <p:cTn id="12" presetID="22" presetClass="entr" presetSubtype="4" fill="hold" grpId="0" nodeType="after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wipe(down)">
                                      <p:cBhvr>
                                        <p:cTn id="14" dur="500"/>
                                        <p:tgtEl>
                                          <p:spTgt spid="28"/>
                                        </p:tgtEl>
                                      </p:cBhvr>
                                    </p:animEffect>
                                  </p:childTnLst>
                                </p:cTn>
                              </p:par>
                            </p:childTnLst>
                          </p:cTn>
                        </p:par>
                        <p:par>
                          <p:cTn id="15" fill="hold">
                            <p:stCondLst>
                              <p:cond delay="1000"/>
                            </p:stCondLst>
                            <p:childTnLst>
                              <p:par>
                                <p:cTn id="16" presetID="22" presetClass="entr" presetSubtype="8"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left)">
                                      <p:cBhvr>
                                        <p:cTn id="18" dur="50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32"/>
                                        </p:tgtEl>
                                        <p:attrNameLst>
                                          <p:attrName>style.visibility</p:attrName>
                                        </p:attrNameLst>
                                      </p:cBhvr>
                                      <p:to>
                                        <p:strVal val="visible"/>
                                      </p:to>
                                    </p:set>
                                    <p:animEffect transition="in" filter="wipe(left)">
                                      <p:cBhvr>
                                        <p:cTn id="21" dur="500"/>
                                        <p:tgtEl>
                                          <p:spTgt spid="32"/>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wipe(left)">
                                      <p:cBhvr>
                                        <p:cTn id="25" dur="500"/>
                                        <p:tgtEl>
                                          <p:spTgt spid="23"/>
                                        </p:tgtEl>
                                      </p:cBhvr>
                                    </p:animEffect>
                                  </p:childTnLst>
                                </p:cTn>
                              </p:par>
                              <p:par>
                                <p:cTn id="26" presetID="22" presetClass="entr" presetSubtype="8" fill="hold" grpId="0" nodeType="withEffect">
                                  <p:stCondLst>
                                    <p:cond delay="0"/>
                                  </p:stCondLst>
                                  <p:childTnLst>
                                    <p:set>
                                      <p:cBhvr>
                                        <p:cTn id="27" dur="1" fill="hold">
                                          <p:stCondLst>
                                            <p:cond delay="0"/>
                                          </p:stCondLst>
                                        </p:cTn>
                                        <p:tgtEl>
                                          <p:spTgt spid="33"/>
                                        </p:tgtEl>
                                        <p:attrNameLst>
                                          <p:attrName>style.visibility</p:attrName>
                                        </p:attrNameLst>
                                      </p:cBhvr>
                                      <p:to>
                                        <p:strVal val="visible"/>
                                      </p:to>
                                    </p:set>
                                    <p:animEffect transition="in" filter="wipe(left)">
                                      <p:cBhvr>
                                        <p:cTn id="28" dur="500"/>
                                        <p:tgtEl>
                                          <p:spTgt spid="33"/>
                                        </p:tgtEl>
                                      </p:cBhvr>
                                    </p:animEffect>
                                  </p:childTnLst>
                                </p:cTn>
                              </p:par>
                            </p:childTnLst>
                          </p:cTn>
                        </p:par>
                        <p:par>
                          <p:cTn id="29" fill="hold">
                            <p:stCondLst>
                              <p:cond delay="2000"/>
                            </p:stCondLst>
                            <p:childTnLst>
                              <p:par>
                                <p:cTn id="30" presetID="22" presetClass="entr" presetSubtype="4" fill="hold" grpId="0" nodeType="after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wipe(down)">
                                      <p:cBhvr>
                                        <p:cTn id="32" dur="500"/>
                                        <p:tgtEl>
                                          <p:spTgt spid="30"/>
                                        </p:tgtEl>
                                      </p:cBhvr>
                                    </p:animEffect>
                                  </p:childTnLst>
                                </p:cTn>
                              </p:par>
                            </p:childTnLst>
                          </p:cTn>
                        </p:par>
                        <p:par>
                          <p:cTn id="33" fill="hold">
                            <p:stCondLst>
                              <p:cond delay="2500"/>
                            </p:stCondLst>
                            <p:childTnLst>
                              <p:par>
                                <p:cTn id="34" presetID="22" presetClass="entr" presetSubtype="8" fill="hold"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wipe(left)">
                                      <p:cBhvr>
                                        <p:cTn id="39" dur="500"/>
                                        <p:tgtEl>
                                          <p:spTgt spid="34"/>
                                        </p:tgtEl>
                                      </p:cBhvr>
                                    </p:animEffect>
                                  </p:childTnLst>
                                </p:cTn>
                              </p:par>
                            </p:childTnLst>
                          </p:cTn>
                        </p:par>
                        <p:par>
                          <p:cTn id="40" fill="hold">
                            <p:stCondLst>
                              <p:cond delay="3000"/>
                            </p:stCondLst>
                            <p:childTnLst>
                              <p:par>
                                <p:cTn id="41" presetID="22" presetClass="entr" presetSubtype="8" fill="hold" nodeType="afterEffect">
                                  <p:stCondLst>
                                    <p:cond delay="0"/>
                                  </p:stCondLst>
                                  <p:childTnLst>
                                    <p:set>
                                      <p:cBhvr>
                                        <p:cTn id="42" dur="1" fill="hold">
                                          <p:stCondLst>
                                            <p:cond delay="0"/>
                                          </p:stCondLst>
                                        </p:cTn>
                                        <p:tgtEl>
                                          <p:spTgt spid="5"/>
                                        </p:tgtEl>
                                        <p:attrNameLst>
                                          <p:attrName>style.visibility</p:attrName>
                                        </p:attrNameLst>
                                      </p:cBhvr>
                                      <p:to>
                                        <p:strVal val="visible"/>
                                      </p:to>
                                    </p:set>
                                    <p:animEffect transition="in" filter="wipe(left)">
                                      <p:cBhvr>
                                        <p:cTn id="43" dur="500"/>
                                        <p:tgtEl>
                                          <p:spTgt spid="5"/>
                                        </p:tgtEl>
                                      </p:cBhvr>
                                    </p:animEffect>
                                  </p:childTnLst>
                                </p:cTn>
                              </p:par>
                              <p:par>
                                <p:cTn id="44" presetID="22" presetClass="entr" presetSubtype="8" fill="hold"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left)">
                                      <p:cBhvr>
                                        <p:cTn id="46" dur="500"/>
                                        <p:tgtEl>
                                          <p:spTgt spid="20"/>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wipe(left)">
                                      <p:cBhvr>
                                        <p:cTn id="49" dur="500"/>
                                        <p:tgtEl>
                                          <p:spTgt spid="35"/>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wipe(left)">
                                      <p:cBhvr>
                                        <p:cTn id="52" dur="500"/>
                                        <p:tgtEl>
                                          <p:spTgt spid="37"/>
                                        </p:tgtEl>
                                      </p:cBhvr>
                                    </p:animEffect>
                                  </p:childTnLst>
                                </p:cTn>
                              </p:par>
                            </p:childTnLst>
                          </p:cTn>
                        </p:par>
                        <p:par>
                          <p:cTn id="53" fill="hold">
                            <p:stCondLst>
                              <p:cond delay="3500"/>
                            </p:stCondLst>
                            <p:childTnLst>
                              <p:par>
                                <p:cTn id="54" presetID="22" presetClass="entr" presetSubtype="1" fill="hold" grpId="0" nodeType="after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wipe(up)">
                                      <p:cBhvr>
                                        <p:cTn id="56" dur="500"/>
                                        <p:tgtEl>
                                          <p:spTgt spid="27"/>
                                        </p:tgtEl>
                                      </p:cBhvr>
                                    </p:animEffect>
                                  </p:childTnLst>
                                </p:cTn>
                              </p:par>
                              <p:par>
                                <p:cTn id="57" presetID="22" presetClass="entr" presetSubtype="4"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down)">
                                      <p:cBhvr>
                                        <p:cTn id="59" dur="500"/>
                                        <p:tgtEl>
                                          <p:spTgt spid="29"/>
                                        </p:tgtEl>
                                      </p:cBhvr>
                                    </p:animEffect>
                                  </p:childTnLst>
                                </p:cTn>
                              </p:par>
                            </p:childTnLst>
                          </p:cTn>
                        </p:par>
                        <p:par>
                          <p:cTn id="60" fill="hold">
                            <p:stCondLst>
                              <p:cond delay="4000"/>
                            </p:stCondLst>
                            <p:childTnLst>
                              <p:par>
                                <p:cTn id="61" presetID="22" presetClass="entr" presetSubtype="8" fill="hold" nodeType="after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wipe(left)">
                                      <p:cBhvr>
                                        <p:cTn id="63" dur="500"/>
                                        <p:tgtEl>
                                          <p:spTgt spid="14"/>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36"/>
                                        </p:tgtEl>
                                        <p:attrNameLst>
                                          <p:attrName>style.visibility</p:attrName>
                                        </p:attrNameLst>
                                      </p:cBhvr>
                                      <p:to>
                                        <p:strVal val="visible"/>
                                      </p:to>
                                    </p:set>
                                    <p:animEffect transition="in" filter="wipe(left)">
                                      <p:cBhvr>
                                        <p:cTn id="66"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p:bldP spid="32" grpId="0"/>
      <p:bldP spid="33" grpId="0"/>
      <p:bldP spid="34" grpId="0"/>
      <p:bldP spid="35" grpId="0"/>
      <p:bldP spid="36" grpId="0"/>
      <p:bldP spid="37"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Intransitive Similarity Network: Directed Graph</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32</a:t>
            </a:fld>
            <a:endParaRPr lang="en-US" dirty="0"/>
          </a:p>
        </p:txBody>
      </p:sp>
      <p:cxnSp>
        <p:nvCxnSpPr>
          <p:cNvPr id="68" name="Gerade Verbindung mit Pfeil 60"/>
          <p:cNvCxnSpPr/>
          <p:nvPr/>
        </p:nvCxnSpPr>
        <p:spPr>
          <a:xfrm flipH="1">
            <a:off x="5949385" y="2008378"/>
            <a:ext cx="1325142" cy="2726"/>
          </a:xfrm>
          <a:prstGeom prst="straightConnector1">
            <a:avLst/>
          </a:prstGeom>
          <a:ln w="25400" cap="rnd">
            <a:solidFill>
              <a:srgbClr val="00AAE5"/>
            </a:solidFill>
            <a:prstDash val="solid"/>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69" name="Gerade Verbindung 19"/>
          <p:cNvCxnSpPr/>
          <p:nvPr/>
        </p:nvCxnSpPr>
        <p:spPr>
          <a:xfrm>
            <a:off x="5356375" y="2412538"/>
            <a:ext cx="6059" cy="2028786"/>
          </a:xfrm>
          <a:prstGeom prst="line">
            <a:avLst/>
          </a:prstGeom>
          <a:ln w="25400" cap="rnd">
            <a:solidFill>
              <a:srgbClr val="00AAE5"/>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0" name="Gerade Verbindung 11"/>
          <p:cNvCxnSpPr/>
          <p:nvPr/>
        </p:nvCxnSpPr>
        <p:spPr>
          <a:xfrm flipV="1">
            <a:off x="4144572" y="2323825"/>
            <a:ext cx="994176" cy="845360"/>
          </a:xfrm>
          <a:prstGeom prst="line">
            <a:avLst/>
          </a:prstGeom>
          <a:ln w="25400">
            <a:solidFill>
              <a:srgbClr val="00AAE5"/>
            </a:solidFill>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71" name="Gerade Verbindung 10"/>
          <p:cNvCxnSpPr/>
          <p:nvPr/>
        </p:nvCxnSpPr>
        <p:spPr>
          <a:xfrm>
            <a:off x="1880094" y="3590931"/>
            <a:ext cx="1350025" cy="4085"/>
          </a:xfrm>
          <a:prstGeom prst="line">
            <a:avLst/>
          </a:prstGeom>
          <a:ln w="25400">
            <a:solidFill>
              <a:srgbClr val="00AAE5"/>
            </a:solidFill>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sp>
        <p:nvSpPr>
          <p:cNvPr id="72" name="Ellipse 9"/>
          <p:cNvSpPr/>
          <p:nvPr/>
        </p:nvSpPr>
        <p:spPr>
          <a:xfrm>
            <a:off x="4929235"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100" dirty="0">
              <a:solidFill>
                <a:schemeClr val="tx1"/>
              </a:solidFill>
              <a:latin typeface="Arial" pitchFamily="34" charset="0"/>
              <a:cs typeface="Arial" pitchFamily="34" charset="0"/>
            </a:endParaRPr>
          </a:p>
        </p:txBody>
      </p:sp>
      <p:sp>
        <p:nvSpPr>
          <p:cNvPr id="73" name="Ellipse 4"/>
          <p:cNvSpPr/>
          <p:nvPr/>
        </p:nvSpPr>
        <p:spPr>
          <a:xfrm>
            <a:off x="857545"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74" name="Ellipse 5"/>
          <p:cNvSpPr/>
          <p:nvPr/>
        </p:nvSpPr>
        <p:spPr>
          <a:xfrm>
            <a:off x="3209948"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75" name="Ellipse 8"/>
          <p:cNvSpPr/>
          <p:nvPr/>
        </p:nvSpPr>
        <p:spPr>
          <a:xfrm>
            <a:off x="4929235"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cxnSp>
        <p:nvCxnSpPr>
          <p:cNvPr id="76" name="Gerade Verbindung 10"/>
          <p:cNvCxnSpPr/>
          <p:nvPr/>
        </p:nvCxnSpPr>
        <p:spPr>
          <a:xfrm>
            <a:off x="1880094" y="3339470"/>
            <a:ext cx="1338027" cy="1180"/>
          </a:xfrm>
          <a:prstGeom prst="line">
            <a:avLst/>
          </a:prstGeom>
          <a:ln w="25400">
            <a:solidFill>
              <a:schemeClr val="tx1"/>
            </a:solidFill>
            <a:headEnd type="none"/>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7" name="Gerade Verbindung 11"/>
          <p:cNvCxnSpPr/>
          <p:nvPr/>
        </p:nvCxnSpPr>
        <p:spPr>
          <a:xfrm flipV="1">
            <a:off x="3956543" y="2155326"/>
            <a:ext cx="1024890" cy="853439"/>
          </a:xfrm>
          <a:prstGeom prst="line">
            <a:avLst/>
          </a:prstGeom>
          <a:ln w="25400">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8" name="Gerade Verbindung 12"/>
          <p:cNvCxnSpPr/>
          <p:nvPr/>
        </p:nvCxnSpPr>
        <p:spPr>
          <a:xfrm>
            <a:off x="4172110" y="3731060"/>
            <a:ext cx="1000931" cy="785322"/>
          </a:xfrm>
          <a:prstGeom prst="line">
            <a:avLst/>
          </a:prstGeom>
          <a:ln w="25400" cap="rnd">
            <a:solidFill>
              <a:schemeClr val="tx1"/>
            </a:solidFill>
            <a:headEnd type="triangle" w="lg" len="lg"/>
          </a:ln>
          <a:effectLst/>
        </p:spPr>
        <p:style>
          <a:lnRef idx="2">
            <a:schemeClr val="accent1"/>
          </a:lnRef>
          <a:fillRef idx="0">
            <a:schemeClr val="accent1"/>
          </a:fillRef>
          <a:effectRef idx="1">
            <a:schemeClr val="accent1"/>
          </a:effectRef>
          <a:fontRef idx="minor">
            <a:schemeClr val="tx1"/>
          </a:fontRef>
        </p:style>
      </p:cxnSp>
      <p:sp>
        <p:nvSpPr>
          <p:cNvPr id="79" name="Ellipse 13"/>
          <p:cNvSpPr/>
          <p:nvPr/>
        </p:nvSpPr>
        <p:spPr>
          <a:xfrm>
            <a:off x="7265336"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cxnSp>
        <p:nvCxnSpPr>
          <p:cNvPr id="80" name="Gerade Verbindung 19"/>
          <p:cNvCxnSpPr/>
          <p:nvPr/>
        </p:nvCxnSpPr>
        <p:spPr>
          <a:xfrm>
            <a:off x="5581074" y="2399090"/>
            <a:ext cx="9054" cy="2067207"/>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sp>
        <p:nvSpPr>
          <p:cNvPr id="81" name="Textfeld 29"/>
          <p:cNvSpPr txBox="1"/>
          <p:nvPr/>
        </p:nvSpPr>
        <p:spPr>
          <a:xfrm>
            <a:off x="5117245" y="1503439"/>
            <a:ext cx="700833" cy="707886"/>
          </a:xfrm>
          <a:prstGeom prst="rect">
            <a:avLst/>
          </a:prstGeom>
          <a:noFill/>
        </p:spPr>
        <p:txBody>
          <a:bodyPr wrap="none" rtlCol="0">
            <a:spAutoFit/>
          </a:bodyPr>
          <a:lstStyle/>
          <a:p>
            <a:r>
              <a:rPr lang="de-DE" sz="4000" dirty="0"/>
              <a:t>A</a:t>
            </a:r>
            <a:r>
              <a:rPr lang="de-DE" sz="2000" dirty="0"/>
              <a:t>B</a:t>
            </a:r>
            <a:r>
              <a:rPr lang="de-DE" sz="1000" dirty="0"/>
              <a:t>Y</a:t>
            </a:r>
            <a:endParaRPr lang="en-US" sz="1000" dirty="0"/>
          </a:p>
        </p:txBody>
      </p:sp>
      <p:sp>
        <p:nvSpPr>
          <p:cNvPr id="82" name="Textfeld 35"/>
          <p:cNvSpPr txBox="1"/>
          <p:nvPr/>
        </p:nvSpPr>
        <p:spPr>
          <a:xfrm>
            <a:off x="7445062" y="4544956"/>
            <a:ext cx="689612" cy="769441"/>
          </a:xfrm>
          <a:prstGeom prst="rect">
            <a:avLst/>
          </a:prstGeom>
          <a:noFill/>
        </p:spPr>
        <p:txBody>
          <a:bodyPr wrap="none" rtlCol="0">
            <a:spAutoFit/>
          </a:bodyPr>
          <a:lstStyle/>
          <a:p>
            <a:r>
              <a:rPr lang="de-DE" sz="4400" dirty="0"/>
              <a:t>B</a:t>
            </a:r>
            <a:r>
              <a:rPr lang="de-DE" sz="2400" dirty="0"/>
              <a:t>Y</a:t>
            </a:r>
            <a:r>
              <a:rPr lang="de-DE" sz="800" dirty="0"/>
              <a:t>Z</a:t>
            </a:r>
            <a:endParaRPr lang="en-US" sz="800" dirty="0"/>
          </a:p>
        </p:txBody>
      </p:sp>
      <p:sp>
        <p:nvSpPr>
          <p:cNvPr id="83" name="Textfeld 36"/>
          <p:cNvSpPr txBox="1"/>
          <p:nvPr/>
        </p:nvSpPr>
        <p:spPr>
          <a:xfrm>
            <a:off x="5127920" y="4492161"/>
            <a:ext cx="696024" cy="830997"/>
          </a:xfrm>
          <a:prstGeom prst="rect">
            <a:avLst/>
          </a:prstGeom>
          <a:noFill/>
        </p:spPr>
        <p:txBody>
          <a:bodyPr wrap="none" rtlCol="0">
            <a:spAutoFit/>
          </a:bodyPr>
          <a:lstStyle/>
          <a:p>
            <a:r>
              <a:rPr lang="de-DE" sz="4800" dirty="0"/>
              <a:t>A</a:t>
            </a:r>
            <a:r>
              <a:rPr lang="de-DE" sz="1200" dirty="0"/>
              <a:t>XY</a:t>
            </a:r>
            <a:endParaRPr lang="en-US" sz="1200" dirty="0"/>
          </a:p>
        </p:txBody>
      </p:sp>
      <p:sp>
        <p:nvSpPr>
          <p:cNvPr id="84" name="Textfeld 37"/>
          <p:cNvSpPr txBox="1"/>
          <p:nvPr/>
        </p:nvSpPr>
        <p:spPr>
          <a:xfrm>
            <a:off x="3391453" y="3044133"/>
            <a:ext cx="702436" cy="769441"/>
          </a:xfrm>
          <a:prstGeom prst="rect">
            <a:avLst/>
          </a:prstGeom>
          <a:noFill/>
        </p:spPr>
        <p:txBody>
          <a:bodyPr wrap="none" rtlCol="0">
            <a:spAutoFit/>
          </a:bodyPr>
          <a:lstStyle/>
          <a:p>
            <a:r>
              <a:rPr lang="de-DE" sz="4400" dirty="0"/>
              <a:t>A</a:t>
            </a:r>
            <a:r>
              <a:rPr lang="de-DE" sz="1100" dirty="0"/>
              <a:t>XY</a:t>
            </a:r>
            <a:r>
              <a:rPr lang="de-DE" sz="800" dirty="0"/>
              <a:t>Z</a:t>
            </a:r>
            <a:endParaRPr lang="en-US" sz="800" dirty="0"/>
          </a:p>
        </p:txBody>
      </p:sp>
      <p:sp>
        <p:nvSpPr>
          <p:cNvPr id="85" name="Textfeld 38"/>
          <p:cNvSpPr txBox="1"/>
          <p:nvPr/>
        </p:nvSpPr>
        <p:spPr>
          <a:xfrm>
            <a:off x="1073569" y="3002724"/>
            <a:ext cx="647934" cy="830997"/>
          </a:xfrm>
          <a:prstGeom prst="rect">
            <a:avLst/>
          </a:prstGeom>
          <a:noFill/>
        </p:spPr>
        <p:txBody>
          <a:bodyPr wrap="none" rtlCol="0">
            <a:spAutoFit/>
          </a:bodyPr>
          <a:lstStyle/>
          <a:p>
            <a:r>
              <a:rPr lang="de-DE" sz="4800" dirty="0"/>
              <a:t>X</a:t>
            </a:r>
            <a:r>
              <a:rPr lang="de-DE" sz="2400" dirty="0"/>
              <a:t>Z</a:t>
            </a:r>
            <a:endParaRPr lang="en-US" sz="2400" dirty="0"/>
          </a:p>
        </p:txBody>
      </p:sp>
      <p:cxnSp>
        <p:nvCxnSpPr>
          <p:cNvPr id="86" name="Gerade Verbindung mit Pfeil 31"/>
          <p:cNvCxnSpPr/>
          <p:nvPr/>
        </p:nvCxnSpPr>
        <p:spPr>
          <a:xfrm flipH="1">
            <a:off x="5940195" y="1783745"/>
            <a:ext cx="1325142" cy="2726"/>
          </a:xfrm>
          <a:prstGeom prst="straightConnector1">
            <a:avLst/>
          </a:prstGeom>
          <a:ln w="25400" cap="rnd">
            <a:solidFill>
              <a:schemeClr val="tx1"/>
            </a:solidFill>
            <a:prstDash val="solid"/>
            <a:headEnd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87" name="Textfeld 32"/>
          <p:cNvSpPr txBox="1"/>
          <p:nvPr/>
        </p:nvSpPr>
        <p:spPr>
          <a:xfrm>
            <a:off x="6311208" y="1484784"/>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88" name="Textfeld 44"/>
          <p:cNvSpPr txBox="1"/>
          <p:nvPr/>
        </p:nvSpPr>
        <p:spPr>
          <a:xfrm>
            <a:off x="5591103" y="3270871"/>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95%</a:t>
            </a:r>
            <a:endParaRPr lang="en-US" sz="1600" dirty="0">
              <a:latin typeface="Cambria Math" panose="02040503050406030204" pitchFamily="18" charset="0"/>
              <a:ea typeface="Cambria Math" panose="02040503050406030204" pitchFamily="18" charset="0"/>
            </a:endParaRPr>
          </a:p>
        </p:txBody>
      </p:sp>
      <p:cxnSp>
        <p:nvCxnSpPr>
          <p:cNvPr id="89" name="Gerade Verbindung 12"/>
          <p:cNvCxnSpPr/>
          <p:nvPr/>
        </p:nvCxnSpPr>
        <p:spPr>
          <a:xfrm>
            <a:off x="4004922" y="3893003"/>
            <a:ext cx="997366" cy="788552"/>
          </a:xfrm>
          <a:prstGeom prst="line">
            <a:avLst/>
          </a:prstGeom>
          <a:ln w="25400" cap="rnd">
            <a:solidFill>
              <a:schemeClr val="tx1"/>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90" name="Textfeld 46"/>
          <p:cNvSpPr txBox="1"/>
          <p:nvPr/>
        </p:nvSpPr>
        <p:spPr>
          <a:xfrm rot="2257505">
            <a:off x="4459785" y="3891393"/>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91" name="Textfeld 47"/>
          <p:cNvSpPr txBox="1"/>
          <p:nvPr/>
        </p:nvSpPr>
        <p:spPr>
          <a:xfrm rot="2257505">
            <a:off x="4121984" y="4235245"/>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sp>
        <p:nvSpPr>
          <p:cNvPr id="92" name="Textfeld 48"/>
          <p:cNvSpPr txBox="1"/>
          <p:nvPr/>
        </p:nvSpPr>
        <p:spPr>
          <a:xfrm rot="19222782">
            <a:off x="4029880" y="2344192"/>
            <a:ext cx="595035" cy="338554"/>
          </a:xfrm>
          <a:prstGeom prst="rect">
            <a:avLst/>
          </a:prstGeom>
          <a:noFill/>
        </p:spPr>
        <p:txBody>
          <a:bodyPr wrap="square" rtlCol="0">
            <a:spAutoFit/>
          </a:bodyPr>
          <a:lstStyle/>
          <a:p>
            <a:r>
              <a:rPr lang="de-DE" sz="1600" dirty="0">
                <a:latin typeface="Cambria Math" panose="02040503050406030204" pitchFamily="18" charset="0"/>
                <a:ea typeface="Cambria Math" panose="02040503050406030204" pitchFamily="18" charset="0"/>
              </a:rPr>
              <a:t>94%</a:t>
            </a:r>
            <a:endParaRPr lang="en-US" sz="1600" dirty="0">
              <a:latin typeface="Cambria Math" panose="02040503050406030204" pitchFamily="18" charset="0"/>
              <a:ea typeface="Cambria Math" panose="02040503050406030204" pitchFamily="18" charset="0"/>
            </a:endParaRPr>
          </a:p>
        </p:txBody>
      </p:sp>
      <p:sp>
        <p:nvSpPr>
          <p:cNvPr id="93" name="Textfeld 49"/>
          <p:cNvSpPr txBox="1"/>
          <p:nvPr/>
        </p:nvSpPr>
        <p:spPr>
          <a:xfrm>
            <a:off x="2222735" y="3043078"/>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94" name="Textfeld 68"/>
          <p:cNvSpPr txBox="1"/>
          <p:nvPr/>
        </p:nvSpPr>
        <p:spPr>
          <a:xfrm>
            <a:off x="6368115" y="1985271"/>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43%</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5" name="Textfeld 69"/>
          <p:cNvSpPr txBox="1"/>
          <p:nvPr/>
        </p:nvSpPr>
        <p:spPr>
          <a:xfrm>
            <a:off x="4796125" y="3259574"/>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71%</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6" name="Textfeld 70"/>
          <p:cNvSpPr txBox="1"/>
          <p:nvPr/>
        </p:nvSpPr>
        <p:spPr>
          <a:xfrm rot="19222782">
            <a:off x="4451897" y="2687036"/>
            <a:ext cx="595035" cy="338554"/>
          </a:xfrm>
          <a:prstGeom prst="rect">
            <a:avLst/>
          </a:prstGeom>
          <a:noFill/>
        </p:spPr>
        <p:txBody>
          <a:bodyPr wrap="square" rtlCol="0">
            <a:spAutoFit/>
          </a:bodyPr>
          <a:lstStyle/>
          <a:p>
            <a:r>
              <a:rPr lang="de-DE" sz="1600" dirty="0">
                <a:solidFill>
                  <a:srgbClr val="00AAE5"/>
                </a:solidFill>
                <a:latin typeface="Cambria Math" panose="02040503050406030204" pitchFamily="18" charset="0"/>
                <a:ea typeface="Cambria Math" panose="02040503050406030204" pitchFamily="18" charset="0"/>
              </a:rPr>
              <a:t>71%</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7" name="Textfeld 71"/>
          <p:cNvSpPr txBox="1"/>
          <p:nvPr/>
        </p:nvSpPr>
        <p:spPr>
          <a:xfrm>
            <a:off x="2294885" y="3554449"/>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23%</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8" name="Ellipse 39"/>
          <p:cNvSpPr/>
          <p:nvPr/>
        </p:nvSpPr>
        <p:spPr>
          <a:xfrm>
            <a:off x="7265336"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99" name="Textfeld 40"/>
          <p:cNvSpPr txBox="1"/>
          <p:nvPr/>
        </p:nvSpPr>
        <p:spPr>
          <a:xfrm>
            <a:off x="7464298" y="1441884"/>
            <a:ext cx="670376" cy="830997"/>
          </a:xfrm>
          <a:prstGeom prst="rect">
            <a:avLst/>
          </a:prstGeom>
          <a:noFill/>
        </p:spPr>
        <p:txBody>
          <a:bodyPr wrap="none" rtlCol="0">
            <a:spAutoFit/>
          </a:bodyPr>
          <a:lstStyle/>
          <a:p>
            <a:r>
              <a:rPr lang="de-DE" sz="4800" dirty="0"/>
              <a:t>B</a:t>
            </a:r>
            <a:r>
              <a:rPr lang="de-DE" sz="2400" dirty="0"/>
              <a:t>Y</a:t>
            </a:r>
            <a:endParaRPr lang="en-US" sz="2400" dirty="0"/>
          </a:p>
        </p:txBody>
      </p:sp>
      <p:cxnSp>
        <p:nvCxnSpPr>
          <p:cNvPr id="100" name="Gerade Verbindung 19"/>
          <p:cNvCxnSpPr/>
          <p:nvPr/>
        </p:nvCxnSpPr>
        <p:spPr>
          <a:xfrm>
            <a:off x="7617243" y="2394555"/>
            <a:ext cx="9054" cy="2067207"/>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sp>
        <p:nvSpPr>
          <p:cNvPr id="101" name="Textfeld 42"/>
          <p:cNvSpPr txBox="1"/>
          <p:nvPr/>
        </p:nvSpPr>
        <p:spPr>
          <a:xfrm>
            <a:off x="7046718" y="3259549"/>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95%</a:t>
            </a:r>
            <a:endParaRPr lang="en-US" sz="1600" dirty="0">
              <a:latin typeface="Cambria Math" panose="02040503050406030204" pitchFamily="18" charset="0"/>
              <a:ea typeface="Cambria Math" panose="02040503050406030204" pitchFamily="18" charset="0"/>
            </a:endParaRPr>
          </a:p>
        </p:txBody>
      </p:sp>
      <p:cxnSp>
        <p:nvCxnSpPr>
          <p:cNvPr id="102" name="Gerade Verbindung 19"/>
          <p:cNvCxnSpPr/>
          <p:nvPr/>
        </p:nvCxnSpPr>
        <p:spPr>
          <a:xfrm>
            <a:off x="7934002" y="2400829"/>
            <a:ext cx="9054" cy="2067207"/>
          </a:xfrm>
          <a:prstGeom prst="line">
            <a:avLst/>
          </a:prstGeom>
          <a:ln w="25400" cap="rnd">
            <a:solidFill>
              <a:schemeClr val="tx1"/>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103" name="Textfeld 51"/>
          <p:cNvSpPr txBox="1"/>
          <p:nvPr/>
        </p:nvSpPr>
        <p:spPr>
          <a:xfrm>
            <a:off x="7914760" y="3270871"/>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04" name="Ellipse 55"/>
          <p:cNvSpPr/>
          <p:nvPr/>
        </p:nvSpPr>
        <p:spPr>
          <a:xfrm>
            <a:off x="2697217" y="5128693"/>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05" name="Textfeld 56"/>
          <p:cNvSpPr txBox="1"/>
          <p:nvPr/>
        </p:nvSpPr>
        <p:spPr>
          <a:xfrm>
            <a:off x="2878722" y="5209950"/>
            <a:ext cx="712054" cy="769441"/>
          </a:xfrm>
          <a:prstGeom prst="rect">
            <a:avLst/>
          </a:prstGeom>
          <a:noFill/>
        </p:spPr>
        <p:txBody>
          <a:bodyPr wrap="none" rtlCol="0">
            <a:spAutoFit/>
          </a:bodyPr>
          <a:lstStyle/>
          <a:p>
            <a:r>
              <a:rPr lang="de-DE" sz="4400" dirty="0"/>
              <a:t>A</a:t>
            </a:r>
            <a:r>
              <a:rPr lang="de-DE" sz="1100" dirty="0"/>
              <a:t>XY</a:t>
            </a:r>
            <a:r>
              <a:rPr lang="de-DE" sz="800" dirty="0"/>
              <a:t>V</a:t>
            </a:r>
            <a:endParaRPr lang="en-US" sz="800" dirty="0"/>
          </a:p>
        </p:txBody>
      </p:sp>
      <p:cxnSp>
        <p:nvCxnSpPr>
          <p:cNvPr id="106" name="Gerader Verbinder 14"/>
          <p:cNvCxnSpPr/>
          <p:nvPr/>
        </p:nvCxnSpPr>
        <p:spPr>
          <a:xfrm flipH="1">
            <a:off x="3096817" y="3893003"/>
            <a:ext cx="375831" cy="1235690"/>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07" name="Gerader Verbinder 57"/>
          <p:cNvCxnSpPr/>
          <p:nvPr/>
        </p:nvCxnSpPr>
        <p:spPr>
          <a:xfrm flipH="1">
            <a:off x="3398434" y="3974260"/>
            <a:ext cx="339684" cy="1182933"/>
          </a:xfrm>
          <a:prstGeom prst="line">
            <a:avLst/>
          </a:prstGeom>
          <a:ln w="25400" cap="rnd">
            <a:solidFill>
              <a:schemeClr val="tx1"/>
            </a:solidFill>
            <a:prstDash val="solid"/>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108" name="Gerader Verbinder 21"/>
          <p:cNvCxnSpPr>
            <a:endCxn id="75" idx="2"/>
          </p:cNvCxnSpPr>
          <p:nvPr/>
        </p:nvCxnSpPr>
        <p:spPr>
          <a:xfrm flipV="1">
            <a:off x="3677825" y="4946897"/>
            <a:ext cx="1251411" cy="439544"/>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09" name="Gerader Verbinder 30"/>
          <p:cNvCxnSpPr>
            <a:endCxn id="104" idx="6"/>
          </p:cNvCxnSpPr>
          <p:nvPr/>
        </p:nvCxnSpPr>
        <p:spPr>
          <a:xfrm flipH="1">
            <a:off x="3722679" y="5209950"/>
            <a:ext cx="1258754" cy="417071"/>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sp>
        <p:nvSpPr>
          <p:cNvPr id="110" name="Textfeld 66"/>
          <p:cNvSpPr txBox="1"/>
          <p:nvPr/>
        </p:nvSpPr>
        <p:spPr>
          <a:xfrm rot="20499292">
            <a:off x="3922764" y="4836897"/>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sp>
        <p:nvSpPr>
          <p:cNvPr id="111" name="Textfeld 72"/>
          <p:cNvSpPr txBox="1"/>
          <p:nvPr/>
        </p:nvSpPr>
        <p:spPr>
          <a:xfrm rot="20499292">
            <a:off x="4061769" y="5393748"/>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12" name="Textfeld 73"/>
          <p:cNvSpPr txBox="1"/>
          <p:nvPr/>
        </p:nvSpPr>
        <p:spPr>
          <a:xfrm rot="17230867">
            <a:off x="2808623" y="4220019"/>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13" name="Textfeld 75"/>
          <p:cNvSpPr txBox="1"/>
          <p:nvPr/>
        </p:nvSpPr>
        <p:spPr>
          <a:xfrm rot="17163432">
            <a:off x="3430963" y="4435594"/>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cxnSp>
        <p:nvCxnSpPr>
          <p:cNvPr id="114" name="Gerader Verbinder 65"/>
          <p:cNvCxnSpPr/>
          <p:nvPr/>
        </p:nvCxnSpPr>
        <p:spPr>
          <a:xfrm flipH="1" flipV="1">
            <a:off x="365771" y="2051770"/>
            <a:ext cx="707798" cy="991308"/>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5" name="Gerader Verbinder 83"/>
          <p:cNvCxnSpPr/>
          <p:nvPr/>
        </p:nvCxnSpPr>
        <p:spPr>
          <a:xfrm flipH="1" flipV="1">
            <a:off x="364798" y="2780928"/>
            <a:ext cx="569683" cy="393926"/>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6" name="Gerader Verbinder 85"/>
          <p:cNvCxnSpPr>
            <a:stCxn id="73" idx="2"/>
          </p:cNvCxnSpPr>
          <p:nvPr/>
        </p:nvCxnSpPr>
        <p:spPr>
          <a:xfrm flipH="1">
            <a:off x="276343" y="3461203"/>
            <a:ext cx="581203" cy="0"/>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7" name="Gerader Verbinder 87"/>
          <p:cNvCxnSpPr>
            <a:stCxn id="73" idx="3"/>
          </p:cNvCxnSpPr>
          <p:nvPr/>
        </p:nvCxnSpPr>
        <p:spPr>
          <a:xfrm flipH="1">
            <a:off x="297910" y="3813574"/>
            <a:ext cx="709810" cy="575723"/>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8" name="Gerader Verbinder 89"/>
          <p:cNvCxnSpPr/>
          <p:nvPr/>
        </p:nvCxnSpPr>
        <p:spPr>
          <a:xfrm flipH="1">
            <a:off x="792849" y="3945505"/>
            <a:ext cx="428573" cy="803649"/>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19" name="Rechteck 93"/>
          <p:cNvSpPr/>
          <p:nvPr/>
        </p:nvSpPr>
        <p:spPr>
          <a:xfrm rot="3083365">
            <a:off x="181981" y="2133323"/>
            <a:ext cx="720080" cy="361777"/>
          </a:xfrm>
          <a:prstGeom prst="rect">
            <a:avLst/>
          </a:prstGeom>
          <a:gradFill flip="none" rotWithShape="1">
            <a:gsLst>
              <a:gs pos="23000">
                <a:schemeClr val="bg1">
                  <a:alpha val="29000"/>
                </a:schemeClr>
              </a:gs>
              <a:gs pos="65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hteck 94"/>
          <p:cNvSpPr/>
          <p:nvPr/>
        </p:nvSpPr>
        <p:spPr>
          <a:xfrm rot="1981952">
            <a:off x="200138" y="2720165"/>
            <a:ext cx="635411"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hteck 95"/>
          <p:cNvSpPr/>
          <p:nvPr/>
        </p:nvSpPr>
        <p:spPr>
          <a:xfrm>
            <a:off x="176000" y="3183376"/>
            <a:ext cx="650698"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hteck 96"/>
          <p:cNvSpPr/>
          <p:nvPr/>
        </p:nvSpPr>
        <p:spPr>
          <a:xfrm rot="19123042">
            <a:off x="223025" y="3979606"/>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hteck 97"/>
          <p:cNvSpPr/>
          <p:nvPr/>
        </p:nvSpPr>
        <p:spPr>
          <a:xfrm rot="17986155">
            <a:off x="520799" y="42364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4" name="Gerader Verbinder 99"/>
          <p:cNvCxnSpPr>
            <a:stCxn id="79" idx="6"/>
          </p:cNvCxnSpPr>
          <p:nvPr/>
        </p:nvCxnSpPr>
        <p:spPr>
          <a:xfrm>
            <a:off x="8290798" y="1911104"/>
            <a:ext cx="864096" cy="670941"/>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cxnSp>
        <p:nvCxnSpPr>
          <p:cNvPr id="125" name="Gerader Verbinder 105"/>
          <p:cNvCxnSpPr/>
          <p:nvPr/>
        </p:nvCxnSpPr>
        <p:spPr>
          <a:xfrm flipV="1">
            <a:off x="8290798" y="4363586"/>
            <a:ext cx="864096" cy="505575"/>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cxnSp>
        <p:nvCxnSpPr>
          <p:cNvPr id="126" name="Gerader Verbinder 109"/>
          <p:cNvCxnSpPr/>
          <p:nvPr/>
        </p:nvCxnSpPr>
        <p:spPr>
          <a:xfrm>
            <a:off x="8212632" y="2193275"/>
            <a:ext cx="726239" cy="535915"/>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27" name="Gerader Verbinder 111"/>
          <p:cNvCxnSpPr/>
          <p:nvPr/>
        </p:nvCxnSpPr>
        <p:spPr>
          <a:xfrm flipV="1">
            <a:off x="8224133" y="4185559"/>
            <a:ext cx="780994" cy="474982"/>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28" name="Rechteck 112"/>
          <p:cNvSpPr/>
          <p:nvPr/>
        </p:nvSpPr>
        <p:spPr>
          <a:xfrm rot="13241328">
            <a:off x="8481328" y="2318066"/>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hteck 114"/>
          <p:cNvSpPr/>
          <p:nvPr/>
        </p:nvSpPr>
        <p:spPr>
          <a:xfrm rot="8821144">
            <a:off x="8488829" y="41996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Textfeld 129"/>
          <p:cNvSpPr txBox="1"/>
          <p:nvPr/>
        </p:nvSpPr>
        <p:spPr>
          <a:xfrm>
            <a:off x="9166671" y="846387"/>
            <a:ext cx="2924570" cy="1384995"/>
          </a:xfrm>
          <a:prstGeom prst="rect">
            <a:avLst/>
          </a:prstGeom>
          <a:noFill/>
        </p:spPr>
        <p:txBody>
          <a:bodyPr wrap="square" rtlCol="0">
            <a:spAutoFit/>
          </a:bodyPr>
          <a:lstStyle/>
          <a:p>
            <a:r>
              <a:rPr lang="en-US" sz="1400" dirty="0" smtClean="0">
                <a:solidFill>
                  <a:srgbClr val="00B0F0"/>
                </a:solidFill>
              </a:rPr>
              <a:t>Search</a:t>
            </a:r>
          </a:p>
          <a:p>
            <a:pPr marL="216000" indent="-216000">
              <a:buClr>
                <a:srgbClr val="00B0F0"/>
              </a:buClr>
              <a:buFont typeface="Wingdings" panose="05000000000000000000" pitchFamily="2" charset="2"/>
              <a:buChar char="§"/>
            </a:pPr>
            <a:r>
              <a:rPr lang="en-US" sz="1400" dirty="0" smtClean="0"/>
              <a:t>Required: high Threshold, i.e. 90%</a:t>
            </a:r>
          </a:p>
          <a:p>
            <a:pPr marL="216000" indent="-216000">
              <a:buClr>
                <a:srgbClr val="00B0F0"/>
              </a:buClr>
              <a:buFont typeface="Wingdings" panose="05000000000000000000" pitchFamily="2" charset="2"/>
              <a:buChar char="§"/>
            </a:pPr>
            <a:r>
              <a:rPr lang="en-US" sz="1400" dirty="0" smtClean="0"/>
              <a:t>Connections in both directions enable transitivity</a:t>
            </a:r>
          </a:p>
          <a:p>
            <a:pPr marL="216000" indent="-216000">
              <a:buClr>
                <a:srgbClr val="00B0F0"/>
              </a:buClr>
              <a:buFont typeface="Wingdings" panose="05000000000000000000" pitchFamily="2" charset="2"/>
              <a:buChar char="§"/>
            </a:pPr>
            <a:r>
              <a:rPr lang="en-US" sz="1400" dirty="0" smtClean="0"/>
              <a:t>Connections in one direction cause intransitivity</a:t>
            </a:r>
          </a:p>
        </p:txBody>
      </p:sp>
      <p:sp>
        <p:nvSpPr>
          <p:cNvPr id="131" name="Textfeld 130"/>
          <p:cNvSpPr txBox="1"/>
          <p:nvPr/>
        </p:nvSpPr>
        <p:spPr>
          <a:xfrm>
            <a:off x="9166671" y="2283479"/>
            <a:ext cx="2938424" cy="1384995"/>
          </a:xfrm>
          <a:prstGeom prst="rect">
            <a:avLst/>
          </a:prstGeom>
          <a:noFill/>
        </p:spPr>
        <p:txBody>
          <a:bodyPr wrap="square" rtlCol="0">
            <a:spAutoFit/>
          </a:bodyPr>
          <a:lstStyle/>
          <a:p>
            <a:r>
              <a:rPr lang="en-US" sz="1400" dirty="0" smtClean="0">
                <a:solidFill>
                  <a:srgbClr val="00B0F0"/>
                </a:solidFill>
              </a:rPr>
              <a:t>Mirroring</a:t>
            </a:r>
          </a:p>
          <a:p>
            <a:pPr marL="216000" indent="-216000">
              <a:buClr>
                <a:srgbClr val="00B0F0"/>
              </a:buClr>
              <a:buFont typeface="Wingdings" panose="05000000000000000000" pitchFamily="2" charset="2"/>
              <a:buChar char="§"/>
            </a:pPr>
            <a:r>
              <a:rPr lang="en-US" sz="1400" dirty="0" smtClean="0"/>
              <a:t>Creates a </a:t>
            </a:r>
            <a:r>
              <a:rPr lang="en-US" sz="1400" dirty="0" smtClean="0">
                <a:solidFill>
                  <a:srgbClr val="00B0F0"/>
                </a:solidFill>
              </a:rPr>
              <a:t>dummy run n </a:t>
            </a:r>
            <a:r>
              <a:rPr lang="en-US" sz="1400" dirty="0" smtClean="0"/>
              <a:t>for all  reversed connections not yet established</a:t>
            </a:r>
          </a:p>
          <a:p>
            <a:pPr marL="216000" indent="-216000">
              <a:buClr>
                <a:srgbClr val="00B0F0"/>
              </a:buClr>
              <a:buFont typeface="Wingdings" panose="05000000000000000000" pitchFamily="2" charset="2"/>
              <a:buChar char="§"/>
            </a:pPr>
            <a:r>
              <a:rPr lang="en-US" sz="1400" dirty="0" smtClean="0"/>
              <a:t>Mirrored connections always have Identity zero</a:t>
            </a:r>
          </a:p>
        </p:txBody>
      </p:sp>
      <p:sp>
        <p:nvSpPr>
          <p:cNvPr id="132" name="Textfeld 69"/>
          <p:cNvSpPr txBox="1"/>
          <p:nvPr/>
        </p:nvSpPr>
        <p:spPr>
          <a:xfrm>
            <a:off x="2416921" y="3548001"/>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3" name="Textfeld 69"/>
          <p:cNvSpPr txBox="1"/>
          <p:nvPr/>
        </p:nvSpPr>
        <p:spPr>
          <a:xfrm rot="19104638">
            <a:off x="4541704" y="2657532"/>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4" name="Textfeld 69"/>
          <p:cNvSpPr txBox="1"/>
          <p:nvPr/>
        </p:nvSpPr>
        <p:spPr>
          <a:xfrm>
            <a:off x="4898144" y="3255796"/>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5" name="Textfeld 69"/>
          <p:cNvSpPr txBox="1"/>
          <p:nvPr/>
        </p:nvSpPr>
        <p:spPr>
          <a:xfrm>
            <a:off x="6493936" y="1995032"/>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6" name="Textfeld 135"/>
          <p:cNvSpPr txBox="1"/>
          <p:nvPr/>
        </p:nvSpPr>
        <p:spPr>
          <a:xfrm>
            <a:off x="9166671" y="3720572"/>
            <a:ext cx="2947240" cy="2215991"/>
          </a:xfrm>
          <a:prstGeom prst="rect">
            <a:avLst/>
          </a:prstGeom>
          <a:noFill/>
        </p:spPr>
        <p:txBody>
          <a:bodyPr wrap="square" rtlCol="0">
            <a:spAutoFit/>
          </a:bodyPr>
          <a:lstStyle/>
          <a:p>
            <a:r>
              <a:rPr lang="en-US" sz="1400" dirty="0" smtClean="0">
                <a:solidFill>
                  <a:srgbClr val="00B0F0"/>
                </a:solidFill>
              </a:rPr>
              <a:t>Research</a:t>
            </a:r>
          </a:p>
          <a:p>
            <a:pPr marL="216000" indent="-216000">
              <a:buClr>
                <a:srgbClr val="00B0F0"/>
              </a:buClr>
              <a:buFont typeface="Wingdings" panose="05000000000000000000" pitchFamily="2" charset="2"/>
              <a:buChar char="§"/>
            </a:pPr>
            <a:r>
              <a:rPr lang="en-US" sz="1400" dirty="0" smtClean="0"/>
              <a:t>Re-evaluates Identity for selected runs given current settings</a:t>
            </a:r>
          </a:p>
          <a:p>
            <a:pPr marL="216000" indent="-216000">
              <a:buClr>
                <a:srgbClr val="00B0F0"/>
              </a:buClr>
              <a:buFont typeface="Wingdings" panose="05000000000000000000" pitchFamily="2" charset="2"/>
              <a:buChar char="§"/>
            </a:pPr>
            <a:r>
              <a:rPr lang="en-US" sz="1400" dirty="0" smtClean="0"/>
              <a:t>Apply on </a:t>
            </a:r>
            <a:r>
              <a:rPr lang="en-US" sz="1400" dirty="0" smtClean="0">
                <a:solidFill>
                  <a:srgbClr val="00B0F0"/>
                </a:solidFill>
              </a:rPr>
              <a:t>dummy run n</a:t>
            </a:r>
          </a:p>
          <a:p>
            <a:pPr marL="216000" indent="-216000">
              <a:buClr>
                <a:srgbClr val="00B0F0"/>
              </a:buClr>
              <a:buFont typeface="Wingdings" panose="05000000000000000000" pitchFamily="2" charset="2"/>
              <a:buChar char="§"/>
            </a:pPr>
            <a:r>
              <a:rPr lang="en-US" sz="1400" dirty="0" smtClean="0"/>
              <a:t>Log-smoothing on critical search types is advised as retrieval is of no concern</a:t>
            </a:r>
            <a:br>
              <a:rPr lang="en-US" sz="1400" dirty="0" smtClean="0"/>
            </a:br>
            <a:r>
              <a:rPr lang="de-DE" sz="4000" dirty="0" smtClean="0"/>
              <a:t>A</a:t>
            </a:r>
            <a:r>
              <a:rPr lang="de-DE" sz="2000" dirty="0" smtClean="0"/>
              <a:t>B</a:t>
            </a:r>
            <a:r>
              <a:rPr lang="de-DE" sz="1000" dirty="0" smtClean="0"/>
              <a:t>Y</a:t>
            </a:r>
            <a:r>
              <a:rPr lang="de-DE" sz="2400" dirty="0" smtClean="0"/>
              <a:t>→</a:t>
            </a:r>
            <a:r>
              <a:rPr lang="de-DE" sz="2800" dirty="0" smtClean="0"/>
              <a:t>A</a:t>
            </a:r>
            <a:r>
              <a:rPr lang="de-DE" sz="2400" dirty="0" smtClean="0"/>
              <a:t>B</a:t>
            </a:r>
            <a:r>
              <a:rPr lang="de-DE" sz="1600" dirty="0" smtClean="0"/>
              <a:t>Y</a:t>
            </a:r>
          </a:p>
        </p:txBody>
      </p:sp>
    </p:spTree>
    <p:extLst>
      <p:ext uri="{BB962C8B-B14F-4D97-AF65-F5344CB8AC3E}">
        <p14:creationId xmlns:p14="http://schemas.microsoft.com/office/powerpoint/2010/main" val="633625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left)">
                                      <p:cBhvr>
                                        <p:cTn id="7" dur="500"/>
                                        <p:tgtEl>
                                          <p:spTgt spid="68"/>
                                        </p:tgtEl>
                                      </p:cBhvr>
                                    </p:animEffect>
                                  </p:childTnLst>
                                </p:cTn>
                              </p:par>
                              <p:par>
                                <p:cTn id="8" presetID="22" presetClass="entr" presetSubtype="1" fill="hold" nodeType="withEffect">
                                  <p:stCondLst>
                                    <p:cond delay="0"/>
                                  </p:stCondLst>
                                  <p:childTnLst>
                                    <p:set>
                                      <p:cBhvr>
                                        <p:cTn id="9" dur="1" fill="hold">
                                          <p:stCondLst>
                                            <p:cond delay="0"/>
                                          </p:stCondLst>
                                        </p:cTn>
                                        <p:tgtEl>
                                          <p:spTgt spid="69"/>
                                        </p:tgtEl>
                                        <p:attrNameLst>
                                          <p:attrName>style.visibility</p:attrName>
                                        </p:attrNameLst>
                                      </p:cBhvr>
                                      <p:to>
                                        <p:strVal val="visible"/>
                                      </p:to>
                                    </p:set>
                                    <p:animEffect transition="in" filter="wipe(up)">
                                      <p:cBhvr>
                                        <p:cTn id="10" dur="500"/>
                                        <p:tgtEl>
                                          <p:spTgt spid="69"/>
                                        </p:tgtEl>
                                      </p:cBhvr>
                                    </p:animEffect>
                                  </p:childTnLst>
                                </p:cTn>
                              </p:par>
                              <p:par>
                                <p:cTn id="11" presetID="22" presetClass="entr" presetSubtype="2" fill="hold" nodeType="withEffect">
                                  <p:stCondLst>
                                    <p:cond delay="0"/>
                                  </p:stCondLst>
                                  <p:childTnLst>
                                    <p:set>
                                      <p:cBhvr>
                                        <p:cTn id="12" dur="1" fill="hold">
                                          <p:stCondLst>
                                            <p:cond delay="0"/>
                                          </p:stCondLst>
                                        </p:cTn>
                                        <p:tgtEl>
                                          <p:spTgt spid="70"/>
                                        </p:tgtEl>
                                        <p:attrNameLst>
                                          <p:attrName>style.visibility</p:attrName>
                                        </p:attrNameLst>
                                      </p:cBhvr>
                                      <p:to>
                                        <p:strVal val="visible"/>
                                      </p:to>
                                    </p:set>
                                    <p:animEffect transition="in" filter="wipe(right)">
                                      <p:cBhvr>
                                        <p:cTn id="13" dur="500"/>
                                        <p:tgtEl>
                                          <p:spTgt spid="70"/>
                                        </p:tgtEl>
                                      </p:cBhvr>
                                    </p:animEffect>
                                  </p:childTnLst>
                                </p:cTn>
                              </p:par>
                              <p:par>
                                <p:cTn id="14" presetID="22" presetClass="entr" presetSubtype="2" fill="hold" nodeType="withEffect">
                                  <p:stCondLst>
                                    <p:cond delay="0"/>
                                  </p:stCondLst>
                                  <p:childTnLst>
                                    <p:set>
                                      <p:cBhvr>
                                        <p:cTn id="15" dur="1" fill="hold">
                                          <p:stCondLst>
                                            <p:cond delay="0"/>
                                          </p:stCondLst>
                                        </p:cTn>
                                        <p:tgtEl>
                                          <p:spTgt spid="71"/>
                                        </p:tgtEl>
                                        <p:attrNameLst>
                                          <p:attrName>style.visibility</p:attrName>
                                        </p:attrNameLst>
                                      </p:cBhvr>
                                      <p:to>
                                        <p:strVal val="visible"/>
                                      </p:to>
                                    </p:set>
                                    <p:animEffect transition="in" filter="wipe(right)">
                                      <p:cBhvr>
                                        <p:cTn id="16" dur="500"/>
                                        <p:tgtEl>
                                          <p:spTgt spid="71"/>
                                        </p:tgtEl>
                                      </p:cBhvr>
                                    </p:animEffect>
                                  </p:childTnLst>
                                </p:cTn>
                              </p:par>
                              <p:par>
                                <p:cTn id="17" presetID="22" presetClass="entr" presetSubtype="1" fill="hold" grpId="0" nodeType="withEffect">
                                  <p:stCondLst>
                                    <p:cond delay="0"/>
                                  </p:stCondLst>
                                  <p:childTnLst>
                                    <p:set>
                                      <p:cBhvr>
                                        <p:cTn id="18" dur="1" fill="hold">
                                          <p:stCondLst>
                                            <p:cond delay="0"/>
                                          </p:stCondLst>
                                        </p:cTn>
                                        <p:tgtEl>
                                          <p:spTgt spid="132"/>
                                        </p:tgtEl>
                                        <p:attrNameLst>
                                          <p:attrName>style.visibility</p:attrName>
                                        </p:attrNameLst>
                                      </p:cBhvr>
                                      <p:to>
                                        <p:strVal val="visible"/>
                                      </p:to>
                                    </p:set>
                                    <p:animEffect transition="in" filter="wipe(up)">
                                      <p:cBhvr>
                                        <p:cTn id="19" dur="500"/>
                                        <p:tgtEl>
                                          <p:spTgt spid="132"/>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133"/>
                                        </p:tgtEl>
                                        <p:attrNameLst>
                                          <p:attrName>style.visibility</p:attrName>
                                        </p:attrNameLst>
                                      </p:cBhvr>
                                      <p:to>
                                        <p:strVal val="visible"/>
                                      </p:to>
                                    </p:set>
                                    <p:animEffect transition="in" filter="wipe(left)">
                                      <p:cBhvr>
                                        <p:cTn id="22" dur="500"/>
                                        <p:tgtEl>
                                          <p:spTgt spid="133"/>
                                        </p:tgtEl>
                                      </p:cBhvr>
                                    </p:animEffect>
                                  </p:childTnLst>
                                </p:cTn>
                              </p:par>
                              <p:par>
                                <p:cTn id="23" presetID="22" presetClass="entr" presetSubtype="2" fill="hold" grpId="0" nodeType="withEffect">
                                  <p:stCondLst>
                                    <p:cond delay="0"/>
                                  </p:stCondLst>
                                  <p:childTnLst>
                                    <p:set>
                                      <p:cBhvr>
                                        <p:cTn id="24" dur="1" fill="hold">
                                          <p:stCondLst>
                                            <p:cond delay="0"/>
                                          </p:stCondLst>
                                        </p:cTn>
                                        <p:tgtEl>
                                          <p:spTgt spid="134"/>
                                        </p:tgtEl>
                                        <p:attrNameLst>
                                          <p:attrName>style.visibility</p:attrName>
                                        </p:attrNameLst>
                                      </p:cBhvr>
                                      <p:to>
                                        <p:strVal val="visible"/>
                                      </p:to>
                                    </p:set>
                                    <p:animEffect transition="in" filter="wipe(right)">
                                      <p:cBhvr>
                                        <p:cTn id="25" dur="500"/>
                                        <p:tgtEl>
                                          <p:spTgt spid="134"/>
                                        </p:tgtEl>
                                      </p:cBhvr>
                                    </p:animEffect>
                                  </p:childTnLst>
                                </p:cTn>
                              </p:par>
                              <p:par>
                                <p:cTn id="26" presetID="22" presetClass="entr" presetSubtype="1" fill="hold" grpId="0" nodeType="withEffect">
                                  <p:stCondLst>
                                    <p:cond delay="0"/>
                                  </p:stCondLst>
                                  <p:childTnLst>
                                    <p:set>
                                      <p:cBhvr>
                                        <p:cTn id="27" dur="1" fill="hold">
                                          <p:stCondLst>
                                            <p:cond delay="0"/>
                                          </p:stCondLst>
                                        </p:cTn>
                                        <p:tgtEl>
                                          <p:spTgt spid="135"/>
                                        </p:tgtEl>
                                        <p:attrNameLst>
                                          <p:attrName>style.visibility</p:attrName>
                                        </p:attrNameLst>
                                      </p:cBhvr>
                                      <p:to>
                                        <p:strVal val="visible"/>
                                      </p:to>
                                    </p:set>
                                    <p:animEffect transition="in" filter="wipe(up)">
                                      <p:cBhvr>
                                        <p:cTn id="28" dur="500"/>
                                        <p:tgtEl>
                                          <p:spTgt spid="135"/>
                                        </p:tgtEl>
                                      </p:cBhvr>
                                    </p:animEffect>
                                  </p:childTnLst>
                                </p:cTn>
                              </p:par>
                              <p:par>
                                <p:cTn id="29" presetID="1" presetClass="entr" presetSubtype="0" fill="hold" grpId="0" nodeType="withEffect">
                                  <p:stCondLst>
                                    <p:cond delay="0"/>
                                  </p:stCondLst>
                                  <p:childTnLst>
                                    <p:set>
                                      <p:cBhvr>
                                        <p:cTn id="30" dur="1" fill="hold">
                                          <p:stCondLst>
                                            <p:cond delay="0"/>
                                          </p:stCondLst>
                                        </p:cTn>
                                        <p:tgtEl>
                                          <p:spTgt spid="1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grpId="0" nodeType="clickEffect">
                                  <p:stCondLst>
                                    <p:cond delay="0"/>
                                  </p:stCondLst>
                                  <p:childTnLst>
                                    <p:set>
                                      <p:cBhvr>
                                        <p:cTn id="34" dur="1" fill="hold">
                                          <p:stCondLst>
                                            <p:cond delay="0"/>
                                          </p:stCondLst>
                                        </p:cTn>
                                        <p:tgtEl>
                                          <p:spTgt spid="94"/>
                                        </p:tgtEl>
                                        <p:attrNameLst>
                                          <p:attrName>style.visibility</p:attrName>
                                        </p:attrNameLst>
                                      </p:cBhvr>
                                      <p:to>
                                        <p:strVal val="visible"/>
                                      </p:to>
                                    </p:set>
                                    <p:animEffect transition="in" filter="wipe(up)">
                                      <p:cBhvr>
                                        <p:cTn id="35" dur="500"/>
                                        <p:tgtEl>
                                          <p:spTgt spid="94"/>
                                        </p:tgtEl>
                                      </p:cBhvr>
                                    </p:animEffect>
                                  </p:childTnLst>
                                </p:cTn>
                              </p:par>
                              <p:par>
                                <p:cTn id="36" presetID="22" presetClass="entr" presetSubtype="2" fill="hold" grpId="0" nodeType="withEffect">
                                  <p:stCondLst>
                                    <p:cond delay="0"/>
                                  </p:stCondLst>
                                  <p:childTnLst>
                                    <p:set>
                                      <p:cBhvr>
                                        <p:cTn id="37" dur="1" fill="hold">
                                          <p:stCondLst>
                                            <p:cond delay="0"/>
                                          </p:stCondLst>
                                        </p:cTn>
                                        <p:tgtEl>
                                          <p:spTgt spid="95"/>
                                        </p:tgtEl>
                                        <p:attrNameLst>
                                          <p:attrName>style.visibility</p:attrName>
                                        </p:attrNameLst>
                                      </p:cBhvr>
                                      <p:to>
                                        <p:strVal val="visible"/>
                                      </p:to>
                                    </p:set>
                                    <p:animEffect transition="in" filter="wipe(right)">
                                      <p:cBhvr>
                                        <p:cTn id="38" dur="500"/>
                                        <p:tgtEl>
                                          <p:spTgt spid="95"/>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96"/>
                                        </p:tgtEl>
                                        <p:attrNameLst>
                                          <p:attrName>style.visibility</p:attrName>
                                        </p:attrNameLst>
                                      </p:cBhvr>
                                      <p:to>
                                        <p:strVal val="visible"/>
                                      </p:to>
                                    </p:set>
                                    <p:animEffect transition="in" filter="wipe(left)">
                                      <p:cBhvr>
                                        <p:cTn id="41" dur="500"/>
                                        <p:tgtEl>
                                          <p:spTgt spid="96"/>
                                        </p:tgtEl>
                                      </p:cBhvr>
                                    </p:animEffect>
                                  </p:childTnLst>
                                </p:cTn>
                              </p:par>
                              <p:par>
                                <p:cTn id="42" presetID="22" presetClass="entr" presetSubtype="1" fill="hold" grpId="0" nodeType="withEffect">
                                  <p:stCondLst>
                                    <p:cond delay="0"/>
                                  </p:stCondLst>
                                  <p:childTnLst>
                                    <p:set>
                                      <p:cBhvr>
                                        <p:cTn id="43" dur="1" fill="hold">
                                          <p:stCondLst>
                                            <p:cond delay="0"/>
                                          </p:stCondLst>
                                        </p:cTn>
                                        <p:tgtEl>
                                          <p:spTgt spid="97"/>
                                        </p:tgtEl>
                                        <p:attrNameLst>
                                          <p:attrName>style.visibility</p:attrName>
                                        </p:attrNameLst>
                                      </p:cBhvr>
                                      <p:to>
                                        <p:strVal val="visible"/>
                                      </p:to>
                                    </p:set>
                                    <p:animEffect transition="in" filter="wipe(up)">
                                      <p:cBhvr>
                                        <p:cTn id="44" dur="500"/>
                                        <p:tgtEl>
                                          <p:spTgt spid="97"/>
                                        </p:tgtEl>
                                      </p:cBhvr>
                                    </p:animEffect>
                                  </p:childTnLst>
                                </p:cTn>
                              </p:par>
                              <p:par>
                                <p:cTn id="45" presetID="1" presetClass="exit" presetSubtype="0" fill="hold" grpId="1" nodeType="withEffect">
                                  <p:stCondLst>
                                    <p:cond delay="0"/>
                                  </p:stCondLst>
                                  <p:childTnLst>
                                    <p:set>
                                      <p:cBhvr>
                                        <p:cTn id="46" dur="1" fill="hold">
                                          <p:stCondLst>
                                            <p:cond delay="0"/>
                                          </p:stCondLst>
                                        </p:cTn>
                                        <p:tgtEl>
                                          <p:spTgt spid="132"/>
                                        </p:tgtEl>
                                        <p:attrNameLst>
                                          <p:attrName>style.visibility</p:attrName>
                                        </p:attrNameLst>
                                      </p:cBhvr>
                                      <p:to>
                                        <p:strVal val="hidden"/>
                                      </p:to>
                                    </p:set>
                                  </p:childTnLst>
                                </p:cTn>
                              </p:par>
                              <p:par>
                                <p:cTn id="47" presetID="1" presetClass="exit" presetSubtype="0" fill="hold" grpId="1" nodeType="withEffect">
                                  <p:stCondLst>
                                    <p:cond delay="0"/>
                                  </p:stCondLst>
                                  <p:childTnLst>
                                    <p:set>
                                      <p:cBhvr>
                                        <p:cTn id="48" dur="1" fill="hold">
                                          <p:stCondLst>
                                            <p:cond delay="0"/>
                                          </p:stCondLst>
                                        </p:cTn>
                                        <p:tgtEl>
                                          <p:spTgt spid="133"/>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134"/>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35"/>
                                        </p:tgtEl>
                                        <p:attrNameLst>
                                          <p:attrName>style.visibility</p:attrName>
                                        </p:attrNameLst>
                                      </p:cBhvr>
                                      <p:to>
                                        <p:strVal val="hidden"/>
                                      </p:to>
                                    </p:set>
                                  </p:childTnLst>
                                </p:cTn>
                              </p:par>
                              <p:par>
                                <p:cTn id="53" presetID="1" presetClass="entr" presetSubtype="0" fill="hold" grpId="0" nodeType="withEffect">
                                  <p:stCondLst>
                                    <p:cond delay="0"/>
                                  </p:stCondLst>
                                  <p:childTnLst>
                                    <p:set>
                                      <p:cBhvr>
                                        <p:cTn id="54" dur="1" fill="hold">
                                          <p:stCondLst>
                                            <p:cond delay="0"/>
                                          </p:stCondLst>
                                        </p:cTn>
                                        <p:tgtEl>
                                          <p:spTgt spid="1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 grpId="0"/>
      <p:bldP spid="95" grpId="0"/>
      <p:bldP spid="96" grpId="0"/>
      <p:bldP spid="97" grpId="0"/>
      <p:bldP spid="131" grpId="0"/>
      <p:bldP spid="132" grpId="0"/>
      <p:bldP spid="132" grpId="1"/>
      <p:bldP spid="133" grpId="0"/>
      <p:bldP spid="133" grpId="1"/>
      <p:bldP spid="134" grpId="0"/>
      <p:bldP spid="134" grpId="1"/>
      <p:bldP spid="135" grpId="0"/>
      <p:bldP spid="135" grpId="1"/>
      <p:bldP spid="136"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Intransitive Similarity Network: Undirected Graph</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33</a:t>
            </a:fld>
            <a:endParaRPr lang="en-US" dirty="0"/>
          </a:p>
        </p:txBody>
      </p:sp>
      <p:sp>
        <p:nvSpPr>
          <p:cNvPr id="131" name="Textfeld 130"/>
          <p:cNvSpPr txBox="1"/>
          <p:nvPr/>
        </p:nvSpPr>
        <p:spPr>
          <a:xfrm>
            <a:off x="9157159" y="4368648"/>
            <a:ext cx="2935140" cy="954107"/>
          </a:xfrm>
          <a:prstGeom prst="rect">
            <a:avLst/>
          </a:prstGeom>
          <a:noFill/>
        </p:spPr>
        <p:txBody>
          <a:bodyPr wrap="square" rtlCol="0">
            <a:spAutoFit/>
          </a:bodyPr>
          <a:lstStyle/>
          <a:p>
            <a:r>
              <a:rPr lang="en-US" sz="1400" dirty="0" smtClean="0">
                <a:solidFill>
                  <a:srgbClr val="00B0F0"/>
                </a:solidFill>
              </a:rPr>
              <a:t>p = Score Percentile</a:t>
            </a:r>
          </a:p>
          <a:p>
            <a:pPr>
              <a:buClr>
                <a:srgbClr val="00B0F0"/>
              </a:buClr>
            </a:pPr>
            <a:r>
              <a:rPr lang="en-US" sz="1400" dirty="0" smtClean="0"/>
              <a:t>The score has an arbitrary value range while the percentile stays within [0,100]. </a:t>
            </a:r>
          </a:p>
        </p:txBody>
      </p:sp>
      <p:cxnSp>
        <p:nvCxnSpPr>
          <p:cNvPr id="137" name="Gerade Verbindung 10"/>
          <p:cNvCxnSpPr/>
          <p:nvPr/>
        </p:nvCxnSpPr>
        <p:spPr>
          <a:xfrm>
            <a:off x="1879257" y="3461203"/>
            <a:ext cx="1326942" cy="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8" name="Gerade Verbindung 11"/>
          <p:cNvCxnSpPr/>
          <p:nvPr/>
        </p:nvCxnSpPr>
        <p:spPr>
          <a:xfrm flipV="1">
            <a:off x="4081485" y="2263473"/>
            <a:ext cx="994176" cy="84536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9" name="Gerade Verbindung 12"/>
          <p:cNvCxnSpPr/>
          <p:nvPr/>
        </p:nvCxnSpPr>
        <p:spPr>
          <a:xfrm>
            <a:off x="4081485" y="3813573"/>
            <a:ext cx="994176" cy="780954"/>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0" name="Gerade Verbindung 14"/>
          <p:cNvCxnSpPr/>
          <p:nvPr/>
        </p:nvCxnSpPr>
        <p:spPr>
          <a:xfrm>
            <a:off x="5950948" y="1911103"/>
            <a:ext cx="1310638" cy="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1" name="Gerade Verbindung 19"/>
          <p:cNvCxnSpPr/>
          <p:nvPr/>
        </p:nvCxnSpPr>
        <p:spPr>
          <a:xfrm>
            <a:off x="5438217" y="2409430"/>
            <a:ext cx="0" cy="203914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2" name="Textfeld 39"/>
              <p:cNvSpPr txBox="1"/>
              <p:nvPr/>
            </p:nvSpPr>
            <p:spPr>
              <a:xfrm rot="2309454">
                <a:off x="4138074" y="3810446"/>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42" name="Textfeld 39"/>
              <p:cNvSpPr txBox="1">
                <a:spLocks noRot="1" noChangeAspect="1" noMove="1" noResize="1" noEditPoints="1" noAdjustHandles="1" noChangeArrowheads="1" noChangeShapeType="1" noTextEdit="1"/>
              </p:cNvSpPr>
              <p:nvPr/>
            </p:nvSpPr>
            <p:spPr>
              <a:xfrm rot="2309454">
                <a:off x="4138074" y="3810446"/>
                <a:ext cx="1217652" cy="395558"/>
              </a:xfrm>
              <a:prstGeom prst="rect">
                <a:avLst/>
              </a:prstGeom>
              <a:blipFill rotWithShape="0">
                <a:blip r:embed="rId2"/>
                <a:stretch>
                  <a:fillRect b="-22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3" name="Textfeld 40"/>
              <p:cNvSpPr txBox="1"/>
              <p:nvPr/>
            </p:nvSpPr>
            <p:spPr>
              <a:xfrm>
                <a:off x="6002337" y="1976434"/>
                <a:ext cx="1173205"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4</m:t>
                                </m:r>
                                <m:r>
                                  <a:rPr lang="de-DE" sz="1400" i="1">
                                    <a:solidFill>
                                      <a:srgbClr val="00AAE5"/>
                                    </a:solidFill>
                                    <a:latin typeface="Cambria Math" panose="02040503050406030204" pitchFamily="18" charset="0"/>
                                  </a:rPr>
                                  <m:t>3%</m:t>
                                </m:r>
                              </m:e>
                              <m:e>
                                <m:r>
                                  <a:rPr lang="de-DE" sz="1400" i="1">
                                    <a:latin typeface="Cambria Math" panose="02040503050406030204" pitchFamily="18" charset="0"/>
                                  </a:rPr>
                                  <m:t>100%</m:t>
                                </m:r>
                              </m:e>
                            </m:mr>
                            <m:mr>
                              <m:e>
                                <m:r>
                                  <a:rPr lang="de-DE" sz="1400" i="1">
                                    <a:latin typeface="Cambria Math" panose="02040503050406030204" pitchFamily="18" charset="0"/>
                                  </a:rPr>
                                  <m:t>60</m:t>
                                </m:r>
                              </m:e>
                              <m:e>
                                <m:r>
                                  <a:rPr lang="de-DE" sz="1400" i="1">
                                    <a:latin typeface="Cambria Math" panose="02040503050406030204" pitchFamily="18" charset="0"/>
                                  </a:rPr>
                                  <m:t>37</m:t>
                                </m:r>
                                <m:r>
                                  <a:rPr lang="de-DE" sz="1400" i="1">
                                    <a:latin typeface="Cambria Math" panose="02040503050406030204" pitchFamily="18" charset="0"/>
                                  </a:rPr>
                                  <m:t>𝑝𝑐𝑡</m:t>
                                </m:r>
                              </m:e>
                            </m:mr>
                          </m:m>
                        </m:e>
                      </m:d>
                    </m:oMath>
                  </m:oMathPara>
                </a14:m>
                <a:endParaRPr lang="en-US" sz="1400" dirty="0"/>
              </a:p>
            </p:txBody>
          </p:sp>
        </mc:Choice>
        <mc:Fallback xmlns="">
          <p:sp>
            <p:nvSpPr>
              <p:cNvPr id="143" name="Textfeld 40"/>
              <p:cNvSpPr txBox="1">
                <a:spLocks noRot="1" noChangeAspect="1" noMove="1" noResize="1" noEditPoints="1" noAdjustHandles="1" noChangeArrowheads="1" noChangeShapeType="1" noTextEdit="1"/>
              </p:cNvSpPr>
              <p:nvPr/>
            </p:nvSpPr>
            <p:spPr>
              <a:xfrm>
                <a:off x="6002337" y="1976434"/>
                <a:ext cx="1173205" cy="395558"/>
              </a:xfrm>
              <a:prstGeom prst="rect">
                <a:avLst/>
              </a:prstGeom>
              <a:blipFill rotWithShape="0">
                <a:blip r:embed="rId3"/>
                <a:stretch>
                  <a:fillRect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4" name="Textfeld 41"/>
              <p:cNvSpPr txBox="1"/>
              <p:nvPr/>
            </p:nvSpPr>
            <p:spPr>
              <a:xfrm rot="19234398">
                <a:off x="3827361" y="2297755"/>
                <a:ext cx="1171154"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7</m:t>
                                </m:r>
                                <m:r>
                                  <a:rPr lang="de-DE" sz="1400" i="1">
                                    <a:solidFill>
                                      <a:srgbClr val="00AAE5"/>
                                    </a:solidFill>
                                    <a:latin typeface="Cambria Math" panose="02040503050406030204" pitchFamily="18" charset="0"/>
                                  </a:rPr>
                                  <m:t>1%</m:t>
                                </m:r>
                              </m:e>
                              <m:e>
                                <m:r>
                                  <a:rPr lang="de-DE" sz="1400" i="1">
                                    <a:latin typeface="Cambria Math" panose="02040503050406030204" pitchFamily="18" charset="0"/>
                                  </a:rPr>
                                  <m:t>94%</m:t>
                                </m:r>
                              </m:e>
                            </m:mr>
                            <m:mr>
                              <m:e>
                                <m:r>
                                  <a:rPr lang="de-DE" sz="1400" i="1">
                                    <a:latin typeface="Cambria Math" panose="02040503050406030204" pitchFamily="18" charset="0"/>
                                  </a:rPr>
                                  <m:t>140</m:t>
                                </m:r>
                              </m:e>
                              <m:e>
                                <m:r>
                                  <a:rPr lang="de-DE" sz="1400" i="1">
                                    <a:latin typeface="Cambria Math" panose="02040503050406030204" pitchFamily="18" charset="0"/>
                                  </a:rPr>
                                  <m:t>89</m:t>
                                </m:r>
                                <m:r>
                                  <a:rPr lang="de-DE" sz="1400" i="1">
                                    <a:latin typeface="Cambria Math" panose="02040503050406030204" pitchFamily="18" charset="0"/>
                                  </a:rPr>
                                  <m:t>𝑝𝑐𝑡</m:t>
                                </m:r>
                              </m:e>
                            </m:mr>
                          </m:m>
                        </m:e>
                      </m:d>
                    </m:oMath>
                  </m:oMathPara>
                </a14:m>
                <a:endParaRPr lang="en-US" sz="1400" dirty="0"/>
              </a:p>
            </p:txBody>
          </p:sp>
        </mc:Choice>
        <mc:Fallback xmlns="">
          <p:sp>
            <p:nvSpPr>
              <p:cNvPr id="144" name="Textfeld 41"/>
              <p:cNvSpPr txBox="1">
                <a:spLocks noRot="1" noChangeAspect="1" noMove="1" noResize="1" noEditPoints="1" noAdjustHandles="1" noChangeArrowheads="1" noChangeShapeType="1" noTextEdit="1"/>
              </p:cNvSpPr>
              <p:nvPr/>
            </p:nvSpPr>
            <p:spPr>
              <a:xfrm rot="19234398">
                <a:off x="3827361" y="2297755"/>
                <a:ext cx="1171154" cy="395558"/>
              </a:xfrm>
              <a:prstGeom prst="rect">
                <a:avLst/>
              </a:prstGeom>
              <a:blipFill rotWithShape="0">
                <a:blip r:embed="rId4"/>
                <a:stretch>
                  <a:fillRect r="-26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5" name="Textfeld 42"/>
              <p:cNvSpPr txBox="1"/>
              <p:nvPr/>
            </p:nvSpPr>
            <p:spPr>
              <a:xfrm rot="5400000">
                <a:off x="5119816" y="3218263"/>
                <a:ext cx="1171154" cy="3999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7</m:t>
                                </m:r>
                                <m:r>
                                  <a:rPr lang="de-DE" sz="1400" i="1">
                                    <a:solidFill>
                                      <a:srgbClr val="00AAE5"/>
                                    </a:solidFill>
                                    <a:latin typeface="Cambria Math" panose="02040503050406030204" pitchFamily="18" charset="0"/>
                                  </a:rPr>
                                  <m:t>1%</m:t>
                                </m:r>
                              </m:e>
                              <m:e>
                                <m:r>
                                  <a:rPr lang="de-DE" sz="1400" i="1">
                                    <a:latin typeface="Cambria Math" panose="02040503050406030204" pitchFamily="18" charset="0"/>
                                  </a:rPr>
                                  <m:t>95%</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45" name="Textfeld 42"/>
              <p:cNvSpPr txBox="1">
                <a:spLocks noRot="1" noChangeAspect="1" noMove="1" noResize="1" noEditPoints="1" noAdjustHandles="1" noChangeArrowheads="1" noChangeShapeType="1" noTextEdit="1"/>
              </p:cNvSpPr>
              <p:nvPr/>
            </p:nvSpPr>
            <p:spPr>
              <a:xfrm rot="5400000">
                <a:off x="5119816" y="3218263"/>
                <a:ext cx="1171154" cy="399918"/>
              </a:xfrm>
              <a:prstGeom prst="rect">
                <a:avLst/>
              </a:prstGeom>
              <a:blipFill rotWithShape="0">
                <a:blip r:embed="rId5"/>
                <a:stretch>
                  <a:fillRect l="-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6" name="Textfeld 43"/>
              <p:cNvSpPr txBox="1"/>
              <p:nvPr/>
            </p:nvSpPr>
            <p:spPr>
              <a:xfrm>
                <a:off x="9233832" y="1534351"/>
                <a:ext cx="1165575" cy="448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600" i="1" smtClean="0">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r>
                                  <a:rPr lang="de-DE" sz="1600" i="1">
                                    <a:latin typeface="Cambria Math" panose="02040503050406030204" pitchFamily="18" charset="0"/>
                                  </a:rPr>
                                  <m:t>𝑚𝑖𝑛</m:t>
                                </m:r>
                              </m:e>
                              <m:e>
                                <m:r>
                                  <a:rPr lang="de-DE" sz="1600" i="1">
                                    <a:latin typeface="Cambria Math" panose="02040503050406030204" pitchFamily="18" charset="0"/>
                                  </a:rPr>
                                  <m:t>𝑚𝑎𝑥</m:t>
                                </m:r>
                              </m:e>
                            </m:mr>
                            <m:mr>
                              <m:e>
                                <m:r>
                                  <a:rPr lang="de-DE" sz="1600" i="1">
                                    <a:latin typeface="Cambria Math" panose="02040503050406030204" pitchFamily="18" charset="0"/>
                                  </a:rPr>
                                  <m:t>𝑠</m:t>
                                </m:r>
                              </m:e>
                              <m:e>
                                <m:r>
                                  <a:rPr lang="de-DE" sz="1600" i="1">
                                    <a:latin typeface="Cambria Math" panose="02040503050406030204" pitchFamily="18" charset="0"/>
                                  </a:rPr>
                                  <m:t>𝑝</m:t>
                                </m:r>
                              </m:e>
                            </m:mr>
                          </m:m>
                        </m:e>
                      </m:d>
                    </m:oMath>
                  </m:oMathPara>
                </a14:m>
                <a:endParaRPr lang="en-US" sz="1600" dirty="0"/>
              </a:p>
            </p:txBody>
          </p:sp>
        </mc:Choice>
        <mc:Fallback xmlns="">
          <p:sp>
            <p:nvSpPr>
              <p:cNvPr id="146" name="Textfeld 43"/>
              <p:cNvSpPr txBox="1">
                <a:spLocks noRot="1" noChangeAspect="1" noMove="1" noResize="1" noEditPoints="1" noAdjustHandles="1" noChangeArrowheads="1" noChangeShapeType="1" noTextEdit="1"/>
              </p:cNvSpPr>
              <p:nvPr/>
            </p:nvSpPr>
            <p:spPr>
              <a:xfrm>
                <a:off x="9233832" y="1534351"/>
                <a:ext cx="1165575" cy="448777"/>
              </a:xfrm>
              <a:prstGeom prst="rect">
                <a:avLst/>
              </a:prstGeom>
              <a:blipFill rotWithShape="0">
                <a:blip r:embed="rId6"/>
                <a:stretch>
                  <a:fillRect t="-2740" b="-150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7" name="Textfeld 44"/>
              <p:cNvSpPr txBox="1"/>
              <p:nvPr/>
            </p:nvSpPr>
            <p:spPr>
              <a:xfrm>
                <a:off x="1970412" y="3019645"/>
                <a:ext cx="1173205"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2</m:t>
                                </m:r>
                                <m:r>
                                  <a:rPr lang="de-DE" sz="1400" i="1">
                                    <a:solidFill>
                                      <a:srgbClr val="00AAE5"/>
                                    </a:solidFill>
                                    <a:latin typeface="Cambria Math" panose="02040503050406030204" pitchFamily="18" charset="0"/>
                                  </a:rPr>
                                  <m:t>3%</m:t>
                                </m:r>
                              </m:e>
                              <m:e>
                                <m:r>
                                  <a:rPr lang="de-DE" sz="1400" i="1">
                                    <a:latin typeface="Cambria Math" panose="02040503050406030204" pitchFamily="18" charset="0"/>
                                  </a:rPr>
                                  <m:t>100%</m:t>
                                </m:r>
                              </m:e>
                            </m:mr>
                            <m:mr>
                              <m:e>
                                <m:r>
                                  <a:rPr lang="de-DE" sz="1400" i="1">
                                    <a:latin typeface="Cambria Math" panose="02040503050406030204" pitchFamily="18" charset="0"/>
                                  </a:rPr>
                                  <m:t>30</m:t>
                                </m:r>
                              </m:e>
                              <m:e>
                                <m:r>
                                  <a:rPr lang="de-DE" sz="1400" i="1">
                                    <a:latin typeface="Cambria Math" panose="02040503050406030204" pitchFamily="18" charset="0"/>
                                  </a:rPr>
                                  <m:t>13</m:t>
                                </m:r>
                                <m:r>
                                  <a:rPr lang="de-DE" sz="1400" i="1">
                                    <a:latin typeface="Cambria Math" panose="02040503050406030204" pitchFamily="18" charset="0"/>
                                  </a:rPr>
                                  <m:t>𝑝𝑐𝑡</m:t>
                                </m:r>
                              </m:e>
                            </m:mr>
                          </m:m>
                        </m:e>
                      </m:d>
                    </m:oMath>
                  </m:oMathPara>
                </a14:m>
                <a:endParaRPr lang="en-US" sz="1400" dirty="0"/>
              </a:p>
            </p:txBody>
          </p:sp>
        </mc:Choice>
        <mc:Fallback xmlns="">
          <p:sp>
            <p:nvSpPr>
              <p:cNvPr id="147" name="Textfeld 44"/>
              <p:cNvSpPr txBox="1">
                <a:spLocks noRot="1" noChangeAspect="1" noMove="1" noResize="1" noEditPoints="1" noAdjustHandles="1" noChangeArrowheads="1" noChangeShapeType="1" noTextEdit="1"/>
              </p:cNvSpPr>
              <p:nvPr/>
            </p:nvSpPr>
            <p:spPr>
              <a:xfrm>
                <a:off x="1970412" y="3019645"/>
                <a:ext cx="1173205" cy="395558"/>
              </a:xfrm>
              <a:prstGeom prst="rect">
                <a:avLst/>
              </a:prstGeom>
              <a:blipFill rotWithShape="0">
                <a:blip r:embed="rId7"/>
                <a:stretch>
                  <a:fillRect b="-20000"/>
                </a:stretch>
              </a:blipFill>
            </p:spPr>
            <p:txBody>
              <a:bodyPr/>
              <a:lstStyle/>
              <a:p>
                <a:r>
                  <a:rPr lang="en-US">
                    <a:noFill/>
                  </a:rPr>
                  <a:t> </a:t>
                </a:r>
              </a:p>
            </p:txBody>
          </p:sp>
        </mc:Fallback>
      </mc:AlternateContent>
      <p:sp>
        <p:nvSpPr>
          <p:cNvPr id="148" name="Ellipse 45"/>
          <p:cNvSpPr/>
          <p:nvPr/>
        </p:nvSpPr>
        <p:spPr>
          <a:xfrm>
            <a:off x="4925485"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100" dirty="0">
              <a:solidFill>
                <a:schemeClr val="tx1"/>
              </a:solidFill>
              <a:latin typeface="Arial" pitchFamily="34" charset="0"/>
              <a:cs typeface="Arial" pitchFamily="34" charset="0"/>
            </a:endParaRPr>
          </a:p>
        </p:txBody>
      </p:sp>
      <p:sp>
        <p:nvSpPr>
          <p:cNvPr id="149" name="Ellipse 46"/>
          <p:cNvSpPr/>
          <p:nvPr/>
        </p:nvSpPr>
        <p:spPr>
          <a:xfrm>
            <a:off x="853795"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0" name="Ellipse 47"/>
          <p:cNvSpPr/>
          <p:nvPr/>
        </p:nvSpPr>
        <p:spPr>
          <a:xfrm>
            <a:off x="3206198"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1" name="Ellipse 48"/>
          <p:cNvSpPr/>
          <p:nvPr/>
        </p:nvSpPr>
        <p:spPr>
          <a:xfrm>
            <a:off x="4925485"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2" name="Ellipse 49"/>
          <p:cNvSpPr/>
          <p:nvPr/>
        </p:nvSpPr>
        <p:spPr>
          <a:xfrm>
            <a:off x="7261586"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3" name="Textfeld 50"/>
          <p:cNvSpPr txBox="1"/>
          <p:nvPr/>
        </p:nvSpPr>
        <p:spPr>
          <a:xfrm>
            <a:off x="5113495" y="1503439"/>
            <a:ext cx="700833" cy="707886"/>
          </a:xfrm>
          <a:prstGeom prst="rect">
            <a:avLst/>
          </a:prstGeom>
          <a:noFill/>
        </p:spPr>
        <p:txBody>
          <a:bodyPr wrap="none" rtlCol="0">
            <a:spAutoFit/>
          </a:bodyPr>
          <a:lstStyle/>
          <a:p>
            <a:r>
              <a:rPr lang="de-DE" sz="4000" dirty="0"/>
              <a:t>A</a:t>
            </a:r>
            <a:r>
              <a:rPr lang="de-DE" sz="2000" dirty="0"/>
              <a:t>B</a:t>
            </a:r>
            <a:r>
              <a:rPr lang="de-DE" sz="1000" dirty="0"/>
              <a:t>Y</a:t>
            </a:r>
            <a:endParaRPr lang="en-US" sz="1000" dirty="0"/>
          </a:p>
        </p:txBody>
      </p:sp>
      <p:sp>
        <p:nvSpPr>
          <p:cNvPr id="154" name="Textfeld 51"/>
          <p:cNvSpPr txBox="1"/>
          <p:nvPr/>
        </p:nvSpPr>
        <p:spPr>
          <a:xfrm>
            <a:off x="7439129" y="1456083"/>
            <a:ext cx="670376" cy="830997"/>
          </a:xfrm>
          <a:prstGeom prst="rect">
            <a:avLst/>
          </a:prstGeom>
          <a:noFill/>
        </p:spPr>
        <p:txBody>
          <a:bodyPr wrap="none" rtlCol="0">
            <a:spAutoFit/>
          </a:bodyPr>
          <a:lstStyle/>
          <a:p>
            <a:r>
              <a:rPr lang="de-DE" sz="4800" dirty="0"/>
              <a:t>B</a:t>
            </a:r>
            <a:r>
              <a:rPr lang="de-DE" sz="2400" dirty="0"/>
              <a:t>Y</a:t>
            </a:r>
            <a:endParaRPr lang="en-US" sz="2400" dirty="0"/>
          </a:p>
        </p:txBody>
      </p:sp>
      <p:sp>
        <p:nvSpPr>
          <p:cNvPr id="155" name="Textfeld 52"/>
          <p:cNvSpPr txBox="1"/>
          <p:nvPr/>
        </p:nvSpPr>
        <p:spPr>
          <a:xfrm>
            <a:off x="5124170" y="4492161"/>
            <a:ext cx="696024" cy="830997"/>
          </a:xfrm>
          <a:prstGeom prst="rect">
            <a:avLst/>
          </a:prstGeom>
          <a:noFill/>
        </p:spPr>
        <p:txBody>
          <a:bodyPr wrap="none" rtlCol="0">
            <a:spAutoFit/>
          </a:bodyPr>
          <a:lstStyle/>
          <a:p>
            <a:r>
              <a:rPr lang="de-DE" sz="4800" dirty="0"/>
              <a:t>A</a:t>
            </a:r>
            <a:r>
              <a:rPr lang="de-DE" sz="1200" dirty="0"/>
              <a:t>XY</a:t>
            </a:r>
            <a:endParaRPr lang="en-US" sz="1200" dirty="0"/>
          </a:p>
        </p:txBody>
      </p:sp>
      <p:sp>
        <p:nvSpPr>
          <p:cNvPr id="156" name="Textfeld 53"/>
          <p:cNvSpPr txBox="1"/>
          <p:nvPr/>
        </p:nvSpPr>
        <p:spPr>
          <a:xfrm>
            <a:off x="3387703" y="3044133"/>
            <a:ext cx="702436" cy="769441"/>
          </a:xfrm>
          <a:prstGeom prst="rect">
            <a:avLst/>
          </a:prstGeom>
          <a:noFill/>
        </p:spPr>
        <p:txBody>
          <a:bodyPr wrap="none" rtlCol="0">
            <a:spAutoFit/>
          </a:bodyPr>
          <a:lstStyle/>
          <a:p>
            <a:r>
              <a:rPr lang="de-DE" sz="4400" dirty="0"/>
              <a:t>A</a:t>
            </a:r>
            <a:r>
              <a:rPr lang="de-DE" sz="1100" dirty="0"/>
              <a:t>XY</a:t>
            </a:r>
            <a:r>
              <a:rPr lang="de-DE" sz="800" dirty="0"/>
              <a:t>Z</a:t>
            </a:r>
            <a:endParaRPr lang="en-US" sz="800" dirty="0"/>
          </a:p>
        </p:txBody>
      </p:sp>
      <p:sp>
        <p:nvSpPr>
          <p:cNvPr id="157" name="Textfeld 54"/>
          <p:cNvSpPr txBox="1"/>
          <p:nvPr/>
        </p:nvSpPr>
        <p:spPr>
          <a:xfrm>
            <a:off x="1069819" y="3002724"/>
            <a:ext cx="647934" cy="830997"/>
          </a:xfrm>
          <a:prstGeom prst="rect">
            <a:avLst/>
          </a:prstGeom>
          <a:noFill/>
        </p:spPr>
        <p:txBody>
          <a:bodyPr wrap="none" rtlCol="0">
            <a:spAutoFit/>
          </a:bodyPr>
          <a:lstStyle/>
          <a:p>
            <a:r>
              <a:rPr lang="de-DE" sz="4800" dirty="0"/>
              <a:t>X</a:t>
            </a:r>
            <a:r>
              <a:rPr lang="de-DE" sz="2400" dirty="0"/>
              <a:t>Z</a:t>
            </a:r>
            <a:endParaRPr lang="en-US" sz="2400" dirty="0"/>
          </a:p>
        </p:txBody>
      </p:sp>
      <p:sp>
        <p:nvSpPr>
          <p:cNvPr id="158" name="Textfeld 26"/>
          <p:cNvSpPr txBox="1"/>
          <p:nvPr/>
        </p:nvSpPr>
        <p:spPr>
          <a:xfrm>
            <a:off x="7441312" y="4544956"/>
            <a:ext cx="689612" cy="769441"/>
          </a:xfrm>
          <a:prstGeom prst="rect">
            <a:avLst/>
          </a:prstGeom>
          <a:noFill/>
        </p:spPr>
        <p:txBody>
          <a:bodyPr wrap="none" rtlCol="0">
            <a:spAutoFit/>
          </a:bodyPr>
          <a:lstStyle/>
          <a:p>
            <a:r>
              <a:rPr lang="de-DE" sz="4400" dirty="0"/>
              <a:t>B</a:t>
            </a:r>
            <a:r>
              <a:rPr lang="de-DE" sz="2400" dirty="0"/>
              <a:t>Y</a:t>
            </a:r>
            <a:r>
              <a:rPr lang="de-DE" sz="800" dirty="0"/>
              <a:t>Z</a:t>
            </a:r>
            <a:endParaRPr lang="en-US" sz="800" dirty="0"/>
          </a:p>
        </p:txBody>
      </p:sp>
      <p:sp>
        <p:nvSpPr>
          <p:cNvPr id="159" name="Ellipse 27"/>
          <p:cNvSpPr/>
          <p:nvPr/>
        </p:nvSpPr>
        <p:spPr>
          <a:xfrm>
            <a:off x="7261586"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60" name="Ellipse 28"/>
          <p:cNvSpPr/>
          <p:nvPr/>
        </p:nvSpPr>
        <p:spPr>
          <a:xfrm>
            <a:off x="2693467" y="5128693"/>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61" name="Textfeld 29"/>
          <p:cNvSpPr txBox="1"/>
          <p:nvPr/>
        </p:nvSpPr>
        <p:spPr>
          <a:xfrm>
            <a:off x="2874972" y="5209950"/>
            <a:ext cx="712054" cy="769441"/>
          </a:xfrm>
          <a:prstGeom prst="rect">
            <a:avLst/>
          </a:prstGeom>
          <a:noFill/>
        </p:spPr>
        <p:txBody>
          <a:bodyPr wrap="none" rtlCol="0">
            <a:spAutoFit/>
          </a:bodyPr>
          <a:lstStyle/>
          <a:p>
            <a:r>
              <a:rPr lang="de-DE" sz="4400" dirty="0"/>
              <a:t>A</a:t>
            </a:r>
            <a:r>
              <a:rPr lang="de-DE" sz="1100" dirty="0"/>
              <a:t>XY</a:t>
            </a:r>
            <a:r>
              <a:rPr lang="de-DE" sz="800" dirty="0"/>
              <a:t>V</a:t>
            </a:r>
            <a:endParaRPr lang="en-US" sz="800" dirty="0"/>
          </a:p>
        </p:txBody>
      </p:sp>
      <p:cxnSp>
        <p:nvCxnSpPr>
          <p:cNvPr id="162" name="Gerader Verbinder 4"/>
          <p:cNvCxnSpPr/>
          <p:nvPr/>
        </p:nvCxnSpPr>
        <p:spPr>
          <a:xfrm flipV="1">
            <a:off x="3275210" y="3959531"/>
            <a:ext cx="362556" cy="1169163"/>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63" name="Gerader Verbinder 6"/>
          <p:cNvCxnSpPr/>
          <p:nvPr/>
        </p:nvCxnSpPr>
        <p:spPr>
          <a:xfrm flipV="1">
            <a:off x="3673606" y="5071151"/>
            <a:ext cx="1286154" cy="396637"/>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4" name="Textfeld 34"/>
              <p:cNvSpPr txBox="1"/>
              <p:nvPr/>
            </p:nvSpPr>
            <p:spPr>
              <a:xfrm rot="20550978">
                <a:off x="3780072" y="5296280"/>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64" name="Textfeld 34"/>
              <p:cNvSpPr txBox="1">
                <a:spLocks noRot="1" noChangeAspect="1" noMove="1" noResize="1" noEditPoints="1" noAdjustHandles="1" noChangeArrowheads="1" noChangeShapeType="1" noTextEdit="1"/>
              </p:cNvSpPr>
              <p:nvPr/>
            </p:nvSpPr>
            <p:spPr>
              <a:xfrm rot="20550978">
                <a:off x="3780072" y="5296280"/>
                <a:ext cx="1217652" cy="395558"/>
              </a:xfrm>
              <a:prstGeom prst="rect">
                <a:avLst/>
              </a:prstGeom>
              <a:blipFill rotWithShape="0">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5" name="Textfeld 35"/>
              <p:cNvSpPr txBox="1"/>
              <p:nvPr/>
            </p:nvSpPr>
            <p:spPr>
              <a:xfrm rot="17242359">
                <a:off x="2607483" y="4283705"/>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130</m:t>
                                </m:r>
                              </m:e>
                              <m:e>
                                <m:r>
                                  <a:rPr lang="de-DE" sz="1400" i="1">
                                    <a:latin typeface="Cambria Math" panose="02040503050406030204" pitchFamily="18" charset="0"/>
                                  </a:rPr>
                                  <m:t>88</m:t>
                                </m:r>
                                <m:r>
                                  <a:rPr lang="de-DE" sz="1400" i="1">
                                    <a:latin typeface="Cambria Math" panose="02040503050406030204" pitchFamily="18" charset="0"/>
                                  </a:rPr>
                                  <m:t>𝑝𝑐𝑡</m:t>
                                </m:r>
                              </m:e>
                            </m:mr>
                          </m:m>
                        </m:e>
                      </m:d>
                    </m:oMath>
                  </m:oMathPara>
                </a14:m>
                <a:endParaRPr lang="en-US" sz="1400" dirty="0"/>
              </a:p>
            </p:txBody>
          </p:sp>
        </mc:Choice>
        <mc:Fallback xmlns="">
          <p:sp>
            <p:nvSpPr>
              <p:cNvPr id="165" name="Textfeld 35"/>
              <p:cNvSpPr txBox="1">
                <a:spLocks noRot="1" noChangeAspect="1" noMove="1" noResize="1" noEditPoints="1" noAdjustHandles="1" noChangeArrowheads="1" noChangeShapeType="1" noTextEdit="1"/>
              </p:cNvSpPr>
              <p:nvPr/>
            </p:nvSpPr>
            <p:spPr>
              <a:xfrm rot="17242359">
                <a:off x="2607483" y="4283705"/>
                <a:ext cx="1217652" cy="395558"/>
              </a:xfrm>
              <a:prstGeom prst="rect">
                <a:avLst/>
              </a:prstGeom>
              <a:blipFill rotWithShape="0">
                <a:blip r:embed="rId9"/>
                <a:stretch>
                  <a:fillRect r="-7317"/>
                </a:stretch>
              </a:blipFill>
            </p:spPr>
            <p:txBody>
              <a:bodyPr/>
              <a:lstStyle/>
              <a:p>
                <a:r>
                  <a:rPr lang="en-US">
                    <a:noFill/>
                  </a:rPr>
                  <a:t> </a:t>
                </a:r>
              </a:p>
            </p:txBody>
          </p:sp>
        </mc:Fallback>
      </mc:AlternateContent>
      <p:cxnSp>
        <p:nvCxnSpPr>
          <p:cNvPr id="166" name="Gerade Verbindung 19"/>
          <p:cNvCxnSpPr/>
          <p:nvPr/>
        </p:nvCxnSpPr>
        <p:spPr>
          <a:xfrm>
            <a:off x="7761852" y="2420888"/>
            <a:ext cx="0" cy="203914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7" name="Textfeld 37"/>
              <p:cNvSpPr txBox="1"/>
              <p:nvPr/>
            </p:nvSpPr>
            <p:spPr>
              <a:xfrm rot="5400000">
                <a:off x="7443451" y="3229721"/>
                <a:ext cx="1171154" cy="3999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5%</m:t>
                                </m:r>
                              </m:e>
                              <m:e>
                                <m:r>
                                  <a:rPr lang="de-DE" sz="1400" i="1">
                                    <a:latin typeface="Cambria Math" panose="02040503050406030204" pitchFamily="18" charset="0"/>
                                  </a:rPr>
                                  <m:t>100%</m:t>
                                </m:r>
                              </m:e>
                            </m:mr>
                            <m:mr>
                              <m:e>
                                <m:r>
                                  <a:rPr lang="de-DE" sz="1400" i="1">
                                    <a:latin typeface="Cambria Math" panose="02040503050406030204" pitchFamily="18" charset="0"/>
                                  </a:rPr>
                                  <m:t>64</m:t>
                                </m:r>
                              </m:e>
                              <m:e>
                                <m:r>
                                  <a:rPr lang="de-DE" sz="1400" i="1">
                                    <a:latin typeface="Cambria Math" panose="02040503050406030204" pitchFamily="18" charset="0"/>
                                  </a:rPr>
                                  <m:t>38</m:t>
                                </m:r>
                                <m:r>
                                  <a:rPr lang="de-DE" sz="1400" i="1">
                                    <a:latin typeface="Cambria Math" panose="02040503050406030204" pitchFamily="18" charset="0"/>
                                  </a:rPr>
                                  <m:t>𝑝𝑐𝑡</m:t>
                                </m:r>
                              </m:e>
                            </m:mr>
                          </m:m>
                        </m:e>
                      </m:d>
                    </m:oMath>
                  </m:oMathPara>
                </a14:m>
                <a:endParaRPr lang="en-US" sz="1400" dirty="0"/>
              </a:p>
            </p:txBody>
          </p:sp>
        </mc:Choice>
        <mc:Fallback xmlns="">
          <p:sp>
            <p:nvSpPr>
              <p:cNvPr id="167" name="Textfeld 37"/>
              <p:cNvSpPr txBox="1">
                <a:spLocks noRot="1" noChangeAspect="1" noMove="1" noResize="1" noEditPoints="1" noAdjustHandles="1" noChangeArrowheads="1" noChangeShapeType="1" noTextEdit="1"/>
              </p:cNvSpPr>
              <p:nvPr/>
            </p:nvSpPr>
            <p:spPr>
              <a:xfrm rot="5400000">
                <a:off x="7443451" y="3229721"/>
                <a:ext cx="1171154" cy="399918"/>
              </a:xfrm>
              <a:prstGeom prst="rect">
                <a:avLst/>
              </a:prstGeom>
              <a:blipFill rotWithShape="0">
                <a:blip r:embed="rId10"/>
                <a:stretch>
                  <a:fillRect l="-18182" r="-1515"/>
                </a:stretch>
              </a:blipFill>
            </p:spPr>
            <p:txBody>
              <a:bodyPr/>
              <a:lstStyle/>
              <a:p>
                <a:r>
                  <a:rPr lang="en-US">
                    <a:noFill/>
                  </a:rPr>
                  <a:t> </a:t>
                </a:r>
              </a:p>
            </p:txBody>
          </p:sp>
        </mc:Fallback>
      </mc:AlternateContent>
      <p:cxnSp>
        <p:nvCxnSpPr>
          <p:cNvPr id="168" name="Gerader Verbinder 57"/>
          <p:cNvCxnSpPr/>
          <p:nvPr/>
        </p:nvCxnSpPr>
        <p:spPr>
          <a:xfrm>
            <a:off x="8212614" y="2197007"/>
            <a:ext cx="726239" cy="535915"/>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69" name="Gerader Verbinder 58"/>
          <p:cNvCxnSpPr/>
          <p:nvPr/>
        </p:nvCxnSpPr>
        <p:spPr>
          <a:xfrm flipV="1">
            <a:off x="8257457" y="4255240"/>
            <a:ext cx="780994" cy="474982"/>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70" name="Rechteck 59"/>
          <p:cNvSpPr/>
          <p:nvPr/>
        </p:nvSpPr>
        <p:spPr>
          <a:xfrm rot="13241328">
            <a:off x="8397579" y="2377312"/>
            <a:ext cx="720080" cy="409690"/>
          </a:xfrm>
          <a:prstGeom prst="rect">
            <a:avLst/>
          </a:prstGeom>
          <a:gradFill flip="none" rotWithShape="1">
            <a:gsLst>
              <a:gs pos="15000">
                <a:schemeClr val="bg1">
                  <a:alpha val="30000"/>
                </a:schemeClr>
              </a:gs>
              <a:gs pos="72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echteck 60"/>
          <p:cNvSpPr/>
          <p:nvPr/>
        </p:nvSpPr>
        <p:spPr>
          <a:xfrm rot="8821144">
            <a:off x="8485079" y="41996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2" name="Gerader Verbinder 61"/>
          <p:cNvCxnSpPr/>
          <p:nvPr/>
        </p:nvCxnSpPr>
        <p:spPr>
          <a:xfrm flipH="1" flipV="1">
            <a:off x="367845" y="2051880"/>
            <a:ext cx="707798" cy="991308"/>
          </a:xfrm>
          <a:prstGeom prst="line">
            <a:avLst/>
          </a:prstGeom>
          <a:ln w="57150" cap="flat">
            <a:solidFill>
              <a:schemeClr val="tx1"/>
            </a:solidFill>
            <a:miter lim="800000"/>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3" name="Gerader Verbinder 62"/>
          <p:cNvCxnSpPr/>
          <p:nvPr/>
        </p:nvCxnSpPr>
        <p:spPr>
          <a:xfrm flipH="1" flipV="1">
            <a:off x="300630" y="2732922"/>
            <a:ext cx="630101" cy="441933"/>
          </a:xfrm>
          <a:prstGeom prst="line">
            <a:avLst/>
          </a:prstGeom>
          <a:ln w="5715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4" name="Gerader Verbinder 63"/>
          <p:cNvCxnSpPr/>
          <p:nvPr/>
        </p:nvCxnSpPr>
        <p:spPr>
          <a:xfrm flipH="1">
            <a:off x="255231" y="3461203"/>
            <a:ext cx="581203" cy="0"/>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5" name="Gerader Verbinder 64"/>
          <p:cNvCxnSpPr/>
          <p:nvPr/>
        </p:nvCxnSpPr>
        <p:spPr>
          <a:xfrm flipH="1">
            <a:off x="276798" y="3822200"/>
            <a:ext cx="709810" cy="575723"/>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6" name="Gerader Verbinder 65"/>
          <p:cNvCxnSpPr/>
          <p:nvPr/>
        </p:nvCxnSpPr>
        <p:spPr>
          <a:xfrm flipH="1">
            <a:off x="754595" y="3959000"/>
            <a:ext cx="428573" cy="803649"/>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77" name="Rechteck 66"/>
          <p:cNvSpPr/>
          <p:nvPr/>
        </p:nvSpPr>
        <p:spPr>
          <a:xfrm rot="3083365">
            <a:off x="178231" y="2133323"/>
            <a:ext cx="720080" cy="361777"/>
          </a:xfrm>
          <a:prstGeom prst="rect">
            <a:avLst/>
          </a:prstGeom>
          <a:gradFill flip="none" rotWithShape="1">
            <a:gsLst>
              <a:gs pos="23000">
                <a:schemeClr val="bg1">
                  <a:alpha val="29000"/>
                </a:schemeClr>
              </a:gs>
              <a:gs pos="65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Rechteck 67"/>
          <p:cNvSpPr/>
          <p:nvPr/>
        </p:nvSpPr>
        <p:spPr>
          <a:xfrm rot="1981952">
            <a:off x="172102" y="2985185"/>
            <a:ext cx="583475"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Rechteck 68"/>
          <p:cNvSpPr/>
          <p:nvPr/>
        </p:nvSpPr>
        <p:spPr>
          <a:xfrm>
            <a:off x="150144" y="3559546"/>
            <a:ext cx="659574"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hteck 69"/>
          <p:cNvSpPr/>
          <p:nvPr/>
        </p:nvSpPr>
        <p:spPr>
          <a:xfrm rot="19123042">
            <a:off x="173795" y="4380394"/>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Rechteck 70"/>
          <p:cNvSpPr/>
          <p:nvPr/>
        </p:nvSpPr>
        <p:spPr>
          <a:xfrm rot="17986155">
            <a:off x="517049" y="4286461"/>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Rechteck 67"/>
          <p:cNvSpPr/>
          <p:nvPr/>
        </p:nvSpPr>
        <p:spPr>
          <a:xfrm rot="1981952">
            <a:off x="174790" y="2661603"/>
            <a:ext cx="583475"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Rechteck 68"/>
          <p:cNvSpPr/>
          <p:nvPr/>
        </p:nvSpPr>
        <p:spPr>
          <a:xfrm>
            <a:off x="152832" y="3235964"/>
            <a:ext cx="659574"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echteck 69"/>
          <p:cNvSpPr/>
          <p:nvPr/>
        </p:nvSpPr>
        <p:spPr>
          <a:xfrm rot="19123042">
            <a:off x="176483" y="4056812"/>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TextBox 50"/>
          <p:cNvSpPr txBox="1"/>
          <p:nvPr/>
        </p:nvSpPr>
        <p:spPr>
          <a:xfrm>
            <a:off x="9157159" y="1238254"/>
            <a:ext cx="1443280" cy="307777"/>
          </a:xfrm>
          <a:prstGeom prst="rect">
            <a:avLst/>
          </a:prstGeom>
          <a:noFill/>
        </p:spPr>
        <p:txBody>
          <a:bodyPr wrap="none" rtlCol="0">
            <a:spAutoFit/>
          </a:bodyPr>
          <a:lstStyle/>
          <a:p>
            <a:r>
              <a:rPr lang="en-US" sz="1400" dirty="0">
                <a:solidFill>
                  <a:srgbClr val="00B0F0"/>
                </a:solidFill>
                <a:latin typeface="Calibri" panose="020F0502020204030204" pitchFamily="34" charset="0"/>
              </a:rPr>
              <a:t>quality attributes</a:t>
            </a:r>
          </a:p>
        </p:txBody>
      </p:sp>
      <p:sp>
        <p:nvSpPr>
          <p:cNvPr id="5" name="Textfeld 4"/>
          <p:cNvSpPr txBox="1"/>
          <p:nvPr/>
        </p:nvSpPr>
        <p:spPr>
          <a:xfrm>
            <a:off x="9157159" y="2678440"/>
            <a:ext cx="2952232" cy="1600438"/>
          </a:xfrm>
          <a:prstGeom prst="rect">
            <a:avLst/>
          </a:prstGeom>
          <a:noFill/>
        </p:spPr>
        <p:txBody>
          <a:bodyPr wrap="square" rtlCol="0">
            <a:spAutoFit/>
          </a:bodyPr>
          <a:lstStyle/>
          <a:p>
            <a:r>
              <a:rPr lang="en-US" sz="1400" dirty="0">
                <a:solidFill>
                  <a:srgbClr val="00B0F0"/>
                </a:solidFill>
              </a:rPr>
              <a:t>s</a:t>
            </a:r>
            <a:r>
              <a:rPr lang="en-US" sz="1400" dirty="0" smtClean="0">
                <a:solidFill>
                  <a:srgbClr val="00B0F0"/>
                </a:solidFill>
              </a:rPr>
              <a:t> = Score</a:t>
            </a:r>
          </a:p>
          <a:p>
            <a:r>
              <a:rPr lang="en-US" sz="1400" dirty="0" smtClean="0"/>
              <a:t>The score of a word is its associated weight divided by its frequency. The score of a </a:t>
            </a:r>
            <a:r>
              <a:rPr lang="en-US" sz="1400" dirty="0"/>
              <a:t>s</a:t>
            </a:r>
            <a:r>
              <a:rPr lang="en-US" sz="1400" dirty="0" smtClean="0"/>
              <a:t>earch term is the sum off all word scores.</a:t>
            </a:r>
          </a:p>
          <a:p>
            <a:r>
              <a:rPr lang="en-US" sz="1400" dirty="0" smtClean="0"/>
              <a:t>The minimum score of both involved search terms is used.</a:t>
            </a:r>
            <a:endParaRPr lang="en-US" sz="1400" dirty="0"/>
          </a:p>
        </p:txBody>
      </p:sp>
      <p:sp>
        <p:nvSpPr>
          <p:cNvPr id="192" name="Textfeld 191"/>
          <p:cNvSpPr txBox="1"/>
          <p:nvPr/>
        </p:nvSpPr>
        <p:spPr>
          <a:xfrm>
            <a:off x="9157159" y="2078810"/>
            <a:ext cx="2933715" cy="523220"/>
          </a:xfrm>
          <a:prstGeom prst="rect">
            <a:avLst/>
          </a:prstGeom>
          <a:noFill/>
        </p:spPr>
        <p:txBody>
          <a:bodyPr wrap="square" rtlCol="0">
            <a:spAutoFit/>
          </a:bodyPr>
          <a:lstStyle/>
          <a:p>
            <a:r>
              <a:rPr lang="en-US" sz="1400" dirty="0" smtClean="0">
                <a:solidFill>
                  <a:srgbClr val="00B0F0"/>
                </a:solidFill>
              </a:rPr>
              <a:t>min, max of the identities</a:t>
            </a:r>
          </a:p>
          <a:p>
            <a:r>
              <a:rPr lang="en-US" sz="1400" dirty="0"/>
              <a:t>o</a:t>
            </a:r>
            <a:r>
              <a:rPr lang="en-US" sz="1400" dirty="0" smtClean="0"/>
              <a:t>f both directions</a:t>
            </a:r>
            <a:endParaRPr lang="en-US" sz="1400" dirty="0"/>
          </a:p>
        </p:txBody>
      </p:sp>
    </p:spTree>
    <p:extLst>
      <p:ext uri="{BB962C8B-B14F-4D97-AF65-F5344CB8AC3E}">
        <p14:creationId xmlns:p14="http://schemas.microsoft.com/office/powerpoint/2010/main" val="1427650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1"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Grafik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75224" y="408709"/>
            <a:ext cx="5471735" cy="3650673"/>
          </a:xfrm>
          <a:prstGeom prst="rect">
            <a:avLst/>
          </a:prstGeom>
          <a:effectLst>
            <a:softEdge rad="127000"/>
          </a:effectLst>
        </p:spPr>
      </p:pic>
      <p:sp>
        <p:nvSpPr>
          <p:cNvPr id="62" name="Ellipse 61"/>
          <p:cNvSpPr/>
          <p:nvPr/>
        </p:nvSpPr>
        <p:spPr>
          <a:xfrm>
            <a:off x="6589680" y="3054080"/>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6" name="Gerader Verbinder 5"/>
          <p:cNvCxnSpPr/>
          <p:nvPr/>
        </p:nvCxnSpPr>
        <p:spPr>
          <a:xfrm>
            <a:off x="11484000" y="3247920"/>
            <a:ext cx="332509" cy="990"/>
          </a:xfrm>
          <a:prstGeom prst="line">
            <a:avLst/>
          </a:prstGeom>
          <a:ln w="419100" cap="rnd">
            <a:solidFill>
              <a:srgbClr val="00B0F0"/>
            </a:solidFill>
            <a:round/>
          </a:ln>
        </p:spPr>
        <p:style>
          <a:lnRef idx="1">
            <a:schemeClr val="accent1"/>
          </a:lnRef>
          <a:fillRef idx="0">
            <a:schemeClr val="accent1"/>
          </a:fillRef>
          <a:effectRef idx="0">
            <a:schemeClr val="accent1"/>
          </a:effectRef>
          <a:fontRef idx="minor">
            <a:schemeClr val="tx1"/>
          </a:fontRef>
        </p:style>
      </p:cxnSp>
      <p:cxnSp>
        <p:nvCxnSpPr>
          <p:cNvPr id="123" name="Gerader Verbinder 122"/>
          <p:cNvCxnSpPr/>
          <p:nvPr/>
        </p:nvCxnSpPr>
        <p:spPr>
          <a:xfrm>
            <a:off x="9116365" y="4781704"/>
            <a:ext cx="967408" cy="676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16" name="Gerader Verbinder 115"/>
          <p:cNvCxnSpPr/>
          <p:nvPr/>
        </p:nvCxnSpPr>
        <p:spPr>
          <a:xfrm>
            <a:off x="9259240" y="4414990"/>
            <a:ext cx="787920" cy="0"/>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sp>
        <p:nvSpPr>
          <p:cNvPr id="160" name="Ellipse 159"/>
          <p:cNvSpPr/>
          <p:nvPr/>
        </p:nvSpPr>
        <p:spPr>
          <a:xfrm>
            <a:off x="9863585" y="4196807"/>
            <a:ext cx="792000" cy="792000"/>
          </a:xfrm>
          <a:prstGeom prst="ellipse">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59" name="Ellipse 158"/>
          <p:cNvSpPr/>
          <p:nvPr/>
        </p:nvSpPr>
        <p:spPr>
          <a:xfrm>
            <a:off x="8462782" y="3998070"/>
            <a:ext cx="972000" cy="972000"/>
          </a:xfrm>
          <a:prstGeom prst="ellipse">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7" name="Ellipse 66"/>
          <p:cNvSpPr/>
          <p:nvPr/>
        </p:nvSpPr>
        <p:spPr>
          <a:xfrm>
            <a:off x="9332641" y="3054080"/>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mc:AlternateContent xmlns:mc="http://schemas.openxmlformats.org/markup-compatibility/2006" xmlns:a14="http://schemas.microsoft.com/office/drawing/2010/main">
        <mc:Choice Requires="a14">
          <p:sp>
            <p:nvSpPr>
              <p:cNvPr id="7" name="Textfeld 6"/>
              <p:cNvSpPr txBox="1"/>
              <p:nvPr/>
            </p:nvSpPr>
            <p:spPr>
              <a:xfrm>
                <a:off x="239313" y="3017340"/>
                <a:ext cx="11814452" cy="46166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3000" b="0" i="1" smtClean="0">
                          <a:latin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m:t>
                      </m:r>
                      <m:r>
                        <m:rPr>
                          <m:sty m:val="p"/>
                        </m:rPr>
                        <a:rPr lang="de-DE" sz="3000" b="0" i="0" smtClean="0">
                          <a:latin typeface="Cambria Math" panose="02040503050406030204" pitchFamily="18" charset="0"/>
                          <a:ea typeface="Cambria Math" panose="02040503050406030204" pitchFamily="18" charset="0"/>
                        </a:rPr>
                        <m:t>or</m:t>
                      </m:r>
                      <m:r>
                        <a:rPr lang="de-DE" sz="3000" b="0" i="1"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𝑝</m:t>
                      </m:r>
                      <m:r>
                        <a:rPr lang="de-DE" sz="3000" b="0" i="1" smtClean="0">
                          <a:latin typeface="Cambria Math" panose="02040503050406030204" pitchFamily="18" charset="0"/>
                          <a:ea typeface="Cambria Math" panose="02040503050406030204" pitchFamily="18" charset="0"/>
                        </a:rPr>
                        <m:t>≥70 </m:t>
                      </m:r>
                      <m:r>
                        <m:rPr>
                          <m:sty m:val="p"/>
                        </m:rPr>
                        <a:rPr lang="de-DE" sz="3000" b="0" i="0" smtClean="0">
                          <a:latin typeface="Cambria Math" panose="02040503050406030204" pitchFamily="18" charset="0"/>
                          <a:ea typeface="Cambria Math" panose="02040503050406030204" pitchFamily="18" charset="0"/>
                        </a:rPr>
                        <m:t>and</m:t>
                      </m:r>
                      <m:r>
                        <a:rPr lang="de-DE" sz="3000" b="0" i="1"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≥70 @ 0 </m:t>
                      </m:r>
                      <m:r>
                        <a:rPr lang="de-DE" sz="3000" b="0" i="0"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 21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 4</m:t>
                      </m:r>
                    </m:oMath>
                  </m:oMathPara>
                </a14:m>
                <a:endParaRPr lang="en-US" sz="3000" dirty="0"/>
              </a:p>
            </p:txBody>
          </p:sp>
        </mc:Choice>
        <mc:Fallback xmlns="">
          <p:sp>
            <p:nvSpPr>
              <p:cNvPr id="7" name="Textfeld 6"/>
              <p:cNvSpPr txBox="1">
                <a:spLocks noRot="1" noChangeAspect="1" noMove="1" noResize="1" noEditPoints="1" noAdjustHandles="1" noChangeArrowheads="1" noChangeShapeType="1" noTextEdit="1"/>
              </p:cNvSpPr>
              <p:nvPr/>
            </p:nvSpPr>
            <p:spPr>
              <a:xfrm>
                <a:off x="239313" y="3017340"/>
                <a:ext cx="11814452" cy="461665"/>
              </a:xfrm>
              <a:prstGeom prst="rect">
                <a:avLst/>
              </a:prstGeom>
              <a:blipFill rotWithShape="0">
                <a:blip r:embed="rId3"/>
                <a:stretch>
                  <a:fillRect/>
                </a:stretch>
              </a:blipFill>
            </p:spPr>
            <p:txBody>
              <a:bodyPr/>
              <a:lstStyle/>
              <a:p>
                <a:r>
                  <a:rPr lang="en-US">
                    <a:noFill/>
                  </a:rPr>
                  <a:t> </a:t>
                </a:r>
              </a:p>
            </p:txBody>
          </p:sp>
        </mc:Fallback>
      </mc:AlternateContent>
      <p:sp>
        <p:nvSpPr>
          <p:cNvPr id="2" name="Titel 1"/>
          <p:cNvSpPr>
            <a:spLocks noGrp="1"/>
          </p:cNvSpPr>
          <p:nvPr>
            <p:ph type="title"/>
          </p:nvPr>
        </p:nvSpPr>
        <p:spPr/>
        <p:txBody>
          <a:bodyPr/>
          <a:lstStyle/>
          <a:p>
            <a:r>
              <a:rPr lang="en-US" dirty="0" smtClean="0"/>
              <a:t>Nested Cascaded Traversal</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34</a:t>
            </a:fld>
            <a:endParaRPr lang="en-US" dirty="0"/>
          </a:p>
        </p:txBody>
      </p:sp>
      <p:grpSp>
        <p:nvGrpSpPr>
          <p:cNvPr id="22" name="Gruppieren 21"/>
          <p:cNvGrpSpPr/>
          <p:nvPr/>
        </p:nvGrpSpPr>
        <p:grpSpPr>
          <a:xfrm>
            <a:off x="332507" y="2985673"/>
            <a:ext cx="5612741" cy="2380336"/>
            <a:chOff x="332507" y="2570018"/>
            <a:chExt cx="5612741" cy="2380336"/>
          </a:xfrm>
        </p:grpSpPr>
        <p:grpSp>
          <p:nvGrpSpPr>
            <p:cNvPr id="25" name="Gruppieren 24"/>
            <p:cNvGrpSpPr/>
            <p:nvPr/>
          </p:nvGrpSpPr>
          <p:grpSpPr>
            <a:xfrm>
              <a:off x="332507" y="2570018"/>
              <a:ext cx="5612741" cy="1842654"/>
              <a:chOff x="228598" y="838200"/>
              <a:chExt cx="5612741" cy="1842654"/>
            </a:xfrm>
          </p:grpSpPr>
          <p:sp>
            <p:nvSpPr>
              <p:cNvPr id="14" name="Bogen 13"/>
              <p:cNvSpPr/>
              <p:nvPr/>
            </p:nvSpPr>
            <p:spPr>
              <a:xfrm rot="10800000">
                <a:off x="228598" y="838200"/>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6" name="Gerader Verbinder 15"/>
              <p:cNvCxnSpPr/>
              <p:nvPr/>
            </p:nvCxnSpPr>
            <p:spPr>
              <a:xfrm>
                <a:off x="685798" y="1752600"/>
                <a:ext cx="1226127" cy="6927"/>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17" name="Bogen 16"/>
              <p:cNvSpPr/>
              <p:nvPr/>
            </p:nvSpPr>
            <p:spPr>
              <a:xfrm>
                <a:off x="1454727" y="1759527"/>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8" name="Bogen 17"/>
              <p:cNvSpPr/>
              <p:nvPr/>
            </p:nvSpPr>
            <p:spPr>
              <a:xfrm rot="16200000">
                <a:off x="2369127" y="1766454"/>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9" name="Bogen 18"/>
              <p:cNvSpPr/>
              <p:nvPr/>
            </p:nvSpPr>
            <p:spPr>
              <a:xfrm rot="5400000">
                <a:off x="4926939" y="838200"/>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4" name="Gerader Verbinder 23"/>
              <p:cNvCxnSpPr>
                <a:endCxn id="19" idx="2"/>
              </p:cNvCxnSpPr>
              <p:nvPr/>
            </p:nvCxnSpPr>
            <p:spPr>
              <a:xfrm flipV="1">
                <a:off x="2826327" y="1752600"/>
                <a:ext cx="2557812" cy="13858"/>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6" name="Textfeld 25"/>
            <p:cNvSpPr txBox="1"/>
            <p:nvPr/>
          </p:nvSpPr>
          <p:spPr>
            <a:xfrm>
              <a:off x="505691" y="3934691"/>
              <a:ext cx="3934692" cy="1015663"/>
            </a:xfrm>
            <a:prstGeom prst="rect">
              <a:avLst/>
            </a:prstGeom>
            <a:noFill/>
          </p:spPr>
          <p:txBody>
            <a:bodyPr wrap="square" rtlCol="0">
              <a:spAutoFit/>
            </a:bodyPr>
            <a:lstStyle/>
            <a:p>
              <a:pPr algn="ctr"/>
              <a:r>
                <a:rPr lang="en-US" dirty="0" smtClean="0">
                  <a:solidFill>
                    <a:srgbClr val="00B0F0"/>
                  </a:solidFill>
                </a:rPr>
                <a:t>Rule</a:t>
              </a:r>
              <a:r>
                <a:rPr lang="en-US" dirty="0" smtClean="0"/>
                <a:t> </a:t>
              </a:r>
            </a:p>
            <a:p>
              <a:pPr algn="just"/>
              <a:r>
                <a:rPr lang="en-US" sz="1400" dirty="0" smtClean="0"/>
                <a:t>Imposes restrictions on the validity of connections based on the quality attributes. </a:t>
              </a:r>
              <a:r>
                <a:rPr lang="en-US" sz="1400" smtClean="0"/>
                <a:t>During traversal, </a:t>
              </a:r>
              <a:r>
                <a:rPr lang="en-US" sz="1400" dirty="0" smtClean="0"/>
                <a:t>these imply the boundaries of the resulting cluster.</a:t>
              </a:r>
              <a:endParaRPr lang="en-US" sz="1400" dirty="0"/>
            </a:p>
          </p:txBody>
        </p:sp>
      </p:grpSp>
      <p:grpSp>
        <p:nvGrpSpPr>
          <p:cNvPr id="28" name="Gruppieren 27"/>
          <p:cNvGrpSpPr/>
          <p:nvPr/>
        </p:nvGrpSpPr>
        <p:grpSpPr>
          <a:xfrm>
            <a:off x="4673856" y="2972043"/>
            <a:ext cx="3337082" cy="2179917"/>
            <a:chOff x="4673856" y="2556388"/>
            <a:chExt cx="3337082" cy="2179917"/>
          </a:xfrm>
        </p:grpSpPr>
        <p:sp>
          <p:nvSpPr>
            <p:cNvPr id="58" name="Ellipse 57"/>
            <p:cNvSpPr/>
            <p:nvPr/>
          </p:nvSpPr>
          <p:spPr>
            <a:xfrm>
              <a:off x="6007267" y="2638425"/>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9" name="Textfeld 38"/>
            <p:cNvSpPr txBox="1"/>
            <p:nvPr/>
          </p:nvSpPr>
          <p:spPr>
            <a:xfrm>
              <a:off x="4673856" y="3505199"/>
              <a:ext cx="3337082" cy="1231106"/>
            </a:xfrm>
            <a:prstGeom prst="rect">
              <a:avLst/>
            </a:prstGeom>
            <a:noFill/>
          </p:spPr>
          <p:txBody>
            <a:bodyPr wrap="square" rtlCol="0">
              <a:spAutoFit/>
            </a:bodyPr>
            <a:lstStyle/>
            <a:p>
              <a:pPr algn="ctr"/>
              <a:r>
                <a:rPr lang="en-US" dirty="0" smtClean="0">
                  <a:solidFill>
                    <a:srgbClr val="00B0F0"/>
                  </a:solidFill>
                </a:rPr>
                <a:t>Cluster Threshold</a:t>
              </a:r>
            </a:p>
            <a:p>
              <a:pPr algn="just"/>
              <a:r>
                <a:rPr lang="en-US" sz="1400" dirty="0" smtClean="0"/>
                <a:t>Forces the activation of the associated Rule when the intermediate cluster size attains the number. Resets the traversal to the starting node under the new regime.</a:t>
              </a:r>
              <a:endParaRPr lang="en-US" dirty="0"/>
            </a:p>
          </p:txBody>
        </p:sp>
        <p:sp>
          <p:nvSpPr>
            <p:cNvPr id="33" name="Bogen 32"/>
            <p:cNvSpPr/>
            <p:nvPr/>
          </p:nvSpPr>
          <p:spPr>
            <a:xfrm rot="10800000">
              <a:off x="6026723" y="2791689"/>
              <a:ext cx="248346" cy="46586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47" name="Gruppieren 46"/>
            <p:cNvGrpSpPr/>
            <p:nvPr/>
          </p:nvGrpSpPr>
          <p:grpSpPr>
            <a:xfrm>
              <a:off x="6109342" y="3256424"/>
              <a:ext cx="455350" cy="465028"/>
              <a:chOff x="6035040" y="3256424"/>
              <a:chExt cx="455350" cy="465028"/>
            </a:xfrm>
          </p:grpSpPr>
          <p:sp>
            <p:nvSpPr>
              <p:cNvPr id="40" name="Bogen 39"/>
              <p:cNvSpPr/>
              <p:nvPr/>
            </p:nvSpPr>
            <p:spPr>
              <a:xfrm flipH="1">
                <a:off x="6264593" y="3257377"/>
                <a:ext cx="225797" cy="464075"/>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Bogen 34"/>
              <p:cNvSpPr/>
              <p:nvPr/>
            </p:nvSpPr>
            <p:spPr>
              <a:xfrm>
                <a:off x="6035040" y="3256424"/>
                <a:ext cx="225797" cy="464075"/>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41" name="Bogen 40"/>
            <p:cNvSpPr/>
            <p:nvPr/>
          </p:nvSpPr>
          <p:spPr>
            <a:xfrm rot="10800000" flipH="1">
              <a:off x="6393445" y="2791689"/>
              <a:ext cx="248346" cy="46586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5" name="Gerader Verbinder 54"/>
            <p:cNvCxnSpPr>
              <a:stCxn id="33" idx="0"/>
              <a:endCxn id="35" idx="0"/>
            </p:cNvCxnSpPr>
            <p:nvPr/>
          </p:nvCxnSpPr>
          <p:spPr>
            <a:xfrm flipV="1">
              <a:off x="6150896" y="3256424"/>
              <a:ext cx="71344" cy="1125"/>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7" name="Gerader Verbinder 56"/>
            <p:cNvCxnSpPr>
              <a:stCxn id="40" idx="0"/>
              <a:endCxn id="41" idx="0"/>
            </p:cNvCxnSpPr>
            <p:nvPr/>
          </p:nvCxnSpPr>
          <p:spPr>
            <a:xfrm>
              <a:off x="6451794" y="3257377"/>
              <a:ext cx="65824" cy="172"/>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Rechteck 58"/>
                <p:cNvSpPr/>
                <p:nvPr/>
              </p:nvSpPr>
              <p:spPr>
                <a:xfrm>
                  <a:off x="5896357" y="2556388"/>
                  <a:ext cx="611065"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59" name="Rechteck 58"/>
                <p:cNvSpPr>
                  <a:spLocks noRot="1" noChangeAspect="1" noMove="1" noResize="1" noEditPoints="1" noAdjustHandles="1" noChangeArrowheads="1" noChangeShapeType="1" noTextEdit="1"/>
                </p:cNvSpPr>
                <p:nvPr/>
              </p:nvSpPr>
              <p:spPr>
                <a:xfrm>
                  <a:off x="5896357" y="2556388"/>
                  <a:ext cx="611065" cy="553998"/>
                </a:xfrm>
                <a:prstGeom prst="rect">
                  <a:avLst/>
                </a:prstGeom>
                <a:blipFill rotWithShape="0">
                  <a:blip r:embed="rId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3" name="Rechteck 62"/>
              <p:cNvSpPr/>
              <p:nvPr/>
            </p:nvSpPr>
            <p:spPr>
              <a:xfrm>
                <a:off x="6614377" y="2971809"/>
                <a:ext cx="349776"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b="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63" name="Rechteck 62"/>
              <p:cNvSpPr>
                <a:spLocks noRot="1" noChangeAspect="1" noMove="1" noResize="1" noEditPoints="1" noAdjustHandles="1" noChangeArrowheads="1" noChangeShapeType="1" noTextEdit="1"/>
              </p:cNvSpPr>
              <p:nvPr/>
            </p:nvSpPr>
            <p:spPr>
              <a:xfrm>
                <a:off x="6614377" y="2971809"/>
                <a:ext cx="349776" cy="553998"/>
              </a:xfrm>
              <a:prstGeom prst="rect">
                <a:avLst/>
              </a:prstGeom>
              <a:blipFill rotWithShape="0">
                <a:blip r:embed="rId5"/>
                <a:stretch>
                  <a:fillRect/>
                </a:stretch>
              </a:blipFill>
            </p:spPr>
            <p:txBody>
              <a:bodyPr/>
              <a:lstStyle/>
              <a:p>
                <a:r>
                  <a:rPr lang="en-US">
                    <a:noFill/>
                  </a:rPr>
                  <a:t> </a:t>
                </a:r>
              </a:p>
            </p:txBody>
          </p:sp>
        </mc:Fallback>
      </mc:AlternateContent>
      <p:sp>
        <p:nvSpPr>
          <p:cNvPr id="66" name="Textfeld 65"/>
          <p:cNvSpPr txBox="1"/>
          <p:nvPr/>
        </p:nvSpPr>
        <p:spPr>
          <a:xfrm>
            <a:off x="5349867" y="1306786"/>
            <a:ext cx="2792244" cy="1661993"/>
          </a:xfrm>
          <a:prstGeom prst="rect">
            <a:avLst/>
          </a:prstGeom>
          <a:noFill/>
        </p:spPr>
        <p:txBody>
          <a:bodyPr wrap="square" rtlCol="0">
            <a:spAutoFit/>
          </a:bodyPr>
          <a:lstStyle/>
          <a:p>
            <a:pPr algn="just"/>
            <a:r>
              <a:rPr lang="en-US" sz="1400" dirty="0" smtClean="0"/>
              <a:t>Separates cascaded Rules. Current rule is active unless the threshold of the subsequent rule is breached. Each new rule has to be more restrictive than the previous one to guarantee non-overlapping clusters.</a:t>
            </a:r>
          </a:p>
          <a:p>
            <a:pPr algn="ctr"/>
            <a:r>
              <a:rPr lang="en-US" dirty="0" smtClean="0">
                <a:solidFill>
                  <a:srgbClr val="00B0F0"/>
                </a:solidFill>
              </a:rPr>
              <a:t>Comma</a:t>
            </a:r>
            <a:endParaRPr lang="en-US" dirty="0">
              <a:solidFill>
                <a:srgbClr val="00B0F0"/>
              </a:solidFill>
            </a:endParaRPr>
          </a:p>
        </p:txBody>
      </p:sp>
      <mc:AlternateContent xmlns:mc="http://schemas.openxmlformats.org/markup-compatibility/2006" xmlns:a14="http://schemas.microsoft.com/office/drawing/2010/main">
        <mc:Choice Requires="a14">
          <p:sp>
            <p:nvSpPr>
              <p:cNvPr id="68" name="Rechteck 67"/>
              <p:cNvSpPr/>
              <p:nvPr/>
            </p:nvSpPr>
            <p:spPr>
              <a:xfrm>
                <a:off x="9352328" y="2971809"/>
                <a:ext cx="372218"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68" name="Rechteck 67"/>
              <p:cNvSpPr>
                <a:spLocks noRot="1" noChangeAspect="1" noMove="1" noResize="1" noEditPoints="1" noAdjustHandles="1" noChangeArrowheads="1" noChangeShapeType="1" noTextEdit="1"/>
              </p:cNvSpPr>
              <p:nvPr/>
            </p:nvSpPr>
            <p:spPr>
              <a:xfrm>
                <a:off x="9352328" y="2971809"/>
                <a:ext cx="372218" cy="553998"/>
              </a:xfrm>
              <a:prstGeom prst="rect">
                <a:avLst/>
              </a:prstGeom>
              <a:blipFill rotWithShape="0">
                <a:blip r:embed="rId6"/>
                <a:stretch>
                  <a:fillRect/>
                </a:stretch>
              </a:blipFill>
            </p:spPr>
            <p:txBody>
              <a:bodyPr/>
              <a:lstStyle/>
              <a:p>
                <a:r>
                  <a:rPr lang="en-US">
                    <a:noFill/>
                  </a:rPr>
                  <a:t> </a:t>
                </a:r>
              </a:p>
            </p:txBody>
          </p:sp>
        </mc:Fallback>
      </mc:AlternateContent>
      <p:sp>
        <p:nvSpPr>
          <p:cNvPr id="69" name="Textfeld 68"/>
          <p:cNvSpPr txBox="1"/>
          <p:nvPr/>
        </p:nvSpPr>
        <p:spPr>
          <a:xfrm>
            <a:off x="8372426" y="1522229"/>
            <a:ext cx="3668684" cy="1446550"/>
          </a:xfrm>
          <a:prstGeom prst="rect">
            <a:avLst/>
          </a:prstGeom>
          <a:noFill/>
        </p:spPr>
        <p:txBody>
          <a:bodyPr wrap="square" rtlCol="0">
            <a:spAutoFit/>
          </a:bodyPr>
          <a:lstStyle/>
          <a:p>
            <a:pPr algn="just"/>
            <a:r>
              <a:rPr lang="en-US" sz="1400" dirty="0" smtClean="0"/>
              <a:t>Separates cascades. Consolidates the clusters into hyper-nodes. The quality attributes of connections between encased nodes of different hyper-nodes are aggregated to the respective maximum forming a hyper-network. </a:t>
            </a:r>
          </a:p>
          <a:p>
            <a:pPr marL="540000" algn="just"/>
            <a:r>
              <a:rPr lang="en-US" dirty="0" smtClean="0">
                <a:solidFill>
                  <a:srgbClr val="00B0F0"/>
                </a:solidFill>
              </a:rPr>
              <a:t>Semicolon</a:t>
            </a:r>
            <a:endParaRPr lang="en-US" dirty="0">
              <a:solidFill>
                <a:srgbClr val="00B0F0"/>
              </a:solidFill>
            </a:endParaRPr>
          </a:p>
        </p:txBody>
      </p:sp>
      <p:grpSp>
        <p:nvGrpSpPr>
          <p:cNvPr id="132" name="Gruppieren 131"/>
          <p:cNvGrpSpPr/>
          <p:nvPr/>
        </p:nvGrpSpPr>
        <p:grpSpPr>
          <a:xfrm>
            <a:off x="8610246" y="4066217"/>
            <a:ext cx="677967" cy="791911"/>
            <a:chOff x="8994448" y="4349809"/>
            <a:chExt cx="677967" cy="791911"/>
          </a:xfrm>
        </p:grpSpPr>
        <p:cxnSp>
          <p:nvCxnSpPr>
            <p:cNvPr id="85" name="Gerader Verbinder 84"/>
            <p:cNvCxnSpPr>
              <a:stCxn id="71" idx="3"/>
              <a:endCxn id="72" idx="7"/>
            </p:cNvCxnSpPr>
            <p:nvPr/>
          </p:nvCxnSpPr>
          <p:spPr>
            <a:xfrm flipH="1">
              <a:off x="9474774" y="4764298"/>
              <a:ext cx="69580" cy="213788"/>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nvGrpSpPr>
            <p:cNvPr id="128" name="Gruppieren 127"/>
            <p:cNvGrpSpPr/>
            <p:nvPr/>
          </p:nvGrpSpPr>
          <p:grpSpPr>
            <a:xfrm>
              <a:off x="8994448" y="4349809"/>
              <a:ext cx="677967" cy="791911"/>
              <a:chOff x="8994448" y="4349809"/>
              <a:chExt cx="677967" cy="791911"/>
            </a:xfrm>
          </p:grpSpPr>
          <p:sp>
            <p:nvSpPr>
              <p:cNvPr id="70" name="Ellipse 69"/>
              <p:cNvSpPr/>
              <p:nvPr/>
            </p:nvSpPr>
            <p:spPr>
              <a:xfrm rot="1180825">
                <a:off x="9101271" y="434980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1" name="Ellipse 70"/>
              <p:cNvSpPr/>
              <p:nvPr/>
            </p:nvSpPr>
            <p:spPr>
              <a:xfrm rot="20694154">
                <a:off x="9501499" y="460475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2" name="Ellipse 71"/>
              <p:cNvSpPr/>
              <p:nvPr/>
            </p:nvSpPr>
            <p:spPr>
              <a:xfrm rot="20329465">
                <a:off x="9354796" y="4970804"/>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3" name="Ellipse 72"/>
              <p:cNvSpPr/>
              <p:nvPr/>
            </p:nvSpPr>
            <p:spPr>
              <a:xfrm rot="1843877">
                <a:off x="8994448" y="4738643"/>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75" name="Gerader Verbinder 74"/>
              <p:cNvCxnSpPr>
                <a:stCxn id="70" idx="4"/>
                <a:endCxn id="73" idx="0"/>
              </p:cNvCxnSpPr>
              <p:nvPr/>
            </p:nvCxnSpPr>
            <p:spPr>
              <a:xfrm flipH="1">
                <a:off x="9123576" y="4515733"/>
                <a:ext cx="34373" cy="23491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1" name="Gerader Verbinder 80"/>
              <p:cNvCxnSpPr>
                <a:stCxn id="73" idx="6"/>
                <a:endCxn id="72" idx="1"/>
              </p:cNvCxnSpPr>
              <p:nvPr/>
            </p:nvCxnSpPr>
            <p:spPr>
              <a:xfrm>
                <a:off x="9153363" y="4867771"/>
                <a:ext cx="208715" cy="15397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3" name="Gerader Verbinder 82"/>
              <p:cNvCxnSpPr>
                <a:stCxn id="70" idx="6"/>
                <a:endCxn id="71" idx="1"/>
              </p:cNvCxnSpPr>
              <p:nvPr/>
            </p:nvCxnSpPr>
            <p:spPr>
              <a:xfrm>
                <a:off x="9267195" y="4464047"/>
                <a:ext cx="245681" cy="18356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7" name="Gerader Verbinder 86"/>
              <p:cNvCxnSpPr>
                <a:stCxn id="70" idx="5"/>
                <a:endCxn id="72" idx="0"/>
              </p:cNvCxnSpPr>
              <p:nvPr/>
            </p:nvCxnSpPr>
            <p:spPr>
              <a:xfrm>
                <a:off x="9223277" y="4512516"/>
                <a:ext cx="186107" cy="464058"/>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grpSp>
      <p:grpSp>
        <p:nvGrpSpPr>
          <p:cNvPr id="129" name="Gruppieren 128"/>
          <p:cNvGrpSpPr/>
          <p:nvPr/>
        </p:nvGrpSpPr>
        <p:grpSpPr>
          <a:xfrm>
            <a:off x="10027641" y="4320588"/>
            <a:ext cx="590452" cy="542355"/>
            <a:chOff x="10411843" y="4604180"/>
            <a:chExt cx="590452" cy="542355"/>
          </a:xfrm>
        </p:grpSpPr>
        <p:sp>
          <p:nvSpPr>
            <p:cNvPr id="97" name="Ellipse 96"/>
            <p:cNvSpPr/>
            <p:nvPr/>
          </p:nvSpPr>
          <p:spPr>
            <a:xfrm rot="21239555">
              <a:off x="10411843" y="4604180"/>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8" name="Ellipse 97"/>
            <p:cNvSpPr/>
            <p:nvPr/>
          </p:nvSpPr>
          <p:spPr>
            <a:xfrm>
              <a:off x="10414741" y="497561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9" name="Ellipse 98"/>
            <p:cNvSpPr/>
            <p:nvPr/>
          </p:nvSpPr>
          <p:spPr>
            <a:xfrm rot="20694154">
              <a:off x="10831379" y="4801196"/>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101" name="Gerader Verbinder 100"/>
            <p:cNvCxnSpPr>
              <a:stCxn id="97" idx="4"/>
              <a:endCxn id="98" idx="0"/>
            </p:cNvCxnSpPr>
            <p:nvPr/>
          </p:nvCxnSpPr>
          <p:spPr>
            <a:xfrm flipH="1">
              <a:off x="10500199" y="4774627"/>
              <a:ext cx="6046" cy="200992"/>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03" name="Gerader Verbinder 102"/>
            <p:cNvCxnSpPr>
              <a:stCxn id="98" idx="7"/>
              <a:endCxn id="99" idx="2"/>
            </p:cNvCxnSpPr>
            <p:nvPr/>
          </p:nvCxnSpPr>
          <p:spPr>
            <a:xfrm flipV="1">
              <a:off x="10560627" y="4908912"/>
              <a:ext cx="273702" cy="9173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05" name="Gerader Verbinder 104"/>
            <p:cNvCxnSpPr>
              <a:stCxn id="97" idx="5"/>
              <a:endCxn id="99" idx="1"/>
            </p:cNvCxnSpPr>
            <p:nvPr/>
          </p:nvCxnSpPr>
          <p:spPr>
            <a:xfrm>
              <a:off x="10563721" y="4743410"/>
              <a:ext cx="279035" cy="10064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sp>
        <p:nvSpPr>
          <p:cNvPr id="130" name="Ellipse 129"/>
          <p:cNvSpPr/>
          <p:nvPr/>
        </p:nvSpPr>
        <p:spPr>
          <a:xfrm>
            <a:off x="8462142" y="3995045"/>
            <a:ext cx="972000" cy="972000"/>
          </a:xfrm>
          <a:prstGeom prst="ellipse">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1" name="Ellipse 130"/>
          <p:cNvSpPr/>
          <p:nvPr/>
        </p:nvSpPr>
        <p:spPr>
          <a:xfrm>
            <a:off x="9864698" y="4197920"/>
            <a:ext cx="792000" cy="792000"/>
          </a:xfrm>
          <a:prstGeom prst="ellipse">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63" name="Textfeld 162"/>
          <p:cNvSpPr txBox="1"/>
          <p:nvPr/>
        </p:nvSpPr>
        <p:spPr>
          <a:xfrm>
            <a:off x="8821270" y="3527689"/>
            <a:ext cx="1630446" cy="369332"/>
          </a:xfrm>
          <a:prstGeom prst="rect">
            <a:avLst/>
          </a:prstGeom>
          <a:noFill/>
        </p:spPr>
        <p:txBody>
          <a:bodyPr wrap="none" rtlCol="0">
            <a:spAutoFit/>
          </a:bodyPr>
          <a:lstStyle/>
          <a:p>
            <a:r>
              <a:rPr lang="en-US" dirty="0" smtClean="0">
                <a:solidFill>
                  <a:srgbClr val="00B0F0"/>
                </a:solidFill>
              </a:rPr>
              <a:t>Hyper-Network</a:t>
            </a:r>
            <a:endParaRPr lang="en-US" dirty="0">
              <a:solidFill>
                <a:srgbClr val="00B0F0"/>
              </a:solidFill>
            </a:endParaRPr>
          </a:p>
        </p:txBody>
      </p:sp>
      <mc:AlternateContent xmlns:mc="http://schemas.openxmlformats.org/markup-compatibility/2006" xmlns:a14="http://schemas.microsoft.com/office/drawing/2010/main">
        <mc:Choice Requires="a14">
          <p:sp>
            <p:nvSpPr>
              <p:cNvPr id="8" name="Rechteck 7"/>
              <p:cNvSpPr/>
              <p:nvPr/>
            </p:nvSpPr>
            <p:spPr>
              <a:xfrm>
                <a:off x="11184510" y="2971931"/>
                <a:ext cx="909223"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 4</m:t>
                      </m:r>
                    </m:oMath>
                  </m:oMathPara>
                </a14:m>
                <a:endParaRPr lang="en-US" sz="3000" dirty="0">
                  <a:solidFill>
                    <a:schemeClr val="bg1"/>
                  </a:solidFill>
                </a:endParaRPr>
              </a:p>
            </p:txBody>
          </p:sp>
        </mc:Choice>
        <mc:Fallback xmlns="">
          <p:sp>
            <p:nvSpPr>
              <p:cNvPr id="8" name="Rechteck 7"/>
              <p:cNvSpPr>
                <a:spLocks noRot="1" noChangeAspect="1" noMove="1" noResize="1" noEditPoints="1" noAdjustHandles="1" noChangeArrowheads="1" noChangeShapeType="1" noTextEdit="1"/>
              </p:cNvSpPr>
              <p:nvPr/>
            </p:nvSpPr>
            <p:spPr>
              <a:xfrm>
                <a:off x="11184510" y="2971931"/>
                <a:ext cx="909223" cy="553998"/>
              </a:xfrm>
              <a:prstGeom prst="rect">
                <a:avLst/>
              </a:prstGeom>
              <a:blipFill rotWithShape="0">
                <a:blip r:embed="rId7"/>
                <a:stretch>
                  <a:fillRect/>
                </a:stretch>
              </a:blipFill>
            </p:spPr>
            <p:txBody>
              <a:bodyPr/>
              <a:lstStyle/>
              <a:p>
                <a:r>
                  <a:rPr lang="en-US">
                    <a:noFill/>
                  </a:rPr>
                  <a:t> </a:t>
                </a:r>
              </a:p>
            </p:txBody>
          </p:sp>
        </mc:Fallback>
      </mc:AlternateContent>
      <p:cxnSp>
        <p:nvCxnSpPr>
          <p:cNvPr id="11" name="Gerade Verbindung mit Pfeil 10"/>
          <p:cNvCxnSpPr/>
          <p:nvPr/>
        </p:nvCxnSpPr>
        <p:spPr>
          <a:xfrm flipH="1">
            <a:off x="10624185" y="3487468"/>
            <a:ext cx="737235" cy="791527"/>
          </a:xfrm>
          <a:prstGeom prst="straightConnector1">
            <a:avLst/>
          </a:prstGeom>
          <a:ln w="25400" cap="rnd">
            <a:solidFill>
              <a:srgbClr val="00B0F0"/>
            </a:solidFill>
            <a:round/>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Textfeld 14"/>
          <p:cNvSpPr txBox="1"/>
          <p:nvPr/>
        </p:nvSpPr>
        <p:spPr>
          <a:xfrm>
            <a:off x="150247" y="507950"/>
            <a:ext cx="4641209" cy="2462213"/>
          </a:xfrm>
          <a:prstGeom prst="rect">
            <a:avLst/>
          </a:prstGeom>
          <a:noFill/>
        </p:spPr>
        <p:txBody>
          <a:bodyPr wrap="square" rtlCol="0">
            <a:spAutoFit/>
          </a:bodyPr>
          <a:lstStyle/>
          <a:p>
            <a:pPr algn="just">
              <a:buClr>
                <a:srgbClr val="00B0F0"/>
              </a:buClr>
            </a:pPr>
            <a:r>
              <a:rPr lang="en-US" sz="1400" dirty="0" smtClean="0"/>
              <a:t>It is like Spelunking!</a:t>
            </a:r>
          </a:p>
          <a:p>
            <a:pPr marL="216000" indent="-216000" algn="just">
              <a:buClr>
                <a:srgbClr val="00B0F0"/>
              </a:buClr>
              <a:buFont typeface="Wingdings" panose="05000000000000000000" pitchFamily="2" charset="2"/>
              <a:buChar char="§"/>
            </a:pPr>
            <a:r>
              <a:rPr lang="en-US" sz="1400" dirty="0" smtClean="0"/>
              <a:t>Choose an entrance to an unexplored cave (starting node).</a:t>
            </a:r>
          </a:p>
          <a:p>
            <a:pPr marL="216000" indent="-216000" algn="just">
              <a:buClr>
                <a:srgbClr val="00B0F0"/>
              </a:buClr>
              <a:buFont typeface="Wingdings" panose="05000000000000000000" pitchFamily="2" charset="2"/>
              <a:buChar char="§"/>
            </a:pPr>
            <a:r>
              <a:rPr lang="en-US" sz="1400" dirty="0" smtClean="0"/>
              <a:t>Shine with your flashlight into all tunnels (connections) </a:t>
            </a:r>
            <a:r>
              <a:rPr lang="en-US" sz="1400" smtClean="0"/>
              <a:t>branching out </a:t>
            </a:r>
            <a:r>
              <a:rPr lang="en-US" sz="1400" dirty="0" smtClean="0"/>
              <a:t>from the current room (node). Avoid all tunnels that appear too derelict according to safety guidelines (rules imposed on the quality attributes).</a:t>
            </a:r>
          </a:p>
          <a:p>
            <a:pPr marL="216000" indent="-216000" algn="just">
              <a:buClr>
                <a:srgbClr val="00B0F0"/>
              </a:buClr>
              <a:buFont typeface="Wingdings" panose="05000000000000000000" pitchFamily="2" charset="2"/>
              <a:buChar char="§"/>
            </a:pPr>
            <a:r>
              <a:rPr lang="en-US" sz="1400" dirty="0" smtClean="0"/>
              <a:t>Mark every passed room and tunnel to not run in circles or getting lost while backtracking from a dead end.</a:t>
            </a:r>
          </a:p>
          <a:p>
            <a:pPr marL="216000" indent="-216000" algn="just">
              <a:buClr>
                <a:srgbClr val="00B0F0"/>
              </a:buClr>
              <a:buFont typeface="Wingdings" panose="05000000000000000000" pitchFamily="2" charset="2"/>
              <a:buChar char="§"/>
            </a:pPr>
            <a:r>
              <a:rPr lang="en-US" sz="1400" dirty="0" smtClean="0"/>
              <a:t>If you have explored too many rooms, your expedition is abandoned and a new one with stricter guidelines enters the cave entrance.</a:t>
            </a:r>
          </a:p>
        </p:txBody>
      </p:sp>
      <p:sp>
        <p:nvSpPr>
          <p:cNvPr id="20" name="Textfeld 19"/>
          <p:cNvSpPr txBox="1"/>
          <p:nvPr/>
        </p:nvSpPr>
        <p:spPr>
          <a:xfrm>
            <a:off x="8546472" y="5168724"/>
            <a:ext cx="3395049" cy="954107"/>
          </a:xfrm>
          <a:prstGeom prst="rect">
            <a:avLst/>
          </a:prstGeom>
          <a:noFill/>
        </p:spPr>
        <p:txBody>
          <a:bodyPr wrap="square" rtlCol="0">
            <a:spAutoFit/>
          </a:bodyPr>
          <a:lstStyle/>
          <a:p>
            <a:r>
              <a:rPr lang="en-US" sz="1400" dirty="0" smtClean="0"/>
              <a:t>The threshold refers to hyper-nodes. In this example, three unobserved transitions between hyper-nodes are condoned until the Rule kicks in to enforce transitivity. </a:t>
            </a:r>
            <a:endParaRPr lang="en-US" sz="1400" dirty="0"/>
          </a:p>
        </p:txBody>
      </p:sp>
      <p:sp>
        <p:nvSpPr>
          <p:cNvPr id="21" name="Textfeld 20"/>
          <p:cNvSpPr txBox="1"/>
          <p:nvPr/>
        </p:nvSpPr>
        <p:spPr>
          <a:xfrm>
            <a:off x="239313" y="5449381"/>
            <a:ext cx="7668285" cy="738664"/>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smtClean="0"/>
              <a:t>First cascade establishes transitive clusters of high coherence</a:t>
            </a:r>
          </a:p>
          <a:p>
            <a:pPr marL="216000" indent="-216000">
              <a:buClr>
                <a:srgbClr val="00B0F0"/>
              </a:buClr>
              <a:buFont typeface="Wingdings" panose="05000000000000000000" pitchFamily="2" charset="2"/>
              <a:buChar char="§"/>
            </a:pPr>
            <a:r>
              <a:rPr lang="en-US" sz="1400" dirty="0" smtClean="0"/>
              <a:t>Optional second cascade for audaciously intransitive transitions exploiting the tendency of thickets being less contained than plausible clusters (most of the time)</a:t>
            </a:r>
          </a:p>
        </p:txBody>
      </p:sp>
    </p:spTree>
    <p:extLst>
      <p:ext uri="{BB962C8B-B14F-4D97-AF65-F5344CB8AC3E}">
        <p14:creationId xmlns:p14="http://schemas.microsoft.com/office/powerpoint/2010/main" val="2806722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6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2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31" presetClass="entr" presetSubtype="0" fill="hold" grpId="0" nodeType="clickEffect">
                                  <p:stCondLst>
                                    <p:cond delay="0"/>
                                  </p:stCondLst>
                                  <p:childTnLst>
                                    <p:set>
                                      <p:cBhvr>
                                        <p:cTn id="48" dur="1" fill="hold">
                                          <p:stCondLst>
                                            <p:cond delay="0"/>
                                          </p:stCondLst>
                                        </p:cTn>
                                        <p:tgtEl>
                                          <p:spTgt spid="131"/>
                                        </p:tgtEl>
                                        <p:attrNameLst>
                                          <p:attrName>style.visibility</p:attrName>
                                        </p:attrNameLst>
                                      </p:cBhvr>
                                      <p:to>
                                        <p:strVal val="visible"/>
                                      </p:to>
                                    </p:set>
                                    <p:anim calcmode="lin" valueType="num">
                                      <p:cBhvr>
                                        <p:cTn id="49" dur="1000" fill="hold"/>
                                        <p:tgtEl>
                                          <p:spTgt spid="131"/>
                                        </p:tgtEl>
                                        <p:attrNameLst>
                                          <p:attrName>ppt_w</p:attrName>
                                        </p:attrNameLst>
                                      </p:cBhvr>
                                      <p:tavLst>
                                        <p:tav tm="0">
                                          <p:val>
                                            <p:fltVal val="0"/>
                                          </p:val>
                                        </p:tav>
                                        <p:tav tm="100000">
                                          <p:val>
                                            <p:strVal val="#ppt_w"/>
                                          </p:val>
                                        </p:tav>
                                      </p:tavLst>
                                    </p:anim>
                                    <p:anim calcmode="lin" valueType="num">
                                      <p:cBhvr>
                                        <p:cTn id="50" dur="1000" fill="hold"/>
                                        <p:tgtEl>
                                          <p:spTgt spid="131"/>
                                        </p:tgtEl>
                                        <p:attrNameLst>
                                          <p:attrName>ppt_h</p:attrName>
                                        </p:attrNameLst>
                                      </p:cBhvr>
                                      <p:tavLst>
                                        <p:tav tm="0">
                                          <p:val>
                                            <p:fltVal val="0"/>
                                          </p:val>
                                        </p:tav>
                                        <p:tav tm="100000">
                                          <p:val>
                                            <p:strVal val="#ppt_h"/>
                                          </p:val>
                                        </p:tav>
                                      </p:tavLst>
                                    </p:anim>
                                    <p:anim calcmode="lin" valueType="num">
                                      <p:cBhvr>
                                        <p:cTn id="51" dur="1000" fill="hold"/>
                                        <p:tgtEl>
                                          <p:spTgt spid="131"/>
                                        </p:tgtEl>
                                        <p:attrNameLst>
                                          <p:attrName>style.rotation</p:attrName>
                                        </p:attrNameLst>
                                      </p:cBhvr>
                                      <p:tavLst>
                                        <p:tav tm="0">
                                          <p:val>
                                            <p:fltVal val="90"/>
                                          </p:val>
                                        </p:tav>
                                        <p:tav tm="100000">
                                          <p:val>
                                            <p:fltVal val="0"/>
                                          </p:val>
                                        </p:tav>
                                      </p:tavLst>
                                    </p:anim>
                                    <p:animEffect transition="in" filter="fade">
                                      <p:cBhvr>
                                        <p:cTn id="52" dur="1000"/>
                                        <p:tgtEl>
                                          <p:spTgt spid="131"/>
                                        </p:tgtEl>
                                      </p:cBhvr>
                                    </p:animEffect>
                                  </p:childTnLst>
                                </p:cTn>
                              </p:par>
                              <p:par>
                                <p:cTn id="53" presetID="31" presetClass="entr" presetSubtype="0" fill="hold" grpId="0"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1000" fill="hold"/>
                                        <p:tgtEl>
                                          <p:spTgt spid="130"/>
                                        </p:tgtEl>
                                        <p:attrNameLst>
                                          <p:attrName>ppt_w</p:attrName>
                                        </p:attrNameLst>
                                      </p:cBhvr>
                                      <p:tavLst>
                                        <p:tav tm="0">
                                          <p:val>
                                            <p:fltVal val="0"/>
                                          </p:val>
                                        </p:tav>
                                        <p:tav tm="100000">
                                          <p:val>
                                            <p:strVal val="#ppt_w"/>
                                          </p:val>
                                        </p:tav>
                                      </p:tavLst>
                                    </p:anim>
                                    <p:anim calcmode="lin" valueType="num">
                                      <p:cBhvr>
                                        <p:cTn id="56" dur="1000" fill="hold"/>
                                        <p:tgtEl>
                                          <p:spTgt spid="130"/>
                                        </p:tgtEl>
                                        <p:attrNameLst>
                                          <p:attrName>ppt_h</p:attrName>
                                        </p:attrNameLst>
                                      </p:cBhvr>
                                      <p:tavLst>
                                        <p:tav tm="0">
                                          <p:val>
                                            <p:fltVal val="0"/>
                                          </p:val>
                                        </p:tav>
                                        <p:tav tm="100000">
                                          <p:val>
                                            <p:strVal val="#ppt_h"/>
                                          </p:val>
                                        </p:tav>
                                      </p:tavLst>
                                    </p:anim>
                                    <p:anim calcmode="lin" valueType="num">
                                      <p:cBhvr>
                                        <p:cTn id="57" dur="1000" fill="hold"/>
                                        <p:tgtEl>
                                          <p:spTgt spid="130"/>
                                        </p:tgtEl>
                                        <p:attrNameLst>
                                          <p:attrName>style.rotation</p:attrName>
                                        </p:attrNameLst>
                                      </p:cBhvr>
                                      <p:tavLst>
                                        <p:tav tm="0">
                                          <p:val>
                                            <p:fltVal val="90"/>
                                          </p:val>
                                        </p:tav>
                                        <p:tav tm="100000">
                                          <p:val>
                                            <p:fltVal val="0"/>
                                          </p:val>
                                        </p:tav>
                                      </p:tavLst>
                                    </p:anim>
                                    <p:animEffect transition="in" filter="fade">
                                      <p:cBhvr>
                                        <p:cTn id="58" dur="1000"/>
                                        <p:tgtEl>
                                          <p:spTgt spid="130"/>
                                        </p:tgtEl>
                                      </p:cBhvr>
                                    </p:animEffect>
                                  </p:childTnLst>
                                </p:cTn>
                              </p:par>
                              <p:par>
                                <p:cTn id="59" presetID="7" presetClass="emph" presetSubtype="2" fill="hold" nodeType="withEffect">
                                  <p:stCondLst>
                                    <p:cond delay="0"/>
                                  </p:stCondLst>
                                  <p:childTnLst>
                                    <p:animClr clrSpc="rgb" dir="cw">
                                      <p:cBhvr>
                                        <p:cTn id="60" dur="1000" fill="hold"/>
                                        <p:tgtEl>
                                          <p:spTgt spid="116"/>
                                        </p:tgtEl>
                                        <p:attrNameLst>
                                          <p:attrName>stroke.color</p:attrName>
                                        </p:attrNameLst>
                                      </p:cBhvr>
                                      <p:to>
                                        <a:srgbClr val="00B0F0"/>
                                      </p:to>
                                    </p:animClr>
                                    <p:set>
                                      <p:cBhvr>
                                        <p:cTn id="61" dur="1000" fill="hold"/>
                                        <p:tgtEl>
                                          <p:spTgt spid="116"/>
                                        </p:tgtEl>
                                        <p:attrNameLst>
                                          <p:attrName>stroke.on</p:attrName>
                                        </p:attrNameLst>
                                      </p:cBhvr>
                                      <p:to>
                                        <p:strVal val="true"/>
                                      </p:to>
                                    </p:set>
                                  </p:childTnLst>
                                </p:cTn>
                              </p:par>
                              <p:par>
                                <p:cTn id="62" presetID="7" presetClass="emph" presetSubtype="2" fill="hold" nodeType="withEffect">
                                  <p:stCondLst>
                                    <p:cond delay="0"/>
                                  </p:stCondLst>
                                  <p:childTnLst>
                                    <p:animClr clrSpc="rgb" dir="cw">
                                      <p:cBhvr>
                                        <p:cTn id="63" dur="1000" fill="hold"/>
                                        <p:tgtEl>
                                          <p:spTgt spid="123"/>
                                        </p:tgtEl>
                                        <p:attrNameLst>
                                          <p:attrName>stroke.color</p:attrName>
                                        </p:attrNameLst>
                                      </p:cBhvr>
                                      <p:to>
                                        <a:srgbClr val="00B0F0"/>
                                      </p:to>
                                    </p:animClr>
                                    <p:set>
                                      <p:cBhvr>
                                        <p:cTn id="64" dur="1000" fill="hold"/>
                                        <p:tgtEl>
                                          <p:spTgt spid="123"/>
                                        </p:tgtEl>
                                        <p:attrNameLst>
                                          <p:attrName>stroke.on</p:attrName>
                                        </p:attrNameLst>
                                      </p:cBhvr>
                                      <p:to>
                                        <p:strVal val="true"/>
                                      </p:to>
                                    </p:set>
                                  </p:childTnLst>
                                </p:cTn>
                              </p:par>
                            </p:childTnLst>
                          </p:cTn>
                        </p:par>
                      </p:childTnLst>
                    </p:cTn>
                  </p:par>
                  <p:par>
                    <p:cTn id="65" fill="hold">
                      <p:stCondLst>
                        <p:cond delay="indefinite"/>
                      </p:stCondLst>
                      <p:childTnLst>
                        <p:par>
                          <p:cTn id="66" fill="hold">
                            <p:stCondLst>
                              <p:cond delay="0"/>
                            </p:stCondLst>
                            <p:childTnLst>
                              <p:par>
                                <p:cTn id="67" presetID="42" presetClass="path" presetSubtype="0" accel="50000" decel="50000" fill="hold" nodeType="clickEffect">
                                  <p:stCondLst>
                                    <p:cond delay="0"/>
                                  </p:stCondLst>
                                  <p:childTnLst>
                                    <p:animMotion origin="layout" path="M 3.125E-6 -1.85185E-6 L -0.00157 0.0257 " pathEditMode="relative" rAng="0" ptsTypes="AA">
                                      <p:cBhvr>
                                        <p:cTn id="68" dur="2000" fill="hold"/>
                                        <p:tgtEl>
                                          <p:spTgt spid="116"/>
                                        </p:tgtEl>
                                        <p:attrNameLst>
                                          <p:attrName>ppt_x</p:attrName>
                                          <p:attrName>ppt_y</p:attrName>
                                        </p:attrNameLst>
                                      </p:cBhvr>
                                      <p:rCtr x="-78" y="1273"/>
                                    </p:animMotion>
                                  </p:childTnLst>
                                </p:cTn>
                              </p:par>
                              <p:par>
                                <p:cTn id="69" presetID="42" presetClass="path" presetSubtype="0" accel="50000" decel="50000" fill="hold" nodeType="withEffect">
                                  <p:stCondLst>
                                    <p:cond delay="0"/>
                                  </p:stCondLst>
                                  <p:childTnLst>
                                    <p:animMotion origin="layout" path="M -0.00026 -0.00047 L 0.00312 -0.02685 " pathEditMode="relative" rAng="0" ptsTypes="AA">
                                      <p:cBhvr>
                                        <p:cTn id="70" dur="2000" fill="hold"/>
                                        <p:tgtEl>
                                          <p:spTgt spid="123"/>
                                        </p:tgtEl>
                                        <p:attrNameLst>
                                          <p:attrName>ppt_x</p:attrName>
                                          <p:attrName>ppt_y</p:attrName>
                                        </p:attrNameLst>
                                      </p:cBhvr>
                                      <p:rCtr x="169" y="-1319"/>
                                    </p:animMotion>
                                  </p:childTnLst>
                                </p:cTn>
                              </p:par>
                              <p:par>
                                <p:cTn id="71" presetID="1" presetClass="entr" presetSubtype="0" fill="hold" grpId="0" nodeType="withEffect">
                                  <p:stCondLst>
                                    <p:cond delay="0"/>
                                  </p:stCondLst>
                                  <p:childTnLst>
                                    <p:set>
                                      <p:cBhvr>
                                        <p:cTn id="72" dur="1" fill="hold">
                                          <p:stCondLst>
                                            <p:cond delay="0"/>
                                          </p:stCondLst>
                                        </p:cTn>
                                        <p:tgtEl>
                                          <p:spTgt spid="15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6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8"/>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6"/>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0"/>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60" grpId="0" animBg="1"/>
      <p:bldP spid="159" grpId="0" animBg="1"/>
      <p:bldP spid="67" grpId="0" animBg="1"/>
      <p:bldP spid="7" grpId="0"/>
      <p:bldP spid="63" grpId="0"/>
      <p:bldP spid="66" grpId="0"/>
      <p:bldP spid="68" grpId="0"/>
      <p:bldP spid="69" grpId="0"/>
      <p:bldP spid="130" grpId="0" animBg="1"/>
      <p:bldP spid="131" grpId="0" animBg="1"/>
      <p:bldP spid="163" grpId="0"/>
      <p:bldP spid="8" grpId="0"/>
      <p:bldP spid="20" grpId="0"/>
      <p:bldP spid="21"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uppieren 3"/>
          <p:cNvGrpSpPr/>
          <p:nvPr/>
        </p:nvGrpSpPr>
        <p:grpSpPr>
          <a:xfrm>
            <a:off x="1086592" y="2726576"/>
            <a:ext cx="7133904" cy="1370858"/>
            <a:chOff x="1086592" y="2726576"/>
            <a:chExt cx="7133904" cy="1370858"/>
          </a:xfrm>
        </p:grpSpPr>
        <p:sp>
          <p:nvSpPr>
            <p:cNvPr id="13" name="Rechteck 12"/>
            <p:cNvSpPr/>
            <p:nvPr/>
          </p:nvSpPr>
          <p:spPr>
            <a:xfrm>
              <a:off x="1089363" y="3875761"/>
              <a:ext cx="7131133" cy="221673"/>
            </a:xfrm>
            <a:prstGeom prst="rect">
              <a:avLst/>
            </a:prstGeom>
            <a:gradFill flip="none" rotWithShape="1">
              <a:gsLst>
                <a:gs pos="0">
                  <a:schemeClr val="bg1"/>
                </a:gs>
                <a:gs pos="100000">
                  <a:schemeClr val="accent6">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Rechteck 11"/>
            <p:cNvSpPr/>
            <p:nvPr/>
          </p:nvSpPr>
          <p:spPr>
            <a:xfrm>
              <a:off x="1089363" y="3505993"/>
              <a:ext cx="7131133" cy="376051"/>
            </a:xfrm>
            <a:prstGeom prst="rect">
              <a:avLst/>
            </a:prstGeom>
            <a:gradFill flip="none" rotWithShape="1">
              <a:gsLst>
                <a:gs pos="0">
                  <a:schemeClr val="accent1">
                    <a:lumMod val="5000"/>
                    <a:lumOff val="95000"/>
                  </a:schemeClr>
                </a:gs>
                <a:gs pos="100000">
                  <a:schemeClr val="accent2">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Rechteck 10"/>
            <p:cNvSpPr/>
            <p:nvPr/>
          </p:nvSpPr>
          <p:spPr>
            <a:xfrm>
              <a:off x="1086592" y="2726576"/>
              <a:ext cx="7131133" cy="781395"/>
            </a:xfrm>
            <a:prstGeom prst="rect">
              <a:avLst/>
            </a:prstGeom>
            <a:gradFill flip="none" rotWithShape="1">
              <a:gsLst>
                <a:gs pos="0">
                  <a:schemeClr val="accent1">
                    <a:lumMod val="5000"/>
                    <a:lumOff val="95000"/>
                  </a:schemeClr>
                </a:gs>
                <a:gs pos="100000">
                  <a:schemeClr val="accent1">
                    <a:lumMod val="30000"/>
                    <a:lumOff val="7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8" name="Gruppieren 7"/>
          <p:cNvGrpSpPr/>
          <p:nvPr/>
        </p:nvGrpSpPr>
        <p:grpSpPr>
          <a:xfrm>
            <a:off x="1086592" y="1005840"/>
            <a:ext cx="7131133" cy="1363287"/>
            <a:chOff x="1086592" y="1005840"/>
            <a:chExt cx="7131133" cy="1363287"/>
          </a:xfrm>
        </p:grpSpPr>
        <p:sp>
          <p:nvSpPr>
            <p:cNvPr id="7" name="Rechteck 6"/>
            <p:cNvSpPr/>
            <p:nvPr/>
          </p:nvSpPr>
          <p:spPr>
            <a:xfrm>
              <a:off x="1086592" y="1005840"/>
              <a:ext cx="7131133" cy="574766"/>
            </a:xfrm>
            <a:prstGeom prst="rect">
              <a:avLst/>
            </a:prstGeom>
            <a:gradFill flip="none" rotWithShape="1">
              <a:gsLst>
                <a:gs pos="0">
                  <a:schemeClr val="accent1">
                    <a:lumMod val="5000"/>
                    <a:lumOff val="95000"/>
                  </a:schemeClr>
                </a:gs>
                <a:gs pos="100000">
                  <a:schemeClr val="accent1">
                    <a:lumMod val="30000"/>
                    <a:lumOff val="7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Rechteck 8"/>
            <p:cNvSpPr/>
            <p:nvPr/>
          </p:nvSpPr>
          <p:spPr>
            <a:xfrm>
              <a:off x="1086592" y="1582982"/>
              <a:ext cx="7131133" cy="570013"/>
            </a:xfrm>
            <a:prstGeom prst="rect">
              <a:avLst/>
            </a:prstGeom>
            <a:gradFill flip="none" rotWithShape="1">
              <a:gsLst>
                <a:gs pos="0">
                  <a:schemeClr val="accent1">
                    <a:lumMod val="5000"/>
                    <a:lumOff val="95000"/>
                  </a:schemeClr>
                </a:gs>
                <a:gs pos="100000">
                  <a:schemeClr val="accent2">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Rechteck 9"/>
            <p:cNvSpPr/>
            <p:nvPr/>
          </p:nvSpPr>
          <p:spPr>
            <a:xfrm>
              <a:off x="1086592" y="2144684"/>
              <a:ext cx="7131133" cy="224443"/>
            </a:xfrm>
            <a:prstGeom prst="rect">
              <a:avLst/>
            </a:prstGeom>
            <a:gradFill flip="none" rotWithShape="1">
              <a:gsLst>
                <a:gs pos="0">
                  <a:schemeClr val="bg1"/>
                </a:gs>
                <a:gs pos="100000">
                  <a:schemeClr val="accent6">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Titel 1"/>
          <p:cNvSpPr>
            <a:spLocks noGrp="1"/>
          </p:cNvSpPr>
          <p:nvPr>
            <p:ph type="title"/>
          </p:nvPr>
        </p:nvSpPr>
        <p:spPr/>
        <p:txBody>
          <a:bodyPr/>
          <a:lstStyle/>
          <a:p>
            <a:r>
              <a:rPr lang="en-US" dirty="0" smtClean="0"/>
              <a:t>Clustering German EPO Applicants by Name</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35</a:t>
            </a:fld>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3233381969"/>
              </p:ext>
            </p:extLst>
          </p:nvPr>
        </p:nvGraphicFramePr>
        <p:xfrm>
          <a:off x="251009" y="799460"/>
          <a:ext cx="8008313" cy="1524000"/>
        </p:xfrm>
        <a:graphic>
          <a:graphicData uri="http://schemas.openxmlformats.org/drawingml/2006/table">
            <a:tbl>
              <a:tblPr/>
              <a:tblGrid>
                <a:gridCol w="792000"/>
                <a:gridCol w="792000"/>
                <a:gridCol w="6424313"/>
              </a:tblGrid>
              <a:tr h="190500">
                <a:tc>
                  <a:txBody>
                    <a:bodyPr/>
                    <a:lstStyle/>
                    <a:p>
                      <a:pPr algn="ctr" fontAlgn="b"/>
                      <a:r>
                        <a:rPr lang="de-DE" sz="1100" b="0" i="0" u="none" strike="noStrike" dirty="0" smtClean="0">
                          <a:solidFill>
                            <a:srgbClr val="000000"/>
                          </a:solidFill>
                          <a:effectLst/>
                          <a:latin typeface="Calibri" panose="020F0502020204030204" pitchFamily="34" charset="0"/>
                        </a:rPr>
                        <a:t>2.</a:t>
                      </a:r>
                      <a:r>
                        <a:rPr lang="de-DE" sz="1100" b="0" i="0" u="none" strike="noStrike" baseline="0" dirty="0" smtClean="0">
                          <a:solidFill>
                            <a:srgbClr val="000000"/>
                          </a:solidFill>
                          <a:effectLst/>
                          <a:latin typeface="Calibri" panose="020F0502020204030204" pitchFamily="34" charset="0"/>
                        </a:rPr>
                        <a:t> </a:t>
                      </a:r>
                      <a:r>
                        <a:rPr lang="de-DE" sz="1100" b="0" i="0" u="none" strike="noStrike" baseline="0"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smtClean="0">
                          <a:solidFill>
                            <a:srgbClr val="000000"/>
                          </a:solidFill>
                          <a:effectLst/>
                          <a:latin typeface="Calibri" panose="020F0502020204030204" pitchFamily="34" charset="0"/>
                        </a:rPr>
                        <a:t>1.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HANS KNOELL INSTITUT FUER NATURSTOFF FORSCHUNG</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HANS KNOELL INSTITUT FUER NATURSTOFF FORSCHUNG E V</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HANS KNOELL INSTITUT LEIBNIZ INSTITUT FUER NATURSTOFF FORSCHUNG</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 E V HANS KNOELL INSTITUT</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LEIBNIZ INSTITUT FUER NATURSTOFF FORSCHUNG UND INFEKTIONSBIOLOGIE E V HANS KNOELL INSTITUT HKI</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 HANS KNOELL INSTITUT</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25876</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a:t>
                      </a:r>
                    </a:p>
                  </a:txBody>
                  <a:tcPr marL="9525" marR="9525" marT="9525" marB="0" anchor="b">
                    <a:lnL>
                      <a:noFill/>
                    </a:lnL>
                    <a:lnR>
                      <a:noFill/>
                    </a:lnR>
                    <a:lnT>
                      <a:noFill/>
                    </a:lnT>
                    <a:lnB>
                      <a:noFill/>
                    </a:lnB>
                  </a:tcPr>
                </a:tc>
              </a:tr>
            </a:tbl>
          </a:graphicData>
        </a:graphic>
      </p:graphicFrame>
      <p:graphicFrame>
        <p:nvGraphicFramePr>
          <p:cNvPr id="6" name="Tabelle 5"/>
          <p:cNvGraphicFramePr>
            <a:graphicFrameLocks noGrp="1"/>
          </p:cNvGraphicFramePr>
          <p:nvPr>
            <p:extLst>
              <p:ext uri="{D42A27DB-BD31-4B8C-83A1-F6EECF244321}">
                <p14:modId xmlns:p14="http://schemas.microsoft.com/office/powerpoint/2010/main" val="1365453719"/>
              </p:ext>
            </p:extLst>
          </p:nvPr>
        </p:nvGraphicFramePr>
        <p:xfrm>
          <a:off x="251009" y="2545133"/>
          <a:ext cx="7205973" cy="1524000"/>
        </p:xfrm>
        <a:graphic>
          <a:graphicData uri="http://schemas.openxmlformats.org/drawingml/2006/table">
            <a:tbl>
              <a:tblPr/>
              <a:tblGrid>
                <a:gridCol w="792000"/>
                <a:gridCol w="792000"/>
                <a:gridCol w="5621973"/>
              </a:tblGrid>
              <a:tr h="190500">
                <a:tc>
                  <a:txBody>
                    <a:bodyPr/>
                    <a:lstStyle/>
                    <a:p>
                      <a:pPr algn="ctr" fontAlgn="b"/>
                      <a:r>
                        <a:rPr lang="de-DE" sz="1100" b="0" i="0" u="none" strike="noStrike" dirty="0" smtClean="0">
                          <a:solidFill>
                            <a:srgbClr val="000000"/>
                          </a:solidFill>
                          <a:effectLst/>
                          <a:latin typeface="Calibri" panose="020F0502020204030204" pitchFamily="34" charset="0"/>
                        </a:rPr>
                        <a:t>2.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smtClean="0">
                          <a:solidFill>
                            <a:srgbClr val="000000"/>
                          </a:solidFill>
                          <a:effectLst/>
                          <a:latin typeface="Calibri" panose="020F0502020204030204" pitchFamily="34" charset="0"/>
                        </a:rPr>
                        <a:t>1.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FISCHER FORTUNA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MASCHINENBAU HOLDING AG</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SPEZIALMASCHINEN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WERKE MASCHINENFABRIK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15891</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DR SCHICK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15891</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GEORG SCHICK DENTAL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14322</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VERTRIEB DR G SCHICK GMBH</a:t>
                      </a:r>
                    </a:p>
                  </a:txBody>
                  <a:tcPr marL="9525" marR="9525" marT="9525" marB="0" anchor="b">
                    <a:lnL>
                      <a:noFill/>
                    </a:lnL>
                    <a:lnR>
                      <a:noFill/>
                    </a:lnR>
                    <a:lnT>
                      <a:noFill/>
                    </a:lnT>
                    <a:lnB>
                      <a:noFill/>
                    </a:lnB>
                  </a:tcPr>
                </a:tc>
              </a:tr>
            </a:tbl>
          </a:graphicData>
        </a:graphic>
      </p:graphicFrame>
    </p:spTree>
    <p:extLst>
      <p:ext uri="{BB962C8B-B14F-4D97-AF65-F5344CB8AC3E}">
        <p14:creationId xmlns:p14="http://schemas.microsoft.com/office/powerpoint/2010/main" val="870829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uppieren 4"/>
          <p:cNvGrpSpPr/>
          <p:nvPr/>
        </p:nvGrpSpPr>
        <p:grpSpPr>
          <a:xfrm>
            <a:off x="215768" y="204654"/>
            <a:ext cx="3852000" cy="3852428"/>
            <a:chOff x="36741" y="546179"/>
            <a:chExt cx="3852000" cy="3852428"/>
          </a:xfrm>
        </p:grpSpPr>
        <p:sp>
          <p:nvSpPr>
            <p:cNvPr id="6" name="Ellipse 5"/>
            <p:cNvSpPr>
              <a:spLocks noChangeAspect="1"/>
            </p:cNvSpPr>
            <p:nvPr/>
          </p:nvSpPr>
          <p:spPr>
            <a:xfrm>
              <a:off x="36741" y="546179"/>
              <a:ext cx="3852000" cy="3852428"/>
            </a:xfrm>
            <a:prstGeom prst="ellipse">
              <a:avLst/>
            </a:prstGeom>
            <a:solidFill>
              <a:sysClr val="windowText" lastClr="000000"/>
            </a:solidFill>
            <a:ln w="254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solidFill>
                <a:effectLst/>
                <a:uLnTx/>
                <a:uFillTx/>
              </a:endParaRPr>
            </a:p>
          </p:txBody>
        </p:sp>
        <p:sp>
          <p:nvSpPr>
            <p:cNvPr id="7" name="Textfeld 6"/>
            <p:cNvSpPr txBox="1"/>
            <p:nvPr/>
          </p:nvSpPr>
          <p:spPr>
            <a:xfrm>
              <a:off x="1201610" y="912351"/>
              <a:ext cx="1494320" cy="369332"/>
            </a:xfrm>
            <a:prstGeom prst="rect">
              <a:avLst/>
            </a:prstGeom>
            <a:noFill/>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1800" b="0" i="0" u="none" strike="noStrike" kern="0" cap="none" spc="0" normalizeH="0" baseline="0" noProof="0" dirty="0" err="1" smtClean="0">
                  <a:ln>
                    <a:noFill/>
                  </a:ln>
                  <a:solidFill>
                    <a:prstClr val="white"/>
                  </a:solidFill>
                  <a:effectLst>
                    <a:glow rad="127000">
                      <a:prstClr val="white">
                        <a:alpha val="60000"/>
                      </a:prstClr>
                    </a:glow>
                  </a:effectLst>
                  <a:uLnTx/>
                  <a:uFillTx/>
                  <a:latin typeface="Impact" panose="020B0806030902050204" pitchFamily="34" charset="0"/>
                </a:rPr>
                <a:t>Search</a:t>
              </a:r>
              <a:r>
                <a:rPr kumimoji="0" lang="de-DE" sz="1800" b="0" i="0" u="none" strike="noStrike" kern="0" cap="none" spc="0" normalizeH="0" baseline="0" noProof="0" dirty="0" err="1" smtClean="0">
                  <a:ln>
                    <a:noFill/>
                  </a:ln>
                  <a:solidFill>
                    <a:srgbClr val="19F54B"/>
                  </a:solidFill>
                  <a:effectLst>
                    <a:glow rad="127000">
                      <a:srgbClr val="1FFF53">
                        <a:alpha val="60000"/>
                      </a:srgbClr>
                    </a:glow>
                  </a:effectLst>
                  <a:uLnTx/>
                  <a:uFillTx/>
                  <a:latin typeface="Impact" panose="020B0806030902050204" pitchFamily="34" charset="0"/>
                </a:rPr>
                <a:t>Engine</a:t>
              </a:r>
              <a:endParaRPr kumimoji="0" lang="de-DE" sz="1800" b="0" i="0" u="none" strike="noStrike" kern="0" cap="none" spc="0" normalizeH="0" baseline="0" noProof="0" dirty="0" smtClean="0">
                <a:ln>
                  <a:noFill/>
                </a:ln>
                <a:solidFill>
                  <a:srgbClr val="19F54B"/>
                </a:solidFill>
                <a:effectLst>
                  <a:glow rad="127000">
                    <a:srgbClr val="1FFF53">
                      <a:alpha val="60000"/>
                    </a:srgbClr>
                  </a:glow>
                </a:effectLst>
                <a:uLnTx/>
                <a:uFillTx/>
                <a:latin typeface="Impact" panose="020B0806030902050204" pitchFamily="34" charset="0"/>
              </a:endParaRPr>
            </a:p>
          </p:txBody>
        </p:sp>
        <p:sp>
          <p:nvSpPr>
            <p:cNvPr id="8" name="Textfeld 7"/>
            <p:cNvSpPr txBox="1"/>
            <p:nvPr/>
          </p:nvSpPr>
          <p:spPr>
            <a:xfrm>
              <a:off x="1404390" y="1191789"/>
              <a:ext cx="1088760" cy="2308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900" b="0" i="0" u="none" strike="noStrike" kern="0" cap="none" spc="0" normalizeH="0" baseline="0" noProof="0" dirty="0" err="1" smtClean="0">
                  <a:ln>
                    <a:noFill/>
                  </a:ln>
                  <a:solidFill>
                    <a:prstClr val="white"/>
                  </a:solidFill>
                  <a:effectLst/>
                  <a:uLnTx/>
                  <a:uFillTx/>
                  <a:latin typeface="Impact" panose="020B0806030902050204" pitchFamily="34" charset="0"/>
                </a:rPr>
                <a:t>by</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 </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Thorsten </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Doherr</a:t>
              </a:r>
            </a:p>
          </p:txBody>
        </p:sp>
        <p:sp>
          <p:nvSpPr>
            <p:cNvPr id="9" name="Textfeld 8"/>
            <p:cNvSpPr txBox="1"/>
            <p:nvPr/>
          </p:nvSpPr>
          <p:spPr>
            <a:xfrm>
              <a:off x="1099820" y="3926946"/>
              <a:ext cx="1697901" cy="2308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900" b="0" i="0" u="none" strike="noStrike" kern="0" cap="none" spc="0" normalizeH="0" baseline="0" noProof="0" dirty="0" err="1" smtClean="0">
                  <a:ln>
                    <a:noFill/>
                  </a:ln>
                  <a:solidFill>
                    <a:srgbClr val="19F54B"/>
                  </a:solidFill>
                  <a:effectLst/>
                  <a:uLnTx/>
                  <a:uFillTx/>
                  <a:latin typeface="Impact" panose="020B0806030902050204" pitchFamily="34" charset="0"/>
                </a:rPr>
                <a:t>powered</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 </a:t>
              </a:r>
              <a:r>
                <a:rPr kumimoji="0" lang="de-DE" sz="900" b="0" i="0" u="none" strike="noStrike" kern="0" cap="none" spc="0" normalizeH="0" baseline="0" noProof="0" dirty="0" err="1" smtClean="0">
                  <a:ln>
                    <a:noFill/>
                  </a:ln>
                  <a:solidFill>
                    <a:srgbClr val="1FFF53"/>
                  </a:solidFill>
                  <a:effectLst/>
                  <a:uLnTx/>
                  <a:uFillTx/>
                  <a:latin typeface="Impact" panose="020B0806030902050204" pitchFamily="34" charset="0"/>
                </a:rPr>
                <a:t>by</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 FoxPro </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&amp; </a:t>
              </a:r>
              <a:r>
                <a:rPr kumimoji="0" lang="de-DE" sz="900" b="0" i="0" u="none" strike="noStrike" kern="0" cap="none" spc="0" normalizeH="0" baseline="0" noProof="0" dirty="0" err="1" smtClean="0">
                  <a:ln>
                    <a:noFill/>
                  </a:ln>
                  <a:solidFill>
                    <a:prstClr val="white"/>
                  </a:solidFill>
                  <a:effectLst/>
                  <a:uLnTx/>
                  <a:uFillTx/>
                  <a:latin typeface="Impact" panose="020B0806030902050204" pitchFamily="34" charset="0"/>
                </a:rPr>
                <a:t>ParallelFox</a:t>
              </a:r>
              <a:endParaRPr kumimoji="0" lang="de-DE" sz="1800" b="0" i="0" u="none" strike="noStrike" kern="0" cap="none" spc="0" normalizeH="0" baseline="0" noProof="0" dirty="0" smtClean="0">
                <a:ln>
                  <a:noFill/>
                </a:ln>
                <a:solidFill>
                  <a:prstClr val="white"/>
                </a:solidFill>
                <a:effectLst/>
                <a:uLnTx/>
                <a:uFillTx/>
              </a:endParaRPr>
            </a:p>
          </p:txBody>
        </p:sp>
        <p:grpSp>
          <p:nvGrpSpPr>
            <p:cNvPr id="10" name="Gruppieren 9"/>
            <p:cNvGrpSpPr/>
            <p:nvPr/>
          </p:nvGrpSpPr>
          <p:grpSpPr>
            <a:xfrm>
              <a:off x="670270" y="1113505"/>
              <a:ext cx="2557001" cy="2681537"/>
              <a:chOff x="4817500" y="2088232"/>
              <a:chExt cx="2557001" cy="2681537"/>
            </a:xfrm>
            <a:effectLst>
              <a:glow rad="50800">
                <a:srgbClr val="1FFF53">
                  <a:alpha val="50000"/>
                </a:srgbClr>
              </a:glow>
            </a:effectLst>
          </p:grpSpPr>
          <p:cxnSp>
            <p:nvCxnSpPr>
              <p:cNvPr id="12" name="Gerader Verbinder 11"/>
              <p:cNvCxnSpPr/>
              <p:nvPr/>
            </p:nvCxnSpPr>
            <p:spPr>
              <a:xfrm flipV="1">
                <a:off x="6395085" y="3192704"/>
                <a:ext cx="378754" cy="229122"/>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3" name="Gerader Verbinder 12"/>
              <p:cNvCxnSpPr/>
              <p:nvPr/>
            </p:nvCxnSpPr>
            <p:spPr>
              <a:xfrm>
                <a:off x="5189536" y="3825331"/>
                <a:ext cx="120691" cy="7207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4" name="Gerader Verbinder 13"/>
              <p:cNvCxnSpPr/>
              <p:nvPr/>
            </p:nvCxnSpPr>
            <p:spPr>
              <a:xfrm>
                <a:off x="5674294" y="2789612"/>
                <a:ext cx="840019" cy="658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5" name="Gruppieren 14"/>
              <p:cNvGrpSpPr/>
              <p:nvPr/>
            </p:nvGrpSpPr>
            <p:grpSpPr>
              <a:xfrm>
                <a:off x="4922203" y="3307648"/>
                <a:ext cx="616527" cy="1136072"/>
                <a:chOff x="6248400" y="2583873"/>
                <a:chExt cx="616527" cy="1136072"/>
              </a:xfrm>
            </p:grpSpPr>
            <p:cxnSp>
              <p:nvCxnSpPr>
                <p:cNvPr id="217" name="Gerader Verbinder 216"/>
                <p:cNvCxnSpPr/>
                <p:nvPr/>
              </p:nvCxnSpPr>
              <p:spPr>
                <a:xfrm flipH="1">
                  <a:off x="6396254" y="2583873"/>
                  <a:ext cx="39182" cy="47402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8" name="Gerader Verbinder 217"/>
                <p:cNvCxnSpPr/>
                <p:nvPr/>
              </p:nvCxnSpPr>
              <p:spPr>
                <a:xfrm flipH="1">
                  <a:off x="6248400" y="3068782"/>
                  <a:ext cx="145473" cy="49876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9" name="Gerader Verbinder 218"/>
                <p:cNvCxnSpPr/>
                <p:nvPr/>
              </p:nvCxnSpPr>
              <p:spPr>
                <a:xfrm flipV="1">
                  <a:off x="6435436" y="3567545"/>
                  <a:ext cx="429491" cy="1524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20" name="Gerader Verbinder 219"/>
                <p:cNvCxnSpPr/>
                <p:nvPr/>
              </p:nvCxnSpPr>
              <p:spPr>
                <a:xfrm flipV="1">
                  <a:off x="6260522" y="3490913"/>
                  <a:ext cx="240291" cy="727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21" name="Gerader Verbinder 220"/>
                <p:cNvCxnSpPr/>
                <p:nvPr/>
              </p:nvCxnSpPr>
              <p:spPr>
                <a:xfrm flipH="1">
                  <a:off x="6435436" y="3490913"/>
                  <a:ext cx="65377" cy="22166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16" name="Gruppieren 15"/>
              <p:cNvGrpSpPr/>
              <p:nvPr/>
            </p:nvGrpSpPr>
            <p:grpSpPr>
              <a:xfrm>
                <a:off x="5519896" y="4238500"/>
                <a:ext cx="562394" cy="466442"/>
                <a:chOff x="6838950" y="3514725"/>
                <a:chExt cx="562394" cy="466442"/>
              </a:xfrm>
            </p:grpSpPr>
            <p:cxnSp>
              <p:nvCxnSpPr>
                <p:cNvPr id="214" name="Gerader Verbinder 213"/>
                <p:cNvCxnSpPr/>
                <p:nvPr/>
              </p:nvCxnSpPr>
              <p:spPr>
                <a:xfrm>
                  <a:off x="6838950" y="3514725"/>
                  <a:ext cx="185738" cy="32146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5" name="Gerader Verbinder 214"/>
                <p:cNvCxnSpPr/>
                <p:nvPr/>
              </p:nvCxnSpPr>
              <p:spPr>
                <a:xfrm>
                  <a:off x="7024688" y="3836194"/>
                  <a:ext cx="123825" cy="1143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6" name="Gerader Verbinder 215"/>
                <p:cNvCxnSpPr/>
                <p:nvPr/>
              </p:nvCxnSpPr>
              <p:spPr>
                <a:xfrm>
                  <a:off x="7150893" y="3950494"/>
                  <a:ext cx="250451" cy="3067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17" name="Gruppieren 16"/>
              <p:cNvGrpSpPr/>
              <p:nvPr/>
            </p:nvGrpSpPr>
            <p:grpSpPr>
              <a:xfrm flipH="1">
                <a:off x="6098079" y="4239389"/>
                <a:ext cx="571961" cy="465553"/>
                <a:chOff x="6838950" y="3514725"/>
                <a:chExt cx="571961" cy="465553"/>
              </a:xfrm>
            </p:grpSpPr>
            <p:cxnSp>
              <p:nvCxnSpPr>
                <p:cNvPr id="211" name="Gerader Verbinder 210"/>
                <p:cNvCxnSpPr/>
                <p:nvPr/>
              </p:nvCxnSpPr>
              <p:spPr>
                <a:xfrm>
                  <a:off x="6838950" y="3514725"/>
                  <a:ext cx="185738" cy="32146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2" name="Gerader Verbinder 211"/>
                <p:cNvCxnSpPr/>
                <p:nvPr/>
              </p:nvCxnSpPr>
              <p:spPr>
                <a:xfrm>
                  <a:off x="7024688" y="3836194"/>
                  <a:ext cx="123825" cy="1143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3" name="Gerader Verbinder 212"/>
                <p:cNvCxnSpPr/>
                <p:nvPr/>
              </p:nvCxnSpPr>
              <p:spPr>
                <a:xfrm>
                  <a:off x="7148512" y="3949605"/>
                  <a:ext cx="262399" cy="3067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18" name="Gerader Verbinder 17"/>
              <p:cNvCxnSpPr/>
              <p:nvPr/>
            </p:nvCxnSpPr>
            <p:spPr>
              <a:xfrm>
                <a:off x="6087824" y="4617119"/>
                <a:ext cx="0" cy="63738"/>
              </a:xfrm>
              <a:prstGeom prst="line">
                <a:avLst/>
              </a:prstGeom>
              <a:noFill/>
              <a:ln w="57150" cap="rnd" cmpd="sng" algn="ctr">
                <a:solidFill>
                  <a:srgbClr val="19F54B"/>
                </a:solidFill>
                <a:prstDash val="solid"/>
                <a:round/>
                <a:tailEnd type="none"/>
              </a:ln>
              <a:effectLst/>
              <a:scene3d>
                <a:camera prst="orthographicFront"/>
                <a:lightRig rig="threePt" dir="t"/>
              </a:scene3d>
              <a:sp3d/>
            </p:spPr>
          </p:cxnSp>
          <p:sp>
            <p:nvSpPr>
              <p:cNvPr id="19" name="Ellipse 18"/>
              <p:cNvSpPr/>
              <p:nvPr/>
            </p:nvSpPr>
            <p:spPr>
              <a:xfrm>
                <a:off x="5910639" y="4367520"/>
                <a:ext cx="345063" cy="232930"/>
              </a:xfrm>
              <a:prstGeom prst="ellipse">
                <a:avLst/>
              </a:prstGeom>
              <a:no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20" name="Gerader Verbinder 19"/>
              <p:cNvCxnSpPr>
                <a:endCxn id="147" idx="3"/>
              </p:cNvCxnSpPr>
              <p:nvPr/>
            </p:nvCxnSpPr>
            <p:spPr>
              <a:xfrm flipV="1">
                <a:off x="5747334" y="3828925"/>
                <a:ext cx="79743" cy="361562"/>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1" name="Gerader Verbinder 20"/>
              <p:cNvCxnSpPr/>
              <p:nvPr/>
            </p:nvCxnSpPr>
            <p:spPr>
              <a:xfrm flipH="1" flipV="1">
                <a:off x="6365672" y="3839215"/>
                <a:ext cx="79743" cy="361562"/>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cxnSp>
            <p:nvCxnSpPr>
              <p:cNvPr id="22" name="Gerader Verbinder 21"/>
              <p:cNvCxnSpPr/>
              <p:nvPr/>
            </p:nvCxnSpPr>
            <p:spPr>
              <a:xfrm flipH="1" flipV="1">
                <a:off x="5747334" y="4200777"/>
                <a:ext cx="205949" cy="198457"/>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nvGrpSpPr>
              <p:cNvPr id="23" name="Gruppieren 22"/>
              <p:cNvGrpSpPr/>
              <p:nvPr/>
            </p:nvGrpSpPr>
            <p:grpSpPr>
              <a:xfrm>
                <a:off x="5436227" y="4359944"/>
                <a:ext cx="513402" cy="292556"/>
                <a:chOff x="6752900" y="3636169"/>
                <a:chExt cx="513402" cy="292556"/>
              </a:xfrm>
            </p:grpSpPr>
            <p:cxnSp>
              <p:nvCxnSpPr>
                <p:cNvPr id="205" name="Gerader Verbinder 204"/>
                <p:cNvCxnSpPr/>
                <p:nvPr/>
              </p:nvCxnSpPr>
              <p:spPr>
                <a:xfrm flipH="1" flipV="1">
                  <a:off x="7035650" y="3636171"/>
                  <a:ext cx="186898" cy="900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6" name="Gerader Verbinder 205"/>
                <p:cNvCxnSpPr/>
                <p:nvPr/>
              </p:nvCxnSpPr>
              <p:spPr>
                <a:xfrm flipH="1">
                  <a:off x="6752900" y="3636169"/>
                  <a:ext cx="278933" cy="90254"/>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07" name="Gerader Verbinder 206"/>
                <p:cNvCxnSpPr/>
                <p:nvPr/>
              </p:nvCxnSpPr>
              <p:spPr>
                <a:xfrm flipH="1" flipV="1">
                  <a:off x="7060607" y="3750675"/>
                  <a:ext cx="157305" cy="32464"/>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8" name="Gerader Verbinder 207"/>
                <p:cNvCxnSpPr/>
                <p:nvPr/>
              </p:nvCxnSpPr>
              <p:spPr>
                <a:xfrm flipH="1">
                  <a:off x="6796088" y="3748908"/>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09" name="Gerader Verbinder 208"/>
                <p:cNvCxnSpPr/>
                <p:nvPr/>
              </p:nvCxnSpPr>
              <p:spPr>
                <a:xfrm flipH="1">
                  <a:off x="6835024" y="3846387"/>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10" name="Gerader Verbinder 209"/>
                <p:cNvCxnSpPr/>
                <p:nvPr/>
              </p:nvCxnSpPr>
              <p:spPr>
                <a:xfrm flipH="1">
                  <a:off x="7093390" y="3836079"/>
                  <a:ext cx="172912" cy="883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24" name="Gruppieren 23"/>
              <p:cNvGrpSpPr/>
              <p:nvPr/>
            </p:nvGrpSpPr>
            <p:grpSpPr>
              <a:xfrm>
                <a:off x="5867174" y="4680123"/>
                <a:ext cx="455588" cy="89646"/>
                <a:chOff x="7188657" y="4057767"/>
                <a:chExt cx="455588" cy="89646"/>
              </a:xfrm>
            </p:grpSpPr>
            <p:cxnSp>
              <p:nvCxnSpPr>
                <p:cNvPr id="202" name="Gerader Verbinder 201"/>
                <p:cNvCxnSpPr/>
                <p:nvPr/>
              </p:nvCxnSpPr>
              <p:spPr>
                <a:xfrm>
                  <a:off x="7188657" y="4057767"/>
                  <a:ext cx="82071" cy="8245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3" name="Gerader Verbinder 202"/>
                <p:cNvCxnSpPr/>
                <p:nvPr/>
              </p:nvCxnSpPr>
              <p:spPr>
                <a:xfrm flipV="1">
                  <a:off x="7276951" y="4146584"/>
                  <a:ext cx="285223" cy="82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4" name="Gerader Verbinder 203"/>
                <p:cNvCxnSpPr/>
                <p:nvPr/>
              </p:nvCxnSpPr>
              <p:spPr>
                <a:xfrm flipH="1">
                  <a:off x="7562174" y="4064129"/>
                  <a:ext cx="82071" cy="8245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25" name="Gerader Verbinder 24"/>
              <p:cNvCxnSpPr/>
              <p:nvPr/>
            </p:nvCxnSpPr>
            <p:spPr>
              <a:xfrm>
                <a:off x="5859387" y="4147927"/>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26" name="Ellipse 25"/>
              <p:cNvSpPr>
                <a:spLocks noChangeAspect="1"/>
              </p:cNvSpPr>
              <p:nvPr/>
            </p:nvSpPr>
            <p:spPr>
              <a:xfrm>
                <a:off x="5822390" y="4109283"/>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27" name="Ellipse 26"/>
              <p:cNvSpPr>
                <a:spLocks noChangeAspect="1"/>
              </p:cNvSpPr>
              <p:nvPr/>
            </p:nvSpPr>
            <p:spPr>
              <a:xfrm>
                <a:off x="5974790" y="4261683"/>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28" name="Gerader Verbinder 27"/>
              <p:cNvCxnSpPr/>
              <p:nvPr/>
            </p:nvCxnSpPr>
            <p:spPr>
              <a:xfrm>
                <a:off x="5905356" y="3788031"/>
                <a:ext cx="48881" cy="7747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29" name="Gerader Verbinder 28"/>
              <p:cNvCxnSpPr/>
              <p:nvPr/>
            </p:nvCxnSpPr>
            <p:spPr>
              <a:xfrm flipH="1">
                <a:off x="5954255" y="3872832"/>
                <a:ext cx="315" cy="20096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30" name="Gerader Verbinder 29"/>
              <p:cNvCxnSpPr/>
              <p:nvPr/>
            </p:nvCxnSpPr>
            <p:spPr>
              <a:xfrm>
                <a:off x="5955567" y="4077103"/>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31" name="Ellipse 30"/>
              <p:cNvSpPr>
                <a:spLocks noChangeAspect="1"/>
              </p:cNvSpPr>
              <p:nvPr/>
            </p:nvSpPr>
            <p:spPr>
              <a:xfrm>
                <a:off x="5918570" y="403845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32" name="Ellipse 31"/>
              <p:cNvSpPr>
                <a:spLocks noChangeAspect="1"/>
              </p:cNvSpPr>
              <p:nvPr/>
            </p:nvSpPr>
            <p:spPr>
              <a:xfrm>
                <a:off x="6070970" y="419085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33" name="Gerader Verbinder 32"/>
              <p:cNvCxnSpPr/>
              <p:nvPr/>
            </p:nvCxnSpPr>
            <p:spPr>
              <a:xfrm flipH="1">
                <a:off x="6202067" y="3682128"/>
                <a:ext cx="127160" cy="22004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34" name="Gerader Verbinder 33"/>
              <p:cNvCxnSpPr/>
              <p:nvPr/>
            </p:nvCxnSpPr>
            <p:spPr>
              <a:xfrm>
                <a:off x="6199798" y="3904202"/>
                <a:ext cx="0" cy="2485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35" name="Gerader Verbinder 34"/>
              <p:cNvCxnSpPr/>
              <p:nvPr/>
            </p:nvCxnSpPr>
            <p:spPr>
              <a:xfrm>
                <a:off x="6047287" y="4003733"/>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36" name="Ellipse 35"/>
              <p:cNvSpPr>
                <a:spLocks noChangeAspect="1"/>
              </p:cNvSpPr>
              <p:nvPr/>
            </p:nvSpPr>
            <p:spPr>
              <a:xfrm>
                <a:off x="6010290" y="39650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37" name="Ellipse 36"/>
              <p:cNvSpPr>
                <a:spLocks noChangeAspect="1"/>
              </p:cNvSpPr>
              <p:nvPr/>
            </p:nvSpPr>
            <p:spPr>
              <a:xfrm>
                <a:off x="6162690" y="41174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38" name="Gerader Verbinder 37"/>
              <p:cNvCxnSpPr/>
              <p:nvPr/>
            </p:nvCxnSpPr>
            <p:spPr>
              <a:xfrm flipH="1" flipV="1">
                <a:off x="6288998" y="3925836"/>
                <a:ext cx="79743" cy="361562"/>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39" name="Gerader Verbinder 38"/>
              <p:cNvCxnSpPr>
                <a:endCxn id="19" idx="7"/>
              </p:cNvCxnSpPr>
              <p:nvPr/>
            </p:nvCxnSpPr>
            <p:spPr>
              <a:xfrm flipH="1">
                <a:off x="6205169" y="4291320"/>
                <a:ext cx="159882" cy="110312"/>
              </a:xfrm>
              <a:prstGeom prst="line">
                <a:avLst/>
              </a:prstGeom>
              <a:noFill/>
              <a:ln w="25400" cap="rnd" cmpd="sng" algn="ctr">
                <a:solidFill>
                  <a:srgbClr val="19F54B"/>
                </a:solidFill>
                <a:prstDash val="solid"/>
                <a:round/>
                <a:tailEnd type="oval"/>
              </a:ln>
              <a:effectLst/>
              <a:scene3d>
                <a:camera prst="orthographicFront"/>
                <a:lightRig rig="threePt" dir="t"/>
              </a:scene3d>
              <a:sp3d/>
            </p:spPr>
          </p:cxnSp>
          <p:sp>
            <p:nvSpPr>
              <p:cNvPr id="40" name="Ellipse 39"/>
              <p:cNvSpPr>
                <a:spLocks noChangeAspect="1"/>
              </p:cNvSpPr>
              <p:nvPr/>
            </p:nvSpPr>
            <p:spPr>
              <a:xfrm>
                <a:off x="6163970" y="436435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41" name="Gerader Verbinder 40"/>
              <p:cNvCxnSpPr/>
              <p:nvPr/>
            </p:nvCxnSpPr>
            <p:spPr>
              <a:xfrm>
                <a:off x="7083030" y="3308081"/>
                <a:ext cx="39182" cy="474021"/>
              </a:xfrm>
              <a:prstGeom prst="line">
                <a:avLst/>
              </a:prstGeom>
              <a:noFill/>
              <a:ln w="25400" cap="rnd" cmpd="sng" algn="ctr">
                <a:solidFill>
                  <a:srgbClr val="19F54B"/>
                </a:solidFill>
                <a:prstDash val="solid"/>
                <a:round/>
                <a:tailEnd type="none"/>
              </a:ln>
              <a:effectLst>
                <a:glow>
                  <a:srgbClr val="4F81BD">
                    <a:alpha val="40000"/>
                  </a:srgbClr>
                </a:glow>
              </a:effectLst>
              <a:scene3d>
                <a:camera prst="orthographicFront"/>
                <a:lightRig rig="threePt" dir="t"/>
              </a:scene3d>
              <a:sp3d/>
            </p:spPr>
          </p:cxnSp>
          <p:cxnSp>
            <p:nvCxnSpPr>
              <p:cNvPr id="42" name="Gerader Verbinder 41"/>
              <p:cNvCxnSpPr/>
              <p:nvPr/>
            </p:nvCxnSpPr>
            <p:spPr>
              <a:xfrm>
                <a:off x="7127081" y="3793331"/>
                <a:ext cx="142985" cy="498422"/>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3" name="Gerader Verbinder 42"/>
              <p:cNvCxnSpPr/>
              <p:nvPr/>
            </p:nvCxnSpPr>
            <p:spPr>
              <a:xfrm flipH="1" flipV="1">
                <a:off x="6653539" y="4291753"/>
                <a:ext cx="429491" cy="1524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4" name="Gerader Verbinder 43"/>
              <p:cNvCxnSpPr/>
              <p:nvPr/>
            </p:nvCxnSpPr>
            <p:spPr>
              <a:xfrm flipH="1" flipV="1">
                <a:off x="7017653" y="4215121"/>
                <a:ext cx="240291" cy="727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5" name="Gerader Verbinder 44"/>
              <p:cNvCxnSpPr/>
              <p:nvPr/>
            </p:nvCxnSpPr>
            <p:spPr>
              <a:xfrm>
                <a:off x="7017653" y="4215121"/>
                <a:ext cx="65377" cy="22166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46" name="Gruppieren 45"/>
              <p:cNvGrpSpPr/>
              <p:nvPr/>
            </p:nvGrpSpPr>
            <p:grpSpPr>
              <a:xfrm>
                <a:off x="4817500" y="2088232"/>
                <a:ext cx="901078" cy="1212273"/>
                <a:chOff x="6139729" y="1364457"/>
                <a:chExt cx="901078" cy="1212273"/>
              </a:xfrm>
            </p:grpSpPr>
            <p:grpSp>
              <p:nvGrpSpPr>
                <p:cNvPr id="192" name="Gruppieren 191"/>
                <p:cNvGrpSpPr/>
                <p:nvPr/>
              </p:nvGrpSpPr>
              <p:grpSpPr>
                <a:xfrm>
                  <a:off x="6139729" y="1364457"/>
                  <a:ext cx="901078" cy="1212273"/>
                  <a:chOff x="6144491" y="1371600"/>
                  <a:chExt cx="901078" cy="1212273"/>
                </a:xfrm>
              </p:grpSpPr>
              <p:cxnSp>
                <p:nvCxnSpPr>
                  <p:cNvPr id="197" name="Gerader Verbinder 196"/>
                  <p:cNvCxnSpPr/>
                  <p:nvPr/>
                </p:nvCxnSpPr>
                <p:spPr>
                  <a:xfrm>
                    <a:off x="6241473" y="1371600"/>
                    <a:ext cx="699871" cy="47863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98" name="Gruppieren 197"/>
                  <p:cNvGrpSpPr/>
                  <p:nvPr/>
                </p:nvGrpSpPr>
                <p:grpSpPr>
                  <a:xfrm>
                    <a:off x="6144491" y="1371600"/>
                    <a:ext cx="901078" cy="1212273"/>
                    <a:chOff x="6144491" y="1371600"/>
                    <a:chExt cx="901078" cy="1212273"/>
                  </a:xfrm>
                </p:grpSpPr>
                <p:cxnSp>
                  <p:nvCxnSpPr>
                    <p:cNvPr id="199" name="Gerader Verbinder 198"/>
                    <p:cNvCxnSpPr/>
                    <p:nvPr/>
                  </p:nvCxnSpPr>
                  <p:spPr>
                    <a:xfrm flipH="1" flipV="1">
                      <a:off x="6144491" y="1849582"/>
                      <a:ext cx="290945" cy="73429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0" name="Gerader Verbinder 199"/>
                    <p:cNvCxnSpPr/>
                    <p:nvPr/>
                  </p:nvCxnSpPr>
                  <p:spPr>
                    <a:xfrm flipV="1">
                      <a:off x="6144491" y="1371600"/>
                      <a:ext cx="96767" cy="4779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1" name="Gerader Verbinder 200"/>
                    <p:cNvCxnSpPr/>
                    <p:nvPr/>
                  </p:nvCxnSpPr>
                  <p:spPr>
                    <a:xfrm>
                      <a:off x="6941127" y="1849582"/>
                      <a:ext cx="104442" cy="4325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grpSp>
              <p:nvGrpSpPr>
                <p:cNvPr id="193" name="Gruppieren 192"/>
                <p:cNvGrpSpPr/>
                <p:nvPr/>
              </p:nvGrpSpPr>
              <p:grpSpPr>
                <a:xfrm rot="18325257">
                  <a:off x="6253557" y="1581051"/>
                  <a:ext cx="296884" cy="193946"/>
                  <a:chOff x="6816694" y="1369905"/>
                  <a:chExt cx="327056" cy="193946"/>
                </a:xfrm>
              </p:grpSpPr>
              <p:cxnSp>
                <p:nvCxnSpPr>
                  <p:cNvPr id="194" name="Gerader Verbinder 193"/>
                  <p:cNvCxnSpPr/>
                  <p:nvPr/>
                </p:nvCxnSpPr>
                <p:spPr>
                  <a:xfrm flipH="1" flipV="1">
                    <a:off x="6818698" y="1562210"/>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95" name="Gerader Verbinder 194"/>
                  <p:cNvCxnSpPr/>
                  <p:nvPr/>
                </p:nvCxnSpPr>
                <p:spPr>
                  <a:xfrm flipH="1" flipV="1">
                    <a:off x="6818698" y="1467478"/>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96" name="Gerader Verbinder 195"/>
                  <p:cNvCxnSpPr/>
                  <p:nvPr/>
                </p:nvCxnSpPr>
                <p:spPr>
                  <a:xfrm flipH="1" flipV="1">
                    <a:off x="6816694" y="1369905"/>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grpSp>
          <p:grpSp>
            <p:nvGrpSpPr>
              <p:cNvPr id="47" name="Gruppieren 46"/>
              <p:cNvGrpSpPr/>
              <p:nvPr/>
            </p:nvGrpSpPr>
            <p:grpSpPr>
              <a:xfrm flipH="1">
                <a:off x="6473423" y="2090716"/>
                <a:ext cx="901078" cy="1212273"/>
                <a:chOff x="6144491" y="1371600"/>
                <a:chExt cx="901078" cy="1212273"/>
              </a:xfrm>
            </p:grpSpPr>
            <p:cxnSp>
              <p:nvCxnSpPr>
                <p:cNvPr id="187" name="Gerader Verbinder 186"/>
                <p:cNvCxnSpPr/>
                <p:nvPr/>
              </p:nvCxnSpPr>
              <p:spPr>
                <a:xfrm>
                  <a:off x="6241473" y="1371600"/>
                  <a:ext cx="699871" cy="47863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88" name="Gruppieren 187"/>
                <p:cNvGrpSpPr/>
                <p:nvPr/>
              </p:nvGrpSpPr>
              <p:grpSpPr>
                <a:xfrm>
                  <a:off x="6144491" y="1371600"/>
                  <a:ext cx="901078" cy="1212273"/>
                  <a:chOff x="6144491" y="1371600"/>
                  <a:chExt cx="901078" cy="1212273"/>
                </a:xfrm>
              </p:grpSpPr>
              <p:cxnSp>
                <p:nvCxnSpPr>
                  <p:cNvPr id="189" name="Gerader Verbinder 188"/>
                  <p:cNvCxnSpPr/>
                  <p:nvPr/>
                </p:nvCxnSpPr>
                <p:spPr>
                  <a:xfrm flipH="1" flipV="1">
                    <a:off x="6144491" y="1849582"/>
                    <a:ext cx="290945" cy="73429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90" name="Gerader Verbinder 189"/>
                  <p:cNvCxnSpPr/>
                  <p:nvPr/>
                </p:nvCxnSpPr>
                <p:spPr>
                  <a:xfrm flipV="1">
                    <a:off x="6144491" y="1371600"/>
                    <a:ext cx="96767" cy="4779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91" name="Gerader Verbinder 190"/>
                  <p:cNvCxnSpPr/>
                  <p:nvPr/>
                </p:nvCxnSpPr>
                <p:spPr>
                  <a:xfrm>
                    <a:off x="6941127" y="1849582"/>
                    <a:ext cx="104442" cy="4325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grpSp>
            <p:nvGrpSpPr>
              <p:cNvPr id="48" name="Gruppieren 47"/>
              <p:cNvGrpSpPr/>
              <p:nvPr/>
            </p:nvGrpSpPr>
            <p:grpSpPr>
              <a:xfrm rot="3274743" flipH="1">
                <a:off x="6963789" y="2307310"/>
                <a:ext cx="296884" cy="193946"/>
                <a:chOff x="6816694" y="1369905"/>
                <a:chExt cx="327056" cy="193946"/>
              </a:xfrm>
            </p:grpSpPr>
            <p:cxnSp>
              <p:nvCxnSpPr>
                <p:cNvPr id="184" name="Gerader Verbinder 183"/>
                <p:cNvCxnSpPr/>
                <p:nvPr/>
              </p:nvCxnSpPr>
              <p:spPr>
                <a:xfrm flipH="1" flipV="1">
                  <a:off x="6818698" y="1562210"/>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85" name="Gerader Verbinder 184"/>
                <p:cNvCxnSpPr/>
                <p:nvPr/>
              </p:nvCxnSpPr>
              <p:spPr>
                <a:xfrm flipH="1" flipV="1">
                  <a:off x="6818698" y="1467478"/>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86" name="Gerader Verbinder 185"/>
                <p:cNvCxnSpPr/>
                <p:nvPr/>
              </p:nvCxnSpPr>
              <p:spPr>
                <a:xfrm flipH="1" flipV="1">
                  <a:off x="6816694" y="1369905"/>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grpSp>
            <p:nvGrpSpPr>
              <p:cNvPr id="49" name="Gruppieren 48"/>
              <p:cNvGrpSpPr/>
              <p:nvPr/>
            </p:nvGrpSpPr>
            <p:grpSpPr>
              <a:xfrm>
                <a:off x="5122363" y="2429747"/>
                <a:ext cx="873300" cy="1351922"/>
                <a:chOff x="6439592" y="1698940"/>
                <a:chExt cx="873300" cy="1351922"/>
              </a:xfrm>
            </p:grpSpPr>
            <p:cxnSp>
              <p:nvCxnSpPr>
                <p:cNvPr id="170" name="Gerader Verbinder 169"/>
                <p:cNvCxnSpPr/>
                <p:nvPr/>
              </p:nvCxnSpPr>
              <p:spPr>
                <a:xfrm flipH="1" flipV="1">
                  <a:off x="7093507" y="2574706"/>
                  <a:ext cx="122580" cy="47615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71" name="Gerader Verbinder 170"/>
                <p:cNvCxnSpPr/>
                <p:nvPr/>
              </p:nvCxnSpPr>
              <p:spPr>
                <a:xfrm flipH="1" flipV="1">
                  <a:off x="7185987" y="2515408"/>
                  <a:ext cx="126905" cy="47145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72" name="Gerader Verbinder 171"/>
                <p:cNvCxnSpPr/>
                <p:nvPr/>
              </p:nvCxnSpPr>
              <p:spPr>
                <a:xfrm flipH="1" flipV="1">
                  <a:off x="6774656" y="2374106"/>
                  <a:ext cx="311944" cy="1916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73" name="Gerader Verbinder 172"/>
                <p:cNvCxnSpPr/>
                <p:nvPr/>
              </p:nvCxnSpPr>
              <p:spPr>
                <a:xfrm flipH="1" flipV="1">
                  <a:off x="6828980" y="2294673"/>
                  <a:ext cx="355252" cy="21726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74" name="Gerader Verbinder 173"/>
                <p:cNvCxnSpPr/>
                <p:nvPr/>
              </p:nvCxnSpPr>
              <p:spPr>
                <a:xfrm>
                  <a:off x="6600825" y="1735931"/>
                  <a:ext cx="245882" cy="170872"/>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75" name="Gerader Verbinder 174"/>
                <p:cNvCxnSpPr/>
                <p:nvPr/>
              </p:nvCxnSpPr>
              <p:spPr>
                <a:xfrm flipH="1" flipV="1">
                  <a:off x="6849726" y="1908849"/>
                  <a:ext cx="68848" cy="32483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76" name="Ellipse 175"/>
                <p:cNvSpPr>
                  <a:spLocks noChangeAspect="1"/>
                </p:cNvSpPr>
                <p:nvPr/>
              </p:nvSpPr>
              <p:spPr>
                <a:xfrm>
                  <a:off x="6884558" y="219967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77" name="Ellipse 176"/>
                <p:cNvSpPr>
                  <a:spLocks noChangeAspect="1"/>
                </p:cNvSpPr>
                <p:nvPr/>
              </p:nvSpPr>
              <p:spPr>
                <a:xfrm>
                  <a:off x="6566654" y="1698940"/>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78" name="Gerader Verbinder 177"/>
                <p:cNvCxnSpPr/>
                <p:nvPr/>
              </p:nvCxnSpPr>
              <p:spPr>
                <a:xfrm>
                  <a:off x="6755919" y="1952372"/>
                  <a:ext cx="71409" cy="3414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79" name="Gerader Verbinder 178"/>
                <p:cNvCxnSpPr/>
                <p:nvPr/>
              </p:nvCxnSpPr>
              <p:spPr>
                <a:xfrm>
                  <a:off x="6534549" y="1821367"/>
                  <a:ext cx="218351" cy="13003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80" name="Gerader Verbinder 179"/>
                <p:cNvCxnSpPr/>
                <p:nvPr/>
              </p:nvCxnSpPr>
              <p:spPr>
                <a:xfrm>
                  <a:off x="6475330" y="1903397"/>
                  <a:ext cx="187988" cy="107531"/>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81" name="Gerader Verbinder 180"/>
                <p:cNvCxnSpPr/>
                <p:nvPr/>
              </p:nvCxnSpPr>
              <p:spPr>
                <a:xfrm flipH="1" flipV="1">
                  <a:off x="6663318" y="2011711"/>
                  <a:ext cx="57903" cy="282137"/>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82" name="Ellipse 181"/>
                <p:cNvSpPr>
                  <a:spLocks noChangeAspect="1"/>
                </p:cNvSpPr>
                <p:nvPr/>
              </p:nvSpPr>
              <p:spPr>
                <a:xfrm>
                  <a:off x="6439592" y="186347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83" name="Ellipse 182"/>
                <p:cNvSpPr>
                  <a:spLocks noChangeAspect="1"/>
                </p:cNvSpPr>
                <p:nvPr/>
              </p:nvSpPr>
              <p:spPr>
                <a:xfrm>
                  <a:off x="6687025" y="225784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50" name="Ellipse 49"/>
              <p:cNvSpPr>
                <a:spLocks noChangeAspect="1"/>
              </p:cNvSpPr>
              <p:nvPr/>
            </p:nvSpPr>
            <p:spPr>
              <a:xfrm>
                <a:off x="5927704" y="436678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51" name="Gerader Verbinder 50"/>
              <p:cNvCxnSpPr/>
              <p:nvPr/>
            </p:nvCxnSpPr>
            <p:spPr>
              <a:xfrm flipV="1">
                <a:off x="6334125" y="3306194"/>
                <a:ext cx="78299" cy="36807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52" name="Gerader Verbinder 51"/>
              <p:cNvCxnSpPr/>
              <p:nvPr/>
            </p:nvCxnSpPr>
            <p:spPr>
              <a:xfrm flipV="1">
                <a:off x="6213111" y="3246896"/>
                <a:ext cx="106838" cy="47077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53" name="Gerader Verbinder 52"/>
              <p:cNvCxnSpPr/>
              <p:nvPr/>
            </p:nvCxnSpPr>
            <p:spPr>
              <a:xfrm flipV="1">
                <a:off x="6419331" y="3105595"/>
                <a:ext cx="311944" cy="1916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54" name="Gerader Verbinder 53"/>
              <p:cNvCxnSpPr/>
              <p:nvPr/>
            </p:nvCxnSpPr>
            <p:spPr>
              <a:xfrm flipV="1">
                <a:off x="6321699" y="3026162"/>
                <a:ext cx="355252" cy="21726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55" name="Gerader Verbinder 54"/>
              <p:cNvCxnSpPr/>
              <p:nvPr/>
            </p:nvCxnSpPr>
            <p:spPr>
              <a:xfrm flipH="1">
                <a:off x="6659224" y="2467420"/>
                <a:ext cx="245882" cy="170872"/>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56" name="Gerader Verbinder 55"/>
              <p:cNvCxnSpPr/>
              <p:nvPr/>
            </p:nvCxnSpPr>
            <p:spPr>
              <a:xfrm flipV="1">
                <a:off x="6587357" y="2640338"/>
                <a:ext cx="68848" cy="32483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57" name="Ellipse 56"/>
              <p:cNvSpPr>
                <a:spLocks noChangeAspect="1"/>
              </p:cNvSpPr>
              <p:nvPr/>
            </p:nvSpPr>
            <p:spPr>
              <a:xfrm flipH="1">
                <a:off x="6549373" y="293116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58" name="Ellipse 57"/>
              <p:cNvSpPr>
                <a:spLocks noChangeAspect="1"/>
              </p:cNvSpPr>
              <p:nvPr/>
            </p:nvSpPr>
            <p:spPr>
              <a:xfrm flipH="1">
                <a:off x="6867277" y="243042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59" name="Gerader Verbinder 58"/>
              <p:cNvCxnSpPr/>
              <p:nvPr/>
            </p:nvCxnSpPr>
            <p:spPr>
              <a:xfrm flipH="1">
                <a:off x="6678603" y="2683861"/>
                <a:ext cx="71409" cy="3414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0" name="Gerader Verbinder 59"/>
              <p:cNvCxnSpPr/>
              <p:nvPr/>
            </p:nvCxnSpPr>
            <p:spPr>
              <a:xfrm flipH="1">
                <a:off x="6753031" y="2552856"/>
                <a:ext cx="218351" cy="13003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61" name="Gerader Verbinder 60"/>
              <p:cNvCxnSpPr/>
              <p:nvPr/>
            </p:nvCxnSpPr>
            <p:spPr>
              <a:xfrm flipH="1">
                <a:off x="6842613" y="2634886"/>
                <a:ext cx="187988" cy="107531"/>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62" name="Gerader Verbinder 61"/>
              <p:cNvCxnSpPr/>
              <p:nvPr/>
            </p:nvCxnSpPr>
            <p:spPr>
              <a:xfrm flipV="1">
                <a:off x="6784710" y="2743200"/>
                <a:ext cx="57903" cy="282137"/>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63" name="Ellipse 62"/>
              <p:cNvSpPr>
                <a:spLocks noChangeAspect="1"/>
              </p:cNvSpPr>
              <p:nvPr/>
            </p:nvSpPr>
            <p:spPr>
              <a:xfrm flipH="1">
                <a:off x="6994339" y="259496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4" name="Ellipse 63"/>
              <p:cNvSpPr>
                <a:spLocks noChangeAspect="1"/>
              </p:cNvSpPr>
              <p:nvPr/>
            </p:nvSpPr>
            <p:spPr>
              <a:xfrm flipH="1">
                <a:off x="6746906" y="2989337"/>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65" name="Gerader Verbinder 64"/>
              <p:cNvCxnSpPr/>
              <p:nvPr/>
            </p:nvCxnSpPr>
            <p:spPr>
              <a:xfrm flipH="1" flipV="1">
                <a:off x="6182731" y="3426362"/>
                <a:ext cx="70494" cy="80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6" name="Gerader Verbinder 65"/>
              <p:cNvCxnSpPr/>
              <p:nvPr/>
            </p:nvCxnSpPr>
            <p:spPr>
              <a:xfrm flipV="1">
                <a:off x="6182731" y="3151008"/>
                <a:ext cx="60459" cy="26395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7" name="Gerader Verbinder 66"/>
              <p:cNvCxnSpPr/>
              <p:nvPr/>
            </p:nvCxnSpPr>
            <p:spPr>
              <a:xfrm flipV="1">
                <a:off x="6242749" y="3005130"/>
                <a:ext cx="226203" cy="14587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nvGrpSpPr>
              <p:cNvPr id="68" name="Gruppieren 67"/>
              <p:cNvGrpSpPr/>
              <p:nvPr/>
            </p:nvGrpSpPr>
            <p:grpSpPr>
              <a:xfrm>
                <a:off x="5777681" y="2796355"/>
                <a:ext cx="79969" cy="106879"/>
                <a:chOff x="7106259" y="2072580"/>
                <a:chExt cx="79969" cy="106879"/>
              </a:xfrm>
            </p:grpSpPr>
            <p:cxnSp>
              <p:nvCxnSpPr>
                <p:cNvPr id="168" name="Gerader Verbinder 167"/>
                <p:cNvCxnSpPr/>
                <p:nvPr/>
              </p:nvCxnSpPr>
              <p:spPr>
                <a:xfrm>
                  <a:off x="7106259" y="2072580"/>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9" name="Gerader Verbinder 168"/>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69" name="Gruppieren 68"/>
              <p:cNvGrpSpPr/>
              <p:nvPr/>
            </p:nvGrpSpPr>
            <p:grpSpPr>
              <a:xfrm>
                <a:off x="5939275" y="2797116"/>
                <a:ext cx="79969" cy="106118"/>
                <a:chOff x="7106259" y="2074151"/>
                <a:chExt cx="79969" cy="106118"/>
              </a:xfrm>
            </p:grpSpPr>
            <p:cxnSp>
              <p:nvCxnSpPr>
                <p:cNvPr id="166" name="Gerader Verbinder 165"/>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7" name="Gerader Verbinder 166"/>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70" name="Gruppieren 69"/>
              <p:cNvGrpSpPr/>
              <p:nvPr/>
            </p:nvGrpSpPr>
            <p:grpSpPr>
              <a:xfrm>
                <a:off x="6098577" y="2797008"/>
                <a:ext cx="79969" cy="106118"/>
                <a:chOff x="7106259" y="2074151"/>
                <a:chExt cx="79969" cy="106118"/>
              </a:xfrm>
            </p:grpSpPr>
            <p:cxnSp>
              <p:nvCxnSpPr>
                <p:cNvPr id="164" name="Gerader Verbinder 163"/>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5" name="Gerader Verbinder 164"/>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71" name="Gruppieren 70"/>
              <p:cNvGrpSpPr/>
              <p:nvPr/>
            </p:nvGrpSpPr>
            <p:grpSpPr>
              <a:xfrm>
                <a:off x="6258306" y="2796198"/>
                <a:ext cx="79969" cy="106118"/>
                <a:chOff x="7106259" y="2074151"/>
                <a:chExt cx="79969" cy="106118"/>
              </a:xfrm>
            </p:grpSpPr>
            <p:cxnSp>
              <p:nvCxnSpPr>
                <p:cNvPr id="162" name="Gerader Verbinder 161"/>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3" name="Gerader Verbinder 162"/>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cxnSp>
            <p:nvCxnSpPr>
              <p:cNvPr id="72" name="Gerader Verbinder 71"/>
              <p:cNvCxnSpPr/>
              <p:nvPr/>
            </p:nvCxnSpPr>
            <p:spPr>
              <a:xfrm>
                <a:off x="6417536" y="2797356"/>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73" name="Gerader Verbinder 72"/>
              <p:cNvCxnSpPr/>
              <p:nvPr/>
            </p:nvCxnSpPr>
            <p:spPr>
              <a:xfrm flipH="1">
                <a:off x="5625015" y="3007484"/>
                <a:ext cx="96738" cy="6672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4" name="Gerader Verbinder 73"/>
              <p:cNvCxnSpPr/>
              <p:nvPr/>
            </p:nvCxnSpPr>
            <p:spPr>
              <a:xfrm flipH="1">
                <a:off x="5786397" y="2894491"/>
                <a:ext cx="1656" cy="169361"/>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5" name="Gerader Verbinder 74"/>
              <p:cNvCxnSpPr/>
              <p:nvPr/>
            </p:nvCxnSpPr>
            <p:spPr>
              <a:xfrm>
                <a:off x="5789803" y="3067490"/>
                <a:ext cx="163088" cy="10340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6" name="Gerader Verbinder 75"/>
              <p:cNvCxnSpPr/>
              <p:nvPr/>
            </p:nvCxnSpPr>
            <p:spPr>
              <a:xfrm>
                <a:off x="5955590" y="3176942"/>
                <a:ext cx="60625" cy="23848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7" name="Gerader Verbinder 76"/>
              <p:cNvCxnSpPr/>
              <p:nvPr/>
            </p:nvCxnSpPr>
            <p:spPr>
              <a:xfrm flipV="1">
                <a:off x="5947248" y="3421831"/>
                <a:ext cx="70494" cy="80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8" name="Gerader Verbinder 77"/>
              <p:cNvCxnSpPr/>
              <p:nvPr/>
            </p:nvCxnSpPr>
            <p:spPr>
              <a:xfrm>
                <a:off x="5950428" y="2883586"/>
                <a:ext cx="0" cy="16264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9" name="Gerader Verbinder 78"/>
              <p:cNvCxnSpPr/>
              <p:nvPr/>
            </p:nvCxnSpPr>
            <p:spPr>
              <a:xfrm>
                <a:off x="5950261" y="3052663"/>
                <a:ext cx="135606" cy="9675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0" name="Gerader Verbinder 79"/>
              <p:cNvCxnSpPr/>
              <p:nvPr/>
            </p:nvCxnSpPr>
            <p:spPr>
              <a:xfrm>
                <a:off x="6092068" y="3157204"/>
                <a:ext cx="6509" cy="481964"/>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81" name="Gerader Verbinder 80"/>
              <p:cNvCxnSpPr/>
              <p:nvPr/>
            </p:nvCxnSpPr>
            <p:spPr>
              <a:xfrm>
                <a:off x="6349834" y="2892043"/>
                <a:ext cx="0" cy="6319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2" name="Gerader Verbinder 81"/>
              <p:cNvCxnSpPr/>
              <p:nvPr/>
            </p:nvCxnSpPr>
            <p:spPr>
              <a:xfrm flipH="1">
                <a:off x="6247805" y="2957250"/>
                <a:ext cx="102029" cy="6138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3" name="Gerader Verbinder 82"/>
              <p:cNvCxnSpPr/>
              <p:nvPr/>
            </p:nvCxnSpPr>
            <p:spPr>
              <a:xfrm>
                <a:off x="6240287" y="3024655"/>
                <a:ext cx="404" cy="11937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4" name="Gerader Verbinder 83"/>
              <p:cNvCxnSpPr/>
              <p:nvPr/>
            </p:nvCxnSpPr>
            <p:spPr>
              <a:xfrm flipH="1">
                <a:off x="6032951" y="3047837"/>
                <a:ext cx="74901" cy="570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5" name="Gerader Verbinder 84"/>
              <p:cNvCxnSpPr/>
              <p:nvPr/>
            </p:nvCxnSpPr>
            <p:spPr>
              <a:xfrm>
                <a:off x="6109971" y="2883775"/>
                <a:ext cx="0" cy="16264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nvGrpSpPr>
              <p:cNvPr id="86" name="Gruppieren 85"/>
              <p:cNvGrpSpPr/>
              <p:nvPr/>
            </p:nvGrpSpPr>
            <p:grpSpPr>
              <a:xfrm>
                <a:off x="4951158" y="2886789"/>
                <a:ext cx="561594" cy="761161"/>
                <a:chOff x="6265450" y="2165395"/>
                <a:chExt cx="561594" cy="761161"/>
              </a:xfrm>
            </p:grpSpPr>
            <p:grpSp>
              <p:nvGrpSpPr>
                <p:cNvPr id="155" name="Gruppieren 154"/>
                <p:cNvGrpSpPr/>
                <p:nvPr/>
              </p:nvGrpSpPr>
              <p:grpSpPr>
                <a:xfrm flipH="1">
                  <a:off x="6265450" y="2165395"/>
                  <a:ext cx="561594" cy="761161"/>
                  <a:chOff x="8006457" y="2167074"/>
                  <a:chExt cx="561594" cy="761161"/>
                </a:xfrm>
              </p:grpSpPr>
              <p:cxnSp>
                <p:nvCxnSpPr>
                  <p:cNvPr id="159" name="Gerader Verbinder 158"/>
                  <p:cNvCxnSpPr>
                    <a:stCxn id="148" idx="3"/>
                  </p:cNvCxnSpPr>
                  <p:nvPr/>
                </p:nvCxnSpPr>
                <p:spPr>
                  <a:xfrm flipV="1">
                    <a:off x="8006457" y="2727405"/>
                    <a:ext cx="292400" cy="20083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60" name="Gerader Verbinder 159"/>
                  <p:cNvCxnSpPr/>
                  <p:nvPr/>
                </p:nvCxnSpPr>
                <p:spPr>
                  <a:xfrm flipV="1">
                    <a:off x="8290436" y="2167320"/>
                    <a:ext cx="159747" cy="411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61" name="Gerader Verbinder 160"/>
                  <p:cNvCxnSpPr/>
                  <p:nvPr/>
                </p:nvCxnSpPr>
                <p:spPr>
                  <a:xfrm>
                    <a:off x="8456852" y="2167074"/>
                    <a:ext cx="111199" cy="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cxnSp>
              <p:nvCxnSpPr>
                <p:cNvPr id="156" name="Gerader Verbinder 155"/>
                <p:cNvCxnSpPr/>
                <p:nvPr/>
              </p:nvCxnSpPr>
              <p:spPr>
                <a:xfrm flipH="1">
                  <a:off x="6307288" y="2228777"/>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57" name="Gerader Verbinder 156"/>
                <p:cNvCxnSpPr/>
                <p:nvPr/>
              </p:nvCxnSpPr>
              <p:spPr>
                <a:xfrm flipH="1">
                  <a:off x="6331368" y="2307383"/>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58" name="Gerader Verbinder 157"/>
                <p:cNvCxnSpPr/>
                <p:nvPr/>
              </p:nvCxnSpPr>
              <p:spPr>
                <a:xfrm flipH="1">
                  <a:off x="6368144" y="2381138"/>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cxnSp>
            <p:nvCxnSpPr>
              <p:cNvPr id="87" name="Gerader Verbinder 86"/>
              <p:cNvCxnSpPr/>
              <p:nvPr/>
            </p:nvCxnSpPr>
            <p:spPr>
              <a:xfrm flipV="1">
                <a:off x="6684096" y="3447118"/>
                <a:ext cx="310243" cy="20767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8" name="Gerader Verbinder 87"/>
              <p:cNvCxnSpPr/>
              <p:nvPr/>
            </p:nvCxnSpPr>
            <p:spPr>
              <a:xfrm>
                <a:off x="7111954" y="2950171"/>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89" name="Gerader Verbinder 88"/>
              <p:cNvCxnSpPr/>
              <p:nvPr/>
            </p:nvCxnSpPr>
            <p:spPr>
              <a:xfrm>
                <a:off x="7080436" y="3026783"/>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90" name="Gerader Verbinder 89"/>
              <p:cNvCxnSpPr/>
              <p:nvPr/>
            </p:nvCxnSpPr>
            <p:spPr>
              <a:xfrm>
                <a:off x="7051098" y="3102532"/>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91" name="Gerader Verbinder 90"/>
              <p:cNvCxnSpPr/>
              <p:nvPr/>
            </p:nvCxnSpPr>
            <p:spPr>
              <a:xfrm flipH="1" flipV="1">
                <a:off x="5415285" y="3184277"/>
                <a:ext cx="290349" cy="17352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sp>
            <p:nvSpPr>
              <p:cNvPr id="92" name="Ellipse 91"/>
              <p:cNvSpPr>
                <a:spLocks noChangeAspect="1"/>
              </p:cNvSpPr>
              <p:nvPr/>
            </p:nvSpPr>
            <p:spPr>
              <a:xfrm>
                <a:off x="5375305" y="314773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93" name="Gerader Verbinder 92"/>
              <p:cNvCxnSpPr/>
              <p:nvPr/>
            </p:nvCxnSpPr>
            <p:spPr>
              <a:xfrm>
                <a:off x="5705634" y="3361656"/>
                <a:ext cx="48352" cy="21205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4" name="Gerader Verbinder 93"/>
              <p:cNvCxnSpPr/>
              <p:nvPr/>
            </p:nvCxnSpPr>
            <p:spPr>
              <a:xfrm>
                <a:off x="5756690" y="3576444"/>
                <a:ext cx="112979" cy="9659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5" name="Gerader Verbinder 94"/>
              <p:cNvCxnSpPr/>
              <p:nvPr/>
            </p:nvCxnSpPr>
            <p:spPr>
              <a:xfrm flipH="1">
                <a:off x="5263919" y="3105025"/>
                <a:ext cx="89290" cy="36799"/>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96" name="Gerader Verbinder 95"/>
              <p:cNvCxnSpPr/>
              <p:nvPr/>
            </p:nvCxnSpPr>
            <p:spPr>
              <a:xfrm flipH="1" flipV="1">
                <a:off x="5125888" y="2813675"/>
                <a:ext cx="128382" cy="33251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7" name="Gerader Verbinder 96"/>
              <p:cNvCxnSpPr/>
              <p:nvPr/>
            </p:nvCxnSpPr>
            <p:spPr>
              <a:xfrm flipH="1">
                <a:off x="4922203" y="2813675"/>
                <a:ext cx="200160" cy="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8" name="Gerader Verbinder 97"/>
              <p:cNvCxnSpPr/>
              <p:nvPr/>
            </p:nvCxnSpPr>
            <p:spPr>
              <a:xfrm>
                <a:off x="6836727" y="3105025"/>
                <a:ext cx="66550" cy="36799"/>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99" name="Gerader Verbinder 98"/>
              <p:cNvCxnSpPr/>
              <p:nvPr/>
            </p:nvCxnSpPr>
            <p:spPr>
              <a:xfrm flipV="1">
                <a:off x="6909793" y="2778970"/>
                <a:ext cx="145802" cy="36285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0" name="Gerader Verbinder 99"/>
              <p:cNvCxnSpPr/>
              <p:nvPr/>
            </p:nvCxnSpPr>
            <p:spPr>
              <a:xfrm>
                <a:off x="7066339" y="2778970"/>
                <a:ext cx="218288" cy="83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1" name="Gerader Verbinder 100"/>
              <p:cNvCxnSpPr/>
              <p:nvPr/>
            </p:nvCxnSpPr>
            <p:spPr>
              <a:xfrm>
                <a:off x="7014587" y="2903241"/>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2" name="Gerader Verbinder 101"/>
              <p:cNvCxnSpPr/>
              <p:nvPr/>
            </p:nvCxnSpPr>
            <p:spPr>
              <a:xfrm>
                <a:off x="6987934" y="2981714"/>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3" name="Gerader Verbinder 102"/>
              <p:cNvCxnSpPr/>
              <p:nvPr/>
            </p:nvCxnSpPr>
            <p:spPr>
              <a:xfrm>
                <a:off x="6956091" y="3054710"/>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4" name="Gerader Verbinder 103"/>
              <p:cNvCxnSpPr/>
              <p:nvPr/>
            </p:nvCxnSpPr>
            <p:spPr>
              <a:xfrm flipH="1" flipV="1">
                <a:off x="6782166" y="3183736"/>
                <a:ext cx="204123" cy="11244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sp>
            <p:nvSpPr>
              <p:cNvPr id="105" name="Ellipse 104"/>
              <p:cNvSpPr>
                <a:spLocks noChangeAspect="1"/>
              </p:cNvSpPr>
              <p:nvPr/>
            </p:nvSpPr>
            <p:spPr>
              <a:xfrm flipH="1">
                <a:off x="6748141" y="3149416"/>
                <a:ext cx="72000" cy="74359"/>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06" name="Gerader Verbinder 105"/>
              <p:cNvCxnSpPr/>
              <p:nvPr/>
            </p:nvCxnSpPr>
            <p:spPr>
              <a:xfrm>
                <a:off x="5216574" y="3594010"/>
                <a:ext cx="194731" cy="123661"/>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7" name="Gerader Verbinder 106"/>
              <p:cNvCxnSpPr/>
              <p:nvPr/>
            </p:nvCxnSpPr>
            <p:spPr>
              <a:xfrm>
                <a:off x="5416603" y="3724110"/>
                <a:ext cx="95940" cy="16138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8" name="Gerader Verbinder 107"/>
              <p:cNvCxnSpPr/>
              <p:nvPr/>
            </p:nvCxnSpPr>
            <p:spPr>
              <a:xfrm>
                <a:off x="5520341" y="3890250"/>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109" name="Gerader Verbinder 108"/>
              <p:cNvCxnSpPr/>
              <p:nvPr/>
            </p:nvCxnSpPr>
            <p:spPr>
              <a:xfrm flipH="1">
                <a:off x="5188057" y="3305216"/>
                <a:ext cx="39800" cy="49648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10" name="Gerader Verbinder 109"/>
              <p:cNvCxnSpPr/>
              <p:nvPr/>
            </p:nvCxnSpPr>
            <p:spPr>
              <a:xfrm>
                <a:off x="5199368" y="3702618"/>
                <a:ext cx="159349" cy="9552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1" name="Gerader Verbinder 110"/>
              <p:cNvCxnSpPr/>
              <p:nvPr/>
            </p:nvCxnSpPr>
            <p:spPr>
              <a:xfrm>
                <a:off x="5359658" y="3801628"/>
                <a:ext cx="101063" cy="16819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2" name="Gerader Verbinder 111"/>
              <p:cNvCxnSpPr/>
              <p:nvPr/>
            </p:nvCxnSpPr>
            <p:spPr>
              <a:xfrm>
                <a:off x="5464184" y="3976623"/>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113" name="Gerader Verbinder 112"/>
              <p:cNvCxnSpPr/>
              <p:nvPr/>
            </p:nvCxnSpPr>
            <p:spPr>
              <a:xfrm flipH="1" flipV="1">
                <a:off x="6506255" y="3932754"/>
                <a:ext cx="57791" cy="264650"/>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14" name="Gerader Verbinder 113"/>
              <p:cNvCxnSpPr/>
              <p:nvPr/>
            </p:nvCxnSpPr>
            <p:spPr>
              <a:xfrm flipV="1">
                <a:off x="6755483" y="3697856"/>
                <a:ext cx="4863" cy="7628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5" name="Gerader Verbinder 114"/>
              <p:cNvCxnSpPr/>
              <p:nvPr/>
            </p:nvCxnSpPr>
            <p:spPr>
              <a:xfrm flipV="1">
                <a:off x="6760346" y="3543591"/>
                <a:ext cx="241170" cy="15426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6" name="Gerader Verbinder 115"/>
              <p:cNvCxnSpPr/>
              <p:nvPr/>
            </p:nvCxnSpPr>
            <p:spPr>
              <a:xfrm>
                <a:off x="6990397" y="3302989"/>
                <a:ext cx="39080" cy="51272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17" name="Gerader Verbinder 116"/>
              <p:cNvCxnSpPr>
                <a:endCxn id="120" idx="0"/>
              </p:cNvCxnSpPr>
              <p:nvPr/>
            </p:nvCxnSpPr>
            <p:spPr>
              <a:xfrm>
                <a:off x="5125888" y="3921686"/>
                <a:ext cx="51794" cy="24995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18" name="Gerader Verbinder 117"/>
              <p:cNvCxnSpPr/>
              <p:nvPr/>
            </p:nvCxnSpPr>
            <p:spPr>
              <a:xfrm flipH="1" flipV="1">
                <a:off x="5240706" y="3980202"/>
                <a:ext cx="132068" cy="21418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sp>
            <p:nvSpPr>
              <p:cNvPr id="119" name="Ellipse 118"/>
              <p:cNvSpPr>
                <a:spLocks noChangeAspect="1"/>
              </p:cNvSpPr>
              <p:nvPr/>
            </p:nvSpPr>
            <p:spPr>
              <a:xfrm>
                <a:off x="5148351" y="379686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0" name="Ellipse 119"/>
              <p:cNvSpPr>
                <a:spLocks noChangeAspect="1"/>
              </p:cNvSpPr>
              <p:nvPr/>
            </p:nvSpPr>
            <p:spPr>
              <a:xfrm>
                <a:off x="5141682" y="4171642"/>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21" name="Gerader Verbinder 120"/>
              <p:cNvCxnSpPr/>
              <p:nvPr/>
            </p:nvCxnSpPr>
            <p:spPr>
              <a:xfrm>
                <a:off x="6725248" y="4216939"/>
                <a:ext cx="191736" cy="6552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2" name="Gerader Verbinder 121"/>
              <p:cNvCxnSpPr/>
              <p:nvPr/>
            </p:nvCxnSpPr>
            <p:spPr>
              <a:xfrm>
                <a:off x="6924289" y="3880226"/>
                <a:ext cx="77980" cy="29652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23" name="Ellipse 122"/>
              <p:cNvSpPr>
                <a:spLocks noChangeAspect="1"/>
              </p:cNvSpPr>
              <p:nvPr/>
            </p:nvSpPr>
            <p:spPr>
              <a:xfrm>
                <a:off x="6649505" y="41673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4" name="Ellipse 123"/>
              <p:cNvSpPr>
                <a:spLocks noChangeAspect="1"/>
              </p:cNvSpPr>
              <p:nvPr/>
            </p:nvSpPr>
            <p:spPr>
              <a:xfrm>
                <a:off x="6995680" y="379790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5" name="Ellipse 124"/>
              <p:cNvSpPr>
                <a:spLocks noChangeAspect="1"/>
              </p:cNvSpPr>
              <p:nvPr/>
            </p:nvSpPr>
            <p:spPr>
              <a:xfrm>
                <a:off x="6978587" y="4174890"/>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26" name="Gerader Verbinder 125"/>
              <p:cNvCxnSpPr/>
              <p:nvPr/>
            </p:nvCxnSpPr>
            <p:spPr>
              <a:xfrm>
                <a:off x="5312904" y="3901575"/>
                <a:ext cx="92892" cy="15755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7" name="Gerader Verbinder 126"/>
              <p:cNvCxnSpPr/>
              <p:nvPr/>
            </p:nvCxnSpPr>
            <p:spPr>
              <a:xfrm flipV="1">
                <a:off x="6514313" y="3774145"/>
                <a:ext cx="241170" cy="15426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8" name="Gerader Verbinder 127"/>
              <p:cNvCxnSpPr/>
              <p:nvPr/>
            </p:nvCxnSpPr>
            <p:spPr>
              <a:xfrm flipV="1">
                <a:off x="6760346" y="3826002"/>
                <a:ext cx="4863" cy="7628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9" name="Gerader Verbinder 128"/>
              <p:cNvCxnSpPr/>
              <p:nvPr/>
            </p:nvCxnSpPr>
            <p:spPr>
              <a:xfrm flipV="1">
                <a:off x="6773839" y="3671738"/>
                <a:ext cx="232540" cy="1439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0" name="Gerader Verbinder 129"/>
              <p:cNvCxnSpPr/>
              <p:nvPr/>
            </p:nvCxnSpPr>
            <p:spPr>
              <a:xfrm flipV="1">
                <a:off x="6532742" y="3902292"/>
                <a:ext cx="227604" cy="14650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1" name="Gerader Verbinder 130"/>
              <p:cNvCxnSpPr/>
              <p:nvPr/>
            </p:nvCxnSpPr>
            <p:spPr>
              <a:xfrm flipV="1">
                <a:off x="6757914" y="3906635"/>
                <a:ext cx="2432" cy="12518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2" name="Gerader Verbinder 131"/>
              <p:cNvCxnSpPr/>
              <p:nvPr/>
            </p:nvCxnSpPr>
            <p:spPr>
              <a:xfrm flipV="1">
                <a:off x="6624886" y="4031819"/>
                <a:ext cx="133028" cy="72000"/>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33" name="Gerader Verbinder 132"/>
              <p:cNvCxnSpPr/>
              <p:nvPr/>
            </p:nvCxnSpPr>
            <p:spPr>
              <a:xfrm>
                <a:off x="5411305" y="4063880"/>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sp>
            <p:nvSpPr>
              <p:cNvPr id="134" name="Ellipse 133"/>
              <p:cNvSpPr>
                <a:spLocks noChangeAspect="1"/>
              </p:cNvSpPr>
              <p:nvPr/>
            </p:nvSpPr>
            <p:spPr>
              <a:xfrm>
                <a:off x="5184351" y="391384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nvGrpSpPr>
              <p:cNvPr id="135" name="Gruppieren 134"/>
              <p:cNvGrpSpPr/>
              <p:nvPr/>
            </p:nvGrpSpPr>
            <p:grpSpPr>
              <a:xfrm flipH="1">
                <a:off x="6213111" y="4367107"/>
                <a:ext cx="513402" cy="292556"/>
                <a:chOff x="6752900" y="3636169"/>
                <a:chExt cx="513402" cy="292556"/>
              </a:xfrm>
            </p:grpSpPr>
            <p:cxnSp>
              <p:nvCxnSpPr>
                <p:cNvPr id="149" name="Gerader Verbinder 148"/>
                <p:cNvCxnSpPr/>
                <p:nvPr/>
              </p:nvCxnSpPr>
              <p:spPr>
                <a:xfrm flipH="1" flipV="1">
                  <a:off x="7035650" y="3636171"/>
                  <a:ext cx="186898" cy="900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50" name="Gerader Verbinder 149"/>
                <p:cNvCxnSpPr/>
                <p:nvPr/>
              </p:nvCxnSpPr>
              <p:spPr>
                <a:xfrm flipH="1">
                  <a:off x="6752900" y="3636169"/>
                  <a:ext cx="278933" cy="90254"/>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1" name="Gerader Verbinder 150"/>
                <p:cNvCxnSpPr/>
                <p:nvPr/>
              </p:nvCxnSpPr>
              <p:spPr>
                <a:xfrm flipH="1" flipV="1">
                  <a:off x="7060607" y="3750675"/>
                  <a:ext cx="157305" cy="32464"/>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52" name="Gerader Verbinder 151"/>
                <p:cNvCxnSpPr/>
                <p:nvPr/>
              </p:nvCxnSpPr>
              <p:spPr>
                <a:xfrm flipH="1">
                  <a:off x="6796088" y="3748908"/>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3" name="Gerader Verbinder 152"/>
                <p:cNvCxnSpPr/>
                <p:nvPr/>
              </p:nvCxnSpPr>
              <p:spPr>
                <a:xfrm flipH="1">
                  <a:off x="6835024" y="3846387"/>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4" name="Gerader Verbinder 153"/>
                <p:cNvCxnSpPr/>
                <p:nvPr/>
              </p:nvCxnSpPr>
              <p:spPr>
                <a:xfrm flipH="1">
                  <a:off x="7093390" y="3836079"/>
                  <a:ext cx="172912" cy="883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136" name="Gerader Verbinder 135"/>
              <p:cNvCxnSpPr/>
              <p:nvPr/>
            </p:nvCxnSpPr>
            <p:spPr>
              <a:xfrm>
                <a:off x="6835243" y="3913899"/>
                <a:ext cx="86472" cy="36464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37" name="Gerader Verbinder 136"/>
              <p:cNvCxnSpPr>
                <a:endCxn id="138" idx="2"/>
              </p:cNvCxnSpPr>
              <p:nvPr/>
            </p:nvCxnSpPr>
            <p:spPr>
              <a:xfrm>
                <a:off x="5374849" y="4196606"/>
                <a:ext cx="91720" cy="798"/>
              </a:xfrm>
              <a:prstGeom prst="line">
                <a:avLst/>
              </a:prstGeom>
              <a:noFill/>
              <a:ln w="25400" cap="rnd" cmpd="sng" algn="ctr">
                <a:solidFill>
                  <a:srgbClr val="19F54B"/>
                </a:solidFill>
                <a:prstDash val="solid"/>
                <a:round/>
                <a:headEnd type="none"/>
                <a:tailEnd type="none"/>
              </a:ln>
              <a:effectLst/>
            </p:spPr>
          </p:cxnSp>
          <p:sp>
            <p:nvSpPr>
              <p:cNvPr id="138" name="Ellipse 137"/>
              <p:cNvSpPr>
                <a:spLocks noChangeAspect="1"/>
              </p:cNvSpPr>
              <p:nvPr/>
            </p:nvSpPr>
            <p:spPr>
              <a:xfrm>
                <a:off x="5466569" y="416140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39" name="Ellipse 138"/>
              <p:cNvSpPr>
                <a:spLocks noChangeAspect="1"/>
              </p:cNvSpPr>
              <p:nvPr/>
            </p:nvSpPr>
            <p:spPr>
              <a:xfrm>
                <a:off x="6060513" y="360654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40" name="Gerader Verbinder 139"/>
              <p:cNvCxnSpPr>
                <a:endCxn id="147" idx="3"/>
              </p:cNvCxnSpPr>
              <p:nvPr/>
            </p:nvCxnSpPr>
            <p:spPr>
              <a:xfrm>
                <a:off x="5531279" y="3660405"/>
                <a:ext cx="295798" cy="168520"/>
              </a:xfrm>
              <a:prstGeom prst="line">
                <a:avLst/>
              </a:prstGeom>
              <a:noFill/>
              <a:ln w="25400" cap="rnd" cmpd="sng" algn="ctr">
                <a:solidFill>
                  <a:sysClr val="window" lastClr="FFFFFF"/>
                </a:solidFill>
                <a:prstDash val="solid"/>
                <a:round/>
                <a:headEnd type="none"/>
                <a:tailEnd type="none"/>
              </a:ln>
              <a:effectLst/>
            </p:spPr>
          </p:cxnSp>
          <p:cxnSp>
            <p:nvCxnSpPr>
              <p:cNvPr id="141" name="Gerader Verbinder 140"/>
              <p:cNvCxnSpPr>
                <a:stCxn id="145" idx="7"/>
              </p:cNvCxnSpPr>
              <p:nvPr/>
            </p:nvCxnSpPr>
            <p:spPr>
              <a:xfrm flipV="1">
                <a:off x="6390683" y="3663210"/>
                <a:ext cx="287803" cy="149036"/>
              </a:xfrm>
              <a:prstGeom prst="line">
                <a:avLst/>
              </a:prstGeom>
              <a:noFill/>
              <a:ln w="25400" cap="rnd" cmpd="sng" algn="ctr">
                <a:solidFill>
                  <a:sysClr val="window" lastClr="FFFFFF"/>
                </a:solidFill>
                <a:prstDash val="solid"/>
                <a:round/>
                <a:headEnd type="none"/>
                <a:tailEnd type="none"/>
              </a:ln>
              <a:effectLst/>
            </p:spPr>
          </p:cxnSp>
          <p:sp>
            <p:nvSpPr>
              <p:cNvPr id="142" name="Freihandform 141"/>
              <p:cNvSpPr/>
              <p:nvPr/>
            </p:nvSpPr>
            <p:spPr>
              <a:xfrm flipH="1">
                <a:off x="6373084" y="3627586"/>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solidFill>
                <a:sysClr val="window" lastClr="FFFFFF"/>
              </a:solidFill>
              <a:ln w="28575"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3" name="Freihandform 142"/>
              <p:cNvSpPr/>
              <p:nvPr/>
            </p:nvSpPr>
            <p:spPr>
              <a:xfrm flipH="1">
                <a:off x="6370703" y="3660816"/>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solidFill>
                <a:sysClr val="window" lastClr="FFFFFF"/>
              </a:solidFill>
              <a:ln w="28575"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nvGrpSpPr>
              <p:cNvPr id="144" name="Gruppieren 143"/>
              <p:cNvGrpSpPr/>
              <p:nvPr/>
            </p:nvGrpSpPr>
            <p:grpSpPr>
              <a:xfrm>
                <a:off x="5509926" y="3621864"/>
                <a:ext cx="317151" cy="209442"/>
                <a:chOff x="6828980" y="2898089"/>
                <a:chExt cx="317151" cy="209442"/>
              </a:xfrm>
              <a:solidFill>
                <a:sysClr val="window" lastClr="FFFFFF"/>
              </a:solidFill>
            </p:grpSpPr>
            <p:sp>
              <p:nvSpPr>
                <p:cNvPr id="147" name="Freihandform 146"/>
                <p:cNvSpPr/>
                <p:nvPr/>
              </p:nvSpPr>
              <p:spPr>
                <a:xfrm>
                  <a:off x="6828980" y="2931319"/>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grp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8" name="Freihandform 147"/>
                <p:cNvSpPr/>
                <p:nvPr/>
              </p:nvSpPr>
              <p:spPr>
                <a:xfrm>
                  <a:off x="6831806" y="2898089"/>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grp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145" name="Ellipse 144"/>
              <p:cNvSpPr>
                <a:spLocks noChangeAspect="1"/>
              </p:cNvSpPr>
              <p:nvPr/>
            </p:nvSpPr>
            <p:spPr>
              <a:xfrm>
                <a:off x="6329227" y="3801702"/>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6" name="Ellipse 145"/>
              <p:cNvSpPr>
                <a:spLocks noChangeAspect="1"/>
              </p:cNvSpPr>
              <p:nvPr/>
            </p:nvSpPr>
            <p:spPr>
              <a:xfrm>
                <a:off x="5791522" y="379015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cxnSp>
          <p:nvCxnSpPr>
            <p:cNvPr id="11" name="Gerader Verbinder 10"/>
            <p:cNvCxnSpPr/>
            <p:nvPr/>
          </p:nvCxnSpPr>
          <p:spPr>
            <a:xfrm flipH="1">
              <a:off x="2536865" y="2663239"/>
              <a:ext cx="25245" cy="16830"/>
            </a:xfrm>
            <a:prstGeom prst="line">
              <a:avLst/>
            </a:prstGeom>
            <a:noFill/>
            <a:ln w="25400" cap="rnd" cmpd="sng" algn="ctr">
              <a:solidFill>
                <a:srgbClr val="1FFF53"/>
              </a:solidFill>
              <a:prstDash val="solid"/>
              <a:round/>
              <a:headEnd type="none"/>
              <a:tailEnd type="none"/>
            </a:ln>
            <a:effectLst/>
          </p:spPr>
        </p:cxnSp>
      </p:grpSp>
      <p:grpSp>
        <p:nvGrpSpPr>
          <p:cNvPr id="222" name="Group 4"/>
          <p:cNvGrpSpPr/>
          <p:nvPr/>
        </p:nvGrpSpPr>
        <p:grpSpPr>
          <a:xfrm>
            <a:off x="-1" y="5071544"/>
            <a:ext cx="12080147" cy="949744"/>
            <a:chOff x="395536" y="2914734"/>
            <a:chExt cx="8352928" cy="576000"/>
          </a:xfrm>
        </p:grpSpPr>
        <p:sp>
          <p:nvSpPr>
            <p:cNvPr id="223" name="Rectangle 5"/>
            <p:cNvSpPr/>
            <p:nvPr/>
          </p:nvSpPr>
          <p:spPr>
            <a:xfrm>
              <a:off x="534010" y="2914734"/>
              <a:ext cx="8214454" cy="576000"/>
            </a:xfrm>
            <a:prstGeom prst="rect">
              <a:avLst/>
            </a:prstGeom>
            <a:gradFill flip="none" rotWithShape="1">
              <a:gsLst>
                <a:gs pos="100000">
                  <a:sysClr val="window" lastClr="FFFFFF"/>
                </a:gs>
                <a:gs pos="0">
                  <a:srgbClr val="00AAE5"/>
                </a:gs>
                <a:gs pos="50000">
                  <a:srgbClr val="53C6ED">
                    <a:alpha val="50000"/>
                  </a:srgbClr>
                </a:gs>
                <a:gs pos="25000">
                  <a:srgbClr val="00AAE5">
                    <a:alpha val="75000"/>
                  </a:srgbClr>
                </a:gs>
              </a:gsLst>
              <a:lin ang="0" scaled="1"/>
              <a:tileRect/>
            </a:gradFill>
            <a:ln w="88900" cap="rnd" cmpd="sng" algn="ctr">
              <a:no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lumMod val="95000"/>
                    <a:lumOff val="5000"/>
                  </a:prstClr>
                </a:solidFill>
                <a:effectLst/>
                <a:uLnTx/>
                <a:uFillTx/>
                <a:latin typeface="Calibri"/>
                <a:ea typeface="+mn-ea"/>
                <a:cs typeface="+mn-cs"/>
              </a:endParaRPr>
            </a:p>
          </p:txBody>
        </p:sp>
        <p:sp>
          <p:nvSpPr>
            <p:cNvPr id="224" name="Rectangle 6"/>
            <p:cNvSpPr/>
            <p:nvPr/>
          </p:nvSpPr>
          <p:spPr>
            <a:xfrm>
              <a:off x="395536" y="2914734"/>
              <a:ext cx="144016" cy="576000"/>
            </a:xfrm>
            <a:prstGeom prst="rect">
              <a:avLst/>
            </a:prstGeom>
            <a:solidFill>
              <a:srgbClr val="00AAE5"/>
            </a:solidFill>
            <a:ln w="88900" cap="rnd" cmpd="sng" algn="ctr">
              <a:no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lumMod val="95000"/>
                    <a:lumOff val="5000"/>
                  </a:prstClr>
                </a:solidFill>
                <a:effectLst/>
                <a:uLnTx/>
                <a:uFillTx/>
                <a:latin typeface="Calibri"/>
                <a:ea typeface="+mn-ea"/>
                <a:cs typeface="+mn-cs"/>
              </a:endParaRPr>
            </a:p>
          </p:txBody>
        </p:sp>
      </p:grpSp>
      <p:grpSp>
        <p:nvGrpSpPr>
          <p:cNvPr id="225" name="Gruppieren 224"/>
          <p:cNvGrpSpPr/>
          <p:nvPr/>
        </p:nvGrpSpPr>
        <p:grpSpPr>
          <a:xfrm>
            <a:off x="3240528" y="266011"/>
            <a:ext cx="5307415" cy="1638047"/>
            <a:chOff x="3635896" y="266011"/>
            <a:chExt cx="4828380" cy="1638047"/>
          </a:xfrm>
        </p:grpSpPr>
        <p:sp>
          <p:nvSpPr>
            <p:cNvPr id="226" name="Textfeld 225"/>
            <p:cNvSpPr txBox="1"/>
            <p:nvPr/>
          </p:nvSpPr>
          <p:spPr>
            <a:xfrm>
              <a:off x="3635896" y="266011"/>
              <a:ext cx="4828380" cy="646331"/>
            </a:xfrm>
            <a:prstGeom prst="rect">
              <a:avLst/>
            </a:prstGeom>
            <a:noFill/>
            <a:ln w="12700">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AAE5"/>
                  </a:solidFill>
                  <a:effectLst/>
                  <a:uLnTx/>
                  <a:uFillTx/>
                </a:rPr>
                <a:t> </a:t>
              </a:r>
              <a:r>
                <a:rPr kumimoji="0" lang="en-US" sz="1800" b="0" i="0" u="none" strike="noStrike" kern="0" cap="none" spc="0" normalizeH="0" baseline="0" noProof="0" dirty="0" err="1" smtClean="0">
                  <a:ln>
                    <a:noFill/>
                  </a:ln>
                  <a:solidFill>
                    <a:srgbClr val="00AAE5"/>
                  </a:solidFill>
                  <a:effectLst/>
                  <a:uLnTx/>
                  <a:uFillTx/>
                </a:rPr>
                <a:t>SearchEngine</a:t>
              </a:r>
              <a:endParaRPr kumimoji="0" lang="en-US" sz="1800" b="0" i="0" u="none" strike="noStrike" kern="0" cap="none" spc="0" normalizeH="0" baseline="0" noProof="0" dirty="0" smtClean="0">
                <a:ln>
                  <a:noFill/>
                </a:ln>
                <a:solidFill>
                  <a:srgbClr val="00AAE5"/>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https://github.com/ThorstenDoherr/searchengine</a:t>
              </a:r>
            </a:p>
          </p:txBody>
        </p:sp>
        <p:sp>
          <p:nvSpPr>
            <p:cNvPr id="227" name="Textfeld 226"/>
            <p:cNvSpPr txBox="1"/>
            <p:nvPr/>
          </p:nvSpPr>
          <p:spPr>
            <a:xfrm>
              <a:off x="4049733" y="980728"/>
              <a:ext cx="4087437" cy="923330"/>
            </a:xfrm>
            <a:prstGeom prst="rect">
              <a:avLst/>
            </a:prstGeom>
            <a:noFill/>
            <a:ln w="12700">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AAE5"/>
                  </a:solidFill>
                  <a:effectLst/>
                  <a:uLnTx/>
                  <a:uFillTx/>
                </a:rPr>
                <a:t>    Brain – Neural Network for Stata</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https://github.com/ThorstenDoherr/brain</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a:t>
              </a:r>
              <a:r>
                <a:rPr kumimoji="0" lang="en-US" sz="1800" b="0" i="0" u="none" strike="noStrike" kern="0" cap="none" spc="0" normalizeH="0" baseline="0" noProof="0" dirty="0" err="1" smtClean="0">
                  <a:ln>
                    <a:noFill/>
                  </a:ln>
                  <a:solidFill>
                    <a:srgbClr val="000000"/>
                  </a:solidFill>
                  <a:effectLst/>
                  <a:uLnTx/>
                  <a:uFillTx/>
                </a:rPr>
                <a:t>ssc</a:t>
              </a:r>
              <a:r>
                <a:rPr kumimoji="0" lang="en-US" sz="1800" b="0" i="0" u="none" strike="noStrike" kern="0" cap="none" spc="0" normalizeH="0" baseline="0" noProof="0" dirty="0" smtClean="0">
                  <a:ln>
                    <a:noFill/>
                  </a:ln>
                  <a:solidFill>
                    <a:srgbClr val="000000"/>
                  </a:solidFill>
                  <a:effectLst/>
                  <a:uLnTx/>
                  <a:uFillTx/>
                </a:rPr>
                <a:t> install brain</a:t>
              </a:r>
            </a:p>
          </p:txBody>
        </p:sp>
      </p:grpSp>
      <p:sp>
        <p:nvSpPr>
          <p:cNvPr id="451" name="TextBox 8"/>
          <p:cNvSpPr txBox="1"/>
          <p:nvPr/>
        </p:nvSpPr>
        <p:spPr>
          <a:xfrm>
            <a:off x="323528" y="5130918"/>
            <a:ext cx="3834832" cy="830997"/>
          </a:xfrm>
          <a:prstGeom prst="rect">
            <a:avLst/>
          </a:prstGeom>
          <a:noFill/>
        </p:spPr>
        <p:txBody>
          <a:bodyPr wrap="none" rtlCol="0">
            <a:spAutoFit/>
          </a:bodyPr>
          <a:lstStyle/>
          <a:p>
            <a:r>
              <a:rPr lang="en-US" sz="2400" dirty="0" smtClean="0">
                <a:solidFill>
                  <a:schemeClr val="bg1"/>
                </a:solidFill>
              </a:rPr>
              <a:t>Thank you for your attention</a:t>
            </a:r>
          </a:p>
          <a:p>
            <a:r>
              <a:rPr lang="en-US" sz="2400" dirty="0" smtClean="0">
                <a:solidFill>
                  <a:schemeClr val="bg1"/>
                </a:solidFill>
              </a:rPr>
              <a:t>Time for questions</a:t>
            </a:r>
            <a:endParaRPr lang="en-US" sz="2400"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36</a:t>
            </a:fld>
            <a:endParaRPr lang="en-US" dirty="0"/>
          </a:p>
        </p:txBody>
      </p:sp>
    </p:spTree>
    <p:extLst>
      <p:ext uri="{BB962C8B-B14F-4D97-AF65-F5344CB8AC3E}">
        <p14:creationId xmlns:p14="http://schemas.microsoft.com/office/powerpoint/2010/main" val="2897419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2000" fill="hold"/>
                                        <p:tgtEl>
                                          <p:spTgt spid="5"/>
                                        </p:tgtEl>
                                        <p:attrNameLst>
                                          <p:attrName>ppt_w</p:attrName>
                                        </p:attrNameLst>
                                      </p:cBhvr>
                                      <p:tavLst>
                                        <p:tav tm="0">
                                          <p:val>
                                            <p:fltVal val="0"/>
                                          </p:val>
                                        </p:tav>
                                        <p:tav tm="100000">
                                          <p:val>
                                            <p:strVal val="#ppt_w"/>
                                          </p:val>
                                        </p:tav>
                                      </p:tavLst>
                                    </p:anim>
                                    <p:anim calcmode="lin" valueType="num">
                                      <p:cBhvr>
                                        <p:cTn id="8" dur="2000" fill="hold"/>
                                        <p:tgtEl>
                                          <p:spTgt spid="5"/>
                                        </p:tgtEl>
                                        <p:attrNameLst>
                                          <p:attrName>ppt_h</p:attrName>
                                        </p:attrNameLst>
                                      </p:cBhvr>
                                      <p:tavLst>
                                        <p:tav tm="0">
                                          <p:val>
                                            <p:fltVal val="0"/>
                                          </p:val>
                                        </p:tav>
                                        <p:tav tm="100000">
                                          <p:val>
                                            <p:strVal val="#ppt_h"/>
                                          </p:val>
                                        </p:tav>
                                      </p:tavLst>
                                    </p:anim>
                                    <p:anim calcmode="lin" valueType="num">
                                      <p:cBhvr>
                                        <p:cTn id="9" dur="2000" fill="hold"/>
                                        <p:tgtEl>
                                          <p:spTgt spid="5"/>
                                        </p:tgtEl>
                                        <p:attrNameLst>
                                          <p:attrName>style.rotation</p:attrName>
                                        </p:attrNameLst>
                                      </p:cBhvr>
                                      <p:tavLst>
                                        <p:tav tm="0">
                                          <p:val>
                                            <p:fltVal val="90"/>
                                          </p:val>
                                        </p:tav>
                                        <p:tav tm="100000">
                                          <p:val>
                                            <p:fltVal val="0"/>
                                          </p:val>
                                        </p:tav>
                                      </p:tavLst>
                                    </p:anim>
                                    <p:animEffect transition="in" filter="fade">
                                      <p:cBhvr>
                                        <p:cTn id="10" dur="2000"/>
                                        <p:tgtEl>
                                          <p:spTgt spid="5"/>
                                        </p:tgtEl>
                                      </p:cBhvr>
                                    </p:animEffect>
                                  </p:childTnLst>
                                </p:cTn>
                              </p:par>
                            </p:childTnLst>
                          </p:cTn>
                        </p:par>
                        <p:par>
                          <p:cTn id="11" fill="hold">
                            <p:stCondLst>
                              <p:cond delay="2000"/>
                            </p:stCondLst>
                            <p:childTnLst>
                              <p:par>
                                <p:cTn id="12" presetID="22" presetClass="entr" presetSubtype="8" fill="hold" nodeType="afterEffect">
                                  <p:stCondLst>
                                    <p:cond delay="0"/>
                                  </p:stCondLst>
                                  <p:childTnLst>
                                    <p:set>
                                      <p:cBhvr>
                                        <p:cTn id="13" dur="1" fill="hold">
                                          <p:stCondLst>
                                            <p:cond delay="0"/>
                                          </p:stCondLst>
                                        </p:cTn>
                                        <p:tgtEl>
                                          <p:spTgt spid="225"/>
                                        </p:tgtEl>
                                        <p:attrNameLst>
                                          <p:attrName>style.visibility</p:attrName>
                                        </p:attrNameLst>
                                      </p:cBhvr>
                                      <p:to>
                                        <p:strVal val="visible"/>
                                      </p:to>
                                    </p:set>
                                    <p:animEffect transition="in" filter="wipe(left)">
                                      <p:cBhvr>
                                        <p:cTn id="14" dur="500"/>
                                        <p:tgtEl>
                                          <p:spTgt spid="2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25400">
          <a:solidFill>
            <a:srgbClr val="00B0F0"/>
          </a:solidFill>
        </a:ln>
      </a:spPr>
      <a:bodyPr rtlCol="0" anchor="ctr"/>
      <a:lstStyle>
        <a:defPPr algn="ctr">
          <a:defRPr/>
        </a:defPPr>
      </a:lstStyle>
      <a:style>
        <a:lnRef idx="1">
          <a:schemeClr val="accent1"/>
        </a:lnRef>
        <a:fillRef idx="0">
          <a:schemeClr val="accent1"/>
        </a:fillRef>
        <a:effectRef idx="0">
          <a:schemeClr val="accent1"/>
        </a:effectRef>
        <a:fontRef idx="minor">
          <a:schemeClr val="tx1"/>
        </a:fontRef>
      </a:style>
    </a:spDef>
    <a:lnDef>
      <a:spPr>
        <a:noFill/>
        <a:ln w="12700" cap="sq" cmpd="sng" algn="ctr">
          <a:solidFill>
            <a:schemeClr val="bg1">
              <a:lumMod val="75000"/>
            </a:schemeClr>
          </a:solidFill>
          <a:prstDash val="solid"/>
          <a:miter lim="800000"/>
          <a:headEnd type="oval"/>
          <a:tailEnd type="triangle"/>
        </a:ln>
        <a:effectLst/>
      </a:spPr>
      <a:bodyPr/>
      <a:lst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14303</Words>
  <Application>Microsoft Office PowerPoint</Application>
  <PresentationFormat>Breitbild</PresentationFormat>
  <Paragraphs>6091</Paragraphs>
  <Slides>36</Slides>
  <Notes>1</Notes>
  <HiddenSlides>0</HiddenSlides>
  <MMClips>0</MMClips>
  <ScaleCrop>false</ScaleCrop>
  <HeadingPairs>
    <vt:vector size="6" baseType="variant">
      <vt:variant>
        <vt:lpstr>Verwendete Schriftarten</vt:lpstr>
      </vt:variant>
      <vt:variant>
        <vt:i4>10</vt:i4>
      </vt:variant>
      <vt:variant>
        <vt:lpstr>Design</vt:lpstr>
      </vt:variant>
      <vt:variant>
        <vt:i4>2</vt:i4>
      </vt:variant>
      <vt:variant>
        <vt:lpstr>Folientitel</vt:lpstr>
      </vt:variant>
      <vt:variant>
        <vt:i4>36</vt:i4>
      </vt:variant>
    </vt:vector>
  </HeadingPairs>
  <TitlesOfParts>
    <vt:vector size="48" baseType="lpstr">
      <vt:lpstr>Microsoft YaHei UI</vt:lpstr>
      <vt:lpstr>Angsana New</vt:lpstr>
      <vt:lpstr>Arial</vt:lpstr>
      <vt:lpstr>Calibri</vt:lpstr>
      <vt:lpstr>Cambria Math</vt:lpstr>
      <vt:lpstr>Courier New</vt:lpstr>
      <vt:lpstr>Harrington</vt:lpstr>
      <vt:lpstr>Impact</vt:lpstr>
      <vt:lpstr>Times New Roman</vt:lpstr>
      <vt:lpstr>Wingdings</vt:lpstr>
      <vt:lpstr>Office Theme</vt:lpstr>
      <vt:lpstr>1_Office Theme</vt:lpstr>
      <vt:lpstr>SearchEngine: a Holistic Approach to Matching</vt:lpstr>
      <vt:lpstr>Blocking</vt:lpstr>
      <vt:lpstr>PowerPoint-Präsentation</vt:lpstr>
      <vt:lpstr>Preparer Gateway</vt:lpstr>
      <vt:lpstr>Relative Identification Potential</vt:lpstr>
      <vt:lpstr>Relative Identity</vt:lpstr>
      <vt:lpstr>PowerPoint-Präsentation</vt:lpstr>
      <vt:lpstr>Candidate Retrieval</vt:lpstr>
      <vt:lpstr>Identity Completion</vt:lpstr>
      <vt:lpstr>Preview</vt:lpstr>
      <vt:lpstr>Preview</vt:lpstr>
      <vt:lpstr>Weak Search Terms: Berlin GmbH, Berlin</vt:lpstr>
      <vt:lpstr>Jaccard P. (1902), `Lois de distribution florale dans la zone alpine´, Bulletin de la Société Vaudoise des Sciences Naturelles</vt:lpstr>
      <vt:lpstr>10% Feedback Effect on Berlin GmbH, Berlin</vt:lpstr>
      <vt:lpstr>3-Gram Search for “Blaupause”: BLA LAU AUP UPA AUS USE</vt:lpstr>
      <vt:lpstr>Least Relative Character Position Delta (LRCPD)</vt:lpstr>
      <vt:lpstr>3-Gram Search for “Blaupause” after LRCPD-Refinement</vt:lpstr>
      <vt:lpstr>Smoothing &amp; Accentuating of the rIP</vt:lpstr>
      <vt:lpstr>Smoothing &amp; Accentuating of the rIP</vt:lpstr>
      <vt:lpstr>3-Gram Search for “Blaupause” with Log-Smoothing </vt:lpstr>
      <vt:lpstr>PowerPoint-Präsentation</vt:lpstr>
      <vt:lpstr>PowerPoint-Präsentation</vt:lpstr>
      <vt:lpstr>General Workflow</vt:lpstr>
      <vt:lpstr>Search Strategy Components</vt:lpstr>
      <vt:lpstr>Search Strategy: Establishment Panel vs. Company Panel (MUP)</vt:lpstr>
      <vt:lpstr>Training Data</vt:lpstr>
      <vt:lpstr>Meta Vector Components</vt:lpstr>
      <vt:lpstr>SEML (SearchEngine Machine Learning): Establishments vs. Company Panel </vt:lpstr>
      <vt:lpstr>Search Strategy: German EPO Firm Applicants vs. Company Panel (MUP)</vt:lpstr>
      <vt:lpstr>SEML: German EPO Applicants vs. Company Panel</vt:lpstr>
      <vt:lpstr>Entity Resolution: Search Table = Base Table</vt:lpstr>
      <vt:lpstr>Intransitive Similarity Network: Directed Graph</vt:lpstr>
      <vt:lpstr>Intransitive Similarity Network: Undirected Graph</vt:lpstr>
      <vt:lpstr>Nested Cascaded Traversal</vt:lpstr>
      <vt:lpstr>Clustering German EPO Applicants by Name</vt:lpstr>
      <vt:lpstr>PowerPoint-Präsentation</vt:lpstr>
    </vt:vector>
  </TitlesOfParts>
  <Company>ZEW GmbH</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Doherr, Thorsten</dc:creator>
  <cp:lastModifiedBy>Doherr, Thorsten</cp:lastModifiedBy>
  <cp:revision>463</cp:revision>
  <dcterms:created xsi:type="dcterms:W3CDTF">2023-08-28T14:05:43Z</dcterms:created>
  <dcterms:modified xsi:type="dcterms:W3CDTF">2025-09-25T16:00:22Z</dcterms:modified>
</cp:coreProperties>
</file>