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38"/>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295" r:id="rId32"/>
    <p:sldId id="296" r:id="rId33"/>
    <p:sldId id="297" r:id="rId34"/>
    <p:sldId id="299" r:id="rId35"/>
    <p:sldId id="300" r:id="rId36"/>
    <p:sldId id="279" r:id="rId3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AAE5"/>
    <a:srgbClr val="7AD0C4"/>
    <a:srgbClr val="BADA15"/>
    <a:srgbClr val="A6C313"/>
    <a:srgbClr val="AFE3DC"/>
    <a:srgbClr val="00B0F0"/>
    <a:srgbClr val="1FFF53"/>
    <a:srgbClr val="0078D7"/>
    <a:srgbClr val="7FD7F7"/>
    <a:srgbClr val="1FBA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7461" autoAdjust="0"/>
  </p:normalViewPr>
  <p:slideViewPr>
    <p:cSldViewPr snapToGrid="0" snapToObjects="1">
      <p:cViewPr varScale="1">
        <p:scale>
          <a:sx n="107" d="100"/>
          <a:sy n="107" d="100"/>
        </p:scale>
        <p:origin x="61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10/2/2025</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93001283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29300168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69649828"/>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smtClean="0"/>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2513294382"/>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smtClean="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34.jpe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dirty="0" err="1" smtClean="0">
                <a:solidFill>
                  <a:schemeClr val="bg1"/>
                </a:solidFill>
              </a:rPr>
              <a:t>SearchEngine</a:t>
            </a:r>
            <a:r>
              <a:rPr lang="en-US" sz="2800" dirty="0" smtClean="0">
                <a:solidFill>
                  <a:schemeClr val="bg1"/>
                </a:solidFill>
              </a:rPr>
              <a:t>: a Holistic Approach to Matching</a:t>
            </a:r>
            <a:endParaRPr lang="en-US" sz="2800" dirty="0">
              <a:solidFill>
                <a:schemeClr val="bg1"/>
              </a:solidFill>
            </a:endParaRP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grpSp>
      <p:sp>
        <p:nvSpPr>
          <p:cNvPr id="221" name="Rechteck 220"/>
          <p:cNvSpPr/>
          <p:nvPr/>
        </p:nvSpPr>
        <p:spPr>
          <a:xfrm>
            <a:off x="0" y="1199345"/>
            <a:ext cx="12192000" cy="369332"/>
          </a:xfrm>
          <a:prstGeom prst="rect">
            <a:avLst/>
          </a:prstGeom>
        </p:spPr>
        <p:txBody>
          <a:bodyPr wrap="square">
            <a:spAutoFit/>
          </a:bodyPr>
          <a:lstStyle/>
          <a:p>
            <a:r>
              <a:rPr lang="en-US" dirty="0">
                <a:solidFill>
                  <a:schemeClr val="bg1">
                    <a:lumMod val="50000"/>
                  </a:schemeClr>
                </a:solidFill>
              </a:rPr>
              <a:t>Thorsten Doherr | Leibniz Centre for European </a:t>
            </a:r>
            <a:r>
              <a:rPr lang="en-US">
                <a:solidFill>
                  <a:schemeClr val="bg1">
                    <a:lumMod val="50000"/>
                  </a:schemeClr>
                </a:solidFill>
              </a:rPr>
              <a:t>Economic Research, Germany | https://github.com/ThorstenDoherr/searchengine</a:t>
            </a:r>
            <a:endParaRPr lang="en-US" dirty="0">
              <a:solidFill>
                <a:schemeClr val="bg1">
                  <a:lumMod val="50000"/>
                </a:schemeClr>
              </a:solidFill>
            </a:endParaRPr>
          </a:p>
        </p:txBody>
      </p:sp>
    </p:spTree>
    <p:extLst>
      <p:ext uri="{BB962C8B-B14F-4D97-AF65-F5344CB8AC3E}">
        <p14:creationId xmlns:p14="http://schemas.microsoft.com/office/powerpoint/2010/main" val="37732207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de-DE" sz="90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de-DE">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de-DE">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de-DE" sz="90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de-DE">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de-DE">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dirty="0">
                <a:solidFill>
                  <a:srgbClr val="000000"/>
                </a:solidFill>
              </a:rPr>
              <a:t>Pairwise Comparisons</a:t>
            </a:r>
          </a:p>
          <a:p>
            <a:r>
              <a:rPr lang="en-US" sz="1100" dirty="0">
                <a:solidFill>
                  <a:srgbClr val="A3C206"/>
                </a:solidFill>
              </a:rPr>
              <a:t>21 million </a:t>
            </a:r>
            <a:r>
              <a:rPr lang="en-US" sz="1100" dirty="0" smtClean="0">
                <a:solidFill>
                  <a:srgbClr val="A3C206"/>
                </a:solidFill>
              </a:rPr>
              <a:t>establishment </a:t>
            </a:r>
            <a:r>
              <a:rPr lang="en-US" sz="1100" dirty="0">
                <a:solidFill>
                  <a:srgbClr val="A3C206"/>
                </a:solidFill>
              </a:rPr>
              <a:t>records</a:t>
            </a:r>
          </a:p>
          <a:p>
            <a:r>
              <a:rPr lang="en-US" sz="1100" dirty="0">
                <a:solidFill>
                  <a:srgbClr val="53C5B5"/>
                </a:solidFill>
              </a:rPr>
              <a:t>24 </a:t>
            </a:r>
            <a:r>
              <a:rPr lang="en-US" sz="1100">
                <a:solidFill>
                  <a:srgbClr val="53C5B5"/>
                </a:solidFill>
              </a:rPr>
              <a:t>million </a:t>
            </a:r>
            <a:r>
              <a:rPr lang="en-US" sz="1100" smtClean="0">
                <a:solidFill>
                  <a:srgbClr val="53C5B5"/>
                </a:solidFill>
              </a:rPr>
              <a:t>company </a:t>
            </a:r>
            <a:r>
              <a:rPr lang="en-US" sz="1100" dirty="0">
                <a:solidFill>
                  <a:srgbClr val="53C5B5"/>
                </a:solidFill>
              </a:rPr>
              <a:t>records</a:t>
            </a:r>
          </a:p>
          <a:p>
            <a:r>
              <a:rPr lang="en-US" sz="1100" dirty="0">
                <a:solidFill>
                  <a:srgbClr val="000000"/>
                </a:solidFill>
              </a:rPr>
              <a:t>≈ 500*10</a:t>
            </a:r>
            <a:r>
              <a:rPr lang="en-US" sz="1100" baseline="30000" dirty="0">
                <a:solidFill>
                  <a:srgbClr val="000000"/>
                </a:solidFill>
              </a:rPr>
              <a:t>12</a:t>
            </a:r>
            <a:r>
              <a:rPr lang="en-US" sz="1100" dirty="0">
                <a:solidFill>
                  <a:srgbClr val="000000"/>
                </a:solidFill>
              </a:rPr>
              <a:t>  comparisons</a:t>
            </a:r>
            <a:endParaRPr lang="en-US" sz="110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dirty="0">
                <a:solidFill>
                  <a:srgbClr val="000000"/>
                </a:solidFill>
              </a:rPr>
              <a:t>Blocking</a:t>
            </a:r>
            <a:r>
              <a:rPr lang="en-US" sz="1100" dirty="0">
                <a:solidFill>
                  <a:srgbClr val="000000"/>
                </a:solidFill>
              </a:rPr>
              <a:t>  </a:t>
            </a:r>
          </a:p>
          <a:p>
            <a:r>
              <a:rPr lang="en-US" sz="1100" dirty="0">
                <a:solidFill>
                  <a:srgbClr val="000000"/>
                </a:solidFill>
              </a:rPr>
              <a:t>Segmentation of the solution space along arbitrary exclusion restrictions</a:t>
            </a:r>
          </a:p>
          <a:p>
            <a:r>
              <a:rPr lang="en-US" sz="1100" dirty="0">
                <a:solidFill>
                  <a:srgbClr val="000000"/>
                </a:solidFill>
              </a:rPr>
              <a:t>For example:</a:t>
            </a:r>
          </a:p>
          <a:p>
            <a:pPr marL="171450" indent="-171450">
              <a:buClr>
                <a:srgbClr val="00B0F0"/>
              </a:buClr>
              <a:buFont typeface="Wingdings" panose="05000000000000000000" pitchFamily="2" charset="2"/>
              <a:buChar char="§"/>
            </a:pPr>
            <a:r>
              <a:rPr lang="en-US" sz="110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dirty="0">
                <a:solidFill>
                  <a:srgbClr val="000000"/>
                </a:solidFill>
              </a:rPr>
              <a:t>…</a:t>
            </a:r>
          </a:p>
          <a:p>
            <a:pPr marL="171450" indent="-171450">
              <a:buClr>
                <a:srgbClr val="00B0F0"/>
              </a:buClr>
              <a:buFont typeface="Wingdings" panose="05000000000000000000" pitchFamily="2" charset="2"/>
              <a:buChar char="§"/>
            </a:pPr>
            <a:r>
              <a:rPr lang="en-US" sz="1100" dirty="0">
                <a:solidFill>
                  <a:srgbClr val="000000"/>
                </a:solidFill>
              </a:rPr>
              <a:t>Combination of methods</a:t>
            </a:r>
          </a:p>
          <a:p>
            <a:pPr marL="171450" indent="-171450">
              <a:buClr>
                <a:srgbClr val="00B0F0"/>
              </a:buClr>
              <a:buFont typeface="Wingdings" panose="05000000000000000000" pitchFamily="2" charset="2"/>
              <a:buChar char="§"/>
            </a:pPr>
            <a:r>
              <a:rPr lang="en-US" sz="110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dirty="0">
                <a:solidFill>
                  <a:srgbClr val="000000"/>
                </a:solidFill>
              </a:rPr>
              <a:t>Comparisons</a:t>
            </a:r>
          </a:p>
          <a:p>
            <a:r>
              <a:rPr lang="en-US" sz="1100" dirty="0">
                <a:solidFill>
                  <a:srgbClr val="000000"/>
                </a:solidFill>
              </a:rPr>
              <a:t>Scoring based on…</a:t>
            </a:r>
          </a:p>
          <a:p>
            <a:pPr marL="171450" indent="-171450">
              <a:buClr>
                <a:srgbClr val="00B0F0"/>
              </a:buClr>
              <a:buFont typeface="Wingdings" panose="05000000000000000000" pitchFamily="2" charset="2"/>
              <a:buChar char="§"/>
            </a:pPr>
            <a:r>
              <a:rPr lang="en-US" sz="1100" dirty="0">
                <a:solidFill>
                  <a:srgbClr val="000000"/>
                </a:solidFill>
              </a:rPr>
              <a:t>string comparison functions</a:t>
            </a:r>
          </a:p>
          <a:p>
            <a:pPr marL="171450" indent="-171450">
              <a:buClr>
                <a:srgbClr val="00B0F0"/>
              </a:buClr>
              <a:buFont typeface="Wingdings" panose="05000000000000000000" pitchFamily="2" charset="2"/>
              <a:buChar char="§"/>
            </a:pPr>
            <a:r>
              <a:rPr lang="en-US" sz="1100" dirty="0">
                <a:solidFill>
                  <a:srgbClr val="000000"/>
                </a:solidFill>
              </a:rPr>
              <a:t>word or token frequencies</a:t>
            </a:r>
          </a:p>
          <a:p>
            <a:pPr marL="171450" indent="-171450">
              <a:buClr>
                <a:srgbClr val="00B0F0"/>
              </a:buClr>
              <a:buFont typeface="Wingdings" panose="05000000000000000000" pitchFamily="2" charset="2"/>
              <a:buChar char="§"/>
            </a:pPr>
            <a:r>
              <a:rPr lang="en-US" sz="1100" dirty="0">
                <a:solidFill>
                  <a:srgbClr val="000000"/>
                </a:solidFill>
              </a:rPr>
              <a:t>spatial distances</a:t>
            </a:r>
          </a:p>
          <a:p>
            <a:pPr marL="171450" indent="-171450">
              <a:buClr>
                <a:srgbClr val="00B0F0"/>
              </a:buClr>
              <a:buFont typeface="Wingdings" panose="05000000000000000000" pitchFamily="2" charset="2"/>
              <a:buChar char="§"/>
            </a:pPr>
            <a:r>
              <a:rPr lang="en-US" sz="1100" dirty="0">
                <a:solidFill>
                  <a:srgbClr val="000000"/>
                </a:solidFill>
              </a:rPr>
              <a:t>…</a:t>
            </a:r>
          </a:p>
          <a:p>
            <a:r>
              <a:rPr lang="en-US" sz="110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dirty="0">
                <a:solidFill>
                  <a:srgbClr val="000000"/>
                </a:solidFill>
              </a:rPr>
              <a:t>Index Based Search</a:t>
            </a:r>
          </a:p>
          <a:p>
            <a:r>
              <a:rPr lang="en-US" sz="1100" dirty="0">
                <a:solidFill>
                  <a:srgbClr val="000000"/>
                </a:solidFill>
              </a:rPr>
              <a:t>Complexity </a:t>
            </a:r>
            <a:r>
              <a:rPr lang="en-US" sz="1100" dirty="0" smtClean="0">
                <a:solidFill>
                  <a:srgbClr val="000000"/>
                </a:solidFill>
              </a:rPr>
              <a:t>increments </a:t>
            </a:r>
            <a:r>
              <a:rPr lang="en-US" sz="1100" dirty="0">
                <a:solidFill>
                  <a:srgbClr val="000000"/>
                </a:solidFill>
              </a:rPr>
              <a:t>close to log</a:t>
            </a:r>
            <a:r>
              <a:rPr lang="en-US" sz="1100" baseline="-2500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dirty="0">
                <a:solidFill>
                  <a:srgbClr val="000000"/>
                </a:solidFill>
              </a:rPr>
              <a:t>Search Heuristic</a:t>
            </a:r>
            <a:r>
              <a:rPr lang="en-US" sz="1100" dirty="0">
                <a:solidFill>
                  <a:srgbClr val="000000"/>
                </a:solidFill>
              </a:rPr>
              <a:t>  </a:t>
            </a:r>
          </a:p>
          <a:p>
            <a:r>
              <a:rPr lang="en-US" sz="110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dirty="0">
                <a:solidFill>
                  <a:srgbClr val="6DCEC0"/>
                </a:solidFill>
              </a:rPr>
              <a:t>Base table </a:t>
            </a:r>
            <a:r>
              <a:rPr lang="en-US" sz="110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dirty="0">
                <a:solidFill>
                  <a:srgbClr val="A3C206"/>
                </a:solidFill>
              </a:rPr>
              <a:t>Search table</a:t>
            </a:r>
            <a:r>
              <a:rPr lang="en-US" sz="1100" dirty="0">
                <a:solidFill>
                  <a:srgbClr val="C3DF39"/>
                </a:solidFill>
              </a:rPr>
              <a:t> </a:t>
            </a:r>
            <a:r>
              <a:rPr lang="en-US" sz="1100" dirty="0">
                <a:solidFill>
                  <a:prstClr val="black"/>
                </a:solidFill>
              </a:rPr>
              <a:t>provides the search terms</a:t>
            </a:r>
          </a:p>
          <a:p>
            <a:pPr marL="171450" indent="-171450">
              <a:buClr>
                <a:srgbClr val="00B0F0"/>
              </a:buClr>
              <a:buFont typeface="Wingdings" panose="05000000000000000000" pitchFamily="2" charset="2"/>
              <a:buChar char="§"/>
            </a:pPr>
            <a:r>
              <a:rPr lang="en-US" sz="110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dirty="0">
                <a:solidFill>
                  <a:srgbClr val="000000"/>
                </a:solidFill>
              </a:rPr>
              <a:t>Holistic Approach</a:t>
            </a:r>
          </a:p>
          <a:p>
            <a:pPr marL="171450" indent="-171450">
              <a:buClr>
                <a:srgbClr val="00B0F0"/>
              </a:buClr>
              <a:buFont typeface="Wingdings" panose="05000000000000000000" pitchFamily="2" charset="2"/>
              <a:buChar char="§"/>
            </a:pPr>
            <a:r>
              <a:rPr lang="en-US" sz="1100" dirty="0">
                <a:solidFill>
                  <a:srgbClr val="000000"/>
                </a:solidFill>
              </a:rPr>
              <a:t>Similarity between </a:t>
            </a:r>
            <a:r>
              <a:rPr lang="en-US" sz="1100" dirty="0">
                <a:solidFill>
                  <a:srgbClr val="A3C206"/>
                </a:solidFill>
              </a:rPr>
              <a:t>search</a:t>
            </a:r>
            <a:r>
              <a:rPr lang="en-US" sz="1100" dirty="0">
                <a:solidFill>
                  <a:srgbClr val="000000"/>
                </a:solidFill>
              </a:rPr>
              <a:t> record and </a:t>
            </a:r>
            <a:r>
              <a:rPr lang="en-US" sz="1100" dirty="0">
                <a:solidFill>
                  <a:srgbClr val="6DCEC0"/>
                </a:solidFill>
              </a:rPr>
              <a:t>candidates</a:t>
            </a:r>
            <a:r>
              <a:rPr lang="en-US" sz="1100" dirty="0">
                <a:solidFill>
                  <a:srgbClr val="000000"/>
                </a:solidFill>
              </a:rPr>
              <a:t> is already established</a:t>
            </a:r>
          </a:p>
          <a:p>
            <a:pPr marL="171450" indent="-171450">
              <a:buClr>
                <a:srgbClr val="00B0F0"/>
              </a:buClr>
              <a:buFont typeface="Wingdings" panose="05000000000000000000" pitchFamily="2" charset="2"/>
              <a:buChar char="§"/>
            </a:pPr>
            <a:r>
              <a:rPr lang="en-US" sz="110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dirty="0"/>
              <a:t>vs.</a:t>
            </a:r>
          </a:p>
        </p:txBody>
      </p:sp>
      <p:sp>
        <p:nvSpPr>
          <p:cNvPr id="335" name="Titel 1"/>
          <p:cNvSpPr>
            <a:spLocks noGrp="1"/>
          </p:cNvSpPr>
          <p:nvPr>
            <p:ph type="title"/>
          </p:nvPr>
        </p:nvSpPr>
        <p:spPr/>
        <p:txBody>
          <a:bodyPr/>
          <a:lstStyle/>
          <a:p>
            <a:r>
              <a:rPr lang="en-US" dirty="0" smtClean="0"/>
              <a:t>Blocking</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2</a:t>
            </a:fld>
            <a:endParaRPr lang="en-US"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smtClean="0">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smtClean="0">
                <a:ln>
                  <a:noFill/>
                </a:ln>
                <a:solidFill>
                  <a:prstClr val="black"/>
                </a:solidFill>
                <a:effectLst/>
                <a:uLnTx/>
                <a:uFillTx/>
              </a:rPr>
              <a:t>München</a:t>
            </a:r>
            <a:endParaRPr kumimoji="0" lang="en-US" sz="1800" b="0" i="0" u="none" strike="noStrike" kern="0" cap="none" spc="0" normalizeH="0" baseline="0" noProof="0" dirty="0" smtClean="0">
              <a:ln>
                <a:noFill/>
              </a:ln>
              <a:solidFill>
                <a:prstClr val="black"/>
              </a:solidFill>
              <a:effectLst/>
              <a:uLnTx/>
              <a:uFillTx/>
            </a:endParaRP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 </a:t>
            </a:r>
            <a:r>
              <a:rPr kumimoji="0" lang="en-US" sz="1800" b="0" i="0" u="none" strike="noStrike" kern="0" cap="none" spc="0" normalizeH="0" baseline="0" noProof="0" dirty="0" err="1" smtClean="0">
                <a:ln>
                  <a:noFill/>
                </a:ln>
                <a:solidFill>
                  <a:prstClr val="black"/>
                </a:solidFill>
                <a:effectLst/>
                <a:uLnTx/>
                <a:uFillTx/>
              </a:rPr>
              <a:t>Technik</a:t>
            </a:r>
            <a:r>
              <a:rPr kumimoji="0" lang="en-US" sz="1800" b="0" i="0" u="none" strike="noStrike" kern="0" cap="none" spc="0" normalizeH="0" baseline="0" noProof="0" dirty="0" smtClean="0">
                <a:ln>
                  <a:noFill/>
                </a:ln>
                <a:solidFill>
                  <a:prstClr val="black"/>
                </a:solidFill>
                <a:effectLst/>
                <a:uLnTx/>
                <a:uFillTx/>
              </a:rPr>
              <a:t>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lumMod val="50000"/>
                  </a:prstClr>
                </a:solidFill>
                <a:effectLst/>
                <a:uLnTx/>
                <a:uFillTx/>
              </a:rPr>
              <a:t>10187</a:t>
            </a:r>
            <a:r>
              <a:rPr kumimoji="0" lang="en-US" sz="1800" b="0" i="0" u="none" strike="noStrike" kern="0" cap="none" spc="0" normalizeH="0" baseline="0" noProof="0" dirty="0" smtClean="0">
                <a:ln>
                  <a:noFill/>
                </a:ln>
                <a:solidFill>
                  <a:prstClr val="black"/>
                </a:solidFill>
                <a:effectLst/>
                <a:uLnTx/>
                <a:uFillTx/>
              </a:rPr>
              <a:t>↔</a:t>
            </a:r>
            <a:r>
              <a:rPr kumimoji="0" lang="en-US" sz="1800" b="0" i="0" u="none" strike="noStrike" kern="0" cap="none" spc="0" normalizeH="0" baseline="0" noProof="0" dirty="0" smtClean="0">
                <a:ln>
                  <a:noFill/>
                </a:ln>
                <a:solidFill>
                  <a:prstClr val="white">
                    <a:lumMod val="50000"/>
                  </a:prstClr>
                </a:solidFill>
                <a:effectLst/>
                <a:uLnTx/>
                <a:uFillTx/>
              </a:rPr>
              <a:t>5784</a:t>
            </a:r>
            <a:br>
              <a:rPr kumimoji="0" lang="en-US" sz="1800" b="0" i="0" u="none" strike="noStrike" kern="0" cap="none" spc="0" normalizeH="0" baseline="0" noProof="0" dirty="0" smtClean="0">
                <a:ln>
                  <a:noFill/>
                </a:ln>
                <a:solidFill>
                  <a:prstClr val="white">
                    <a:lumMod val="50000"/>
                  </a:prstClr>
                </a:solidFill>
                <a:effectLst/>
                <a:uLnTx/>
                <a:uFillTx/>
              </a:rPr>
            </a:br>
            <a:r>
              <a:rPr kumimoji="0" lang="en-US" sz="1800" b="0" i="0" u="none" strike="noStrike" kern="0" cap="none" spc="0" normalizeH="0" baseline="0" noProof="0" dirty="0" smtClean="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3</a:t>
            </a:fld>
            <a:endParaRPr lang="en-US"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dirty="0" smtClean="0"/>
              <a:t>Preparer Gateway</a:t>
            </a:r>
            <a:endParaRPr lang="en-US" dirty="0"/>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dirty="0" smtClean="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endParaRPr lang="en-US" sz="80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endParaRP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dirty="0" smtClean="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dirty="0" smtClean="0">
                      <a:latin typeface="Arial" panose="020B0604020202020204" pitchFamily="34" charset="0"/>
                      <a:ea typeface="Microsoft YaHei UI" panose="020B0503020204020204" pitchFamily="34" charset="-122"/>
                      <a:cs typeface="Arial" panose="020B0604020202020204" pitchFamily="34" charset="0"/>
                    </a:rPr>
                    <a:t>Firma</a:t>
                  </a: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dirty="0" err="1" smtClean="0">
                  <a:latin typeface="Arial" panose="020B0604020202020204" pitchFamily="34" charset="0"/>
                  <a:cs typeface="Arial" panose="020B0604020202020204" pitchFamily="34" charset="0"/>
                </a:rPr>
                <a:t>Unikey</a:t>
              </a:r>
              <a:endParaRPr lang="en-US" sz="1000" dirty="0" smtClean="0">
                <a:latin typeface="Arial" panose="020B0604020202020204" pitchFamily="34" charset="0"/>
                <a:cs typeface="Arial" panose="020B0604020202020204" pitchFamily="34" charset="0"/>
              </a:endParaRPr>
            </a:p>
            <a:p>
              <a:pPr>
                <a:lnSpc>
                  <a:spcPts val="1500"/>
                </a:lnSpc>
              </a:pPr>
              <a:r>
                <a:rPr lang="en-US" sz="1000" dirty="0" smtClean="0">
                  <a:latin typeface="Arial" panose="020B0604020202020204" pitchFamily="34" charset="0"/>
                  <a:cs typeface="Arial" panose="020B0604020202020204" pitchFamily="34" charset="0"/>
                </a:rPr>
                <a:t>Name</a:t>
              </a:r>
            </a:p>
            <a:p>
              <a:pPr>
                <a:lnSpc>
                  <a:spcPts val="1500"/>
                </a:lnSpc>
              </a:pPr>
              <a:r>
                <a:rPr lang="en-US" sz="1000" dirty="0" smtClean="0">
                  <a:latin typeface="Arial" panose="020B0604020202020204" pitchFamily="34" charset="0"/>
                  <a:cs typeface="Arial" panose="020B0604020202020204" pitchFamily="34" charset="0"/>
                </a:rPr>
                <a:t>Street</a:t>
              </a:r>
            </a:p>
            <a:p>
              <a:pPr>
                <a:lnSpc>
                  <a:spcPts val="1500"/>
                </a:lnSpc>
              </a:pPr>
              <a:r>
                <a:rPr lang="en-US" sz="1000" dirty="0" smtClean="0">
                  <a:latin typeface="Arial" panose="020B0604020202020204" pitchFamily="34" charset="0"/>
                  <a:cs typeface="Arial" panose="020B0604020202020204" pitchFamily="34" charset="0"/>
                </a:rPr>
                <a:t>Zip</a:t>
              </a:r>
            </a:p>
            <a:p>
              <a:pPr>
                <a:lnSpc>
                  <a:spcPts val="1500"/>
                </a:lnSpc>
              </a:pPr>
              <a:r>
                <a:rPr lang="en-US" sz="1000" dirty="0" smtClean="0">
                  <a:latin typeface="Arial" panose="020B0604020202020204" pitchFamily="34" charset="0"/>
                  <a:cs typeface="Arial" panose="020B0604020202020204" pitchFamily="34" charset="0"/>
                </a:rPr>
                <a:t>City</a:t>
              </a:r>
              <a:endParaRPr lang="en-US" sz="1000" dirty="0">
                <a:latin typeface="Arial" panose="020B0604020202020204" pitchFamily="34" charset="0"/>
                <a:cs typeface="Arial" panose="020B0604020202020204" pitchFamily="34" charset="0"/>
              </a:endParaRP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Name</a:t>
            </a:r>
            <a:endParaRPr lang="en-US" sz="1000" dirty="0">
              <a:solidFill>
                <a:schemeClr val="bg1"/>
              </a:solidFill>
              <a:latin typeface="Arial" panose="020B0604020202020204" pitchFamily="34" charset="0"/>
              <a:cs typeface="Arial" panose="020B0604020202020204" pitchFamily="34" charset="0"/>
            </a:endParaRP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dirty="0" smtClean="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dirty="0" smtClean="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Street</a:t>
            </a:r>
            <a:endParaRPr lang="en-US" sz="1000" dirty="0">
              <a:solidFill>
                <a:schemeClr val="bg1"/>
              </a:solidFill>
              <a:latin typeface="Arial" panose="020B0604020202020204" pitchFamily="34" charset="0"/>
              <a:cs typeface="Arial" panose="020B0604020202020204" pitchFamily="34" charset="0"/>
            </a:endParaRP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Zip</a:t>
            </a:r>
            <a:endParaRPr lang="en-US" sz="1000" dirty="0">
              <a:solidFill>
                <a:schemeClr val="bg1"/>
              </a:solidFill>
              <a:latin typeface="Arial" panose="020B0604020202020204" pitchFamily="34" charset="0"/>
              <a:cs typeface="Arial" panose="020B0604020202020204" pitchFamily="34" charset="0"/>
            </a:endParaRP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dirty="0" smtClean="0">
                <a:solidFill>
                  <a:schemeClr val="bg1"/>
                </a:solidFill>
                <a:latin typeface="Arial" panose="020B0604020202020204" pitchFamily="34" charset="0"/>
                <a:cs typeface="Arial" panose="020B0604020202020204" pitchFamily="34" charset="0"/>
              </a:rPr>
              <a:t>City</a:t>
            </a:r>
            <a:endParaRPr lang="en-US" sz="1000" dirty="0">
              <a:solidFill>
                <a:schemeClr val="bg1"/>
              </a:solidFill>
              <a:latin typeface="Arial" panose="020B0604020202020204" pitchFamily="34" charset="0"/>
              <a:cs typeface="Arial" panose="020B0604020202020204" pitchFamily="34" charset="0"/>
            </a:endParaRP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Preparers are normalization/tokenization directives.</a:t>
            </a:r>
            <a:br>
              <a:rPr lang="en-US" sz="1400" dirty="0" smtClean="0"/>
            </a:br>
            <a:r>
              <a:rPr lang="en-US" sz="1400" dirty="0" smtClean="0"/>
              <a:t>In combination with search fields, they define search types.</a:t>
            </a:r>
            <a:br>
              <a:rPr lang="en-US" sz="1400" dirty="0" smtClean="0"/>
            </a:br>
            <a:r>
              <a:rPr lang="en-US" sz="1400" dirty="0" smtClean="0"/>
              <a:t>By default, all fields will be normalized:</a:t>
            </a:r>
            <a:br>
              <a:rPr lang="en-US" sz="1400" dirty="0" smtClean="0"/>
            </a:br>
            <a:r>
              <a:rPr lang="en-US" sz="1400" dirty="0" smtClean="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dirty="0" smtClean="0"/>
              <a:t>FIRMA, STRASSE, PLZ are custom preparers defined in the “searchengine_firma_strasse.xml” file. They handle the idiosyncrasies of German firm names and addresses (legal forms, concatenated street types) and are not required for other languages. </a:t>
            </a:r>
            <a:br>
              <a:rPr lang="en-US" sz="1400" dirty="0" smtClean="0"/>
            </a:br>
            <a:r>
              <a:rPr lang="en-US" sz="1400" dirty="0" smtClean="0"/>
              <a:t>Languages allowing the (arbitrary) concatenation of words pose a challenge for word based algorithms.</a:t>
            </a:r>
            <a:endParaRPr lang="en-US" sz="1400" dirty="0"/>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err="1" smtClean="0"/>
              <a:t>GRAMn</a:t>
            </a:r>
            <a:r>
              <a:rPr lang="en-US" sz="1400" dirty="0" smtClean="0"/>
              <a:t> preparers implement a computational linguistics method by creating overlapping tokens of size n, i.e.</a:t>
            </a:r>
            <a:br>
              <a:rPr lang="en-US" sz="1400" dirty="0" smtClean="0"/>
            </a:br>
            <a:r>
              <a:rPr lang="en-US" sz="1400" dirty="0" smtClean="0"/>
              <a:t>THORSTEN → THO HOR ORS RST STE TEN</a:t>
            </a:r>
            <a:br>
              <a:rPr lang="en-US" sz="1400" dirty="0" smtClean="0"/>
            </a:br>
            <a:r>
              <a:rPr lang="en-US" sz="1400" dirty="0" smtClean="0"/>
              <a:t>Other linguistic preparers implement SOUNDEX, METAPHONE and COLONE but only GRAM can handle erroneously concatenated/split words.</a:t>
            </a:r>
            <a:br>
              <a:rPr lang="en-US" sz="1400" dirty="0" smtClean="0"/>
            </a:br>
            <a:r>
              <a:rPr lang="en-US" sz="1400" dirty="0" smtClean="0"/>
              <a:t>These preparers destroy information for the sake of increased robustness against misspellings, therefor they will also be referred as destructive preparers → increased risk of false positives</a:t>
            </a:r>
            <a:endParaRPr lang="en-US" sz="1400" dirty="0"/>
          </a:p>
        </p:txBody>
      </p:sp>
      <p:sp>
        <p:nvSpPr>
          <p:cNvPr id="18" name="Foliennummernplatzhalter 17"/>
          <p:cNvSpPr>
            <a:spLocks noGrp="1"/>
          </p:cNvSpPr>
          <p:nvPr>
            <p:ph type="sldNum" sz="quarter" idx="10"/>
          </p:nvPr>
        </p:nvSpPr>
        <p:spPr/>
        <p:txBody>
          <a:bodyPr/>
          <a:lstStyle/>
          <a:p>
            <a:fld id="{A29D8577-601D-4845-9C29-D9E13FE3E8DB}" type="slidenum">
              <a:rPr lang="en-US" smtClean="0"/>
              <a:pPr/>
              <a:t>4</a:t>
            </a:fld>
            <a:endParaRPr lang="en-US"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Relative Identification Potential</a:t>
            </a:r>
            <a:endParaRPr lang="en-US" dirty="0"/>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lang="de-DE" sz="1800" b="0" i="1" smtClean="0">
                                    <a:latin typeface="Cambria Math"/>
                                  </a:rPr>
                                  <m:t>𝑟𝐼𝑃</m:t>
                                </m:r>
                                <m:r>
                                  <a:rPr lang="de-DE" sz="1800" b="0" i="1" smtClean="0">
                                    <a:latin typeface="Cambria Math"/>
                                  </a:rPr>
                                  <m:t>=</m:t>
                                </m:r>
                              </m:oMath>
                              <m:oMath xmlns:m="http://schemas.openxmlformats.org/officeDocument/2006/math">
                                <m:r>
                                  <a:rPr lang="de-DE" sz="1800" b="0" i="1" smtClean="0">
                                    <a:latin typeface="Cambria Math"/>
                                  </a:rPr>
                                  <m:t>𝑠h𝑎𝑟𝑒</m:t>
                                </m:r>
                                <m:r>
                                  <a:rPr lang="de-DE" sz="1800" b="0" i="1" smtClean="0">
                                    <a:latin typeface="Cambria Math"/>
                                  </a:rPr>
                                  <m:t>∗</m:t>
                                </m:r>
                                <m:r>
                                  <a:rPr lang="de-DE" sz="1800" b="0" i="1" smtClean="0">
                                    <a:solidFill>
                                      <a:srgbClr val="00AAE5"/>
                                    </a:solidFill>
                                    <a:latin typeface="Cambria Math"/>
                                  </a:rPr>
                                  <m:t>𝑤𝑒𝑖𝑔h𝑡</m:t>
                                </m:r>
                              </m:oMath>
                            </m:oMathPara>
                          </a14:m>
                          <a:endParaRPr lang="en-US" sz="140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Choice>
        <mc:Fallback xmlns="">
          <p:graphicFrame>
            <p:nvGraphicFramePr>
              <p:cNvPr id="5" name="Tabelle 11"/>
              <p:cNvGraphicFramePr>
                <a:graphicFrameLocks noGrp="1"/>
              </p:cNvGraphicFramePr>
              <p:nvPr>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gridCol w="1188000"/>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1.162%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r>
                            <a:rPr lang="en-US" sz="1400" kern="1200" dirty="0" smtClean="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0.008%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288000">
                    <a:tc gridSpan="2">
                      <a:txBody>
                        <a:bodyPr/>
                        <a:lstStyle/>
                        <a:p>
                          <a:pPr algn="r"/>
                          <a14:m>
                            <m:oMathPara xmlns:m="http://schemas.openxmlformats.org/officeDocument/2006/math">
                              <m:oMathParaPr>
                                <m:jc m:val="left"/>
                              </m:oMathParaPr>
                              <m:oMath xmlns:m="http://schemas.openxmlformats.org/officeDocument/2006/math">
                                <m:r>
                                  <a:rPr lang="de-DE" sz="1800" b="0" i="1" smtClean="0">
                                    <a:latin typeface="Cambria Math"/>
                                  </a:rPr>
                                  <m:t>𝑠h𝑎𝑟𝑒</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𝐼𝑃</m:t>
                                    </m:r>
                                  </m:num>
                                  <m:den>
                                    <m:nary>
                                      <m:naryPr>
                                        <m:chr m:val="∑"/>
                                        <m:subHide m:val="on"/>
                                        <m:supHide m:val="on"/>
                                        <m:ctrlPr>
                                          <a:rPr lang="de-DE" sz="1800" b="0" i="1" smtClean="0">
                                            <a:latin typeface="Cambria Math" panose="02040503050406030204" pitchFamily="18" charset="0"/>
                                          </a:rPr>
                                        </m:ctrlPr>
                                      </m:naryPr>
                                      <m:sub/>
                                      <m:sup/>
                                      <m:e>
                                        <m:r>
                                          <a:rPr lang="de-DE" sz="1800" b="0" i="1" smtClean="0">
                                            <a:latin typeface="Cambria Math"/>
                                          </a:rPr>
                                          <m:t>𝐼𝑃</m:t>
                                        </m:r>
                                      </m:e>
                                    </m:nary>
                                  </m:den>
                                </m:f>
                              </m:oMath>
                            </m:oMathPara>
                          </a14:m>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6" name="Tabelle 9"/>
              <p:cNvGraphicFramePr>
                <a:graphicFrameLocks noGrp="1"/>
              </p:cNvGraphicFramePr>
              <p:nvPr>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gridCol w="1189298"/>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rotWithShape="0">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21.428%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1.660%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0.013%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90.511%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9.494%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0.084%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pPr marL="0" indent="0" algn="r"/>
                          <a14:m>
                            <m:oMathPara xmlns:m="http://schemas.openxmlformats.org/officeDocument/2006/math">
                              <m:oMathParaPr>
                                <m:jc m:val="left"/>
                              </m:oMathParaPr>
                              <m:oMath xmlns:m="http://schemas.openxmlformats.org/officeDocument/2006/math">
                                <m:r>
                                  <a:rPr lang="de-DE" sz="1800" b="0" i="1" smtClean="0">
                                    <a:latin typeface="Cambria Math"/>
                                  </a:rPr>
                                  <m:t>𝐼𝑃</m:t>
                                </m:r>
                                <m:r>
                                  <a:rPr lang="de-DE" sz="1800" b="0" i="1" smtClean="0">
                                    <a:latin typeface="Cambria Math"/>
                                  </a:rPr>
                                  <m:t>=</m:t>
                                </m:r>
                                <m:f>
                                  <m:fPr>
                                    <m:ctrlPr>
                                      <a:rPr lang="de-DE" sz="1800" b="0" i="1" smtClean="0">
                                        <a:latin typeface="Cambria Math" panose="02040503050406030204" pitchFamily="18" charset="0"/>
                                      </a:rPr>
                                    </m:ctrlPr>
                                  </m:fPr>
                                  <m:num>
                                    <m:r>
                                      <a:rPr lang="de-DE" sz="1800" b="0" i="1" smtClean="0">
                                        <a:latin typeface="Cambria Math"/>
                                      </a:rPr>
                                      <m:t>1</m:t>
                                    </m:r>
                                  </m:num>
                                  <m:den>
                                    <m:r>
                                      <a:rPr lang="de-DE" sz="1800" b="0" i="1" smtClean="0">
                                        <a:latin typeface="Cambria Math" panose="02040503050406030204" pitchFamily="18" charset="0"/>
                                      </a:rPr>
                                      <m:t>𝑜𝑐𝑐𝑢𝑟𝑠</m:t>
                                    </m:r>
                                  </m:den>
                                </m:f>
                              </m:oMath>
                            </m:oMathPara>
                          </a14:m>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2880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Choice>
        <mc:Fallback xmlns="">
          <p:graphicFrame>
            <p:nvGraphicFramePr>
              <p:cNvPr id="7" name="Tabelle 1"/>
              <p:cNvGraphicFramePr>
                <a:graphicFrameLocks noGrp="1"/>
              </p:cNvGraphicFramePr>
              <p:nvPr>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gridCol w="1189298"/>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rotWithShape="0">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0.0005051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0.0000391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Angsana New"/>
                              <a:cs typeface="Angsana New"/>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0.0001460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0.0000152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0.0000001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tr>
                  <a:tr h="304800">
                    <a:tc>
                      <a:txBody>
                        <a:bodyPr/>
                        <a:lstStyle/>
                        <a:p>
                          <a:pPr algn="ctr"/>
                          <a:r>
                            <a:rPr lang="en-US" sz="1400" dirty="0" smtClean="0">
                              <a:solidFill>
                                <a:schemeClr val="tx1"/>
                              </a:solidFill>
                              <a:latin typeface="Courier New" panose="02070309020205020404" pitchFamily="49" charset="0"/>
                              <a:cs typeface="Courier New" panose="02070309020205020404" pitchFamily="49" charset="0"/>
                              <a:sym typeface="Wingdings"/>
                            </a:rPr>
                            <a:t></a:t>
                          </a:r>
                          <a:endParaRPr lang="en-US" sz="140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0.0000032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tx1"/>
                              </a:solidFill>
                              <a:latin typeface="Angsana New"/>
                              <a:cs typeface="Angsana New"/>
                            </a:rPr>
                            <a:t>∑</a:t>
                          </a:r>
                          <a:endParaRPr lang="en-US" sz="1400" dirty="0" smtClean="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57146169"/>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gridCol w="1836000"/>
                <a:gridCol w="828000"/>
                <a:gridCol w="1116000"/>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❶</a:t>
                      </a:r>
                      <a:r>
                        <a:rPr lang="en-US" dirty="0" smtClean="0">
                          <a:solidFill>
                            <a:schemeClr val="tx1"/>
                          </a:solidFill>
                        </a:rPr>
                        <a:t>name</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solidFill>
                            <a:srgbClr val="00B0F0"/>
                          </a:solidFill>
                        </a:rPr>
                        <a:t>❷</a:t>
                      </a:r>
                      <a:r>
                        <a:rPr lang="en-US" dirty="0" smtClean="0"/>
                        <a:t>street</a:t>
                      </a:r>
                      <a:endParaRPr lang="en-US" dirty="0" smtClean="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❸</a:t>
                      </a:r>
                      <a:r>
                        <a:rPr lang="en-US" dirty="0" smtClean="0">
                          <a:solidFill>
                            <a:schemeClr val="tx1"/>
                          </a:solidFill>
                        </a:rPr>
                        <a:t>zip</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dirty="0" smtClean="0">
                          <a:solidFill>
                            <a:srgbClr val="00B0F0"/>
                          </a:solidFill>
                        </a:rPr>
                        <a:t>❹</a:t>
                      </a:r>
                      <a:r>
                        <a:rPr lang="en-US" dirty="0" smtClean="0">
                          <a:solidFill>
                            <a:schemeClr val="tx1"/>
                          </a:solidFill>
                        </a:rPr>
                        <a:t>city</a:t>
                      </a:r>
                      <a:endParaRPr lang="en-US"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r>
                        <a:rPr lang="en-US" sz="1400" dirty="0" smtClean="0"/>
                        <a:t>BMW FORSCHUNG</a:t>
                      </a:r>
                      <a:r>
                        <a:rPr lang="en-US" sz="1400" baseline="0" dirty="0" smtClean="0"/>
                        <a:t> UND TECHNIK GMBH</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HANAUER</a:t>
                      </a:r>
                      <a:r>
                        <a:rPr lang="en-US" sz="1400" baseline="0" dirty="0" smtClean="0"/>
                        <a:t> STRASSE 46</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80992</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dirty="0" smtClean="0"/>
                        <a:t>MUENCHEN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aphicFrame>
        <p:nvGraphicFramePr>
          <p:cNvPr id="10" name="Tabelle 5"/>
          <p:cNvGraphicFramePr>
            <a:graphicFrameLocks noGrp="1"/>
          </p:cNvGraphicFramePr>
          <p:nvPr>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t>entry</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dirty="0" smtClean="0"/>
                        <a:t>occurs</a:t>
                      </a:r>
                      <a:endParaRPr lang="en-US" sz="1800" dirty="0"/>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TECHNIK</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25552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UND</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1190073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GMBH</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3353864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HANAUER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6851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46</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65931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2</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STRASSE</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7410645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4</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MUENCHEN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316874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smtClean="0"/>
              <a:pPr/>
              <a:t>5</a:t>
            </a:fld>
            <a:endParaRPr lang="en-US"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21976422"/>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gridCol w="2316607"/>
                <a:gridCol w="747589"/>
                <a:gridCol w="969410"/>
                <a:gridCol w="820800"/>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UND TECHNIK GMBH</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dirty="0" smtClean="0">
                          <a:latin typeface="+mn-lt"/>
                          <a:ea typeface="Cambria Math" panose="02040503050406030204" pitchFamily="18" charset="0"/>
                          <a:cs typeface="Courier New" panose="02070309020205020404" pitchFamily="49" charset="0"/>
                        </a:rPr>
                        <a:t>HANAUER STRASSE 46</a:t>
                      </a:r>
                      <a:endParaRPr lang="en-US" sz="1200" b="1" dirty="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dirty="0" smtClean="0">
                          <a:latin typeface="+mn-lt"/>
                          <a:ea typeface="Cambria Math" panose="02040503050406030204" pitchFamily="18" charset="0"/>
                          <a:cs typeface="Courier New" panose="02070309020205020404" pitchFamily="49" charset="0"/>
                        </a:rPr>
                        <a:t>BMW FORSCHUNG </a:t>
                      </a:r>
                      <a:r>
                        <a:rPr lang="de-DE" sz="1200" b="1" dirty="0" smtClean="0">
                          <a:solidFill>
                            <a:schemeClr val="bg1">
                              <a:lumMod val="65000"/>
                            </a:schemeClr>
                          </a:solidFill>
                          <a:latin typeface="+mn-lt"/>
                          <a:ea typeface="Cambria Math" panose="02040503050406030204" pitchFamily="18" charset="0"/>
                          <a:cs typeface="Courier New" panose="02070309020205020404" pitchFamily="49" charset="0"/>
                        </a:rPr>
                        <a:t>U</a:t>
                      </a:r>
                      <a:r>
                        <a:rPr lang="de-DE" sz="1200" b="1" dirty="0" smtClean="0">
                          <a:latin typeface="+mn-lt"/>
                          <a:ea typeface="Cambria Math" panose="02040503050406030204" pitchFamily="18" charset="0"/>
                          <a:cs typeface="Courier New" panose="02070309020205020404" pitchFamily="49" charset="0"/>
                        </a:rPr>
                        <a:t> TECHNIK GMBH</a:t>
                      </a:r>
                      <a:endParaRPr lang="en-US" sz="1200" b="1" dirty="0" smtClean="0">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99.98%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BMW </a:t>
                      </a:r>
                      <a:r>
                        <a:rPr lang="en-US" sz="1200" b="1" dirty="0" smtClean="0">
                          <a:solidFill>
                            <a:schemeClr val="tx1"/>
                          </a:solidFill>
                          <a:latin typeface="+mn-lt"/>
                          <a:ea typeface="Cambria Math" panose="02040503050406030204" pitchFamily="18" charset="0"/>
                          <a:cs typeface="Courier New" panose="02070309020205020404" pitchFamily="49" charset="0"/>
                        </a:rPr>
                        <a:t>TECHNIK</a:t>
                      </a:r>
                      <a:r>
                        <a:rPr lang="en-US" sz="1200" b="1" baseline="0" dirty="0" smtClean="0">
                          <a:solidFill>
                            <a:schemeClr val="tx1"/>
                          </a:solidFill>
                          <a:latin typeface="+mn-lt"/>
                          <a:ea typeface="Cambria Math" panose="02040503050406030204" pitchFamily="18" charset="0"/>
                          <a:cs typeface="Courier New" panose="02070309020205020404" pitchFamily="49" charset="0"/>
                        </a:rPr>
                        <a:t> UND </a:t>
                      </a:r>
                      <a:r>
                        <a:rPr lang="en-US" sz="1200" b="1" baseline="0" dirty="0" smtClean="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dirty="0" smtClean="0">
                          <a:solidFill>
                            <a:schemeClr val="tx1"/>
                          </a:solidFill>
                          <a:latin typeface="+mn-lt"/>
                          <a:ea typeface="Cambria Math" panose="02040503050406030204" pitchFamily="18" charset="0"/>
                          <a:cs typeface="Courier New" panose="02070309020205020404" pitchFamily="49" charset="0"/>
                        </a:rPr>
                        <a:t>GMBH</a:t>
                      </a:r>
                      <a:endParaRPr lang="en-US" sz="1200" b="1" dirty="0" smtClean="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84.06%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83.80%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tx1"/>
                          </a:solidFill>
                          <a:latin typeface="+mn-lt"/>
                          <a:ea typeface="Cambria Math" panose="02040503050406030204" pitchFamily="18" charset="0"/>
                          <a:cs typeface="Courier New" panose="02070309020205020404" pitchFamily="49" charset="0"/>
                        </a:rPr>
                        <a:t>BMW</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dirty="0" smtClean="0">
                          <a:latin typeface="+mn-lt"/>
                          <a:ea typeface="Cambria Math" panose="02040503050406030204" pitchFamily="18" charset="0"/>
                          <a:cs typeface="Courier New" panose="02070309020205020404" pitchFamily="49" charset="0"/>
                        </a:rPr>
                        <a:t> STRASSE </a:t>
                      </a:r>
                      <a:r>
                        <a:rPr lang="en-US" sz="1200" b="1" dirty="0" smtClean="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dirty="0" smtClean="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73.81%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dirty="0" smtClean="0">
                  <a:solidFill>
                    <a:schemeClr val="bg1"/>
                  </a:solidFill>
                  <a:latin typeface="Cambria Math" panose="02040503050406030204" pitchFamily="18" charset="0"/>
                  <a:ea typeface="Cambria Math" panose="02040503050406030204" pitchFamily="18" charset="0"/>
                </a:rPr>
                <a:t>Threshold:</a:t>
              </a:r>
              <a:r>
                <a:rPr lang="en-US" dirty="0" smtClean="0">
                  <a:solidFill>
                    <a:schemeClr val="bg1"/>
                  </a:solidFill>
                </a:rPr>
                <a:t> </a:t>
              </a:r>
              <a:r>
                <a:rPr lang="en-US" dirty="0" smtClean="0">
                  <a:solidFill>
                    <a:schemeClr val="bg1"/>
                  </a:solidFill>
                  <a:latin typeface="Cambria Math" panose="02040503050406030204" pitchFamily="18" charset="0"/>
                  <a:ea typeface="Cambria Math" panose="02040503050406030204" pitchFamily="18" charset="0"/>
                </a:rPr>
                <a:t>70%</a:t>
              </a:r>
              <a:endParaRPr lang="en-US" dirty="0">
                <a:solidFill>
                  <a:schemeClr val="bg1"/>
                </a:solidFill>
                <a:latin typeface="Cambria Math" panose="02040503050406030204" pitchFamily="18" charset="0"/>
                <a:ea typeface="Cambria Math" panose="02040503050406030204" pitchFamily="18" charset="0"/>
              </a:endParaRP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dirty="0" smtClean="0"/>
              <a:t>Relative Identity</a:t>
            </a:r>
            <a:endParaRPr lang="en-US"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6</a:t>
            </a:fld>
            <a:endParaRPr lang="en-US"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2400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𝑟𝐼</m:t>
                                    </m:r>
                                    <m:r>
                                      <a:rPr lang="de-DE" sz="1600" b="0" i="1" smtClean="0">
                                        <a:solidFill>
                                          <a:schemeClr val="tx1"/>
                                        </a:solidFill>
                                        <a:latin typeface="Cambria Math" panose="02040503050406030204" pitchFamily="18" charset="0"/>
                                      </a:rPr>
                                      <m:t>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88000">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273595819"/>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gridCol w="1134747"/>
                    <a:gridCol w="453899"/>
                    <a:gridCol w="1021272"/>
                    <a:gridCol w="643393"/>
                    <a:gridCol w="907798"/>
                    <a:gridCol w="907798"/>
                    <a:gridCol w="501011"/>
                    <a:gridCol w="747589"/>
                    <a:gridCol w="969410"/>
                    <a:gridCol w="828000"/>
                  </a:tblGrid>
                  <a:tr h="365760">
                    <a:tc gridSpan="5">
                      <a:txBody>
                        <a:bodyPr/>
                        <a:lstStyle/>
                        <a:p>
                          <a:r>
                            <a:rPr lang="en-US" smtClean="0">
                              <a:solidFill>
                                <a:srgbClr val="00B0F0"/>
                              </a:solidFill>
                            </a:rPr>
                            <a:t>❶</a:t>
                          </a:r>
                          <a:r>
                            <a:rPr lang="en-US" smtClean="0"/>
                            <a:t>name</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dirty="0" smtClean="0">
                              <a:solidFill>
                                <a:srgbClr val="00B0F0"/>
                              </a:solidFill>
                            </a:rPr>
                            <a:t>❷</a:t>
                          </a:r>
                          <a:r>
                            <a:rPr lang="en-US" dirty="0" smtClean="0"/>
                            <a:t>street</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dirty="0" smtClean="0">
                              <a:solidFill>
                                <a:srgbClr val="00B0F0"/>
                              </a:solidFill>
                            </a:rPr>
                            <a:t>❸</a:t>
                          </a:r>
                          <a:r>
                            <a:rPr lang="en-US" dirty="0" smtClean="0"/>
                            <a:t>zip</a:t>
                          </a:r>
                          <a:endParaRPr lang="en-US" dirty="0"/>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dirty="0" smtClean="0">
                              <a:solidFill>
                                <a:srgbClr val="00B0F0"/>
                              </a:solidFill>
                            </a:rPr>
                            <a:t>❹</a:t>
                          </a:r>
                          <a:r>
                            <a:rPr lang="en-US" dirty="0" smtClean="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34559" t="-4425" r="-1471" b="-52212"/>
                          </a:stretch>
                        </a:blipFill>
                      </a:tcPr>
                    </a:tc>
                  </a:tr>
                  <a:tr h="316167">
                    <a:tc>
                      <a:txBody>
                        <a:bodyPr/>
                        <a:lstStyle/>
                        <a:p>
                          <a:pPr algn="ctr"/>
                          <a:r>
                            <a:rPr lang="en-US" sz="1200" b="1" dirty="0" smtClean="0">
                              <a:latin typeface="+mn-lt"/>
                              <a:cs typeface="Courier New" panose="02070309020205020404" pitchFamily="49" charset="0"/>
                            </a:rPr>
                            <a:t>BMW</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FORSCHUNG</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UND</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TECHNIK</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GMBH</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HANAUER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46</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9.1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829316182"/>
              </p:ext>
            </p:extLst>
          </p:nvPr>
        </p:nvGraphicFramePr>
        <p:xfrm>
          <a:off x="251520" y="2132416"/>
          <a:ext cx="8514199" cy="609600"/>
        </p:xfrm>
        <a:graphic>
          <a:graphicData uri="http://schemas.openxmlformats.org/drawingml/2006/table">
            <a:tbl>
              <a:tblPr firstRow="1" bandRow="1"/>
              <a:tblGrid>
                <a:gridCol w="3508883"/>
                <a:gridCol w="2485781"/>
                <a:gridCol w="719535"/>
                <a:gridCol w="972000"/>
                <a:gridCol w="828000"/>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dirty="0" smtClean="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latin typeface="Courier New" panose="02070309020205020404" pitchFamily="49" charset="0"/>
                          <a:ea typeface="Cambria Math" panose="02040503050406030204" pitchFamily="18" charset="0"/>
                          <a:cs typeface="Courier New" panose="02070309020205020404" pitchFamily="49" charset="0"/>
                        </a:rPr>
                        <a:t>DACHAUER STRASSE 371</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MANNERCHOR </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dirty="0" smtClean="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dirty="0" smtClean="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endParaRPr lang="en-US" sz="1400" b="1"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80992</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dirty="0" smtClean="0">
                          <a:latin typeface="Courier New" panose="02070309020205020404" pitchFamily="49" charset="0"/>
                          <a:ea typeface="Cambria Math" panose="02040503050406030204" pitchFamily="18" charset="0"/>
                          <a:cs typeface="Courier New" panose="02070309020205020404" pitchFamily="49" charset="0"/>
                        </a:rPr>
                        <a:t>MUENCHEN</a:t>
                      </a:r>
                      <a:endParaRPr lang="en-US" sz="1400" b="1"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71.23%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smtClean="0">
                  <a:ln>
                    <a:noFill/>
                  </a:ln>
                  <a:solidFill>
                    <a:prstClr val="white"/>
                  </a:solidFill>
                  <a:effectLst/>
                  <a:uLnTx/>
                  <a:uFillTx/>
                </a:rPr>
                <a:t> </a:t>
              </a:r>
              <a:r>
                <a:rPr kumimoji="0" lang="en-US" sz="1800" b="0" i="0" u="none" strike="noStrike" kern="0" cap="none" spc="0" normalizeH="0" baseline="0" noProof="0" dirty="0" smtClean="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1600" b="0" i="1" smtClean="0">
                                        <a:solidFill>
                                          <a:schemeClr val="tx1"/>
                                        </a:solidFill>
                                        <a:latin typeface="Cambria Math" panose="02040503050406030204" pitchFamily="18" charset="0"/>
                                      </a:rPr>
                                    </m:ctrlPr>
                                  </m:naryPr>
                                  <m:sub/>
                                  <m:sup/>
                                  <m:e>
                                    <m:r>
                                      <a:rPr lang="de-DE" sz="1600" b="0" i="1" smtClean="0">
                                        <a:solidFill>
                                          <a:schemeClr val="tx1"/>
                                        </a:solidFill>
                                        <a:latin typeface="Cambria Math"/>
                                      </a:rPr>
                                      <m:t>𝑟</m:t>
                                    </m:r>
                                    <m:r>
                                      <a:rPr lang="de-DE" sz="1600" b="0" i="1" smtClean="0">
                                        <a:solidFill>
                                          <a:schemeClr val="tx1"/>
                                        </a:solidFill>
                                        <a:latin typeface="Cambria Math" panose="02040503050406030204" pitchFamily="18" charset="0"/>
                                      </a:rPr>
                                      <m:t>𝐼𝑃</m:t>
                                    </m:r>
                                  </m:e>
                                </m:nary>
                              </m:oMath>
                            </m:oMathPara>
                          </a14:m>
                          <a:endParaRPr lang="en-US" sz="1600" b="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591569653"/>
                  </p:ext>
                </p:extLst>
              </p:nvPr>
            </p:nvGraphicFramePr>
            <p:xfrm>
              <a:off x="251520" y="1052736"/>
              <a:ext cx="8514199" cy="986727"/>
            </p:xfrm>
            <a:graphic>
              <a:graphicData uri="http://schemas.openxmlformats.org/drawingml/2006/table">
                <a:tbl>
                  <a:tblPr firstRow="1" bandRow="1"/>
                  <a:tblGrid>
                    <a:gridCol w="540000"/>
                    <a:gridCol w="1584176"/>
                    <a:gridCol w="1024707"/>
                    <a:gridCol w="360000"/>
                    <a:gridCol w="1045316"/>
                    <a:gridCol w="1062000"/>
                    <a:gridCol w="378465"/>
                    <a:gridCol w="719535"/>
                    <a:gridCol w="972000"/>
                    <a:gridCol w="828000"/>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❶</a:t>
                          </a:r>
                          <a:r>
                            <a:rPr lang="en-US" dirty="0" smtClean="0"/>
                            <a:t>name</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❷</a:t>
                          </a:r>
                          <a:r>
                            <a:rPr lang="en-US" dirty="0" smtClean="0"/>
                            <a:t>street</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❸</a:t>
                          </a:r>
                          <a:r>
                            <a:rPr lang="en-US" dirty="0" smtClean="0"/>
                            <a:t>zip</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dirty="0" smtClean="0">
                              <a:solidFill>
                                <a:srgbClr val="00B0F0"/>
                              </a:solidFill>
                            </a:rPr>
                            <a:t>❹</a:t>
                          </a:r>
                          <a:r>
                            <a:rPr lang="en-US" dirty="0" smtClean="0"/>
                            <a:t>city</a:t>
                          </a:r>
                          <a:endParaRPr lang="en-US" dirty="0"/>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rotWithShape="0">
                          <a:blip r:embed="rId2"/>
                          <a:stretch>
                            <a:fillRect l="-927941" t="-4425" r="-2206" b="-52212"/>
                          </a:stretch>
                        </a:blipFill>
                      </a:tcPr>
                    </a:tc>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dirty="0" smtClean="0">
                              <a:solidFill>
                                <a:schemeClr val="tx1"/>
                              </a:solidFill>
                              <a:latin typeface="Calibri"/>
                              <a:ea typeface="+mn-ea"/>
                              <a:cs typeface="Courier New" panose="02070309020205020404" pitchFamily="49" charset="0"/>
                            </a:rPr>
                            <a:t>BMW</a:t>
                          </a:r>
                          <a:endParaRPr lang="en-US" sz="1200" b="1" kern="1200" dirty="0">
                            <a:solidFill>
                              <a:schemeClr val="tx1"/>
                            </a:solidFill>
                            <a:latin typeface="Calibri"/>
                            <a:ea typeface="+mn-ea"/>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Calibri" panose="020F0502020204030204" pitchFamily="34" charset="0"/>
                              <a:cs typeface="Calibri" panose="020F0502020204030204" pitchFamily="34" charset="0"/>
                            </a:rPr>
                            <a:t>MAENNERCHOR</a:t>
                          </a:r>
                          <a:endParaRPr lang="en-US" sz="1200" b="1" dirty="0">
                            <a:latin typeface="Calibri" panose="020F0502020204030204" pitchFamily="34" charset="0"/>
                            <a:cs typeface="Calibri" panose="020F0502020204030204" pitchFamily="34"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cs typeface="Courier New" panose="02070309020205020404" pitchFamily="49" charset="0"/>
                            </a:rPr>
                            <a:t>EV</a:t>
                          </a:r>
                          <a:endParaRPr lang="en-US" sz="1200" b="1" i="0"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DACHAUER</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STRASSE</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dirty="0" smtClean="0">
                              <a:latin typeface="+mn-lt"/>
                            </a:rPr>
                            <a:t>371</a:t>
                          </a:r>
                          <a:endParaRPr lang="en-US" sz="1200" b="1" i="0" dirty="0">
                            <a:latin typeface="+mn-lt"/>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80992</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dirty="0" smtClean="0">
                              <a:latin typeface="+mn-lt"/>
                              <a:cs typeface="Courier New" panose="02070309020205020404" pitchFamily="49" charset="0"/>
                            </a:rPr>
                            <a:t>MUENCHEN</a:t>
                          </a:r>
                          <a:endParaRPr lang="en-US" sz="1200" b="1" dirty="0">
                            <a:latin typeface="+mn-lt"/>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rPr>
                            <a:t>8.8</a:t>
                          </a:r>
                          <a:endParaRPr lang="en-US" sz="1400" dirty="0">
                            <a:latin typeface="Cambria Math" panose="02040503050406030204" pitchFamily="18" charset="0"/>
                            <a:ea typeface="Cambria Math" panose="02040503050406030204" pitchFamily="18"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dirty="0" smtClean="0">
                              <a:latin typeface="Cambria Math" panose="02040503050406030204" pitchFamily="18" charset="0"/>
                              <a:ea typeface="Cambria Math" panose="02040503050406030204" pitchFamily="18" charset="0"/>
                              <a:cs typeface="Courier New" panose="02070309020205020404" pitchFamily="49" charset="0"/>
                            </a:rPr>
                            <a:t>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de-DE"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rotWithShape="0">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smtClean="0"/>
              <a:pPr/>
              <a:t>7</a:t>
            </a:fld>
            <a:endParaRPr lang="en-US"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p:cNvSpPr>
            <a:spLocks noGrp="1"/>
          </p:cNvSpPr>
          <p:nvPr>
            <p:ph type="title"/>
          </p:nvPr>
        </p:nvSpPr>
        <p:spPr/>
        <p:txBody>
          <a:bodyPr/>
          <a:lstStyle/>
          <a:p>
            <a:r>
              <a:rPr lang="en-US" dirty="0" smtClean="0"/>
              <a:t>Candidate Retrieval</a:t>
            </a:r>
            <a:endParaRPr lang="en-US" dirty="0"/>
          </a:p>
        </p:txBody>
      </p:sp>
      <p:graphicFrame>
        <p:nvGraphicFramePr>
          <p:cNvPr id="52" name="Tabelle 5"/>
          <p:cNvGraphicFramePr>
            <a:graphicFrameLocks noGrp="1"/>
          </p:cNvGraphicFramePr>
          <p:nvPr>
            <p:extLst>
              <p:ext uri="{D42A27DB-BD31-4B8C-83A1-F6EECF244321}">
                <p14:modId xmlns:p14="http://schemas.microsoft.com/office/powerpoint/2010/main" val="2308802024"/>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gridCol w="1152000"/>
                <a:gridCol w="1008000"/>
              </a:tblGrid>
              <a:tr h="324000">
                <a:tc>
                  <a:txBody>
                    <a:bodyPr/>
                    <a:lstStyle/>
                    <a:p>
                      <a:pPr algn="ctr"/>
                      <a:r>
                        <a:rPr lang="en-US" sz="1800" dirty="0" smtClean="0">
                          <a:solidFill>
                            <a:schemeClr val="bg1"/>
                          </a:solidFill>
                        </a:rPr>
                        <a:t>type</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dirty="0" smtClean="0">
                          <a:solidFill>
                            <a:schemeClr val="bg1"/>
                          </a:solidFill>
                        </a:rPr>
                        <a:t>entry</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dirty="0" smtClean="0">
                          <a:solidFill>
                            <a:schemeClr val="bg1"/>
                          </a:solidFill>
                        </a:rPr>
                        <a:t>occurs</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BMW</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dirty="0" smtClean="0">
                          <a:latin typeface="Courier New" panose="02070309020205020404" pitchFamily="49" charset="0"/>
                          <a:cs typeface="Courier New" panose="02070309020205020404" pitchFamily="49" charset="0"/>
                        </a:rPr>
                        <a:t>LENIN</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552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306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1</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FORSCHUNG</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1980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612000">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 </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ourier New" panose="02070309020205020404" pitchFamily="49" charset="0"/>
                          <a:cs typeface="Courier New" panose="02070309020205020404" pitchFamily="49" charset="0"/>
                        </a:rPr>
                        <a:t>3</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smtClean="0">
                          <a:latin typeface="Courier New" panose="02070309020205020404" pitchFamily="49" charset="0"/>
                          <a:cs typeface="Courier New" panose="02070309020205020404" pitchFamily="49" charset="0"/>
                        </a:rPr>
                        <a:t>80992 </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3950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smtClean="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endParaRPr lang="en-US" sz="140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2589054475"/>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4636758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4637310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7854367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7856347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11241655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11245605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2156731</a:t>
            </a:r>
            <a:endParaRPr lang="en-US" sz="1100" dirty="0">
              <a:latin typeface="Courier New" panose="02070309020205020404" pitchFamily="49" charset="0"/>
              <a:cs typeface="Courier New" panose="02070309020205020404" pitchFamily="49" charset="0"/>
            </a:endParaRPr>
          </a:p>
        </p:txBody>
      </p:sp>
      <p:graphicFrame>
        <p:nvGraphicFramePr>
          <p:cNvPr id="218" name="Tabelle 5"/>
          <p:cNvGraphicFramePr>
            <a:graphicFrameLocks noGrp="1"/>
          </p:cNvGraphicFramePr>
          <p:nvPr>
            <p:extLst>
              <p:ext uri="{D42A27DB-BD31-4B8C-83A1-F6EECF244321}">
                <p14:modId xmlns:p14="http://schemas.microsoft.com/office/powerpoint/2010/main" val="411620766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10187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15633</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27996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7267831</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aphicFrame>
        <p:nvGraphicFramePr>
          <p:cNvPr id="240" name="Tabelle 5"/>
          <p:cNvGraphicFramePr>
            <a:graphicFrameLocks noGrp="1"/>
          </p:cNvGraphicFramePr>
          <p:nvPr>
            <p:extLst>
              <p:ext uri="{D42A27DB-BD31-4B8C-83A1-F6EECF244321}">
                <p14:modId xmlns:p14="http://schemas.microsoft.com/office/powerpoint/2010/main" val="3817271513"/>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596307140"/>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gridCol w="1216280"/>
                <a:gridCol w="784280"/>
                <a:gridCol w="1144280"/>
                <a:gridCol w="1036280"/>
                <a:gridCol w="964280"/>
                <a:gridCol w="568280"/>
                <a:gridCol w="712280"/>
                <a:gridCol w="820280"/>
                <a:gridCol w="928280"/>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smtClean="0">
                          <a:solidFill>
                            <a:srgbClr val="00B0F0"/>
                          </a:solidFill>
                        </a:rPr>
                        <a:t>❶</a:t>
                      </a:r>
                      <a:r>
                        <a:rPr lang="en-US" sz="120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2182779</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dirty="0" smtClean="0"/>
              <a:t>registry</a:t>
            </a:r>
            <a:endParaRPr lang="en-US" sz="1400" dirty="0"/>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dirty="0" err="1" smtClean="0"/>
              <a:t>regindex</a:t>
            </a:r>
            <a:endParaRPr lang="en-US" sz="140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dirty="0" smtClean="0"/>
              <a:t>base</a:t>
            </a:r>
            <a:endParaRPr lang="en-US" sz="1400" dirty="0"/>
          </a:p>
        </p:txBody>
      </p:sp>
      <p:graphicFrame>
        <p:nvGraphicFramePr>
          <p:cNvPr id="5" name="Tabelle 4"/>
          <p:cNvGraphicFramePr>
            <a:graphicFrameLocks noGrp="1"/>
          </p:cNvGraphicFramePr>
          <p:nvPr>
            <p:extLst>
              <p:ext uri="{D42A27DB-BD31-4B8C-83A1-F6EECF244321}">
                <p14:modId xmlns:p14="http://schemas.microsoft.com/office/powerpoint/2010/main" val="1072019932"/>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gridCol w="429108"/>
                <a:gridCol w="564859"/>
              </a:tblGrid>
              <a:tr h="367200">
                <a:tc>
                  <a:txBody>
                    <a:bodyPr/>
                    <a:lstStyle/>
                    <a:p>
                      <a:r>
                        <a:rPr lang="en-US" sz="1200" dirty="0" smtClean="0">
                          <a:solidFill>
                            <a:schemeClr val="bg1"/>
                          </a:solidFill>
                        </a:rPr>
                        <a:t>AGGREGATION</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l-GR" sz="1400" dirty="0" smtClean="0">
                          <a:solidFill>
                            <a:schemeClr val="bg1"/>
                          </a:solidFill>
                          <a:latin typeface="Cambria Math" panose="02040503050406030204" pitchFamily="18" charset="0"/>
                          <a:ea typeface="Cambria Math" panose="02040503050406030204" pitchFamily="18" charset="0"/>
                        </a:rPr>
                        <a:t>Σ</a:t>
                      </a:r>
                      <a:endParaRPr lang="en-US" sz="14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dirty="0" smtClean="0">
                          <a:solidFill>
                            <a:schemeClr val="bg1"/>
                          </a:solidFill>
                        </a:rPr>
                        <a:t>+21.2</a:t>
                      </a:r>
                      <a:endParaRPr lang="en-US" sz="120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52000">
                <a:tc>
                  <a:txBody>
                    <a:bodyPr/>
                    <a:lstStyle/>
                    <a:p>
                      <a:r>
                        <a:rPr lang="en-US" sz="1200" dirty="0" smtClean="0"/>
                        <a:t>BMW, FORSCHUNG, 80992</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78.8</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dirty="0" smtClean="0"/>
                        <a:t>100.0</a:t>
                      </a:r>
                      <a:endParaRPr lang="en-US" sz="1200" dirty="0"/>
                    </a:p>
                  </a:txBody>
                  <a:tcPr marL="45720" marR="45720" marT="18000" marB="18000" anchor="ctr">
                    <a:lnT w="12700" cap="flat" cmpd="sng" algn="ctr">
                      <a:solidFill>
                        <a:srgbClr val="1FBAF1"/>
                      </a:solidFill>
                      <a:prstDash val="solid"/>
                      <a:round/>
                      <a:headEnd type="none" w="med" len="med"/>
                      <a:tailEnd type="none" w="med" len="med"/>
                    </a:lnT>
                  </a:tcPr>
                </a:tc>
              </a:tr>
              <a:tr h="252000">
                <a:tc>
                  <a:txBody>
                    <a:bodyPr/>
                    <a:lstStyle/>
                    <a:p>
                      <a:r>
                        <a:rPr lang="en-US" sz="1200" dirty="0" smtClean="0"/>
                        <a:t>BMW, FORSCHUNG</a:t>
                      </a:r>
                      <a:endParaRPr lang="en-US" sz="1200" dirty="0"/>
                    </a:p>
                  </a:txBody>
                  <a:tcPr marL="45720" marR="45720" marT="18000" marB="18000" anchor="ctr"/>
                </a:tc>
                <a:tc>
                  <a:txBody>
                    <a:bodyPr/>
                    <a:lstStyle/>
                    <a:p>
                      <a:pPr algn="r"/>
                      <a:r>
                        <a:rPr lang="en-US" sz="1200" dirty="0" smtClean="0"/>
                        <a:t>68.8</a:t>
                      </a:r>
                      <a:endParaRPr lang="en-US" sz="1200" dirty="0"/>
                    </a:p>
                  </a:txBody>
                  <a:tcPr marL="45720" marR="45720" marT="18000" marB="18000" anchor="ctr"/>
                </a:tc>
                <a:tc>
                  <a:txBody>
                    <a:bodyPr/>
                    <a:lstStyle/>
                    <a:p>
                      <a:pPr algn="r"/>
                      <a:r>
                        <a:rPr lang="en-US" sz="1200" dirty="0" smtClean="0"/>
                        <a:t>90.0</a:t>
                      </a:r>
                      <a:endParaRPr lang="en-US" sz="1200" dirty="0"/>
                    </a:p>
                  </a:txBody>
                  <a:tcPr marL="45720" marR="45720" marT="18000" marB="18000" anchor="ctr"/>
                </a:tc>
              </a:tr>
              <a:tr h="252000">
                <a:tc>
                  <a:txBody>
                    <a:bodyPr/>
                    <a:lstStyle/>
                    <a:p>
                      <a:r>
                        <a:rPr lang="en-US" sz="1200" dirty="0" smtClean="0"/>
                        <a:t>BMW, 80992</a:t>
                      </a:r>
                      <a:endParaRPr lang="en-US" sz="1200" dirty="0"/>
                    </a:p>
                  </a:txBody>
                  <a:tcPr marL="45720" marR="45720" marT="18000" marB="18000" anchor="ctr"/>
                </a:tc>
                <a:tc>
                  <a:txBody>
                    <a:bodyPr/>
                    <a:lstStyle/>
                    <a:p>
                      <a:pPr algn="r"/>
                      <a:r>
                        <a:rPr lang="en-US" sz="1200" dirty="0" smtClean="0"/>
                        <a:t>63.8</a:t>
                      </a:r>
                      <a:endParaRPr lang="en-US" sz="1200" dirty="0"/>
                    </a:p>
                  </a:txBody>
                  <a:tcPr marL="45720" marR="45720" marT="18000" marB="18000" anchor="ctr"/>
                </a:tc>
                <a:tc>
                  <a:txBody>
                    <a:bodyPr/>
                    <a:lstStyle/>
                    <a:p>
                      <a:pPr algn="r"/>
                      <a:r>
                        <a:rPr lang="en-US" sz="1200" dirty="0" smtClean="0"/>
                        <a:t>85.0</a:t>
                      </a:r>
                      <a:endParaRPr lang="en-US" sz="1200" dirty="0"/>
                    </a:p>
                  </a:txBody>
                  <a:tcPr marL="45720" marR="45720" marT="18000" marB="18000" anchor="ctr"/>
                </a:tc>
              </a:tr>
              <a:tr h="252000">
                <a:tc>
                  <a:txBody>
                    <a:bodyPr/>
                    <a:lstStyle/>
                    <a:p>
                      <a:r>
                        <a:rPr lang="en-US" sz="1200" dirty="0" smtClean="0"/>
                        <a:t>BMW</a:t>
                      </a:r>
                      <a:endParaRPr lang="en-US" sz="1200" dirty="0"/>
                    </a:p>
                  </a:txBody>
                  <a:tcPr marL="45720" marR="45720" marT="18000" marB="18000" anchor="ctr"/>
                </a:tc>
                <a:tc>
                  <a:txBody>
                    <a:bodyPr/>
                    <a:lstStyle/>
                    <a:p>
                      <a:pPr algn="r"/>
                      <a:r>
                        <a:rPr lang="en-US" sz="1200" dirty="0" smtClean="0"/>
                        <a:t>53.8</a:t>
                      </a:r>
                      <a:endParaRPr lang="en-US" sz="1200" dirty="0"/>
                    </a:p>
                  </a:txBody>
                  <a:tcPr marL="45720" marR="45720" marT="18000" marB="18000" anchor="ctr"/>
                </a:tc>
                <a:tc>
                  <a:txBody>
                    <a:bodyPr/>
                    <a:lstStyle/>
                    <a:p>
                      <a:pPr algn="r"/>
                      <a:r>
                        <a:rPr lang="en-US" sz="1200" dirty="0" smtClean="0"/>
                        <a:t>75.0</a:t>
                      </a:r>
                      <a:endParaRPr lang="en-US" sz="1200" dirty="0"/>
                    </a:p>
                  </a:txBody>
                  <a:tcPr marL="45720" marR="45720" marT="18000" marB="18000" anchor="ctr"/>
                </a:tc>
              </a:tr>
              <a:tr h="252000">
                <a:tc>
                  <a:txBody>
                    <a:bodyPr/>
                    <a:lstStyle/>
                    <a:p>
                      <a:r>
                        <a:rPr lang="en-US" sz="1200" dirty="0" smtClean="0"/>
                        <a:t>FORSCHUNG, 80992</a:t>
                      </a:r>
                      <a:endParaRPr lang="en-US" sz="1200" dirty="0"/>
                    </a:p>
                  </a:txBody>
                  <a:tcPr marL="45720" marR="45720" marT="18000" marB="18000" anchor="ctr"/>
                </a:tc>
                <a:tc>
                  <a:txBody>
                    <a:bodyPr/>
                    <a:lstStyle/>
                    <a:p>
                      <a:pPr algn="r"/>
                      <a:r>
                        <a:rPr lang="en-US" sz="1200" dirty="0" smtClean="0"/>
                        <a:t>25.0</a:t>
                      </a:r>
                      <a:endParaRPr lang="en-US" sz="1200" dirty="0"/>
                    </a:p>
                  </a:txBody>
                  <a:tcPr marL="45720" marR="45720" marT="18000" marB="18000" anchor="ctr"/>
                </a:tc>
                <a:tc>
                  <a:txBody>
                    <a:bodyPr/>
                    <a:lstStyle/>
                    <a:p>
                      <a:pPr algn="r"/>
                      <a:r>
                        <a:rPr lang="en-US" sz="1200" dirty="0" smtClean="0"/>
                        <a:t>46.2</a:t>
                      </a:r>
                      <a:endParaRPr lang="en-US" sz="1200" dirty="0"/>
                    </a:p>
                  </a:txBody>
                  <a:tcPr marL="45720" marR="45720" marT="18000" marB="18000" anchor="ctr"/>
                </a:tc>
              </a:tr>
              <a:tr h="252000">
                <a:tc>
                  <a:txBody>
                    <a:bodyPr/>
                    <a:lstStyle/>
                    <a:p>
                      <a:r>
                        <a:rPr lang="en-US" sz="1200" dirty="0" smtClean="0"/>
                        <a:t>FORSCHUNG</a:t>
                      </a:r>
                      <a:endParaRPr lang="en-US" sz="1200" dirty="0"/>
                    </a:p>
                  </a:txBody>
                  <a:tcPr marL="45720" marR="45720" marT="18000" marB="18000" anchor="ctr"/>
                </a:tc>
                <a:tc>
                  <a:txBody>
                    <a:bodyPr/>
                    <a:lstStyle/>
                    <a:p>
                      <a:pPr algn="r"/>
                      <a:r>
                        <a:rPr lang="en-US" sz="1200" dirty="0" smtClean="0"/>
                        <a:t>15.0</a:t>
                      </a:r>
                      <a:endParaRPr lang="en-US" sz="1200" dirty="0"/>
                    </a:p>
                  </a:txBody>
                  <a:tcPr marL="45720" marR="45720" marT="18000" marB="18000" anchor="ctr"/>
                </a:tc>
                <a:tc>
                  <a:txBody>
                    <a:bodyPr/>
                    <a:lstStyle/>
                    <a:p>
                      <a:pPr algn="r"/>
                      <a:r>
                        <a:rPr lang="en-US" sz="1200" dirty="0" smtClean="0"/>
                        <a:t>36.2</a:t>
                      </a:r>
                      <a:endParaRPr lang="en-US" sz="1200" dirty="0"/>
                    </a:p>
                  </a:txBody>
                  <a:tcPr marL="45720" marR="45720" marT="18000" marB="18000" anchor="ctr"/>
                </a:tc>
              </a:tr>
              <a:tr h="252000">
                <a:tc>
                  <a:txBody>
                    <a:bodyPr/>
                    <a:lstStyle/>
                    <a:p>
                      <a:r>
                        <a:rPr lang="en-US" sz="1200" dirty="0" smtClean="0"/>
                        <a:t>80992</a:t>
                      </a:r>
                      <a:endParaRPr lang="en-US" sz="1200" dirty="0"/>
                    </a:p>
                  </a:txBody>
                  <a:tcPr marL="45720" marR="45720" marT="18000" marB="18000" anchor="ctr"/>
                </a:tc>
                <a:tc>
                  <a:txBody>
                    <a:bodyPr/>
                    <a:lstStyle/>
                    <a:p>
                      <a:pPr algn="r"/>
                      <a:r>
                        <a:rPr lang="en-US" sz="1200" dirty="0" smtClean="0"/>
                        <a:t>10.0</a:t>
                      </a:r>
                      <a:endParaRPr lang="en-US" sz="1200" dirty="0"/>
                    </a:p>
                  </a:txBody>
                  <a:tcPr marL="45720" marR="45720" marT="18000" marB="18000" anchor="ctr"/>
                </a:tc>
                <a:tc>
                  <a:txBody>
                    <a:bodyPr/>
                    <a:lstStyle/>
                    <a:p>
                      <a:pPr algn="r"/>
                      <a:r>
                        <a:rPr lang="en-US" sz="1200" dirty="0" smtClean="0"/>
                        <a:t>31.2</a:t>
                      </a:r>
                      <a:endParaRPr lang="en-US" sz="1200" dirty="0"/>
                    </a:p>
                  </a:txBody>
                  <a:tcPr marL="45720" marR="45720" marT="18000" marB="18000" anchor="ctr"/>
                </a:tc>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rotWithShape="0">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r>
                        <a:rPr lang="de-DE" sz="1400" b="0" i="1" smtClean="0">
                          <a:latin typeface="Cambria Math" panose="02040503050406030204" pitchFamily="18" charset="0"/>
                        </a:rPr>
                        <m:t>+1</m:t>
                      </m:r>
                    </m:oMath>
                  </m:oMathPara>
                </a14:m>
                <a:endParaRPr lang="en-US" sz="140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rotWithShape="0">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𝑟𝑒𝑔𝑖𝑠𝑡𝑟𝑦</m:t>
                          </m:r>
                        </m:sub>
                      </m:sSub>
                    </m:oMath>
                  </m:oMathPara>
                </a14:m>
                <a:endParaRPr lang="en-US" sz="140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rotWithShape="0">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1400" b="0" i="1" smtClean="0">
                          <a:latin typeface="Cambria Math" panose="02040503050406030204" pitchFamily="18" charset="0"/>
                        </a:rPr>
                        <m:t>𝑓𝑖𝑥𝑒𝑑</m:t>
                      </m:r>
                      <m:r>
                        <a:rPr lang="de-DE" sz="1400" b="0" i="1" smtClean="0">
                          <a:latin typeface="Cambria Math" panose="02040503050406030204" pitchFamily="18" charset="0"/>
                        </a:rPr>
                        <m:t> </m:t>
                      </m:r>
                      <m:r>
                        <a:rPr lang="de-DE" sz="1400" b="0" i="1" smtClean="0">
                          <a:latin typeface="Cambria Math" panose="02040503050406030204" pitchFamily="18" charset="0"/>
                        </a:rPr>
                        <m:t>𝑠𝑖𝑧𝑒</m:t>
                      </m:r>
                    </m:oMath>
                  </m:oMathPara>
                </a14:m>
                <a:endParaRPr lang="en-US" sz="140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rotWithShape="0">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dirty="0" smtClean="0">
                    <a:solidFill>
                      <a:srgbClr val="00B0F0"/>
                    </a:solidFill>
                    <a:latin typeface="Cambria Math" panose="02040503050406030204" pitchFamily="18" charset="0"/>
                    <a:ea typeface="Cambria Math" panose="02040503050406030204" pitchFamily="18" charset="0"/>
                  </a:rPr>
                  <a:t>70%</a:t>
                </a:r>
                <a:endParaRPr lang="en-US" sz="1200" dirty="0">
                  <a:solidFill>
                    <a:srgbClr val="00B0F0"/>
                  </a:solidFill>
                  <a:latin typeface="Cambria Math" panose="02040503050406030204" pitchFamily="18" charset="0"/>
                  <a:ea typeface="Cambria Math" panose="02040503050406030204" pitchFamily="18" charset="0"/>
                </a:endParaRP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dirty="0" smtClean="0">
                <a:latin typeface="Courier New" panose="02070309020205020404" pitchFamily="49" charset="0"/>
                <a:ea typeface="Cambria Math" panose="02040503050406030204" pitchFamily="18" charset="0"/>
                <a:cs typeface="Courier New" panose="02070309020205020404" pitchFamily="49" charset="0"/>
              </a:rPr>
              <a:t>4637310</a:t>
            </a:r>
            <a:endParaRPr lang="en-US" sz="1100" dirty="0">
              <a:latin typeface="Courier New" panose="02070309020205020404" pitchFamily="49" charset="0"/>
              <a:ea typeface="Cambria Math" panose="02040503050406030204" pitchFamily="18" charset="0"/>
              <a:cs typeface="Courier New" panose="02070309020205020404" pitchFamily="49" charset="0"/>
            </a:endParaRPr>
          </a:p>
        </p:txBody>
      </p:sp>
      <p:sp>
        <p:nvSpPr>
          <p:cNvPr id="6" name="Foliennummernplatzhalter 5"/>
          <p:cNvSpPr>
            <a:spLocks noGrp="1"/>
          </p:cNvSpPr>
          <p:nvPr>
            <p:ph type="sldNum" sz="quarter" idx="10"/>
          </p:nvPr>
        </p:nvSpPr>
        <p:spPr/>
        <p:txBody>
          <a:bodyPr/>
          <a:lstStyle/>
          <a:p>
            <a:fld id="{A29D8577-601D-4845-9C29-D9E13FE3E8DB}" type="slidenum">
              <a:rPr lang="en-US" smtClean="0"/>
              <a:pPr/>
              <a:t>8</a:t>
            </a:fld>
            <a:endParaRPr lang="en-US"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dirty="0" smtClean="0">
                <a:solidFill>
                  <a:srgbClr val="00B0F0"/>
                </a:solidFill>
              </a:rPr>
              <a:t>Efficiency Puzzle</a:t>
            </a:r>
          </a:p>
          <a:p>
            <a:r>
              <a:rPr lang="en-US" sz="1200" dirty="0" smtClean="0"/>
              <a:t>The retrieval also stops early when the interim total of the collated RIDs exceeds </a:t>
            </a:r>
            <a:r>
              <a:rPr lang="en-US" sz="1200" dirty="0" smtClean="0">
                <a:latin typeface="Cambria Math" panose="02040503050406030204" pitchFamily="18" charset="0"/>
                <a:ea typeface="Cambria Math" panose="02040503050406030204" pitchFamily="18" charset="0"/>
              </a:rPr>
              <a:t>100−threshold</a:t>
            </a:r>
            <a:r>
              <a:rPr lang="en-US" sz="1200" dirty="0" smtClean="0"/>
              <a:t>, because at least one of those words is necessary to push the Identity over the threshold.</a:t>
            </a:r>
          </a:p>
          <a:p>
            <a:r>
              <a:rPr lang="en-US" sz="1200" dirty="0" smtClean="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elle 5"/>
          <p:cNvGraphicFramePr>
            <a:graphicFrameLocks noGrp="1"/>
          </p:cNvGraphicFramePr>
          <p:nvPr>
            <p:extLst>
              <p:ext uri="{D42A27DB-BD31-4B8C-83A1-F6EECF244321}">
                <p14:modId xmlns:p14="http://schemas.microsoft.com/office/powerpoint/2010/main" val="3383084297"/>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gridCol w="540774"/>
              </a:tblGrid>
              <a:tr h="288000">
                <a:tc>
                  <a:txBody>
                    <a:bodyPr/>
                    <a:lstStyle/>
                    <a:p>
                      <a:pPr algn="l"/>
                      <a:r>
                        <a:rPr lang="en-US" sz="1400" dirty="0" smtClean="0">
                          <a:latin typeface="+mn-lt"/>
                          <a:ea typeface="Cambria Math" panose="02040503050406030204" pitchFamily="18" charset="0"/>
                          <a:cs typeface="Courier New" panose="02070309020205020404" pitchFamily="49" charset="0"/>
                        </a:rPr>
                        <a:t>BMW</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mn-lt"/>
                          <a:ea typeface="Cambria Math" panose="02040503050406030204" pitchFamily="18" charset="0"/>
                          <a:cs typeface="Courier New" panose="02070309020205020404" pitchFamily="49" charset="0"/>
                        </a:rPr>
                        <a:t>53.8</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Cambria Math" panose="02040503050406030204" pitchFamily="18" charset="0"/>
                          <a:ea typeface="Cambria Math" panose="02040503050406030204" pitchFamily="18" charset="0"/>
                          <a:cs typeface="Courier New" panose="02070309020205020404" pitchFamily="49" charset="0"/>
                        </a:rPr>
                        <a:t>80992</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10.0</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HANAUER</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TECHNIK</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l"/>
                      <a:r>
                        <a:rPr lang="en-US" sz="1400" dirty="0" smtClean="0">
                          <a:latin typeface="+mn-lt"/>
                          <a:ea typeface="Cambria Math" panose="02040503050406030204" pitchFamily="18" charset="0"/>
                          <a:cs typeface="Courier New" panose="02070309020205020404" pitchFamily="49" charset="0"/>
                        </a:rPr>
                        <a:t>46</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SERVICE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smtClean="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dirty="0" smtClean="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GMBH</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l"/>
                      <a:r>
                        <a:rPr lang="en-US" sz="1400" dirty="0" smtClean="0">
                          <a:latin typeface="+mn-lt"/>
                          <a:ea typeface="Cambria Math" panose="02040503050406030204" pitchFamily="18" charset="0"/>
                          <a:cs typeface="Courier New" panose="02070309020205020404" pitchFamily="49" charset="0"/>
                        </a:rPr>
                        <a:t>STRASSE</a:t>
                      </a: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2" name="Titel 1"/>
          <p:cNvSpPr>
            <a:spLocks noGrp="1"/>
          </p:cNvSpPr>
          <p:nvPr>
            <p:ph type="title"/>
          </p:nvPr>
        </p:nvSpPr>
        <p:spPr/>
        <p:txBody>
          <a:bodyPr/>
          <a:lstStyle/>
          <a:p>
            <a:r>
              <a:rPr lang="en-US" dirty="0" smtClean="0"/>
              <a:t>Identity Completion</a:t>
            </a:r>
            <a:endParaRPr lang="en-US" dirty="0"/>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15634</a:t>
            </a:r>
            <a:endParaRPr lang="en-US" sz="1100" dirty="0">
              <a:latin typeface="Courier New" panose="02070309020205020404" pitchFamily="49" charset="0"/>
              <a:cs typeface="Courier New" panose="02070309020205020404" pitchFamily="49" charset="0"/>
            </a:endParaRP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dirty="0" err="1" smtClean="0"/>
              <a:t>baseindex</a:t>
            </a:r>
            <a:endParaRPr lang="en-US" sz="140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a:rPr lang="de-DE" sz="1400" b="0" i="1" smtClean="0">
                              <a:latin typeface="Cambria Math" panose="02040503050406030204" pitchFamily="18" charset="0"/>
                            </a:rPr>
                            <m:t>𝑁</m:t>
                          </m:r>
                        </m:e>
                        <m:sub>
                          <m:r>
                            <a:rPr lang="de-DE" sz="1400" b="0" i="1" smtClean="0">
                              <a:latin typeface="Cambria Math" panose="02040503050406030204" pitchFamily="18" charset="0"/>
                            </a:rPr>
                            <m:t>𝑏𝑎𝑠𝑒</m:t>
                          </m:r>
                        </m:sub>
                      </m:sSub>
                      <m:r>
                        <a:rPr lang="de-DE" sz="1400" b="0" i="1" smtClean="0">
                          <a:latin typeface="Cambria Math" panose="02040503050406030204" pitchFamily="18" charset="0"/>
                        </a:rPr>
                        <m:t>+1</m:t>
                      </m:r>
                    </m:oMath>
                  </m:oMathPara>
                </a14:m>
                <a:endParaRPr lang="en-US" sz="140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rotWithShape="0">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record</a:t>
            </a:r>
            <a:endParaRPr lang="en-US" sz="1100" dirty="0">
              <a:latin typeface="Courier New" panose="02070309020205020404" pitchFamily="49" charset="0"/>
              <a:cs typeface="Courier New" panose="02070309020205020404" pitchFamily="49" charset="0"/>
            </a:endParaRP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124944</a:t>
            </a:r>
            <a:endParaRPr lang="en-US" sz="1100" dirty="0">
              <a:latin typeface="Courier New" panose="02070309020205020404" pitchFamily="49" charset="0"/>
              <a:cs typeface="Courier New" panose="02070309020205020404" pitchFamily="49" charset="0"/>
            </a:endParaRPr>
          </a:p>
        </p:txBody>
      </p:sp>
      <p:graphicFrame>
        <p:nvGraphicFramePr>
          <p:cNvPr id="76" name="Tabelle 75"/>
          <p:cNvGraphicFramePr>
            <a:graphicFrameLocks noGrp="1"/>
          </p:cNvGraphicFramePr>
          <p:nvPr>
            <p:extLst>
              <p:ext uri="{D42A27DB-BD31-4B8C-83A1-F6EECF244321}">
                <p14:modId xmlns:p14="http://schemas.microsoft.com/office/powerpoint/2010/main" val="2682465492"/>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gridCol w="1253655"/>
                <a:gridCol w="821655"/>
                <a:gridCol w="1072800"/>
                <a:gridCol w="1000800"/>
                <a:gridCol w="671881"/>
                <a:gridCol w="1181655"/>
                <a:gridCol w="748800"/>
                <a:gridCol w="856800"/>
                <a:gridCol w="965655"/>
              </a:tblGrid>
              <a:tr h="252000">
                <a:tc>
                  <a:txBody>
                    <a:bodyPr/>
                    <a:lstStyle/>
                    <a:p>
                      <a:pPr algn="l"/>
                      <a:r>
                        <a:rPr lang="en-US" sz="1200" dirty="0" smtClean="0">
                          <a:solidFill>
                            <a:srgbClr val="00B0F0"/>
                          </a:solidFill>
                        </a:rPr>
                        <a:t>❶</a:t>
                      </a:r>
                      <a:r>
                        <a:rPr lang="en-US" sz="1200" dirty="0" smtClean="0">
                          <a:solidFill>
                            <a:schemeClr val="tx1"/>
                          </a:solidFill>
                        </a:rPr>
                        <a:t>BMW</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FORSCHUNG</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❸</a:t>
                      </a:r>
                      <a:r>
                        <a:rPr lang="en-US" sz="1200" dirty="0" smtClean="0">
                          <a:solidFill>
                            <a:schemeClr val="tx1"/>
                          </a:solidFill>
                        </a:rPr>
                        <a:t>80992</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HANAUER</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TECHNIK</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46</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❹</a:t>
                      </a:r>
                      <a:r>
                        <a:rPr lang="en-US" sz="1200" dirty="0" smtClean="0">
                          <a:solidFill>
                            <a:schemeClr val="tx1"/>
                          </a:solidFill>
                        </a:rPr>
                        <a:t>MUENCHEN</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UND</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❶</a:t>
                      </a:r>
                      <a:r>
                        <a:rPr lang="en-US" sz="1200" dirty="0" smtClean="0">
                          <a:solidFill>
                            <a:schemeClr val="tx1"/>
                          </a:solidFill>
                        </a:rPr>
                        <a:t>GMBH</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dirty="0" smtClean="0">
                          <a:solidFill>
                            <a:srgbClr val="00B0F0"/>
                          </a:solidFill>
                        </a:rPr>
                        <a:t>❷</a:t>
                      </a:r>
                      <a:r>
                        <a:rPr lang="en-US" sz="1200" dirty="0" smtClean="0">
                          <a:solidFill>
                            <a:schemeClr val="tx1"/>
                          </a:solidFill>
                        </a:rPr>
                        <a:t>STRASSE</a:t>
                      </a:r>
                      <a:endParaRPr lang="en-US" sz="1200" dirty="0">
                        <a:solidFill>
                          <a:schemeClr val="tx1"/>
                        </a:solidFill>
                      </a:endParaRP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ctr"/>
                      <a:r>
                        <a:rPr lang="en-US" sz="1400" dirty="0" smtClean="0">
                          <a:latin typeface="Cambria Math" panose="02040503050406030204" pitchFamily="18" charset="0"/>
                          <a:ea typeface="Cambria Math" panose="02040503050406030204" pitchFamily="18" charset="0"/>
                        </a:rPr>
                        <a:t>53.8</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15.0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9.1</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1.2</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0.9</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10.0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dirty="0" smtClean="0">
                          <a:latin typeface="Cambria Math" panose="02040503050406030204" pitchFamily="18" charset="0"/>
                          <a:ea typeface="Cambria Math" panose="02040503050406030204" pitchFamily="18" charset="0"/>
                        </a:rPr>
                        <a:t>0.0</a:t>
                      </a:r>
                      <a:endParaRPr lang="en-US" sz="1400" dirty="0">
                        <a:latin typeface="Cambria Math" panose="02040503050406030204" pitchFamily="18" charset="0"/>
                        <a:ea typeface="Cambria Math" panose="02040503050406030204" pitchFamily="18"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cs typeface="Courier New" panose="02070309020205020404" pitchFamily="49" charset="0"/>
                        </a:rPr>
                        <a:t>2172419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ourier New" panose="02070309020205020404" pitchFamily="49" charset="0"/>
                          <a:ea typeface="Cambria Math" panose="02040503050406030204" pitchFamily="18" charset="0"/>
                          <a:cs typeface="Courier New" panose="02070309020205020404" pitchFamily="49" charset="0"/>
                        </a:rPr>
                        <a:t>2179375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000" dirty="0" smtClean="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2188225</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2188227</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dirty="0" smtClean="0">
                          <a:latin typeface="Cambria Math" panose="02040503050406030204" pitchFamily="18" charset="0"/>
                          <a:ea typeface="Cambria Math" panose="02040503050406030204" pitchFamily="18" charset="0"/>
                          <a:cs typeface="Courier New" panose="02070309020205020404" pitchFamily="49" charset="0"/>
                        </a:rPr>
                        <a:t>2188228</a:t>
                      </a:r>
                      <a:endParaRPr lang="en-US" sz="100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dirty="0">
                  <a:solidFill>
                    <a:schemeClr val="bg1"/>
                  </a:solidFill>
                </a:rPr>
                <a:t>s</a:t>
              </a:r>
              <a:r>
                <a:rPr lang="en-US" sz="1400" dirty="0" smtClean="0">
                  <a:solidFill>
                    <a:schemeClr val="bg1"/>
                  </a:solidFill>
                </a:rPr>
                <a:t>ort order</a:t>
              </a:r>
              <a:endParaRPr lang="en-US" sz="1400" dirty="0">
                <a:solidFill>
                  <a:schemeClr val="bg1"/>
                </a:solidFill>
              </a:endParaRP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dirty="0" smtClean="0">
                <a:solidFill>
                  <a:schemeClr val="bg1"/>
                </a:solidFill>
                <a:latin typeface="Cambria Math" panose="02040503050406030204" pitchFamily="18" charset="0"/>
                <a:ea typeface="Cambria Math" panose="02040503050406030204" pitchFamily="18" charset="0"/>
              </a:rPr>
              <a:t>15633</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15" name="Tabelle 5"/>
          <p:cNvGraphicFramePr>
            <a:graphicFrameLocks noGrp="1"/>
          </p:cNvGraphicFramePr>
          <p:nvPr>
            <p:extLst>
              <p:ext uri="{D42A27DB-BD31-4B8C-83A1-F6EECF244321}">
                <p14:modId xmlns:p14="http://schemas.microsoft.com/office/powerpoint/2010/main" val="4095827225"/>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tblGrid>
              <a:tr h="324000">
                <a:tc>
                  <a:txBody>
                    <a:bodyPr/>
                    <a:lstStyle/>
                    <a:p>
                      <a:pPr marL="0" indent="0" algn="r"/>
                      <a:r>
                        <a:rPr lang="en-US" sz="1800" dirty="0" smtClean="0">
                          <a:solidFill>
                            <a:schemeClr val="bg1"/>
                          </a:solidFill>
                        </a:rPr>
                        <a:t>index</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124935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124944</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016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15633</a:t>
            </a:r>
            <a:endParaRPr lang="en-US" sz="1100" dirty="0">
              <a:latin typeface="Courier New" panose="02070309020205020404" pitchFamily="49" charset="0"/>
              <a:cs typeface="Courier New" panose="02070309020205020404" pitchFamily="49" charset="0"/>
            </a:endParaRP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dirty="0" smtClean="0">
                <a:latin typeface="Courier New" panose="02070309020205020404" pitchFamily="49" charset="0"/>
                <a:cs typeface="Courier New" panose="02070309020205020404" pitchFamily="49" charset="0"/>
              </a:rPr>
              <a:t>124935</a:t>
            </a:r>
            <a:endParaRPr lang="en-US" sz="1100" dirty="0">
              <a:latin typeface="Courier New" panose="02070309020205020404" pitchFamily="49" charset="0"/>
              <a:cs typeface="Courier New" panose="02070309020205020404" pitchFamily="49" charset="0"/>
            </a:endParaRPr>
          </a:p>
        </p:txBody>
      </p:sp>
      <p:graphicFrame>
        <p:nvGraphicFramePr>
          <p:cNvPr id="46" name="Tabelle 5"/>
          <p:cNvGraphicFramePr>
            <a:graphicFrameLocks noGrp="1"/>
          </p:cNvGraphicFramePr>
          <p:nvPr>
            <p:extLst>
              <p:ext uri="{D42A27DB-BD31-4B8C-83A1-F6EECF244321}">
                <p14:modId xmlns:p14="http://schemas.microsoft.com/office/powerpoint/2010/main" val="3395385698"/>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tblGrid>
              <a:tr h="324000">
                <a:tc>
                  <a:txBody>
                    <a:bodyPr/>
                    <a:lstStyle/>
                    <a:p>
                      <a:pPr marL="0" indent="0" algn="r"/>
                      <a:r>
                        <a:rPr lang="en-US" sz="1800" dirty="0" smtClean="0">
                          <a:solidFill>
                            <a:schemeClr val="bg1"/>
                          </a:solidFill>
                        </a:rPr>
                        <a:t>target</a:t>
                      </a:r>
                      <a:endParaRPr lang="en-US" sz="180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288000">
                <a:tc>
                  <a:txBody>
                    <a:bodyPr/>
                    <a:lstStyle/>
                    <a:p>
                      <a:pPr algn="r"/>
                      <a:r>
                        <a:rPr lang="en-US" sz="1400" dirty="0" smtClean="0">
                          <a:latin typeface="Courier New" panose="02070309020205020404" pitchFamily="49" charset="0"/>
                          <a:cs typeface="Courier New" panose="02070309020205020404" pitchFamily="49" charset="0"/>
                        </a:rPr>
                        <a:t>…</a:t>
                      </a:r>
                      <a:endParaRPr lang="en-US" sz="140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2150179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2179375</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2182779</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2186398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15383">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2188021 </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smtClean="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2188227</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ambria Math" panose="02040503050406030204" pitchFamily="18" charset="0"/>
                          <a:ea typeface="Cambria Math" panose="02040503050406030204" pitchFamily="18" charset="0"/>
                          <a:cs typeface="Courier New" panose="02070309020205020404" pitchFamily="49" charset="0"/>
                        </a:rPr>
                        <a:t> 2188228</a:t>
                      </a:r>
                      <a:endParaRPr lang="en-US" sz="140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r h="288000">
                <a:tc>
                  <a:txBody>
                    <a:bodyPr/>
                    <a:lstStyle/>
                    <a:p>
                      <a:pPr algn="r"/>
                      <a:r>
                        <a:rPr lang="en-US" sz="1400" dirty="0" smtClean="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9.1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1.2</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10.0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endPar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endParaRP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0.0</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dirty="0" smtClean="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63.8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72.9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74.1</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73.8</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dirty="0" smtClean="0">
                <a:solidFill>
                  <a:schemeClr val="bg1"/>
                </a:solidFill>
                <a:latin typeface="Cambria Math" panose="02040503050406030204" pitchFamily="18" charset="0"/>
                <a:ea typeface="Cambria Math" panose="02040503050406030204" pitchFamily="18" charset="0"/>
              </a:rPr>
              <a:t>83.8</a:t>
            </a:r>
            <a:endParaRPr lang="en-US" sz="1400" dirty="0">
              <a:solidFill>
                <a:schemeClr val="bg1"/>
              </a:solidFill>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bHide m:val="on"/>
                          <m:supHide m:val="on"/>
                          <m:ctrlPr>
                            <a:rPr lang="en-US" sz="1400" i="1" smtClean="0">
                              <a:latin typeface="Cambria Math" panose="02040503050406030204" pitchFamily="18" charset="0"/>
                            </a:rPr>
                          </m:ctrlPr>
                        </m:naryPr>
                        <m:sub/>
                        <m:sup/>
                        <m:e>
                          <m:r>
                            <a:rPr lang="de-DE" sz="1400" b="0" i="1" smtClean="0">
                              <a:latin typeface="Cambria Math" panose="02040503050406030204" pitchFamily="18" charset="0"/>
                            </a:rPr>
                            <m:t>𝑜𝑐𝑐𝑢𝑟𝑠</m:t>
                          </m:r>
                        </m:e>
                      </m:nary>
                    </m:oMath>
                  </m:oMathPara>
                </a14:m>
                <a:endParaRPr lang="en-US" sz="140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rotWithShape="0">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dirty="0" smtClean="0">
                <a:solidFill>
                  <a:schemeClr val="bg1"/>
                </a:solidFill>
                <a:latin typeface="Courier New" panose="02070309020205020404" pitchFamily="49" charset="0"/>
                <a:cs typeface="Courier New" panose="02070309020205020404" pitchFamily="49" charset="0"/>
              </a:rPr>
              <a:t>250179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cs typeface="Courier New" panose="02070309020205020404" pitchFamily="49" charset="0"/>
              </a:rPr>
              <a:t>2172419</a:t>
            </a:r>
            <a:endParaRPr lang="en-US" sz="140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3615788746"/>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tblGrid>
              <a:tr h="362611">
                <a:tc>
                  <a:txBody>
                    <a:bodyPr/>
                    <a:lstStyle/>
                    <a:p>
                      <a:pPr marL="0" indent="0" algn="ctr"/>
                      <a:r>
                        <a:rPr lang="en-US" sz="1800" dirty="0" smtClean="0">
                          <a:solidFill>
                            <a:schemeClr val="bg1"/>
                          </a:solidFill>
                        </a:rPr>
                        <a:t>BUFFER</a:t>
                      </a:r>
                      <a:endParaRPr lang="en-US" sz="1800" dirty="0">
                        <a:solidFill>
                          <a:schemeClr val="bg1"/>
                        </a:solidFill>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r>
              <a:tr h="3813389">
                <a:tc>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dirty="0" err="1" smtClean="0"/>
              <a:t>reg</a:t>
            </a:r>
            <a:endParaRPr lang="en-US" sz="14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9</a:t>
            </a:fld>
            <a:endParaRPr lang="en-US"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dirty="0" smtClean="0">
                <a:solidFill>
                  <a:srgbClr val="00B0F0"/>
                </a:solidFill>
              </a:rPr>
              <a:t>Depth</a:t>
            </a:r>
          </a:p>
          <a:p>
            <a:r>
              <a:rPr lang="en-US" sz="1400" dirty="0" smtClean="0"/>
              <a:t>The default value for the BUFFER is 262,144.</a:t>
            </a:r>
          </a:p>
          <a:p>
            <a:r>
              <a:rPr lang="en-US" sz="1400" dirty="0" smtClean="0"/>
              <a:t>It can be increased to accommodate more homogenous databases or for specific search purposes, i.e. selection by legal form.</a:t>
            </a:r>
          </a:p>
          <a:p>
            <a:r>
              <a:rPr lang="en-US" sz="1400" dirty="0" smtClean="0"/>
              <a:t>The higher the Depth of the BUFFER the higher the amount of bycatch</a:t>
            </a:r>
            <a:r>
              <a:rPr lang="en-US" sz="1400" dirty="0"/>
              <a:t> </a:t>
            </a:r>
            <a:r>
              <a:rPr lang="en-US" sz="1400" dirty="0" smtClean="0"/>
              <a:t>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a:p>
            <a:pPr algn="r"/>
            <a:endParaRPr lang="en-US" sz="140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dirty="0" smtClean="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393893140"/>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tx1"/>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Rhodia Acetow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Körperschaft des öffentlichen Rechts,Kaiserstrasse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chemeClr val="tx1"/>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chemeClr val="tx1"/>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877691262"/>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chemeClr val="tx1"/>
                          </a:solidFill>
                          <a:effectLst/>
                          <a:latin typeface="Calibri" panose="020F0502020204030204" pitchFamily="34" charset="0"/>
                        </a:rPr>
                        <a:t>searched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found</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identity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equal</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name</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street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zip</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city</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cnt</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run</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Isotopen Technologien </a:t>
                      </a:r>
                      <a:r>
                        <a:rPr lang="de-DE" sz="800" b="0" i="0" u="none" strike="noStrike" dirty="0" err="1" smtClean="0">
                          <a:solidFill>
                            <a:schemeClr val="bg1">
                              <a:lumMod val="50000"/>
                            </a:schemeClr>
                          </a:solidFill>
                          <a:effectLst/>
                          <a:latin typeface="Calibri" panose="020F0502020204030204" pitchFamily="34" charset="0"/>
                        </a:rPr>
                        <a:t>Munich</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bg1">
                              <a:lumMod val="85000"/>
                            </a:schemeClr>
                          </a:solidFill>
                          <a:effectLst/>
                          <a:latin typeface="Calibri" panose="020F0502020204030204" pitchFamily="34" charset="0"/>
                        </a:rPr>
                        <a:t>Schleißheimer</a:t>
                      </a:r>
                      <a:r>
                        <a:rPr lang="de-DE" sz="800" b="0" i="0" u="none" strike="noStrike"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69.38</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ITM </a:t>
                      </a:r>
                      <a:r>
                        <a:rPr lang="de-DE" sz="800" b="0" i="0" u="none" strike="noStrike" dirty="0">
                          <a:solidFill>
                            <a:schemeClr val="tx1"/>
                          </a:solidFill>
                          <a:effectLst/>
                          <a:latin typeface="Calibri" panose="020F0502020204030204" pitchFamily="34" charset="0"/>
                        </a:rPr>
                        <a:t>Isotopen Technologien </a:t>
                      </a:r>
                      <a:r>
                        <a:rPr lang="de-DE" sz="800" b="0" i="0" u="none" strike="noStrike" dirty="0">
                          <a:solidFill>
                            <a:schemeClr val="bg1">
                              <a:lumMod val="85000"/>
                            </a:schemeClr>
                          </a:solidFill>
                          <a:effectLst/>
                          <a:latin typeface="Calibri" panose="020F0502020204030204" pitchFamily="34" charset="0"/>
                        </a:rPr>
                        <a:t>München</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Keplerstrasse</a:t>
                      </a:r>
                      <a:r>
                        <a:rPr lang="de-DE" sz="800" b="0" i="0" u="none" strike="noStrike"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Motorsportgruppe an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Vereinigung von Freunden der </a:t>
                      </a:r>
                      <a:r>
                        <a:rPr lang="de-DE" sz="800" b="0" i="0" u="none" strike="noStrike"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Förderkreis Betriebswirtschaft an der </a:t>
                      </a:r>
                      <a:r>
                        <a:rPr lang="de-DE" sz="800" b="0" i="0" u="none" strike="noStrike" dirty="0">
                          <a:solidFill>
                            <a:schemeClr val="tx1"/>
                          </a:solidFill>
                          <a:effectLst/>
                          <a:latin typeface="Calibri" panose="020F0502020204030204" pitchFamily="34" charset="0"/>
                        </a:rPr>
                        <a:t>Universität Stuttgart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Verwaltungsgesellschaft</a:t>
                      </a:r>
                      <a:r>
                        <a:rPr lang="de-DE" sz="800" b="0" i="0" u="none" strike="noStrike"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a:t>
                      </a:r>
                      <a:r>
                        <a:rPr lang="de-DE" sz="800" b="0" i="0" u="none" strike="noStrike" dirty="0">
                          <a:solidFill>
                            <a:schemeClr val="bg1">
                              <a:lumMod val="85000"/>
                            </a:schemeClr>
                          </a:solidFill>
                          <a:effectLst/>
                          <a:latin typeface="Calibri" panose="020F0502020204030204" pitchFamily="34" charset="0"/>
                        </a:rPr>
                        <a:t>Holding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chemeClr val="tx1"/>
                          </a:solidFill>
                          <a:effectLst/>
                          <a:latin typeface="Calibri" panose="020F0502020204030204" pitchFamily="34" charset="0"/>
                        </a:rPr>
                        <a:t>0.23</a:t>
                      </a:r>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Engesserstrasse 8 </a:t>
                      </a:r>
                      <a:r>
                        <a:rPr lang="de-DE" sz="800" b="0" i="0" u="none" strike="noStrike" dirty="0">
                          <a:solidFill>
                            <a:schemeClr val="bg1">
                              <a:lumMod val="50000"/>
                            </a:schemeClr>
                          </a:solidFill>
                          <a:effectLst/>
                          <a:latin typeface="Calibri" panose="020F0502020204030204" pitchFamily="34" charset="0"/>
                        </a:rPr>
                        <a:t>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RHONE-POULENC </a:t>
                      </a:r>
                      <a:r>
                        <a:rPr lang="de-DE" sz="800" b="0" i="0" u="none" strike="noStrike"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RP </a:t>
                      </a:r>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Rhodia</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err="1">
                          <a:solidFill>
                            <a:schemeClr val="bg1">
                              <a:lumMod val="85000"/>
                            </a:schemeClr>
                          </a:solidFill>
                          <a:effectLst/>
                          <a:latin typeface="Calibri" panose="020F0502020204030204" pitchFamily="34" charset="0"/>
                        </a:rPr>
                        <a:t>Acetow</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chemeClr val="tx1"/>
                          </a:solidFill>
                          <a:effectLst/>
                          <a:latin typeface="Calibri" panose="020F0502020204030204" pitchFamily="34" charset="0"/>
                        </a:rPr>
                        <a:t>Engesserstr</a:t>
                      </a:r>
                      <a:r>
                        <a:rPr lang="de-DE" sz="800" b="0" i="0" u="none" strike="noStrike"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Körperschaft des öffentlichen Rechts</a:t>
                      </a:r>
                      <a:r>
                        <a:rPr lang="de-DE" sz="800" b="0" i="0" u="none" strike="noStrike" dirty="0" smtClean="0">
                          <a:solidFill>
                            <a:schemeClr val="bg1">
                              <a:lumMod val="50000"/>
                            </a:schemeClr>
                          </a:solidFill>
                          <a:effectLst/>
                          <a:latin typeface="Calibri" panose="020F0502020204030204" pitchFamily="34" charset="0"/>
                        </a:rPr>
                        <a:t>, </a:t>
                      </a:r>
                      <a:r>
                        <a:rPr lang="de-DE" sz="800" b="0" i="0" u="none" strike="noStrike" dirty="0" err="1" smtClean="0">
                          <a:solidFill>
                            <a:schemeClr val="tx1"/>
                          </a:solidFill>
                          <a:effectLst/>
                          <a:latin typeface="Calibri" panose="020F0502020204030204" pitchFamily="34" charset="0"/>
                        </a:rPr>
                        <a:t>Kaiserstrasse</a:t>
                      </a:r>
                      <a:r>
                        <a:rPr lang="de-DE" sz="800" b="0" i="0" u="none" strike="noStrike" dirty="0" smtClean="0">
                          <a:solidFill>
                            <a:schemeClr val="tx1"/>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Akademische Fliegergruppe am </a:t>
                      </a:r>
                      <a:r>
                        <a:rPr lang="de-DE" sz="800" b="0" i="0" u="none" strike="noStrike" dirty="0">
                          <a:solidFill>
                            <a:schemeClr val="tx1"/>
                          </a:solidFill>
                          <a:effectLst/>
                          <a:latin typeface="Calibri" panose="020F0502020204030204" pitchFamily="34" charset="0"/>
                        </a:rPr>
                        <a:t>Karlsruher Institut für Technologie </a:t>
                      </a:r>
                      <a:r>
                        <a:rPr lang="de-DE" sz="800" b="0" i="0" u="none" strike="noStrike"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85000"/>
                            </a:schemeClr>
                          </a:solidFill>
                          <a:effectLst/>
                          <a:latin typeface="Calibri" panose="020F0502020204030204" pitchFamily="34" charset="0"/>
                        </a:rPr>
                        <a:t>KIT </a:t>
                      </a:r>
                      <a:r>
                        <a:rPr lang="de-DE" sz="800" b="0" i="0" u="none" strike="noStrike" dirty="0">
                          <a:solidFill>
                            <a:schemeClr val="tx1"/>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chemeClr val="bg1">
                              <a:lumMod val="85000"/>
                            </a:schemeClr>
                          </a:solidFill>
                          <a:effectLst/>
                          <a:latin typeface="Calibri" panose="020F0502020204030204" pitchFamily="34" charset="0"/>
                        </a:rPr>
                        <a:t>DMS </a:t>
                      </a:r>
                      <a:r>
                        <a:rPr lang="en-US" sz="800" b="0" i="0" u="none" strike="noStrike" dirty="0">
                          <a:solidFill>
                            <a:schemeClr val="tx1"/>
                          </a:solidFill>
                          <a:effectLst/>
                          <a:latin typeface="Calibri" panose="020F0502020204030204" pitchFamily="34" charset="0"/>
                        </a:rPr>
                        <a:t>Dynamic </a:t>
                      </a:r>
                      <a:r>
                        <a:rPr lang="en-US" sz="800" b="0" i="0" u="none" strike="noStrike" dirty="0">
                          <a:solidFill>
                            <a:srgbClr val="FF0000"/>
                          </a:solidFill>
                          <a:effectLst/>
                          <a:latin typeface="Calibri" panose="020F0502020204030204" pitchFamily="34" charset="0"/>
                        </a:rPr>
                        <a:t>Micro Systems</a:t>
                      </a:r>
                      <a:r>
                        <a:rPr lang="en-US" sz="800" b="0" i="0" u="none" strike="noStrike"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BROTZMANN CO</a:t>
                      </a:r>
                      <a:r>
                        <a:rPr lang="de-DE" sz="800" b="0" i="0" u="none" strike="noStrike" dirty="0">
                          <a:solidFill>
                            <a:srgbClr val="FF0000"/>
                          </a:solidFill>
                          <a:effectLst/>
                          <a:latin typeface="Calibri" panose="020F0502020204030204" pitchFamily="34" charset="0"/>
                        </a:rPr>
                        <a:t>M</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 Scheffel-</a:t>
                      </a:r>
                      <a:r>
                        <a:rPr lang="de-DE" sz="800" b="0" i="0" u="none" strike="noStrike" dirty="0" err="1">
                          <a:solidFill>
                            <a:schemeClr val="tx1"/>
                          </a:solidFill>
                          <a:effectLst/>
                          <a:latin typeface="Calibri" panose="020F0502020204030204" pitchFamily="34" charset="0"/>
                        </a:rPr>
                        <a:t>Strasse</a:t>
                      </a:r>
                      <a:r>
                        <a:rPr lang="de-DE" sz="800" b="0" i="0" u="none" strike="noStrike" dirty="0">
                          <a:solidFill>
                            <a:schemeClr val="tx1"/>
                          </a:solidFill>
                          <a:effectLst/>
                          <a:latin typeface="Calibri" panose="020F0502020204030204" pitchFamily="34" charset="0"/>
                        </a:rPr>
                        <a:t>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Karl </a:t>
                      </a:r>
                      <a:r>
                        <a:rPr lang="de-DE" sz="800" b="0" i="0" u="none" strike="noStrike" dirty="0" err="1">
                          <a:solidFill>
                            <a:schemeClr val="tx1"/>
                          </a:solidFill>
                          <a:effectLst/>
                          <a:latin typeface="Calibri" panose="020F0502020204030204" pitchFamily="34" charset="0"/>
                        </a:rPr>
                        <a:t>Brotzmann</a:t>
                      </a:r>
                      <a:r>
                        <a:rPr lang="de-DE" sz="800" b="0" i="0" u="none" strike="noStrike" dirty="0">
                          <a:solidFill>
                            <a:schemeClr val="tx1"/>
                          </a:solidFill>
                          <a:effectLst/>
                          <a:latin typeface="Calibri" panose="020F0502020204030204" pitchFamily="34" charset="0"/>
                        </a:rPr>
                        <a:t> Co</a:t>
                      </a:r>
                      <a:r>
                        <a:rPr lang="de-DE" sz="800" b="0" i="0" u="none" strike="noStrike" dirty="0">
                          <a:solidFill>
                            <a:srgbClr val="FF0000"/>
                          </a:solidFill>
                          <a:effectLst/>
                          <a:latin typeface="Calibri" panose="020F0502020204030204" pitchFamily="34" charset="0"/>
                        </a:rPr>
                        <a:t>n</a:t>
                      </a:r>
                      <a:r>
                        <a:rPr lang="de-DE" sz="800" b="0" i="0" u="none" strike="noStrike"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dirty="0">
                          <a:solidFill>
                            <a:srgbClr val="FF0000"/>
                          </a:solidFill>
                          <a:effectLst/>
                          <a:latin typeface="Calibri" panose="020F0502020204030204" pitchFamily="34" charset="0"/>
                        </a:rPr>
                        <a:t>K a r l B r o t z m a n n C o n s u l t i n g </a:t>
                      </a:r>
                      <a:r>
                        <a:rPr lang="pt-BR" sz="800" b="0" i="0" u="none" strike="noStrike"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e</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50000"/>
                            </a:schemeClr>
                          </a:solidFill>
                          <a:effectLst/>
                          <a:latin typeface="Calibri" panose="020F0502020204030204" pitchFamily="34" charset="0"/>
                        </a:rPr>
                        <a:t>/Thür</a:t>
                      </a:r>
                      <a:r>
                        <a:rPr lang="de-DE" sz="800" b="0" i="0" u="none" strike="noStrike"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r>
                        <a:rPr lang="de-DE" sz="800" b="0" i="0" u="none" strike="noStrike"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err="1">
                          <a:solidFill>
                            <a:schemeClr val="tx1"/>
                          </a:solidFill>
                          <a:effectLst/>
                          <a:latin typeface="Calibri" panose="020F0502020204030204" pitchFamily="34" charset="0"/>
                        </a:rPr>
                        <a:t>E</a:t>
                      </a:r>
                      <a:r>
                        <a:rPr lang="en-US" sz="800" b="0" i="0" u="none" strike="noStrike" dirty="0" err="1">
                          <a:solidFill>
                            <a:srgbClr val="FF0000"/>
                          </a:solidFill>
                          <a:effectLst/>
                          <a:latin typeface="Calibri" panose="020F0502020204030204" pitchFamily="34" charset="0"/>
                        </a:rPr>
                        <a:t>u</a:t>
                      </a:r>
                      <a:r>
                        <a:rPr lang="en-US" sz="800" b="0" i="0" u="none" strike="noStrike" dirty="0" err="1">
                          <a:solidFill>
                            <a:schemeClr val="tx1"/>
                          </a:solidFill>
                          <a:effectLst/>
                          <a:latin typeface="Calibri" panose="020F0502020204030204" pitchFamily="34" charset="0"/>
                        </a:rPr>
                        <a:t>Rec</a:t>
                      </a:r>
                      <a:r>
                        <a:rPr lang="en-US" sz="800" b="0" i="0" u="none" strike="noStrike"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 L M Ü </a:t>
                      </a:r>
                      <a:r>
                        <a:rPr lang="de-DE" sz="800" b="0" i="0" u="none" strike="noStrike" dirty="0">
                          <a:solidFill>
                            <a:srgbClr val="FF0000"/>
                          </a:solidFill>
                          <a:effectLst/>
                          <a:latin typeface="Calibri" panose="020F0502020204030204" pitchFamily="34" charset="0"/>
                        </a:rPr>
                        <a:t>PRAZISIONSWERKZEUG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ALMÜ </a:t>
                      </a:r>
                      <a:r>
                        <a:rPr lang="de-DE" sz="800" b="0" i="0" u="none" strike="noStrike" dirty="0">
                          <a:solidFill>
                            <a:srgbClr val="FF0000"/>
                          </a:solidFill>
                          <a:effectLst/>
                          <a:latin typeface="Calibri" panose="020F0502020204030204" pitchFamily="34" charset="0"/>
                        </a:rPr>
                        <a:t>Präzisions-Werkzeug</a:t>
                      </a:r>
                      <a:r>
                        <a:rPr lang="de-DE" sz="800" b="0" i="0" u="none" strike="noStrike"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bg1">
                              <a:lumMod val="50000"/>
                            </a:schemeClr>
                          </a:solidFill>
                          <a:effectLst/>
                          <a:latin typeface="Calibri" panose="020F0502020204030204" pitchFamily="34" charset="0"/>
                        </a:rPr>
                        <a:t>Gesell</a:t>
                      </a:r>
                      <a:r>
                        <a:rPr lang="de-DE" sz="800" b="0" i="0" u="none" strike="noStrike" dirty="0">
                          <a:solidFill>
                            <a:srgbClr val="FF0000"/>
                          </a:solidFill>
                          <a:effectLst/>
                          <a:latin typeface="Calibri" panose="020F0502020204030204" pitchFamily="34" charset="0"/>
                        </a:rPr>
                        <a:t>sch</a:t>
                      </a:r>
                      <a:r>
                        <a:rPr lang="de-DE" sz="800" b="0" i="0" u="none" strike="noStrike" dirty="0">
                          <a:solidFill>
                            <a:schemeClr val="bg1">
                              <a:lumMod val="50000"/>
                            </a:schemeClr>
                          </a:solidFill>
                          <a:effectLst/>
                          <a:latin typeface="Calibri" panose="020F0502020204030204" pitchFamily="34" charset="0"/>
                        </a:rPr>
                        <a:t>aft zur Förderung angewandter </a:t>
                      </a:r>
                      <a:r>
                        <a:rPr lang="de-DE" sz="800" b="0" i="0" u="none" strike="noStrike" dirty="0">
                          <a:solidFill>
                            <a:srgbClr val="FF0000"/>
                          </a:solidFill>
                          <a:effectLst/>
                          <a:latin typeface="Calibri" panose="020F0502020204030204" pitchFamily="34" charset="0"/>
                        </a:rPr>
                        <a:t>Opti</a:t>
                      </a:r>
                      <a:r>
                        <a:rPr lang="de-DE" sz="800" b="0" i="0" u="none" strike="noStrike" dirty="0">
                          <a:solidFill>
                            <a:schemeClr val="bg1">
                              <a:lumMod val="50000"/>
                            </a:schemeClr>
                          </a:solidFill>
                          <a:effectLst/>
                          <a:latin typeface="Calibri" panose="020F0502020204030204" pitchFamily="34" charset="0"/>
                        </a:rPr>
                        <a:t>k</a:t>
                      </a:r>
                      <a:r>
                        <a:rPr lang="de-DE" sz="800" b="0" i="0" u="none" strike="noStrike" dirty="0">
                          <a:solidFill>
                            <a:schemeClr val="tx1"/>
                          </a:solidFill>
                          <a:effectLst/>
                          <a:latin typeface="Calibri" panose="020F0502020204030204" pitchFamily="34" charset="0"/>
                        </a:rPr>
                        <a:t>, </a:t>
                      </a:r>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50000"/>
                            </a:schemeClr>
                          </a:solidFill>
                          <a:effectLst/>
                          <a:latin typeface="Calibri" panose="020F0502020204030204" pitchFamily="34" charset="0"/>
                        </a:rPr>
                        <a:t>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a:t>
                      </a:r>
                      <a:r>
                        <a:rPr lang="de-DE" sz="800" b="0" i="0" u="none" strike="noStrike" dirty="0">
                          <a:solidFill>
                            <a:schemeClr val="bg1">
                              <a:lumMod val="50000"/>
                            </a:schemeClr>
                          </a:solidFill>
                          <a:effectLst/>
                          <a:latin typeface="Calibri" panose="020F0502020204030204" pitchFamily="34" charset="0"/>
                        </a:rPr>
                        <a:t>Quantenelektro</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tx1"/>
                          </a:solidFill>
                          <a:effectLst/>
                          <a:latin typeface="Calibri" panose="020F0502020204030204" pitchFamily="34" charset="0"/>
                        </a:rPr>
                        <a:t> und Spektroskopie </a:t>
                      </a:r>
                      <a:r>
                        <a:rPr lang="de-DE" sz="800" b="0" i="0" u="none" strike="noStrike"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FF0000"/>
                          </a:solidFill>
                          <a:effectLst/>
                          <a:latin typeface="Calibri" panose="020F0502020204030204" pitchFamily="34" charset="0"/>
                        </a:rPr>
                        <a:t>OPTO</a:t>
                      </a:r>
                      <a:r>
                        <a:rPr lang="de-DE" sz="800" b="0" i="0" u="none" strike="noStrike" dirty="0">
                          <a:solidFill>
                            <a:schemeClr val="bg1">
                              <a:lumMod val="85000"/>
                            </a:schemeClr>
                          </a:solidFill>
                          <a:effectLst/>
                          <a:latin typeface="Calibri" panose="020F0502020204030204" pitchFamily="34" charset="0"/>
                        </a:rPr>
                        <a:t>SENS </a:t>
                      </a:r>
                      <a:r>
                        <a:rPr lang="de-DE" sz="800" b="0" i="0" u="none" strike="noStrike" dirty="0">
                          <a:solidFill>
                            <a:srgbClr val="FF0000"/>
                          </a:solidFill>
                          <a:effectLst/>
                          <a:latin typeface="Calibri" panose="020F0502020204030204" pitchFamily="34" charset="0"/>
                        </a:rPr>
                        <a:t>Optisch</a:t>
                      </a:r>
                      <a:r>
                        <a:rPr lang="de-DE" sz="800" b="0" i="0" u="none" strike="noStrike" dirty="0">
                          <a:solidFill>
                            <a:schemeClr val="bg1">
                              <a:lumMod val="85000"/>
                            </a:schemeClr>
                          </a:solidFill>
                          <a:effectLst/>
                          <a:latin typeface="Calibri" panose="020F0502020204030204" pitchFamily="34" charset="0"/>
                        </a:rPr>
                        <a:t>e </a:t>
                      </a:r>
                      <a:r>
                        <a:rPr lang="de-DE" sz="800" b="0" i="0" u="none" strike="noStrike" dirty="0">
                          <a:solidFill>
                            <a:schemeClr val="tx1"/>
                          </a:solidFill>
                          <a:effectLst/>
                          <a:latin typeface="Calibri" panose="020F0502020204030204" pitchFamily="34" charset="0"/>
                        </a:rPr>
                        <a:t>Spektroskopie</a:t>
                      </a:r>
                      <a:r>
                        <a:rPr lang="de-DE" sz="800" b="0" i="0" u="none" strike="noStrike" dirty="0">
                          <a:solidFill>
                            <a:schemeClr val="bg1">
                              <a:lumMod val="85000"/>
                            </a:schemeClr>
                          </a:solidFill>
                          <a:effectLst/>
                          <a:latin typeface="Calibri" panose="020F0502020204030204" pitchFamily="34" charset="0"/>
                        </a:rPr>
                        <a:t> </a:t>
                      </a:r>
                      <a:r>
                        <a:rPr lang="de-DE" sz="800" b="0" i="0" u="none" strike="noStrike" dirty="0">
                          <a:solidFill>
                            <a:schemeClr val="tx1"/>
                          </a:solidFill>
                          <a:effectLst/>
                          <a:latin typeface="Calibri" panose="020F0502020204030204" pitchFamily="34" charset="0"/>
                        </a:rPr>
                        <a:t>und </a:t>
                      </a:r>
                      <a:r>
                        <a:rPr lang="de-DE" sz="800" b="0" i="0" u="none" strike="noStrike" dirty="0">
                          <a:solidFill>
                            <a:schemeClr val="bg1">
                              <a:lumMod val="85000"/>
                            </a:schemeClr>
                          </a:solidFill>
                          <a:effectLst/>
                          <a:latin typeface="Calibri" panose="020F0502020204030204" pitchFamily="34" charset="0"/>
                        </a:rPr>
                        <a:t>Sensortech</a:t>
                      </a:r>
                      <a:r>
                        <a:rPr lang="de-DE" sz="800" b="0" i="0" u="none" strike="noStrike" dirty="0">
                          <a:solidFill>
                            <a:srgbClr val="FF0000"/>
                          </a:solidFill>
                          <a:effectLst/>
                          <a:latin typeface="Calibri" panose="020F0502020204030204" pitchFamily="34" charset="0"/>
                        </a:rPr>
                        <a:t>nik</a:t>
                      </a:r>
                      <a:r>
                        <a:rPr lang="de-DE" sz="800" b="0" i="0" u="none" strike="noStrike"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Preview</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10</a:t>
            </a:fld>
            <a:endParaRPr lang="en-US"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2628819398"/>
              </p:ext>
            </p:extLst>
          </p:nvPr>
        </p:nvGraphicFramePr>
        <p:xfrm>
          <a:off x="180000" y="720000"/>
          <a:ext cx="7419782" cy="49171823"/>
        </p:xfrm>
        <a:graphic>
          <a:graphicData uri="http://schemas.openxmlformats.org/drawingml/2006/table">
            <a:tbl>
              <a:tblPr/>
              <a:tblGrid>
                <a:gridCol w="468000"/>
                <a:gridCol w="3887668"/>
                <a:gridCol w="1775345"/>
                <a:gridCol w="360000"/>
                <a:gridCol w="928769"/>
              </a:tblGrid>
              <a:tr h="0">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703" marB="0" anchor="ctr">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dirty="0" err="1" smtClean="0">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CPB Cassetten-Produktion GmbH Berlin</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Ballinstr</a:t>
                      </a:r>
                      <a:r>
                        <a:rPr lang="de-DE" sz="800" b="0" i="0" u="none" strike="noStrike"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66-74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Münchhoff</a:t>
                      </a:r>
                      <a:r>
                        <a:rPr lang="de-DE" sz="800" b="0" i="0" u="none" strike="noStrike"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Nollendorfplatz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Elektron Berlin GmbH Fertigung elektrotechnischer Spezialartikel</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Saatwinkler Damm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Innungsstr.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Alois Dallmayr Kaffee Berlin GmbH u.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9-13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Mampe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22-34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127-131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Centro-Boden Berlin KG Wohn- und Gewerbebauten im Centrum GmbH &amp; Co.</a:t>
                      </a:r>
                    </a:p>
                  </a:txBody>
                  <a:tcPr marL="36000" marR="36000" marT="703"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Joachimstaler</a:t>
                      </a:r>
                      <a:r>
                        <a:rPr lang="de-DE" sz="800" b="0" i="0" u="none" strike="noStrike"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Haberstr.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Helmholtz-Zentrum Berlin für Materialien und Energie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Hifi Elements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Hubertusstr.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Klosterfrau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Turmstr. 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"Pia Rucci"""" Sportswear Bekleidungsvertriebs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Zerpenschleuser Ring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Saarberg Handel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Messedamm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Metallbauzaun-Montagen Roden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Schulzendorfer Str. 23-24Hof</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22-25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Breuer Service Berlin GmbH Industrie- und Kraftfahrzeugreinigung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Alte Jakobstr.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Flankenschanze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FRÜH - HERBST 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PFENNIGs Feinkostfabrik Berlin Albert Pfennig + Sohn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22-30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Wachschutz Berlin Werner Loesch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Odenwaldstr.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 Kabel GmbH Kabel- und Freileitungswerk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KKB Küchenkomplettbau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Reuchlinstr. 10-11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Hennigsdorfer Str. 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Häfele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Schichauweg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nl-NL" sz="800" b="0" i="0" u="none" strike="noStrike">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4- 6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Möbelkiste GmbH u. Co. Handelsgesellschaft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Bundesallee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Kamps Berlin Geschäftsführungs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Bergiusstr. 26-28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Novetta</a:t>
                      </a:r>
                      <a:r>
                        <a:rPr lang="de-DE" sz="800" b="0" i="0" u="none" strike="noStrike" dirty="0">
                          <a:solidFill>
                            <a:srgbClr val="000000"/>
                          </a:solidFill>
                          <a:effectLst/>
                          <a:latin typeface="Calibri" panose="020F0502020204030204" pitchFamily="34" charset="0"/>
                        </a:rPr>
                        <a:t> Berlin KG NB-Nahrungsmittelgesellschaft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221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Urbanstr. 116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Greve-Chemotechnik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Lindenufer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Hilfswerk-Siedlung GmbH Evangelisches Wohungsunternehmen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Kirchblick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Werbedienst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16-20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Nobelstr. 1- 21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ALU-Druckguß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Roedernallee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 Stahlhandelsgesellschaft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Föllmer Spedition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Foxweg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Landshuter 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Druckfarbenfabrik Berlin KG Gebr. Schmidt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Ullsteinstr. 108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Schälerbau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Rechenzentrum Berlin K. Steckel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Möve Restaurantbetriebsgesellschaft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MTB Motorentechnik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Schmidt &amp; Bethge Berlin Grundstücksverwaltung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Joachimstaler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Terraingesellschaft Groß-Berlin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BKI Immobilien Verwaltung Berlin Keramik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Päwesiner Weg 24-27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Berlin-Anlagen-Agentur Bassmann &amp; Partner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Cicerostr.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Bus-Verkehr Berlin KG Omnibus-Betriebs- und Verwaltungsges. 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Grenzallee 13-15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Spedition Thier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Schillerstr.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Isolier- und Bautechnik Bereich Berlin GmbH &amp; Co. Montage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Thyssenstr. 7- 17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KAMA Wohnwirtschaftliche Betreuung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2-Wohnen in Berlin GmbH Vertriebsgesellschaft für Wohnungseigentum</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Flottwellstr.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FCB Berlin Werbeagentur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Blochmannstr.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WEBER Industrietechnik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Sperenberger 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IBK - Garagenbau- und 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Schlangengraben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Glaszentrum Berlin Rafflenbeul &amp; Loewe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Ollenhauerstr. 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MBC-Berlin technische Komponenten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73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2 Wohnen in Berlin GmbH Immobilien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Holsteinische Str. 33a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Institut für Genbiologische Forschung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Ihnestr.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FWT Feinwerktechnik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Haynauer Str. 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Röhr Industrie- und Haustechnik GmbH &amp; Co.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Hindenburgdamm 107a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157-158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Westfälische 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Taxi und Tank GmbH, Berlin u. Co. in den Kantgaragen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Diagnostisches Zentrum Verwaltungs-GmbH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Bosporusstr.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Hotelschiff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Arosa Berlin Hotelbetriebsgesellschaft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79/81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Frischdienst Union Berlin Vertriebsgesellschaft für Fleisch- u. Wurstwaren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Wiesendamm 37+ 39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Zeitungsdienst Berlin Verlags- und Druckerei-GmbH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Tankschutz-Revisions-Ges. Zweigniederlassung der Winschermann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Partner für Wirtschaft und Technologie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Bio-Diät-Berlin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Selerweg 43-45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ADB Rissmann GmbH Automaten-Dreherei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Trebbiner Str. 12-13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Reanovo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Siemensdamm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 bis Z Bau GmbH Bauausführungen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TVB Textilveredlung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Walzwerk Becker Berlin Verwaltungsgesellschaft mbH &amp; Co. Strangguß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Drescher Datendrucke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186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1115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 Verwalt.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Metropole Berlin GmbH &amp; Co. Wohnen in Charlottenburg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Goethestr. 10b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Caritas-Klinik Dominikus Berlin-Reinickendorf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Kurhausstr.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Herner Gerüstbau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18-20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BCB Bauconsult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Kanalstr.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Connex Kapitalanlagen-Vertriebsgesellschaft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Meinekestr.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Schmitz Büro vom Ehrenschild Berlin Kfz-Sachverständigen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Scharnweberstr.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Dampet Rolladenbau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Riemannstr.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DIABOS GmbH Berlin Grundstücks- und Vermögensverwaltung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Florimex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Grellstr.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Flemming Dental GmbH &amp; Co. KG, Berlin, Schlangenbader Straße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Schlangenbader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Mail-Service GmbH &amp; Co. Berlin Zeitschriften-Versand und Direktwerbung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Möbel Adam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Gotzkowskystr. 20-21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ATZ GmbH Vertrieb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Schwedenstr.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LMT Lichtmeßtechnik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 M T Lichtmeßtechnik GmbH Berlin &amp; Co. Gerätebau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Helmholtzstr.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Berlin-Terrain Hausverwaltungsgesellschaft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Xantener Str. 15a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Industriebeteiligungen Hahn KG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Jung Maschinenfabrik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Concert Concept Veranstaltungs-GmbH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HMB Heimwerkermarkt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BBS Büromaschinen-Service GmbH Berlin &amp; Co. Handels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Lacke- u. Farben-Vertrieb GmbH Berlin-Nord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Granatenstr. 25- 26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PAREXEL International GmbH c/o Campus DRK Kliniken Berlin Westend, Haus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130Haus18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GLB Werbemittel aus Berlin Beteiligungsgesellschaft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Hobrechtstr.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ALUEDA Warenvertrieb GmbH &amp; Co. Handels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Ohlauer 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Wohnbau Krumwiede GmbH Freies Wohnungsunternehmen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Wittelsbacherstr. 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Bandstahl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MM Packaging Behrens GmbH &amp; Co KG Berlin c/o Mielich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347 32G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DVB Verpackungsmittel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Siemensstr.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Otisstr.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Quedlinburger Str. 9- 11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Geschäfts- und Wohnhaus -Bauverwaltungsges. mbH, Berlin-Opernplatz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Bajon Berlin's Gartencenter Charlotte Bajon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252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BCT Industrie Consulting GmbH &amp; Co., Irading KG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Klimadienst Berlin Ing. Hans-F. Müller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Pinnauweg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Tremonia Allgemeine Personal Leasing-GmbH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ADS Vertriebs- u. Kundendienst GmbH Berlin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Tauentzienstr.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Haller Berlin GmbH Sonnenschutz-Systeme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Hawitas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Genthiner Str. 24-28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 Storz - Endoskope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Scharnhorststr.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Seglerservice Martin Kehr GmbH Berlin c/o Dietrich Willscher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Wasserkraft Berlin Dipl.-Ing. Volker Probe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Germaniastr. 143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Das Kabinett politisch-satirisches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Ludwigkirchstr.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Lindsay Vertragshändler in Berlin Christos Dankus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Gilgestr.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Geneststr.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Dieter Brusberg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Lyckallee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&amp; W. Rechenzentrum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96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 Datic Werner Krüger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68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Kabelwerke Reinshagen 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55- 56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BDV Berlin-Darlehensfonds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Thyssen Haniel Logistic GmbH Rheinkraft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47-54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Harzer Str. 39-46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Berlin-TEX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Alboinstr. 17-23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Fertigfenster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Brunsbütteler Damm 175-177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Hoelscherpumpen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Uferstr.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Be-Gro Grundstücksgesellschaft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Dernburgstr. 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Readymix Transportbeton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 TV 80 Film- und Fernsehproduktion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Langobardenallee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FPB Freie Planungsgruppe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Giesebrechtstr.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Gerling-Konzern Berlin-Brandenburg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Berlin-Schnee Garten- und Winterdienste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Hegauer Weg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Bauer Spezialtiefbau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Gesundheitswerk Bethel Berlin gemeinnützige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Promenadenstr. 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FBV Frauenbuchvertrieb und SISSI Verlag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Mehringdamm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COMPSAT Berlin Computer Satelliten Systeme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105-106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elementa bausysteme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Moosrosenstr. 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Coratec Computer Roboter und Automations-Technologie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Spielbank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 Döllken &amp; Co. Berlin GmbH zuletzt: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Trautenaustr.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Electroma Spezialbetrieb für Elektromaschinen GmbH Berlin Reparatur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Landweg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Wissenschaftszentrum Berlin für Sozialforschung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Reichpietschufer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Südwestkorso 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Saber Reisen Saber Kounafa Export-Import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Tambacher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VNB Viehschlachtung und Nebenprodukteverwertung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Beusselstr. 44n-q</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FKF Berlin GmbH &amp; Co. Fleischwaren- und Konserven-Fabrik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Franken-Repro GmbH &amp; Co. Betriebsgesellschaft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Waldstr. 82- 85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Miraculum Theater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Braas Berlin GmbH &amp; Co. Produktion &amp; Vertrieb</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Industrieanlagen- und Vermögensverwaltungsges. mbH &amp; Co.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Westendallee 64a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Weinkontor-Weinhandelsgesellschaft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Weislingenstr.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Beteiligungs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16- 24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informatic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 Globus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121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MAF-Berlin Lärmschutz-Elemente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Wittestr. 26c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Variodomo Hausvertrieb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Neuköllner Str. 212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Handelsgesellschaft """"GK"""" Großkauf GmbH &amp; Co. Berlin Nord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Saatwinkler Damm 44- 46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Readymix Beton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Sophienwerderweg 40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Gastrotrakt GmbH, Berlin Vertrieb und Service von Großküchenanlagen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Oudenarder Str. 16- 20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Wilhelminenhofstr.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Graphische Werkstätten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Beerenstr.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Ferdinand Schmidt, Genuport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FB Fernsehdienst in Berlin Handels-GmbH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71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Vaganten Bühne Berlin gemeinnütziges Theater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12a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Fit-Fun Freizeit-Sportbetriebs-GmbH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Hospes Vermögens-Verwaltungsgesellschaft mbH &amp; Co. Hotel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Okal-Werk Berlin Otto Kreibaum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Miraustr. 27-29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Betronik GmbH Berlin Vertriebsgesellschaft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Grunewaldstr. 39a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Jägerndorfer Zeile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System Union Automatisierungstechnik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Uhlandstr. 179/180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CINE TV Filmproduction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Weißwasserweg 49d</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Svenson-Haarstudio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Forckenbeckstr. 94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Kettschärerei Berlin Textilgesellschaft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Hilti Deutschland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Mariendorfer Damm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Gewerbehof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Bio-Heizstoffwerk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Moselstr.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Distron GmbH &amp; Co. KG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Behaimstr.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Gerüstbau Tisch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Benedict Lebensmittel Berlin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Mierstr.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BBIG Berlin-Brandenburger Institut für Geotechnik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Limastr. 25a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Caliqua Anlagentechnik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Lankwitzer Str. 23- 25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Reisebürounternehmen Jet-in-Club Berlin Thomas Mars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Lewishamstr.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Integra,Gemeinnützige GmbH, Berlin, zur Förderung von Menschen mit Behinderung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Lengeder Str. 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Pro-Service Vertriebs- und Chemie Produktions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Kantstr. 106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PCB Peripherie f. Computer aus Berlin Verbriebs-GmbH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 - Mietservice Berlin GmbH &amp; Co. Betriebs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ITO Trade Organisation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Olbo-Reisen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Bleibtreustr. 10- 11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Johannes Brechtel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Bamihlstr.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AFB Klinische Forschung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 Film- und Fernsehakademie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Fertigbau Pollhagen GmbH u. Co. KG-Berlin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70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waf.berlin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Kaiserin-Augusta-Allee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GEWOBAG WB Wohnen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Teppichmeister Berlin Teppichreinigung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Kitzingstr. 21- 23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Leipziger Str. 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Bertelsmann Druck + Dienstleistung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Lützowstr. 107- 112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 H B Brandhilfe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Dorfstr. 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Metalltransport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Gradestr. 109/111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 Center Berlin Verwaltungs-GmbH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Lützowufer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Wohnungsbau-Rechenzentrum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"Miss Berlin"""" und """"Mister Berlin"""" Wahlen-Eden-Verwaltungsgesellschaft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Eichenstr.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Gra.S. Graphische Systeme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Barkenhof 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Zwickauer Damm 60- 64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VMB Verlags Media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Philippstr.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Stewing Nachrichtentechnik Verwaltungsgesellschaft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Juliusturm 11a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PVM Productions-Veranstaltungs-Management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Otternbuchtstr. 20a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Motoled - Vertriebs GmbH Berlin Motorradbekleidung und - ausrüstung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Fregestr.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Nörtemann Dachbau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Guerickestr.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Evangelisches Allianzhaus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Hohenstaufenstr.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 OPP Berlin-Adlershof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Lietzenburger 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bess Service und Sprachen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Schützallee 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Laser- und Medizin-Technologie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Fabeckstr. 6062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Großbäckerei Wendeln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Stephanstr.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SWD Stahl- und Fahrzeugbau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Holbeinstr. 44a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Großbeerenstr. 142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Viktoriastr. 10-18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Mythos Berlin Ausstellung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Tempelhofer Ufer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Neuköllnische Allee 160-162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DRK Rettungsdienst Berlin g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Bachestr. 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Schönherr Berlin-Immobilien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Düsterhauptstr. 31- 38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B.A.T. Cigaretten-Fabrik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344/360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Fernfracht-Berlin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PVS berlin-brandenburg-hamburg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Invalidenstr. 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Kulturwerk des bbk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Köthener Str. 44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 K Stahl- und Gußabriß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Schöneberger Ufer 5- 9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"SGB"""" Stahlhochbaugesellschaft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Haltrichweg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Combimex Im- und Export 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Ringstr. 21a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Tischlerei Holzmanufaktur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Kronprinz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Kronprinzendamm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Reformwaren-Vertrieb RVB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98-99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Krankenheim Sonnenallee 47-49 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Sonnenallee 47- 49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Berlin-Britzer Holzbau - Ernst Oswald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Forststr. 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treuwirtschaft Wirtschaftsberatungs- und Baubetreuungsges. mbH Ndlg.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Deutsches Rotes Kreuz Schwesternschaft Berlin Gemein. Krankenhaus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Spandauer Damm 130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WOM World of Music Berlin Musikhandelsgesellschaft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Eins, Zwei, Drei, Süßwarenhandels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Kyllmannstr.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City-Werbefunk Vermittlungs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Bozener Str. 11-12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VW AUDI Vertrieb GmbH &amp; Co. Vertriebszentrum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Goerzallee 251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Dialog Partner in Berlin GmbH Daten- und Kommunikationstechnik</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Fraenkelufer 38c</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BEW Evangelische Wirtschaftsunternehmen Beteiligungs-GmbH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Handjerystr. 19- 20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Lewron Kabeltechnik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Nahmitzer Damm 32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Oranienburger Str. 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Zenker GmbH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WIB Wärmetechnisches Institut Prof.Dr.Ing. Zöllner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Verwaltungs-GmbH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Berotec Elektronische Komponenten GmbH Berlin und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H - Dämmstoffkontor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Heidestr. 24-30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 Becker Söhne GmbH Elektrische Maschinen und Apparate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Belziger Str. 25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Dietrich Bautenschutz GmbH Zweignieder - 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179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Mübau Berlin Grundstücksgesellschaft mbH &amp; Co.KG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Lindenallee 16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HEU-BAU GmbH Baustudio Berlin i. Gr.</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Veitstr.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 &amp; T Papier- und Tütenfabrik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Boschweg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BTS Treuhand und Steuerberatungsgesellschaft mbH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Duisburger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Merfels Speditionsgesellschaft mbH -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Tiefwerderweg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VTB Versorgungstechnik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Lütticher 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Taylorix Berlin Vertriebs-GmbH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Real-Kredit-Vermittlungs-GmbH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26/27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Mertensstr. 63A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Babelsberger Str.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 Repenning &amp; Sohn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Walderseestr.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Hyper-Dämmtechnik Handelsgesellschaft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Flottenstr.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INDUSTRONIC Industrie-Electronic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Ringbahnstr. 32-34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Wärmetechnik Saupe &amp; Mielke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Heerstr. 332- 334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SPS Schaltanlagentechnik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Giesensdorfer Str. 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Perleberger Str. 14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Breurkens + Partner GmbH B + P Alarm- und Sicherheitssysteme in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Katharinenstr. 26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Epinert Kunstharz-Technik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Wieler &amp; Durian Anlagentechnik GmbH 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Wolframstr. 84-92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Leibnizstr. 49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Milchinformationsdienst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Riedemannweg 58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IWM - Institut für Weiterbildung und Management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 + B Strackow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Leonorenstr. 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GEMO Bekleidungsgesellschaft 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Koloniestr. 133-134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Fernsehstudio Berlin Eiswerder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Eiswerderstr.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Zippert &amp; Co. GmbH Fernverkehr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Köpenicker Str. 16/17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ELDORADO Pfandleihhaus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Hermannstr. 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Heuschen &amp; Schrouff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Schätzelbergstr. 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 Ma Maschinenhandel in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Fürstenplatz</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Perycut-Berlin-GmbH - Vertrieb chemisch-technischer Produkte</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Rheinstr. 45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RTS Revision u. Treuhand Berlin GmbH Wirtschaftsprüfungsges.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A K A D A M GmbH Berlin &amp; Co. Betriebskommanditges.</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Stichkanal</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Ro-Do Wärmedienst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Altvaterstr.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MIB Metallurgie u. Oberflächentechn. u. Innovationen i.Berlin Verw.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 E R Möbel Einkaufsring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Blankestr. 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PEB - Planungsgesellschaft mbH für Eigenheimbau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Schönefelder 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Tiefkühlmenü-Zentrale Berlin Henning Brunzel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MEWA Textil-Mietservice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Kühnemannstr. 8- 18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Videor Berlin D. Binninger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Liesenstr. 12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Kaiserdamm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Festkörper-Laser-Institut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Straße des 17.Juni 135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Spanische Allee 104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Fritz Guckuk Spedition GmbH &amp; Co KG Zweigniederlassung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Körnerstr.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Classic Studio Berlin KG Konzertdirektion Hartmut Wittke GmbH &amp; Co.</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MUSICA Konzertagentur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HAKAP Generalbauunternehmung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Jacobsenweg 41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Stüdemann Personal Service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Seestr. 115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Trio Fahrschule in Tempelhof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Wescho-Berlin Ladeneinrichtungen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Deufol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Piesporter Str. 50- 52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Oberlandstr. 75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Cycloplast GmbH Berlin Kunststoffverwertung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15-19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DV-Maschinen Vertrieb Szepanski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sv-SE" sz="800" b="0" i="0" u="none" strike="noStrike">
                          <a:solidFill>
                            <a:srgbClr val="000000"/>
                          </a:solidFill>
                          <a:effectLst/>
                          <a:latin typeface="Calibri" panose="020F0502020204030204" pitchFamily="34" charset="0"/>
                        </a:rPr>
                        <a:t>BKB Bad Komplett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Infordata Datentechnik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75- 76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MEDIAN Klinik Berlin-Kladow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Franklinstr. 28-29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Bomin Berlin Mineralöl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Wilhelmstr. 124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Diesbach Zeitschriften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Bundesplatz 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Baubetreuungskontor-GmbH, Berlin, &amp; Co. Verwaltungs-Kommanditgesellsch.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Budapester 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Cote D'or Edelmetalle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Friedbergstr. 37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3 B Bandanlagenbau in Berlin Verwaltungs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Motzener Str. 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berlin menue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Stromstr. 11/17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Intercontinental Hotel Berlin Verwaltungsgesellschaft 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Construction Five Diskothek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Wilmersdorfer Str. 82/83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Creditreform Berlin Brandenburg Wolfram GmbH &amp; Co. KG</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DWI DANZIGER &amp; WEIBEZAHL Immobilien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84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Pharmaring Arzneimittel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Hasenheide 54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Naue Berlin GmbH</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Nennhauser Damm 136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BOB Büro-Organisation für den Bau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Bavaria Print GmbH Videokopierwerk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Buckower Chaussee 134</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Rundfunk-Orchester und Chöre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Charlottenstr. 56</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Lodatex Buchführungshelfer GmbH Berlin</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Schloßstr. 28</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r h="0">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Filmkombinat GmbH, Berlin Film- u. Fernsehproduktion Veranstaltungsmanagement</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Grolmanstr. 39</a:t>
                      </a:r>
                    </a:p>
                  </a:txBody>
                  <a:tcPr marL="36000" marR="36000" marT="703"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11</a:t>
            </a:fld>
            <a:endParaRPr lang="en-US"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11</a:t>
            </a:fld>
            <a:endParaRPr lang="en-US"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dirty="0" smtClean="0"/>
              <a:t>Weak Search Terms…</a:t>
            </a:r>
          </a:p>
          <a:p>
            <a:pPr marL="216000" indent="-216000">
              <a:buClr>
                <a:srgbClr val="00B0F0"/>
              </a:buClr>
              <a:buFont typeface="Wingdings" panose="05000000000000000000" pitchFamily="2" charset="2"/>
              <a:buChar char="§"/>
            </a:pPr>
            <a:r>
              <a:rPr lang="en-US" sz="1400" dirty="0" smtClean="0"/>
              <a:t>have few words with high frequencies</a:t>
            </a:r>
          </a:p>
          <a:p>
            <a:pPr marL="216000" indent="-216000">
              <a:buClr>
                <a:srgbClr val="00B0F0"/>
              </a:buClr>
              <a:buFont typeface="Wingdings" panose="05000000000000000000" pitchFamily="2" charset="2"/>
              <a:buChar char="§"/>
            </a:pPr>
            <a:r>
              <a:rPr lang="en-US" sz="1400" dirty="0"/>
              <a:t>a</a:t>
            </a:r>
            <a:r>
              <a:rPr lang="en-US" sz="1400" dirty="0" smtClean="0"/>
              <a:t>re often affected by missing search fields</a:t>
            </a:r>
          </a:p>
          <a:p>
            <a:pPr marL="216000" indent="-216000">
              <a:buClr>
                <a:srgbClr val="00B0F0"/>
              </a:buClr>
              <a:buFont typeface="Wingdings" panose="05000000000000000000" pitchFamily="2" charset="2"/>
              <a:buChar char="§"/>
            </a:pPr>
            <a:r>
              <a:rPr lang="en-US" sz="1400" dirty="0" smtClean="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dirty="0" smtClean="0"/>
              <a:t>This leads to…</a:t>
            </a:r>
          </a:p>
          <a:p>
            <a:pPr marL="216000" indent="-216000">
              <a:buClr>
                <a:srgbClr val="00B0F0"/>
              </a:buClr>
              <a:buFont typeface="Calibri" panose="020F0502020204030204" pitchFamily="34" charset="0"/>
              <a:buChar char="→"/>
            </a:pPr>
            <a:r>
              <a:rPr lang="en-US" sz="1400" dirty="0"/>
              <a:t>bloated candidate </a:t>
            </a:r>
            <a:r>
              <a:rPr lang="en-US" sz="1400" dirty="0" smtClean="0"/>
              <a:t>lists of unrelated false positives</a:t>
            </a:r>
            <a:endParaRPr lang="en-US" sz="1400" dirty="0"/>
          </a:p>
          <a:p>
            <a:pPr marL="216000" indent="-216000">
              <a:buClr>
                <a:srgbClr val="00B0F0"/>
              </a:buClr>
              <a:buFont typeface="Calibri" panose="020F0502020204030204" pitchFamily="34" charset="0"/>
              <a:buChar char="→"/>
            </a:pPr>
            <a:r>
              <a:rPr lang="en-US" sz="1400" dirty="0"/>
              <a:t>ambiguous candidates without variance in the identity</a:t>
            </a:r>
          </a:p>
          <a:p>
            <a:pPr marL="216000" indent="-216000">
              <a:buClr>
                <a:srgbClr val="00B0F0"/>
              </a:buClr>
              <a:buFont typeface="Calibri" panose="020F0502020204030204" pitchFamily="34" charset="0"/>
              <a:buChar char="→"/>
            </a:pPr>
            <a:r>
              <a:rPr lang="en-US" sz="1400" dirty="0"/>
              <a:t>w</a:t>
            </a:r>
            <a:r>
              <a:rPr lang="en-US" sz="1400" dirty="0" smtClean="0"/>
              <a:t>aste of time trying to find true positives</a:t>
            </a:r>
            <a:endParaRPr lang="en-US" sz="1400" dirty="0"/>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dirty="0" smtClean="0"/>
              <a:t>Potential solution</a:t>
            </a:r>
          </a:p>
          <a:p>
            <a:pPr marL="216000" indent="-216000">
              <a:buClr>
                <a:srgbClr val="00B0F0"/>
              </a:buClr>
              <a:buFont typeface="+mj-lt"/>
              <a:buAutoNum type="arabicPeriod"/>
            </a:pPr>
            <a:r>
              <a:rPr lang="en-US" sz="1400" dirty="0" smtClean="0"/>
              <a:t>Sort candidates by identity in descending order</a:t>
            </a:r>
          </a:p>
          <a:p>
            <a:pPr marL="216000" indent="-216000">
              <a:buClr>
                <a:srgbClr val="00B0F0"/>
              </a:buClr>
              <a:buFont typeface="+mj-lt"/>
              <a:buAutoNum type="arabicPeriod"/>
            </a:pPr>
            <a:r>
              <a:rPr lang="en-US" sz="1400" dirty="0" smtClean="0"/>
              <a:t>All candidates down to a cutoff point are deemed plausible, i.e. top 10 candidates</a:t>
            </a:r>
          </a:p>
          <a:p>
            <a:pPr marL="216000" indent="-216000">
              <a:buClr>
                <a:srgbClr val="00B0F0"/>
              </a:buClr>
              <a:buFont typeface="+mj-lt"/>
              <a:buAutoNum type="arabicPeriod"/>
            </a:pPr>
            <a:r>
              <a:rPr lang="en-US" sz="1400" dirty="0" smtClean="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dirty="0" smtClean="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3017615065"/>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Weak Search Terms: Berlin GmbH, Berlin</a:t>
            </a:r>
            <a:endParaRPr lang="en-US" dirty="0"/>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fr-FR" dirty="0"/>
              <a:t>Jaccard P. (1902), </a:t>
            </a:r>
            <a:r>
              <a:rPr lang="fr-FR" sz="1800" dirty="0"/>
              <a:t>`Lois de distribution florale dans la zone alpine´, Bulletin de la </a:t>
            </a:r>
            <a:r>
              <a:rPr lang="fr-FR" sz="1800" dirty="0" smtClean="0"/>
              <a:t>Société </a:t>
            </a:r>
            <a:r>
              <a:rPr lang="fr-FR" sz="1800" dirty="0"/>
              <a:t>Vaudoise des Sciences Naturelles</a:t>
            </a:r>
            <a:endParaRPr lang="en-US" sz="1800"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12</a:t>
            </a:fld>
            <a:endParaRPr lang="en-US"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chemeClr val="bg1"/>
                          </a:solidFill>
                          <a:latin typeface="Cambria Math"/>
                        </a:rPr>
                        <m:t>𝐼</m:t>
                      </m:r>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e>
                      </m:d>
                      <m:r>
                        <a:rPr lang="de-DE" sz="2400" b="0" i="1" smtClean="0">
                          <a:latin typeface="Cambria Math"/>
                        </a:rPr>
                        <m:t>=</m:t>
                      </m:r>
                      <m:f>
                        <m:fPr>
                          <m:ctrlPr>
                            <a:rPr lang="de-DE" sz="2400" b="0" i="1" smtClean="0">
                              <a:latin typeface="Cambria Math" panose="02040503050406030204" pitchFamily="18" charset="0"/>
                            </a:rPr>
                          </m:ctrlPr>
                        </m:fPr>
                        <m:num>
                          <m:r>
                            <a:rPr lang="de-DE" sz="2400" b="0" i="1" smtClean="0">
                              <a:latin typeface="Cambria Math"/>
                            </a:rPr>
                            <m:t>|</m:t>
                          </m:r>
                          <m:d>
                            <m:dPr>
                              <m:begChr m:val="{"/>
                              <m:endChr m:val="}"/>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ea typeface="Cambria Math"/>
                                </a:rPr>
                                <m:t>∩</m:t>
                              </m:r>
                              <m:r>
                                <a:rPr lang="de-DE" sz="2400" b="0" i="1" smtClean="0">
                                  <a:latin typeface="Cambria Math"/>
                                  <a:ea typeface="Cambria Math"/>
                                </a:rPr>
                                <m:t>𝐹</m:t>
                              </m:r>
                            </m:e>
                          </m:d>
                          <m:r>
                            <a:rPr lang="de-DE" sz="2400" b="0" i="1" smtClean="0">
                              <a:latin typeface="Cambria Math"/>
                              <a:ea typeface="Cambria Math"/>
                            </a:rPr>
                            <m:t>|</m:t>
                          </m:r>
                        </m:num>
                        <m:den>
                          <m:r>
                            <a:rPr lang="de-DE" sz="2400" b="0" i="1" smtClean="0">
                              <a:solidFill>
                                <a:schemeClr val="bg1"/>
                              </a:solidFill>
                              <a:latin typeface="Cambria Math"/>
                            </a:rPr>
                            <m:t>|</m:t>
                          </m:r>
                          <m:d>
                            <m:dPr>
                              <m:begChr m:val="{"/>
                              <m:endChr m:val="}"/>
                              <m:ctrlPr>
                                <a:rPr lang="de-DE" sz="2400" b="0" i="1" smtClean="0">
                                  <a:solidFill>
                                    <a:schemeClr val="bg1"/>
                                  </a:solidFill>
                                  <a:latin typeface="Cambria Math" panose="02040503050406030204" pitchFamily="18" charset="0"/>
                                </a:rPr>
                              </m:ctrlPr>
                            </m:dPr>
                            <m:e>
                              <m:r>
                                <a:rPr lang="de-DE" sz="2400" b="0" i="1" smtClean="0">
                                  <a:solidFill>
                                    <a:schemeClr val="bg1"/>
                                  </a:solidFill>
                                  <a:latin typeface="Cambria Math"/>
                                </a:rPr>
                                <m:t>𝑆</m:t>
                              </m:r>
                            </m:e>
                          </m:d>
                          <m:r>
                            <a:rPr lang="de-DE" sz="2400" b="0" i="1" smtClean="0">
                              <a:solidFill>
                                <a:schemeClr val="bg1"/>
                              </a:solidFill>
                              <a:latin typeface="Cambria Math"/>
                              <a:ea typeface="Cambria Math"/>
                            </a:rPr>
                            <m:t>|</m:t>
                          </m:r>
                        </m:den>
                      </m:f>
                    </m:oMath>
                  </m:oMathPara>
                </a14:m>
                <a:endParaRPr lang="de-DE" sz="2400" b="0" dirty="0" smtClean="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rotWithShape="0">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dirty="0" smtClean="0">
                <a:latin typeface="Cambria Math" panose="02040503050406030204" pitchFamily="18" charset="0"/>
                <a:ea typeface="Cambria Math" panose="02040503050406030204" pitchFamily="18" charset="0"/>
              </a:rPr>
              <a:t>4</a:t>
            </a:r>
            <a:endParaRPr lang="en-US" sz="3200" dirty="0">
              <a:latin typeface="Cambria Math" panose="02040503050406030204" pitchFamily="18" charset="0"/>
              <a:ea typeface="Cambria Math" panose="02040503050406030204" pitchFamily="18" charset="0"/>
            </a:endParaRP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dirty="0" smtClean="0">
                  <a:solidFill>
                    <a:srgbClr val="00AAE5"/>
                  </a:solidFill>
                  <a:latin typeface="Cambria Math" panose="02040503050406030204" pitchFamily="18" charset="0"/>
                  <a:ea typeface="Cambria Math" panose="02040503050406030204" pitchFamily="18" charset="0"/>
                </a:rPr>
                <a:t>3</a:t>
              </a:r>
              <a:endParaRPr lang="en-US" sz="3200" dirty="0">
                <a:solidFill>
                  <a:srgbClr val="00AAE5"/>
                </a:solidFill>
                <a:latin typeface="Cambria Math" panose="02040503050406030204" pitchFamily="18" charset="0"/>
                <a:ea typeface="Cambria Math" panose="02040503050406030204" pitchFamily="18" charset="0"/>
              </a:endParaRP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dirty="0" smtClean="0">
                  <a:latin typeface="Harrington" panose="04040505050A02020702" pitchFamily="82" charset="0"/>
                </a:rPr>
                <a:t>S</a:t>
              </a:r>
              <a:r>
                <a:rPr lang="en-US" dirty="0" smtClean="0">
                  <a:latin typeface="Harrington" panose="04040505050A02020702" pitchFamily="82" charset="0"/>
                </a:rPr>
                <a:t>earched Flower</a:t>
              </a:r>
              <a:endParaRPr lang="en-US" dirty="0">
                <a:latin typeface="Harrington" panose="04040505050A02020702" pitchFamily="82" charset="0"/>
              </a:endParaRP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dirty="0" smtClean="0">
                    <a:latin typeface="Harrington" panose="04040505050A02020702" pitchFamily="82" charset="0"/>
                  </a:rPr>
                  <a:t>F</a:t>
                </a:r>
                <a:endParaRPr lang="en-US"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dirty="0" err="1" smtClean="0">
                    <a:latin typeface="Harrington" panose="04040505050A02020702" pitchFamily="82" charset="0"/>
                  </a:rPr>
                  <a:t>ound</a:t>
                </a:r>
                <a:r>
                  <a:rPr lang="en-US" dirty="0" smtClean="0">
                    <a:latin typeface="Harrington" panose="04040505050A02020702" pitchFamily="82" charset="0"/>
                  </a:rPr>
                  <a:t> Flower</a:t>
                </a:r>
                <a:endParaRPr lang="en-US" dirty="0">
                  <a:latin typeface="Harrington" panose="04040505050A02020702" pitchFamily="82" charset="0"/>
                </a:endParaRP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m:t>
                      </m:r>
                      <m:d>
                        <m:dPr>
                          <m:begChr m:val="{"/>
                          <m:endChr m:val=""/>
                          <m:ctrlPr>
                            <a:rPr lang="de-DE" sz="2400" i="1" smtClean="0">
                              <a:latin typeface="Cambria Math" panose="02040503050406030204" pitchFamily="18" charset="0"/>
                            </a:rPr>
                          </m:ctrlPr>
                        </m:dPr>
                        <m:e>
                          <m:r>
                            <a:rPr lang="de-DE" sz="2400" b="0" i="1" smtClean="0">
                              <a:latin typeface="Cambria Math"/>
                            </a:rPr>
                            <m:t>𝑆</m:t>
                          </m:r>
                        </m:e>
                      </m:d>
                    </m:oMath>
                  </m:oMathPara>
                </a14:m>
                <a:endParaRPr lang="en-US"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rotWithShape="0">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a:rPr>
                        <m:t>}|</m:t>
                      </m:r>
                    </m:oMath>
                  </m:oMathPara>
                </a14:m>
                <a:endParaRPr lang="en-US" sz="240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rotWithShape="0">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solidFill>
                            <a:srgbClr val="00AAE5"/>
                          </a:solidFill>
                          <a:latin typeface="Cambria Math"/>
                          <a:ea typeface="Cambria Math"/>
                        </a:rPr>
                        <m:t>∪</m:t>
                      </m:r>
                      <m:r>
                        <a:rPr lang="de-DE" sz="2400" i="1" smtClean="0">
                          <a:solidFill>
                            <a:srgbClr val="00AAE5"/>
                          </a:solidFill>
                          <a:latin typeface="Cambria Math"/>
                          <a:ea typeface="Cambria Math"/>
                        </a:rPr>
                        <m:t>𝐹</m:t>
                      </m:r>
                    </m:oMath>
                  </m:oMathPara>
                </a14:m>
                <a:endParaRPr lang="en-US" sz="240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rotWithShape="0">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AAE5"/>
                          </a:solidFill>
                          <a:latin typeface="Cambria Math"/>
                        </a:rPr>
                        <m:t>𝐽</m:t>
                      </m:r>
                    </m:oMath>
                  </m:oMathPara>
                </a14:m>
                <a:endParaRPr lang="en-US" sz="240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rotWithShape="0">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2400" i="1" smtClean="0">
                          <a:latin typeface="Cambria Math"/>
                        </a:rPr>
                        <m:t>𝐼</m:t>
                      </m:r>
                    </m:oMath>
                  </m:oMathPara>
                </a14:m>
                <a:endParaRPr lang="en-US" sz="240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rotWithShape="0">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dirty="0" smtClean="0">
                <a:solidFill>
                  <a:srgbClr val="00AAE5"/>
                </a:solidFill>
                <a:latin typeface="Cambria Math" panose="02040503050406030204" pitchFamily="18" charset="0"/>
                <a:ea typeface="Cambria Math" panose="02040503050406030204" pitchFamily="18" charset="0"/>
              </a:rPr>
              <a:t>feedback</a:t>
            </a:r>
            <a:endParaRPr lang="en-US" dirty="0">
              <a:solidFill>
                <a:srgbClr val="00AAE5"/>
              </a:solidFill>
              <a:latin typeface="Cambria Math" panose="02040503050406030204" pitchFamily="18" charset="0"/>
              <a:ea typeface="Cambria Math" panose="02040503050406030204" pitchFamily="18" charset="0"/>
            </a:endParaRP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dirty="0" smtClean="0">
                <a:latin typeface="Cambria Math" panose="02040503050406030204" pitchFamily="18" charset="0"/>
                <a:ea typeface="Cambria Math" panose="02040503050406030204" pitchFamily="18" charset="0"/>
              </a:rPr>
              <a:t>}|</a:t>
            </a:r>
            <a:endParaRPr lang="en-US" sz="4000" dirty="0">
              <a:latin typeface="Cambria Math" panose="02040503050406030204" pitchFamily="18" charset="0"/>
              <a:ea typeface="Cambria Math" panose="02040503050406030204" pitchFamily="18" charset="0"/>
            </a:endParaRP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𝐼</m:t>
                          </m:r>
                        </m:e>
                        <m:sub>
                          <m:r>
                            <a:rPr lang="de-DE" sz="2400" b="0" i="1" smtClean="0">
                              <a:solidFill>
                                <a:srgbClr val="00B0F0"/>
                              </a:solidFill>
                              <a:latin typeface="Cambria Math" panose="02040503050406030204" pitchFamily="18" charset="0"/>
                            </a:rPr>
                            <m:t>𝐽</m:t>
                          </m:r>
                        </m:sub>
                      </m:sSub>
                      <m:d>
                        <m:dPr>
                          <m:ctrlPr>
                            <a:rPr lang="de-DE" sz="2400" b="0" i="1" smtClean="0">
                              <a:latin typeface="Cambria Math" panose="02040503050406030204" pitchFamily="18" charset="0"/>
                            </a:rPr>
                          </m:ctrlPr>
                        </m:dPr>
                        <m:e>
                          <m:r>
                            <a:rPr lang="de-DE" sz="2400" b="0" i="1" smtClean="0">
                              <a:latin typeface="Cambria Math"/>
                            </a:rPr>
                            <m:t>𝑆</m:t>
                          </m:r>
                          <m:r>
                            <a:rPr lang="de-DE" sz="2400" b="0" i="1" smtClean="0">
                              <a:latin typeface="Cambria Math"/>
                            </a:rPr>
                            <m:t>,</m:t>
                          </m:r>
                          <m:r>
                            <a:rPr lang="de-DE" sz="2400" b="0" i="1" smtClean="0">
                              <a:latin typeface="Cambria Math"/>
                            </a:rPr>
                            <m:t>𝐹</m:t>
                          </m:r>
                          <m:r>
                            <a:rPr lang="de-DE" sz="2400" b="0" i="1" smtClean="0">
                              <a:latin typeface="Cambria Math" panose="02040503050406030204" pitchFamily="18" charset="0"/>
                            </a:rPr>
                            <m:t>,</m:t>
                          </m:r>
                          <m:r>
                            <a:rPr lang="de-DE" sz="2400" b="0" i="1" smtClean="0">
                              <a:solidFill>
                                <a:srgbClr val="00B0F0"/>
                              </a:solidFill>
                              <a:latin typeface="Cambria Math" panose="02040503050406030204" pitchFamily="18" charset="0"/>
                            </a:rPr>
                            <m:t>𝑓</m:t>
                          </m:r>
                        </m:e>
                      </m:d>
                      <m:r>
                        <a:rPr lang="de-DE" sz="2400" b="0" i="1" smtClean="0">
                          <a:latin typeface="Cambria Math"/>
                        </a:rPr>
                        <m:t>=</m:t>
                      </m:r>
                      <m:r>
                        <a:rPr lang="de-DE" sz="2400" b="0" i="1" smtClean="0">
                          <a:latin typeface="Cambria Math" panose="02040503050406030204" pitchFamily="18" charset="0"/>
                        </a:rPr>
                        <m:t>𝐼</m:t>
                      </m:r>
                      <m:d>
                        <m:dPr>
                          <m:ctrlPr>
                            <a:rPr lang="de-DE" sz="2400" b="0" i="1" smtClean="0">
                              <a:latin typeface="Cambria Math" panose="02040503050406030204" pitchFamily="18" charset="0"/>
                            </a:rPr>
                          </m:ctrlPr>
                        </m:dPr>
                        <m:e>
                          <m:r>
                            <a:rPr lang="de-DE" sz="2400" b="0" i="1" smtClean="0">
                              <a:latin typeface="Cambria Math" panose="02040503050406030204" pitchFamily="18" charset="0"/>
                            </a:rPr>
                            <m:t>𝑆</m:t>
                          </m:r>
                          <m:r>
                            <a:rPr lang="de-DE" sz="2400" b="0" i="1" smtClean="0">
                              <a:latin typeface="Cambria Math" panose="02040503050406030204" pitchFamily="18" charset="0"/>
                            </a:rPr>
                            <m:t>,</m:t>
                          </m:r>
                          <m:r>
                            <a:rPr lang="de-DE" sz="2400" b="0" i="1" smtClean="0">
                              <a:latin typeface="Cambria Math" panose="02040503050406030204" pitchFamily="18" charset="0"/>
                            </a:rPr>
                            <m:t>𝐹</m:t>
                          </m:r>
                        </m:e>
                      </m:d>
                      <m:d>
                        <m:dPr>
                          <m:ctrlPr>
                            <a:rPr lang="de-DE" sz="2400" i="1">
                              <a:latin typeface="Cambria Math" panose="02040503050406030204" pitchFamily="18" charset="0"/>
                            </a:rPr>
                          </m:ctrlPr>
                        </m:dPr>
                        <m:e>
                          <m:r>
                            <a:rPr lang="de-DE" sz="2400" i="1">
                              <a:latin typeface="Cambria Math" panose="02040503050406030204" pitchFamily="18" charset="0"/>
                            </a:rPr>
                            <m:t>1−</m:t>
                          </m:r>
                          <m:r>
                            <a:rPr lang="de-DE" sz="2400" i="1" smtClean="0">
                              <a:solidFill>
                                <a:srgbClr val="00B0F0"/>
                              </a:solidFill>
                              <a:latin typeface="Cambria Math" panose="02040503050406030204" pitchFamily="18" charset="0"/>
                            </a:rPr>
                            <m:t>𝑓</m:t>
                          </m:r>
                        </m:e>
                      </m:d>
                      <m:r>
                        <a:rPr lang="de-DE" sz="2400" b="0" i="1" smtClean="0">
                          <a:latin typeface="Cambria Math" panose="02040503050406030204" pitchFamily="18" charset="0"/>
                        </a:rPr>
                        <m:t>+</m:t>
                      </m:r>
                      <m:r>
                        <a:rPr lang="de-DE" sz="2400" b="0" i="1" smtClean="0">
                          <a:latin typeface="Cambria Math" panose="02040503050406030204" pitchFamily="18" charset="0"/>
                        </a:rPr>
                        <m:t>𝐽</m:t>
                      </m:r>
                      <m:d>
                        <m:dPr>
                          <m:ctrlPr>
                            <a:rPr lang="de-DE" sz="2400" i="1">
                              <a:latin typeface="Cambria Math" panose="02040503050406030204" pitchFamily="18" charset="0"/>
                            </a:rPr>
                          </m:ctrlPr>
                        </m:dPr>
                        <m:e>
                          <m:r>
                            <a:rPr lang="de-DE" sz="2400" i="1">
                              <a:latin typeface="Cambria Math" panose="02040503050406030204" pitchFamily="18" charset="0"/>
                            </a:rPr>
                            <m:t>𝑆</m:t>
                          </m:r>
                          <m:r>
                            <a:rPr lang="de-DE" sz="2400" i="1">
                              <a:latin typeface="Cambria Math" panose="02040503050406030204" pitchFamily="18" charset="0"/>
                            </a:rPr>
                            <m:t>,</m:t>
                          </m:r>
                          <m:r>
                            <a:rPr lang="de-DE" sz="2400" i="1">
                              <a:latin typeface="Cambria Math" panose="02040503050406030204" pitchFamily="18" charset="0"/>
                            </a:rPr>
                            <m:t>𝐹</m:t>
                          </m:r>
                        </m:e>
                      </m:d>
                      <m:r>
                        <a:rPr lang="de-DE" sz="2400" b="0" i="1" smtClean="0">
                          <a:solidFill>
                            <a:srgbClr val="00B0F0"/>
                          </a:solidFill>
                          <a:latin typeface="Cambria Math" panose="02040503050406030204" pitchFamily="18" charset="0"/>
                        </a:rPr>
                        <m:t>𝑓</m:t>
                      </m:r>
                    </m:oMath>
                  </m:oMathPara>
                </a14:m>
                <a:endParaRPr lang="de-DE" sz="2400" b="0" dirty="0" smtClean="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rotWithShape="0">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400" b="0" i="1" smtClean="0">
                          <a:solidFill>
                            <a:srgbClr val="00B0F0"/>
                          </a:solidFill>
                          <a:latin typeface="Cambria Math" panose="02040503050406030204" pitchFamily="18" charset="0"/>
                        </a:rPr>
                        <m:t>𝑓</m:t>
                      </m:r>
                      <m:r>
                        <a:rPr lang="de-DE" sz="2400" b="0" i="1" smtClean="0">
                          <a:solidFill>
                            <a:schemeClr val="tx1"/>
                          </a:solidFill>
                          <a:latin typeface="Cambria Math" panose="02040503050406030204" pitchFamily="18" charset="0"/>
                          <a:ea typeface="Cambria Math" panose="02040503050406030204" pitchFamily="18" charset="0"/>
                        </a:rPr>
                        <m:t>∈</m:t>
                      </m:r>
                      <m:d>
                        <m:dPr>
                          <m:begChr m:val="["/>
                          <m:endChr m:val="]"/>
                          <m:ctrlPr>
                            <a:rPr lang="de-DE" sz="2400" b="0" i="1" smtClean="0">
                              <a:solidFill>
                                <a:schemeClr val="tx1"/>
                              </a:solidFill>
                              <a:latin typeface="Cambria Math" panose="02040503050406030204" pitchFamily="18" charset="0"/>
                              <a:ea typeface="Cambria Math" panose="02040503050406030204" pitchFamily="18" charset="0"/>
                            </a:rPr>
                          </m:ctrlPr>
                        </m:dPr>
                        <m:e>
                          <m:r>
                            <a:rPr lang="de-DE" sz="2400" b="0" i="1" smtClean="0">
                              <a:solidFill>
                                <a:schemeClr val="tx1"/>
                              </a:solidFill>
                              <a:latin typeface="Cambria Math" panose="02040503050406030204" pitchFamily="18" charset="0"/>
                              <a:ea typeface="Cambria Math" panose="02040503050406030204" pitchFamily="18" charset="0"/>
                            </a:rPr>
                            <m:t>0,1</m:t>
                          </m:r>
                        </m:e>
                      </m:d>
                    </m:oMath>
                  </m:oMathPara>
                </a14:m>
                <a:endParaRPr lang="de-DE" sz="2400" b="0" dirty="0" smtClean="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rotWithShape="0">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71686623"/>
              </p:ext>
            </p:extLst>
          </p:nvPr>
        </p:nvGraphicFramePr>
        <p:xfrm>
          <a:off x="180000" y="720000"/>
          <a:ext cx="7419600" cy="9753600"/>
        </p:xfrm>
        <a:graphic>
          <a:graphicData uri="http://schemas.openxmlformats.org/drawingml/2006/table">
            <a:tbl>
              <a:tblPr/>
              <a:tblGrid>
                <a:gridCol w="468000"/>
                <a:gridCol w="3888000"/>
                <a:gridCol w="1774800"/>
                <a:gridCol w="360000"/>
                <a:gridCol w="928800"/>
              </a:tblGrid>
              <a:tr h="68858">
                <a:tc>
                  <a:txBody>
                    <a:bodyPr/>
                    <a:lstStyle/>
                    <a:p>
                      <a:pPr algn="ctr"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de-DE" sz="800" b="0" i="0" u="none" strike="noStrike" dirty="0" err="1">
                          <a:solidFill>
                            <a:srgbClr val="000000"/>
                          </a:solidFill>
                          <a:effectLst/>
                          <a:latin typeface="Calibri" panose="020F0502020204030204" pitchFamily="34" charset="0"/>
                        </a:rPr>
                        <a:t>Oudenarder</a:t>
                      </a:r>
                      <a:r>
                        <a:rPr lang="de-DE" sz="800" b="0" i="0" u="none" strike="noStrike"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Oranienburger Str. 35/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Kottmeierstr. 1- 3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Barstr. 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GbR</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 den Bänken 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Saarbrücker 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Baugesellschaft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Pfalzburger 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SE Berlin Beteiligungs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Pichelswerderstr. 3-5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 und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Lindenstr.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Bürgerstr. 25- 27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Brauhofstr. 4a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Service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Lampesteig 10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Martin Immobilien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Berlin Handelsgesellschaft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Sagritzer 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Randowstr. 12</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KG Beteiligungs-mbH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GmbH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Walter Immobilien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Hochkönigweg 44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Trockenbau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Küstriner 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Mühlenstr. 8a</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Michael Berlin Ingenieurbüro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Rochowstr. 1b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Baumschulenstr. 72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Haus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Kleiststr. 3-6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Müggelseedamm 128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Greifswalder Str. 207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Bäckerei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Oranienstr. 67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Bismarckstr. 39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Katzlerstr. 15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Büro-Service-GmbH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Malschweg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Immobilien Vertrieb Berlin e.V.</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Metallbau Service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Heinersdorfer Str. 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Beteiligungs-Management-Gesellschaft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Provinzstr. 34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Taubenstr. 19-23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Friedrichstr. 185/186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Vermögensverwaltung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Schlüterstr. 54</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Fechnerstr. 12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Ernst Berlin Andreas Ernst e.K.</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Kurfürstenstr. 19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GbR Grundstücksgesellschaft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Bergstr. 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Hotel Berlin Betriebs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Hönower Str. 116</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Partner Werbeagentur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Hohenzollerndamm 152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Colditzstr. 33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Service Inh. Schneider</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Hauptstr. 13</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Strausberger Str. 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ART Berlin Baugesellschaft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Beckerstr.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Betriebs GbR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Calvinstr. 22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7- 8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Hardenbergstr. 32</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Grundstücksgesellschaft "Berlin" 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Fasanenstr. 7-8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 Kosmetik GmbH</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Anklamer Str. 38</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r h="68858">
                <a:tc>
                  <a:txBody>
                    <a:bodyPr/>
                    <a:lstStyle/>
                    <a:p>
                      <a:pPr algn="ctr" fontAlgn="b"/>
                      <a:r>
                        <a:rPr lang="de-DE" sz="800" b="0" i="0" u="none" strike="noStrike"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AM-Grundstücksgesellschaft Berlin GmbH &amp; Co. KG</a:t>
                      </a:r>
                    </a:p>
                  </a:txBody>
                  <a:tcPr marL="36000" marR="36000" marT="0" marB="0" anchor="b">
                    <a:lnL>
                      <a:noFill/>
                    </a:lnL>
                    <a:lnR>
                      <a:noFill/>
                    </a:lnR>
                    <a:lnT>
                      <a:noFill/>
                    </a:lnT>
                    <a:lnB>
                      <a:noFill/>
                    </a:lnB>
                  </a:tcPr>
                </a:tc>
                <a:tc>
                  <a:txBody>
                    <a:bodyPr/>
                    <a:lstStyle/>
                    <a:p>
                      <a:pPr algn="l" fontAlgn="b"/>
                      <a:r>
                        <a:rPr lang="de-DE" sz="800" b="0" i="0" u="none" strike="noStrike">
                          <a:solidFill>
                            <a:srgbClr val="000000"/>
                          </a:solidFill>
                          <a:effectLst/>
                          <a:latin typeface="Calibri" panose="020F0502020204030204" pitchFamily="34" charset="0"/>
                        </a:rPr>
                        <a:t>Kollwitzstr. 46</a:t>
                      </a:r>
                    </a:p>
                  </a:txBody>
                  <a:tcPr marL="36000" marR="36000" marT="0" marB="0" anchor="b">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smtClean="0"/>
              <a:pPr/>
              <a:t>13</a:t>
            </a:fld>
            <a:endParaRPr lang="en-US"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smtClean="0"/>
              <a:pPr/>
              <a:t>13</a:t>
            </a:fld>
            <a:endParaRPr lang="en-US"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dirty="0" smtClean="0">
                <a:solidFill>
                  <a:srgbClr val="00B0F0"/>
                </a:solidFill>
              </a:rPr>
              <a:t>Cutoff</a:t>
            </a:r>
          </a:p>
          <a:p>
            <a:r>
              <a:rPr lang="en-US" sz="1400" dirty="0" smtClean="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dirty="0" smtClean="0">
                <a:solidFill>
                  <a:srgbClr val="00B0F0"/>
                </a:solidFill>
              </a:rPr>
              <a:t>Activation</a:t>
            </a:r>
          </a:p>
          <a:p>
            <a:r>
              <a:rPr lang="en-US" sz="1400" dirty="0" smtClean="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dirty="0" smtClean="0">
                <a:solidFill>
                  <a:srgbClr val="00B0F0"/>
                </a:solidFill>
              </a:rPr>
              <a:t>Feedback</a:t>
            </a:r>
          </a:p>
          <a:p>
            <a:r>
              <a:rPr lang="en-US" sz="1400" dirty="0" smtClean="0"/>
              <a:t>Defines the magnitude of the feedback effect as discount on the Identity. </a:t>
            </a:r>
          </a:p>
          <a:p>
            <a:pPr>
              <a:spcBef>
                <a:spcPts val="300"/>
              </a:spcBef>
            </a:pPr>
            <a:r>
              <a:rPr lang="en-US" sz="1400" dirty="0" smtClean="0"/>
              <a:t>When Activation &gt; 0 and Cutoff &gt; 0:</a:t>
            </a:r>
          </a:p>
          <a:p>
            <a:pPr marL="216000" indent="-216000">
              <a:buClr>
                <a:srgbClr val="00AAE5"/>
              </a:buClr>
              <a:buFont typeface="Calibri" panose="020F0502020204030204" pitchFamily="34" charset="0"/>
              <a:buChar char="→"/>
            </a:pPr>
            <a:r>
              <a:rPr lang="en-US" sz="1400" dirty="0" smtClean="0"/>
              <a:t>Temporary Feedback effect to create variation for Cutoff</a:t>
            </a:r>
          </a:p>
          <a:p>
            <a:pPr marL="216000" indent="-216000">
              <a:buClr>
                <a:srgbClr val="00AAE5"/>
              </a:buClr>
              <a:buFont typeface="Wingdings" panose="05000000000000000000" pitchFamily="2" charset="2"/>
              <a:buChar char="§"/>
            </a:pPr>
            <a:r>
              <a:rPr lang="en-US" sz="1400" dirty="0" smtClean="0"/>
              <a:t>Usually, 10% feedback suffices</a:t>
            </a:r>
          </a:p>
          <a:p>
            <a:pPr marL="216000" indent="-216000">
              <a:buClr>
                <a:srgbClr val="00AAE5"/>
              </a:buClr>
              <a:buFont typeface="Wingdings" panose="05000000000000000000" pitchFamily="2" charset="2"/>
              <a:buChar char="§"/>
            </a:pPr>
            <a:r>
              <a:rPr lang="en-US" sz="1400" dirty="0" smtClean="0"/>
              <a:t>Effect will be undone before Threshold validation</a:t>
            </a:r>
          </a:p>
          <a:p>
            <a:pPr>
              <a:buClr>
                <a:schemeClr val="accent1"/>
              </a:buClr>
            </a:pPr>
            <a:r>
              <a:rPr lang="en-US" sz="1400" dirty="0" smtClean="0"/>
              <a:t>Otherwise:</a:t>
            </a:r>
          </a:p>
          <a:p>
            <a:pPr marL="216000" indent="-216000">
              <a:buClr>
                <a:srgbClr val="00AAE5"/>
              </a:buClr>
              <a:buFont typeface="Calibri" panose="020F0502020204030204" pitchFamily="34" charset="0"/>
              <a:buChar char="→"/>
            </a:pPr>
            <a:r>
              <a:rPr lang="en-US" sz="1400" dirty="0" smtClean="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dirty="0" smtClean="0"/>
              <a:t>The interaction of these three settings prevents unnecessary, time consuming feedback calculations.</a:t>
            </a:r>
          </a:p>
          <a:p>
            <a:r>
              <a:rPr lang="en-US" sz="1400" dirty="0" smtClean="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2964281771"/>
              </p:ext>
            </p:extLst>
          </p:nvPr>
        </p:nvGraphicFramePr>
        <p:xfrm>
          <a:off x="180512" y="843337"/>
          <a:ext cx="468000" cy="1219200"/>
        </p:xfrm>
        <a:graphic>
          <a:graphicData uri="http://schemas.openxmlformats.org/drawingml/2006/table">
            <a:tbl>
              <a:tblPr/>
              <a:tblGrid>
                <a:gridCol w="468000"/>
              </a:tblGrid>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r h="68858">
                <a:tc>
                  <a:txBody>
                    <a:bodyPr/>
                    <a:lstStyle/>
                    <a:p>
                      <a:pPr algn="ctr" fontAlgn="b"/>
                      <a:r>
                        <a:rPr lang="de-DE" sz="800" b="0" i="0" u="none" strike="noStrike" dirty="0" smtClean="0">
                          <a:solidFill>
                            <a:srgbClr val="000000"/>
                          </a:solidFill>
                          <a:effectLst/>
                          <a:latin typeface="Calibri" panose="020F0502020204030204" pitchFamily="34" charset="0"/>
                        </a:rPr>
                        <a:t>80.00</a:t>
                      </a:r>
                      <a:endParaRPr lang="de-DE" sz="800" b="0" i="0" u="none" strike="noStrike" dirty="0">
                        <a:solidFill>
                          <a:srgbClr val="000000"/>
                        </a:solidFill>
                        <a:effectLst/>
                        <a:latin typeface="Calibri" panose="020F0502020204030204" pitchFamily="34" charset="0"/>
                      </a:endParaRPr>
                    </a:p>
                  </a:txBody>
                  <a:tcPr marL="36000" marR="36000" marT="0" marB="0" anchor="b">
                    <a:lnL>
                      <a:noFill/>
                    </a:lnL>
                    <a:lnR>
                      <a:noFill/>
                    </a:lnR>
                    <a:lnT>
                      <a:noFill/>
                    </a:lnT>
                    <a:lnB>
                      <a:noFill/>
                    </a:lnB>
                    <a:solidFill>
                      <a:schemeClr val="bg1"/>
                    </a:solidFill>
                  </a:tcPr>
                </a:tc>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elle 9"/>
          <p:cNvGraphicFramePr>
            <a:graphicFrameLocks noGrp="1"/>
          </p:cNvGraphicFramePr>
          <p:nvPr>
            <p:extLst>
              <p:ext uri="{D42A27DB-BD31-4B8C-83A1-F6EECF244321}">
                <p14:modId xmlns:p14="http://schemas.microsoft.com/office/powerpoint/2010/main" val="1628722113"/>
              </p:ext>
            </p:extLst>
          </p:nvPr>
        </p:nvGraphicFramePr>
        <p:xfrm>
          <a:off x="181632" y="654749"/>
          <a:ext cx="7419271" cy="180000"/>
        </p:xfrm>
        <a:graphic>
          <a:graphicData uri="http://schemas.openxmlformats.org/drawingml/2006/table">
            <a:tbl>
              <a:tblPr/>
              <a:tblGrid>
                <a:gridCol w="468000"/>
                <a:gridCol w="3887671"/>
                <a:gridCol w="1774800"/>
                <a:gridCol w="360000"/>
                <a:gridCol w="928800"/>
              </a:tblGrid>
              <a:tr h="180000">
                <a:tc>
                  <a:txBody>
                    <a:bodyPr/>
                    <a:lstStyle/>
                    <a:p>
                      <a:pPr algn="ctr" fontAlgn="b"/>
                      <a:r>
                        <a:rPr lang="de-DE" sz="900" b="0" i="0" u="none" strike="noStrike" dirty="0" err="1">
                          <a:solidFill>
                            <a:srgbClr val="000000"/>
                          </a:solidFill>
                          <a:effectLst/>
                          <a:latin typeface="Calibri" panose="020F0502020204030204" pitchFamily="34" charset="0"/>
                        </a:rPr>
                        <a:t>identity</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name</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street</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a:solidFill>
                            <a:srgbClr val="000000"/>
                          </a:solidFill>
                          <a:effectLst/>
                          <a:latin typeface="Calibri" panose="020F0502020204030204" pitchFamily="34" charset="0"/>
                        </a:rPr>
                        <a:t>zip</a:t>
                      </a:r>
                      <a:endParaRPr lang="de-DE" sz="900" b="0" i="0" u="none" strike="noStrike" dirty="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900" b="0" i="0" u="none" strike="noStrike" dirty="0" err="1" smtClean="0">
                          <a:solidFill>
                            <a:srgbClr val="000000"/>
                          </a:solidFill>
                          <a:effectLst/>
                          <a:latin typeface="Calibri" panose="020F0502020204030204" pitchFamily="34" charset="0"/>
                        </a:rPr>
                        <a:t>city</a:t>
                      </a:r>
                      <a:endParaRPr lang="de-DE" sz="900" b="0" i="0" u="none" strike="noStrike" dirty="0" smtClean="0">
                        <a:solidFill>
                          <a:srgbClr val="000000"/>
                        </a:solidFill>
                        <a:effectLst/>
                        <a:latin typeface="Calibri" panose="020F0502020204030204" pitchFamily="34" charset="0"/>
                      </a:endParaRP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r>
            </a:tbl>
          </a:graphicData>
        </a:graphic>
      </p:graphicFrame>
      <p:sp>
        <p:nvSpPr>
          <p:cNvPr id="2" name="Titel 1"/>
          <p:cNvSpPr>
            <a:spLocks noGrp="1"/>
          </p:cNvSpPr>
          <p:nvPr>
            <p:ph type="title"/>
          </p:nvPr>
        </p:nvSpPr>
        <p:spPr/>
        <p:txBody>
          <a:bodyPr/>
          <a:lstStyle/>
          <a:p>
            <a:r>
              <a:rPr lang="en-US" dirty="0" smtClean="0"/>
              <a:t>10% Feedback Effect on Berlin GmbH, Berlin</a:t>
            </a:r>
            <a:endParaRPr lang="en-US" dirty="0"/>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dirty="0" smtClean="0">
                <a:solidFill>
                  <a:srgbClr val="00B0F0"/>
                </a:solidFill>
              </a:rPr>
              <a:t>Containment</a:t>
            </a:r>
            <a:r>
              <a:rPr lang="en-US" sz="1400" dirty="0" smtClean="0">
                <a:solidFill>
                  <a:srgbClr val="00B0F0"/>
                </a:solidFill>
              </a:rPr>
              <a:t> of weak search terms</a:t>
            </a:r>
            <a:r>
              <a:rPr lang="en-US" sz="2400" dirty="0" smtClean="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abelle 4"/>
          <p:cNvGraphicFramePr>
            <a:graphicFrameLocks noGrp="1"/>
          </p:cNvGraphicFramePr>
          <p:nvPr>
            <p:extLst>
              <p:ext uri="{D42A27DB-BD31-4B8C-83A1-F6EECF244321}">
                <p14:modId xmlns:p14="http://schemas.microsoft.com/office/powerpoint/2010/main" val="3004599440"/>
              </p:ext>
            </p:extLst>
          </p:nvPr>
        </p:nvGraphicFramePr>
        <p:xfrm>
          <a:off x="180000" y="612992"/>
          <a:ext cx="6012000" cy="609157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smtClean="0">
                          <a:solidFill>
                            <a:srgbClr val="000000"/>
                          </a:solidFill>
                          <a:effectLst/>
                          <a:latin typeface="Calibri" panose="020F0502020204030204" pitchFamily="34" charset="0"/>
                        </a:rPr>
                        <a:t>Firma</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KfK</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Verwaltungs</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Blaupausen Medien Multimediaagentur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Blaupauser</a:t>
                      </a:r>
                      <a:r>
                        <a:rPr lang="de-DE" sz="1100" b="0" i="0" u="none" strike="noStrike" dirty="0">
                          <a:solidFill>
                            <a:srgbClr val="000000"/>
                          </a:solidFill>
                          <a:effectLst/>
                          <a:latin typeface="Calibri" panose="020F0502020204030204" pitchFamily="34" charset="0"/>
                        </a:rPr>
                        <a:t> Projektentwicklung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Ute </a:t>
                      </a:r>
                      <a:r>
                        <a:rPr lang="de-DE" sz="1100" b="0" i="0" u="none" strike="noStrike" dirty="0" err="1">
                          <a:solidFill>
                            <a:srgbClr val="000000"/>
                          </a:solidFill>
                          <a:effectLst/>
                          <a:latin typeface="Calibri" panose="020F0502020204030204" pitchFamily="34" charset="0"/>
                        </a:rPr>
                        <a:t>Nißle-Klammt</a:t>
                      </a:r>
                      <a:r>
                        <a:rPr lang="de-DE" sz="1100" b="0" i="0" u="none" strike="noStrike" dirty="0">
                          <a:solidFill>
                            <a:srgbClr val="000000"/>
                          </a:solidFill>
                          <a:effectLst/>
                          <a:latin typeface="Calibri" panose="020F0502020204030204" pitchFamily="34" charset="0"/>
                        </a:rPr>
                        <a:t> Blaupark-Apotheke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a:t>
                      </a:r>
                      <a:r>
                        <a:rPr lang="de-DE" sz="1100" b="0" i="0" u="none" strike="noStrike" dirty="0" err="1">
                          <a:solidFill>
                            <a:srgbClr val="000000"/>
                          </a:solidFill>
                          <a:effectLst/>
                          <a:latin typeface="Calibri" panose="020F0502020204030204" pitchFamily="34" charset="0"/>
                        </a:rPr>
                        <a:t>Immobilienverwertungsges.m</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b.H</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Blaupapier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sv-SE" sz="1100" b="0" i="0" u="none" strike="noStrike" dirty="0">
                          <a:solidFill>
                            <a:srgbClr val="000000"/>
                          </a:solidFill>
                          <a:effectLst/>
                          <a:latin typeface="Calibri" panose="020F0502020204030204" pitchFamily="34" charset="0"/>
                        </a:rPr>
                        <a:t>Blaupark Living Ulm K20 Projekt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000000"/>
                          </a:solidFill>
                          <a:effectLst/>
                          <a:latin typeface="Calibri" panose="020F0502020204030204" pitchFamily="34" charset="0"/>
                        </a:rPr>
                        <a:t>Plaupause</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Simon Huber Filmproduktion graupause</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Seniorenzentrum </a:t>
                      </a:r>
                      <a:r>
                        <a:rPr lang="de-DE" sz="1100" b="0" i="0" u="none" strike="noStrike" dirty="0" err="1">
                          <a:solidFill>
                            <a:srgbClr val="000000"/>
                          </a:solidFill>
                          <a:effectLst/>
                          <a:latin typeface="Calibri" panose="020F0502020204030204" pitchFamily="34" charset="0"/>
                        </a:rPr>
                        <a:t>Lopaupark</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paupau</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Deli</a:t>
                      </a:r>
                      <a:r>
                        <a:rPr lang="de-DE" sz="1100" b="0" i="0" u="none" strike="noStrike"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Paulsen 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Karl Paul </a:t>
                      </a:r>
                      <a:r>
                        <a:rPr lang="de-DE" sz="1100" b="0" i="0" u="none" strike="noStrike" dirty="0" err="1">
                          <a:solidFill>
                            <a:srgbClr val="000000"/>
                          </a:solidFill>
                          <a:effectLst/>
                          <a:latin typeface="Calibri" panose="020F0502020204030204" pitchFamily="34" charset="0"/>
                        </a:rPr>
                        <a:t>Kaupa</a:t>
                      </a:r>
                      <a:r>
                        <a:rPr lang="de-DE" sz="1100" b="0" i="0" u="none" strike="noStrike" dirty="0">
                          <a:solidFill>
                            <a:srgbClr val="000000"/>
                          </a:solidFill>
                          <a:effectLst/>
                          <a:latin typeface="Calibri" panose="020F0502020204030204" pitchFamily="34" charset="0"/>
                        </a:rPr>
                        <a:t> Bettengeschäft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fraupaul</a:t>
                      </a:r>
                      <a:r>
                        <a:rPr lang="de-DE" sz="1100" b="0" i="0" u="none" strike="noStrike" dirty="0">
                          <a:solidFill>
                            <a:srgbClr val="000000"/>
                          </a:solidFill>
                          <a:effectLst/>
                          <a:latin typeface="Calibri" panose="020F0502020204030204" pitchFamily="34" charset="0"/>
                        </a:rPr>
                        <a:t>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Bausen</a:t>
                      </a:r>
                      <a:r>
                        <a:rPr lang="de-DE" sz="1100" b="0" i="0" u="none" strike="noStrike" dirty="0">
                          <a:solidFill>
                            <a:srgbClr val="000000"/>
                          </a:solidFill>
                          <a:effectLst/>
                          <a:latin typeface="Calibri" panose="020F0502020204030204" pitchFamily="34" charset="0"/>
                        </a:rPr>
                        <a:t> &amp; Markwart Ausbaupartner GmbH</a:t>
                      </a:r>
                    </a:p>
                  </a:txBody>
                  <a:tcPr marL="72000" marR="72000" marT="6405" marB="0" anchor="b">
                    <a:lnL>
                      <a:noFill/>
                    </a:lnL>
                    <a:lnR>
                      <a:noFill/>
                    </a:lnR>
                    <a:lnT>
                      <a:noFill/>
                    </a:lnT>
                    <a:lnB>
                      <a:noFill/>
                    </a:lnB>
                  </a:tcPr>
                </a:tc>
              </a:tr>
              <a:tr h="128108">
                <a:tc>
                  <a:txBody>
                    <a:bodyPr/>
                    <a:lstStyle/>
                    <a:p>
                      <a:pPr algn="r" fontAlgn="b"/>
                      <a:r>
                        <a:rPr lang="de-DE" sz="1100" b="0" i="0" u="none" strike="noStrike">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Baupartner BAUSTOFFSERVICE Schönhausen GmbH</a:t>
                      </a:r>
                    </a:p>
                  </a:txBody>
                  <a:tcPr marL="72000" marR="72000" marT="6405" marB="0" anchor="b">
                    <a:lnL>
                      <a:noFill/>
                    </a:lnL>
                    <a:lnR>
                      <a:noFill/>
                    </a:lnR>
                    <a:lnT>
                      <a:noFill/>
                    </a:lnT>
                    <a:lnB>
                      <a:noFill/>
                    </a:lnB>
                  </a:tcPr>
                </a:tc>
              </a:tr>
              <a:tr h="128108">
                <a:tc>
                  <a:txBody>
                    <a:bodyPr/>
                    <a:lstStyle/>
                    <a:p>
                      <a:pPr algn="r" fontAlgn="b"/>
                      <a:r>
                        <a:rPr lang="de-DE" sz="1100" b="0" i="0" u="none" strike="noStrike"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Lothar Krause Baupartner</a:t>
                      </a:r>
                    </a:p>
                  </a:txBody>
                  <a:tcPr marL="72000" marR="72000" marT="6405" marB="0" anchor="b">
                    <a:lnL>
                      <a:noFill/>
                    </a:lnL>
                    <a:lnR>
                      <a:noFill/>
                    </a:lnR>
                    <a:lnT>
                      <a:noFill/>
                    </a:lnT>
                    <a:lnB>
                      <a:noFill/>
                    </a:lnB>
                  </a:tcPr>
                </a:tc>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oliennummernplatzhalter 2"/>
          <p:cNvSpPr>
            <a:spLocks noGrp="1"/>
          </p:cNvSpPr>
          <p:nvPr>
            <p:ph type="sldNum" sz="quarter" idx="10"/>
          </p:nvPr>
        </p:nvSpPr>
        <p:spPr/>
        <p:txBody>
          <a:bodyPr/>
          <a:lstStyle/>
          <a:p>
            <a:fld id="{A29D8577-601D-4845-9C29-D9E13FE3E8DB}" type="slidenum">
              <a:rPr lang="en-US" smtClean="0"/>
              <a:pPr/>
              <a:t>14</a:t>
            </a:fld>
            <a:endParaRPr lang="en-US"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dirty="0" smtClean="0"/>
              <a:t>3-Gram Search for “</a:t>
            </a:r>
            <a:r>
              <a:rPr lang="en-US" dirty="0" err="1" smtClean="0"/>
              <a:t>Blaupause</a:t>
            </a:r>
            <a:r>
              <a:rPr lang="en-US" dirty="0" smtClean="0"/>
              <a:t>”: BLA LAU AUP UPA AUS USE</a:t>
            </a:r>
            <a:endParaRPr lang="en-US" dirty="0"/>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dirty="0" smtClean="0">
                <a:solidFill>
                  <a:srgbClr val="00B0F0"/>
                </a:solidFill>
              </a:rPr>
              <a:t>Words responsible for retrieval:</a:t>
            </a:r>
          </a:p>
          <a:p>
            <a:r>
              <a:rPr lang="en-US" sz="1400" dirty="0" err="1" smtClean="0"/>
              <a:t>blaupause</a:t>
            </a:r>
            <a:endParaRPr lang="en-US" sz="1400" dirty="0" smtClean="0"/>
          </a:p>
          <a:p>
            <a:r>
              <a:rPr lang="en-US" sz="1400" dirty="0" err="1" smtClean="0"/>
              <a:t>blaupausen</a:t>
            </a:r>
            <a:endParaRPr lang="en-US" sz="1400" dirty="0" smtClean="0"/>
          </a:p>
          <a:p>
            <a:r>
              <a:rPr lang="en-US" sz="1400" dirty="0" err="1" smtClean="0"/>
              <a:t>blaupauser</a:t>
            </a:r>
            <a:endParaRPr lang="en-US" sz="1400" dirty="0" smtClean="0"/>
          </a:p>
          <a:p>
            <a:r>
              <a:rPr lang="en-US" sz="1400" dirty="0" err="1" smtClean="0"/>
              <a:t>blaupark</a:t>
            </a:r>
            <a:endParaRPr lang="en-US" sz="1400" dirty="0" smtClean="0"/>
          </a:p>
          <a:p>
            <a:r>
              <a:rPr lang="en-US" sz="1400" dirty="0" err="1" smtClean="0"/>
              <a:t>blaupapier</a:t>
            </a:r>
            <a:endParaRPr lang="en-US" sz="1400" dirty="0" smtClean="0"/>
          </a:p>
          <a:p>
            <a:r>
              <a:rPr lang="en-US" sz="1400" dirty="0" err="1" smtClean="0"/>
              <a:t>plaupause</a:t>
            </a:r>
            <a:endParaRPr lang="en-US" sz="1400" dirty="0" smtClean="0"/>
          </a:p>
          <a:p>
            <a:r>
              <a:rPr lang="en-US" sz="1400" dirty="0" err="1" smtClean="0"/>
              <a:t>graupause</a:t>
            </a:r>
            <a:endParaRPr lang="en-US" sz="1400" dirty="0" smtClean="0"/>
          </a:p>
          <a:p>
            <a:r>
              <a:rPr lang="en-US" sz="1400" dirty="0" err="1" smtClean="0"/>
              <a:t>lopaupark</a:t>
            </a:r>
            <a:endParaRPr lang="en-US" sz="1400" dirty="0" smtClean="0"/>
          </a:p>
          <a:p>
            <a:r>
              <a:rPr lang="en-US" sz="1400" dirty="0" err="1" smtClean="0"/>
              <a:t>paupau</a:t>
            </a:r>
            <a:endParaRPr lang="en-US" sz="1400" dirty="0" smtClean="0"/>
          </a:p>
          <a:p>
            <a:r>
              <a:rPr lang="en-US" sz="1400" dirty="0" err="1" smtClean="0"/>
              <a:t>paulsen</a:t>
            </a:r>
            <a:r>
              <a:rPr lang="en-US" sz="1400" dirty="0" smtClean="0"/>
              <a:t> </a:t>
            </a:r>
            <a:r>
              <a:rPr lang="en-US" sz="1400" dirty="0" err="1" smtClean="0"/>
              <a:t>baupartner</a:t>
            </a:r>
            <a:endParaRPr lang="en-US" sz="1400" dirty="0" smtClean="0"/>
          </a:p>
          <a:p>
            <a:r>
              <a:rPr lang="en-US" sz="1400" dirty="0" err="1" smtClean="0"/>
              <a:t>paul</a:t>
            </a:r>
            <a:r>
              <a:rPr lang="en-US" sz="1400" dirty="0" smtClean="0"/>
              <a:t> </a:t>
            </a:r>
            <a:r>
              <a:rPr lang="en-US" sz="1400" dirty="0" err="1" smtClean="0"/>
              <a:t>kaupa</a:t>
            </a:r>
            <a:endParaRPr lang="en-US" sz="1400" dirty="0" smtClean="0"/>
          </a:p>
          <a:p>
            <a:r>
              <a:rPr lang="en-US" sz="1400" dirty="0" err="1" smtClean="0"/>
              <a:t>fraupaul</a:t>
            </a:r>
            <a:endParaRPr lang="en-US" sz="1400" dirty="0" smtClean="0"/>
          </a:p>
          <a:p>
            <a:r>
              <a:rPr lang="en-US" sz="1400" dirty="0" err="1" smtClean="0"/>
              <a:t>bausen</a:t>
            </a:r>
            <a:r>
              <a:rPr lang="en-US" sz="1400" dirty="0" smtClean="0"/>
              <a:t> </a:t>
            </a:r>
            <a:r>
              <a:rPr lang="en-US" sz="1400" dirty="0" err="1" smtClean="0"/>
              <a:t>ausbaupartner</a:t>
            </a:r>
            <a:endParaRPr lang="en-US" sz="1400" dirty="0" smtClean="0"/>
          </a:p>
          <a:p>
            <a:r>
              <a:rPr lang="en-US" sz="1400" dirty="0" err="1" smtClean="0"/>
              <a:t>baupartner</a:t>
            </a:r>
            <a:r>
              <a:rPr lang="en-US" sz="1400" dirty="0" smtClean="0"/>
              <a:t> </a:t>
            </a:r>
            <a:r>
              <a:rPr lang="en-US" sz="1400" dirty="0" err="1" smtClean="0"/>
              <a:t>baustoffservice</a:t>
            </a:r>
            <a:r>
              <a:rPr lang="en-US" sz="1400" dirty="0" smtClean="0"/>
              <a:t> </a:t>
            </a:r>
            <a:r>
              <a:rPr lang="en-US" sz="1400" dirty="0" err="1" smtClean="0"/>
              <a:t>schönhausen</a:t>
            </a:r>
            <a:endParaRPr lang="en-US" sz="1400" dirty="0" smtClean="0"/>
          </a:p>
          <a:p>
            <a:endParaRPr lang="en-US" sz="140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dirty="0" smtClean="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dirty="0" smtClean="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dirty="0"/>
              <a:t>We have to replicate this visual screening via a flexible string distance function, which is independent of word </a:t>
            </a:r>
            <a:r>
              <a:rPr lang="en-US" sz="1400" dirty="0" smtClean="0"/>
              <a:t>positioning.</a:t>
            </a:r>
            <a:endParaRPr lang="en-US" sz="1400" dirty="0"/>
          </a:p>
        </p:txBody>
      </p:sp>
      <p:graphicFrame>
        <p:nvGraphicFramePr>
          <p:cNvPr id="75" name="Tabelle 74"/>
          <p:cNvGraphicFramePr>
            <a:graphicFrameLocks noGrp="1"/>
          </p:cNvGraphicFramePr>
          <p:nvPr>
            <p:extLst>
              <p:ext uri="{D42A27DB-BD31-4B8C-83A1-F6EECF244321}">
                <p14:modId xmlns:p14="http://schemas.microsoft.com/office/powerpoint/2010/main" val="762703967"/>
              </p:ext>
            </p:extLst>
          </p:nvPr>
        </p:nvGraphicFramePr>
        <p:xfrm>
          <a:off x="181450" y="609867"/>
          <a:ext cx="6012000" cy="174045"/>
        </p:xfrm>
        <a:graphic>
          <a:graphicData uri="http://schemas.openxmlformats.org/drawingml/2006/table">
            <a:tbl>
              <a:tblPr/>
              <a:tblGrid>
                <a:gridCol w="612000"/>
                <a:gridCol w="5400000"/>
              </a:tblGrid>
              <a:tr h="1440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Least Relative Character Position Delta (LRCPD)</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15</a:t>
            </a:fld>
            <a:endParaRPr lang="en-US"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1</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2</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3</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0.4</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0.6</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0.7</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0.8</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4026688264"/>
                  </p:ext>
                </p:extLst>
              </p:nvPr>
            </p:nvGraphicFramePr>
            <p:xfrm>
              <a:off x="1073765" y="1268760"/>
              <a:ext cx="60960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C</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A</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R</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N</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T</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Z</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K</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dirty="0" smtClean="0">
                              <a:solidFill>
                                <a:schemeClr val="bg1"/>
                              </a:solidFill>
                            </a:rPr>
                            <a:t>I</a:t>
                          </a:r>
                          <a:endParaRPr lang="en-US" sz="3200" dirty="0">
                            <a:solidFill>
                              <a:schemeClr val="bg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976811305"/>
              </p:ext>
            </p:extLst>
          </p:nvPr>
        </p:nvGraphicFramePr>
        <p:xfrm>
          <a:off x="1402576" y="3884930"/>
          <a:ext cx="5486400" cy="949960"/>
        </p:xfrm>
        <a:graphic>
          <a:graphicData uri="http://schemas.openxmlformats.org/drawingml/2006/table">
            <a:tbl>
              <a:tblPr firstRow="1" bandRow="1"/>
              <a:tblGrid>
                <a:gridCol w="609600"/>
                <a:gridCol w="609600"/>
                <a:gridCol w="609600"/>
                <a:gridCol w="609600"/>
                <a:gridCol w="609600"/>
                <a:gridCol w="609600"/>
                <a:gridCol w="609600"/>
                <a:gridCol w="609600"/>
                <a:gridCol w="609600"/>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C</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H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A </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R</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N</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Z</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K</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dirty="0" smtClean="0"/>
                        <a:t>I</a:t>
                      </a:r>
                      <a:endParaRPr lang="en-US" sz="3200" b="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0.125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0.375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0.625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0.75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dirty="0" smtClean="0">
                          <a:latin typeface="Cambria Math" pitchFamily="18" charset="0"/>
                          <a:ea typeface="Cambria Math" pitchFamily="18" charset="0"/>
                        </a:rPr>
                        <a:t>0.</a:t>
                      </a:r>
                      <a:r>
                        <a:rPr lang="de-DE" sz="1200" dirty="0" smtClean="0">
                          <a:latin typeface="Cambria Math" pitchFamily="18" charset="0"/>
                          <a:ea typeface="Cambria Math" pitchFamily="18" charset="0"/>
                        </a:rPr>
                        <a:t>875</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de-DE" sz="1200" dirty="0" smtClean="0">
                          <a:latin typeface="Cambria Math" pitchFamily="18" charset="0"/>
                          <a:ea typeface="Cambria Math" pitchFamily="18" charset="0"/>
                        </a:rPr>
                        <a:t>1.0</a:t>
                      </a:r>
                      <a:endParaRPr lang="en-US" sz="1200" dirty="0">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dirty="0" smtClean="0">
                              <a:solidFill>
                                <a:schemeClr val="tx1"/>
                              </a:solidFill>
                              <a:latin typeface="Cambria Math" pitchFamily="18" charset="0"/>
                              <a:ea typeface="Cambria Math" pitchFamily="18" charset="0"/>
                            </a:rPr>
                            <a:t>0.63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0.041</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6</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0.05</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5</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0.069</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4</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0.02</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7</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0.013</a:t>
                          </a:r>
                          <a14:m>
                            <m:oMath xmlns:m="http://schemas.openxmlformats.org/officeDocument/2006/math">
                              <m:acc>
                                <m:accPr>
                                  <m:chr m:val="̅"/>
                                  <m:ctrlPr>
                                    <a:rPr lang="de-DE" sz="1200" b="0" i="1" smtClean="0">
                                      <a:solidFill>
                                        <a:schemeClr val="tx1"/>
                                      </a:solidFill>
                                      <a:latin typeface="Cambria Math" panose="02040503050406030204" pitchFamily="18" charset="0"/>
                                      <a:ea typeface="Cambria Math" pitchFamily="18" charset="0"/>
                                    </a:rPr>
                                  </m:ctrlPr>
                                </m:accPr>
                                <m:e>
                                  <m:r>
                                    <a:rPr lang="de-DE" sz="1200" b="0" i="1" smtClean="0">
                                      <a:solidFill>
                                        <a:schemeClr val="tx1"/>
                                      </a:solidFill>
                                      <a:latin typeface="Cambria Math"/>
                                      <a:ea typeface="Cambria Math" pitchFamily="18" charset="0"/>
                                    </a:rPr>
                                    <m:t>8</m:t>
                                  </m:r>
                                </m:e>
                              </m:acc>
                            </m:oMath>
                          </a14:m>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2710041468"/>
                  </p:ext>
                </p:extLst>
              </p:nvPr>
            </p:nvGraphicFramePr>
            <p:xfrm>
              <a:off x="617388" y="2865259"/>
              <a:ext cx="6892690" cy="370840"/>
            </p:xfrm>
            <a:graphic>
              <a:graphicData uri="http://schemas.openxmlformats.org/drawingml/2006/table">
                <a:tbl>
                  <a:tblPr firstRow="1" bandRow="1"/>
                  <a:tblGrid>
                    <a:gridCol w="689269"/>
                    <a:gridCol w="689269"/>
                    <a:gridCol w="689269"/>
                    <a:gridCol w="689269"/>
                    <a:gridCol w="689269"/>
                    <a:gridCol w="689269"/>
                    <a:gridCol w="689269"/>
                    <a:gridCol w="689269"/>
                    <a:gridCol w="689269"/>
                    <a:gridCol w="689269"/>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dirty="0" smtClean="0">
                              <a:solidFill>
                                <a:schemeClr val="tx1"/>
                              </a:solidFill>
                              <a:latin typeface="Cambria Math" pitchFamily="18" charset="0"/>
                              <a:ea typeface="Cambria Math" pitchFamily="18" charset="0"/>
                            </a:rPr>
                            <a:t>1.0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rotWithShape="0">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de-DE" sz="1200" b="0" dirty="0" smtClean="0">
                              <a:solidFill>
                                <a:schemeClr val="tx1"/>
                              </a:solidFill>
                              <a:latin typeface="Cambria Math" pitchFamily="18" charset="0"/>
                              <a:ea typeface="Cambria Math" pitchFamily="18" charset="0"/>
                            </a:rPr>
                            <a:t>0</a:t>
                          </a:r>
                          <a:endParaRPr lang="en-US" sz="1200" b="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smtClean="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rotWithShape="0">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panose="02040503050406030204" pitchFamily="18" charset="0"/>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smtClean="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rotWithShape="0">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dirty="0" smtClean="0">
                  <a:solidFill>
                    <a:srgbClr val="00B0F0"/>
                  </a:solidFill>
                </a:rPr>
                <a:t>Candidate Refinement (Visual Screening)</a:t>
              </a:r>
            </a:p>
            <a:p>
              <a:r>
                <a:rPr lang="en-US" sz="1400" dirty="0"/>
                <a:t>s</a:t>
              </a:r>
              <a:r>
                <a:rPr lang="en-US" sz="1400" dirty="0" smtClean="0"/>
                <a:t>earch = any search field affected by a destructive preparer</a:t>
              </a:r>
            </a:p>
            <a:p>
              <a:pPr marL="0" lvl="1"/>
              <a:r>
                <a:rPr lang="en-US" sz="1400" dirty="0" smtClean="0"/>
                <a:t>found = corresponding entry of the Candidate</a:t>
              </a:r>
            </a:p>
            <a:p>
              <a:r>
                <a:rPr lang="en-US" sz="1400" dirty="0" smtClean="0"/>
                <a:t>run basic preparer over search and found</a:t>
              </a:r>
            </a:p>
            <a:p>
              <a:r>
                <a:rPr lang="en-US" sz="1400" dirty="0" smtClean="0"/>
                <a:t>delta = 0</a:t>
              </a:r>
            </a:p>
            <a:p>
              <a:r>
                <a:rPr lang="en-US" sz="1400" dirty="0" smtClean="0"/>
                <a:t>go through all words of search → word1</a:t>
              </a:r>
            </a:p>
            <a:p>
              <a:pPr marL="0" lvl="1" defTabSz="444500"/>
              <a:r>
                <a:rPr lang="en-US" sz="1400" dirty="0" smtClean="0"/>
                <a:t>	max = 0</a:t>
              </a:r>
            </a:p>
            <a:p>
              <a:pPr marL="0" lvl="1" defTabSz="444500"/>
              <a:r>
                <a:rPr lang="en-US" sz="1400" dirty="0" smtClean="0"/>
                <a:t>	go through all words of found </a:t>
              </a:r>
              <a:r>
                <a:rPr lang="en-US" sz="1400" dirty="0"/>
                <a:t>→</a:t>
              </a:r>
              <a:r>
                <a:rPr lang="en-US" sz="1400" dirty="0" smtClean="0"/>
                <a:t> word2</a:t>
              </a:r>
            </a:p>
            <a:p>
              <a:pPr marL="0" lvl="2" defTabSz="444500"/>
              <a:r>
                <a:rPr lang="en-US" sz="1400" dirty="0" smtClean="0"/>
                <a:t>		max = max(max, </a:t>
              </a:r>
              <a:r>
                <a:rPr lang="en-US" sz="1400" dirty="0" err="1" smtClean="0"/>
                <a:t>lrcpd</a:t>
              </a:r>
              <a:r>
                <a:rPr lang="en-US" sz="1400" dirty="0" smtClean="0"/>
                <a:t>(word1, word2))</a:t>
              </a:r>
            </a:p>
            <a:p>
              <a:pPr marL="0" lvl="2"/>
              <a:r>
                <a:rPr lang="en-US" sz="1400" dirty="0" smtClean="0"/>
                <a:t>	if max == 1 exit loop</a:t>
              </a:r>
            </a:p>
            <a:p>
              <a:pPr marL="0" lvl="2" defTabSz="444500"/>
              <a:r>
                <a:rPr lang="en-US" sz="1400" dirty="0" smtClean="0"/>
                <a:t>	delta += max</a:t>
              </a:r>
            </a:p>
            <a:p>
              <a:pPr marL="0" lvl="2"/>
              <a:r>
                <a:rPr lang="en-US" sz="1400" dirty="0" smtClean="0"/>
                <a:t>delta = delta/</a:t>
              </a:r>
              <a:r>
                <a:rPr lang="en-US" sz="1400" dirty="0" err="1" smtClean="0"/>
                <a:t>wordcount</a:t>
              </a:r>
              <a:r>
                <a:rPr lang="en-US" sz="1400" dirty="0" smtClean="0"/>
                <a:t>(search)</a:t>
              </a:r>
            </a:p>
            <a:p>
              <a:pPr marL="0" lvl="1"/>
              <a:r>
                <a:rPr lang="en-US" sz="1400" dirty="0" smtClean="0"/>
                <a:t>remove all blanks from search and found</a:t>
              </a:r>
            </a:p>
            <a:p>
              <a:pPr marL="0" lvl="1"/>
              <a:r>
                <a:rPr lang="en-US" sz="1400" dirty="0" smtClean="0"/>
                <a:t>return max(delta, </a:t>
              </a:r>
              <a:r>
                <a:rPr lang="en-US" sz="1400" dirty="0" err="1" smtClean="0"/>
                <a:t>lrcpd</a:t>
              </a:r>
              <a:r>
                <a:rPr lang="en-US" sz="1400" dirty="0" smtClean="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Refinement ignores word-positioning, is non-commutative and returns a percentage → easy integration</a:t>
              </a:r>
            </a:p>
            <a:p>
              <a:pPr marL="216000" indent="-216000">
                <a:buClr>
                  <a:srgbClr val="00B0F0"/>
                </a:buClr>
                <a:buFont typeface="Wingdings" panose="05000000000000000000" pitchFamily="2" charset="2"/>
                <a:buChar char="§"/>
              </a:pPr>
              <a:r>
                <a:rPr lang="en-US" sz="1400" dirty="0" smtClean="0"/>
                <a:t>Refinement is integrated into the Identity by replacing the components of search types affected by destructive Preparer</a:t>
              </a:r>
              <a:endParaRPr lang="en-US" sz="1400" dirty="0"/>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t>3-Gram Search for “</a:t>
            </a:r>
            <a:r>
              <a:rPr lang="en-US" dirty="0" err="1" smtClean="0"/>
              <a:t>Blaupause</a:t>
            </a:r>
            <a:r>
              <a:rPr lang="en-US" dirty="0" smtClean="0"/>
              <a:t>” after LRCPD-Refinement</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16</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425264679"/>
              </p:ext>
            </p:extLst>
          </p:nvPr>
        </p:nvGraphicFramePr>
        <p:xfrm>
          <a:off x="180000"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dirty="0" smtClean="0">
                <a:solidFill>
                  <a:srgbClr val="00B0F0"/>
                </a:solidFill>
              </a:rPr>
              <a:t>Refinement</a:t>
            </a:r>
          </a:p>
          <a:p>
            <a:r>
              <a:rPr lang="en-US" sz="1400" dirty="0" smtClean="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Searched with </a:t>
            </a:r>
            <a:r>
              <a:rPr lang="en-US" sz="1400" dirty="0" smtClean="0">
                <a:solidFill>
                  <a:srgbClr val="00B0F0"/>
                </a:solidFill>
              </a:rPr>
              <a:t>Found </a:t>
            </a:r>
            <a:r>
              <a:rPr lang="en-US" sz="1400" dirty="0">
                <a:solidFill>
                  <a:prstClr val="black"/>
                </a:solidFill>
              </a:rPr>
              <a:t>is the default direction and mimics the general </a:t>
            </a:r>
            <a:r>
              <a:rPr lang="en-US" sz="1400" dirty="0" err="1">
                <a:solidFill>
                  <a:prstClr val="black"/>
                </a:solidFill>
              </a:rPr>
              <a:t>SearchEngine</a:t>
            </a:r>
            <a:r>
              <a:rPr lang="en-US" sz="1400" dirty="0">
                <a:solidFill>
                  <a:prstClr val="black"/>
                </a:solidFill>
              </a:rPr>
              <a:t> </a:t>
            </a:r>
            <a:r>
              <a:rPr lang="en-US" sz="1400" dirty="0" smtClean="0">
                <a:solidFill>
                  <a:prstClr val="black"/>
                </a:solidFill>
              </a:rPr>
              <a:t>behavior</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Dynamic compare</a:t>
            </a:r>
            <a:r>
              <a:rPr lang="en-US" sz="1400" dirty="0" smtClean="0">
                <a:solidFill>
                  <a:prstClr val="black"/>
                </a:solidFill>
              </a:rPr>
              <a:t> </a:t>
            </a:r>
            <a:r>
              <a:rPr lang="en-US" sz="1400" dirty="0">
                <a:solidFill>
                  <a:prstClr val="black"/>
                </a:solidFill>
              </a:rPr>
              <a:t>compares in both directions and uses the lowest result → suitable for person </a:t>
            </a:r>
            <a:r>
              <a:rPr lang="en-US" sz="1400" dirty="0" smtClean="0">
                <a:solidFill>
                  <a:prstClr val="black"/>
                </a:solidFill>
              </a:rPr>
              <a:t>names</a:t>
            </a:r>
            <a:endParaRPr lang="en-US" sz="1400" dirty="0">
              <a:solidFill>
                <a:prstClr val="black"/>
              </a:solidFill>
            </a:endParaRPr>
          </a:p>
          <a:p>
            <a:pPr marL="216000" lvl="1" indent="-216000">
              <a:buClr>
                <a:schemeClr val="accent1"/>
              </a:buClr>
              <a:buFont typeface="Wingdings" panose="05000000000000000000" pitchFamily="2" charset="2"/>
              <a:buChar char="§"/>
            </a:pPr>
            <a:r>
              <a:rPr lang="en-US" sz="1400" dirty="0" smtClean="0">
                <a:solidFill>
                  <a:srgbClr val="00B0F0"/>
                </a:solidFill>
              </a:rPr>
              <a:t>Compare </a:t>
            </a:r>
            <a:r>
              <a:rPr lang="en-US" sz="1400" dirty="0">
                <a:solidFill>
                  <a:srgbClr val="00B0F0"/>
                </a:solidFill>
              </a:rPr>
              <a:t>Found with </a:t>
            </a:r>
            <a:r>
              <a:rPr lang="en-US" sz="1400" dirty="0" smtClean="0">
                <a:solidFill>
                  <a:srgbClr val="00B0F0"/>
                </a:solidFill>
              </a:rPr>
              <a:t>Searched</a:t>
            </a:r>
            <a:r>
              <a:rPr lang="en-US" sz="1400" dirty="0" smtClean="0">
                <a:solidFill>
                  <a:prstClr val="black"/>
                </a:solidFill>
              </a:rPr>
              <a:t> </a:t>
            </a:r>
            <a:r>
              <a:rPr lang="en-US" sz="1400" dirty="0">
                <a:solidFill>
                  <a:prstClr val="black"/>
                </a:solidFill>
              </a:rPr>
              <a:t>reverses the default direction → more noise in the base </a:t>
            </a:r>
            <a:r>
              <a:rPr lang="en-US" sz="1400" dirty="0" smtClean="0">
                <a:solidFill>
                  <a:prstClr val="black"/>
                </a:solidFill>
              </a:rPr>
              <a:t>table (rarely used)</a:t>
            </a:r>
          </a:p>
          <a:p>
            <a:pPr marL="216000" lvl="1" indent="-216000">
              <a:buClr>
                <a:schemeClr val="accent1"/>
              </a:buClr>
              <a:buFont typeface="Wingdings" panose="05000000000000000000" pitchFamily="2" charset="2"/>
              <a:buChar char="§"/>
            </a:pPr>
            <a:r>
              <a:rPr lang="en-US" sz="1400" dirty="0">
                <a:solidFill>
                  <a:srgbClr val="00B0F0"/>
                </a:solidFill>
              </a:rPr>
              <a:t>No automatic refine/research on destructive </a:t>
            </a:r>
            <a:r>
              <a:rPr lang="en-US" sz="1400" dirty="0" smtClean="0">
                <a:solidFill>
                  <a:srgbClr val="00B0F0"/>
                </a:solidFill>
              </a:rPr>
              <a:t>preparer </a:t>
            </a:r>
            <a:r>
              <a:rPr lang="en-US" sz="1400" dirty="0" smtClean="0"/>
              <a:t>skips the whole Refinement part (not advised but required for educational purposes)</a:t>
            </a:r>
            <a:endParaRPr lang="en-US" sz="140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dirty="0">
                <a:solidFill>
                  <a:srgbClr val="00B0F0"/>
                </a:solidFill>
              </a:rPr>
              <a:t>Advice</a:t>
            </a:r>
          </a:p>
          <a:p>
            <a:r>
              <a:rPr lang="en-US" sz="1400" dirty="0"/>
              <a:t>Refined components of the Identity lack the intrinsic frequency based heuristic. Every word has the same “Identification Potential”. This can be considered a tacit loss in information conveyed by the Identity</a:t>
            </a:r>
            <a:r>
              <a:rPr lang="en-US" sz="1400" dirty="0" smtClean="0"/>
              <a:t>. </a:t>
            </a:r>
            <a:r>
              <a:rPr lang="en-US" sz="1400" dirty="0"/>
              <a:t>Plus, retrieval using destructive Preparer and the consecutive Refinement are slow</a:t>
            </a:r>
            <a:r>
              <a:rPr lang="en-US" sz="1400" dirty="0" smtClean="0"/>
              <a:t>.</a:t>
            </a:r>
            <a:endParaRPr lang="en-US" sz="1400" dirty="0"/>
          </a:p>
          <a:p>
            <a:pPr>
              <a:spcBef>
                <a:spcPts val="600"/>
              </a:spcBef>
            </a:pPr>
            <a:r>
              <a:rPr lang="en-US" sz="1400" dirty="0" smtClean="0"/>
              <a:t>Therefore search types </a:t>
            </a:r>
            <a:r>
              <a:rPr lang="en-US" sz="1400" dirty="0"/>
              <a:t>using destructive </a:t>
            </a:r>
            <a:r>
              <a:rPr lang="en-US" sz="1400" dirty="0" smtClean="0"/>
              <a:t>preparers </a:t>
            </a:r>
            <a:r>
              <a:rPr lang="en-US" sz="1400" dirty="0"/>
              <a:t>should be used sensibly and only after search steps based on conventional </a:t>
            </a:r>
            <a:r>
              <a:rPr lang="en-US" sz="1400" dirty="0" smtClean="0"/>
              <a:t>preparers </a:t>
            </a:r>
            <a:r>
              <a:rPr lang="en-US" sz="1400" dirty="0"/>
              <a:t>to fill the gaps caused by misspellings</a:t>
            </a:r>
            <a:r>
              <a:rPr lang="en-US" sz="1400" dirty="0" smtClean="0"/>
              <a:t>. </a:t>
            </a:r>
            <a:endParaRPr lang="en-US" sz="1400" dirty="0"/>
          </a:p>
        </p:txBody>
      </p:sp>
    </p:spTree>
    <p:extLst>
      <p:ext uri="{BB962C8B-B14F-4D97-AF65-F5344CB8AC3E}">
        <p14:creationId xmlns:p14="http://schemas.microsoft.com/office/powerpoint/2010/main" val="423771705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Smoothing &amp; Accentuating of the </a:t>
            </a:r>
            <a:r>
              <a:rPr lang="en-US" dirty="0" err="1" smtClean="0"/>
              <a:t>rIP</a:t>
            </a:r>
            <a:endParaRPr lang="en-US"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dirty="0" smtClean="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dirty="0" smtClean="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sp>
        <p:nvSpPr>
          <p:cNvPr id="4" name="Foliennummernplatzhalter 3"/>
          <p:cNvSpPr>
            <a:spLocks noGrp="1"/>
          </p:cNvSpPr>
          <p:nvPr>
            <p:ph type="sldNum" sz="quarter" idx="10"/>
          </p:nvPr>
        </p:nvSpPr>
        <p:spPr/>
        <p:txBody>
          <a:bodyPr/>
          <a:lstStyle/>
          <a:p>
            <a:fld id="{A29D8577-601D-4845-9C29-D9E13FE3E8DB}" type="slidenum">
              <a:rPr lang="en-US" smtClean="0"/>
              <a:pPr/>
              <a:t>17</a:t>
            </a:fld>
            <a:endParaRPr lang="en-US"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Smoothing &amp; Accentuating of the </a:t>
            </a:r>
            <a:r>
              <a:rPr lang="en-US" dirty="0" err="1"/>
              <a:t>rIP</a:t>
            </a:r>
            <a:endParaRPr lang="en-US"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dirty="0" smtClean="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dirty="0" smtClean="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dirty="0" err="1" smtClean="0">
                <a:solidFill>
                  <a:srgbClr val="00AAE5"/>
                </a:solidFill>
                <a:latin typeface="Calibri" panose="020F0502020204030204" pitchFamily="34" charset="0"/>
              </a:rPr>
              <a:t>softmax</a:t>
            </a:r>
            <a:r>
              <a:rPr lang="en-US" sz="1200" dirty="0" smtClean="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dirty="0">
                <a:solidFill>
                  <a:srgbClr val="00AAE5"/>
                </a:solidFill>
                <a:latin typeface="Calibri" panose="020F0502020204030204" pitchFamily="34" charset="0"/>
              </a:rPr>
              <a:t>o</a:t>
            </a:r>
            <a:r>
              <a:rPr lang="en-US" sz="1200" dirty="0" smtClean="0">
                <a:solidFill>
                  <a:srgbClr val="00AAE5"/>
                </a:solidFill>
                <a:latin typeface="Calibri" panose="020F0502020204030204" pitchFamily="34" charset="0"/>
              </a:rPr>
              <a:t>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dirty="0" smtClean="0"/>
              <a:t>high recall, moderate precision</a:t>
            </a:r>
            <a:endParaRPr lang="en-US" sz="1200" dirty="0"/>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dirty="0" smtClean="0"/>
              <a:t>high precision, moderate recall</a:t>
            </a:r>
            <a:endParaRPr lang="en-US" sz="1200" dirty="0"/>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dirty="0" smtClean="0"/>
                  <a:t>experimental, keyword clustering for abstracts &amp; </a:t>
                </a:r>
                <a:r>
                  <a:rPr lang="en-US" sz="1200" dirty="0"/>
                  <a:t>titles</a:t>
                </a:r>
                <a:br>
                  <a:rPr lang="en-US" sz="1200" dirty="0"/>
                </a:br>
                <a:r>
                  <a:rPr lang="en-US" sz="1200" dirty="0"/>
                  <a:t>0 </a:t>
                </a:r>
                <a:r>
                  <a:rPr lang="en-US" sz="1200" dirty="0" smtClean="0"/>
                  <a:t>&lt; 𝑠𝑜𝑓𝑡𝑚𝑎𝑥 ≤ 1.5 </a:t>
                </a:r>
                <a:r>
                  <a:rPr lang="en-US" sz="1200" dirty="0"/>
                  <a:t>: </a:t>
                </a:r>
                <a:r>
                  <a:rPr lang="en-US" sz="1200" dirty="0" smtClean="0"/>
                  <a:t>smoothing (</a:t>
                </a:r>
                <a14:m>
                  <m:oMath xmlns:m="http://schemas.openxmlformats.org/officeDocument/2006/math">
                    <m:r>
                      <a:rPr lang="de-DE" sz="1200" b="0" i="0" smtClean="0">
                        <a:latin typeface="Cambria Math" panose="02040503050406030204" pitchFamily="18" charset="0"/>
                        <a:ea typeface="Cambria Math" panose="02040503050406030204" pitchFamily="18" charset="0"/>
                      </a:rPr>
                      <m:t>0.5</m:t>
                    </m:r>
                    <m:r>
                      <a:rPr lang="en-US" sz="1200" i="1" smtClean="0">
                        <a:latin typeface="Cambria Math" panose="02040503050406030204" pitchFamily="18" charset="0"/>
                        <a:ea typeface="Cambria Math" panose="02040503050406030204" pitchFamily="18" charset="0"/>
                      </a:rPr>
                      <m:t>≈</m:t>
                    </m:r>
                  </m:oMath>
                </a14:m>
                <a:r>
                  <a:rPr lang="en-US" sz="1200" dirty="0" smtClean="0"/>
                  <a:t> log) </a:t>
                </a:r>
                <a:endParaRPr lang="en-US" sz="1200" dirty="0"/>
              </a:p>
              <a:p>
                <a:r>
                  <a:rPr lang="en-US" sz="1200" dirty="0" smtClean="0"/>
                  <a:t>1.5 </a:t>
                </a:r>
                <a:r>
                  <a:rPr lang="en-US" sz="1200" dirty="0"/>
                  <a:t>&lt; 𝑠𝑜𝑓𝑡𝑚𝑎𝑥 </a:t>
                </a:r>
                <a:r>
                  <a:rPr lang="en-US" sz="1200" dirty="0" smtClean="0"/>
                  <a:t>≤ 30 </a:t>
                </a:r>
                <a:r>
                  <a:rPr lang="en-US" sz="1200" dirty="0"/>
                  <a:t>: accentuating</a:t>
                </a:r>
              </a:p>
              <a:p>
                <a:endParaRPr lang="en-US" sz="120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rotWithShape="0">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dirty="0" smtClean="0"/>
              <a:t>transformation into word based heuristic, outdated by log</a:t>
            </a:r>
            <a:endParaRPr lang="en-US" sz="1200"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18</a:t>
            </a:fld>
            <a:endParaRPr lang="en-US" dirty="0"/>
          </a:p>
        </p:txBody>
      </p:sp>
    </p:spTree>
    <p:extLst>
      <p:ext uri="{BB962C8B-B14F-4D97-AF65-F5344CB8AC3E}">
        <p14:creationId xmlns:p14="http://schemas.microsoft.com/office/powerpoint/2010/main" val="429380883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dirty="0" smtClean="0">
                <a:solidFill>
                  <a:srgbClr val="00AAE5"/>
                </a:solidFill>
              </a:rPr>
              <a:t>3-Gram</a:t>
            </a:r>
            <a:r>
              <a:rPr lang="en-US" dirty="0" smtClean="0"/>
              <a:t> Search for “</a:t>
            </a:r>
            <a:r>
              <a:rPr lang="en-US" dirty="0" err="1" smtClean="0"/>
              <a:t>Blaupause</a:t>
            </a:r>
            <a:r>
              <a:rPr lang="en-US" dirty="0" smtClean="0"/>
              <a:t>” with Log-Smoothing </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19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4161469262"/>
              </p:ext>
            </p:extLst>
          </p:nvPr>
        </p:nvGraphicFramePr>
        <p:xfrm>
          <a:off x="180000" y="612000"/>
          <a:ext cx="5892800" cy="3810000"/>
        </p:xfrm>
        <a:graphic>
          <a:graphicData uri="http://schemas.openxmlformats.org/drawingml/2006/table">
            <a:tbl>
              <a:tblPr/>
              <a:tblGrid>
                <a:gridCol w="533113"/>
                <a:gridCol w="5359687"/>
              </a:tblGrid>
              <a:tr h="190500">
                <a:tc>
                  <a:txBody>
                    <a:bodyPr/>
                    <a:lstStyle/>
                    <a:p>
                      <a:pPr algn="l"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smtClean="0">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Bootsbau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Projekt 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Alexander Schilder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e.V. - mobile und flexible Hilfen für Menschen mit einer Alkoholerkrankung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Blaupause - Initiative für mentale Gesundheit im Gesundheitswesen e.V.</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Jens Naumann Jan Welsch Blaupause GbR</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Agentur Blaupause 36 UG</a:t>
                      </a: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1311284189"/>
              </p:ext>
            </p:extLst>
          </p:nvPr>
        </p:nvGraphicFramePr>
        <p:xfrm>
          <a:off x="5936563" y="612000"/>
          <a:ext cx="6012000" cy="3810000"/>
        </p:xfrm>
        <a:graphic>
          <a:graphicData uri="http://schemas.openxmlformats.org/drawingml/2006/table">
            <a:tbl>
              <a:tblPr/>
              <a:tblGrid>
                <a:gridCol w="612000"/>
                <a:gridCol w="5400000"/>
              </a:tblGrid>
              <a:tr h="190500">
                <a:tc>
                  <a:txBody>
                    <a:bodyPr/>
                    <a:lstStyle/>
                    <a:p>
                      <a:pPr algn="r" fontAlgn="b"/>
                      <a:r>
                        <a:rPr lang="de-DE" sz="1100" b="0" i="0" u="none" strike="noStrike" dirty="0" err="1">
                          <a:solidFill>
                            <a:srgbClr val="000000"/>
                          </a:solidFill>
                          <a:effectLst/>
                          <a:latin typeface="Calibri" panose="020F0502020204030204" pitchFamily="34" charset="0"/>
                        </a:rPr>
                        <a:t>identity</a:t>
                      </a:r>
                      <a:endParaRPr lang="de-DE" sz="1100" b="0" i="0" u="none" strike="noStrike" dirty="0">
                        <a:solidFill>
                          <a:srgbClr val="000000"/>
                        </a:solidFill>
                        <a:effectLst/>
                        <a:latin typeface="Calibri" panose="020F0502020204030204" pitchFamily="34" charset="0"/>
                      </a:endParaRP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Bootsbau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dirty="0" err="1">
                          <a:solidFill>
                            <a:srgbClr val="000000"/>
                          </a:solidFill>
                          <a:effectLst/>
                          <a:latin typeface="Calibri" panose="020F0502020204030204" pitchFamily="34" charset="0"/>
                        </a:rPr>
                        <a:t>Blaupause</a:t>
                      </a:r>
                      <a:r>
                        <a:rPr lang="en-US" sz="1100" b="0" i="0" u="none" strike="noStrike" dirty="0">
                          <a:solidFill>
                            <a:srgbClr val="000000"/>
                          </a:solidFill>
                          <a:effectLst/>
                          <a:latin typeface="Calibri" panose="020F0502020204030204" pitchFamily="34" charset="0"/>
                        </a:rPr>
                        <a:t> </a:t>
                      </a:r>
                      <a:r>
                        <a:rPr lang="en-US" sz="1100" b="0" i="0" u="none" strike="noStrike" dirty="0" err="1">
                          <a:solidFill>
                            <a:srgbClr val="000000"/>
                          </a:solidFill>
                          <a:effectLst/>
                          <a:latin typeface="Calibri" panose="020F0502020204030204" pitchFamily="34" charset="0"/>
                        </a:rPr>
                        <a:t>KfK</a:t>
                      </a:r>
                      <a:r>
                        <a:rPr lang="en-US" sz="1100" b="0" i="0" u="none" strike="noStrike"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Projekt Blaupause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Alexander Schilder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e.V. - mobile und flexible Hilfen für Menschen mit einer Alkoholerkrankung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 Initiative für mentale Gesundheit im Gesundheitswesen e.V.</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UG Die Agentur für mehr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Blaupause </a:t>
                      </a:r>
                      <a:r>
                        <a:rPr lang="de-DE" sz="1100" b="0" i="0" u="none" strike="noStrike" dirty="0" err="1">
                          <a:solidFill>
                            <a:srgbClr val="000000"/>
                          </a:solidFill>
                          <a:effectLst/>
                          <a:latin typeface="Calibri" panose="020F0502020204030204" pitchFamily="34" charset="0"/>
                        </a:rPr>
                        <a:t>Interior</a:t>
                      </a:r>
                      <a:r>
                        <a:rPr lang="de-DE" sz="1100" b="0" i="0" u="none" strike="noStrike" dirty="0">
                          <a:solidFill>
                            <a:srgbClr val="000000"/>
                          </a:solidFill>
                          <a:effectLst/>
                          <a:latin typeface="Calibri" panose="020F0502020204030204" pitchFamily="34" charset="0"/>
                        </a:rPr>
                        <a:t> Design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und Lena </a:t>
                      </a:r>
                      <a:r>
                        <a:rPr lang="de-DE" sz="1100" b="0" i="0" u="none" strike="noStrike" dirty="0" err="1">
                          <a:solidFill>
                            <a:srgbClr val="000000"/>
                          </a:solidFill>
                          <a:effectLst/>
                          <a:latin typeface="Calibri" panose="020F0502020204030204" pitchFamily="34" charset="0"/>
                        </a:rPr>
                        <a:t>Dreesmann</a:t>
                      </a:r>
                      <a:r>
                        <a:rPr lang="de-DE" sz="1100" b="0" i="0" u="none" strike="noStrike" dirty="0">
                          <a:solidFill>
                            <a:srgbClr val="000000"/>
                          </a:solidFill>
                          <a:effectLst/>
                          <a:latin typeface="Calibri" panose="020F0502020204030204" pitchFamily="34" charset="0"/>
                        </a:rPr>
                        <a:t> GbR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Anja Thomä Blaupause </a:t>
                      </a:r>
                      <a:r>
                        <a:rPr lang="de-DE" sz="1100" b="0" i="0" u="none" strike="noStrike" dirty="0" err="1">
                          <a:solidFill>
                            <a:srgbClr val="000000"/>
                          </a:solidFill>
                          <a:effectLst/>
                          <a:latin typeface="Calibri" panose="020F0502020204030204" pitchFamily="34" charset="0"/>
                        </a:rPr>
                        <a:t>papeterie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Barnimer</a:t>
                      </a:r>
                      <a:r>
                        <a:rPr lang="de-DE" sz="1100" b="0" i="0" u="none" strike="noStrike" dirty="0">
                          <a:solidFill>
                            <a:srgbClr val="000000"/>
                          </a:solidFill>
                          <a:effectLst/>
                          <a:latin typeface="Calibri" panose="020F0502020204030204" pitchFamily="34" charset="0"/>
                        </a:rPr>
                        <a:t> Alternative e.V. Jugendclub Blaupause</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Jens Naumann Jan Welsch Blaupause GbR</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Agentur Blaupause 36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Heike Hartung </a:t>
                      </a:r>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endParaRPr lang="de-DE" sz="1100" b="0" i="0" u="none" strike="noStrike"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FF0000"/>
                          </a:solidFill>
                          <a:effectLst/>
                          <a:latin typeface="Calibri" panose="020F0502020204030204" pitchFamily="34" charset="0"/>
                        </a:rPr>
                        <a:t>P</a:t>
                      </a:r>
                      <a:r>
                        <a:rPr lang="de-DE" sz="1100" b="0" i="0" u="none" strike="noStrike" dirty="0" err="1">
                          <a:solidFill>
                            <a:srgbClr val="000000"/>
                          </a:solidFill>
                          <a:effectLst/>
                          <a:latin typeface="Calibri" panose="020F0502020204030204" pitchFamily="34" charset="0"/>
                        </a:rPr>
                        <a:t>laupause</a:t>
                      </a:r>
                      <a:r>
                        <a:rPr lang="de-DE" sz="1100" b="0" i="0" u="none" strike="noStrike" dirty="0">
                          <a:solidFill>
                            <a:srgbClr val="000000"/>
                          </a:solidFill>
                          <a:effectLst/>
                          <a:latin typeface="Calibri" panose="020F0502020204030204" pitchFamily="34" charset="0"/>
                        </a:rPr>
                        <a:t> - Bistro &amp; </a:t>
                      </a:r>
                      <a:r>
                        <a:rPr lang="de-DE" sz="1100" b="0" i="0" u="none" strike="noStrike" dirty="0" err="1">
                          <a:solidFill>
                            <a:srgbClr val="000000"/>
                          </a:solidFill>
                          <a:effectLst/>
                          <a:latin typeface="Calibri" panose="020F0502020204030204" pitchFamily="34" charset="0"/>
                        </a:rPr>
                        <a:t>Spätshop</a:t>
                      </a:r>
                      <a:r>
                        <a:rPr lang="de-DE" sz="1100" b="0" i="0" u="none" strike="noStrike"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Martin Alexander Rieger Blaupause</a:t>
                      </a:r>
                      <a:r>
                        <a:rPr lang="de-DE" sz="1100" b="0" i="0" u="none" strike="noStrike" dirty="0">
                          <a:solidFill>
                            <a:srgbClr val="FF0000"/>
                          </a:solidFill>
                          <a:effectLst/>
                          <a:latin typeface="Calibri" panose="020F0502020204030204" pitchFamily="34" charset="0"/>
                        </a:rPr>
                        <a:t>n</a:t>
                      </a:r>
                      <a:r>
                        <a:rPr lang="de-DE" sz="1100" b="0" i="0" u="none" strike="noStrike" dirty="0">
                          <a:solidFill>
                            <a:srgbClr val="000000"/>
                          </a:solidFill>
                          <a:effectLst/>
                          <a:latin typeface="Calibri" panose="020F0502020204030204" pitchFamily="34" charset="0"/>
                        </a:rPr>
                        <a:t> Medien Multimediaagentur</a:t>
                      </a:r>
                    </a:p>
                  </a:txBody>
                  <a:tcPr marL="72000" marR="72000" marT="0" marB="0" anchor="b">
                    <a:lnL>
                      <a:noFill/>
                    </a:lnL>
                    <a:lnR>
                      <a:noFill/>
                    </a:lnR>
                    <a:lnT>
                      <a:noFill/>
                    </a:lnT>
                    <a:lnB>
                      <a:noFill/>
                    </a:lnB>
                  </a:tcPr>
                </a:tc>
              </a:tr>
              <a:tr h="190500">
                <a:tc>
                  <a:txBody>
                    <a:bodyPr/>
                    <a:lstStyle/>
                    <a:p>
                      <a:pPr algn="r" fontAlgn="b"/>
                      <a:r>
                        <a:rPr lang="de-DE" sz="1100" b="0" i="0" u="none" strike="noStrike">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Zeichenbüro </a:t>
                      </a:r>
                      <a:r>
                        <a:rPr lang="de-DE" sz="1100" b="0" i="0" u="none" strike="noStrike" dirty="0" err="1">
                          <a:solidFill>
                            <a:srgbClr val="000000"/>
                          </a:solidFill>
                          <a:effectLst/>
                          <a:latin typeface="Calibri" panose="020F0502020204030204" pitchFamily="34" charset="0"/>
                        </a:rPr>
                        <a:t>e.U</a:t>
                      </a:r>
                      <a:r>
                        <a:rPr lang="de-DE" sz="1100" b="0" i="0" u="none" strike="noStrike"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tr>
              <a:tr h="190500">
                <a:tc>
                  <a:txBody>
                    <a:bodyPr/>
                    <a:lstStyle/>
                    <a:p>
                      <a:pPr algn="r" fontAlgn="b"/>
                      <a:r>
                        <a:rPr lang="de-DE" sz="1100" b="0" i="0" u="none" strike="noStrike"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Blaupause</a:t>
                      </a:r>
                      <a:r>
                        <a:rPr lang="de-DE" sz="1100" b="0" i="0" u="none" strike="noStrike" dirty="0" err="1">
                          <a:solidFill>
                            <a:srgbClr val="FF0000"/>
                          </a:solidFill>
                          <a:effectLst/>
                          <a:latin typeface="Calibri" panose="020F0502020204030204" pitchFamily="34" charset="0"/>
                        </a:rPr>
                        <a:t>r</a:t>
                      </a:r>
                      <a:r>
                        <a:rPr lang="de-DE" sz="1100" b="0" i="0" u="none" strike="noStrike" dirty="0">
                          <a:solidFill>
                            <a:srgbClr val="000000"/>
                          </a:solidFill>
                          <a:effectLst/>
                          <a:latin typeface="Calibri" panose="020F0502020204030204" pitchFamily="34" charset="0"/>
                        </a:rPr>
                        <a:t> Projektentwicklung GmbH</a:t>
                      </a:r>
                    </a:p>
                  </a:txBody>
                  <a:tcPr marL="72000" marR="72000" marT="0" marB="0" anchor="b">
                    <a:lnL>
                      <a:noFill/>
                    </a:lnL>
                    <a:lnR>
                      <a:noFill/>
                    </a:lnR>
                    <a:lnT>
                      <a:noFill/>
                    </a:lnT>
                    <a:lnB>
                      <a:noFill/>
                    </a:lnB>
                  </a:tcPr>
                </a:tc>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dirty="0" smtClean="0"/>
              <a:t>Why should “UPA” be much more relevant then “BLA”? Log-smoothing </a:t>
            </a:r>
            <a:r>
              <a:rPr lang="en-US" sz="1400" dirty="0"/>
              <a:t>suppresses the undeserved dominance of specific n-grams</a:t>
            </a:r>
            <a:r>
              <a:rPr lang="en-US" sz="1400" dirty="0" smtClean="0"/>
              <a:t>.</a:t>
            </a:r>
          </a:p>
          <a:p>
            <a:r>
              <a:rPr lang="en-US" sz="1400" dirty="0" smtClean="0"/>
              <a:t>Still, refinement should always be engaged for n-grams because the </a:t>
            </a:r>
            <a:r>
              <a:rPr lang="en-US" sz="1400" dirty="0" err="1" smtClean="0"/>
              <a:t>SearchEngine</a:t>
            </a:r>
            <a:r>
              <a:rPr lang="en-US" sz="1400" dirty="0" smtClean="0"/>
              <a:t> notoriously disregards positioning.</a:t>
            </a:r>
            <a:br>
              <a:rPr lang="en-US" sz="1400" dirty="0" smtClean="0"/>
            </a:br>
            <a:r>
              <a:rPr lang="en-US" sz="1400" dirty="0" smtClean="0"/>
              <a:t>N-grams with and without smoothing complement each other, hence alternate both in dedicated search runs for best effect.</a:t>
            </a:r>
            <a:endParaRPr lang="en-US" sz="1400" dirty="0"/>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smtClean="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All candidates have to be accepted due to ambiguous firm identification (</a:t>
            </a:r>
            <a:r>
              <a:rPr lang="en-US" sz="1400" strike="sngStrike" kern="0" dirty="0" err="1" smtClean="0">
                <a:solidFill>
                  <a:srgbClr val="00AAE5"/>
                </a:solidFill>
              </a:rPr>
              <a:t>darwininan</a:t>
            </a:r>
            <a:r>
              <a:rPr lang="en-US" sz="1400" kern="0" dirty="0" smtClean="0">
                <a:solidFill>
                  <a:srgbClr val="000000"/>
                </a:solidFill>
              </a:rPr>
              <a:t>)</a:t>
            </a:r>
            <a:r>
              <a:rPr lang="en-US" sz="1400" kern="0" noProof="0" dirty="0" smtClean="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dirty="0" smtClean="0">
                <a:ln>
                  <a:noFill/>
                </a:ln>
                <a:solidFill>
                  <a:srgbClr val="00AAE5"/>
                </a:solidFill>
                <a:effectLst/>
                <a:uLnTx/>
                <a:uFillTx/>
              </a:rPr>
              <a:t>Containment</a:t>
            </a:r>
            <a:r>
              <a:rPr kumimoji="0" lang="en-US" sz="1400" b="0" i="0" u="none" strike="noStrike" kern="0" cap="none" spc="0" normalizeH="0" baseline="0" dirty="0" smtClean="0">
                <a:ln>
                  <a:noFill/>
                </a:ln>
                <a:solidFill>
                  <a:srgbClr val="000000"/>
                </a:solidFill>
                <a:effectLst/>
                <a:uLnTx/>
                <a:uFillTx/>
              </a:rPr>
              <a:t>: loose/none, difficult to assess</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Merging</a:t>
            </a:r>
            <a:r>
              <a:rPr kumimoji="0" lang="en-US" sz="1400" b="0" i="0" u="none" strike="noStrike" kern="0" cap="none" spc="0" normalizeH="0" baseline="0" noProof="0" dirty="0" smtClean="0">
                <a:ln>
                  <a:noFill/>
                </a:ln>
                <a:solidFill>
                  <a:srgbClr val="000000"/>
                </a:solidFill>
                <a:effectLst/>
                <a:uLnTx/>
                <a:uFillTx/>
              </a:rPr>
              <a:t>: candidate list of subsequent search runs have to be merged</a:t>
            </a:r>
            <a:r>
              <a:rPr kumimoji="0" lang="en-US" sz="1400" b="0" i="0" u="none" strike="noStrike" kern="0" cap="none" spc="0" normalizeH="0" noProof="0" dirty="0" smtClean="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dirty="0" smtClean="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a:t>
            </a:r>
            <a:r>
              <a:rPr kumimoji="0" lang="en-US" sz="1400" b="0" i="0" u="none" strike="noStrike" kern="0" cap="none" spc="0" normalizeH="0" noProof="0" dirty="0" smtClean="0">
                <a:ln>
                  <a:noFill/>
                </a:ln>
                <a:solidFill>
                  <a:srgbClr val="000000"/>
                </a:solidFill>
                <a:effectLst/>
                <a:uLnTx/>
                <a:uFillTx/>
              </a:rPr>
              <a:t> false positives with moderate accuracy</a:t>
            </a:r>
            <a:r>
              <a:rPr kumimoji="0" lang="en-US" sz="1400" b="0" i="0" u="none" strike="noStrike" kern="0" cap="none" spc="0" normalizeH="0" baseline="0" noProof="0" dirty="0" smtClean="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smtClean="0"/>
              <a:pPr/>
              <a:t>20</a:t>
            </a:fld>
            <a:endParaRPr lang="en-US"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dirty="0" smtClean="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smtClean="0">
                <a:ln>
                  <a:noFill/>
                </a:ln>
                <a:solidFill>
                  <a:srgbClr val="000000"/>
                </a:solidFill>
                <a:effectLst/>
                <a:uLnTx/>
                <a:uFillTx/>
              </a:rPr>
              <a:t>Unrelated</a:t>
            </a:r>
            <a:r>
              <a:rPr kumimoji="0" lang="en-US" sz="1400" b="0" i="0" u="none" strike="noStrike" kern="0" cap="none" spc="0" normalizeH="0" noProof="0" dirty="0" smtClean="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dirty="0" smtClean="0">
                <a:solidFill>
                  <a:srgbClr val="000000"/>
                </a:solidFill>
              </a:rPr>
              <a:t>No</a:t>
            </a:r>
            <a:r>
              <a:rPr lang="en-US" sz="1400" kern="0" dirty="0" smtClean="0">
                <a:solidFill>
                  <a:srgbClr val="000000"/>
                </a:solidFill>
              </a:rPr>
              <a:t> focus at all, i.e. scraped web data</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dirty="0" smtClean="0">
                <a:solidFill>
                  <a:srgbClr val="000000"/>
                </a:solidFill>
              </a:rPr>
              <a:t>May not be suited as search table because additional</a:t>
            </a:r>
            <a:r>
              <a:rPr kumimoji="0" lang="en-US" sz="1400" b="0" i="0" u="none" strike="noStrike" kern="0" cap="none" spc="0" normalizeH="0" noProof="0" dirty="0" smtClean="0">
                <a:ln>
                  <a:noFill/>
                </a:ln>
                <a:solidFill>
                  <a:srgbClr val="000000"/>
                </a:solidFill>
                <a:effectLst/>
                <a:uLnTx/>
                <a:uFillTx/>
              </a:rPr>
              <a:t> </a:t>
            </a:r>
            <a:r>
              <a:rPr lang="en-US" sz="1400" kern="0" dirty="0" smtClean="0">
                <a:solidFill>
                  <a:srgbClr val="000000"/>
                </a:solidFill>
              </a:rPr>
              <a:t>n</a:t>
            </a:r>
            <a:r>
              <a:rPr kumimoji="0" lang="en-US" sz="1400" b="0" i="0" u="none" strike="noStrike" kern="0" cap="none" spc="0" normalizeH="0" noProof="0" dirty="0" err="1" smtClean="0">
                <a:ln>
                  <a:noFill/>
                </a:ln>
                <a:solidFill>
                  <a:srgbClr val="000000"/>
                </a:solidFill>
                <a:effectLst/>
                <a:uLnTx/>
                <a:uFillTx/>
              </a:rPr>
              <a:t>oise</a:t>
            </a:r>
            <a:r>
              <a:rPr kumimoji="0" lang="en-US" sz="1400" b="0" i="0" u="none" strike="noStrike" kern="0" cap="none" spc="0" normalizeH="0" noProof="0" dirty="0" smtClean="0">
                <a:ln>
                  <a:noFill/>
                </a:ln>
                <a:solidFill>
                  <a:srgbClr val="000000"/>
                </a:solidFill>
                <a:effectLst/>
                <a:uLnTx/>
                <a:uFillTx/>
              </a:rPr>
              <a:t>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Data provider focused on search context</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Sound entity definition: </a:t>
            </a:r>
            <a:r>
              <a:rPr lang="en-US" sz="1400" kern="0" dirty="0">
                <a:solidFill>
                  <a:srgbClr val="000000"/>
                </a:solidFill>
              </a:rPr>
              <a:t>f</a:t>
            </a:r>
            <a:r>
              <a:rPr kumimoji="0" lang="en-US" sz="1400" b="0" i="0" u="none" strike="noStrike" kern="0" cap="none" spc="0" normalizeH="0" baseline="0" noProof="0" dirty="0" err="1" smtClean="0">
                <a:ln>
                  <a:noFill/>
                </a:ln>
                <a:solidFill>
                  <a:srgbClr val="000000"/>
                </a:solidFill>
                <a:effectLst/>
                <a:uLnTx/>
                <a:uFillTx/>
              </a:rPr>
              <a:t>irms</a:t>
            </a:r>
            <a:r>
              <a:rPr kumimoji="0" lang="en-US" sz="1400" b="0" i="0" u="none" strike="noStrike" kern="0" cap="none" spc="0" normalizeH="0" baseline="0" noProof="0" dirty="0" smtClean="0">
                <a:ln>
                  <a:noFill/>
                </a:ln>
                <a:solidFill>
                  <a:srgbClr val="000000"/>
                </a:solidFill>
                <a:effectLst/>
                <a:uLnTx/>
                <a:uFillTx/>
              </a:rPr>
              <a:t> have a dedicated key, i.e. </a:t>
            </a:r>
            <a:r>
              <a:rPr kumimoji="0" lang="en-US" sz="1400" b="0" i="0" u="none" strike="noStrike" kern="0" cap="none" spc="0" normalizeH="0" baseline="0" noProof="0" dirty="0" err="1" smtClean="0">
                <a:ln>
                  <a:noFill/>
                </a:ln>
                <a:solidFill>
                  <a:srgbClr val="000000"/>
                </a:solidFill>
                <a:effectLst/>
                <a:uLnTx/>
                <a:uFillTx/>
              </a:rPr>
              <a:t>bvdid</a:t>
            </a:r>
            <a:r>
              <a:rPr kumimoji="0" lang="en-US" sz="1400" b="0" i="0" u="none" strike="noStrike" kern="0" cap="none" spc="0" normalizeH="0" baseline="0" noProof="0" dirty="0" smtClean="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0000"/>
                </a:solidFill>
              </a:rPr>
              <a:t>Clean names and addresses without clutter </a:t>
            </a:r>
            <a:endParaRPr kumimoji="0" lang="en-US" sz="1400" b="0" i="0" u="none" strike="noStrike" kern="0" cap="none" spc="0" normalizeH="0" baseline="0" noProof="0" dirty="0" smtClean="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err="1" smtClean="0">
                <a:ln>
                  <a:noFill/>
                </a:ln>
                <a:solidFill>
                  <a:srgbClr val="000000"/>
                </a:solidFill>
                <a:effectLst/>
                <a:uLnTx/>
                <a:uFillTx/>
              </a:rPr>
              <a:t>Orbis</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Compustat</a:t>
            </a:r>
            <a:r>
              <a:rPr kumimoji="0" lang="en-US" sz="1400" b="0" i="0" u="none" strike="noStrike" kern="0" cap="none" spc="0" normalizeH="0" baseline="0" noProof="0" dirty="0" smtClean="0">
                <a:ln>
                  <a:noFill/>
                </a:ln>
                <a:solidFill>
                  <a:srgbClr val="000000"/>
                </a:solidFill>
                <a:effectLst/>
                <a:uLnTx/>
                <a:uFillTx/>
              </a:rPr>
              <a:t>, </a:t>
            </a:r>
            <a:r>
              <a:rPr kumimoji="0" lang="en-US" sz="1400" b="0" i="0" u="none" strike="noStrike" kern="0" cap="none" spc="0" normalizeH="0" baseline="0" noProof="0" dirty="0" err="1" smtClean="0">
                <a:ln>
                  <a:noFill/>
                </a:ln>
                <a:solidFill>
                  <a:srgbClr val="000000"/>
                </a:solidFill>
                <a:effectLst/>
                <a:uLnTx/>
                <a:uFillTx/>
              </a:rPr>
              <a:t>creditreform</a:t>
            </a:r>
            <a:r>
              <a:rPr kumimoji="0" lang="en-US" sz="1400" b="0" i="0" u="none" strike="noStrike" kern="0" cap="none" spc="0" normalizeH="0" baseline="0" noProof="0" dirty="0" smtClean="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solidFill>
                  <a:srgbClr val="BADA15"/>
                </a:solidFill>
                <a:effectLst/>
                <a:uLnTx/>
                <a:uFillTx/>
                <a:latin typeface="Calibri"/>
                <a:ea typeface="+mj-ea"/>
                <a:cs typeface="+mj-cs"/>
              </a:rPr>
              <a:t>Unfocused Base Table</a:t>
            </a:r>
            <a:endParaRPr kumimoji="0" lang="en-US" sz="2400" b="0" i="0" u="none" strike="noStrike" kern="1200" cap="none" spc="0" normalizeH="0" baseline="0" noProof="0" dirty="0">
              <a:ln>
                <a:noFill/>
              </a:ln>
              <a:solidFill>
                <a:srgbClr val="BADA15"/>
              </a:solidFill>
              <a:effectLst/>
              <a:uLnTx/>
              <a:uFillTx/>
              <a:latin typeface="Calibri"/>
              <a:ea typeface="+mj-ea"/>
              <a:cs typeface="+mj-cs"/>
            </a:endParaRP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solidFill>
                  <a:srgbClr val="7CD2C6"/>
                </a:solidFill>
                <a:effectLst/>
                <a:uLnTx/>
                <a:uFillTx/>
                <a:latin typeface="Calibri"/>
                <a:ea typeface="+mj-ea"/>
                <a:cs typeface="+mj-cs"/>
              </a:rPr>
              <a:t>Focused Base Table</a:t>
            </a:r>
            <a:endParaRPr kumimoji="0" lang="en-US" sz="2400" b="0" i="0" u="none" strike="noStrike" kern="1200" cap="none" spc="0" normalizeH="0" baseline="0" noProof="0" dirty="0">
              <a:ln>
                <a:noFill/>
              </a:ln>
              <a:solidFill>
                <a:srgbClr val="7CD2C6"/>
              </a:solidFill>
              <a:effectLst/>
              <a:uLnTx/>
              <a:uFillTx/>
              <a:latin typeface="Calibri"/>
              <a:ea typeface="+mj-ea"/>
              <a:cs typeface="+mj-cs"/>
            </a:endParaRP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smtClean="0">
                <a:ln>
                  <a:noFill/>
                </a:ln>
                <a:effectLst/>
                <a:uLnTx/>
                <a:uFillTx/>
                <a:latin typeface="Calibri"/>
                <a:ea typeface="+mj-ea"/>
                <a:cs typeface="+mj-cs"/>
              </a:rPr>
              <a:t>vs.</a:t>
            </a:r>
            <a:endParaRPr kumimoji="0" lang="en-US" sz="2400" b="0" i="0" u="none" strike="noStrike" kern="1200" cap="none" spc="0" normalizeH="0" baseline="0" noProof="0" dirty="0">
              <a:ln>
                <a:noFill/>
              </a:ln>
              <a:effectLst/>
              <a:uLnTx/>
              <a:uFillTx/>
              <a:latin typeface="Calibri"/>
              <a:ea typeface="+mj-ea"/>
              <a:cs typeface="+mj-cs"/>
            </a:endParaRP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smtClean="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smtClean="0">
                <a:ln>
                  <a:noFill/>
                </a:ln>
                <a:solidFill>
                  <a:srgbClr val="000000"/>
                </a:solidFill>
                <a:effectLst/>
                <a:uLnTx/>
                <a:uFillTx/>
              </a:rPr>
              <a:t>Earlier runs</a:t>
            </a:r>
            <a:r>
              <a:rPr kumimoji="0" lang="en-US" sz="1400" b="0" i="0" u="none" strike="noStrike" kern="0" cap="none" spc="0" normalizeH="0" noProof="0" dirty="0" smtClean="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dirty="0" smtClean="0">
                <a:solidFill>
                  <a:srgbClr val="000000"/>
                </a:solidFill>
              </a:rPr>
              <a:t>Later runs increase recall</a:t>
            </a:r>
            <a:endParaRPr kumimoji="0" lang="en-US" sz="1400" b="0" i="0" u="none" strike="noStrike" kern="0" cap="none" spc="0" normalizeH="0" baseline="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Darwinian</a:t>
            </a:r>
            <a:r>
              <a:rPr kumimoji="0" lang="en-US" sz="1400" b="0" i="0" u="none" strike="noStrike" kern="0" cap="none" spc="0" normalizeH="0" baseline="0" noProof="0" dirty="0" smtClean="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dirty="0" smtClean="0">
                <a:solidFill>
                  <a:srgbClr val="00AAE5"/>
                </a:solidFill>
              </a:rPr>
              <a:t>Containment</a:t>
            </a:r>
            <a:r>
              <a:rPr lang="en-US" sz="1400" kern="0" dirty="0" smtClean="0">
                <a:solidFill>
                  <a:srgbClr val="000000"/>
                </a:solidFill>
              </a:rPr>
              <a:t>: tight, easy to assess</a:t>
            </a:r>
            <a:endParaRPr kumimoji="0" lang="en-US" sz="1400" b="0" i="0" u="none" strike="noStrike" kern="0" cap="none" spc="0" normalizeH="0" noProof="0" dirty="0" smtClean="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AAE5"/>
                </a:solidFill>
                <a:effectLst/>
                <a:uLnTx/>
                <a:uFillTx/>
              </a:rPr>
              <a:t>Completing</a:t>
            </a:r>
            <a:r>
              <a:rPr kumimoji="0" lang="en-US" sz="1400" b="0" i="0" u="none" strike="noStrike" kern="0" cap="none" spc="0" normalizeH="0" baseline="0" noProof="0" dirty="0" smtClean="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smtClean="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dirty="0" smtClean="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smtClean="0">
                <a:ln>
                  <a:noFill/>
                </a:ln>
                <a:solidFill>
                  <a:srgbClr val="00AAE5"/>
                </a:solidFill>
                <a:effectLst/>
                <a:uLnTx/>
                <a:uFillTx/>
              </a:rPr>
              <a:t>SEML</a:t>
            </a:r>
            <a:r>
              <a:rPr kumimoji="0" lang="en-US" sz="1400" b="0" i="0" u="none" strike="noStrike" kern="0" cap="none" spc="0" normalizeH="0" baseline="0" noProof="0" dirty="0" smtClean="0">
                <a:ln>
                  <a:noFill/>
                </a:ln>
                <a:solidFill>
                  <a:srgbClr val="000000"/>
                </a:solidFill>
                <a:effectLst/>
                <a:uLnTx/>
                <a:uFillTx/>
              </a:rPr>
              <a:t> identifies false</a:t>
            </a:r>
            <a:r>
              <a:rPr kumimoji="0" lang="en-US" sz="1400" b="0" i="0" u="none" strike="noStrike" kern="0" cap="none" spc="0" normalizeH="0" noProof="0" dirty="0" smtClean="0">
                <a:ln>
                  <a:noFill/>
                </a:ln>
                <a:solidFill>
                  <a:srgbClr val="000000"/>
                </a:solidFill>
                <a:effectLst/>
                <a:uLnTx/>
                <a:uFillTx/>
              </a:rPr>
              <a:t> positives with</a:t>
            </a:r>
            <a:r>
              <a:rPr kumimoji="0" lang="en-US" sz="1400" b="0" i="0" u="none" strike="noStrike" kern="0" cap="none" spc="0" normalizeH="0" baseline="0" noProof="0" dirty="0" smtClean="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smtClean="0"/>
              <a:pPr/>
              <a:t>21</a:t>
            </a:fld>
            <a:endParaRPr lang="en-US"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smtClean="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smtClean="0">
                <a:ln>
                  <a:noFill/>
                </a:ln>
                <a:effectLst/>
                <a:uLnTx/>
                <a:uFillTx/>
                <a:latin typeface="Calibri"/>
                <a:ea typeface="+mj-ea"/>
                <a:cs typeface="+mj-cs"/>
              </a:rPr>
              <a:t>Inverse Darwinian Cutoff</a:t>
            </a:r>
            <a:endParaRPr kumimoji="0" lang="en-US" sz="2400" b="0" i="0" u="none" strike="noStrike" kern="1200" cap="none" spc="0" normalizeH="0" baseline="0" noProof="0" dirty="0">
              <a:ln>
                <a:noFill/>
              </a:ln>
              <a:effectLst/>
              <a:uLnTx/>
              <a:uFillTx/>
              <a:latin typeface="Calibri"/>
              <a:ea typeface="+mj-ea"/>
              <a:cs typeface="+mj-cs"/>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dirty="0" smtClean="0"/>
              <a:t>If I have to match </a:t>
            </a:r>
            <a:r>
              <a:rPr lang="en-US" dirty="0" smtClean="0">
                <a:solidFill>
                  <a:srgbClr val="7AD0C4"/>
                </a:solidFill>
              </a:rPr>
              <a:t>focused</a:t>
            </a:r>
            <a:r>
              <a:rPr lang="en-US" dirty="0" smtClean="0"/>
              <a:t> with </a:t>
            </a:r>
            <a:r>
              <a:rPr lang="en-US" dirty="0" smtClean="0">
                <a:solidFill>
                  <a:srgbClr val="BADA15"/>
                </a:solidFill>
              </a:rPr>
              <a:t>unfocused</a:t>
            </a:r>
            <a:r>
              <a:rPr lang="en-US" dirty="0" smtClean="0"/>
              <a:t> data,</a:t>
            </a:r>
          </a:p>
          <a:p>
            <a:r>
              <a:rPr lang="en-US" dirty="0" smtClean="0"/>
              <a:t>why </a:t>
            </a:r>
            <a:r>
              <a:rPr lang="en-US" dirty="0"/>
              <a:t>on earth should I use </a:t>
            </a:r>
            <a:r>
              <a:rPr lang="en-US" dirty="0" smtClean="0"/>
              <a:t>the </a:t>
            </a:r>
            <a:r>
              <a:rPr lang="en-US" dirty="0" smtClean="0">
                <a:solidFill>
                  <a:srgbClr val="BADA15"/>
                </a:solidFill>
              </a:rPr>
              <a:t>unfocused</a:t>
            </a:r>
            <a:r>
              <a:rPr lang="en-US" dirty="0" smtClean="0"/>
              <a:t> </a:t>
            </a:r>
            <a:r>
              <a:rPr lang="en-US" dirty="0"/>
              <a:t>data as base table</a:t>
            </a:r>
            <a:r>
              <a:rPr lang="en-US" dirty="0" smtClean="0"/>
              <a:t>?</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dirty="0" smtClean="0"/>
              <a:t>noise </a:t>
            </a:r>
            <a:r>
              <a:rPr lang="de-DE" sz="1400" dirty="0" smtClean="0"/>
              <a:t>[</a:t>
            </a:r>
            <a:r>
              <a:rPr lang="de-DE" sz="1400" dirty="0" err="1" smtClean="0"/>
              <a:t>nɔɪz</a:t>
            </a:r>
            <a:r>
              <a:rPr lang="de-DE" sz="1400" dirty="0" smtClean="0"/>
              <a:t>]</a:t>
            </a:r>
          </a:p>
          <a:p>
            <a:pPr marL="216000"/>
            <a:r>
              <a:rPr lang="en-US" sz="1400" i="1" dirty="0"/>
              <a:t>random fluctuations that obscure or do not contain meaningful data or other information</a:t>
            </a:r>
            <a:r>
              <a:rPr lang="de-DE" sz="1400" i="1" dirty="0" smtClean="0"/>
              <a:t>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dirty="0">
                <a:solidFill>
                  <a:prstClr val="black"/>
                </a:solidFill>
              </a:rPr>
              <a:t>In the context of firm data this means additional words like departments, location information, marketing fluff, blurry field contexts (address ↔ firm name) etc</a:t>
            </a:r>
            <a:r>
              <a:rPr lang="en-US" sz="1400" dirty="0" smtClean="0">
                <a:solidFill>
                  <a:prstClr val="black"/>
                </a:solidFill>
              </a:rPr>
              <a:t>. drown the definition of the entity in noise.</a:t>
            </a:r>
            <a:endParaRPr lang="en-US" sz="1400" dirty="0">
              <a:solidFill>
                <a:prstClr val="black"/>
              </a:solidFill>
            </a:endParaRPr>
          </a:p>
          <a:p>
            <a:pPr lvl="0"/>
            <a:r>
              <a:rPr lang="en-US" sz="1400" dirty="0">
                <a:solidFill>
                  <a:prstClr val="black"/>
                </a:solidFill>
              </a:rPr>
              <a:t>Noisy data is just not suitable as Search Table; thus, it has to become the Base Table as additional clutter has no immediate effect on retrieval. The perfectly fine, </a:t>
            </a:r>
            <a:r>
              <a:rPr lang="en-US" sz="1400" dirty="0">
                <a:solidFill>
                  <a:srgbClr val="7AD0C4"/>
                </a:solidFill>
              </a:rPr>
              <a:t>focused</a:t>
            </a:r>
            <a:r>
              <a:rPr lang="en-US" sz="140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dirty="0" smtClean="0"/>
              <a:t>This necessitates a </a:t>
            </a:r>
            <a:r>
              <a:rPr lang="en-US" sz="1400" dirty="0" smtClean="0">
                <a:solidFill>
                  <a:srgbClr val="BADA15"/>
                </a:solidFill>
              </a:rPr>
              <a:t>Compound Search Strategy</a:t>
            </a:r>
            <a:r>
              <a:rPr lang="en-US" sz="1400" dirty="0" smtClean="0"/>
              <a:t> entailing bloated candidate lists.</a:t>
            </a:r>
          </a:p>
          <a:p>
            <a:pPr marL="216000" indent="-216000">
              <a:buClr>
                <a:srgbClr val="00B0F0"/>
              </a:buClr>
              <a:buFont typeface="Wingdings" panose="05000000000000000000" pitchFamily="2" charset="2"/>
              <a:buChar char="§"/>
            </a:pPr>
            <a:r>
              <a:rPr lang="en-US" sz="1400" dirty="0">
                <a:solidFill>
                  <a:prstClr val="black"/>
                </a:solidFill>
              </a:rPr>
              <a:t>Darwinian approach (keeping only the best candidate(s)) is not possible as </a:t>
            </a:r>
            <a:r>
              <a:rPr lang="en-US" sz="1400" dirty="0" smtClean="0">
                <a:solidFill>
                  <a:prstClr val="black"/>
                </a:solidFill>
              </a:rPr>
              <a:t>the Base </a:t>
            </a:r>
            <a:r>
              <a:rPr lang="en-US" sz="1400" dirty="0">
                <a:solidFill>
                  <a:prstClr val="black"/>
                </a:solidFill>
              </a:rPr>
              <a:t>Table is not </a:t>
            </a:r>
            <a:r>
              <a:rPr lang="en-US" sz="1400" dirty="0">
                <a:solidFill>
                  <a:srgbClr val="7AD0C4"/>
                </a:solidFill>
              </a:rPr>
              <a:t>focused</a:t>
            </a:r>
            <a:endParaRPr lang="en-US" sz="1400" dirty="0">
              <a:solidFill>
                <a:prstClr val="black"/>
              </a:solidFill>
            </a:endParaRPr>
          </a:p>
          <a:p>
            <a:pPr marL="216000" lvl="0" indent="-216000">
              <a:buClr>
                <a:srgbClr val="00B0F0"/>
              </a:buClr>
              <a:buFont typeface="Wingdings" panose="05000000000000000000" pitchFamily="2" charset="2"/>
              <a:buChar char="§"/>
            </a:pPr>
            <a:r>
              <a:rPr lang="en-US" sz="1400" dirty="0">
                <a:solidFill>
                  <a:prstClr val="black"/>
                </a:solidFill>
              </a:rPr>
              <a:t>But, a candidate may be attached to multiple </a:t>
            </a:r>
            <a:r>
              <a:rPr lang="en-US" sz="1400" dirty="0">
                <a:solidFill>
                  <a:srgbClr val="7AD0C4"/>
                </a:solidFill>
              </a:rPr>
              <a:t>focused</a:t>
            </a:r>
            <a:r>
              <a:rPr lang="en-US" sz="1400" dirty="0"/>
              <a:t> search records, which are redundant except the best</a:t>
            </a:r>
            <a:br>
              <a:rPr lang="en-US" sz="1400" dirty="0"/>
            </a:br>
            <a:r>
              <a:rPr lang="en-US" sz="1400" dirty="0">
                <a:solidFill>
                  <a:prstClr val="black"/>
                </a:solidFill>
              </a:rPr>
              <a:t> </a:t>
            </a:r>
            <a:r>
              <a:rPr lang="en-US" sz="1400" dirty="0"/>
              <a:t>→ </a:t>
            </a:r>
            <a:r>
              <a:rPr lang="en-US" sz="1400" dirty="0">
                <a:solidFill>
                  <a:srgbClr val="00B0F0"/>
                </a:solidFill>
              </a:rPr>
              <a:t>Inverse Darwinian </a:t>
            </a:r>
            <a:r>
              <a:rPr lang="en-US" sz="1400" dirty="0" smtClean="0">
                <a:solidFill>
                  <a:srgbClr val="00B0F0"/>
                </a:solidFill>
              </a:rPr>
              <a:t>Cutoff</a:t>
            </a:r>
            <a:endParaRPr lang="en-US" sz="1400" dirty="0">
              <a:solidFill>
                <a:srgbClr val="00B0F0"/>
              </a:solidFill>
            </a:endParaRPr>
          </a:p>
          <a:p>
            <a:r>
              <a:rPr lang="en-US" sz="1400" dirty="0" smtClean="0"/>
              <a:t> </a:t>
            </a:r>
            <a:endParaRPr lang="en-US" sz="1400" dirty="0"/>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dirty="0" smtClean="0"/>
              <a:t>It is too noisy to provide concise search terms.</a:t>
            </a:r>
            <a:endParaRPr lang="en-US" dirty="0"/>
          </a:p>
        </p:txBody>
      </p:sp>
      <p:sp>
        <p:nvSpPr>
          <p:cNvPr id="6" name="Textfeld 5"/>
          <p:cNvSpPr txBox="1"/>
          <p:nvPr/>
        </p:nvSpPr>
        <p:spPr>
          <a:xfrm>
            <a:off x="5056908" y="2269208"/>
            <a:ext cx="4629257" cy="2677656"/>
          </a:xfrm>
          <a:prstGeom prst="rect">
            <a:avLst/>
          </a:prstGeom>
          <a:noFill/>
        </p:spPr>
        <p:txBody>
          <a:bodyPr wrap="square" rtlCol="0">
            <a:spAutoFit/>
          </a:bodyPr>
          <a:lstStyle/>
          <a:p>
            <a:pPr marL="216000" indent="-216000">
              <a:buClr>
                <a:srgbClr val="00AAE5"/>
              </a:buClr>
              <a:buFont typeface="+mj-lt"/>
              <a:buAutoNum type="arabicPeriod"/>
            </a:pPr>
            <a:r>
              <a:rPr lang="en-US" sz="1400" dirty="0" smtClean="0"/>
              <a:t>Introduce </a:t>
            </a:r>
            <a:r>
              <a:rPr lang="en-US" sz="1400" dirty="0" smtClean="0"/>
              <a:t>variation by applying a </a:t>
            </a:r>
            <a:r>
              <a:rPr lang="en-US" sz="1400" dirty="0" smtClean="0">
                <a:solidFill>
                  <a:srgbClr val="00AAE5"/>
                </a:solidFill>
              </a:rPr>
              <a:t>feedback</a:t>
            </a:r>
            <a:r>
              <a:rPr lang="en-US" sz="1400" dirty="0" smtClean="0"/>
              <a:t> effect retroactively using the </a:t>
            </a:r>
            <a:r>
              <a:rPr lang="en-US" sz="1400" dirty="0" smtClean="0">
                <a:solidFill>
                  <a:srgbClr val="00AAE5"/>
                </a:solidFill>
              </a:rPr>
              <a:t>research</a:t>
            </a:r>
            <a:r>
              <a:rPr lang="en-US" sz="1400" dirty="0" smtClean="0"/>
              <a:t> function. This function readjusts the identity of existing candidates according to the current settings. Log-smoothing </a:t>
            </a:r>
            <a:r>
              <a:rPr lang="en-US" sz="1400" dirty="0" smtClean="0"/>
              <a:t>an a robust feedback of 25% should </a:t>
            </a:r>
            <a:r>
              <a:rPr lang="en-US" sz="1400" dirty="0" smtClean="0"/>
              <a:t>be applied to the firm name. This affects weak search terms stronger than search terms with more overlap</a:t>
            </a:r>
            <a:r>
              <a:rPr lang="en-US" sz="1400" dirty="0" smtClean="0"/>
              <a:t>.</a:t>
            </a:r>
            <a:endParaRPr lang="en-US" sz="1400" dirty="0" smtClean="0"/>
          </a:p>
          <a:p>
            <a:pPr marL="216000" indent="-216000">
              <a:buClr>
                <a:srgbClr val="00AAE5"/>
              </a:buClr>
              <a:buFont typeface="+mj-lt"/>
              <a:buAutoNum type="arabicPeriod"/>
            </a:pPr>
            <a:r>
              <a:rPr lang="en-US" sz="1400" dirty="0" smtClean="0"/>
              <a:t>Remove all search terms from a candidate except the ones with the highest identity. The </a:t>
            </a:r>
            <a:r>
              <a:rPr lang="en-US" sz="1400" dirty="0" smtClean="0">
                <a:solidFill>
                  <a:srgbClr val="00AAE5"/>
                </a:solidFill>
              </a:rPr>
              <a:t>strip</a:t>
            </a:r>
            <a:r>
              <a:rPr lang="en-US" sz="1400" dirty="0" smtClean="0"/>
              <a:t> function allows to remove candidates retroactively. With the </a:t>
            </a:r>
            <a:r>
              <a:rPr lang="en-US" sz="1400" dirty="0" smtClean="0">
                <a:solidFill>
                  <a:srgbClr val="00AAE5"/>
                </a:solidFill>
              </a:rPr>
              <a:t>inverse</a:t>
            </a:r>
            <a:r>
              <a:rPr lang="en-US" sz="1400" dirty="0" smtClean="0"/>
              <a:t> option, this function will strip the candidates of redundant search terms with a </a:t>
            </a:r>
            <a:r>
              <a:rPr lang="en-US" sz="1400" dirty="0" smtClean="0">
                <a:solidFill>
                  <a:srgbClr val="00AAE5"/>
                </a:solidFill>
              </a:rPr>
              <a:t>cutoff</a:t>
            </a:r>
            <a:r>
              <a:rPr lang="en-US" sz="1400" dirty="0" smtClean="0"/>
              <a:t> of 1 ≈ </a:t>
            </a:r>
            <a:r>
              <a:rPr lang="en-US" sz="1400" dirty="0" smtClean="0">
                <a:solidFill>
                  <a:srgbClr val="00AAE5"/>
                </a:solidFill>
              </a:rPr>
              <a:t>Darwinian</a:t>
            </a:r>
            <a:r>
              <a:rPr lang="en-US" sz="1400" dirty="0" smtClean="0"/>
              <a:t>.</a:t>
            </a:r>
            <a:endParaRPr lang="en-US" sz="1400" dirty="0"/>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9"/>
                                        </p:tgtEl>
                                        <p:attrNameLst>
                                          <p:attrName>style.visibility</p:attrName>
                                        </p:attrNameLst>
                                      </p:cBhvr>
                                      <p:to>
                                        <p:strVal val="visible"/>
                                      </p:to>
                                    </p:set>
                                  </p:childTnLst>
                                </p:cTn>
                              </p:par>
                            </p:childTnLst>
                          </p:cTn>
                        </p:par>
                        <p:par>
                          <p:cTn id="33" fill="hold">
                            <p:stCondLst>
                              <p:cond delay="0"/>
                            </p:stCondLst>
                            <p:childTnLst>
                              <p:par>
                                <p:cTn id="34" presetID="42" presetClass="path" presetSubtype="0" accel="50000" decel="50000" fill="hold" grpId="1" nodeType="afterEffect">
                                  <p:stCondLst>
                                    <p:cond delay="0"/>
                                  </p:stCondLst>
                                  <p:childTnLst>
                                    <p:animMotion origin="layout" path="M -3.54167E-6 -2.96296E-6 L -0.00013 0.03588 " pathEditMode="relative" rAng="0" ptsTypes="AA">
                                      <p:cBhvr>
                                        <p:cTn id="35" dur="250" fill="hold"/>
                                        <p:tgtEl>
                                          <p:spTgt spid="209"/>
                                        </p:tgtEl>
                                        <p:attrNameLst>
                                          <p:attrName>ppt_x</p:attrName>
                                          <p:attrName>ppt_y</p:attrName>
                                        </p:attrNameLst>
                                      </p:cBhvr>
                                      <p:rCtr x="-13" y="1782"/>
                                    </p:animMotion>
                                  </p:childTnLst>
                                </p:cTn>
                              </p:par>
                            </p:childTnLst>
                          </p:cTn>
                        </p:par>
                        <p:par>
                          <p:cTn id="36" fill="hold">
                            <p:stCondLst>
                              <p:cond delay="250"/>
                            </p:stCondLst>
                            <p:childTnLst>
                              <p:par>
                                <p:cTn id="37" presetID="7" presetClass="emph" presetSubtype="2" fill="hold" nodeType="afterEffect">
                                  <p:stCondLst>
                                    <p:cond delay="0"/>
                                  </p:stCondLst>
                                  <p:childTnLst>
                                    <p:animClr clrSpc="rgb" dir="cw">
                                      <p:cBhvr>
                                        <p:cTn id="38" dur="500" fill="hold"/>
                                        <p:tgtEl>
                                          <p:spTgt spid="39"/>
                                        </p:tgtEl>
                                        <p:attrNameLst>
                                          <p:attrName>stroke.color</p:attrName>
                                        </p:attrNameLst>
                                      </p:cBhvr>
                                      <p:to>
                                        <a:schemeClr val="bg2"/>
                                      </p:to>
                                    </p:animClr>
                                    <p:set>
                                      <p:cBhvr>
                                        <p:cTn id="39" dur="500" fill="hold"/>
                                        <p:tgtEl>
                                          <p:spTgt spid="39"/>
                                        </p:tgtEl>
                                        <p:attrNameLst>
                                          <p:attrName>stroke.on</p:attrName>
                                        </p:attrNameLst>
                                      </p:cBhvr>
                                      <p:to>
                                        <p:strVal val="true"/>
                                      </p:to>
                                    </p:set>
                                  </p:childTnLst>
                                </p:cTn>
                              </p:par>
                              <p:par>
                                <p:cTn id="40" presetID="7" presetClass="emph" presetSubtype="2" fill="hold" nodeType="withEffect">
                                  <p:stCondLst>
                                    <p:cond delay="0"/>
                                  </p:stCondLst>
                                  <p:childTnLst>
                                    <p:animClr clrSpc="rgb" dir="cw">
                                      <p:cBhvr>
                                        <p:cTn id="41" dur="500" fill="hold"/>
                                        <p:tgtEl>
                                          <p:spTgt spid="40"/>
                                        </p:tgtEl>
                                        <p:attrNameLst>
                                          <p:attrName>stroke.color</p:attrName>
                                        </p:attrNameLst>
                                      </p:cBhvr>
                                      <p:to>
                                        <a:schemeClr val="bg2"/>
                                      </p:to>
                                    </p:animClr>
                                    <p:set>
                                      <p:cBhvr>
                                        <p:cTn id="42" dur="500" fill="hold"/>
                                        <p:tgtEl>
                                          <p:spTgt spid="40"/>
                                        </p:tgtEl>
                                        <p:attrNameLst>
                                          <p:attrName>stroke.on</p:attrName>
                                        </p:attrNameLst>
                                      </p:cBhvr>
                                      <p:to>
                                        <p:strVal val="true"/>
                                      </p:to>
                                    </p:set>
                                  </p:childTnLst>
                                </p:cTn>
                              </p:par>
                            </p:childTnLst>
                          </p:cTn>
                        </p:par>
                        <p:par>
                          <p:cTn id="43" fill="hold">
                            <p:stCondLst>
                              <p:cond delay="750"/>
                            </p:stCondLst>
                            <p:childTnLst>
                              <p:par>
                                <p:cTn id="44" presetID="42" presetClass="path" presetSubtype="0" accel="50000" decel="50000" fill="hold" grpId="2" nodeType="afterEffect">
                                  <p:stCondLst>
                                    <p:cond delay="0"/>
                                  </p:stCondLst>
                                  <p:childTnLst>
                                    <p:animMotion origin="layout" path="M -0.00013 0.03588 L -0.00013 0.16505 " pathEditMode="relative" rAng="0" ptsTypes="AA">
                                      <p:cBhvr>
                                        <p:cTn id="45" dur="250" fill="hold"/>
                                        <p:tgtEl>
                                          <p:spTgt spid="209"/>
                                        </p:tgtEl>
                                        <p:attrNameLst>
                                          <p:attrName>ppt_x</p:attrName>
                                          <p:attrName>ppt_y</p:attrName>
                                        </p:attrNameLst>
                                      </p:cBhvr>
                                      <p:rCtr x="0" y="6458"/>
                                    </p:animMotion>
                                  </p:childTnLst>
                                </p:cTn>
                              </p:par>
                            </p:childTnLst>
                          </p:cTn>
                        </p:par>
                        <p:par>
                          <p:cTn id="46" fill="hold">
                            <p:stCondLst>
                              <p:cond delay="1000"/>
                            </p:stCondLst>
                            <p:childTnLst>
                              <p:par>
                                <p:cTn id="47" presetID="7" presetClass="emph" presetSubtype="2" fill="hold" nodeType="afterEffect">
                                  <p:stCondLst>
                                    <p:cond delay="0"/>
                                  </p:stCondLst>
                                  <p:childTnLst>
                                    <p:animClr clrSpc="rgb" dir="cw">
                                      <p:cBhvr>
                                        <p:cTn id="48" dur="500" fill="hold"/>
                                        <p:tgtEl>
                                          <p:spTgt spid="45"/>
                                        </p:tgtEl>
                                        <p:attrNameLst>
                                          <p:attrName>stroke.color</p:attrName>
                                        </p:attrNameLst>
                                      </p:cBhvr>
                                      <p:to>
                                        <a:srgbClr val="F3F3F3"/>
                                      </p:to>
                                    </p:animClr>
                                    <p:set>
                                      <p:cBhvr>
                                        <p:cTn id="49" dur="500" fill="hold"/>
                                        <p:tgtEl>
                                          <p:spTgt spid="45"/>
                                        </p:tgtEl>
                                        <p:attrNameLst>
                                          <p:attrName>stroke.on</p:attrName>
                                        </p:attrNameLst>
                                      </p:cBhvr>
                                      <p:to>
                                        <p:strVal val="true"/>
                                      </p:to>
                                    </p:set>
                                  </p:childTnLst>
                                </p:cTn>
                              </p:par>
                              <p:par>
                                <p:cTn id="50" presetID="7" presetClass="emph" presetSubtype="2" fill="hold" nodeType="withEffect">
                                  <p:stCondLst>
                                    <p:cond delay="0"/>
                                  </p:stCondLst>
                                  <p:childTnLst>
                                    <p:animClr clrSpc="rgb" dir="cw">
                                      <p:cBhvr>
                                        <p:cTn id="51" dur="500" fill="hold"/>
                                        <p:tgtEl>
                                          <p:spTgt spid="43"/>
                                        </p:tgtEl>
                                        <p:attrNameLst>
                                          <p:attrName>stroke.color</p:attrName>
                                        </p:attrNameLst>
                                      </p:cBhvr>
                                      <p:to>
                                        <a:srgbClr val="F3F3F3"/>
                                      </p:to>
                                    </p:animClr>
                                    <p:set>
                                      <p:cBhvr>
                                        <p:cTn id="52" dur="500" fill="hold"/>
                                        <p:tgtEl>
                                          <p:spTgt spid="43"/>
                                        </p:tgtEl>
                                        <p:attrNameLst>
                                          <p:attrName>stroke.on</p:attrName>
                                        </p:attrNameLst>
                                      </p:cBhvr>
                                      <p:to>
                                        <p:strVal val="true"/>
                                      </p:to>
                                    </p:set>
                                  </p:childTnLst>
                                </p:cTn>
                              </p:par>
                              <p:par>
                                <p:cTn id="53" presetID="7" presetClass="emph" presetSubtype="2" fill="hold" nodeType="withEffect">
                                  <p:stCondLst>
                                    <p:cond delay="0"/>
                                  </p:stCondLst>
                                  <p:childTnLst>
                                    <p:animClr clrSpc="rgb" dir="cw">
                                      <p:cBhvr>
                                        <p:cTn id="54" dur="500" fill="hold"/>
                                        <p:tgtEl>
                                          <p:spTgt spid="46"/>
                                        </p:tgtEl>
                                        <p:attrNameLst>
                                          <p:attrName>stroke.color</p:attrName>
                                        </p:attrNameLst>
                                      </p:cBhvr>
                                      <p:to>
                                        <a:srgbClr val="F3F3F3"/>
                                      </p:to>
                                    </p:animClr>
                                    <p:set>
                                      <p:cBhvr>
                                        <p:cTn id="55" dur="500" fill="hold"/>
                                        <p:tgtEl>
                                          <p:spTgt spid="46"/>
                                        </p:tgtEl>
                                        <p:attrNameLst>
                                          <p:attrName>stroke.on</p:attrName>
                                        </p:attrNameLst>
                                      </p:cBhvr>
                                      <p:to>
                                        <p:strVal val="true"/>
                                      </p:to>
                                    </p:set>
                                  </p:childTnLst>
                                </p:cTn>
                              </p:par>
                            </p:childTnLst>
                          </p:cTn>
                        </p:par>
                        <p:par>
                          <p:cTn id="56" fill="hold">
                            <p:stCondLst>
                              <p:cond delay="1500"/>
                            </p:stCondLst>
                            <p:childTnLst>
                              <p:par>
                                <p:cTn id="57" presetID="42" presetClass="path" presetSubtype="0" accel="50000" decel="50000" fill="hold" grpId="3" nodeType="afterEffect">
                                  <p:stCondLst>
                                    <p:cond delay="0"/>
                                  </p:stCondLst>
                                  <p:childTnLst>
                                    <p:animMotion origin="layout" path="M -0.00013 0.16505 L 0.00013 0.29514 " pathEditMode="relative" rAng="0" ptsTypes="AA">
                                      <p:cBhvr>
                                        <p:cTn id="58" dur="250" fill="hold"/>
                                        <p:tgtEl>
                                          <p:spTgt spid="209"/>
                                        </p:tgtEl>
                                        <p:attrNameLst>
                                          <p:attrName>ppt_x</p:attrName>
                                          <p:attrName>ppt_y</p:attrName>
                                        </p:attrNameLst>
                                      </p:cBhvr>
                                      <p:rCtr x="13" y="6505"/>
                                    </p:animMotion>
                                  </p:childTnLst>
                                </p:cTn>
                              </p:par>
                            </p:childTnLst>
                          </p:cTn>
                        </p:par>
                        <p:par>
                          <p:cTn id="59" fill="hold">
                            <p:stCondLst>
                              <p:cond delay="1750"/>
                            </p:stCondLst>
                            <p:childTnLst>
                              <p:par>
                                <p:cTn id="60" presetID="7" presetClass="emph" presetSubtype="2" fill="hold" nodeType="afterEffect">
                                  <p:stCondLst>
                                    <p:cond delay="0"/>
                                  </p:stCondLst>
                                  <p:childTnLst>
                                    <p:animClr clrSpc="rgb" dir="cw">
                                      <p:cBhvr>
                                        <p:cTn id="61" dur="500" fill="hold"/>
                                        <p:tgtEl>
                                          <p:spTgt spid="56"/>
                                        </p:tgtEl>
                                        <p:attrNameLst>
                                          <p:attrName>stroke.color</p:attrName>
                                        </p:attrNameLst>
                                      </p:cBhvr>
                                      <p:to>
                                        <a:srgbClr val="ADADAD"/>
                                      </p:to>
                                    </p:animClr>
                                    <p:set>
                                      <p:cBhvr>
                                        <p:cTn id="62" dur="500" fill="hold"/>
                                        <p:tgtEl>
                                          <p:spTgt spid="56"/>
                                        </p:tgtEl>
                                        <p:attrNameLst>
                                          <p:attrName>stroke.on</p:attrName>
                                        </p:attrNameLst>
                                      </p:cBhvr>
                                      <p:to>
                                        <p:strVal val="true"/>
                                      </p:to>
                                    </p:set>
                                  </p:childTnLst>
                                </p:cTn>
                              </p:par>
                              <p:par>
                                <p:cTn id="63" presetID="7" presetClass="emph" presetSubtype="2" fill="hold" nodeType="withEffect">
                                  <p:stCondLst>
                                    <p:cond delay="0"/>
                                  </p:stCondLst>
                                  <p:childTnLst>
                                    <p:animClr clrSpc="rgb" dir="cw">
                                      <p:cBhvr>
                                        <p:cTn id="64" dur="500" fill="hold"/>
                                        <p:tgtEl>
                                          <p:spTgt spid="55"/>
                                        </p:tgtEl>
                                        <p:attrNameLst>
                                          <p:attrName>stroke.color</p:attrName>
                                        </p:attrNameLst>
                                      </p:cBhvr>
                                      <p:to>
                                        <a:srgbClr val="D3D3D3"/>
                                      </p:to>
                                    </p:animClr>
                                    <p:set>
                                      <p:cBhvr>
                                        <p:cTn id="65" dur="500" fill="hold"/>
                                        <p:tgtEl>
                                          <p:spTgt spid="55"/>
                                        </p:tgtEl>
                                        <p:attrNameLst>
                                          <p:attrName>stroke.on</p:attrName>
                                        </p:attrNameLst>
                                      </p:cBhvr>
                                      <p:to>
                                        <p:strVal val="true"/>
                                      </p:to>
                                    </p:set>
                                  </p:childTnLst>
                                </p:cTn>
                              </p:par>
                              <p:par>
                                <p:cTn id="66" presetID="7" presetClass="emph" presetSubtype="2" fill="hold" nodeType="withEffect">
                                  <p:stCondLst>
                                    <p:cond delay="0"/>
                                  </p:stCondLst>
                                  <p:childTnLst>
                                    <p:animClr clrSpc="rgb" dir="cw">
                                      <p:cBhvr>
                                        <p:cTn id="67" dur="500" fill="hold"/>
                                        <p:tgtEl>
                                          <p:spTgt spid="49"/>
                                        </p:tgtEl>
                                        <p:attrNameLst>
                                          <p:attrName>stroke.color</p:attrName>
                                        </p:attrNameLst>
                                      </p:cBhvr>
                                      <p:to>
                                        <a:srgbClr val="F3F3F3"/>
                                      </p:to>
                                    </p:animClr>
                                    <p:set>
                                      <p:cBhvr>
                                        <p:cTn id="68" dur="500" fill="hold"/>
                                        <p:tgtEl>
                                          <p:spTgt spid="49"/>
                                        </p:tgtEl>
                                        <p:attrNameLst>
                                          <p:attrName>stroke.on</p:attrName>
                                        </p:attrNameLst>
                                      </p:cBhvr>
                                      <p:to>
                                        <p:strVal val="true"/>
                                      </p:to>
                                    </p:set>
                                  </p:childTnLst>
                                </p:cTn>
                              </p:par>
                              <p:par>
                                <p:cTn id="69" presetID="7" presetClass="emph" presetSubtype="2" fill="hold" nodeType="withEffect">
                                  <p:stCondLst>
                                    <p:cond delay="0"/>
                                  </p:stCondLst>
                                  <p:childTnLst>
                                    <p:animClr clrSpc="rgb" dir="cw">
                                      <p:cBhvr>
                                        <p:cTn id="70" dur="500" fill="hold"/>
                                        <p:tgtEl>
                                          <p:spTgt spid="50"/>
                                        </p:tgtEl>
                                        <p:attrNameLst>
                                          <p:attrName>stroke.color</p:attrName>
                                        </p:attrNameLst>
                                      </p:cBhvr>
                                      <p:to>
                                        <a:srgbClr val="F3F3F3"/>
                                      </p:to>
                                    </p:animClr>
                                    <p:set>
                                      <p:cBhvr>
                                        <p:cTn id="71" dur="500" fill="hold"/>
                                        <p:tgtEl>
                                          <p:spTgt spid="50"/>
                                        </p:tgtEl>
                                        <p:attrNameLst>
                                          <p:attrName>stroke.on</p:attrName>
                                        </p:attrNameLst>
                                      </p:cBhvr>
                                      <p:to>
                                        <p:strVal val="true"/>
                                      </p:to>
                                    </p:set>
                                  </p:childTnLst>
                                </p:cTn>
                              </p:par>
                              <p:par>
                                <p:cTn id="72" presetID="7" presetClass="emph" presetSubtype="2" fill="hold" nodeType="withEffect">
                                  <p:stCondLst>
                                    <p:cond delay="0"/>
                                  </p:stCondLst>
                                  <p:childTnLst>
                                    <p:animClr clrSpc="rgb" dir="cw">
                                      <p:cBhvr>
                                        <p:cTn id="73" dur="500" fill="hold"/>
                                        <p:tgtEl>
                                          <p:spTgt spid="54"/>
                                        </p:tgtEl>
                                        <p:attrNameLst>
                                          <p:attrName>stroke.color</p:attrName>
                                        </p:attrNameLst>
                                      </p:cBhvr>
                                      <p:to>
                                        <a:srgbClr val="F3F3F3"/>
                                      </p:to>
                                    </p:animClr>
                                    <p:set>
                                      <p:cBhvr>
                                        <p:cTn id="74" dur="500" fill="hold"/>
                                        <p:tgtEl>
                                          <p:spTgt spid="54"/>
                                        </p:tgtEl>
                                        <p:attrNameLst>
                                          <p:attrName>stroke.on</p:attrName>
                                        </p:attrNameLst>
                                      </p:cBhvr>
                                      <p:to>
                                        <p:strVal val="true"/>
                                      </p:to>
                                    </p:set>
                                  </p:childTnLst>
                                </p:cTn>
                              </p:par>
                            </p:childTnLst>
                          </p:cTn>
                        </p:par>
                        <p:par>
                          <p:cTn id="75" fill="hold">
                            <p:stCondLst>
                              <p:cond delay="2250"/>
                            </p:stCondLst>
                            <p:childTnLst>
                              <p:par>
                                <p:cTn id="76" presetID="42" presetClass="path" presetSubtype="0" accel="50000" decel="50000" fill="hold" grpId="4" nodeType="afterEffect">
                                  <p:stCondLst>
                                    <p:cond delay="0"/>
                                  </p:stCondLst>
                                  <p:childTnLst>
                                    <p:animMotion origin="layout" path="M 0.00013 0.29514 L 0.00092 0.32755 " pathEditMode="relative" rAng="0" ptsTypes="AA">
                                      <p:cBhvr>
                                        <p:cTn id="77" dur="250" fill="hold"/>
                                        <p:tgtEl>
                                          <p:spTgt spid="209"/>
                                        </p:tgtEl>
                                        <p:attrNameLst>
                                          <p:attrName>ppt_x</p:attrName>
                                          <p:attrName>ppt_y</p:attrName>
                                        </p:attrNameLst>
                                      </p:cBhvr>
                                      <p:rCtr x="39" y="1620"/>
                                    </p:animMotion>
                                  </p:childTnLst>
                                </p:cTn>
                              </p:par>
                            </p:childTnLst>
                          </p:cTn>
                        </p:par>
                        <p:par>
                          <p:cTn id="78" fill="hold">
                            <p:stCondLst>
                              <p:cond delay="2500"/>
                            </p:stCondLst>
                            <p:childTnLst>
                              <p:par>
                                <p:cTn id="79" presetID="7" presetClass="emph" presetSubtype="2" fill="hold" nodeType="afterEffect">
                                  <p:stCondLst>
                                    <p:cond delay="0"/>
                                  </p:stCondLst>
                                  <p:childTnLst>
                                    <p:animClr clrSpc="rgb" dir="cw">
                                      <p:cBhvr>
                                        <p:cTn id="80" dur="500" fill="hold"/>
                                        <p:tgtEl>
                                          <p:spTgt spid="61"/>
                                        </p:tgtEl>
                                        <p:attrNameLst>
                                          <p:attrName>stroke.color</p:attrName>
                                        </p:attrNameLst>
                                      </p:cBhvr>
                                      <p:to>
                                        <a:srgbClr val="F3F3F3"/>
                                      </p:to>
                                    </p:animClr>
                                    <p:set>
                                      <p:cBhvr>
                                        <p:cTn id="81" dur="500" fill="hold"/>
                                        <p:tgtEl>
                                          <p:spTgt spid="61"/>
                                        </p:tgtEl>
                                        <p:attrNameLst>
                                          <p:attrName>stroke.on</p:attrName>
                                        </p:attrNameLst>
                                      </p:cBhvr>
                                      <p:to>
                                        <p:strVal val="true"/>
                                      </p:to>
                                    </p:set>
                                  </p:childTnLst>
                                </p:cTn>
                              </p:par>
                              <p:par>
                                <p:cTn id="82" presetID="7" presetClass="emph" presetSubtype="2" fill="hold" nodeType="withEffect">
                                  <p:stCondLst>
                                    <p:cond delay="0"/>
                                  </p:stCondLst>
                                  <p:childTnLst>
                                    <p:animClr clrSpc="rgb" dir="cw">
                                      <p:cBhvr>
                                        <p:cTn id="83" dur="500" fill="hold"/>
                                        <p:tgtEl>
                                          <p:spTgt spid="62"/>
                                        </p:tgtEl>
                                        <p:attrNameLst>
                                          <p:attrName>stroke.color</p:attrName>
                                        </p:attrNameLst>
                                      </p:cBhvr>
                                      <p:to>
                                        <a:srgbClr val="F3F3F3"/>
                                      </p:to>
                                    </p:animClr>
                                    <p:set>
                                      <p:cBhvr>
                                        <p:cTn id="84" dur="500" fill="hold"/>
                                        <p:tgtEl>
                                          <p:spTgt spid="62"/>
                                        </p:tgtEl>
                                        <p:attrNameLst>
                                          <p:attrName>stroke.on</p:attrName>
                                        </p:attrNameLst>
                                      </p:cBhvr>
                                      <p:to>
                                        <p:strVal val="true"/>
                                      </p:to>
                                    </p:set>
                                  </p:childTnLst>
                                </p:cTn>
                              </p:par>
                            </p:childTnLst>
                          </p:cTn>
                        </p:par>
                        <p:par>
                          <p:cTn id="85" fill="hold">
                            <p:stCondLst>
                              <p:cond delay="3000"/>
                            </p:stCondLst>
                            <p:childTnLst>
                              <p:par>
                                <p:cTn id="86" presetID="42" presetClass="path" presetSubtype="0" accel="50000" decel="50000" fill="hold" grpId="5" nodeType="afterEffect">
                                  <p:stCondLst>
                                    <p:cond delay="0"/>
                                  </p:stCondLst>
                                  <p:childTnLst>
                                    <p:animMotion origin="layout" path="M 0.00092 0.32755 L 0.00118 0.36088 " pathEditMode="relative" rAng="0" ptsTypes="AA">
                                      <p:cBhvr>
                                        <p:cTn id="87" dur="250" fill="hold"/>
                                        <p:tgtEl>
                                          <p:spTgt spid="209"/>
                                        </p:tgtEl>
                                        <p:attrNameLst>
                                          <p:attrName>ppt_x</p:attrName>
                                          <p:attrName>ppt_y</p:attrName>
                                        </p:attrNameLst>
                                      </p:cBhvr>
                                      <p:rCtr x="13" y="1667"/>
                                    </p:animMotion>
                                  </p:childTnLst>
                                </p:cTn>
                              </p:par>
                            </p:childTnLst>
                          </p:cTn>
                        </p:par>
                        <p:par>
                          <p:cTn id="88" fill="hold">
                            <p:stCondLst>
                              <p:cond delay="3250"/>
                            </p:stCondLst>
                            <p:childTnLst>
                              <p:par>
                                <p:cTn id="89" presetID="7" presetClass="emph" presetSubtype="2" fill="hold" nodeType="afterEffect">
                                  <p:stCondLst>
                                    <p:cond delay="0"/>
                                  </p:stCondLst>
                                  <p:childTnLst>
                                    <p:animClr clrSpc="rgb" dir="cw">
                                      <p:cBhvr>
                                        <p:cTn id="90" dur="500" fill="hold"/>
                                        <p:tgtEl>
                                          <p:spTgt spid="66"/>
                                        </p:tgtEl>
                                        <p:attrNameLst>
                                          <p:attrName>stroke.color</p:attrName>
                                        </p:attrNameLst>
                                      </p:cBhvr>
                                      <p:to>
                                        <a:srgbClr val="868686"/>
                                      </p:to>
                                    </p:animClr>
                                    <p:set>
                                      <p:cBhvr>
                                        <p:cTn id="91" dur="500" fill="hold"/>
                                        <p:tgtEl>
                                          <p:spTgt spid="66"/>
                                        </p:tgtEl>
                                        <p:attrNameLst>
                                          <p:attrName>stroke.on</p:attrName>
                                        </p:attrNameLst>
                                      </p:cBhvr>
                                      <p:to>
                                        <p:strVal val="true"/>
                                      </p:to>
                                    </p:set>
                                  </p:childTnLst>
                                </p:cTn>
                              </p:par>
                            </p:childTnLst>
                          </p:cTn>
                        </p:par>
                        <p:par>
                          <p:cTn id="92" fill="hold">
                            <p:stCondLst>
                              <p:cond delay="3750"/>
                            </p:stCondLst>
                            <p:childTnLst>
                              <p:par>
                                <p:cTn id="93" presetID="42" presetClass="path" presetSubtype="0" accel="50000" decel="50000" fill="hold" grpId="6" nodeType="afterEffect">
                                  <p:stCondLst>
                                    <p:cond delay="0"/>
                                  </p:stCondLst>
                                  <p:childTnLst>
                                    <p:animMotion origin="layout" path="M 0.00118 0.36088 L 0.00052 0.45857 " pathEditMode="relative" rAng="0" ptsTypes="AA">
                                      <p:cBhvr>
                                        <p:cTn id="94" dur="250" fill="hold"/>
                                        <p:tgtEl>
                                          <p:spTgt spid="209"/>
                                        </p:tgtEl>
                                        <p:attrNameLst>
                                          <p:attrName>ppt_x</p:attrName>
                                          <p:attrName>ppt_y</p:attrName>
                                        </p:attrNameLst>
                                      </p:cBhvr>
                                      <p:rCtr x="-39" y="4884"/>
                                    </p:animMotion>
                                  </p:childTnLst>
                                </p:cTn>
                              </p:par>
                            </p:childTnLst>
                          </p:cTn>
                        </p:par>
                        <p:par>
                          <p:cTn id="95" fill="hold">
                            <p:stCondLst>
                              <p:cond delay="4000"/>
                            </p:stCondLst>
                            <p:childTnLst>
                              <p:par>
                                <p:cTn id="96" presetID="7" presetClass="emph" presetSubtype="2" fill="hold" nodeType="afterEffect">
                                  <p:stCondLst>
                                    <p:cond delay="0"/>
                                  </p:stCondLst>
                                  <p:childTnLst>
                                    <p:animClr clrSpc="rgb" dir="cw">
                                      <p:cBhvr>
                                        <p:cTn id="97" dur="500" fill="hold"/>
                                        <p:tgtEl>
                                          <p:spTgt spid="33"/>
                                        </p:tgtEl>
                                        <p:attrNameLst>
                                          <p:attrName>stroke.color</p:attrName>
                                        </p:attrNameLst>
                                      </p:cBhvr>
                                      <p:to>
                                        <a:srgbClr val="D3D3D3"/>
                                      </p:to>
                                    </p:animClr>
                                    <p:set>
                                      <p:cBhvr>
                                        <p:cTn id="98" dur="500" fill="hold"/>
                                        <p:tgtEl>
                                          <p:spTgt spid="33"/>
                                        </p:tgtEl>
                                        <p:attrNameLst>
                                          <p:attrName>stroke.on</p:attrName>
                                        </p:attrNameLst>
                                      </p:cBhvr>
                                      <p:to>
                                        <p:strVal val="true"/>
                                      </p:to>
                                    </p:set>
                                  </p:childTnLst>
                                </p:cTn>
                              </p:par>
                            </p:childTnLst>
                          </p:cTn>
                        </p:par>
                        <p:par>
                          <p:cTn id="99" fill="hold">
                            <p:stCondLst>
                              <p:cond delay="4500"/>
                            </p:stCondLst>
                            <p:childTnLst>
                              <p:par>
                                <p:cTn id="100" presetID="42" presetClass="path" presetSubtype="0" accel="50000" decel="50000" fill="hold" grpId="7" nodeType="afterEffect">
                                  <p:stCondLst>
                                    <p:cond delay="0"/>
                                  </p:stCondLst>
                                  <p:childTnLst>
                                    <p:animMotion origin="layout" path="M 0.00052 0.45857 L 0.00013 0.48797 " pathEditMode="relative" rAng="0" ptsTypes="AA">
                                      <p:cBhvr>
                                        <p:cTn id="101" dur="250" fill="hold"/>
                                        <p:tgtEl>
                                          <p:spTgt spid="209"/>
                                        </p:tgtEl>
                                        <p:attrNameLst>
                                          <p:attrName>ppt_x</p:attrName>
                                          <p:attrName>ppt_y</p:attrName>
                                        </p:attrNameLst>
                                      </p:cBhvr>
                                      <p:rCtr x="-26" y="1458"/>
                                    </p:animMotion>
                                  </p:childTnLst>
                                </p:cTn>
                              </p:par>
                            </p:childTnLst>
                          </p:cTn>
                        </p:par>
                        <p:par>
                          <p:cTn id="102" fill="hold">
                            <p:stCondLst>
                              <p:cond delay="4750"/>
                            </p:stCondLst>
                            <p:childTnLst>
                              <p:par>
                                <p:cTn id="103" presetID="42" presetClass="path" presetSubtype="0" accel="50000" decel="50000" fill="hold" grpId="8" nodeType="afterEffect">
                                  <p:stCondLst>
                                    <p:cond delay="0"/>
                                  </p:stCondLst>
                                  <p:childTnLst>
                                    <p:animMotion origin="layout" path="M 0.00013 0.48797 L 0.00105 0.55648 " pathEditMode="relative" rAng="0" ptsTypes="AA">
                                      <p:cBhvr>
                                        <p:cTn id="104" dur="250" fill="hold"/>
                                        <p:tgtEl>
                                          <p:spTgt spid="209"/>
                                        </p:tgtEl>
                                        <p:attrNameLst>
                                          <p:attrName>ppt_x</p:attrName>
                                          <p:attrName>ppt_y</p:attrName>
                                        </p:attrNameLst>
                                      </p:cBhvr>
                                      <p:rCtr x="39" y="3426"/>
                                    </p:animMotion>
                                  </p:childTnLst>
                                </p:cTn>
                              </p:par>
                            </p:childTnLst>
                          </p:cTn>
                        </p:par>
                        <p:par>
                          <p:cTn id="105" fill="hold">
                            <p:stCondLst>
                              <p:cond delay="5000"/>
                            </p:stCondLst>
                            <p:childTnLst>
                              <p:par>
                                <p:cTn id="106" presetID="7" presetClass="emph" presetSubtype="2" fill="hold" nodeType="afterEffect">
                                  <p:stCondLst>
                                    <p:cond delay="0"/>
                                  </p:stCondLst>
                                  <p:childTnLst>
                                    <p:animClr clrSpc="rgb" dir="cw">
                                      <p:cBhvr>
                                        <p:cTn id="107" dur="500" fill="hold"/>
                                        <p:tgtEl>
                                          <p:spTgt spid="15"/>
                                        </p:tgtEl>
                                        <p:attrNameLst>
                                          <p:attrName>stroke.color</p:attrName>
                                        </p:attrNameLst>
                                      </p:cBhvr>
                                      <p:to>
                                        <a:srgbClr val="EDEDED"/>
                                      </p:to>
                                    </p:animClr>
                                    <p:set>
                                      <p:cBhvr>
                                        <p:cTn id="108" dur="500" fill="hold"/>
                                        <p:tgtEl>
                                          <p:spTgt spid="15"/>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500" fill="hold"/>
                                        <p:tgtEl>
                                          <p:spTgt spid="57"/>
                                        </p:tgtEl>
                                        <p:attrNameLst>
                                          <p:attrName>stroke.color</p:attrName>
                                        </p:attrNameLst>
                                      </p:cBhvr>
                                      <p:to>
                                        <a:srgbClr val="EDEDED"/>
                                      </p:to>
                                    </p:animClr>
                                    <p:set>
                                      <p:cBhvr>
                                        <p:cTn id="111" dur="500" fill="hold"/>
                                        <p:tgtEl>
                                          <p:spTgt spid="57"/>
                                        </p:tgtEl>
                                        <p:attrNameLst>
                                          <p:attrName>stroke.on</p:attrName>
                                        </p:attrNameLst>
                                      </p:cBhvr>
                                      <p:to>
                                        <p:strVal val="true"/>
                                      </p:to>
                                    </p:set>
                                  </p:childTnLst>
                                </p:cTn>
                              </p:par>
                              <p:par>
                                <p:cTn id="112" presetID="7" presetClass="emph" presetSubtype="2" fill="hold" nodeType="withEffect">
                                  <p:stCondLst>
                                    <p:cond delay="0"/>
                                  </p:stCondLst>
                                  <p:childTnLst>
                                    <p:animClr clrSpc="rgb" dir="cw">
                                      <p:cBhvr>
                                        <p:cTn id="113" dur="500" fill="hold"/>
                                        <p:tgtEl>
                                          <p:spTgt spid="18"/>
                                        </p:tgtEl>
                                        <p:attrNameLst>
                                          <p:attrName>stroke.color</p:attrName>
                                        </p:attrNameLst>
                                      </p:cBhvr>
                                      <p:to>
                                        <a:srgbClr val="EDEDED"/>
                                      </p:to>
                                    </p:animClr>
                                    <p:set>
                                      <p:cBhvr>
                                        <p:cTn id="114" dur="500" fill="hold"/>
                                        <p:tgtEl>
                                          <p:spTgt spid="18"/>
                                        </p:tgtEl>
                                        <p:attrNameLst>
                                          <p:attrName>stroke.on</p:attrName>
                                        </p:attrNameLst>
                                      </p:cBhvr>
                                      <p:to>
                                        <p:strVal val="true"/>
                                      </p:to>
                                    </p:set>
                                  </p:childTnLst>
                                </p:cTn>
                              </p:par>
                              <p:par>
                                <p:cTn id="115" presetID="7" presetClass="emph" presetSubtype="2" fill="hold" nodeType="withEffect">
                                  <p:stCondLst>
                                    <p:cond delay="0"/>
                                  </p:stCondLst>
                                  <p:childTnLst>
                                    <p:animClr clrSpc="rgb" dir="cw">
                                      <p:cBhvr>
                                        <p:cTn id="116" dur="500" fill="hold"/>
                                        <p:tgtEl>
                                          <p:spTgt spid="17"/>
                                        </p:tgtEl>
                                        <p:attrNameLst>
                                          <p:attrName>stroke.color</p:attrName>
                                        </p:attrNameLst>
                                      </p:cBhvr>
                                      <p:to>
                                        <a:srgbClr val="EDEDED"/>
                                      </p:to>
                                    </p:animClr>
                                    <p:set>
                                      <p:cBhvr>
                                        <p:cTn id="117" dur="500" fill="hold"/>
                                        <p:tgtEl>
                                          <p:spTgt spid="17"/>
                                        </p:tgtEl>
                                        <p:attrNameLst>
                                          <p:attrName>stroke.on</p:attrName>
                                        </p:attrNameLst>
                                      </p:cBhvr>
                                      <p:to>
                                        <p:strVal val="true"/>
                                      </p:to>
                                    </p:set>
                                  </p:childTnLst>
                                </p:cTn>
                              </p:par>
                              <p:par>
                                <p:cTn id="118" presetID="7" presetClass="emph" presetSubtype="2" fill="hold" nodeType="withEffect">
                                  <p:stCondLst>
                                    <p:cond delay="0"/>
                                  </p:stCondLst>
                                  <p:childTnLst>
                                    <p:animClr clrSpc="rgb" dir="cw">
                                      <p:cBhvr>
                                        <p:cTn id="119" dur="500" fill="hold"/>
                                        <p:tgtEl>
                                          <p:spTgt spid="16"/>
                                        </p:tgtEl>
                                        <p:attrNameLst>
                                          <p:attrName>stroke.color</p:attrName>
                                        </p:attrNameLst>
                                      </p:cBhvr>
                                      <p:to>
                                        <a:srgbClr val="EDEDED"/>
                                      </p:to>
                                    </p:animClr>
                                    <p:set>
                                      <p:cBhvr>
                                        <p:cTn id="120" dur="500" fill="hold"/>
                                        <p:tgtEl>
                                          <p:spTgt spid="16"/>
                                        </p:tgtEl>
                                        <p:attrNameLst>
                                          <p:attrName>stroke.on</p:attrName>
                                        </p:attrNameLst>
                                      </p:cBhvr>
                                      <p:to>
                                        <p:strVal val="true"/>
                                      </p:to>
                                    </p:set>
                                  </p:childTnLst>
                                </p:cTn>
                              </p:par>
                              <p:par>
                                <p:cTn id="121" presetID="7" presetClass="emph" presetSubtype="2" fill="hold" nodeType="withEffect">
                                  <p:stCondLst>
                                    <p:cond delay="0"/>
                                  </p:stCondLst>
                                  <p:childTnLst>
                                    <p:animClr clrSpc="rgb" dir="cw">
                                      <p:cBhvr>
                                        <p:cTn id="122" dur="500" fill="hold"/>
                                        <p:tgtEl>
                                          <p:spTgt spid="242"/>
                                        </p:tgtEl>
                                        <p:attrNameLst>
                                          <p:attrName>stroke.color</p:attrName>
                                        </p:attrNameLst>
                                      </p:cBhvr>
                                      <p:to>
                                        <a:srgbClr val="EDEDED"/>
                                      </p:to>
                                    </p:animClr>
                                    <p:set>
                                      <p:cBhvr>
                                        <p:cTn id="123" dur="500" fill="hold"/>
                                        <p:tgtEl>
                                          <p:spTgt spid="242"/>
                                        </p:tgtEl>
                                        <p:attrNameLst>
                                          <p:attrName>stroke.on</p:attrName>
                                        </p:attrNameLst>
                                      </p:cBhvr>
                                      <p:to>
                                        <p:strVal val="true"/>
                                      </p:to>
                                    </p:set>
                                  </p:childTnLst>
                                </p:cTn>
                              </p:par>
                              <p:par>
                                <p:cTn id="124" presetID="7" presetClass="emph" presetSubtype="2" fill="hold" nodeType="withEffect">
                                  <p:stCondLst>
                                    <p:cond delay="0"/>
                                  </p:stCondLst>
                                  <p:childTnLst>
                                    <p:animClr clrSpc="rgb" dir="cw">
                                      <p:cBhvr>
                                        <p:cTn id="125" dur="500" fill="hold"/>
                                        <p:tgtEl>
                                          <p:spTgt spid="240"/>
                                        </p:tgtEl>
                                        <p:attrNameLst>
                                          <p:attrName>stroke.color</p:attrName>
                                        </p:attrNameLst>
                                      </p:cBhvr>
                                      <p:to>
                                        <a:srgbClr val="EDEDED"/>
                                      </p:to>
                                    </p:animClr>
                                    <p:set>
                                      <p:cBhvr>
                                        <p:cTn id="126" dur="500" fill="hold"/>
                                        <p:tgtEl>
                                          <p:spTgt spid="240"/>
                                        </p:tgtEl>
                                        <p:attrNameLst>
                                          <p:attrName>stroke.on</p:attrName>
                                        </p:attrNameLst>
                                      </p:cBhvr>
                                      <p:to>
                                        <p:strVal val="true"/>
                                      </p:to>
                                    </p:set>
                                  </p:childTnLst>
                                </p:cTn>
                              </p:par>
                              <p:par>
                                <p:cTn id="127" presetID="7" presetClass="emph" presetSubtype="2" fill="hold" nodeType="withEffect">
                                  <p:stCondLst>
                                    <p:cond delay="0"/>
                                  </p:stCondLst>
                                  <p:childTnLst>
                                    <p:animClr clrSpc="rgb" dir="cw">
                                      <p:cBhvr>
                                        <p:cTn id="128" dur="500" fill="hold"/>
                                        <p:tgtEl>
                                          <p:spTgt spid="238"/>
                                        </p:tgtEl>
                                        <p:attrNameLst>
                                          <p:attrName>stroke.color</p:attrName>
                                        </p:attrNameLst>
                                      </p:cBhvr>
                                      <p:to>
                                        <a:srgbClr val="EDEDED"/>
                                      </p:to>
                                    </p:animClr>
                                    <p:set>
                                      <p:cBhvr>
                                        <p:cTn id="129" dur="500" fill="hold"/>
                                        <p:tgtEl>
                                          <p:spTgt spid="238"/>
                                        </p:tgtEl>
                                        <p:attrNameLst>
                                          <p:attrName>stroke.on</p:attrName>
                                        </p:attrNameLst>
                                      </p:cBhvr>
                                      <p:to>
                                        <p:strVal val="true"/>
                                      </p:to>
                                    </p:set>
                                  </p:childTnLst>
                                </p:cTn>
                              </p:par>
                              <p:par>
                                <p:cTn id="130" presetID="7" presetClass="emph" presetSubtype="2" fill="hold" nodeType="withEffect">
                                  <p:stCondLst>
                                    <p:cond delay="0"/>
                                  </p:stCondLst>
                                  <p:childTnLst>
                                    <p:animClr clrSpc="rgb" dir="cw">
                                      <p:cBhvr>
                                        <p:cTn id="131" dur="500" fill="hold"/>
                                        <p:tgtEl>
                                          <p:spTgt spid="236"/>
                                        </p:tgtEl>
                                        <p:attrNameLst>
                                          <p:attrName>stroke.color</p:attrName>
                                        </p:attrNameLst>
                                      </p:cBhvr>
                                      <p:to>
                                        <a:srgbClr val="EDEDED"/>
                                      </p:to>
                                    </p:animClr>
                                    <p:set>
                                      <p:cBhvr>
                                        <p:cTn id="132" dur="500" fill="hold"/>
                                        <p:tgtEl>
                                          <p:spTgt spid="236"/>
                                        </p:tgtEl>
                                        <p:attrNameLst>
                                          <p:attrName>stroke.on</p:attrName>
                                        </p:attrNameLst>
                                      </p:cBhvr>
                                      <p:to>
                                        <p:strVal val="true"/>
                                      </p:to>
                                    </p:set>
                                  </p:childTnLst>
                                </p:cTn>
                              </p:par>
                              <p:par>
                                <p:cTn id="133" presetID="7" presetClass="emph" presetSubtype="2" fill="hold" nodeType="withEffect">
                                  <p:stCondLst>
                                    <p:cond delay="0"/>
                                  </p:stCondLst>
                                  <p:childTnLst>
                                    <p:animClr clrSpc="rgb" dir="cw">
                                      <p:cBhvr>
                                        <p:cTn id="134" dur="500" fill="hold"/>
                                        <p:tgtEl>
                                          <p:spTgt spid="234"/>
                                        </p:tgtEl>
                                        <p:attrNameLst>
                                          <p:attrName>stroke.color</p:attrName>
                                        </p:attrNameLst>
                                      </p:cBhvr>
                                      <p:to>
                                        <a:srgbClr val="EDEDED"/>
                                      </p:to>
                                    </p:animClr>
                                    <p:set>
                                      <p:cBhvr>
                                        <p:cTn id="135" dur="500" fill="hold"/>
                                        <p:tgtEl>
                                          <p:spTgt spid="234"/>
                                        </p:tgtEl>
                                        <p:attrNameLst>
                                          <p:attrName>stroke.on</p:attrName>
                                        </p:attrNameLst>
                                      </p:cBhvr>
                                      <p:to>
                                        <p:strVal val="true"/>
                                      </p:to>
                                    </p:set>
                                  </p:childTnLst>
                                </p:cTn>
                              </p:par>
                              <p:par>
                                <p:cTn id="136" presetID="7" presetClass="emph" presetSubtype="2" fill="hold" nodeType="withEffect">
                                  <p:stCondLst>
                                    <p:cond delay="0"/>
                                  </p:stCondLst>
                                  <p:childTnLst>
                                    <p:animClr clrSpc="rgb" dir="cw">
                                      <p:cBhvr>
                                        <p:cTn id="137" dur="500" fill="hold"/>
                                        <p:tgtEl>
                                          <p:spTgt spid="230"/>
                                        </p:tgtEl>
                                        <p:attrNameLst>
                                          <p:attrName>stroke.color</p:attrName>
                                        </p:attrNameLst>
                                      </p:cBhvr>
                                      <p:to>
                                        <a:srgbClr val="EDEDED"/>
                                      </p:to>
                                    </p:animClr>
                                    <p:set>
                                      <p:cBhvr>
                                        <p:cTn id="138" dur="500" fill="hold"/>
                                        <p:tgtEl>
                                          <p:spTgt spid="230"/>
                                        </p:tgtEl>
                                        <p:attrNameLst>
                                          <p:attrName>stroke.on</p:attrName>
                                        </p:attrNameLst>
                                      </p:cBhvr>
                                      <p:to>
                                        <p:strVal val="true"/>
                                      </p:to>
                                    </p:set>
                                  </p:childTnLst>
                                </p:cTn>
                              </p:par>
                              <p:par>
                                <p:cTn id="139" presetID="7" presetClass="emph" presetSubtype="2" fill="hold" nodeType="withEffect">
                                  <p:stCondLst>
                                    <p:cond delay="0"/>
                                  </p:stCondLst>
                                  <p:childTnLst>
                                    <p:animClr clrSpc="rgb" dir="cw">
                                      <p:cBhvr>
                                        <p:cTn id="140" dur="500" fill="hold"/>
                                        <p:tgtEl>
                                          <p:spTgt spid="19"/>
                                        </p:tgtEl>
                                        <p:attrNameLst>
                                          <p:attrName>stroke.color</p:attrName>
                                        </p:attrNameLst>
                                      </p:cBhvr>
                                      <p:to>
                                        <a:srgbClr val="EDEDED"/>
                                      </p:to>
                                    </p:animClr>
                                    <p:set>
                                      <p:cBhvr>
                                        <p:cTn id="141" dur="500" fill="hold"/>
                                        <p:tgtEl>
                                          <p:spTgt spid="19"/>
                                        </p:tgtEl>
                                        <p:attrNameLst>
                                          <p:attrName>stroke.on</p:attrName>
                                        </p:attrNameLst>
                                      </p:cBhvr>
                                      <p:to>
                                        <p:strVal val="true"/>
                                      </p:to>
                                    </p:set>
                                  </p:childTnLst>
                                </p:cTn>
                              </p:par>
                              <p:par>
                                <p:cTn id="142" presetID="7" presetClass="emph" presetSubtype="2" fill="hold" nodeType="withEffect">
                                  <p:stCondLst>
                                    <p:cond delay="0"/>
                                  </p:stCondLst>
                                  <p:childTnLst>
                                    <p:animClr clrSpc="rgb" dir="cw">
                                      <p:cBhvr>
                                        <p:cTn id="143" dur="500" fill="hold"/>
                                        <p:tgtEl>
                                          <p:spTgt spid="232"/>
                                        </p:tgtEl>
                                        <p:attrNameLst>
                                          <p:attrName>stroke.color</p:attrName>
                                        </p:attrNameLst>
                                      </p:cBhvr>
                                      <p:to>
                                        <a:srgbClr val="EDEDED"/>
                                      </p:to>
                                    </p:animClr>
                                    <p:set>
                                      <p:cBhvr>
                                        <p:cTn id="144" dur="500" fill="hold"/>
                                        <p:tgtEl>
                                          <p:spTgt spid="232"/>
                                        </p:tgtEl>
                                        <p:attrNameLst>
                                          <p:attrName>stroke.on</p:attrName>
                                        </p:attrNameLst>
                                      </p:cBhvr>
                                      <p:to>
                                        <p:strVal val="true"/>
                                      </p:to>
                                    </p:set>
                                  </p:childTnLst>
                                </p:cTn>
                              </p:par>
                            </p:childTnLst>
                          </p:cTn>
                        </p:par>
                        <p:par>
                          <p:cTn id="145" fill="hold">
                            <p:stCondLst>
                              <p:cond delay="5500"/>
                            </p:stCondLst>
                            <p:childTnLst>
                              <p:par>
                                <p:cTn id="146" presetID="42" presetClass="path" presetSubtype="0" accel="50000" decel="50000" fill="hold" grpId="9" nodeType="afterEffect">
                                  <p:stCondLst>
                                    <p:cond delay="0"/>
                                  </p:stCondLst>
                                  <p:childTnLst>
                                    <p:animMotion origin="layout" path="M 0.00105 0.55648 L 0.00261 0.6213 " pathEditMode="relative" rAng="0" ptsTypes="AA">
                                      <p:cBhvr>
                                        <p:cTn id="147" dur="250" fill="hold"/>
                                        <p:tgtEl>
                                          <p:spTgt spid="209"/>
                                        </p:tgtEl>
                                        <p:attrNameLst>
                                          <p:attrName>ppt_x</p:attrName>
                                          <p:attrName>ppt_y</p:attrName>
                                        </p:attrNameLst>
                                      </p:cBhvr>
                                      <p:rCtr x="78" y="3241"/>
                                    </p:animMotion>
                                  </p:childTnLst>
                                </p:cTn>
                              </p:par>
                            </p:childTnLst>
                          </p:cTn>
                        </p:par>
                        <p:par>
                          <p:cTn id="148" fill="hold">
                            <p:stCondLst>
                              <p:cond delay="5750"/>
                            </p:stCondLst>
                            <p:childTnLst>
                              <p:par>
                                <p:cTn id="149" presetID="7" presetClass="emph" presetSubtype="2" fill="hold" nodeType="afterEffect">
                                  <p:stCondLst>
                                    <p:cond delay="0"/>
                                  </p:stCondLst>
                                  <p:childTnLst>
                                    <p:animClr clrSpc="rgb" dir="cw">
                                      <p:cBhvr>
                                        <p:cTn id="150" dur="500" fill="hold"/>
                                        <p:tgtEl>
                                          <p:spTgt spid="11"/>
                                        </p:tgtEl>
                                        <p:attrNameLst>
                                          <p:attrName>stroke.color</p:attrName>
                                        </p:attrNameLst>
                                      </p:cBhvr>
                                      <p:to>
                                        <a:srgbClr val="F3F3F3"/>
                                      </p:to>
                                    </p:animClr>
                                    <p:set>
                                      <p:cBhvr>
                                        <p:cTn id="151" dur="500" fill="hold"/>
                                        <p:tgtEl>
                                          <p:spTgt spid="11"/>
                                        </p:tgtEl>
                                        <p:attrNameLst>
                                          <p:attrName>stroke.on</p:attrName>
                                        </p:attrNameLst>
                                      </p:cBhvr>
                                      <p:to>
                                        <p:strVal val="true"/>
                                      </p:to>
                                    </p:set>
                                  </p:childTnLst>
                                </p:cTn>
                              </p:par>
                              <p:par>
                                <p:cTn id="152" presetID="7" presetClass="emph" presetSubtype="2" fill="hold" nodeType="withEffect">
                                  <p:stCondLst>
                                    <p:cond delay="0"/>
                                  </p:stCondLst>
                                  <p:childTnLst>
                                    <p:animClr clrSpc="rgb" dir="cw">
                                      <p:cBhvr>
                                        <p:cTn id="153" dur="500" fill="hold"/>
                                        <p:tgtEl>
                                          <p:spTgt spid="12"/>
                                        </p:tgtEl>
                                        <p:attrNameLst>
                                          <p:attrName>stroke.color</p:attrName>
                                        </p:attrNameLst>
                                      </p:cBhvr>
                                      <p:to>
                                        <a:srgbClr val="F3F3F3"/>
                                      </p:to>
                                    </p:animClr>
                                    <p:set>
                                      <p:cBhvr>
                                        <p:cTn id="154" dur="500" fill="hold"/>
                                        <p:tgtEl>
                                          <p:spTgt spid="12"/>
                                        </p:tgtEl>
                                        <p:attrNameLst>
                                          <p:attrName>stroke.on</p:attrName>
                                        </p:attrNameLst>
                                      </p:cBhvr>
                                      <p:to>
                                        <p:strVal val="true"/>
                                      </p:to>
                                    </p:set>
                                  </p:childTnLst>
                                </p:cTn>
                              </p:par>
                              <p:par>
                                <p:cTn id="155" presetID="7" presetClass="emph" presetSubtype="2" fill="hold" nodeType="withEffect">
                                  <p:stCondLst>
                                    <p:cond delay="0"/>
                                  </p:stCondLst>
                                  <p:childTnLst>
                                    <p:animClr clrSpc="rgb" dir="cw">
                                      <p:cBhvr>
                                        <p:cTn id="156" dur="500" fill="hold"/>
                                        <p:tgtEl>
                                          <p:spTgt spid="13"/>
                                        </p:tgtEl>
                                        <p:attrNameLst>
                                          <p:attrName>stroke.color</p:attrName>
                                        </p:attrNameLst>
                                      </p:cBhvr>
                                      <p:to>
                                        <a:srgbClr val="F3F3F3"/>
                                      </p:to>
                                    </p:animClr>
                                    <p:set>
                                      <p:cBhvr>
                                        <p:cTn id="157" dur="500" fill="hold"/>
                                        <p:tgtEl>
                                          <p:spTgt spid="13"/>
                                        </p:tgtEl>
                                        <p:attrNameLst>
                                          <p:attrName>stroke.on</p:attrName>
                                        </p:attrNameLst>
                                      </p:cBhvr>
                                      <p:to>
                                        <p:strVal val="true"/>
                                      </p:to>
                                    </p:set>
                                  </p:childTnLst>
                                </p:cTn>
                              </p:par>
                            </p:childTnLst>
                          </p:cTn>
                        </p:par>
                        <p:par>
                          <p:cTn id="158" fill="hold">
                            <p:stCondLst>
                              <p:cond delay="6250"/>
                            </p:stCondLst>
                            <p:childTnLst>
                              <p:par>
                                <p:cTn id="159" presetID="42" presetClass="path" presetSubtype="0" accel="50000" decel="50000" fill="hold" grpId="10" nodeType="afterEffect">
                                  <p:stCondLst>
                                    <p:cond delay="0"/>
                                  </p:stCondLst>
                                  <p:childTnLst>
                                    <p:animMotion origin="layout" path="M 0.00261 0.6213 L 0.00196 0.75278 " pathEditMode="relative" rAng="0" ptsTypes="AA">
                                      <p:cBhvr>
                                        <p:cTn id="160" dur="250" fill="hold"/>
                                        <p:tgtEl>
                                          <p:spTgt spid="209"/>
                                        </p:tgtEl>
                                        <p:attrNameLst>
                                          <p:attrName>ppt_x</p:attrName>
                                          <p:attrName>ppt_y</p:attrName>
                                        </p:attrNameLst>
                                      </p:cBhvr>
                                      <p:rCtr x="-39" y="6574"/>
                                    </p:animMotion>
                                  </p:childTnLst>
                                </p:cTn>
                              </p:par>
                            </p:childTnLst>
                          </p:cTn>
                        </p:par>
                        <p:par>
                          <p:cTn id="161" fill="hold">
                            <p:stCondLst>
                              <p:cond delay="6500"/>
                            </p:stCondLst>
                            <p:childTnLst>
                              <p:par>
                                <p:cTn id="162" presetID="7" presetClass="emph" presetSubtype="2" fill="hold" nodeType="afterEffect">
                                  <p:stCondLst>
                                    <p:cond delay="0"/>
                                  </p:stCondLst>
                                  <p:childTnLst>
                                    <p:animClr clrSpc="rgb" dir="cw">
                                      <p:cBhvr>
                                        <p:cTn id="163" dur="500" fill="hold"/>
                                        <p:tgtEl>
                                          <p:spTgt spid="68"/>
                                        </p:tgtEl>
                                        <p:attrNameLst>
                                          <p:attrName>stroke.color</p:attrName>
                                        </p:attrNameLst>
                                      </p:cBhvr>
                                      <p:to>
                                        <a:srgbClr val="F7F7F7"/>
                                      </p:to>
                                    </p:animClr>
                                    <p:set>
                                      <p:cBhvr>
                                        <p:cTn id="164" dur="500" fill="hold"/>
                                        <p:tgtEl>
                                          <p:spTgt spid="68"/>
                                        </p:tgtEl>
                                        <p:attrNameLst>
                                          <p:attrName>stroke.on</p:attrName>
                                        </p:attrNameLst>
                                      </p:cBhvr>
                                      <p:to>
                                        <p:strVal val="true"/>
                                      </p:to>
                                    </p:set>
                                  </p:childTnLst>
                                </p:cTn>
                              </p:par>
                              <p:par>
                                <p:cTn id="165" presetID="7" presetClass="emph" presetSubtype="2" fill="hold" nodeType="withEffect">
                                  <p:stCondLst>
                                    <p:cond delay="0"/>
                                  </p:stCondLst>
                                  <p:childTnLst>
                                    <p:animClr clrSpc="rgb" dir="cw">
                                      <p:cBhvr>
                                        <p:cTn id="166" dur="500" fill="hold"/>
                                        <p:tgtEl>
                                          <p:spTgt spid="69"/>
                                        </p:tgtEl>
                                        <p:attrNameLst>
                                          <p:attrName>stroke.color</p:attrName>
                                        </p:attrNameLst>
                                      </p:cBhvr>
                                      <p:to>
                                        <a:srgbClr val="F7F7F7"/>
                                      </p:to>
                                    </p:animClr>
                                    <p:set>
                                      <p:cBhvr>
                                        <p:cTn id="167" dur="500" fill="hold"/>
                                        <p:tgtEl>
                                          <p:spTgt spid="69"/>
                                        </p:tgtEl>
                                        <p:attrNameLst>
                                          <p:attrName>stroke.on</p:attrName>
                                        </p:attrNameLst>
                                      </p:cBhvr>
                                      <p:to>
                                        <p:strVal val="true"/>
                                      </p:to>
                                    </p:set>
                                  </p:childTnLst>
                                </p:cTn>
                              </p:par>
                            </p:childTnLst>
                          </p:cTn>
                        </p:par>
                        <p:par>
                          <p:cTn id="168" fill="hold">
                            <p:stCondLst>
                              <p:cond delay="7000"/>
                            </p:stCondLst>
                            <p:childTnLst>
                              <p:par>
                                <p:cTn id="169" presetID="42" presetClass="path" presetSubtype="0" accel="50000" decel="50000" fill="hold" grpId="11" nodeType="afterEffect">
                                  <p:stCondLst>
                                    <p:cond delay="0"/>
                                  </p:stCondLst>
                                  <p:childTnLst>
                                    <p:animMotion origin="layout" path="M 0.00196 0.75278 L 0.00118 0.78426 " pathEditMode="relative" rAng="0" ptsTypes="AA">
                                      <p:cBhvr>
                                        <p:cTn id="170" dur="250" fill="hold"/>
                                        <p:tgtEl>
                                          <p:spTgt spid="209"/>
                                        </p:tgtEl>
                                        <p:attrNameLst>
                                          <p:attrName>ppt_x</p:attrName>
                                          <p:attrName>ppt_y</p:attrName>
                                        </p:attrNameLst>
                                      </p:cBhvr>
                                      <p:rCtr x="-39" y="1574"/>
                                    </p:animMotion>
                                  </p:childTnLst>
                                </p:cTn>
                              </p:par>
                            </p:childTnLst>
                          </p:cTn>
                        </p:par>
                        <p:par>
                          <p:cTn id="171" fill="hold">
                            <p:stCondLst>
                              <p:cond delay="7250"/>
                            </p:stCondLst>
                            <p:childTnLst>
                              <p:par>
                                <p:cTn id="172" presetID="42" presetClass="path" presetSubtype="0" accel="50000" decel="50000" fill="hold" grpId="12" nodeType="afterEffect">
                                  <p:stCondLst>
                                    <p:cond delay="0"/>
                                  </p:stCondLst>
                                  <p:childTnLst>
                                    <p:animMotion origin="layout" path="M 0.00118 0.78426 L 0.00196 0.81482 " pathEditMode="relative" rAng="0" ptsTypes="AA">
                                      <p:cBhvr>
                                        <p:cTn id="173" dur="250" fill="hold"/>
                                        <p:tgtEl>
                                          <p:spTgt spid="209"/>
                                        </p:tgtEl>
                                        <p:attrNameLst>
                                          <p:attrName>ppt_x</p:attrName>
                                          <p:attrName>ppt_y</p:attrName>
                                        </p:attrNameLst>
                                      </p:cBhvr>
                                      <p:rCtr x="39" y="1528"/>
                                    </p:animMotion>
                                  </p:childTnLst>
                                </p:cTn>
                              </p:par>
                            </p:childTnLst>
                          </p:cTn>
                        </p:par>
                        <p:par>
                          <p:cTn id="174" fill="hold">
                            <p:stCondLst>
                              <p:cond delay="7500"/>
                            </p:stCondLst>
                            <p:childTnLst>
                              <p:par>
                                <p:cTn id="175" presetID="1" presetClass="exit" presetSubtype="0" fill="hold" grpId="13" nodeType="afterEffect">
                                  <p:stCondLst>
                                    <p:cond delay="0"/>
                                  </p:stCondLst>
                                  <p:childTnLst>
                                    <p:set>
                                      <p:cBhvr>
                                        <p:cTn id="176" dur="1" fill="hold">
                                          <p:stCondLst>
                                            <p:cond delay="0"/>
                                          </p:stCondLst>
                                        </p:cTn>
                                        <p:tgtEl>
                                          <p:spTgt spid="209"/>
                                        </p:tgtEl>
                                        <p:attrNameLst>
                                          <p:attrName>style.visibility</p:attrName>
                                        </p:attrNameLst>
                                      </p:cBhvr>
                                      <p:to>
                                        <p:strVal val="hidden"/>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nodeType="clickEffect">
                                  <p:stCondLst>
                                    <p:cond delay="0"/>
                                  </p:stCondLst>
                                  <p:childTnLst>
                                    <p:set>
                                      <p:cBhvr>
                                        <p:cTn id="18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233"/>
                                        </p:tgtEl>
                                        <p:attrNameLst>
                                          <p:attrName>style.visibility</p:attrName>
                                        </p:attrNameLst>
                                      </p:cBhvr>
                                      <p:to>
                                        <p:strVal val="visible"/>
                                      </p:to>
                                    </p:set>
                                  </p:childTnLst>
                                </p:cTn>
                              </p:par>
                            </p:childTnLst>
                          </p:cTn>
                        </p:par>
                        <p:par>
                          <p:cTn id="185" fill="hold">
                            <p:stCondLst>
                              <p:cond delay="0"/>
                            </p:stCondLst>
                            <p:childTnLst>
                              <p:par>
                                <p:cTn id="186" presetID="42" presetClass="path" presetSubtype="0" accel="50000" decel="50000" fill="hold" grpId="1" nodeType="afterEffect">
                                  <p:stCondLst>
                                    <p:cond delay="0"/>
                                  </p:stCondLst>
                                  <p:childTnLst>
                                    <p:animMotion origin="layout" path="M -3.125E-6 -4.44444E-6 L -0.00013 0.06505 " pathEditMode="relative" rAng="0" ptsTypes="AA">
                                      <p:cBhvr>
                                        <p:cTn id="187" dur="250" fill="hold"/>
                                        <p:tgtEl>
                                          <p:spTgt spid="233"/>
                                        </p:tgtEl>
                                        <p:attrNameLst>
                                          <p:attrName>ppt_x</p:attrName>
                                          <p:attrName>ppt_y</p:attrName>
                                        </p:attrNameLst>
                                      </p:cBhvr>
                                      <p:rCtr x="-13" y="3241"/>
                                    </p:animMotion>
                                  </p:childTnLst>
                                </p:cTn>
                              </p:par>
                            </p:childTnLst>
                          </p:cTn>
                        </p:par>
                        <p:par>
                          <p:cTn id="188" fill="hold">
                            <p:stCondLst>
                              <p:cond delay="250"/>
                            </p:stCondLst>
                            <p:childTnLst>
                              <p:par>
                                <p:cTn id="189" presetID="42" presetClass="path" presetSubtype="0" accel="50000" decel="50000" fill="hold" grpId="2" nodeType="afterEffect">
                                  <p:stCondLst>
                                    <p:cond delay="0"/>
                                  </p:stCondLst>
                                  <p:childTnLst>
                                    <p:animMotion origin="layout" path="M -0.00013 0.06505 L -0.00013 0.09723 " pathEditMode="relative" rAng="0" ptsTypes="AA">
                                      <p:cBhvr>
                                        <p:cTn id="190" dur="250" fill="hold"/>
                                        <p:tgtEl>
                                          <p:spTgt spid="233"/>
                                        </p:tgtEl>
                                        <p:attrNameLst>
                                          <p:attrName>ppt_x</p:attrName>
                                          <p:attrName>ppt_y</p:attrName>
                                        </p:attrNameLst>
                                      </p:cBhvr>
                                      <p:rCtr x="0" y="1597"/>
                                    </p:animMotion>
                                  </p:childTnLst>
                                </p:cTn>
                              </p:par>
                            </p:childTnLst>
                          </p:cTn>
                        </p:par>
                        <p:par>
                          <p:cTn id="191" fill="hold">
                            <p:stCondLst>
                              <p:cond delay="500"/>
                            </p:stCondLst>
                            <p:childTnLst>
                              <p:par>
                                <p:cTn id="192" presetID="22" presetClass="exit" presetSubtype="2" fill="hold" nodeType="afterEffect">
                                  <p:stCondLst>
                                    <p:cond delay="0"/>
                                  </p:stCondLst>
                                  <p:childTnLst>
                                    <p:animEffect transition="out" filter="wipe(right)">
                                      <p:cBhvr>
                                        <p:cTn id="193" dur="500"/>
                                        <p:tgtEl>
                                          <p:spTgt spid="45"/>
                                        </p:tgtEl>
                                      </p:cBhvr>
                                    </p:animEffect>
                                    <p:set>
                                      <p:cBhvr>
                                        <p:cTn id="194" dur="1" fill="hold">
                                          <p:stCondLst>
                                            <p:cond delay="499"/>
                                          </p:stCondLst>
                                        </p:cTn>
                                        <p:tgtEl>
                                          <p:spTgt spid="45"/>
                                        </p:tgtEl>
                                        <p:attrNameLst>
                                          <p:attrName>style.visibility</p:attrName>
                                        </p:attrNameLst>
                                      </p:cBhvr>
                                      <p:to>
                                        <p:strVal val="hidden"/>
                                      </p:to>
                                    </p:set>
                                  </p:childTnLst>
                                </p:cTn>
                              </p:par>
                              <p:par>
                                <p:cTn id="195" presetID="22" presetClass="exit" presetSubtype="1" fill="hold" nodeType="withEffect">
                                  <p:stCondLst>
                                    <p:cond delay="0"/>
                                  </p:stCondLst>
                                  <p:childTnLst>
                                    <p:animEffect transition="out" filter="wipe(up)">
                                      <p:cBhvr>
                                        <p:cTn id="196" dur="500"/>
                                        <p:tgtEl>
                                          <p:spTgt spid="232"/>
                                        </p:tgtEl>
                                      </p:cBhvr>
                                    </p:animEffect>
                                    <p:set>
                                      <p:cBhvr>
                                        <p:cTn id="197" dur="1" fill="hold">
                                          <p:stCondLst>
                                            <p:cond delay="499"/>
                                          </p:stCondLst>
                                        </p:cTn>
                                        <p:tgtEl>
                                          <p:spTgt spid="232"/>
                                        </p:tgtEl>
                                        <p:attrNameLst>
                                          <p:attrName>style.visibility</p:attrName>
                                        </p:attrNameLst>
                                      </p:cBhvr>
                                      <p:to>
                                        <p:strVal val="hidden"/>
                                      </p:to>
                                    </p:set>
                                  </p:childTnLst>
                                </p:cTn>
                              </p:par>
                            </p:childTnLst>
                          </p:cTn>
                        </p:par>
                        <p:par>
                          <p:cTn id="198" fill="hold">
                            <p:stCondLst>
                              <p:cond delay="1000"/>
                            </p:stCondLst>
                            <p:childTnLst>
                              <p:par>
                                <p:cTn id="199" presetID="42" presetClass="path" presetSubtype="0" accel="50000" decel="50000" fill="hold" grpId="3" nodeType="afterEffect">
                                  <p:stCondLst>
                                    <p:cond delay="0"/>
                                  </p:stCondLst>
                                  <p:childTnLst>
                                    <p:animMotion origin="layout" path="M -0.00013 0.09723 L -0.00013 0.16343 " pathEditMode="relative" rAng="0" ptsTypes="AA">
                                      <p:cBhvr>
                                        <p:cTn id="200" dur="250" fill="hold"/>
                                        <p:tgtEl>
                                          <p:spTgt spid="233"/>
                                        </p:tgtEl>
                                        <p:attrNameLst>
                                          <p:attrName>ppt_x</p:attrName>
                                          <p:attrName>ppt_y</p:attrName>
                                        </p:attrNameLst>
                                      </p:cBhvr>
                                      <p:rCtr x="0" y="3310"/>
                                    </p:animMotion>
                                  </p:childTnLst>
                                </p:cTn>
                              </p:par>
                            </p:childTnLst>
                          </p:cTn>
                        </p:par>
                        <p:par>
                          <p:cTn id="201" fill="hold">
                            <p:stCondLst>
                              <p:cond delay="1250"/>
                            </p:stCondLst>
                            <p:childTnLst>
                              <p:par>
                                <p:cTn id="202" presetID="22" presetClass="exit" presetSubtype="2" fill="hold" nodeType="afterEffect">
                                  <p:stCondLst>
                                    <p:cond delay="0"/>
                                  </p:stCondLst>
                                  <p:childTnLst>
                                    <p:animEffect transition="out" filter="wipe(right)">
                                      <p:cBhvr>
                                        <p:cTn id="203" dur="500"/>
                                        <p:tgtEl>
                                          <p:spTgt spid="43"/>
                                        </p:tgtEl>
                                      </p:cBhvr>
                                    </p:animEffect>
                                    <p:set>
                                      <p:cBhvr>
                                        <p:cTn id="204" dur="1" fill="hold">
                                          <p:stCondLst>
                                            <p:cond delay="499"/>
                                          </p:stCondLst>
                                        </p:cTn>
                                        <p:tgtEl>
                                          <p:spTgt spid="43"/>
                                        </p:tgtEl>
                                        <p:attrNameLst>
                                          <p:attrName>style.visibility</p:attrName>
                                        </p:attrNameLst>
                                      </p:cBhvr>
                                      <p:to>
                                        <p:strVal val="hidden"/>
                                      </p:to>
                                    </p:set>
                                  </p:childTnLst>
                                </p:cTn>
                              </p:par>
                              <p:par>
                                <p:cTn id="205" presetID="22" presetClass="exit" presetSubtype="1" fill="hold" nodeType="withEffect">
                                  <p:stCondLst>
                                    <p:cond delay="0"/>
                                  </p:stCondLst>
                                  <p:childTnLst>
                                    <p:animEffect transition="out" filter="wipe(up)">
                                      <p:cBhvr>
                                        <p:cTn id="206" dur="500"/>
                                        <p:tgtEl>
                                          <p:spTgt spid="19"/>
                                        </p:tgtEl>
                                      </p:cBhvr>
                                    </p:animEffect>
                                    <p:set>
                                      <p:cBhvr>
                                        <p:cTn id="207" dur="1" fill="hold">
                                          <p:stCondLst>
                                            <p:cond delay="499"/>
                                          </p:stCondLst>
                                        </p:cTn>
                                        <p:tgtEl>
                                          <p:spTgt spid="19"/>
                                        </p:tgtEl>
                                        <p:attrNameLst>
                                          <p:attrName>style.visibility</p:attrName>
                                        </p:attrNameLst>
                                      </p:cBhvr>
                                      <p:to>
                                        <p:strVal val="hidden"/>
                                      </p:to>
                                    </p:set>
                                  </p:childTnLst>
                                </p:cTn>
                              </p:par>
                            </p:childTnLst>
                          </p:cTn>
                        </p:par>
                        <p:par>
                          <p:cTn id="208" fill="hold">
                            <p:stCondLst>
                              <p:cond delay="1750"/>
                            </p:stCondLst>
                            <p:childTnLst>
                              <p:par>
                                <p:cTn id="209" presetID="42" presetClass="path" presetSubtype="0" accel="50000" decel="50000" fill="hold" grpId="4" nodeType="afterEffect">
                                  <p:stCondLst>
                                    <p:cond delay="0"/>
                                  </p:stCondLst>
                                  <p:childTnLst>
                                    <p:animMotion origin="layout" path="M -0.00013 0.16343 L -0.00013 0.19468 " pathEditMode="relative" rAng="0" ptsTypes="AA">
                                      <p:cBhvr>
                                        <p:cTn id="210" dur="250" fill="hold"/>
                                        <p:tgtEl>
                                          <p:spTgt spid="233"/>
                                        </p:tgtEl>
                                        <p:attrNameLst>
                                          <p:attrName>ppt_x</p:attrName>
                                          <p:attrName>ppt_y</p:attrName>
                                        </p:attrNameLst>
                                      </p:cBhvr>
                                      <p:rCtr x="0" y="1551"/>
                                    </p:animMotion>
                                  </p:childTnLst>
                                </p:cTn>
                              </p:par>
                            </p:childTnLst>
                          </p:cTn>
                        </p:par>
                        <p:par>
                          <p:cTn id="211" fill="hold">
                            <p:stCondLst>
                              <p:cond delay="2000"/>
                            </p:stCondLst>
                            <p:childTnLst>
                              <p:par>
                                <p:cTn id="212" presetID="22" presetClass="exit" presetSubtype="1" fill="hold" nodeType="afterEffect">
                                  <p:stCondLst>
                                    <p:cond delay="0"/>
                                  </p:stCondLst>
                                  <p:childTnLst>
                                    <p:animEffect transition="out" filter="wipe(up)">
                                      <p:cBhvr>
                                        <p:cTn id="213" dur="500"/>
                                        <p:tgtEl>
                                          <p:spTgt spid="230"/>
                                        </p:tgtEl>
                                      </p:cBhvr>
                                    </p:animEffect>
                                    <p:set>
                                      <p:cBhvr>
                                        <p:cTn id="214" dur="1" fill="hold">
                                          <p:stCondLst>
                                            <p:cond delay="499"/>
                                          </p:stCondLst>
                                        </p:cTn>
                                        <p:tgtEl>
                                          <p:spTgt spid="230"/>
                                        </p:tgtEl>
                                        <p:attrNameLst>
                                          <p:attrName>style.visibility</p:attrName>
                                        </p:attrNameLst>
                                      </p:cBhvr>
                                      <p:to>
                                        <p:strVal val="hidden"/>
                                      </p:to>
                                    </p:set>
                                  </p:childTnLst>
                                </p:cTn>
                              </p:par>
                            </p:childTnLst>
                          </p:cTn>
                        </p:par>
                        <p:par>
                          <p:cTn id="215" fill="hold">
                            <p:stCondLst>
                              <p:cond delay="2500"/>
                            </p:stCondLst>
                            <p:childTnLst>
                              <p:par>
                                <p:cTn id="216" presetID="42" presetClass="path" presetSubtype="0" accel="50000" decel="50000" fill="hold" grpId="5" nodeType="afterEffect">
                                  <p:stCondLst>
                                    <p:cond delay="0"/>
                                  </p:stCondLst>
                                  <p:childTnLst>
                                    <p:animMotion origin="layout" path="M -0.00013 0.19468 L -0.00013 0.22825 " pathEditMode="relative" rAng="0" ptsTypes="AA">
                                      <p:cBhvr>
                                        <p:cTn id="217" dur="250" fill="hold"/>
                                        <p:tgtEl>
                                          <p:spTgt spid="233"/>
                                        </p:tgtEl>
                                        <p:attrNameLst>
                                          <p:attrName>ppt_x</p:attrName>
                                          <p:attrName>ppt_y</p:attrName>
                                        </p:attrNameLst>
                                      </p:cBhvr>
                                      <p:rCtr x="0" y="1667"/>
                                    </p:animMotion>
                                  </p:childTnLst>
                                </p:cTn>
                              </p:par>
                            </p:childTnLst>
                          </p:cTn>
                        </p:par>
                        <p:par>
                          <p:cTn id="218" fill="hold">
                            <p:stCondLst>
                              <p:cond delay="2750"/>
                            </p:stCondLst>
                            <p:childTnLst>
                              <p:par>
                                <p:cTn id="219" presetID="22" presetClass="exit" presetSubtype="1" fill="hold" nodeType="afterEffect">
                                  <p:stCondLst>
                                    <p:cond delay="0"/>
                                  </p:stCondLst>
                                  <p:childTnLst>
                                    <p:animEffect transition="out" filter="wipe(up)">
                                      <p:cBhvr>
                                        <p:cTn id="220" dur="500"/>
                                        <p:tgtEl>
                                          <p:spTgt spid="234"/>
                                        </p:tgtEl>
                                      </p:cBhvr>
                                    </p:animEffect>
                                    <p:set>
                                      <p:cBhvr>
                                        <p:cTn id="221" dur="1" fill="hold">
                                          <p:stCondLst>
                                            <p:cond delay="499"/>
                                          </p:stCondLst>
                                        </p:cTn>
                                        <p:tgtEl>
                                          <p:spTgt spid="234"/>
                                        </p:tgtEl>
                                        <p:attrNameLst>
                                          <p:attrName>style.visibility</p:attrName>
                                        </p:attrNameLst>
                                      </p:cBhvr>
                                      <p:to>
                                        <p:strVal val="hidden"/>
                                      </p:to>
                                    </p:set>
                                  </p:childTnLst>
                                </p:cTn>
                              </p:par>
                              <p:par>
                                <p:cTn id="222" presetID="22" presetClass="exit" presetSubtype="4" fill="hold" nodeType="withEffect">
                                  <p:stCondLst>
                                    <p:cond delay="0"/>
                                  </p:stCondLst>
                                  <p:childTnLst>
                                    <p:animEffect transition="out" filter="wipe(down)">
                                      <p:cBhvr>
                                        <p:cTn id="223" dur="500"/>
                                        <p:tgtEl>
                                          <p:spTgt spid="39"/>
                                        </p:tgtEl>
                                      </p:cBhvr>
                                    </p:animEffect>
                                    <p:set>
                                      <p:cBhvr>
                                        <p:cTn id="224" dur="1" fill="hold">
                                          <p:stCondLst>
                                            <p:cond delay="499"/>
                                          </p:stCondLst>
                                        </p:cTn>
                                        <p:tgtEl>
                                          <p:spTgt spid="39"/>
                                        </p:tgtEl>
                                        <p:attrNameLst>
                                          <p:attrName>style.visibility</p:attrName>
                                        </p:attrNameLst>
                                      </p:cBhvr>
                                      <p:to>
                                        <p:strVal val="hidden"/>
                                      </p:to>
                                    </p:set>
                                  </p:childTnLst>
                                </p:cTn>
                              </p:par>
                            </p:childTnLst>
                          </p:cTn>
                        </p:par>
                        <p:par>
                          <p:cTn id="225" fill="hold">
                            <p:stCondLst>
                              <p:cond delay="3250"/>
                            </p:stCondLst>
                            <p:childTnLst>
                              <p:par>
                                <p:cTn id="226" presetID="42" presetClass="path" presetSubtype="0" accel="50000" decel="50000" fill="hold" grpId="6" nodeType="afterEffect">
                                  <p:stCondLst>
                                    <p:cond delay="0"/>
                                  </p:stCondLst>
                                  <p:childTnLst>
                                    <p:animMotion origin="layout" path="M -0.00013 0.22825 L -0.00013 0.26181 " pathEditMode="relative" rAng="0" ptsTypes="AA">
                                      <p:cBhvr>
                                        <p:cTn id="227" dur="250" fill="hold"/>
                                        <p:tgtEl>
                                          <p:spTgt spid="233"/>
                                        </p:tgtEl>
                                        <p:attrNameLst>
                                          <p:attrName>ppt_x</p:attrName>
                                          <p:attrName>ppt_y</p:attrName>
                                        </p:attrNameLst>
                                      </p:cBhvr>
                                      <p:rCtr x="0" y="1667"/>
                                    </p:animMotion>
                                  </p:childTnLst>
                                </p:cTn>
                              </p:par>
                            </p:childTnLst>
                          </p:cTn>
                        </p:par>
                        <p:par>
                          <p:cTn id="228" fill="hold">
                            <p:stCondLst>
                              <p:cond delay="3500"/>
                            </p:stCondLst>
                            <p:childTnLst>
                              <p:par>
                                <p:cTn id="229" presetID="22" presetClass="exit" presetSubtype="1" fill="hold" nodeType="afterEffect">
                                  <p:stCondLst>
                                    <p:cond delay="0"/>
                                  </p:stCondLst>
                                  <p:childTnLst>
                                    <p:animEffect transition="out" filter="wipe(up)">
                                      <p:cBhvr>
                                        <p:cTn id="230" dur="500"/>
                                        <p:tgtEl>
                                          <p:spTgt spid="236"/>
                                        </p:tgtEl>
                                      </p:cBhvr>
                                    </p:animEffect>
                                    <p:set>
                                      <p:cBhvr>
                                        <p:cTn id="231" dur="1" fill="hold">
                                          <p:stCondLst>
                                            <p:cond delay="499"/>
                                          </p:stCondLst>
                                        </p:cTn>
                                        <p:tgtEl>
                                          <p:spTgt spid="236"/>
                                        </p:tgtEl>
                                        <p:attrNameLst>
                                          <p:attrName>style.visibility</p:attrName>
                                        </p:attrNameLst>
                                      </p:cBhvr>
                                      <p:to>
                                        <p:strVal val="hidden"/>
                                      </p:to>
                                    </p:set>
                                  </p:childTnLst>
                                </p:cTn>
                              </p:par>
                            </p:childTnLst>
                          </p:cTn>
                        </p:par>
                        <p:par>
                          <p:cTn id="232" fill="hold">
                            <p:stCondLst>
                              <p:cond delay="4000"/>
                            </p:stCondLst>
                            <p:childTnLst>
                              <p:par>
                                <p:cTn id="233" presetID="42" presetClass="path" presetSubtype="0" accel="50000" decel="50000" fill="hold" grpId="7" nodeType="afterEffect">
                                  <p:stCondLst>
                                    <p:cond delay="0"/>
                                  </p:stCondLst>
                                  <p:childTnLst>
                                    <p:animMotion origin="layout" path="M -0.00013 0.26181 L 0.00013 0.29399 " pathEditMode="relative" rAng="0" ptsTypes="AA">
                                      <p:cBhvr>
                                        <p:cTn id="234" dur="250" fill="hold"/>
                                        <p:tgtEl>
                                          <p:spTgt spid="233"/>
                                        </p:tgtEl>
                                        <p:attrNameLst>
                                          <p:attrName>ppt_x</p:attrName>
                                          <p:attrName>ppt_y</p:attrName>
                                        </p:attrNameLst>
                                      </p:cBhvr>
                                      <p:rCtr x="13" y="1597"/>
                                    </p:animMotion>
                                  </p:childTnLst>
                                </p:cTn>
                              </p:par>
                            </p:childTnLst>
                          </p:cTn>
                        </p:par>
                        <p:par>
                          <p:cTn id="235" fill="hold">
                            <p:stCondLst>
                              <p:cond delay="4250"/>
                            </p:stCondLst>
                            <p:childTnLst>
                              <p:par>
                                <p:cTn id="236" presetID="22" presetClass="exit" presetSubtype="2" fill="hold" nodeType="afterEffect">
                                  <p:stCondLst>
                                    <p:cond delay="0"/>
                                  </p:stCondLst>
                                  <p:childTnLst>
                                    <p:animEffect transition="out" filter="wipe(right)">
                                      <p:cBhvr>
                                        <p:cTn id="237" dur="500"/>
                                        <p:tgtEl>
                                          <p:spTgt spid="238"/>
                                        </p:tgtEl>
                                      </p:cBhvr>
                                    </p:animEffect>
                                    <p:set>
                                      <p:cBhvr>
                                        <p:cTn id="238" dur="1" fill="hold">
                                          <p:stCondLst>
                                            <p:cond delay="499"/>
                                          </p:stCondLst>
                                        </p:cTn>
                                        <p:tgtEl>
                                          <p:spTgt spid="238"/>
                                        </p:tgtEl>
                                        <p:attrNameLst>
                                          <p:attrName>style.visibility</p:attrName>
                                        </p:attrNameLst>
                                      </p:cBhvr>
                                      <p:to>
                                        <p:strVal val="hidden"/>
                                      </p:to>
                                    </p:set>
                                  </p:childTnLst>
                                </p:cTn>
                              </p:par>
                            </p:childTnLst>
                          </p:cTn>
                        </p:par>
                        <p:par>
                          <p:cTn id="239" fill="hold">
                            <p:stCondLst>
                              <p:cond delay="4750"/>
                            </p:stCondLst>
                            <p:childTnLst>
                              <p:par>
                                <p:cTn id="240" presetID="42" presetClass="path" presetSubtype="0" accel="50000" decel="50000" fill="hold" grpId="8" nodeType="afterEffect">
                                  <p:stCondLst>
                                    <p:cond delay="0"/>
                                  </p:stCondLst>
                                  <p:childTnLst>
                                    <p:animMotion origin="layout" path="M 0.00013 0.29399 L 0.00104 0.32639 " pathEditMode="relative" rAng="0" ptsTypes="AA">
                                      <p:cBhvr>
                                        <p:cTn id="241" dur="250" fill="hold"/>
                                        <p:tgtEl>
                                          <p:spTgt spid="233"/>
                                        </p:tgtEl>
                                        <p:attrNameLst>
                                          <p:attrName>ppt_x</p:attrName>
                                          <p:attrName>ppt_y</p:attrName>
                                        </p:attrNameLst>
                                      </p:cBhvr>
                                      <p:rCtr x="39" y="1620"/>
                                    </p:animMotion>
                                  </p:childTnLst>
                                </p:cTn>
                              </p:par>
                            </p:childTnLst>
                          </p:cTn>
                        </p:par>
                        <p:par>
                          <p:cTn id="242" fill="hold">
                            <p:stCondLst>
                              <p:cond delay="5000"/>
                            </p:stCondLst>
                            <p:childTnLst>
                              <p:par>
                                <p:cTn id="243" presetID="42" presetClass="path" presetSubtype="0" accel="50000" decel="50000" fill="hold" grpId="9" nodeType="afterEffect">
                                  <p:stCondLst>
                                    <p:cond delay="0"/>
                                  </p:stCondLst>
                                  <p:childTnLst>
                                    <p:animMotion origin="layout" path="M 0.00104 0.32639 L 0.00104 0.35764 " pathEditMode="relative" rAng="0" ptsTypes="AA">
                                      <p:cBhvr>
                                        <p:cTn id="244" dur="250" fill="hold"/>
                                        <p:tgtEl>
                                          <p:spTgt spid="233"/>
                                        </p:tgtEl>
                                        <p:attrNameLst>
                                          <p:attrName>ppt_x</p:attrName>
                                          <p:attrName>ppt_y</p:attrName>
                                        </p:attrNameLst>
                                      </p:cBhvr>
                                      <p:rCtr x="0" y="1551"/>
                                    </p:animMotion>
                                  </p:childTnLst>
                                </p:cTn>
                              </p:par>
                            </p:childTnLst>
                          </p:cTn>
                        </p:par>
                        <p:par>
                          <p:cTn id="245" fill="hold">
                            <p:stCondLst>
                              <p:cond delay="5250"/>
                            </p:stCondLst>
                            <p:childTnLst>
                              <p:par>
                                <p:cTn id="246" presetID="22" presetClass="exit" presetSubtype="4" fill="hold" nodeType="afterEffect">
                                  <p:stCondLst>
                                    <p:cond delay="0"/>
                                  </p:stCondLst>
                                  <p:childTnLst>
                                    <p:animEffect transition="out" filter="wipe(down)">
                                      <p:cBhvr>
                                        <p:cTn id="247" dur="500"/>
                                        <p:tgtEl>
                                          <p:spTgt spid="46"/>
                                        </p:tgtEl>
                                      </p:cBhvr>
                                    </p:animEffect>
                                    <p:set>
                                      <p:cBhvr>
                                        <p:cTn id="248" dur="1" fill="hold">
                                          <p:stCondLst>
                                            <p:cond delay="499"/>
                                          </p:stCondLst>
                                        </p:cTn>
                                        <p:tgtEl>
                                          <p:spTgt spid="46"/>
                                        </p:tgtEl>
                                        <p:attrNameLst>
                                          <p:attrName>style.visibility</p:attrName>
                                        </p:attrNameLst>
                                      </p:cBhvr>
                                      <p:to>
                                        <p:strVal val="hidden"/>
                                      </p:to>
                                    </p:set>
                                  </p:childTnLst>
                                </p:cTn>
                              </p:par>
                              <p:par>
                                <p:cTn id="249" presetID="22" presetClass="exit" presetSubtype="1" fill="hold" nodeType="withEffect">
                                  <p:stCondLst>
                                    <p:cond delay="0"/>
                                  </p:stCondLst>
                                  <p:childTnLst>
                                    <p:animEffect transition="out" filter="wipe(up)">
                                      <p:cBhvr>
                                        <p:cTn id="250" dur="500"/>
                                        <p:tgtEl>
                                          <p:spTgt spid="240"/>
                                        </p:tgtEl>
                                      </p:cBhvr>
                                    </p:animEffect>
                                    <p:set>
                                      <p:cBhvr>
                                        <p:cTn id="251" dur="1" fill="hold">
                                          <p:stCondLst>
                                            <p:cond delay="499"/>
                                          </p:stCondLst>
                                        </p:cTn>
                                        <p:tgtEl>
                                          <p:spTgt spid="240"/>
                                        </p:tgtEl>
                                        <p:attrNameLst>
                                          <p:attrName>style.visibility</p:attrName>
                                        </p:attrNameLst>
                                      </p:cBhvr>
                                      <p:to>
                                        <p:strVal val="hidden"/>
                                      </p:to>
                                    </p:set>
                                  </p:childTnLst>
                                </p:cTn>
                              </p:par>
                            </p:childTnLst>
                          </p:cTn>
                        </p:par>
                        <p:par>
                          <p:cTn id="252" fill="hold">
                            <p:stCondLst>
                              <p:cond delay="5750"/>
                            </p:stCondLst>
                            <p:childTnLst>
                              <p:par>
                                <p:cTn id="253" presetID="42" presetClass="path" presetSubtype="0" accel="50000" decel="50000" fill="hold" grpId="10" nodeType="afterEffect">
                                  <p:stCondLst>
                                    <p:cond delay="0"/>
                                  </p:stCondLst>
                                  <p:childTnLst>
                                    <p:animMotion origin="layout" path="M 0.00104 0.35764 L 0.00104 0.38959 " pathEditMode="relative" rAng="0" ptsTypes="AA">
                                      <p:cBhvr>
                                        <p:cTn id="254" dur="250" fill="hold"/>
                                        <p:tgtEl>
                                          <p:spTgt spid="233"/>
                                        </p:tgtEl>
                                        <p:attrNameLst>
                                          <p:attrName>ppt_x</p:attrName>
                                          <p:attrName>ppt_y</p:attrName>
                                        </p:attrNameLst>
                                      </p:cBhvr>
                                      <p:rCtr x="0" y="1597"/>
                                    </p:animMotion>
                                  </p:childTnLst>
                                </p:cTn>
                              </p:par>
                            </p:childTnLst>
                          </p:cTn>
                        </p:par>
                        <p:par>
                          <p:cTn id="255" fill="hold">
                            <p:stCondLst>
                              <p:cond delay="6000"/>
                            </p:stCondLst>
                            <p:childTnLst>
                              <p:par>
                                <p:cTn id="256" presetID="22" presetClass="exit" presetSubtype="2" fill="hold" nodeType="afterEffect">
                                  <p:stCondLst>
                                    <p:cond delay="0"/>
                                  </p:stCondLst>
                                  <p:childTnLst>
                                    <p:animEffect transition="out" filter="wipe(right)">
                                      <p:cBhvr>
                                        <p:cTn id="257" dur="500"/>
                                        <p:tgtEl>
                                          <p:spTgt spid="50"/>
                                        </p:tgtEl>
                                      </p:cBhvr>
                                    </p:animEffect>
                                    <p:set>
                                      <p:cBhvr>
                                        <p:cTn id="258" dur="1" fill="hold">
                                          <p:stCondLst>
                                            <p:cond delay="499"/>
                                          </p:stCondLst>
                                        </p:cTn>
                                        <p:tgtEl>
                                          <p:spTgt spid="50"/>
                                        </p:tgtEl>
                                        <p:attrNameLst>
                                          <p:attrName>style.visibility</p:attrName>
                                        </p:attrNameLst>
                                      </p:cBhvr>
                                      <p:to>
                                        <p:strVal val="hidden"/>
                                      </p:to>
                                    </p:set>
                                  </p:childTnLst>
                                </p:cTn>
                              </p:par>
                            </p:childTnLst>
                          </p:cTn>
                        </p:par>
                        <p:par>
                          <p:cTn id="259" fill="hold">
                            <p:stCondLst>
                              <p:cond delay="6500"/>
                            </p:stCondLst>
                            <p:childTnLst>
                              <p:par>
                                <p:cTn id="260" presetID="42" presetClass="path" presetSubtype="0" accel="50000" decel="50000" fill="hold" grpId="11" nodeType="afterEffect">
                                  <p:stCondLst>
                                    <p:cond delay="0"/>
                                  </p:stCondLst>
                                  <p:childTnLst>
                                    <p:animMotion origin="layout" path="M 0.00104 0.38959 L 0.00196 0.425 " pathEditMode="relative" rAng="0" ptsTypes="AA">
                                      <p:cBhvr>
                                        <p:cTn id="261" dur="250" fill="hold"/>
                                        <p:tgtEl>
                                          <p:spTgt spid="233"/>
                                        </p:tgtEl>
                                        <p:attrNameLst>
                                          <p:attrName>ppt_x</p:attrName>
                                          <p:attrName>ppt_y</p:attrName>
                                        </p:attrNameLst>
                                      </p:cBhvr>
                                      <p:rCtr x="39" y="1759"/>
                                    </p:animMotion>
                                  </p:childTnLst>
                                </p:cTn>
                              </p:par>
                            </p:childTnLst>
                          </p:cTn>
                        </p:par>
                        <p:par>
                          <p:cTn id="262" fill="hold">
                            <p:stCondLst>
                              <p:cond delay="6750"/>
                            </p:stCondLst>
                            <p:childTnLst>
                              <p:par>
                                <p:cTn id="263" presetID="42" presetClass="path" presetSubtype="0" accel="50000" decel="50000" fill="hold" grpId="12" nodeType="afterEffect">
                                  <p:stCondLst>
                                    <p:cond delay="0"/>
                                  </p:stCondLst>
                                  <p:childTnLst>
                                    <p:animMotion origin="layout" path="M 0.00196 0.425 L 0.00157 0.45903 " pathEditMode="relative" rAng="0" ptsTypes="AA">
                                      <p:cBhvr>
                                        <p:cTn id="264" dur="250" fill="hold"/>
                                        <p:tgtEl>
                                          <p:spTgt spid="233"/>
                                        </p:tgtEl>
                                        <p:attrNameLst>
                                          <p:attrName>ppt_x</p:attrName>
                                          <p:attrName>ppt_y</p:attrName>
                                        </p:attrNameLst>
                                      </p:cBhvr>
                                      <p:rCtr x="-26" y="1690"/>
                                    </p:animMotion>
                                  </p:childTnLst>
                                </p:cTn>
                              </p:par>
                            </p:childTnLst>
                          </p:cTn>
                        </p:par>
                        <p:par>
                          <p:cTn id="265" fill="hold">
                            <p:stCondLst>
                              <p:cond delay="7000"/>
                            </p:stCondLst>
                            <p:childTnLst>
                              <p:par>
                                <p:cTn id="266" presetID="22" presetClass="exit" presetSubtype="4" fill="hold" nodeType="afterEffect">
                                  <p:stCondLst>
                                    <p:cond delay="0"/>
                                  </p:stCondLst>
                                  <p:childTnLst>
                                    <p:animEffect transition="out" filter="wipe(down)">
                                      <p:cBhvr>
                                        <p:cTn id="267" dur="500"/>
                                        <p:tgtEl>
                                          <p:spTgt spid="49"/>
                                        </p:tgtEl>
                                      </p:cBhvr>
                                    </p:animEffect>
                                    <p:set>
                                      <p:cBhvr>
                                        <p:cTn id="268" dur="1" fill="hold">
                                          <p:stCondLst>
                                            <p:cond delay="499"/>
                                          </p:stCondLst>
                                        </p:cTn>
                                        <p:tgtEl>
                                          <p:spTgt spid="49"/>
                                        </p:tgtEl>
                                        <p:attrNameLst>
                                          <p:attrName>style.visibility</p:attrName>
                                        </p:attrNameLst>
                                      </p:cBhvr>
                                      <p:to>
                                        <p:strVal val="hidden"/>
                                      </p:to>
                                    </p:set>
                                  </p:childTnLst>
                                </p:cTn>
                              </p:par>
                            </p:childTnLst>
                          </p:cTn>
                        </p:par>
                        <p:par>
                          <p:cTn id="269" fill="hold">
                            <p:stCondLst>
                              <p:cond delay="7500"/>
                            </p:stCondLst>
                            <p:childTnLst>
                              <p:par>
                                <p:cTn id="270" presetID="42" presetClass="path" presetSubtype="0" accel="50000" decel="50000" fill="hold" grpId="13" nodeType="afterEffect">
                                  <p:stCondLst>
                                    <p:cond delay="0"/>
                                  </p:stCondLst>
                                  <p:childTnLst>
                                    <p:animMotion origin="layout" path="M 0.00157 0.45903 L 0.00157 0.49167 " pathEditMode="relative" rAng="0" ptsTypes="AA">
                                      <p:cBhvr>
                                        <p:cTn id="271" dur="250" fill="hold"/>
                                        <p:tgtEl>
                                          <p:spTgt spid="233"/>
                                        </p:tgtEl>
                                        <p:attrNameLst>
                                          <p:attrName>ppt_x</p:attrName>
                                          <p:attrName>ppt_y</p:attrName>
                                        </p:attrNameLst>
                                      </p:cBhvr>
                                      <p:rCtr x="0" y="1620"/>
                                    </p:animMotion>
                                  </p:childTnLst>
                                </p:cTn>
                              </p:par>
                            </p:childTnLst>
                          </p:cTn>
                        </p:par>
                        <p:par>
                          <p:cTn id="272" fill="hold">
                            <p:stCondLst>
                              <p:cond delay="7750"/>
                            </p:stCondLst>
                            <p:childTnLst>
                              <p:par>
                                <p:cTn id="273" presetID="22" presetClass="exit" presetSubtype="4" fill="hold" nodeType="afterEffect">
                                  <p:stCondLst>
                                    <p:cond delay="0"/>
                                  </p:stCondLst>
                                  <p:childTnLst>
                                    <p:animEffect transition="out" filter="wipe(down)">
                                      <p:cBhvr>
                                        <p:cTn id="274" dur="500"/>
                                        <p:tgtEl>
                                          <p:spTgt spid="62"/>
                                        </p:tgtEl>
                                      </p:cBhvr>
                                    </p:animEffect>
                                    <p:set>
                                      <p:cBhvr>
                                        <p:cTn id="275" dur="1" fill="hold">
                                          <p:stCondLst>
                                            <p:cond delay="499"/>
                                          </p:stCondLst>
                                        </p:cTn>
                                        <p:tgtEl>
                                          <p:spTgt spid="62"/>
                                        </p:tgtEl>
                                        <p:attrNameLst>
                                          <p:attrName>style.visibility</p:attrName>
                                        </p:attrNameLst>
                                      </p:cBhvr>
                                      <p:to>
                                        <p:strVal val="hidden"/>
                                      </p:to>
                                    </p:set>
                                  </p:childTnLst>
                                </p:cTn>
                              </p:par>
                            </p:childTnLst>
                          </p:cTn>
                        </p:par>
                        <p:par>
                          <p:cTn id="276" fill="hold">
                            <p:stCondLst>
                              <p:cond delay="8250"/>
                            </p:stCondLst>
                            <p:childTnLst>
                              <p:par>
                                <p:cTn id="277" presetID="42" presetClass="path" presetSubtype="0" accel="50000" decel="50000" fill="hold" grpId="14" nodeType="afterEffect">
                                  <p:stCondLst>
                                    <p:cond delay="0"/>
                                  </p:stCondLst>
                                  <p:childTnLst>
                                    <p:animMotion origin="layout" path="M 0.00157 0.49167 L 0.00196 0.52153 " pathEditMode="relative" rAng="0" ptsTypes="AA">
                                      <p:cBhvr>
                                        <p:cTn id="278" dur="250" fill="hold"/>
                                        <p:tgtEl>
                                          <p:spTgt spid="233"/>
                                        </p:tgtEl>
                                        <p:attrNameLst>
                                          <p:attrName>ppt_x</p:attrName>
                                          <p:attrName>ppt_y</p:attrName>
                                        </p:attrNameLst>
                                      </p:cBhvr>
                                      <p:rCtr x="13" y="1481"/>
                                    </p:animMotion>
                                  </p:childTnLst>
                                </p:cTn>
                              </p:par>
                            </p:childTnLst>
                          </p:cTn>
                        </p:par>
                        <p:par>
                          <p:cTn id="279" fill="hold">
                            <p:stCondLst>
                              <p:cond delay="8500"/>
                            </p:stCondLst>
                            <p:childTnLst>
                              <p:par>
                                <p:cTn id="280" presetID="42" presetClass="path" presetSubtype="0" accel="50000" decel="50000" fill="hold" grpId="15" nodeType="afterEffect">
                                  <p:stCondLst>
                                    <p:cond delay="0"/>
                                  </p:stCondLst>
                                  <p:childTnLst>
                                    <p:animMotion origin="layout" path="M 0.00196 0.52153 L 0.00157 0.55487 " pathEditMode="relative" rAng="0" ptsTypes="AA">
                                      <p:cBhvr>
                                        <p:cTn id="281" dur="250" fill="hold"/>
                                        <p:tgtEl>
                                          <p:spTgt spid="233"/>
                                        </p:tgtEl>
                                        <p:attrNameLst>
                                          <p:attrName>ppt_x</p:attrName>
                                          <p:attrName>ppt_y</p:attrName>
                                        </p:attrNameLst>
                                      </p:cBhvr>
                                      <p:rCtr x="-26" y="1667"/>
                                    </p:animMotion>
                                  </p:childTnLst>
                                </p:cTn>
                              </p:par>
                            </p:childTnLst>
                          </p:cTn>
                        </p:par>
                        <p:par>
                          <p:cTn id="282" fill="hold">
                            <p:stCondLst>
                              <p:cond delay="8750"/>
                            </p:stCondLst>
                            <p:childTnLst>
                              <p:par>
                                <p:cTn id="283" presetID="22" presetClass="exit" presetSubtype="2" fill="hold" nodeType="afterEffect">
                                  <p:stCondLst>
                                    <p:cond delay="0"/>
                                  </p:stCondLst>
                                  <p:childTnLst>
                                    <p:animEffect transition="out" filter="wipe(right)">
                                      <p:cBhvr>
                                        <p:cTn id="284" dur="500"/>
                                        <p:tgtEl>
                                          <p:spTgt spid="16"/>
                                        </p:tgtEl>
                                      </p:cBhvr>
                                    </p:animEffect>
                                    <p:set>
                                      <p:cBhvr>
                                        <p:cTn id="285" dur="1" fill="hold">
                                          <p:stCondLst>
                                            <p:cond delay="499"/>
                                          </p:stCondLst>
                                        </p:cTn>
                                        <p:tgtEl>
                                          <p:spTgt spid="16"/>
                                        </p:tgtEl>
                                        <p:attrNameLst>
                                          <p:attrName>style.visibility</p:attrName>
                                        </p:attrNameLst>
                                      </p:cBhvr>
                                      <p:to>
                                        <p:strVal val="hidden"/>
                                      </p:to>
                                    </p:set>
                                  </p:childTnLst>
                                </p:cTn>
                              </p:par>
                            </p:childTnLst>
                          </p:cTn>
                        </p:par>
                        <p:par>
                          <p:cTn id="286" fill="hold">
                            <p:stCondLst>
                              <p:cond delay="9250"/>
                            </p:stCondLst>
                            <p:childTnLst>
                              <p:par>
                                <p:cTn id="287" presetID="42" presetClass="path" presetSubtype="0" accel="50000" decel="50000" fill="hold" grpId="16" nodeType="afterEffect">
                                  <p:stCondLst>
                                    <p:cond delay="0"/>
                                  </p:stCondLst>
                                  <p:childTnLst>
                                    <p:animMotion origin="layout" path="M 0.00157 0.55487 L 0.00196 0.58727 " pathEditMode="relative" rAng="0" ptsTypes="AA">
                                      <p:cBhvr>
                                        <p:cTn id="288" dur="250" fill="hold"/>
                                        <p:tgtEl>
                                          <p:spTgt spid="233"/>
                                        </p:tgtEl>
                                        <p:attrNameLst>
                                          <p:attrName>ppt_x</p:attrName>
                                          <p:attrName>ppt_y</p:attrName>
                                        </p:attrNameLst>
                                      </p:cBhvr>
                                      <p:rCtr x="13" y="1620"/>
                                    </p:animMotion>
                                  </p:childTnLst>
                                </p:cTn>
                              </p:par>
                            </p:childTnLst>
                          </p:cTn>
                        </p:par>
                        <p:par>
                          <p:cTn id="289" fill="hold">
                            <p:stCondLst>
                              <p:cond delay="9500"/>
                            </p:stCondLst>
                            <p:childTnLst>
                              <p:par>
                                <p:cTn id="290" presetID="22" presetClass="exit" presetSubtype="2" fill="hold" nodeType="afterEffect">
                                  <p:stCondLst>
                                    <p:cond delay="0"/>
                                  </p:stCondLst>
                                  <p:childTnLst>
                                    <p:animEffect transition="out" filter="wipe(right)">
                                      <p:cBhvr>
                                        <p:cTn id="291" dur="500"/>
                                        <p:tgtEl>
                                          <p:spTgt spid="17"/>
                                        </p:tgtEl>
                                      </p:cBhvr>
                                    </p:animEffect>
                                    <p:set>
                                      <p:cBhvr>
                                        <p:cTn id="292" dur="1" fill="hold">
                                          <p:stCondLst>
                                            <p:cond delay="499"/>
                                          </p:stCondLst>
                                        </p:cTn>
                                        <p:tgtEl>
                                          <p:spTgt spid="17"/>
                                        </p:tgtEl>
                                        <p:attrNameLst>
                                          <p:attrName>style.visibility</p:attrName>
                                        </p:attrNameLst>
                                      </p:cBhvr>
                                      <p:to>
                                        <p:strVal val="hidden"/>
                                      </p:to>
                                    </p:set>
                                  </p:childTnLst>
                                </p:cTn>
                              </p:par>
                            </p:childTnLst>
                          </p:cTn>
                        </p:par>
                        <p:par>
                          <p:cTn id="293" fill="hold">
                            <p:stCondLst>
                              <p:cond delay="10000"/>
                            </p:stCondLst>
                            <p:childTnLst>
                              <p:par>
                                <p:cTn id="294" presetID="42" presetClass="path" presetSubtype="0" accel="50000" decel="50000" fill="hold" grpId="17" nodeType="afterEffect">
                                  <p:stCondLst>
                                    <p:cond delay="0"/>
                                  </p:stCondLst>
                                  <p:childTnLst>
                                    <p:animMotion origin="layout" path="M 0.00196 0.58727 L 0.00235 0.62061 " pathEditMode="relative" rAng="0" ptsTypes="AA">
                                      <p:cBhvr>
                                        <p:cTn id="295" dur="250" fill="hold"/>
                                        <p:tgtEl>
                                          <p:spTgt spid="233"/>
                                        </p:tgtEl>
                                        <p:attrNameLst>
                                          <p:attrName>ppt_x</p:attrName>
                                          <p:attrName>ppt_y</p:attrName>
                                        </p:attrNameLst>
                                      </p:cBhvr>
                                      <p:rCtr x="13" y="1667"/>
                                    </p:animMotion>
                                  </p:childTnLst>
                                </p:cTn>
                              </p:par>
                            </p:childTnLst>
                          </p:cTn>
                        </p:par>
                        <p:par>
                          <p:cTn id="296" fill="hold">
                            <p:stCondLst>
                              <p:cond delay="10250"/>
                            </p:stCondLst>
                            <p:childTnLst>
                              <p:par>
                                <p:cTn id="297" presetID="22" presetClass="exit" presetSubtype="2" fill="hold" nodeType="afterEffect">
                                  <p:stCondLst>
                                    <p:cond delay="0"/>
                                  </p:stCondLst>
                                  <p:childTnLst>
                                    <p:animEffect transition="out" filter="wipe(right)">
                                      <p:cBhvr>
                                        <p:cTn id="298" dur="500"/>
                                        <p:tgtEl>
                                          <p:spTgt spid="18"/>
                                        </p:tgtEl>
                                      </p:cBhvr>
                                    </p:animEffect>
                                    <p:set>
                                      <p:cBhvr>
                                        <p:cTn id="299" dur="1" fill="hold">
                                          <p:stCondLst>
                                            <p:cond delay="499"/>
                                          </p:stCondLst>
                                        </p:cTn>
                                        <p:tgtEl>
                                          <p:spTgt spid="18"/>
                                        </p:tgtEl>
                                        <p:attrNameLst>
                                          <p:attrName>style.visibility</p:attrName>
                                        </p:attrNameLst>
                                      </p:cBhvr>
                                      <p:to>
                                        <p:strVal val="hidden"/>
                                      </p:to>
                                    </p:set>
                                  </p:childTnLst>
                                </p:cTn>
                              </p:par>
                            </p:childTnLst>
                          </p:cTn>
                        </p:par>
                        <p:par>
                          <p:cTn id="300" fill="hold">
                            <p:stCondLst>
                              <p:cond delay="10750"/>
                            </p:stCondLst>
                            <p:childTnLst>
                              <p:par>
                                <p:cTn id="301" presetID="42" presetClass="path" presetSubtype="0" accel="50000" decel="50000" fill="hold" grpId="18" nodeType="afterEffect">
                                  <p:stCondLst>
                                    <p:cond delay="0"/>
                                  </p:stCondLst>
                                  <p:childTnLst>
                                    <p:animMotion origin="layout" path="M 0.00235 0.62061 L 0.00274 0.65325 " pathEditMode="relative" rAng="0" ptsTypes="AA">
                                      <p:cBhvr>
                                        <p:cTn id="302" dur="250" fill="hold"/>
                                        <p:tgtEl>
                                          <p:spTgt spid="233"/>
                                        </p:tgtEl>
                                        <p:attrNameLst>
                                          <p:attrName>ppt_x</p:attrName>
                                          <p:attrName>ppt_y</p:attrName>
                                        </p:attrNameLst>
                                      </p:cBhvr>
                                      <p:rCtr x="13" y="1620"/>
                                    </p:animMotion>
                                  </p:childTnLst>
                                </p:cTn>
                              </p:par>
                            </p:childTnLst>
                          </p:cTn>
                        </p:par>
                        <p:par>
                          <p:cTn id="303" fill="hold">
                            <p:stCondLst>
                              <p:cond delay="11000"/>
                            </p:stCondLst>
                            <p:childTnLst>
                              <p:par>
                                <p:cTn id="304" presetID="22" presetClass="exit" presetSubtype="4" fill="hold" nodeType="afterEffect">
                                  <p:stCondLst>
                                    <p:cond delay="0"/>
                                  </p:stCondLst>
                                  <p:childTnLst>
                                    <p:animEffect transition="out" filter="wipe(down)">
                                      <p:cBhvr>
                                        <p:cTn id="305" dur="500"/>
                                        <p:tgtEl>
                                          <p:spTgt spid="15"/>
                                        </p:tgtEl>
                                      </p:cBhvr>
                                    </p:animEffect>
                                    <p:set>
                                      <p:cBhvr>
                                        <p:cTn id="306" dur="1" fill="hold">
                                          <p:stCondLst>
                                            <p:cond delay="499"/>
                                          </p:stCondLst>
                                        </p:cTn>
                                        <p:tgtEl>
                                          <p:spTgt spid="15"/>
                                        </p:tgtEl>
                                        <p:attrNameLst>
                                          <p:attrName>style.visibility</p:attrName>
                                        </p:attrNameLst>
                                      </p:cBhvr>
                                      <p:to>
                                        <p:strVal val="hidden"/>
                                      </p:to>
                                    </p:set>
                                  </p:childTnLst>
                                </p:cTn>
                              </p:par>
                            </p:childTnLst>
                          </p:cTn>
                        </p:par>
                        <p:par>
                          <p:cTn id="307" fill="hold">
                            <p:stCondLst>
                              <p:cond delay="11500"/>
                            </p:stCondLst>
                            <p:childTnLst>
                              <p:par>
                                <p:cTn id="308" presetID="42" presetClass="path" presetSubtype="0" accel="50000" decel="50000" fill="hold" grpId="19" nodeType="afterEffect">
                                  <p:stCondLst>
                                    <p:cond delay="0"/>
                                  </p:stCondLst>
                                  <p:childTnLst>
                                    <p:animMotion origin="layout" path="M 0.00274 0.65325 L 0.00235 0.68658 " pathEditMode="relative" rAng="0" ptsTypes="AA">
                                      <p:cBhvr>
                                        <p:cTn id="309" dur="250" fill="hold"/>
                                        <p:tgtEl>
                                          <p:spTgt spid="233"/>
                                        </p:tgtEl>
                                        <p:attrNameLst>
                                          <p:attrName>ppt_x</p:attrName>
                                          <p:attrName>ppt_y</p:attrName>
                                        </p:attrNameLst>
                                      </p:cBhvr>
                                      <p:rCtr x="-26" y="1667"/>
                                    </p:animMotion>
                                  </p:childTnLst>
                                </p:cTn>
                              </p:par>
                            </p:childTnLst>
                          </p:cTn>
                        </p:par>
                        <p:par>
                          <p:cTn id="310" fill="hold">
                            <p:stCondLst>
                              <p:cond delay="11750"/>
                            </p:stCondLst>
                            <p:childTnLst>
                              <p:par>
                                <p:cTn id="311" presetID="22" presetClass="exit" presetSubtype="2" fill="hold" nodeType="afterEffect">
                                  <p:stCondLst>
                                    <p:cond delay="0"/>
                                  </p:stCondLst>
                                  <p:childTnLst>
                                    <p:animEffect transition="out" filter="wipe(right)">
                                      <p:cBhvr>
                                        <p:cTn id="312" dur="500"/>
                                        <p:tgtEl>
                                          <p:spTgt spid="11"/>
                                        </p:tgtEl>
                                      </p:cBhvr>
                                    </p:animEffect>
                                    <p:set>
                                      <p:cBhvr>
                                        <p:cTn id="313" dur="1" fill="hold">
                                          <p:stCondLst>
                                            <p:cond delay="499"/>
                                          </p:stCondLst>
                                        </p:cTn>
                                        <p:tgtEl>
                                          <p:spTgt spid="11"/>
                                        </p:tgtEl>
                                        <p:attrNameLst>
                                          <p:attrName>style.visibility</p:attrName>
                                        </p:attrNameLst>
                                      </p:cBhvr>
                                      <p:to>
                                        <p:strVal val="hidden"/>
                                      </p:to>
                                    </p:set>
                                  </p:childTnLst>
                                </p:cTn>
                              </p:par>
                            </p:childTnLst>
                          </p:cTn>
                        </p:par>
                        <p:par>
                          <p:cTn id="314" fill="hold">
                            <p:stCondLst>
                              <p:cond delay="12250"/>
                            </p:stCondLst>
                            <p:childTnLst>
                              <p:par>
                                <p:cTn id="315" presetID="42" presetClass="path" presetSubtype="0" accel="50000" decel="50000" fill="hold" grpId="20" nodeType="afterEffect">
                                  <p:stCondLst>
                                    <p:cond delay="0"/>
                                  </p:stCondLst>
                                  <p:childTnLst>
                                    <p:animMotion origin="layout" path="M 0.00235 0.68658 L 0.00235 0.71922 " pathEditMode="relative" rAng="0" ptsTypes="AA">
                                      <p:cBhvr>
                                        <p:cTn id="316" dur="250" fill="hold"/>
                                        <p:tgtEl>
                                          <p:spTgt spid="233"/>
                                        </p:tgtEl>
                                        <p:attrNameLst>
                                          <p:attrName>ppt_x</p:attrName>
                                          <p:attrName>ppt_y</p:attrName>
                                        </p:attrNameLst>
                                      </p:cBhvr>
                                      <p:rCtr x="0" y="1620"/>
                                    </p:animMotion>
                                  </p:childTnLst>
                                </p:cTn>
                              </p:par>
                            </p:childTnLst>
                          </p:cTn>
                        </p:par>
                        <p:par>
                          <p:cTn id="317" fill="hold">
                            <p:stCondLst>
                              <p:cond delay="12500"/>
                            </p:stCondLst>
                            <p:childTnLst>
                              <p:par>
                                <p:cTn id="318" presetID="22" presetClass="exit" presetSubtype="2" fill="hold" nodeType="afterEffect">
                                  <p:stCondLst>
                                    <p:cond delay="0"/>
                                  </p:stCondLst>
                                  <p:childTnLst>
                                    <p:animEffect transition="out" filter="wipe(right)">
                                      <p:cBhvr>
                                        <p:cTn id="319" dur="500"/>
                                        <p:tgtEl>
                                          <p:spTgt spid="12"/>
                                        </p:tgtEl>
                                      </p:cBhvr>
                                    </p:animEffect>
                                    <p:set>
                                      <p:cBhvr>
                                        <p:cTn id="320" dur="1" fill="hold">
                                          <p:stCondLst>
                                            <p:cond delay="499"/>
                                          </p:stCondLst>
                                        </p:cTn>
                                        <p:tgtEl>
                                          <p:spTgt spid="12"/>
                                        </p:tgtEl>
                                        <p:attrNameLst>
                                          <p:attrName>style.visibility</p:attrName>
                                        </p:attrNameLst>
                                      </p:cBhvr>
                                      <p:to>
                                        <p:strVal val="hidden"/>
                                      </p:to>
                                    </p:set>
                                  </p:childTnLst>
                                </p:cTn>
                              </p:par>
                            </p:childTnLst>
                          </p:cTn>
                        </p:par>
                        <p:par>
                          <p:cTn id="321" fill="hold">
                            <p:stCondLst>
                              <p:cond delay="13000"/>
                            </p:stCondLst>
                            <p:childTnLst>
                              <p:par>
                                <p:cTn id="322" presetID="42" presetClass="path" presetSubtype="0" accel="50000" decel="50000" fill="hold" grpId="21" nodeType="afterEffect">
                                  <p:stCondLst>
                                    <p:cond delay="0"/>
                                  </p:stCondLst>
                                  <p:childTnLst>
                                    <p:animMotion origin="layout" path="M 0.00235 0.71922 L 0.00274 0.75255 " pathEditMode="relative" rAng="0" ptsTypes="AA">
                                      <p:cBhvr>
                                        <p:cTn id="323" dur="250" fill="hold"/>
                                        <p:tgtEl>
                                          <p:spTgt spid="233"/>
                                        </p:tgtEl>
                                        <p:attrNameLst>
                                          <p:attrName>ppt_x</p:attrName>
                                          <p:attrName>ppt_y</p:attrName>
                                        </p:attrNameLst>
                                      </p:cBhvr>
                                      <p:rCtr x="13" y="1667"/>
                                    </p:animMotion>
                                  </p:childTnLst>
                                </p:cTn>
                              </p:par>
                            </p:childTnLst>
                          </p:cTn>
                        </p:par>
                        <p:par>
                          <p:cTn id="324" fill="hold">
                            <p:stCondLst>
                              <p:cond delay="13250"/>
                            </p:stCondLst>
                            <p:childTnLst>
                              <p:par>
                                <p:cTn id="325" presetID="22" presetClass="exit" presetSubtype="2" fill="hold" nodeType="afterEffect">
                                  <p:stCondLst>
                                    <p:cond delay="0"/>
                                  </p:stCondLst>
                                  <p:childTnLst>
                                    <p:animEffect transition="out" filter="wipe(right)">
                                      <p:cBhvr>
                                        <p:cTn id="326" dur="500"/>
                                        <p:tgtEl>
                                          <p:spTgt spid="68"/>
                                        </p:tgtEl>
                                      </p:cBhvr>
                                    </p:animEffect>
                                    <p:set>
                                      <p:cBhvr>
                                        <p:cTn id="327" dur="1" fill="hold">
                                          <p:stCondLst>
                                            <p:cond delay="499"/>
                                          </p:stCondLst>
                                        </p:cTn>
                                        <p:tgtEl>
                                          <p:spTgt spid="68"/>
                                        </p:tgtEl>
                                        <p:attrNameLst>
                                          <p:attrName>style.visibility</p:attrName>
                                        </p:attrNameLst>
                                      </p:cBhvr>
                                      <p:to>
                                        <p:strVal val="hidden"/>
                                      </p:to>
                                    </p:set>
                                  </p:childTnLst>
                                </p:cTn>
                              </p:par>
                            </p:childTnLst>
                          </p:cTn>
                        </p:par>
                        <p:par>
                          <p:cTn id="328" fill="hold">
                            <p:stCondLst>
                              <p:cond delay="13750"/>
                            </p:stCondLst>
                            <p:childTnLst>
                              <p:par>
                                <p:cTn id="329" presetID="42" presetClass="path" presetSubtype="0" accel="50000" decel="50000" fill="hold" grpId="22" nodeType="afterEffect">
                                  <p:stCondLst>
                                    <p:cond delay="0"/>
                                  </p:stCondLst>
                                  <p:childTnLst>
                                    <p:animMotion origin="layout" path="M 0.00274 0.75255 L 0.00274 0.7845 " pathEditMode="relative" rAng="0" ptsTypes="AA">
                                      <p:cBhvr>
                                        <p:cTn id="330" dur="250" fill="hold"/>
                                        <p:tgtEl>
                                          <p:spTgt spid="233"/>
                                        </p:tgtEl>
                                        <p:attrNameLst>
                                          <p:attrName>ppt_x</p:attrName>
                                          <p:attrName>ppt_y</p:attrName>
                                        </p:attrNameLst>
                                      </p:cBhvr>
                                      <p:rCtr x="0" y="1597"/>
                                    </p:animMotion>
                                  </p:childTnLst>
                                </p:cTn>
                              </p:par>
                            </p:childTnLst>
                          </p:cTn>
                        </p:par>
                        <p:par>
                          <p:cTn id="331" fill="hold">
                            <p:stCondLst>
                              <p:cond delay="14000"/>
                            </p:stCondLst>
                            <p:childTnLst>
                              <p:par>
                                <p:cTn id="332" presetID="22" presetClass="exit" presetSubtype="4" fill="hold" nodeType="afterEffect">
                                  <p:stCondLst>
                                    <p:cond delay="0"/>
                                  </p:stCondLst>
                                  <p:childTnLst>
                                    <p:animEffect transition="out" filter="wipe(down)">
                                      <p:cBhvr>
                                        <p:cTn id="333" dur="500"/>
                                        <p:tgtEl>
                                          <p:spTgt spid="13"/>
                                        </p:tgtEl>
                                      </p:cBhvr>
                                    </p:animEffect>
                                    <p:set>
                                      <p:cBhvr>
                                        <p:cTn id="334" dur="1" fill="hold">
                                          <p:stCondLst>
                                            <p:cond delay="499"/>
                                          </p:stCondLst>
                                        </p:cTn>
                                        <p:tgtEl>
                                          <p:spTgt spid="13"/>
                                        </p:tgtEl>
                                        <p:attrNameLst>
                                          <p:attrName>style.visibility</p:attrName>
                                        </p:attrNameLst>
                                      </p:cBhvr>
                                      <p:to>
                                        <p:strVal val="hidden"/>
                                      </p:to>
                                    </p:set>
                                  </p:childTnLst>
                                </p:cTn>
                              </p:par>
                            </p:childTnLst>
                          </p:cTn>
                        </p:par>
                        <p:par>
                          <p:cTn id="335" fill="hold">
                            <p:stCondLst>
                              <p:cond delay="14500"/>
                            </p:stCondLst>
                            <p:childTnLst>
                              <p:par>
                                <p:cTn id="336" presetID="42" presetClass="path" presetSubtype="0" accel="50000" decel="50000" fill="hold" grpId="23" nodeType="afterEffect">
                                  <p:stCondLst>
                                    <p:cond delay="0"/>
                                  </p:stCondLst>
                                  <p:childTnLst>
                                    <p:animMotion origin="layout" path="M 0.00274 0.7845 L 0.00352 0.81852 " pathEditMode="relative" rAng="0" ptsTypes="AA">
                                      <p:cBhvr>
                                        <p:cTn id="337" dur="250" fill="hold"/>
                                        <p:tgtEl>
                                          <p:spTgt spid="233"/>
                                        </p:tgtEl>
                                        <p:attrNameLst>
                                          <p:attrName>ppt_x</p:attrName>
                                          <p:attrName>ppt_y</p:attrName>
                                        </p:attrNameLst>
                                      </p:cBhvr>
                                      <p:rCtr x="39" y="1690"/>
                                    </p:animMotion>
                                  </p:childTnLst>
                                </p:cTn>
                              </p:par>
                            </p:childTnLst>
                          </p:cTn>
                        </p:par>
                        <p:par>
                          <p:cTn id="338" fill="hold">
                            <p:stCondLst>
                              <p:cond delay="14750"/>
                            </p:stCondLst>
                            <p:childTnLst>
                              <p:par>
                                <p:cTn id="339" presetID="22" presetClass="exit" presetSubtype="2" fill="hold" nodeType="afterEffect">
                                  <p:stCondLst>
                                    <p:cond delay="0"/>
                                  </p:stCondLst>
                                  <p:childTnLst>
                                    <p:animEffect transition="out" filter="wipe(right)">
                                      <p:cBhvr>
                                        <p:cTn id="340" dur="500"/>
                                        <p:tgtEl>
                                          <p:spTgt spid="69"/>
                                        </p:tgtEl>
                                      </p:cBhvr>
                                    </p:animEffect>
                                    <p:set>
                                      <p:cBhvr>
                                        <p:cTn id="341" dur="1" fill="hold">
                                          <p:stCondLst>
                                            <p:cond delay="499"/>
                                          </p:stCondLst>
                                        </p:cTn>
                                        <p:tgtEl>
                                          <p:spTgt spid="69"/>
                                        </p:tgtEl>
                                        <p:attrNameLst>
                                          <p:attrName>style.visibility</p:attrName>
                                        </p:attrNameLst>
                                      </p:cBhvr>
                                      <p:to>
                                        <p:strVal val="hidden"/>
                                      </p:to>
                                    </p:set>
                                  </p:childTnLst>
                                </p:cTn>
                              </p:par>
                            </p:childTnLst>
                          </p:cTn>
                        </p:par>
                        <p:par>
                          <p:cTn id="342" fill="hold">
                            <p:stCondLst>
                              <p:cond delay="15250"/>
                            </p:stCondLst>
                            <p:childTnLst>
                              <p:par>
                                <p:cTn id="343" presetID="1" presetClass="exit" presetSubtype="0" fill="hold" grpId="24" nodeType="afterEffect">
                                  <p:stCondLst>
                                    <p:cond delay="0"/>
                                  </p:stCondLst>
                                  <p:childTnLst>
                                    <p:set>
                                      <p:cBhvr>
                                        <p:cTn id="344"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General Workflow</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22</a:t>
            </a:fld>
            <a:endParaRPr lang="en-US"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dirty="0" smtClean="0"/>
              <a:t>Preparing the Data (search and base table) </a:t>
            </a:r>
          </a:p>
          <a:p>
            <a:pPr lvl="1">
              <a:buClr>
                <a:srgbClr val="00AAE5"/>
              </a:buClr>
            </a:pPr>
            <a:r>
              <a:rPr lang="en-US" dirty="0" smtClean="0"/>
              <a:t>Establish congruency between the tables regarding data representation by joining or splitting field contents if necessary (address ↔ street, postcode, city).</a:t>
            </a:r>
          </a:p>
          <a:p>
            <a:pPr lvl="1">
              <a:buClr>
                <a:srgbClr val="00AAE5"/>
              </a:buClr>
            </a:pPr>
            <a:r>
              <a:rPr lang="en-US" dirty="0" smtClean="0"/>
              <a:t>Harmonize idiosyncratic disparities between the datasets, like consistently using different kinds of abbreviations.</a:t>
            </a:r>
            <a:br>
              <a:rPr lang="en-US" dirty="0" smtClean="0"/>
            </a:br>
            <a:r>
              <a:rPr lang="en-US" dirty="0" smtClean="0"/>
              <a:t>“</a:t>
            </a:r>
            <a:r>
              <a:rPr lang="en-US" dirty="0" err="1" smtClean="0"/>
              <a:t>Univ</a:t>
            </a:r>
            <a:r>
              <a:rPr lang="en-US" dirty="0" smtClean="0"/>
              <a:t>” vs. “University” vs. “</a:t>
            </a:r>
            <a:r>
              <a:rPr lang="en-US" dirty="0" err="1" smtClean="0"/>
              <a:t>Uni</a:t>
            </a:r>
            <a:r>
              <a:rPr lang="en-US" dirty="0" smtClean="0"/>
              <a:t>”, “limited” vs. “ltd”, “</a:t>
            </a:r>
            <a:r>
              <a:rPr lang="en-US" dirty="0" err="1" smtClean="0"/>
              <a:t>Strasse</a:t>
            </a:r>
            <a:r>
              <a:rPr lang="en-US" dirty="0" smtClean="0"/>
              <a:t>” vs. “Str.” and so on</a:t>
            </a:r>
            <a:br>
              <a:rPr lang="en-US" dirty="0" smtClean="0"/>
            </a:br>
            <a:r>
              <a:rPr lang="en-US" dirty="0" smtClean="0"/>
              <a:t>Optionally: development of custom Preparers (there are already some in the “preparer” directory)</a:t>
            </a:r>
          </a:p>
          <a:p>
            <a:pPr lvl="1">
              <a:buClr>
                <a:srgbClr val="00AAE5"/>
              </a:buClr>
            </a:pPr>
            <a:r>
              <a:rPr lang="en-US" dirty="0" smtClean="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dirty="0" smtClean="0"/>
              <a:t>The </a:t>
            </a:r>
            <a:r>
              <a:rPr lang="en-US" dirty="0" err="1" smtClean="0"/>
              <a:t>SearchEngine</a:t>
            </a:r>
            <a:r>
              <a:rPr lang="en-US" dirty="0" smtClean="0"/>
              <a:t> imports tab-delimited text files with column headers (not too fancy). Avoid unnecessary fields</a:t>
            </a:r>
            <a:r>
              <a:rPr lang="en-US" dirty="0"/>
              <a:t>! Avoid control characters in the data</a:t>
            </a:r>
            <a:r>
              <a:rPr lang="en-US" dirty="0" smtClean="0"/>
              <a:t>!</a:t>
            </a:r>
          </a:p>
          <a:p>
            <a:pPr>
              <a:buClr>
                <a:srgbClr val="00AAE5"/>
              </a:buClr>
            </a:pPr>
            <a:r>
              <a:rPr lang="en-US" dirty="0" smtClean="0"/>
              <a:t>Create the </a:t>
            </a:r>
            <a:r>
              <a:rPr lang="en-US" dirty="0" err="1" smtClean="0"/>
              <a:t>SearchEngine</a:t>
            </a:r>
            <a:endParaRPr lang="en-US" dirty="0" smtClean="0"/>
          </a:p>
          <a:p>
            <a:pPr lvl="1">
              <a:buClr>
                <a:srgbClr val="00AAE5"/>
              </a:buClr>
            </a:pPr>
            <a:r>
              <a:rPr lang="en-US" dirty="0" smtClean="0"/>
              <a:t>Choose the base table by balancing the following priorities: being more focused, having more clutter, being significantly larger</a:t>
            </a:r>
          </a:p>
          <a:p>
            <a:pPr lvl="1">
              <a:buClr>
                <a:srgbClr val="00AAE5"/>
              </a:buClr>
            </a:pPr>
            <a:r>
              <a:rPr lang="en-US" dirty="0" smtClean="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dirty="0" smtClean="0"/>
              <a:t>Search Strategy for Firm Matching</a:t>
            </a:r>
          </a:p>
          <a:p>
            <a:pPr lvl="1">
              <a:buClr>
                <a:srgbClr val="00AAE5"/>
              </a:buClr>
            </a:pPr>
            <a:r>
              <a:rPr lang="en-US" dirty="0" smtClean="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dirty="0" smtClean="0">
                <a:solidFill>
                  <a:srgbClr val="7AD0C4"/>
                </a:solidFill>
              </a:rPr>
              <a:t>Incremental</a:t>
            </a:r>
            <a:r>
              <a:rPr lang="en-US" dirty="0" smtClean="0"/>
              <a:t>: complete search terms without candidates from earlier runs, gradually reduce retrieval restrictions, Darwinian (keep only the best)</a:t>
            </a:r>
          </a:p>
          <a:p>
            <a:pPr lvl="2">
              <a:buClr>
                <a:srgbClr val="00AAE5"/>
              </a:buClr>
            </a:pPr>
            <a:r>
              <a:rPr lang="en-US" dirty="0" smtClean="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dirty="0"/>
              <a:t>S</a:t>
            </a:r>
            <a:r>
              <a:rPr lang="en-US" dirty="0" smtClean="0"/>
              <a:t>witch to destructive search types by shifting the corresponding weights and perform two search runs, one with log smoothing and one without smoothing of the destructive search types.</a:t>
            </a:r>
          </a:p>
          <a:p>
            <a:pPr lvl="2">
              <a:buClr>
                <a:srgbClr val="00AAE5"/>
              </a:buClr>
            </a:pPr>
            <a:r>
              <a:rPr lang="en-US" dirty="0" smtClean="0"/>
              <a:t>Lower the threshold forfeiting the necessity of auxiliary fields and repeat the search steps.</a:t>
            </a:r>
          </a:p>
          <a:p>
            <a:pPr lvl="1">
              <a:buClr>
                <a:srgbClr val="00AAE5"/>
              </a:buClr>
            </a:pPr>
            <a:r>
              <a:rPr lang="en-US" dirty="0" smtClean="0">
                <a:solidFill>
                  <a:srgbClr val="BADA15"/>
                </a:solidFill>
              </a:rPr>
              <a:t>Compound</a:t>
            </a:r>
            <a:r>
              <a:rPr lang="en-US" dirty="0" smtClean="0"/>
              <a:t>: merge search runs based on a reasonably low threshold</a:t>
            </a:r>
          </a:p>
          <a:p>
            <a:pPr lvl="2">
              <a:buClr>
                <a:srgbClr val="00AAE5"/>
              </a:buClr>
            </a:pPr>
            <a:r>
              <a:rPr lang="en-US" dirty="0" smtClean="0"/>
              <a:t>Start with a conventional search run by setting the weights of the destructive search types to </a:t>
            </a:r>
            <a:r>
              <a:rPr lang="en-US" dirty="0"/>
              <a:t>zero. You may even prelude with a run based on log smoothed conventional search types for the relevant fields followed by a non-smoothed version.</a:t>
            </a:r>
            <a:endParaRPr lang="en-US" dirty="0" smtClean="0"/>
          </a:p>
          <a:p>
            <a:pPr lvl="2">
              <a:buClr>
                <a:srgbClr val="00AAE5"/>
              </a:buClr>
            </a:pPr>
            <a:r>
              <a:rPr lang="en-US" dirty="0" smtClean="0"/>
              <a:t>If misspellings are of concern, </a:t>
            </a:r>
            <a:r>
              <a:rPr lang="en-US" dirty="0"/>
              <a:t>s</a:t>
            </a:r>
            <a:r>
              <a:rPr lang="en-US" dirty="0" smtClean="0"/>
              <a:t>witch </a:t>
            </a:r>
            <a:r>
              <a:rPr lang="en-US" dirty="0"/>
              <a:t>to destructive search types by </a:t>
            </a:r>
            <a:r>
              <a:rPr lang="en-US" dirty="0" smtClean="0"/>
              <a:t>shifting </a:t>
            </a:r>
            <a:r>
              <a:rPr lang="en-US" dirty="0"/>
              <a:t>the corresponding weights and perform two search runs, one with log smoothing and one without smoothing of the destructive search types</a:t>
            </a:r>
            <a:r>
              <a:rPr lang="en-US" dirty="0" smtClean="0"/>
              <a:t>.</a:t>
            </a:r>
          </a:p>
          <a:p>
            <a:pPr lvl="2">
              <a:buClr>
                <a:srgbClr val="00AAE5"/>
              </a:buClr>
            </a:pPr>
            <a:r>
              <a:rPr lang="en-US" dirty="0" smtClean="0"/>
              <a:t>Apply Inverse Darwinian Cutoff if search table is </a:t>
            </a:r>
            <a:r>
              <a:rPr lang="en-US" dirty="0" smtClean="0">
                <a:solidFill>
                  <a:srgbClr val="7AD0C4"/>
                </a:solidFill>
              </a:rPr>
              <a:t>focused</a:t>
            </a:r>
            <a:r>
              <a:rPr lang="en-US" dirty="0" smtClean="0"/>
              <a:t>.  Use research to repeat the search steps with log-smoothing and added feedback maximizing the identity and strip the candidates of redundant search terms.</a:t>
            </a:r>
          </a:p>
          <a:p>
            <a:pPr marL="216000" lvl="1">
              <a:buClr>
                <a:srgbClr val="00AAE5"/>
              </a:buClr>
            </a:pPr>
            <a:r>
              <a:rPr lang="en-US" dirty="0" smtClean="0"/>
              <a:t>Concentrate on appropriate retrieval and less on identity refinement because the identity will be replaced by the meta vector carrying much more similarity indicators for the </a:t>
            </a:r>
            <a:r>
              <a:rPr lang="en-US" dirty="0" err="1" smtClean="0"/>
              <a:t>SearchEngine</a:t>
            </a:r>
            <a:r>
              <a:rPr lang="en-US" dirty="0" smtClean="0"/>
              <a:t> Machine Learning approach </a:t>
            </a:r>
            <a:r>
              <a:rPr lang="en-US" dirty="0" smtClean="0">
                <a:solidFill>
                  <a:srgbClr val="00AAE5"/>
                </a:solidFill>
              </a:rPr>
              <a:t>SEML</a:t>
            </a:r>
            <a:r>
              <a:rPr lang="en-US" dirty="0" smtClean="0"/>
              <a:t>.</a:t>
            </a:r>
          </a:p>
        </p:txBody>
      </p:sp>
    </p:spTree>
    <p:extLst>
      <p:ext uri="{BB962C8B-B14F-4D97-AF65-F5344CB8AC3E}">
        <p14:creationId xmlns:p14="http://schemas.microsoft.com/office/powerpoint/2010/main" val="82963784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Search Strategy Components</a:t>
            </a:r>
            <a:endParaRPr lang="en-US" dirty="0"/>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dirty="0">
                <a:solidFill>
                  <a:prstClr val="black"/>
                </a:solidFill>
              </a:rPr>
              <a:t>Threshold</a:t>
            </a:r>
          </a:p>
          <a:p>
            <a:pPr lvl="1">
              <a:spcBef>
                <a:spcPts val="0"/>
              </a:spcBef>
              <a:buClr>
                <a:srgbClr val="00AAE5"/>
              </a:buClr>
            </a:pPr>
            <a:r>
              <a:rPr lang="en-US" sz="1400" dirty="0">
                <a:solidFill>
                  <a:prstClr val="black"/>
                </a:solidFill>
              </a:rPr>
              <a:t>Interaction with the search type weights constitutes the search strategy</a:t>
            </a:r>
          </a:p>
          <a:p>
            <a:pPr lvl="1">
              <a:spcBef>
                <a:spcPts val="0"/>
              </a:spcBef>
              <a:buClr>
                <a:srgbClr val="00AAE5"/>
              </a:buClr>
            </a:pPr>
            <a:r>
              <a:rPr lang="en-US" sz="1400" dirty="0">
                <a:solidFill>
                  <a:prstClr val="black"/>
                </a:solidFill>
              </a:rPr>
              <a:t>A threshold above the firm name weight enforces partial address similarity</a:t>
            </a:r>
          </a:p>
          <a:p>
            <a:pPr lvl="1">
              <a:spcBef>
                <a:spcPts val="0"/>
              </a:spcBef>
              <a:buClr>
                <a:srgbClr val="00AAE5"/>
              </a:buClr>
            </a:pPr>
            <a:r>
              <a:rPr lang="en-US" sz="1400" dirty="0">
                <a:solidFill>
                  <a:prstClr val="black"/>
                </a:solidFill>
              </a:rPr>
              <a:t>If the threshold is below the firm name weight, similarity in the address increases the leeway</a:t>
            </a:r>
          </a:p>
          <a:p>
            <a:pPr marL="216000" lvl="0">
              <a:spcBef>
                <a:spcPts val="600"/>
              </a:spcBef>
              <a:buClr>
                <a:srgbClr val="00AAE5"/>
              </a:buClr>
            </a:pPr>
            <a:r>
              <a:rPr lang="en-US" sz="1400" dirty="0">
                <a:solidFill>
                  <a:prstClr val="black"/>
                </a:solidFill>
              </a:rPr>
              <a:t>Redistribution of </a:t>
            </a:r>
            <a:r>
              <a:rPr lang="en-US" sz="1400" dirty="0" smtClean="0">
                <a:solidFill>
                  <a:prstClr val="black"/>
                </a:solidFill>
              </a:rPr>
              <a:t>search </a:t>
            </a:r>
            <a:r>
              <a:rPr lang="en-US" sz="1400" dirty="0">
                <a:solidFill>
                  <a:prstClr val="black"/>
                </a:solidFill>
              </a:rPr>
              <a:t>t</a:t>
            </a:r>
            <a:r>
              <a:rPr lang="en-US" sz="1400" dirty="0" smtClean="0">
                <a:solidFill>
                  <a:prstClr val="black"/>
                </a:solidFill>
              </a:rPr>
              <a:t>ype weights</a:t>
            </a:r>
            <a:endParaRPr lang="en-US" sz="1400" dirty="0">
              <a:solidFill>
                <a:prstClr val="black"/>
              </a:solidFill>
            </a:endParaRPr>
          </a:p>
          <a:p>
            <a:pPr lvl="1">
              <a:spcBef>
                <a:spcPts val="0"/>
              </a:spcBef>
              <a:buClr>
                <a:srgbClr val="00AAE5"/>
              </a:buClr>
            </a:pPr>
            <a:r>
              <a:rPr lang="en-US" sz="1400" dirty="0">
                <a:solidFill>
                  <a:prstClr val="black"/>
                </a:solidFill>
              </a:rPr>
              <a:t>Increasing/decreasing the impact of </a:t>
            </a:r>
            <a:r>
              <a:rPr lang="en-US" sz="1400" dirty="0" smtClean="0">
                <a:solidFill>
                  <a:prstClr val="black"/>
                </a:solidFill>
              </a:rPr>
              <a:t>search types </a:t>
            </a:r>
            <a:r>
              <a:rPr lang="en-US" sz="1400" dirty="0">
                <a:solidFill>
                  <a:prstClr val="black"/>
                </a:solidFill>
              </a:rPr>
              <a:t>on the relative Identity</a:t>
            </a:r>
          </a:p>
          <a:p>
            <a:pPr lvl="1">
              <a:spcBef>
                <a:spcPts val="0"/>
              </a:spcBef>
              <a:buClr>
                <a:srgbClr val="00AAE5"/>
              </a:buClr>
            </a:pPr>
            <a:r>
              <a:rPr lang="en-US" sz="1400" dirty="0">
                <a:solidFill>
                  <a:prstClr val="black"/>
                </a:solidFill>
              </a:rPr>
              <a:t>The more weight on address search types, the higher the leeway for the firm name</a:t>
            </a:r>
          </a:p>
          <a:p>
            <a:pPr lvl="1">
              <a:spcBef>
                <a:spcPts val="0"/>
              </a:spcBef>
              <a:buClr>
                <a:srgbClr val="00AAE5"/>
              </a:buClr>
            </a:pPr>
            <a:r>
              <a:rPr lang="en-US" sz="1400" dirty="0">
                <a:solidFill>
                  <a:prstClr val="black"/>
                </a:solidFill>
              </a:rPr>
              <a:t>A weight of zero deactivates a search </a:t>
            </a:r>
            <a:r>
              <a:rPr lang="en-US" sz="1400" dirty="0" smtClean="0">
                <a:solidFill>
                  <a:prstClr val="black"/>
                </a:solidFill>
              </a:rPr>
              <a:t>type for strategies with dedicated misspelling steps:</a:t>
            </a:r>
          </a:p>
          <a:p>
            <a:pPr lvl="2">
              <a:spcBef>
                <a:spcPts val="0"/>
              </a:spcBef>
              <a:buClr>
                <a:srgbClr val="00AAE5"/>
              </a:buClr>
            </a:pPr>
            <a:r>
              <a:rPr lang="en-US" sz="1400" dirty="0" smtClean="0">
                <a:solidFill>
                  <a:prstClr val="black"/>
                </a:solidFill>
              </a:rPr>
              <a:t>Start with runs not capturing misspellings → associated search types (n-grams) has a weight of zero</a:t>
            </a:r>
          </a:p>
          <a:p>
            <a:pPr lvl="2">
              <a:spcBef>
                <a:spcPts val="0"/>
              </a:spcBef>
              <a:buClr>
                <a:srgbClr val="00AAE5"/>
              </a:buClr>
            </a:pPr>
            <a:r>
              <a:rPr lang="en-US" sz="1400" dirty="0" smtClean="0">
                <a:solidFill>
                  <a:prstClr val="black"/>
                </a:solidFill>
              </a:rPr>
              <a:t>Continue with misspelling runs → switch weight to linguistic search types, set conventional to zero</a:t>
            </a:r>
          </a:p>
          <a:p>
            <a:pPr marL="72000">
              <a:spcBef>
                <a:spcPts val="600"/>
              </a:spcBef>
              <a:buClr>
                <a:srgbClr val="00AAE5"/>
              </a:buClr>
            </a:pPr>
            <a:r>
              <a:rPr lang="en-US" sz="1400" dirty="0">
                <a:solidFill>
                  <a:prstClr val="black"/>
                </a:solidFill>
              </a:rPr>
              <a:t>Containment</a:t>
            </a:r>
          </a:p>
          <a:p>
            <a:pPr lvl="1">
              <a:spcBef>
                <a:spcPts val="0"/>
              </a:spcBef>
              <a:buClr>
                <a:srgbClr val="00AAE5"/>
              </a:buClr>
            </a:pPr>
            <a:r>
              <a:rPr lang="en-US" sz="140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dirty="0" smtClean="0">
                <a:solidFill>
                  <a:prstClr val="black"/>
                </a:solidFill>
              </a:rPr>
              <a:t>Capturing misspellings</a:t>
            </a:r>
          </a:p>
          <a:p>
            <a:pPr lvl="1">
              <a:spcBef>
                <a:spcPts val="0"/>
              </a:spcBef>
              <a:buClr>
                <a:srgbClr val="00AAE5"/>
              </a:buClr>
            </a:pPr>
            <a:r>
              <a:rPr lang="en-US" sz="1400" dirty="0" smtClean="0">
                <a:solidFill>
                  <a:prstClr val="black"/>
                </a:solidFill>
              </a:rPr>
              <a:t>Activating </a:t>
            </a:r>
            <a:r>
              <a:rPr lang="en-US" sz="1400" dirty="0">
                <a:solidFill>
                  <a:prstClr val="black"/>
                </a:solidFill>
              </a:rPr>
              <a:t>linguistic search types (n-grams) by assigning a weight &gt; </a:t>
            </a:r>
            <a:r>
              <a:rPr lang="en-US" sz="1400" dirty="0" smtClean="0">
                <a:solidFill>
                  <a:prstClr val="black"/>
                </a:solidFill>
              </a:rPr>
              <a:t>0 and deactivating the corresponding conventional search type</a:t>
            </a:r>
            <a:endParaRPr lang="en-US" sz="1400" dirty="0">
              <a:solidFill>
                <a:prstClr val="black"/>
              </a:solidFill>
            </a:endParaRPr>
          </a:p>
          <a:p>
            <a:pPr lvl="1">
              <a:spcBef>
                <a:spcPts val="0"/>
              </a:spcBef>
              <a:buClr>
                <a:srgbClr val="00AAE5"/>
              </a:buClr>
            </a:pPr>
            <a:r>
              <a:rPr lang="en-US" sz="1400" dirty="0">
                <a:solidFill>
                  <a:prstClr val="black"/>
                </a:solidFill>
              </a:rPr>
              <a:t>Usually only relevant search fields like the firm name are equipped with linguistic preparer</a:t>
            </a:r>
          </a:p>
          <a:p>
            <a:pPr marL="216000" lvl="0">
              <a:spcBef>
                <a:spcPts val="600"/>
              </a:spcBef>
              <a:buClr>
                <a:srgbClr val="00AAE5"/>
              </a:buClr>
            </a:pPr>
            <a:r>
              <a:rPr lang="en-US" sz="1400" dirty="0">
                <a:solidFill>
                  <a:prstClr val="black"/>
                </a:solidFill>
              </a:rPr>
              <a:t>Smoothing of the </a:t>
            </a:r>
            <a:r>
              <a:rPr lang="en-US" sz="1400" dirty="0" err="1">
                <a:solidFill>
                  <a:prstClr val="black"/>
                </a:solidFill>
              </a:rPr>
              <a:t>rIP</a:t>
            </a:r>
            <a:r>
              <a:rPr lang="en-US" sz="1400" dirty="0">
                <a:solidFill>
                  <a:prstClr val="black"/>
                </a:solidFill>
              </a:rPr>
              <a:t> distribution</a:t>
            </a:r>
          </a:p>
          <a:p>
            <a:pPr lvl="1">
              <a:spcBef>
                <a:spcPts val="0"/>
              </a:spcBef>
              <a:buClr>
                <a:srgbClr val="00AAE5"/>
              </a:buClr>
            </a:pPr>
            <a:r>
              <a:rPr lang="en-US" sz="1400" dirty="0">
                <a:solidFill>
                  <a:prstClr val="black"/>
                </a:solidFill>
              </a:rPr>
              <a:t>A smoothed distribution requires more words to match → dominant words lose </a:t>
            </a:r>
            <a:r>
              <a:rPr lang="en-US" sz="1400" dirty="0" smtClean="0">
                <a:solidFill>
                  <a:prstClr val="black"/>
                </a:solidFill>
              </a:rPr>
              <a:t>dominance</a:t>
            </a:r>
          </a:p>
          <a:p>
            <a:pPr lvl="1">
              <a:spcBef>
                <a:spcPts val="0"/>
              </a:spcBef>
              <a:buClr>
                <a:srgbClr val="00AAE5"/>
              </a:buClr>
            </a:pPr>
            <a:r>
              <a:rPr lang="en-US" sz="1400" dirty="0" smtClean="0">
                <a:solidFill>
                  <a:prstClr val="black"/>
                </a:solidFill>
              </a:rPr>
              <a:t>Higher precision at the expense of </a:t>
            </a:r>
            <a:r>
              <a:rPr lang="en-US" sz="1400" dirty="0">
                <a:solidFill>
                  <a:prstClr val="black"/>
                </a:solidFill>
              </a:rPr>
              <a:t>recall </a:t>
            </a:r>
            <a:r>
              <a:rPr lang="en-US" sz="1400" dirty="0" smtClean="0">
                <a:solidFill>
                  <a:prstClr val="black"/>
                </a:solidFill>
              </a:rPr>
              <a:t>→ readjusting the identity with the research function without losing candidates (Inverse Darwinian Stripping)</a:t>
            </a:r>
          </a:p>
          <a:p>
            <a:pPr lvl="1">
              <a:spcBef>
                <a:spcPts val="0"/>
              </a:spcBef>
              <a:buClr>
                <a:srgbClr val="00AAE5"/>
              </a:buClr>
            </a:pPr>
            <a:r>
              <a:rPr lang="en-US" sz="1400" dirty="0" smtClean="0">
                <a:solidFill>
                  <a:prstClr val="black"/>
                </a:solidFill>
              </a:rPr>
              <a:t>Some search contexts fare better with smoothing, i.e. street addresses or person names</a:t>
            </a:r>
            <a:endParaRPr lang="en-US" sz="1400" dirty="0">
              <a:solidFill>
                <a:prstClr val="black"/>
              </a:solidFill>
            </a:endParaRPr>
          </a:p>
          <a:p>
            <a:pPr lvl="1">
              <a:spcBef>
                <a:spcPts val="0"/>
              </a:spcBef>
              <a:buClr>
                <a:srgbClr val="00AAE5"/>
              </a:buClr>
            </a:pPr>
            <a:r>
              <a:rPr lang="en-US" sz="1400" dirty="0">
                <a:solidFill>
                  <a:prstClr val="black"/>
                </a:solidFill>
              </a:rPr>
              <a:t>N-grams covering misspellings may become dominant preventing matches </a:t>
            </a:r>
            <a:r>
              <a:rPr lang="en-US" sz="1400" dirty="0" smtClean="0">
                <a:solidFill>
                  <a:prstClr val="black"/>
                </a:solidFill>
              </a:rPr>
              <a:t>→ two search runs: one with and one without smoothing</a:t>
            </a:r>
          </a:p>
          <a:p>
            <a:pPr marL="72000">
              <a:spcBef>
                <a:spcPts val="600"/>
              </a:spcBef>
              <a:buClr>
                <a:srgbClr val="00AAE5"/>
              </a:buClr>
            </a:pPr>
            <a:r>
              <a:rPr lang="en-US" sz="1400" dirty="0" smtClean="0">
                <a:solidFill>
                  <a:prstClr val="black"/>
                </a:solidFill>
              </a:rPr>
              <a:t>Strategies over multiple search steps</a:t>
            </a:r>
          </a:p>
          <a:p>
            <a:pPr lvl="1">
              <a:spcBef>
                <a:spcPts val="0"/>
              </a:spcBef>
              <a:buClr>
                <a:srgbClr val="00AAE5"/>
              </a:buClr>
            </a:pPr>
            <a:r>
              <a:rPr lang="en-US" sz="1400" dirty="0" smtClean="0">
                <a:solidFill>
                  <a:srgbClr val="7AD0C4"/>
                </a:solidFill>
              </a:rPr>
              <a:t>Incremental</a:t>
            </a:r>
            <a:r>
              <a:rPr lang="en-US" sz="1400" dirty="0" smtClean="0">
                <a:solidFill>
                  <a:prstClr val="black"/>
                </a:solidFill>
              </a:rPr>
              <a:t>: exclude search records with candidates from subsequent search runs, Darwinian (keeping only the best candidates) → </a:t>
            </a:r>
            <a:r>
              <a:rPr lang="en-US" sz="1400" dirty="0" smtClean="0">
                <a:solidFill>
                  <a:srgbClr val="7CD2C6"/>
                </a:solidFill>
              </a:rPr>
              <a:t>Focused Base Table</a:t>
            </a:r>
          </a:p>
          <a:p>
            <a:pPr lvl="1">
              <a:spcBef>
                <a:spcPts val="0"/>
              </a:spcBef>
              <a:buClr>
                <a:srgbClr val="00AAE5"/>
              </a:buClr>
            </a:pPr>
            <a:r>
              <a:rPr lang="en-US" sz="1400" dirty="0" smtClean="0">
                <a:solidFill>
                  <a:srgbClr val="BADA15"/>
                </a:solidFill>
              </a:rPr>
              <a:t>Compound</a:t>
            </a:r>
            <a:r>
              <a:rPr lang="en-US" sz="1400" dirty="0" smtClean="0">
                <a:solidFill>
                  <a:prstClr val="black"/>
                </a:solidFill>
              </a:rPr>
              <a:t>: candidates of subsequent runs are merged (union of candidate sets) → </a:t>
            </a:r>
            <a:r>
              <a:rPr lang="en-US" sz="1400" dirty="0" smtClean="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dirty="0" smtClean="0"/>
              <a:t>Inverse Darwinian Stripping if</a:t>
            </a:r>
            <a:r>
              <a:rPr lang="en-US" sz="1400" dirty="0" smtClean="0">
                <a:solidFill>
                  <a:srgbClr val="BADA15"/>
                </a:solidFill>
              </a:rPr>
              <a:t> </a:t>
            </a:r>
            <a:r>
              <a:rPr lang="en-US" sz="1400" dirty="0" smtClean="0">
                <a:solidFill>
                  <a:srgbClr val="7AD0C4"/>
                </a:solidFill>
              </a:rPr>
              <a:t>Focused Search Table</a:t>
            </a:r>
          </a:p>
          <a:p>
            <a:pPr marL="504000" lvl="1">
              <a:spcBef>
                <a:spcPts val="0"/>
              </a:spcBef>
              <a:buClr>
                <a:srgbClr val="00AAE5"/>
              </a:buClr>
            </a:pPr>
            <a:endParaRPr lang="en-US" sz="1400" dirty="0"/>
          </a:p>
          <a:p>
            <a:pPr lvl="0" indent="0">
              <a:spcBef>
                <a:spcPts val="600"/>
              </a:spcBef>
              <a:buClr>
                <a:srgbClr val="00AAE5"/>
              </a:buClr>
              <a:buNone/>
            </a:pPr>
            <a:endParaRPr lang="en-US" sz="1400" dirty="0">
              <a:solidFill>
                <a:prstClr val="black"/>
              </a:solidFill>
            </a:endParaRPr>
          </a:p>
          <a:p>
            <a:endParaRPr lang="en-US" sz="1400" dirty="0"/>
          </a:p>
        </p:txBody>
      </p:sp>
      <p:sp>
        <p:nvSpPr>
          <p:cNvPr id="5" name="Foliennummernplatzhalter 4"/>
          <p:cNvSpPr>
            <a:spLocks noGrp="1"/>
          </p:cNvSpPr>
          <p:nvPr>
            <p:ph type="sldNum" sz="quarter" idx="10"/>
          </p:nvPr>
        </p:nvSpPr>
        <p:spPr/>
        <p:txBody>
          <a:bodyPr/>
          <a:lstStyle/>
          <a:p>
            <a:fld id="{A29D8577-601D-4845-9C29-D9E13FE3E8DB}" type="slidenum">
              <a:rPr lang="en-US" smtClean="0"/>
              <a:pPr/>
              <a:t>23</a:t>
            </a:fld>
            <a:endParaRPr lang="en-US" dirty="0"/>
          </a:p>
        </p:txBody>
      </p:sp>
    </p:spTree>
    <p:extLst>
      <p:ext uri="{BB962C8B-B14F-4D97-AF65-F5344CB8AC3E}">
        <p14:creationId xmlns:p14="http://schemas.microsoft.com/office/powerpoint/2010/main" val="1100648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Data</a:t>
            </a:r>
            <a:endParaRPr lang="en-US" dirty="0">
              <a:solidFill>
                <a:prstClr val="black"/>
              </a:solidFill>
            </a:endParaRP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t>
            </a:r>
            <a:r>
              <a:rPr lang="en-US" dirty="0" smtClean="0">
                <a:solidFill>
                  <a:prstClr val="black"/>
                </a:solidFill>
              </a:rPr>
              <a:t>name &amp; </a:t>
            </a:r>
            <a:r>
              <a:rPr lang="en-US" dirty="0">
                <a:solidFill>
                  <a:prstClr val="black"/>
                </a:solidFill>
              </a:rPr>
              <a:t>address aggregates: 24 million</a:t>
            </a:r>
          </a:p>
          <a:p>
            <a:pPr marL="504000" lvl="1">
              <a:spcBef>
                <a:spcPts val="0"/>
              </a:spcBef>
              <a:buClr>
                <a:srgbClr val="00AAE5"/>
              </a:buClr>
            </a:pPr>
            <a:r>
              <a:rPr lang="en-US" dirty="0" err="1">
                <a:solidFill>
                  <a:prstClr val="black"/>
                </a:solidFill>
              </a:rPr>
              <a:t>Betriebsdatenpanel</a:t>
            </a:r>
            <a:r>
              <a:rPr lang="en-US" dirty="0">
                <a:solidFill>
                  <a:prstClr val="black"/>
                </a:solidFill>
              </a:rPr>
              <a:t> (Establishment Panel 2000-2020)</a:t>
            </a:r>
          </a:p>
          <a:p>
            <a:pPr marL="792000" lvl="2">
              <a:spcBef>
                <a:spcPts val="0"/>
              </a:spcBef>
              <a:buClr>
                <a:srgbClr val="00B0F0"/>
              </a:buClr>
            </a:pPr>
            <a:r>
              <a:rPr lang="en-US" dirty="0">
                <a:solidFill>
                  <a:prstClr val="black"/>
                </a:solidFill>
              </a:rPr>
              <a:t>Harmonizing street addresses due to systematic changes over years</a:t>
            </a:r>
          </a:p>
          <a:p>
            <a:pPr marL="792000" lvl="2">
              <a:spcBef>
                <a:spcPts val="0"/>
              </a:spcBef>
              <a:buClr>
                <a:srgbClr val="00B0F0"/>
              </a:buClr>
            </a:pPr>
            <a:r>
              <a:rPr lang="en-US" dirty="0">
                <a:solidFill>
                  <a:prstClr val="black"/>
                </a:solidFill>
              </a:rPr>
              <a:t>Removing duplicates → establishment &amp; address aggregates: 21 million</a:t>
            </a:r>
          </a:p>
          <a:p>
            <a:pPr marL="216000" lvl="0">
              <a:spcBef>
                <a:spcPts val="12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t>
            </a:r>
            <a:r>
              <a:rPr lang="en-US" dirty="0" smtClean="0">
                <a:solidFill>
                  <a:prstClr val="black"/>
                </a:solidFill>
              </a:rPr>
              <a:t>ame </a:t>
            </a:r>
            <a:r>
              <a:rPr lang="en-US" dirty="0">
                <a:solidFill>
                  <a:prstClr val="black"/>
                </a:solidFill>
              </a:rPr>
              <a:t>FIRMA, n</a:t>
            </a:r>
            <a:r>
              <a:rPr lang="en-US" dirty="0" smtClean="0">
                <a:solidFill>
                  <a:prstClr val="black"/>
                </a:solidFill>
              </a:rPr>
              <a:t>ame </a:t>
            </a:r>
            <a:r>
              <a:rPr lang="en-US" dirty="0">
                <a:solidFill>
                  <a:prstClr val="black"/>
                </a:solidFill>
              </a:rPr>
              <a:t>FIRMA GRAM3, </a:t>
            </a:r>
            <a:r>
              <a:rPr lang="en-US" dirty="0" smtClean="0">
                <a:solidFill>
                  <a:prstClr val="black"/>
                </a:solidFill>
              </a:rPr>
              <a:t>street </a:t>
            </a:r>
            <a:r>
              <a:rPr lang="en-US" dirty="0">
                <a:solidFill>
                  <a:prstClr val="black"/>
                </a:solidFill>
              </a:rPr>
              <a:t>STRASSE, </a:t>
            </a:r>
            <a:r>
              <a:rPr lang="en-US" dirty="0" smtClean="0">
                <a:solidFill>
                  <a:prstClr val="black"/>
                </a:solidFill>
              </a:rPr>
              <a:t>zip, city</a:t>
            </a:r>
            <a:endParaRPr lang="en-US" dirty="0">
              <a:solidFill>
                <a:prstClr val="black"/>
              </a:solidFill>
            </a:endParaRPr>
          </a:p>
          <a:p>
            <a:pPr marL="504000" lvl="1">
              <a:spcBef>
                <a:spcPts val="0"/>
              </a:spcBef>
              <a:buClr>
                <a:srgbClr val="00AAE5"/>
              </a:buClr>
            </a:pPr>
            <a:r>
              <a:rPr lang="en-US" dirty="0">
                <a:solidFill>
                  <a:prstClr val="black"/>
                </a:solidFill>
              </a:rPr>
              <a:t>Darwinian search mode: pick only the candidates with the highest </a:t>
            </a:r>
            <a:r>
              <a:rPr lang="en-US" dirty="0" smtClean="0">
                <a:solidFill>
                  <a:prstClr val="black"/>
                </a:solidFill>
              </a:rPr>
              <a:t>Identity</a:t>
            </a:r>
            <a:endParaRPr lang="en-US" dirty="0">
              <a:solidFill>
                <a:prstClr val="black"/>
              </a:solidFill>
            </a:endParaRPr>
          </a:p>
          <a:p>
            <a:pPr marL="504000" lvl="1">
              <a:spcBef>
                <a:spcPts val="0"/>
              </a:spcBef>
              <a:buClr>
                <a:srgbClr val="00AAE5"/>
              </a:buClr>
            </a:pPr>
            <a:r>
              <a:rPr lang="en-US" dirty="0" smtClean="0">
                <a:solidFill>
                  <a:prstClr val="black"/>
                </a:solidFill>
              </a:rPr>
              <a:t>Incremental: skip </a:t>
            </a:r>
            <a:r>
              <a:rPr lang="en-US" dirty="0">
                <a:solidFill>
                  <a:prstClr val="black"/>
                </a:solidFill>
              </a:rPr>
              <a:t>search records with candidates in subsequent search runs</a:t>
            </a:r>
          </a:p>
          <a:p>
            <a:pPr marL="216000" lvl="0">
              <a:spcBef>
                <a:spcPts val="12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056168593"/>
              </p:ext>
            </p:extLst>
          </p:nvPr>
        </p:nvGraphicFramePr>
        <p:xfrm>
          <a:off x="635357" y="4054448"/>
          <a:ext cx="7632000" cy="1966840"/>
        </p:xfrm>
        <a:graphic>
          <a:graphicData uri="http://schemas.openxmlformats.org/drawingml/2006/table">
            <a:tbl>
              <a:tblPr firstRow="1" firstCol="1" bandRow="1"/>
              <a:tblGrid>
                <a:gridCol w="540000"/>
                <a:gridCol w="4032000"/>
                <a:gridCol w="900000"/>
                <a:gridCol w="1080000"/>
                <a:gridCol w="1080000"/>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establishments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candidates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9,393,950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14,531,161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294,805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356,327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32,075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39,234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841,062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1,296,231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a:effectLst/>
                          <a:latin typeface="Calibri" panose="020F0502020204030204" pitchFamily="34" charset="0"/>
                          <a:ea typeface="Calibri" panose="020F0502020204030204" pitchFamily="34" charset="0"/>
                          <a:cs typeface="Times New Roman" panose="02020603050405020304" pitchFamily="18" charset="0"/>
                        </a:rPr>
                        <a:t>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6,964,399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43,400,697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log,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571,931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801,739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smtClean="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70, street 10,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141,064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202,351</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18,239,286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60,627,740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24</a:t>
            </a:fld>
            <a:endParaRPr lang="en-US" dirty="0"/>
          </a:p>
        </p:txBody>
      </p:sp>
    </p:spTree>
    <p:extLst>
      <p:ext uri="{BB962C8B-B14F-4D97-AF65-F5344CB8AC3E}">
        <p14:creationId xmlns:p14="http://schemas.microsoft.com/office/powerpoint/2010/main" val="65054583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3610031583"/>
              </p:ext>
            </p:extLst>
          </p:nvPr>
        </p:nvGraphicFramePr>
        <p:xfrm>
          <a:off x="222715" y="750863"/>
          <a:ext cx="10656000" cy="5402880"/>
        </p:xfrm>
        <a:graphic>
          <a:graphicData uri="http://schemas.openxmlformats.org/drawingml/2006/table">
            <a:tbl>
              <a:tblPr/>
              <a:tblGrid>
                <a:gridCol w="468000"/>
                <a:gridCol w="504000"/>
                <a:gridCol w="396000"/>
                <a:gridCol w="288000"/>
                <a:gridCol w="4536000"/>
                <a:gridCol w="2340000"/>
                <a:gridCol w="396000"/>
                <a:gridCol w="900000"/>
                <a:gridCol w="360000"/>
                <a:gridCol w="252000"/>
                <a:gridCol w="216000"/>
              </a:tblGrid>
              <a:tr h="118800">
                <a:tc>
                  <a:txBody>
                    <a:bodyPr/>
                    <a:lstStyle/>
                    <a:p>
                      <a:pPr algn="l" fontAlgn="b"/>
                      <a:r>
                        <a:rPr lang="de-DE" sz="800" b="0" i="0" u="none" strike="noStrike" dirty="0" err="1">
                          <a:solidFill>
                            <a:srgbClr val="000000"/>
                          </a:solidFill>
                          <a:effectLst/>
                          <a:latin typeface="Calibri" panose="020F0502020204030204" pitchFamily="34" charset="0"/>
                        </a:rPr>
                        <a:t>searched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found</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identity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equal</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name</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street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zip</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city</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cnt</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run</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Isotopen Technologien </a:t>
                      </a:r>
                      <a:r>
                        <a:rPr lang="de-DE" sz="800" b="0" i="0" u="none" strike="noStrike" dirty="0" err="1" smtClean="0">
                          <a:solidFill>
                            <a:srgbClr val="000000"/>
                          </a:solidFill>
                          <a:effectLst/>
                          <a:latin typeface="Calibri" panose="020F0502020204030204" pitchFamily="34" charset="0"/>
                        </a:rPr>
                        <a:t>Munich</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Rathausplatz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Theatinerstr.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Lichtenbergstr.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Schleißheimer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69.38</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ITM Isotopen Technologien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Garching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Keplerstrasse</a:t>
                      </a:r>
                      <a:r>
                        <a:rPr lang="de-DE" sz="800" b="0" i="0" u="none" strike="noStrike"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Motorsportgruppe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Vereinigung von Freunden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Förderkreis Betriebswirtschaft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Keplerstr.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Verwaltungsgesellschaft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Reichsweg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smtClean="0">
                          <a:solidFill>
                            <a:srgbClr val="000000"/>
                          </a:solidFill>
                          <a:effectLst/>
                          <a:latin typeface="Calibri" panose="020F0502020204030204" pitchFamily="34" charset="0"/>
                        </a:rPr>
                        <a:t>0.23</a:t>
                      </a:r>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Engesserstrasse 8 Postfach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Engesserstrasse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RP </a:t>
                      </a:r>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Engesserstr</a:t>
                      </a:r>
                      <a:r>
                        <a:rPr lang="de-DE" sz="800" b="0" i="0" u="none" strike="noStrike"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err="1">
                          <a:solidFill>
                            <a:srgbClr val="000000"/>
                          </a:solidFill>
                          <a:effectLst/>
                          <a:latin typeface="Calibri" panose="020F0502020204030204" pitchFamily="34" charset="0"/>
                        </a:rPr>
                        <a:t>Rhodia</a:t>
                      </a:r>
                      <a:r>
                        <a:rPr lang="de-DE" sz="800" b="0" i="0" u="none" strike="noStrike" dirty="0">
                          <a:solidFill>
                            <a:srgbClr val="000000"/>
                          </a:solidFill>
                          <a:effectLst/>
                          <a:latin typeface="Calibri" panose="020F0502020204030204" pitchFamily="34" charset="0"/>
                        </a:rPr>
                        <a:t> </a:t>
                      </a:r>
                      <a:r>
                        <a:rPr lang="de-DE" sz="800" b="0" i="0" u="none" strike="noStrike" dirty="0" err="1">
                          <a:solidFill>
                            <a:srgbClr val="000000"/>
                          </a:solidFill>
                          <a:effectLst/>
                          <a:latin typeface="Calibri" panose="020F0502020204030204" pitchFamily="34" charset="0"/>
                        </a:rPr>
                        <a:t>Acetow</a:t>
                      </a:r>
                      <a:r>
                        <a:rPr lang="de-DE" sz="800" b="0" i="0" u="none" strike="noStrike"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Engesserstr.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Körperschaft des öffentlichen Rechts</a:t>
                      </a:r>
                      <a:r>
                        <a:rPr lang="de-DE" sz="800" b="0" i="0" u="none" strike="noStrike" dirty="0" smtClean="0">
                          <a:solidFill>
                            <a:srgbClr val="000000"/>
                          </a:solidFill>
                          <a:effectLst/>
                          <a:latin typeface="Calibri" panose="020F0502020204030204" pitchFamily="34" charset="0"/>
                        </a:rPr>
                        <a:t>, </a:t>
                      </a:r>
                      <a:r>
                        <a:rPr lang="de-DE" sz="800" b="0" i="0" u="none" strike="noStrike" dirty="0" err="1" smtClean="0">
                          <a:solidFill>
                            <a:srgbClr val="000000"/>
                          </a:solidFill>
                          <a:effectLst/>
                          <a:latin typeface="Calibri" panose="020F0502020204030204" pitchFamily="34" charset="0"/>
                        </a:rPr>
                        <a:t>Kaiserstrasse</a:t>
                      </a:r>
                      <a:r>
                        <a:rPr lang="de-DE" sz="800" b="0" i="0" u="none" strike="noStrike" dirty="0" smtClean="0">
                          <a:solidFill>
                            <a:srgbClr val="000000"/>
                          </a:solidFill>
                          <a:effectLst/>
                          <a:latin typeface="Calibri" panose="020F0502020204030204" pitchFamily="34" charset="0"/>
                        </a:rPr>
                        <a:t> </a:t>
                      </a:r>
                      <a:r>
                        <a:rPr lang="de-DE" sz="800" b="0" i="0" u="none" strike="noStrike" dirty="0">
                          <a:solidFill>
                            <a:srgbClr val="000000"/>
                          </a:solidFill>
                          <a:effectLst/>
                          <a:latin typeface="Calibri" panose="020F0502020204030204" pitchFamily="34" charset="0"/>
                        </a:rPr>
                        <a:t>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Akademische Fliegergruppe am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Akademische Fliegergruppe am Karlsruher Institut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KIT Karlsruher Institut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Kaiserstr.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Im Wiesengrund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Radolfzell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Karl Brotzmann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pt-BR" sz="800" b="0" i="0" u="none" strike="noStrike">
                          <a:solidFill>
                            <a:srgbClr val="000000"/>
                          </a:solidFill>
                          <a:effectLst/>
                          <a:latin typeface="Calibri" panose="020F0502020204030204" pitchFamily="34" charset="0"/>
                        </a:rPr>
                        <a:t>K a r l B r o t z m a n n C o n s u l t i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Eerec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Borntalstrasse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Merkers/Thür.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a:solidFill>
                            <a:srgbClr val="000000"/>
                          </a:solidFill>
                          <a:effectLst/>
                          <a:latin typeface="Calibri" panose="020F0502020204030204" pitchFamily="34" charset="0"/>
                        </a:rPr>
                        <a:t>EuRec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Borntalstr.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Merkers</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ALMÜ Präzisions-Werkzeug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Ohmder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4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Gesellschaft zur Förderung angewandter Optik, Optoelektronik, Quantenelektronik und Spektroskopie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l" fontAlgn="b"/>
                      <a:r>
                        <a:rPr lang="de-DE" sz="800" b="0" i="0" u="none" strike="noStrike">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de-DE" sz="800" b="0"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OPTOSENS Optische Spektroskopie und Sensortechnik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Rudower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de-DE" sz="800" b="0" i="0" u="none" strike="noStrike"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
        <p:nvSpPr>
          <p:cNvPr id="2" name="Titel 1"/>
          <p:cNvSpPr>
            <a:spLocks noGrp="1"/>
          </p:cNvSpPr>
          <p:nvPr>
            <p:ph type="title"/>
          </p:nvPr>
        </p:nvSpPr>
        <p:spPr/>
        <p:txBody>
          <a:bodyPr/>
          <a:lstStyle/>
          <a:p>
            <a:r>
              <a:rPr lang="en-US" dirty="0" smtClean="0"/>
              <a:t>Training Data</a:t>
            </a:r>
            <a:endParaRPr lang="en-US" dirty="0"/>
          </a:p>
        </p:txBody>
      </p:sp>
      <p:sp>
        <p:nvSpPr>
          <p:cNvPr id="4" name="Foliennummernplatzhalter 3"/>
          <p:cNvSpPr>
            <a:spLocks noGrp="1"/>
          </p:cNvSpPr>
          <p:nvPr>
            <p:ph type="sldNum" sz="quarter" idx="10"/>
          </p:nvPr>
        </p:nvSpPr>
        <p:spPr/>
        <p:txBody>
          <a:bodyPr/>
          <a:lstStyle/>
          <a:p>
            <a:fld id="{A29D8577-601D-4845-9C29-D9E13FE3E8DB}" type="slidenum">
              <a:rPr lang="en-US" smtClean="0"/>
              <a:pPr/>
              <a:t>25</a:t>
            </a:fld>
            <a:endParaRPr lang="en-US" dirty="0"/>
          </a:p>
        </p:txBody>
      </p:sp>
      <p:graphicFrame>
        <p:nvGraphicFramePr>
          <p:cNvPr id="3" name="Tabelle 2"/>
          <p:cNvGraphicFramePr>
            <a:graphicFrameLocks noGrp="1"/>
          </p:cNvGraphicFramePr>
          <p:nvPr>
            <p:extLst>
              <p:ext uri="{D42A27DB-BD31-4B8C-83A1-F6EECF244321}">
                <p14:modId xmlns:p14="http://schemas.microsoft.com/office/powerpoint/2010/main" val="204979007"/>
              </p:ext>
            </p:extLst>
          </p:nvPr>
        </p:nvGraphicFramePr>
        <p:xfrm>
          <a:off x="1584700" y="872783"/>
          <a:ext cx="288000" cy="5280960"/>
        </p:xfrm>
        <a:graphic>
          <a:graphicData uri="http://schemas.openxmlformats.org/drawingml/2006/table">
            <a:tbl>
              <a:tblPr/>
              <a:tblGrid>
                <a:gridCol w="288000"/>
              </a:tblGrid>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080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72000">
                <a:tc>
                  <a:txBody>
                    <a:bodyPr/>
                    <a:lstStyle/>
                    <a:p>
                      <a:pPr algn="ctr" fontAlgn="b"/>
                      <a:endParaRPr lang="de-DE" sz="4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r>
                        <a:rPr lang="de-DE" sz="800" b="1" i="0" u="none" strike="noStrike" dirty="0" smtClean="0">
                          <a:solidFill>
                            <a:srgbClr val="000000"/>
                          </a:solidFill>
                          <a:effectLst/>
                          <a:latin typeface="Calibri" panose="020F0502020204030204" pitchFamily="34" charset="0"/>
                        </a:rPr>
                        <a:t>1</a:t>
                      </a:r>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r h="118800">
                <a:tc>
                  <a:txBody>
                    <a:bodyPr/>
                    <a:lstStyle/>
                    <a:p>
                      <a:pPr algn="ctr" fontAlgn="b"/>
                      <a:endParaRPr lang="de-DE" sz="800" b="1" i="0" u="none" strike="noStrike"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Meta Vector Components</a:t>
            </a:r>
            <a:endParaRPr lang="en-US" dirty="0"/>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dirty="0" smtClean="0"/>
              <a:t>Relatively slim parameter set per observation (around 110 variables) </a:t>
            </a:r>
          </a:p>
          <a:p>
            <a:pPr lvl="1">
              <a:spcBef>
                <a:spcPts val="0"/>
              </a:spcBef>
              <a:buClr>
                <a:srgbClr val="00B050"/>
              </a:buClr>
            </a:pPr>
            <a:r>
              <a:rPr lang="en-US" dirty="0" smtClean="0"/>
              <a:t>Low risk of over-specification: having too many variables for too little data</a:t>
            </a:r>
          </a:p>
          <a:p>
            <a:pPr>
              <a:buClr>
                <a:srgbClr val="FF0000"/>
              </a:buClr>
            </a:pPr>
            <a:r>
              <a:rPr lang="en-US" dirty="0"/>
              <a:t>No semantics </a:t>
            </a:r>
            <a:endParaRPr lang="en-US" dirty="0" smtClean="0"/>
          </a:p>
          <a:p>
            <a:pPr lvl="1">
              <a:spcBef>
                <a:spcPts val="0"/>
              </a:spcBef>
              <a:buClr>
                <a:srgbClr val="FF0000"/>
              </a:buClr>
            </a:pPr>
            <a:r>
              <a:rPr lang="en-US" dirty="0" smtClean="0"/>
              <a:t>“second hand metal wares” and “scrapyard” are not identified as tantamount</a:t>
            </a:r>
          </a:p>
          <a:p>
            <a:pPr lvl="1">
              <a:spcBef>
                <a:spcPts val="0"/>
              </a:spcBef>
              <a:buClr>
                <a:srgbClr val="FF0000"/>
              </a:buClr>
              <a:buFont typeface="Calibri" panose="020F0502020204030204" pitchFamily="34" charset="0"/>
              <a:buChar char="→"/>
            </a:pPr>
            <a:r>
              <a:rPr lang="en-US" dirty="0" smtClean="0"/>
              <a:t>Lenient labeling required (use post-processing with core data to settle ambiguities) </a:t>
            </a:r>
            <a:endParaRPr lang="en-US" dirty="0"/>
          </a:p>
        </p:txBody>
      </p:sp>
      <p:sp>
        <p:nvSpPr>
          <p:cNvPr id="5" name="Foliennummernplatzhalter 4"/>
          <p:cNvSpPr>
            <a:spLocks noGrp="1"/>
          </p:cNvSpPr>
          <p:nvPr>
            <p:ph type="sldNum" sz="quarter" idx="10"/>
          </p:nvPr>
        </p:nvSpPr>
        <p:spPr/>
        <p:txBody>
          <a:bodyPr/>
          <a:lstStyle/>
          <a:p>
            <a:fld id="{A29D8577-601D-4845-9C29-D9E13FE3E8DB}" type="slidenum">
              <a:rPr lang="en-US" smtClean="0">
                <a:solidFill>
                  <a:prstClr val="white">
                    <a:lumMod val="50000"/>
                  </a:prstClr>
                </a:solidFill>
              </a:rPr>
              <a:pPr/>
              <a:t>26</a:t>
            </a:fld>
            <a:endParaRPr lang="en-US"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dirty="0">
                    <a:solidFill>
                      <a:prstClr val="black"/>
                    </a:solidFill>
                  </a:rPr>
                  <a:t>Absolute Identification Potential: </a:t>
                </a:r>
                <a14:m>
                  <m:oMath xmlns:m="http://schemas.openxmlformats.org/officeDocument/2006/math">
                    <m:r>
                      <a:rPr lang="de-DE" sz="1600" i="1" dirty="0">
                        <a:solidFill>
                          <a:prstClr val="black"/>
                        </a:solidFill>
                        <a:latin typeface="Cambria Math" panose="02040503050406030204" pitchFamily="18" charset="0"/>
                      </a:rPr>
                      <m:t>𝑎𝐼𝑃</m:t>
                    </m:r>
                    <m:d>
                      <m:dPr>
                        <m:ctrlPr>
                          <a:rPr lang="de-DE" sz="1600" i="1" dirty="0">
                            <a:solidFill>
                              <a:prstClr val="black"/>
                            </a:solidFill>
                            <a:latin typeface="Cambria Math" panose="02040503050406030204" pitchFamily="18" charset="0"/>
                          </a:rPr>
                        </m:ctrlPr>
                      </m:dPr>
                      <m:e>
                        <m:r>
                          <a:rPr lang="de-DE" sz="1600" i="1" dirty="0">
                            <a:solidFill>
                              <a:prstClr val="black"/>
                            </a:solidFill>
                            <a:latin typeface="Cambria Math" panose="02040503050406030204" pitchFamily="18" charset="0"/>
                          </a:rPr>
                          <m:t>𝑤</m:t>
                        </m:r>
                      </m:e>
                    </m:d>
                    <m:r>
                      <a:rPr lang="de-DE"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1−</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𝑜𝑐𝑐</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𝑤</m:t>
                    </m:r>
                    <m:r>
                      <a:rPr lang="en-US" sz="1600" i="1" dirty="0" err="1">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r>
                      <a:rPr lang="en-US" sz="1600" i="1" dirty="0">
                        <a:solidFill>
                          <a:prstClr val="black"/>
                        </a:solidFill>
                        <a:latin typeface="Cambria Math" panose="02040503050406030204" pitchFamily="18" charset="0"/>
                      </a:rPr>
                      <m:t>𝑙𝑛</m:t>
                    </m:r>
                    <m:r>
                      <a:rPr lang="en-US" sz="1600" i="1" dirty="0">
                        <a:solidFill>
                          <a:prstClr val="black"/>
                        </a:solidFill>
                        <a:latin typeface="Cambria Math" panose="02040503050406030204" pitchFamily="18" charset="0"/>
                      </a:rPr>
                      <m:t>⁡(</m:t>
                    </m:r>
                    <m:r>
                      <a:rPr lang="en-US" sz="1600" i="1" dirty="0" err="1">
                        <a:solidFill>
                          <a:prstClr val="black"/>
                        </a:solidFill>
                        <a:latin typeface="Cambria Math" panose="02040503050406030204" pitchFamily="18" charset="0"/>
                      </a:rPr>
                      <m:t>𝑚𝑎𝑥𝑜𝑐𝑐</m:t>
                    </m:r>
                    <m:r>
                      <a:rPr lang="en-US" sz="1600" i="1" dirty="0">
                        <a:solidFill>
                          <a:prstClr val="black"/>
                        </a:solidFill>
                        <a:latin typeface="Cambria Math" panose="02040503050406030204" pitchFamily="18" charset="0"/>
                      </a:rPr>
                      <m:t>(</m:t>
                    </m:r>
                    <m:sSub>
                      <m:sSubPr>
                        <m:ctrlPr>
                          <a:rPr lang="en-US" sz="1600" i="1" dirty="0">
                            <a:solidFill>
                              <a:prstClr val="black"/>
                            </a:solidFill>
                            <a:latin typeface="Cambria Math" panose="02040503050406030204" pitchFamily="18" charset="0"/>
                          </a:rPr>
                        </m:ctrlPr>
                      </m:sSubPr>
                      <m:e>
                        <m:r>
                          <a:rPr lang="de-DE" sz="1600" i="1" dirty="0">
                            <a:solidFill>
                              <a:prstClr val="black"/>
                            </a:solidFill>
                            <a:latin typeface="Cambria Math" panose="02040503050406030204" pitchFamily="18" charset="0"/>
                          </a:rPr>
                          <m:t>𝑠𝑡</m:t>
                        </m:r>
                      </m:e>
                      <m:sub>
                        <m:r>
                          <a:rPr lang="de-DE" sz="1600" i="1" dirty="0">
                            <a:solidFill>
                              <a:prstClr val="black"/>
                            </a:solidFill>
                            <a:latin typeface="Cambria Math" panose="02040503050406030204" pitchFamily="18" charset="0"/>
                          </a:rPr>
                          <m:t>𝑤</m:t>
                        </m:r>
                      </m:sub>
                    </m:sSub>
                    <m:r>
                      <a:rPr lang="en-US" sz="1600" i="1" dirty="0">
                        <a:solidFill>
                          <a:prstClr val="black"/>
                        </a:solidFill>
                        <a:latin typeface="Cambria Math" panose="02040503050406030204" pitchFamily="18" charset="0"/>
                      </a:rPr>
                      <m:t>))</m:t>
                    </m:r>
                  </m:oMath>
                </a14:m>
                <a:r>
                  <a:rPr lang="en-US" sz="1600" i="1" dirty="0">
                    <a:solidFill>
                      <a:prstClr val="black"/>
                    </a:solidFill>
                  </a:rPr>
                  <a:t> </a:t>
                </a:r>
                <a:br>
                  <a:rPr lang="en-US" sz="1600" i="1" dirty="0">
                    <a:solidFill>
                      <a:prstClr val="black"/>
                    </a:solidFill>
                  </a:rPr>
                </a:br>
                <a:r>
                  <a:rPr lang="en-US" sz="1600" dirty="0">
                    <a:solidFill>
                      <a:prstClr val="black"/>
                    </a:solidFill>
                  </a:rPr>
                  <a:t>Report only the </a:t>
                </a:r>
                <a:r>
                  <a:rPr lang="en-US" sz="1600" dirty="0">
                    <a:solidFill>
                      <a:srgbClr val="0078D7"/>
                    </a:solidFill>
                  </a:rPr>
                  <a:t>n</a:t>
                </a:r>
                <a:r>
                  <a:rPr lang="en-US" sz="1600" dirty="0">
                    <a:solidFill>
                      <a:prstClr val="black"/>
                    </a:solidFill>
                  </a:rPr>
                  <a:t> largest </a:t>
                </a:r>
                <a:r>
                  <a:rPr lang="en-US" sz="1600" dirty="0" err="1">
                    <a:solidFill>
                      <a:prstClr val="black"/>
                    </a:solidFill>
                  </a:rPr>
                  <a:t>aIP</a:t>
                </a:r>
                <a:r>
                  <a:rPr lang="en-US" sz="160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dirty="0">
                    <a:solidFill>
                      <a:srgbClr val="FF0000"/>
                    </a:solidFill>
                  </a:rPr>
                  <a:t>words exclusive to the search term </a:t>
                </a:r>
                <a:r>
                  <a:rPr lang="en-US" sz="1600" dirty="0">
                    <a:solidFill>
                      <a:prstClr val="black"/>
                    </a:solidFill>
                  </a:rPr>
                  <a:t>(requires auxiliary registry of the search table)</a:t>
                </a:r>
              </a:p>
              <a:p>
                <a:pPr lvl="0" indent="0">
                  <a:spcBef>
                    <a:spcPts val="0"/>
                  </a:spcBef>
                  <a:buClr>
                    <a:srgbClr val="00AAE5"/>
                  </a:buClr>
                  <a:buNone/>
                </a:pPr>
                <a:r>
                  <a:rPr lang="en-US" sz="1600" dirty="0">
                    <a:solidFill>
                      <a:prstClr val="black"/>
                    </a:solidFill>
                  </a:rPr>
                  <a:t>for all search types, i.e.: name = </a:t>
                </a:r>
                <a:r>
                  <a:rPr lang="en-US" sz="1600" dirty="0">
                    <a:solidFill>
                      <a:srgbClr val="0078D7"/>
                    </a:solidFill>
                  </a:rPr>
                  <a:t>5</a:t>
                </a:r>
                <a:r>
                  <a:rPr lang="en-US" sz="1600" dirty="0">
                    <a:solidFill>
                      <a:prstClr val="black"/>
                    </a:solidFill>
                  </a:rPr>
                  <a:t>, name GRAM3 = </a:t>
                </a:r>
                <a:r>
                  <a:rPr lang="en-US" sz="1600" dirty="0">
                    <a:solidFill>
                      <a:srgbClr val="0078D7"/>
                    </a:solidFill>
                  </a:rPr>
                  <a:t>15</a:t>
                </a:r>
                <a:r>
                  <a:rPr lang="en-US" sz="1600" dirty="0">
                    <a:solidFill>
                      <a:prstClr val="black"/>
                    </a:solidFill>
                  </a:rPr>
                  <a:t>, street = </a:t>
                </a:r>
                <a:r>
                  <a:rPr lang="en-US" sz="1600" dirty="0">
                    <a:solidFill>
                      <a:srgbClr val="0078D7"/>
                    </a:solidFill>
                  </a:rPr>
                  <a:t>3</a:t>
                </a:r>
                <a:r>
                  <a:rPr lang="en-US" sz="1600" dirty="0">
                    <a:solidFill>
                      <a:prstClr val="black"/>
                    </a:solidFill>
                  </a:rPr>
                  <a:t>, zip = </a:t>
                </a:r>
                <a:r>
                  <a:rPr lang="en-US" sz="1600" dirty="0">
                    <a:solidFill>
                      <a:srgbClr val="0078D7"/>
                    </a:solidFill>
                  </a:rPr>
                  <a:t>1</a:t>
                </a:r>
                <a:r>
                  <a:rPr lang="en-US" sz="1600" dirty="0">
                    <a:solidFill>
                      <a:prstClr val="black"/>
                    </a:solidFill>
                  </a:rPr>
                  <a:t>, city = </a:t>
                </a:r>
                <a:r>
                  <a:rPr lang="en-US" sz="1600" dirty="0" smtClean="0">
                    <a:solidFill>
                      <a:srgbClr val="0078D7"/>
                    </a:solidFill>
                  </a:rPr>
                  <a:t>2</a:t>
                </a:r>
              </a:p>
              <a:p>
                <a:pPr lvl="0" indent="0">
                  <a:spcBef>
                    <a:spcPts val="1200"/>
                  </a:spcBef>
                  <a:buClr>
                    <a:srgbClr val="00AAE5"/>
                  </a:buClr>
                  <a:buNone/>
                </a:pPr>
                <a:r>
                  <a:rPr lang="en-US" sz="1600" dirty="0" smtClean="0">
                    <a:solidFill>
                      <a:prstClr val="black"/>
                    </a:solidFill>
                  </a:rPr>
                  <a:t>Asymmetric string distances based on maximizing word-by-word comparisons between search term and candidate and vice versa for </a:t>
                </a:r>
                <a:r>
                  <a:rPr lang="en-US" sz="1600" dirty="0">
                    <a:solidFill>
                      <a:prstClr val="black"/>
                    </a:solidFill>
                  </a:rPr>
                  <a:t>all search </a:t>
                </a:r>
                <a:r>
                  <a:rPr lang="en-US" sz="1600" dirty="0" smtClean="0">
                    <a:solidFill>
                      <a:prstClr val="black"/>
                    </a:solidFill>
                  </a:rPr>
                  <a:t>fields </a:t>
                </a:r>
                <a:r>
                  <a:rPr lang="en-US" sz="1600" dirty="0">
                    <a:solidFill>
                      <a:prstClr val="black"/>
                    </a:solidFill>
                  </a:rPr>
                  <a:t>(independent of the positioning of words</a:t>
                </a:r>
                <a:r>
                  <a:rPr lang="en-US" sz="1600" dirty="0" smtClean="0">
                    <a:solidFill>
                      <a:prstClr val="black"/>
                    </a:solidFill>
                  </a:rPr>
                  <a:t>).</a:t>
                </a:r>
              </a:p>
              <a:p>
                <a:pPr lvl="0" indent="0">
                  <a:spcBef>
                    <a:spcPts val="1200"/>
                  </a:spcBef>
                  <a:buClr>
                    <a:srgbClr val="00AAE5"/>
                  </a:buClr>
                  <a:buNone/>
                </a:pPr>
                <a:r>
                  <a:rPr lang="en-US" sz="1600" dirty="0" smtClean="0">
                    <a:solidFill>
                      <a:prstClr val="black"/>
                    </a:solidFill>
                  </a:rPr>
                  <a:t>Similarities between search field components, i.e. city name repeats in firm name</a:t>
                </a:r>
                <a:endParaRPr lang="en-US" sz="1600" dirty="0">
                  <a:solidFill>
                    <a:prstClr val="black"/>
                  </a:solidFill>
                </a:endParaRPr>
              </a:p>
              <a:p>
                <a:pPr lvl="0" indent="0">
                  <a:spcBef>
                    <a:spcPts val="1200"/>
                  </a:spcBef>
                  <a:buClr>
                    <a:srgbClr val="00AAE5"/>
                  </a:buClr>
                  <a:buNone/>
                </a:pPr>
                <a:r>
                  <a:rPr lang="en-US" sz="1600" dirty="0">
                    <a:solidFill>
                      <a:prstClr val="black"/>
                    </a:solidFill>
                  </a:rPr>
                  <a:t>Candidate block </a:t>
                </a:r>
                <a:r>
                  <a:rPr lang="en-US" sz="1600" dirty="0" smtClean="0">
                    <a:solidFill>
                      <a:prstClr val="black"/>
                    </a:solidFill>
                  </a:rPr>
                  <a:t>statistics</a:t>
                </a:r>
                <a:endParaRPr lang="en-US" sz="1600" dirty="0">
                  <a:solidFill>
                    <a:prstClr val="black"/>
                  </a:solidFill>
                </a:endParaRP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dirty="0">
                    <a:solidFill>
                      <a:prstClr val="black"/>
                    </a:solidFill>
                  </a:rPr>
                  <a:t>Standard deviations of the string distances (calculated externally)</a:t>
                </a:r>
              </a:p>
              <a:p>
                <a:endParaRPr lang="en-US"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rotWithShape="0">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dirty="0" smtClean="0">
                <a:solidFill>
                  <a:srgbClr val="00B0F0"/>
                </a:solidFill>
              </a:rPr>
              <a:t>Heuristic</a:t>
            </a:r>
            <a:endParaRPr lang="en-US" sz="1600" dirty="0">
              <a:solidFill>
                <a:srgbClr val="00B0F0"/>
              </a:solidFill>
            </a:endParaRP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dirty="0" smtClean="0">
                <a:solidFill>
                  <a:srgbClr val="00B0F0"/>
                </a:solidFill>
              </a:rPr>
              <a:t>Visual</a:t>
            </a:r>
            <a:endParaRPr lang="en-US" sz="1600" dirty="0">
              <a:solidFill>
                <a:srgbClr val="00B0F0"/>
              </a:solidFill>
            </a:endParaRP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dirty="0" smtClean="0">
                <a:solidFill>
                  <a:srgbClr val="00B0F0"/>
                </a:solidFill>
              </a:rPr>
              <a:t>Overlap</a:t>
            </a:r>
            <a:endParaRPr lang="en-US" sz="1600" dirty="0">
              <a:solidFill>
                <a:srgbClr val="00B0F0"/>
              </a:solidFill>
            </a:endParaRP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dirty="0" smtClean="0">
                <a:solidFill>
                  <a:srgbClr val="00B0F0"/>
                </a:solidFill>
              </a:rPr>
              <a:t>Descriptive</a:t>
            </a:r>
            <a:endParaRPr lang="en-US" sz="1600" dirty="0">
              <a:solidFill>
                <a:srgbClr val="00B0F0"/>
              </a:solidFill>
            </a:endParaRP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SEML (</a:t>
            </a:r>
            <a:r>
              <a:rPr lang="en-US" dirty="0" err="1" smtClean="0"/>
              <a:t>SearchEngine</a:t>
            </a:r>
            <a:r>
              <a:rPr lang="en-US" dirty="0" smtClean="0"/>
              <a:t> </a:t>
            </a:r>
            <a:r>
              <a:rPr lang="en-US" dirty="0"/>
              <a:t>Machine </a:t>
            </a:r>
            <a:r>
              <a:rPr lang="en-US" dirty="0" smtClean="0"/>
              <a:t>Learning): Establishments vs. Company Panel </a:t>
            </a:r>
            <a:endParaRPr lang="en-US" dirty="0"/>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dirty="0">
                <a:solidFill>
                  <a:prstClr val="black"/>
                </a:solidFill>
              </a:rPr>
              <a:t>SEML components</a:t>
            </a:r>
          </a:p>
          <a:p>
            <a:pPr lvl="1">
              <a:spcBef>
                <a:spcPts val="0"/>
              </a:spcBef>
              <a:buClr>
                <a:srgbClr val="00AAE5"/>
              </a:buClr>
            </a:pPr>
            <a:r>
              <a:rPr lang="en-US" dirty="0">
                <a:solidFill>
                  <a:srgbClr val="00AAE5"/>
                </a:solidFill>
                <a:cs typeface="Courier New" panose="02070309020205020404" pitchFamily="49" charset="0"/>
              </a:rPr>
              <a:t>seml.py</a:t>
            </a:r>
            <a:r>
              <a:rPr lang="en-US" dirty="0">
                <a:solidFill>
                  <a:prstClr val="black"/>
                </a:solidFill>
                <a:cs typeface="Courier New" panose="02070309020205020404" pitchFamily="49" charset="0"/>
              </a:rPr>
              <a:t> (python) using Tensor Flow/</a:t>
            </a:r>
            <a:r>
              <a:rPr lang="en-US" dirty="0" err="1">
                <a:solidFill>
                  <a:prstClr val="black"/>
                </a:solidFill>
                <a:cs typeface="Courier New" panose="02070309020205020404" pitchFamily="49" charset="0"/>
              </a:rPr>
              <a:t>Keras</a:t>
            </a:r>
            <a:r>
              <a:rPr lang="en-US" dirty="0">
                <a:solidFill>
                  <a:prstClr val="black"/>
                </a:solidFill>
                <a:cs typeface="Courier New" panose="02070309020205020404" pitchFamily="49" charset="0"/>
              </a:rPr>
              <a:t> </a:t>
            </a:r>
            <a:r>
              <a:rPr lang="en-US" dirty="0" smtClean="0">
                <a:solidFill>
                  <a:prstClr val="black"/>
                </a:solidFill>
                <a:cs typeface="Courier New" panose="02070309020205020404" pitchFamily="49" charset="0"/>
              </a:rPr>
              <a:t>or </a:t>
            </a:r>
            <a:r>
              <a:rPr lang="en-US" dirty="0" smtClean="0">
                <a:solidFill>
                  <a:srgbClr val="00AAE5"/>
                </a:solidFill>
                <a:cs typeface="Courier New" panose="02070309020205020404" pitchFamily="49" charset="0"/>
              </a:rPr>
              <a:t>seml.do</a:t>
            </a:r>
            <a:r>
              <a:rPr lang="en-US" dirty="0" smtClean="0">
                <a:solidFill>
                  <a:prstClr val="black"/>
                </a:solidFill>
                <a:cs typeface="Courier New" panose="02070309020205020404" pitchFamily="49" charset="0"/>
              </a:rPr>
              <a:t> (</a:t>
            </a:r>
            <a:r>
              <a:rPr lang="en-US" dirty="0" err="1" smtClean="0">
                <a:solidFill>
                  <a:prstClr val="black"/>
                </a:solidFill>
                <a:cs typeface="Courier New" panose="02070309020205020404" pitchFamily="49" charset="0"/>
              </a:rPr>
              <a:t>stata</a:t>
            </a:r>
            <a:r>
              <a:rPr lang="en-US" dirty="0" smtClean="0">
                <a:solidFill>
                  <a:prstClr val="black"/>
                </a:solidFill>
                <a:cs typeface="Courier New" panose="02070309020205020404" pitchFamily="49" charset="0"/>
              </a:rPr>
              <a:t>) using </a:t>
            </a:r>
            <a:r>
              <a:rPr lang="en-US" dirty="0" err="1" smtClean="0">
                <a:solidFill>
                  <a:prstClr val="black"/>
                </a:solidFill>
                <a:cs typeface="Courier New" panose="02070309020205020404" pitchFamily="49" charset="0"/>
              </a:rPr>
              <a:t>brain.ado</a:t>
            </a:r>
            <a:r>
              <a:rPr lang="en-US" dirty="0" smtClean="0">
                <a:solidFill>
                  <a:prstClr val="black"/>
                </a:solidFill>
                <a:cs typeface="Courier New" panose="02070309020205020404" pitchFamily="49" charset="0"/>
              </a:rPr>
              <a:t> or</a:t>
            </a:r>
            <a:endParaRPr lang="en-US" dirty="0">
              <a:solidFill>
                <a:prstClr val="black"/>
              </a:solidFill>
              <a:cs typeface="Courier New" panose="02070309020205020404" pitchFamily="49" charset="0"/>
            </a:endParaRPr>
          </a:p>
          <a:p>
            <a:pPr lvl="2">
              <a:spcBef>
                <a:spcPts val="0"/>
              </a:spcBef>
              <a:buClr>
                <a:srgbClr val="00B0F0"/>
              </a:buClr>
            </a:pPr>
            <a:r>
              <a:rPr lang="en-US" dirty="0">
                <a:solidFill>
                  <a:prstClr val="black"/>
                </a:solidFill>
                <a:cs typeface="Courier New" panose="02070309020205020404" pitchFamily="49" charset="0"/>
              </a:rPr>
              <a:t>Iterates h</a:t>
            </a:r>
            <a:r>
              <a:rPr lang="en-US" dirty="0">
                <a:solidFill>
                  <a:prstClr val="black"/>
                </a:solidFill>
              </a:rPr>
              <a:t>idden neuron setups: [25], [50], [100], [25x25], [50x50], [100x100]</a:t>
            </a:r>
          </a:p>
          <a:p>
            <a:pPr lvl="2">
              <a:spcBef>
                <a:spcPts val="0"/>
              </a:spcBef>
              <a:buClr>
                <a:srgbClr val="00B0F0"/>
              </a:buClr>
            </a:pPr>
            <a:r>
              <a:rPr lang="en-US" dirty="0">
                <a:solidFill>
                  <a:prstClr val="black"/>
                </a:solidFill>
              </a:rPr>
              <a:t>Reports the best performing NN pertaining out-of-sample prediction</a:t>
            </a:r>
          </a:p>
          <a:p>
            <a:pPr marL="648000" lvl="1">
              <a:spcBef>
                <a:spcPts val="0"/>
              </a:spcBef>
              <a:buClr>
                <a:srgbClr val="00AAE5"/>
              </a:buClr>
            </a:pPr>
            <a:r>
              <a:rPr lang="en-US" dirty="0" smtClean="0">
                <a:solidFill>
                  <a:prstClr val="black"/>
                </a:solidFill>
                <a:cs typeface="Courier New" panose="02070309020205020404" pitchFamily="49" charset="0"/>
              </a:rPr>
              <a:t>I</a:t>
            </a:r>
            <a:r>
              <a:rPr lang="en-US" dirty="0" smtClean="0">
                <a:solidFill>
                  <a:prstClr val="black"/>
                </a:solidFill>
              </a:rPr>
              <a:t>mplements </a:t>
            </a:r>
            <a:r>
              <a:rPr lang="en-US" dirty="0">
                <a:solidFill>
                  <a:prstClr val="black"/>
                </a:solidFill>
              </a:rPr>
              <a:t>the winning NN setup on the whole meta data</a:t>
            </a:r>
          </a:p>
          <a:p>
            <a:pPr marL="504000" lvl="1">
              <a:spcBef>
                <a:spcPts val="0"/>
              </a:spcBef>
              <a:buClr>
                <a:srgbClr val="00AAE5"/>
              </a:buClr>
            </a:pPr>
            <a:r>
              <a:rPr lang="en-US" dirty="0">
                <a:solidFill>
                  <a:prstClr val="black"/>
                </a:solidFill>
              </a:rPr>
              <a:t>BYOD – bring your own </a:t>
            </a:r>
            <a:r>
              <a:rPr lang="en-US" dirty="0" smtClean="0">
                <a:solidFill>
                  <a:prstClr val="black"/>
                </a:solidFill>
              </a:rPr>
              <a:t>device for your preferred method/environment</a:t>
            </a:r>
            <a:endParaRPr lang="en-US" dirty="0">
              <a:solidFill>
                <a:prstClr val="black"/>
              </a:solidFill>
            </a:endParaRPr>
          </a:p>
          <a:p>
            <a:pPr marL="216000" lvl="0">
              <a:spcBef>
                <a:spcPts val="1200"/>
              </a:spcBef>
              <a:buClr>
                <a:srgbClr val="00AAE5"/>
              </a:buClr>
            </a:pPr>
            <a:r>
              <a:rPr lang="en-US" dirty="0">
                <a:solidFill>
                  <a:prstClr val="black"/>
                </a:solidFill>
              </a:rPr>
              <a:t>Training sample</a:t>
            </a:r>
          </a:p>
          <a:p>
            <a:pPr marL="504000" lvl="1">
              <a:spcBef>
                <a:spcPts val="0"/>
              </a:spcBef>
              <a:buClr>
                <a:srgbClr val="00AAE5"/>
              </a:buClr>
            </a:pPr>
            <a:r>
              <a:rPr lang="en-US"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dirty="0">
                <a:solidFill>
                  <a:prstClr val="black"/>
                </a:solidFill>
              </a:rPr>
              <a:t>569 pairings retained for out-of-sample prediction</a:t>
            </a:r>
          </a:p>
          <a:p>
            <a:pPr marL="216000" lvl="0">
              <a:spcBef>
                <a:spcPts val="1200"/>
              </a:spcBef>
              <a:buClr>
                <a:srgbClr val="00AAE5"/>
              </a:buClr>
            </a:pPr>
            <a:r>
              <a:rPr lang="en-US" dirty="0">
                <a:solidFill>
                  <a:prstClr val="black"/>
                </a:solidFill>
              </a:rPr>
              <a:t>Confusion matrix</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1394159533"/>
              </p:ext>
            </p:extLst>
          </p:nvPr>
        </p:nvGraphicFramePr>
        <p:xfrm>
          <a:off x="611560" y="3861048"/>
          <a:ext cx="5418259" cy="1620000"/>
        </p:xfrm>
        <a:graphic>
          <a:graphicData uri="http://schemas.openxmlformats.org/drawingml/2006/table">
            <a:tbl>
              <a:tblPr firstRow="1" firstCol="1" bandRow="1"/>
              <a:tblGrid>
                <a:gridCol w="972000"/>
                <a:gridCol w="792000"/>
                <a:gridCol w="792000"/>
                <a:gridCol w="306259"/>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mn-lt"/>
                          <a:ea typeface="Calibri" panose="020F0502020204030204" pitchFamily="34" charset="0"/>
                          <a:cs typeface="Times New Roman" panose="02020603050405020304" pitchFamily="18" charset="0"/>
                        </a:rPr>
                        <a:t>Probit</a:t>
                      </a:r>
                      <a:endParaRPr lang="de-DE" sz="1100" dirty="0">
                        <a:effectLst/>
                        <a:latin typeface="+mn-lt"/>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NN[25x25</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184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367</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12</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374</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a:effectLst/>
                          <a:latin typeface="Cambria Math" panose="02040503050406030204" pitchFamily="18" charset="0"/>
                          <a:ea typeface="Calibri" panose="020F0502020204030204" pitchFamily="34" charset="0"/>
                          <a:cs typeface="Times New Roman" panose="02020603050405020304" pitchFamily="18" charset="0"/>
                        </a:rPr>
                        <a:t>99.20%</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94.74%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98.40%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97.91%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96.13</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98.07%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smtClean="0"/>
              <a:pPr/>
              <a:t>27</a:t>
            </a:fld>
            <a:endParaRPr lang="en-US" dirty="0"/>
          </a:p>
        </p:txBody>
      </p:sp>
      <p:sp>
        <p:nvSpPr>
          <p:cNvPr id="8" name="Inhaltsplatzhalter 1"/>
          <p:cNvSpPr txBox="1">
            <a:spLocks/>
          </p:cNvSpPr>
          <p:nvPr/>
        </p:nvSpPr>
        <p:spPr>
          <a:xfrm>
            <a:off x="130276" y="5526380"/>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85% of the establishments matched to a company</a:t>
            </a:r>
          </a:p>
          <a:p>
            <a:pPr lvl="1"/>
            <a:r>
              <a:rPr lang="en-US" dirty="0" smtClean="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Search Strategy: </a:t>
            </a:r>
            <a:r>
              <a:rPr lang="en-US" dirty="0" smtClean="0"/>
              <a:t>German EPO Firm Applicants </a:t>
            </a:r>
            <a:r>
              <a:rPr lang="en-US" dirty="0"/>
              <a:t>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smtClean="0"/>
              <a:pPr/>
              <a:t>28</a:t>
            </a:fld>
            <a:endParaRPr lang="en-US" dirty="0"/>
          </a:p>
        </p:txBody>
      </p:sp>
      <p:sp>
        <p:nvSpPr>
          <p:cNvPr id="4" name="Inhaltsplatzhalter 3"/>
          <p:cNvSpPr>
            <a:spLocks noGrp="1"/>
          </p:cNvSpPr>
          <p:nvPr>
            <p:ph idx="1"/>
          </p:nvPr>
        </p:nvSpPr>
        <p:spPr/>
        <p:txBody>
          <a:bodyPr/>
          <a:lstStyle/>
          <a:p>
            <a:pPr marL="216000" lvl="0">
              <a:spcBef>
                <a:spcPts val="600"/>
              </a:spcBef>
              <a:buClr>
                <a:srgbClr val="00AAE5"/>
              </a:buClr>
            </a:pPr>
            <a:r>
              <a:rPr lang="en-US" dirty="0">
                <a:solidFill>
                  <a:prstClr val="black"/>
                </a:solidFill>
              </a:rPr>
              <a:t>Preparation</a:t>
            </a:r>
          </a:p>
          <a:p>
            <a:pPr marL="504000" lvl="1">
              <a:spcBef>
                <a:spcPts val="0"/>
              </a:spcBef>
              <a:buClr>
                <a:srgbClr val="00AAE5"/>
              </a:buClr>
            </a:pPr>
            <a:r>
              <a:rPr lang="en-US" dirty="0" err="1">
                <a:solidFill>
                  <a:prstClr val="black"/>
                </a:solidFill>
              </a:rPr>
              <a:t>Mannheimer</a:t>
            </a:r>
            <a:r>
              <a:rPr lang="en-US" dirty="0">
                <a:solidFill>
                  <a:prstClr val="black"/>
                </a:solidFill>
              </a:rPr>
              <a:t> </a:t>
            </a:r>
            <a:r>
              <a:rPr lang="en-US" dirty="0" err="1">
                <a:solidFill>
                  <a:prstClr val="black"/>
                </a:solidFill>
              </a:rPr>
              <a:t>Unternehmens</a:t>
            </a:r>
            <a:r>
              <a:rPr lang="en-US" dirty="0">
                <a:solidFill>
                  <a:prstClr val="black"/>
                </a:solidFill>
              </a:rPr>
              <a:t> Panel (MUP 2000-2021, German Company Panel)</a:t>
            </a:r>
          </a:p>
          <a:p>
            <a:pPr marL="792000" lvl="2">
              <a:spcBef>
                <a:spcPts val="0"/>
              </a:spcBef>
              <a:buClr>
                <a:srgbClr val="00B0F0"/>
              </a:buClr>
            </a:pPr>
            <a:r>
              <a:rPr lang="en-US" dirty="0">
                <a:solidFill>
                  <a:prstClr val="black"/>
                </a:solidFill>
              </a:rPr>
              <a:t>Removing duplicates → firm &amp; address aggregates: 24 million</a:t>
            </a:r>
          </a:p>
          <a:p>
            <a:pPr marL="504000" lvl="1">
              <a:spcBef>
                <a:spcPts val="0"/>
              </a:spcBef>
              <a:buClr>
                <a:srgbClr val="00AAE5"/>
              </a:buClr>
            </a:pPr>
            <a:r>
              <a:rPr lang="en-US" dirty="0">
                <a:solidFill>
                  <a:prstClr val="black"/>
                </a:solidFill>
              </a:rPr>
              <a:t>German EPO Applicants (</a:t>
            </a:r>
            <a:r>
              <a:rPr lang="en-US" dirty="0" err="1">
                <a:solidFill>
                  <a:prstClr val="black"/>
                </a:solidFill>
              </a:rPr>
              <a:t>Patstat</a:t>
            </a:r>
            <a:r>
              <a:rPr lang="en-US" dirty="0">
                <a:solidFill>
                  <a:prstClr val="black"/>
                </a:solidFill>
              </a:rPr>
              <a:t> 2021)</a:t>
            </a:r>
          </a:p>
          <a:p>
            <a:pPr marL="792000" lvl="2">
              <a:spcBef>
                <a:spcPts val="0"/>
              </a:spcBef>
              <a:buClr>
                <a:srgbClr val="00B0F0"/>
              </a:buClr>
            </a:pPr>
            <a:r>
              <a:rPr lang="en-US" dirty="0">
                <a:solidFill>
                  <a:prstClr val="black"/>
                </a:solidFill>
              </a:rPr>
              <a:t>Removing person owned patents with less than 10 patents</a:t>
            </a:r>
          </a:p>
          <a:p>
            <a:pPr marL="792000" lvl="2">
              <a:spcBef>
                <a:spcPts val="0"/>
              </a:spcBef>
              <a:buClr>
                <a:srgbClr val="00B0F0"/>
              </a:buClr>
            </a:pPr>
            <a:r>
              <a:rPr lang="en-US" dirty="0">
                <a:solidFill>
                  <a:prstClr val="black"/>
                </a:solidFill>
              </a:rPr>
              <a:t>Removing duplicates → firm &amp; address aggregates: 62,036</a:t>
            </a:r>
          </a:p>
          <a:p>
            <a:pPr marL="216000" lvl="0">
              <a:spcBef>
                <a:spcPts val="600"/>
              </a:spcBef>
              <a:buClr>
                <a:srgbClr val="00AAE5"/>
              </a:buClr>
            </a:pPr>
            <a:r>
              <a:rPr lang="en-US" dirty="0" err="1">
                <a:solidFill>
                  <a:prstClr val="black"/>
                </a:solidFill>
              </a:rPr>
              <a:t>SearchEngine</a:t>
            </a:r>
            <a:endParaRPr lang="en-US" dirty="0">
              <a:solidFill>
                <a:prstClr val="black"/>
              </a:solidFill>
            </a:endParaRPr>
          </a:p>
          <a:p>
            <a:pPr marL="504000" lvl="1">
              <a:spcBef>
                <a:spcPts val="0"/>
              </a:spcBef>
              <a:buClr>
                <a:srgbClr val="00AAE5"/>
              </a:buClr>
            </a:pPr>
            <a:r>
              <a:rPr lang="en-US" dirty="0">
                <a:solidFill>
                  <a:prstClr val="black"/>
                </a:solidFill>
              </a:rPr>
              <a:t>Base table: MUP </a:t>
            </a:r>
          </a:p>
          <a:p>
            <a:pPr marL="504000" lvl="1">
              <a:spcBef>
                <a:spcPts val="0"/>
              </a:spcBef>
              <a:buClr>
                <a:srgbClr val="00AAE5"/>
              </a:buClr>
            </a:pPr>
            <a:r>
              <a:rPr lang="en-US" dirty="0">
                <a:solidFill>
                  <a:prstClr val="black"/>
                </a:solidFill>
              </a:rPr>
              <a:t>Search types: name FIRMA, name FIRMA GRAM3, street STRASSE, zip, city</a:t>
            </a:r>
            <a:endParaRPr lang="en-US" dirty="0" smtClean="0">
              <a:solidFill>
                <a:prstClr val="black"/>
              </a:solidFill>
            </a:endParaRPr>
          </a:p>
          <a:p>
            <a:pPr marL="504000" lvl="1">
              <a:spcBef>
                <a:spcPts val="0"/>
              </a:spcBef>
              <a:buClr>
                <a:srgbClr val="00AAE5"/>
              </a:buClr>
            </a:pPr>
            <a:r>
              <a:rPr lang="en-US" dirty="0" smtClean="0">
                <a:solidFill>
                  <a:prstClr val="black"/>
                </a:solidFill>
              </a:rPr>
              <a:t>Darwinian search mode: pick only the candidates with the highest Identity</a:t>
            </a:r>
          </a:p>
          <a:p>
            <a:pPr marL="504000" lvl="1">
              <a:spcBef>
                <a:spcPts val="0"/>
              </a:spcBef>
              <a:buClr>
                <a:srgbClr val="00AAE5"/>
              </a:buClr>
            </a:pPr>
            <a:r>
              <a:rPr lang="en-US" dirty="0">
                <a:solidFill>
                  <a:prstClr val="black"/>
                </a:solidFill>
              </a:rPr>
              <a:t>Incremental: skip search records with candidates in subsequent search </a:t>
            </a:r>
            <a:r>
              <a:rPr lang="en-US" dirty="0" smtClean="0">
                <a:solidFill>
                  <a:prstClr val="black"/>
                </a:solidFill>
              </a:rPr>
              <a:t>runs</a:t>
            </a:r>
            <a:endParaRPr lang="en-US" dirty="0">
              <a:solidFill>
                <a:prstClr val="black"/>
              </a:solidFill>
            </a:endParaRPr>
          </a:p>
          <a:p>
            <a:pPr marL="216000" lvl="0">
              <a:spcBef>
                <a:spcPts val="600"/>
              </a:spcBef>
              <a:buClr>
                <a:srgbClr val="00AAE5"/>
              </a:buClr>
            </a:pPr>
            <a:r>
              <a:rPr lang="en-US" dirty="0">
                <a:solidFill>
                  <a:prstClr val="black"/>
                </a:solidFill>
              </a:rPr>
              <a:t>Strategy</a:t>
            </a:r>
          </a:p>
          <a:p>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2770376366"/>
              </p:ext>
            </p:extLst>
          </p:nvPr>
        </p:nvGraphicFramePr>
        <p:xfrm>
          <a:off x="636318" y="3920375"/>
          <a:ext cx="7777101" cy="2398640"/>
        </p:xfrm>
        <a:graphic>
          <a:graphicData uri="http://schemas.openxmlformats.org/drawingml/2006/table">
            <a:tbl>
              <a:tblPr firstRow="1" firstCol="1" bandRow="1"/>
              <a:tblGrid>
                <a:gridCol w="685101"/>
                <a:gridCol w="4032000"/>
                <a:gridCol w="900000"/>
                <a:gridCol w="1080000"/>
                <a:gridCol w="1080000"/>
              </a:tblGrid>
              <a:tr h="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run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description</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threshold</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applicants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smtClean="0">
                          <a:effectLst/>
                          <a:latin typeface="Calibri" panose="020F0502020204030204" pitchFamily="34" charset="0"/>
                          <a:ea typeface="Calibri" panose="020F0502020204030204" pitchFamily="34" charset="0"/>
                          <a:cs typeface="Times New Roman" panose="02020603050405020304" pitchFamily="18" charset="0"/>
                        </a:rPr>
                        <a:t>candidates</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215900">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70</a:t>
                      </a:r>
                      <a:r>
                        <a:rPr lang="en-US" sz="1100" dirty="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56,603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108,775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2</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70,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682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977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3</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3-gram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275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385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9999999,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79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167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5</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3,078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8,251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6</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70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log,</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a:t>
                      </a: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zip 10, city 10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69</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7</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17</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8</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log,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80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53</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r>
              <a:tr h="215900">
                <a:tc>
                  <a:txBody>
                    <a:bodyPr/>
                    <a:lstStyle/>
                    <a:p>
                      <a:pPr algn="ct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9</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dirty="0" smtClean="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 name </a:t>
                      </a:r>
                      <a:r>
                        <a:rPr lang="en-US" sz="1100" dirty="0">
                          <a:effectLst/>
                          <a:latin typeface="Calibri" panose="020F0502020204030204" pitchFamily="34" charset="0"/>
                          <a:ea typeface="Calibri" panose="020F0502020204030204" pitchFamily="34" charset="0"/>
                          <a:cs typeface="Times New Roman" panose="02020603050405020304" pitchFamily="18" charset="0"/>
                        </a:rPr>
                        <a:t>3-gram 40, </a:t>
                      </a: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street</a:t>
                      </a:r>
                      <a:r>
                        <a:rPr lang="en-US" sz="1100" baseline="0" dirty="0" smtClean="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zealous</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35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61</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r>
              <a:tr h="215900">
                <a:tc>
                  <a:txBody>
                    <a:bodyPr/>
                    <a:lstStyle/>
                    <a:p>
                      <a:pPr algn="ct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60,960</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de-DE" sz="1100" dirty="0" smtClean="0">
                          <a:effectLst/>
                          <a:latin typeface="Calibri" panose="020F0502020204030204" pitchFamily="34" charset="0"/>
                          <a:ea typeface="Calibri" panose="020F0502020204030204" pitchFamily="34" charset="0"/>
                          <a:cs typeface="Times New Roman" panose="02020603050405020304" pitchFamily="18" charset="0"/>
                        </a:rPr>
                        <a:t>119,014</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92241345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dirty="0" smtClean="0">
                <a:solidFill>
                  <a:prstClr val="black"/>
                </a:solidFill>
              </a:rPr>
              <a:t>Training </a:t>
            </a:r>
            <a:r>
              <a:rPr lang="en-US" dirty="0">
                <a:solidFill>
                  <a:prstClr val="black"/>
                </a:solidFill>
              </a:rPr>
              <a:t>sample</a:t>
            </a:r>
          </a:p>
          <a:p>
            <a:pPr marL="504000" lvl="1">
              <a:spcBef>
                <a:spcPts val="0"/>
              </a:spcBef>
              <a:buClr>
                <a:srgbClr val="00AAE5"/>
              </a:buClr>
            </a:pPr>
            <a:r>
              <a:rPr lang="en-US" dirty="0">
                <a:solidFill>
                  <a:prstClr val="black"/>
                </a:solidFill>
              </a:rPr>
              <a:t> 3,264 applicants paired with 6,535 </a:t>
            </a:r>
            <a:r>
              <a:rPr lang="en-US" dirty="0" smtClean="0">
                <a:solidFill>
                  <a:prstClr val="black"/>
                </a:solidFill>
              </a:rPr>
              <a:t>candidates</a:t>
            </a:r>
          </a:p>
          <a:p>
            <a:pPr marL="504000" lvl="1">
              <a:spcBef>
                <a:spcPts val="0"/>
              </a:spcBef>
              <a:buClr>
                <a:srgbClr val="00AAE5"/>
              </a:buClr>
              <a:buFont typeface="Calibri" panose="020F0502020204030204" pitchFamily="34" charset="0"/>
              <a:buChar char="−"/>
            </a:pPr>
            <a:r>
              <a:rPr lang="en-US" dirty="0" smtClean="0">
                <a:solidFill>
                  <a:prstClr val="black"/>
                </a:solidFill>
              </a:rPr>
              <a:t>677 </a:t>
            </a:r>
            <a:r>
              <a:rPr lang="en-US" dirty="0">
                <a:solidFill>
                  <a:prstClr val="black"/>
                </a:solidFill>
              </a:rPr>
              <a:t>pairings retained for out-of-sample </a:t>
            </a:r>
            <a:r>
              <a:rPr lang="en-US" dirty="0" smtClean="0">
                <a:solidFill>
                  <a:prstClr val="black"/>
                </a:solidFill>
              </a:rPr>
              <a:t>prediction</a:t>
            </a:r>
          </a:p>
          <a:p>
            <a:pPr marL="504000" lvl="1">
              <a:spcBef>
                <a:spcPts val="0"/>
              </a:spcBef>
              <a:buClr>
                <a:srgbClr val="00AAE5"/>
              </a:buClr>
              <a:buFont typeface="Calibri" panose="020F0502020204030204" pitchFamily="34" charset="0"/>
              <a:buChar char="+"/>
            </a:pPr>
            <a:r>
              <a:rPr lang="en-US" dirty="0">
                <a:solidFill>
                  <a:prstClr val="black"/>
                </a:solidFill>
              </a:rPr>
              <a:t>completely scrutinized search runs 4 &amp; 6 to 9 due to marginal representation</a:t>
            </a:r>
          </a:p>
          <a:p>
            <a:r>
              <a:rPr lang="en-US" dirty="0" smtClean="0"/>
              <a:t>Confusion matrix</a:t>
            </a:r>
            <a:endParaRPr lang="en-US" dirty="0"/>
          </a:p>
        </p:txBody>
      </p:sp>
      <p:sp>
        <p:nvSpPr>
          <p:cNvPr id="6" name="Foliennummernplatzhalter 5"/>
          <p:cNvSpPr>
            <a:spLocks noGrp="1"/>
          </p:cNvSpPr>
          <p:nvPr>
            <p:ph type="sldNum" sz="quarter" idx="10"/>
          </p:nvPr>
        </p:nvSpPr>
        <p:spPr/>
        <p:txBody>
          <a:bodyPr/>
          <a:lstStyle/>
          <a:p>
            <a:fld id="{A29D8577-601D-4845-9C29-D9E13FE3E8DB}" type="slidenum">
              <a:rPr lang="en-US" smtClean="0"/>
              <a:pPr/>
              <a:t>29</a:t>
            </a:fld>
            <a:endParaRPr lang="en-US" dirty="0"/>
          </a:p>
        </p:txBody>
      </p:sp>
      <p:graphicFrame>
        <p:nvGraphicFramePr>
          <p:cNvPr id="7" name="Tabelle 6"/>
          <p:cNvGraphicFramePr>
            <a:graphicFrameLocks noGrp="1"/>
          </p:cNvGraphicFramePr>
          <p:nvPr>
            <p:extLst>
              <p:ext uri="{D42A27DB-BD31-4B8C-83A1-F6EECF244321}">
                <p14:modId xmlns:p14="http://schemas.microsoft.com/office/powerpoint/2010/main" val="3348864328"/>
              </p:ext>
            </p:extLst>
          </p:nvPr>
        </p:nvGraphicFramePr>
        <p:xfrm>
          <a:off x="611560" y="2224877"/>
          <a:ext cx="5418518" cy="1620000"/>
        </p:xfrm>
        <a:graphic>
          <a:graphicData uri="http://schemas.openxmlformats.org/drawingml/2006/table">
            <a:tbl>
              <a:tblPr firstRow="1" firstCol="1" bandRow="1"/>
              <a:tblGrid>
                <a:gridCol w="972000"/>
                <a:gridCol w="792000"/>
                <a:gridCol w="792000"/>
                <a:gridCol w="306518"/>
                <a:gridCol w="972000"/>
                <a:gridCol w="792000"/>
                <a:gridCol w="792000"/>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err="1">
                          <a:effectLst/>
                          <a:latin typeface="Calibri" panose="020F0502020204030204" pitchFamily="34" charset="0"/>
                          <a:ea typeface="Calibri" panose="020F0502020204030204" pitchFamily="34" charset="0"/>
                          <a:cs typeface="Times New Roman" panose="02020603050405020304" pitchFamily="18" charset="0"/>
                        </a:rPr>
                        <a:t>Probit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NN[25]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True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libri" panose="020F0502020204030204" pitchFamily="34" charset="0"/>
                          <a:ea typeface="Calibri" panose="020F0502020204030204" pitchFamily="34" charset="0"/>
                          <a:cs typeface="Times New Roman" panose="02020603050405020304" pitchFamily="18" charset="0"/>
                        </a:rPr>
                        <a:t>False</a:t>
                      </a:r>
                      <a:r>
                        <a:rPr lang="en-US" sz="1100" dirty="0" smtClean="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575</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13</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Positive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590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5</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70</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19</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Negative</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78</a:t>
                      </a: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smtClean="0">
                          <a:effectLst/>
                          <a:latin typeface="Cambria Math" panose="02040503050406030204" pitchFamily="18" charset="0"/>
                          <a:ea typeface="Calibri" panose="020F0502020204030204" pitchFamily="34" charset="0"/>
                          <a:cs typeface="Times New Roman" panose="02020603050405020304" pitchFamily="18" charset="0"/>
                        </a:rPr>
                        <a:t>4</a:t>
                      </a:r>
                      <a:r>
                        <a:rPr lang="de-DE"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mbria Math" panose="02040503050406030204" pitchFamily="18" charset="0"/>
                          <a:ea typeface="Calibri" panose="020F0502020204030204" pitchFamily="34" charset="0"/>
                          <a:cs typeface="Times New Roman" panose="02020603050405020304" pitchFamily="18" charset="0"/>
                        </a:rPr>
                        <a:t>84.34%</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Recall</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93.98%</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78.65%</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Precision</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dirty="0">
                          <a:effectLst/>
                          <a:latin typeface="Cambria Math" panose="02040503050406030204" pitchFamily="18" charset="0"/>
                          <a:ea typeface="Calibri" panose="020F0502020204030204" pitchFamily="34" charset="0"/>
                          <a:cs typeface="Times New Roman" panose="02020603050405020304" pitchFamily="18" charset="0"/>
                        </a:rPr>
                        <a:t>99.16%</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de-DE" sz="1100" dirty="0">
                          <a:effectLst/>
                          <a:latin typeface="Cambria Math" panose="02040503050406030204" pitchFamily="18" charset="0"/>
                          <a:ea typeface="Calibri" panose="020F0502020204030204" pitchFamily="34" charset="0"/>
                          <a:cs typeface="Times New Roman" panose="02020603050405020304" pitchFamily="18" charset="0"/>
                        </a:rPr>
                        <a:t>95.12%</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dirty="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95.27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 </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a:effectLst/>
                          <a:latin typeface="Calibri" panose="020F0502020204030204" pitchFamily="34" charset="0"/>
                          <a:ea typeface="Calibri" panose="020F0502020204030204" pitchFamily="34" charset="0"/>
                          <a:cs typeface="Times New Roman" panose="02020603050405020304" pitchFamily="18" charset="0"/>
                        </a:rPr>
                        <a:t>Accuracy</a:t>
                      </a:r>
                      <a:endParaRPr lang="de-DE"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dirty="0"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dirty="0" smtClean="0">
                          <a:effectLst/>
                          <a:latin typeface="Cambria Math" panose="02040503050406030204" pitchFamily="18" charset="0"/>
                          <a:ea typeface="Calibri" panose="020F0502020204030204" pitchFamily="34" charset="0"/>
                          <a:cs typeface="Times New Roman" panose="02020603050405020304" pitchFamily="18" charset="0"/>
                        </a:rPr>
                        <a:t>98.67</a:t>
                      </a:r>
                      <a:r>
                        <a:rPr lang="en-US" sz="1100" dirty="0">
                          <a:effectLst/>
                          <a:latin typeface="Cambria Math" panose="02040503050406030204" pitchFamily="18" charset="0"/>
                          <a:ea typeface="Calibri" panose="020F0502020204030204" pitchFamily="34" charset="0"/>
                          <a:cs typeface="Times New Roman" panose="02020603050405020304" pitchFamily="18" charset="0"/>
                        </a:rPr>
                        <a:t>%</a:t>
                      </a:r>
                      <a:endParaRPr lang="de-DE"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Quality assessment</a:t>
            </a:r>
          </a:p>
          <a:p>
            <a:pPr lvl="1"/>
            <a:r>
              <a:rPr lang="en-US" dirty="0" smtClean="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a:t>
            </a:r>
            <a:r>
              <a:rPr kumimoji="0" lang="en-US" sz="1600" b="0" i="0" u="none" strike="noStrike" kern="1200" cap="none" spc="0" normalizeH="0" baseline="0" noProof="0" dirty="0" smtClean="0">
                <a:ln>
                  <a:noFill/>
                </a:ln>
                <a:solidFill>
                  <a:prstClr val="black"/>
                </a:solidFill>
                <a:effectLst/>
                <a:uLnTx/>
                <a:uFillTx/>
                <a:latin typeface="Calibri"/>
                <a:ea typeface="+mn-ea"/>
                <a:cs typeface="+mn-cs"/>
              </a:rPr>
              <a:t>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smtClean="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Entity Resolution: Search Table = Base Table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30</a:t>
            </a:fld>
            <a:endParaRPr lang="en-US" dirty="0"/>
          </a:p>
        </p:txBody>
      </p:sp>
      <p:grpSp>
        <p:nvGrpSpPr>
          <p:cNvPr id="5" name="Group 17"/>
          <p:cNvGrpSpPr/>
          <p:nvPr/>
        </p:nvGrpSpPr>
        <p:grpSpPr>
          <a:xfrm>
            <a:off x="1100766" y="2823264"/>
            <a:ext cx="7689388" cy="144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6" name="Rectangle 18"/>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7" name="Rectangle 19"/>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8" name="Group 11"/>
          <p:cNvGrpSpPr/>
          <p:nvPr/>
        </p:nvGrpSpPr>
        <p:grpSpPr>
          <a:xfrm>
            <a:off x="1100766" y="2645324"/>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9" name="Rectangle 1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0" name="Rectangle 1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1" name="Group 41"/>
          <p:cNvGrpSpPr/>
          <p:nvPr/>
        </p:nvGrpSpPr>
        <p:grpSpPr>
          <a:xfrm>
            <a:off x="1134068" y="1267254"/>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2" name="Rectangle 42"/>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3" name="Rectangle 43"/>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4" name="Group 35"/>
          <p:cNvGrpSpPr/>
          <p:nvPr/>
        </p:nvGrpSpPr>
        <p:grpSpPr>
          <a:xfrm>
            <a:off x="1100766" y="4161468"/>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5" name="Rectangle 3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6" name="Rectangle 3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17" name="Group 25"/>
          <p:cNvGrpSpPr/>
          <p:nvPr/>
        </p:nvGrpSpPr>
        <p:grpSpPr>
          <a:xfrm>
            <a:off x="1140205" y="819260"/>
            <a:ext cx="7689388" cy="180000"/>
            <a:chOff x="395536" y="2914734"/>
            <a:chExt cx="8352928" cy="576000"/>
          </a:xfrm>
          <a:gradFill>
            <a:gsLst>
              <a:gs pos="100000">
                <a:schemeClr val="bg1"/>
              </a:gs>
              <a:gs pos="0">
                <a:srgbClr val="00AAE5"/>
              </a:gs>
              <a:gs pos="18000">
                <a:srgbClr val="53C6ED">
                  <a:alpha val="50000"/>
                </a:srgbClr>
              </a:gs>
            </a:gsLst>
            <a:lin ang="0" scaled="1"/>
          </a:gradFill>
        </p:grpSpPr>
        <p:sp>
          <p:nvSpPr>
            <p:cNvPr id="18" name="Rectangle 26"/>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19" name="Rectangle 27"/>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0" name="Group 20"/>
          <p:cNvGrpSpPr/>
          <p:nvPr/>
        </p:nvGrpSpPr>
        <p:grpSpPr>
          <a:xfrm>
            <a:off x="1100766" y="5523568"/>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1" name="Rectangle 21"/>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2" name="Rectangle 22"/>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pSp>
        <p:nvGrpSpPr>
          <p:cNvPr id="23" name="Group 14"/>
          <p:cNvGrpSpPr/>
          <p:nvPr/>
        </p:nvGrpSpPr>
        <p:grpSpPr>
          <a:xfrm>
            <a:off x="1100766" y="3555602"/>
            <a:ext cx="7689388" cy="180000"/>
            <a:chOff x="395536" y="2914734"/>
            <a:chExt cx="8352928" cy="576000"/>
          </a:xfrm>
          <a:gradFill>
            <a:gsLst>
              <a:gs pos="100000">
                <a:schemeClr val="bg1"/>
              </a:gs>
              <a:gs pos="0">
                <a:schemeClr val="bg1"/>
              </a:gs>
              <a:gs pos="18000">
                <a:srgbClr val="53C6ED">
                  <a:alpha val="50000"/>
                </a:srgbClr>
              </a:gs>
              <a:gs pos="8000">
                <a:srgbClr val="00AAE5">
                  <a:alpha val="75000"/>
                </a:srgbClr>
              </a:gs>
            </a:gsLst>
            <a:lin ang="0" scaled="1"/>
          </a:gradFill>
        </p:grpSpPr>
        <p:sp>
          <p:nvSpPr>
            <p:cNvPr id="24" name="Rectangle 15"/>
            <p:cNvSpPr/>
            <p:nvPr/>
          </p:nvSpPr>
          <p:spPr>
            <a:xfrm>
              <a:off x="534010" y="2914734"/>
              <a:ext cx="8214454"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sp>
          <p:nvSpPr>
            <p:cNvPr id="25" name="Rectangle 16"/>
            <p:cNvSpPr/>
            <p:nvPr/>
          </p:nvSpPr>
          <p:spPr>
            <a:xfrm>
              <a:off x="395536" y="2914734"/>
              <a:ext cx="144016" cy="576000"/>
            </a:xfrm>
            <a:prstGeom prst="rect">
              <a:avLst/>
            </a:prstGeom>
            <a:grp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bg1"/>
                </a:buClr>
                <a:buFont typeface="Wingdings" panose="05000000000000000000" pitchFamily="2" charset="2"/>
                <a:buChar char="n"/>
              </a:pPr>
              <a:endParaRPr lang="en-US">
                <a:solidFill>
                  <a:schemeClr val="tx1">
                    <a:lumMod val="95000"/>
                    <a:lumOff val="5000"/>
                  </a:schemeClr>
                </a:solidFill>
              </a:endParaRPr>
            </a:p>
          </p:txBody>
        </p:sp>
      </p:grpSp>
      <p:graphicFrame>
        <p:nvGraphicFramePr>
          <p:cNvPr id="26" name="Table 5"/>
          <p:cNvGraphicFramePr>
            <a:graphicFrameLocks noGrp="1"/>
          </p:cNvGraphicFramePr>
          <p:nvPr>
            <p:extLst>
              <p:ext uri="{D42A27DB-BD31-4B8C-83A1-F6EECF244321}">
                <p14:modId xmlns:p14="http://schemas.microsoft.com/office/powerpoint/2010/main" val="4211269009"/>
              </p:ext>
            </p:extLst>
          </p:nvPr>
        </p:nvGraphicFramePr>
        <p:xfrm>
          <a:off x="1031544" y="662469"/>
          <a:ext cx="8347359" cy="5632436"/>
        </p:xfrm>
        <a:graphic>
          <a:graphicData uri="http://schemas.openxmlformats.org/drawingml/2006/table">
            <a:tbl>
              <a:tblPr/>
              <a:tblGrid>
                <a:gridCol w="468000"/>
                <a:gridCol w="468000"/>
                <a:gridCol w="425972"/>
                <a:gridCol w="396000"/>
                <a:gridCol w="2393557"/>
                <a:gridCol w="396000"/>
                <a:gridCol w="936000"/>
                <a:gridCol w="2448000"/>
                <a:gridCol w="415830"/>
              </a:tblGrid>
              <a:tr h="152228">
                <a:tc>
                  <a:txBody>
                    <a:bodyPr/>
                    <a:lstStyle/>
                    <a:p>
                      <a:pPr algn="r" fontAlgn="b"/>
                      <a:r>
                        <a:rPr lang="en-US" sz="900" b="0" i="0" u="none" strike="noStrike"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r>
              <a:tr h="152228">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smtClean="0">
                          <a:solidFill>
                            <a:srgbClr val="000000"/>
                          </a:solidFill>
                          <a:effectLst/>
                          <a:latin typeface="Calibri" panose="020F0502020204030204" pitchFamily="34" charset="0"/>
                        </a:rPr>
                        <a:t>66486</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smtClean="0">
                          <a:solidFill>
                            <a:srgbClr val="000000"/>
                          </a:solidFill>
                          <a:effectLst/>
                          <a:latin typeface="Calibri" panose="020F0502020204030204" pitchFamily="34" charset="0"/>
                        </a:rPr>
                        <a:t>13347</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smtClean="0">
                          <a:solidFill>
                            <a:srgbClr val="000000"/>
                          </a:solidFill>
                          <a:effectLst/>
                          <a:latin typeface="Calibri" panose="020F0502020204030204" pitchFamily="34" charset="0"/>
                        </a:rPr>
                        <a:t>71132</a:t>
                      </a:r>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de-DE" sz="900" b="0" i="0" u="none" strike="noStrike">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r h="152228">
                <a:tc>
                  <a:txBody>
                    <a:bodyPr/>
                    <a:lstStyle/>
                    <a:p>
                      <a:pPr algn="r" fontAlgn="b"/>
                      <a:r>
                        <a:rPr lang="en-US" sz="900" b="0" i="0" u="none" strike="noStrike"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tr>
            </a:tbl>
          </a:graphicData>
        </a:graphic>
      </p:graphicFrame>
      <p:sp>
        <p:nvSpPr>
          <p:cNvPr id="27" name="Freeform 33"/>
          <p:cNvSpPr/>
          <p:nvPr/>
        </p:nvSpPr>
        <p:spPr>
          <a:xfrm>
            <a:off x="517829" y="2891482"/>
            <a:ext cx="604204" cy="1365789"/>
          </a:xfrm>
          <a:custGeom>
            <a:avLst/>
            <a:gdLst>
              <a:gd name="connsiteX0" fmla="*/ 618846 w 631120"/>
              <a:gd name="connsiteY0" fmla="*/ 0 h 1368532"/>
              <a:gd name="connsiteX1" fmla="*/ 146303 w 631120"/>
              <a:gd name="connsiteY1" fmla="*/ 300709 h 1368532"/>
              <a:gd name="connsiteX2" fmla="*/ 29702 w 631120"/>
              <a:gd name="connsiteY2" fmla="*/ 920537 h 1368532"/>
              <a:gd name="connsiteX3" fmla="*/ 631120 w 631120"/>
              <a:gd name="connsiteY3" fmla="*/ 1368532 h 1368532"/>
              <a:gd name="connsiteX0" fmla="*/ 616187 w 616188"/>
              <a:gd name="connsiteY0" fmla="*/ 0 h 1362410"/>
              <a:gd name="connsiteX1" fmla="*/ 143644 w 616188"/>
              <a:gd name="connsiteY1" fmla="*/ 300709 h 1362410"/>
              <a:gd name="connsiteX2" fmla="*/ 27043 w 616188"/>
              <a:gd name="connsiteY2" fmla="*/ 920537 h 1362410"/>
              <a:gd name="connsiteX3" fmla="*/ 590909 w 616188"/>
              <a:gd name="connsiteY3" fmla="*/ 1362410 h 1362410"/>
            </a:gdLst>
            <a:ahLst/>
            <a:cxnLst>
              <a:cxn ang="0">
                <a:pos x="connsiteX0" y="connsiteY0"/>
              </a:cxn>
              <a:cxn ang="0">
                <a:pos x="connsiteX1" y="connsiteY1"/>
              </a:cxn>
              <a:cxn ang="0">
                <a:pos x="connsiteX2" y="connsiteY2"/>
              </a:cxn>
              <a:cxn ang="0">
                <a:pos x="connsiteX3" y="connsiteY3"/>
              </a:cxn>
            </a:cxnLst>
            <a:rect l="l" t="t" r="r" b="b"/>
            <a:pathLst>
              <a:path w="616188" h="1362410">
                <a:moveTo>
                  <a:pt x="616187" y="0"/>
                </a:moveTo>
                <a:cubicBezTo>
                  <a:pt x="429011" y="73643"/>
                  <a:pt x="241835" y="147286"/>
                  <a:pt x="143644" y="300709"/>
                </a:cubicBezTo>
                <a:cubicBezTo>
                  <a:pt x="45453" y="454132"/>
                  <a:pt x="-47501" y="743587"/>
                  <a:pt x="27043" y="920537"/>
                </a:cubicBezTo>
                <a:cubicBezTo>
                  <a:pt x="101587" y="1097487"/>
                  <a:pt x="330601" y="1227397"/>
                  <a:pt x="590909" y="136241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34"/>
          <p:cNvSpPr/>
          <p:nvPr/>
        </p:nvSpPr>
        <p:spPr>
          <a:xfrm>
            <a:off x="458192" y="909260"/>
            <a:ext cx="675877" cy="1813812"/>
          </a:xfrm>
          <a:custGeom>
            <a:avLst/>
            <a:gdLst>
              <a:gd name="connsiteX0" fmla="*/ 671063 w 677200"/>
              <a:gd name="connsiteY0" fmla="*/ 1816526 h 1816526"/>
              <a:gd name="connsiteX1" fmla="*/ 88056 w 677200"/>
              <a:gd name="connsiteY1" fmla="*/ 1405353 h 1816526"/>
              <a:gd name="connsiteX2" fmla="*/ 63508 w 677200"/>
              <a:gd name="connsiteY2" fmla="*/ 398899 h 1816526"/>
              <a:gd name="connsiteX3" fmla="*/ 677200 w 677200"/>
              <a:gd name="connsiteY3" fmla="*/ 0 h 1816526"/>
              <a:gd name="connsiteX0" fmla="*/ 645320 w 675877"/>
              <a:gd name="connsiteY0" fmla="*/ 1813812 h 1813812"/>
              <a:gd name="connsiteX1" fmla="*/ 86733 w 675877"/>
              <a:gd name="connsiteY1" fmla="*/ 1405353 h 1813812"/>
              <a:gd name="connsiteX2" fmla="*/ 62185 w 675877"/>
              <a:gd name="connsiteY2" fmla="*/ 398899 h 1813812"/>
              <a:gd name="connsiteX3" fmla="*/ 675877 w 675877"/>
              <a:gd name="connsiteY3" fmla="*/ 0 h 1813812"/>
            </a:gdLst>
            <a:ahLst/>
            <a:cxnLst>
              <a:cxn ang="0">
                <a:pos x="connsiteX0" y="connsiteY0"/>
              </a:cxn>
              <a:cxn ang="0">
                <a:pos x="connsiteX1" y="connsiteY1"/>
              </a:cxn>
              <a:cxn ang="0">
                <a:pos x="connsiteX2" y="connsiteY2"/>
              </a:cxn>
              <a:cxn ang="0">
                <a:pos x="connsiteX3" y="connsiteY3"/>
              </a:cxn>
            </a:cxnLst>
            <a:rect l="l" t="t" r="r" b="b"/>
            <a:pathLst>
              <a:path w="675877" h="1813812">
                <a:moveTo>
                  <a:pt x="645320" y="1813812"/>
                </a:moveTo>
                <a:cubicBezTo>
                  <a:pt x="404446" y="1726361"/>
                  <a:pt x="183922" y="1641172"/>
                  <a:pt x="86733" y="1405353"/>
                </a:cubicBezTo>
                <a:cubicBezTo>
                  <a:pt x="-10456" y="1169534"/>
                  <a:pt x="-36006" y="633124"/>
                  <a:pt x="62185" y="398899"/>
                </a:cubicBezTo>
                <a:cubicBezTo>
                  <a:pt x="160376" y="164674"/>
                  <a:pt x="418126" y="82337"/>
                  <a:pt x="675877"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39"/>
          <p:cNvSpPr/>
          <p:nvPr/>
        </p:nvSpPr>
        <p:spPr>
          <a:xfrm>
            <a:off x="608553" y="4300230"/>
            <a:ext cx="519378" cy="1319436"/>
          </a:xfrm>
          <a:custGeom>
            <a:avLst/>
            <a:gdLst>
              <a:gd name="connsiteX0" fmla="*/ 519378 w 519378"/>
              <a:gd name="connsiteY0" fmla="*/ 1319436 h 1319436"/>
              <a:gd name="connsiteX1" fmla="*/ 83657 w 519378"/>
              <a:gd name="connsiteY1" fmla="*/ 1037138 h 1319436"/>
              <a:gd name="connsiteX2" fmla="*/ 34562 w 519378"/>
              <a:gd name="connsiteY2" fmla="*/ 362078 h 1319436"/>
              <a:gd name="connsiteX3" fmla="*/ 476419 w 519378"/>
              <a:gd name="connsiteY3" fmla="*/ 0 h 1319436"/>
              <a:gd name="connsiteX4" fmla="*/ 476419 w 519378"/>
              <a:gd name="connsiteY4" fmla="*/ 0 h 13194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378" h="1319436">
                <a:moveTo>
                  <a:pt x="519378" y="1319436"/>
                </a:moveTo>
                <a:cubicBezTo>
                  <a:pt x="341919" y="1258067"/>
                  <a:pt x="164460" y="1196698"/>
                  <a:pt x="83657" y="1037138"/>
                </a:cubicBezTo>
                <a:cubicBezTo>
                  <a:pt x="2854" y="877578"/>
                  <a:pt x="-30898" y="534934"/>
                  <a:pt x="34562" y="362078"/>
                </a:cubicBezTo>
                <a:cubicBezTo>
                  <a:pt x="100022" y="189222"/>
                  <a:pt x="476419" y="0"/>
                  <a:pt x="476419" y="0"/>
                </a:cubicBezTo>
                <a:lnTo>
                  <a:pt x="476419" y="0"/>
                </a:ln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40"/>
          <p:cNvSpPr/>
          <p:nvPr/>
        </p:nvSpPr>
        <p:spPr>
          <a:xfrm>
            <a:off x="526368" y="1375666"/>
            <a:ext cx="595426" cy="2282932"/>
          </a:xfrm>
          <a:custGeom>
            <a:avLst/>
            <a:gdLst>
              <a:gd name="connsiteX0" fmla="*/ 595426 w 644521"/>
              <a:gd name="connsiteY0" fmla="*/ 2289069 h 2289069"/>
              <a:gd name="connsiteX1" fmla="*/ 178116 w 644521"/>
              <a:gd name="connsiteY1" fmla="*/ 2019044 h 2289069"/>
              <a:gd name="connsiteX2" fmla="*/ 145 w 644521"/>
              <a:gd name="connsiteY2" fmla="*/ 1343984 h 2289069"/>
              <a:gd name="connsiteX3" fmla="*/ 202664 w 644521"/>
              <a:gd name="connsiteY3" fmla="*/ 441858 h 2289069"/>
              <a:gd name="connsiteX4" fmla="*/ 644521 w 644521"/>
              <a:gd name="connsiteY4" fmla="*/ 0 h 2289069"/>
              <a:gd name="connsiteX0" fmla="*/ 595426 w 595426"/>
              <a:gd name="connsiteY0" fmla="*/ 2282932 h 2282932"/>
              <a:gd name="connsiteX1" fmla="*/ 178116 w 595426"/>
              <a:gd name="connsiteY1" fmla="*/ 2012907 h 2282932"/>
              <a:gd name="connsiteX2" fmla="*/ 145 w 595426"/>
              <a:gd name="connsiteY2" fmla="*/ 1337847 h 2282932"/>
              <a:gd name="connsiteX3" fmla="*/ 202664 w 595426"/>
              <a:gd name="connsiteY3" fmla="*/ 435721 h 2282932"/>
              <a:gd name="connsiteX4" fmla="*/ 589289 w 595426"/>
              <a:gd name="connsiteY4" fmla="*/ 0 h 2282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5426" h="2282932">
                <a:moveTo>
                  <a:pt x="595426" y="2282932"/>
                </a:moveTo>
                <a:cubicBezTo>
                  <a:pt x="436377" y="2226676"/>
                  <a:pt x="277329" y="2170421"/>
                  <a:pt x="178116" y="2012907"/>
                </a:cubicBezTo>
                <a:cubicBezTo>
                  <a:pt x="78902" y="1855393"/>
                  <a:pt x="-3946" y="1600711"/>
                  <a:pt x="145" y="1337847"/>
                </a:cubicBezTo>
                <a:cubicBezTo>
                  <a:pt x="4236" y="1074983"/>
                  <a:pt x="104473" y="658696"/>
                  <a:pt x="202664" y="435721"/>
                </a:cubicBezTo>
                <a:cubicBezTo>
                  <a:pt x="300855" y="212746"/>
                  <a:pt x="422058" y="108930"/>
                  <a:pt x="589289" y="0"/>
                </a:cubicBezTo>
              </a:path>
            </a:pathLst>
          </a:custGeom>
          <a:noFill/>
          <a:ln w="38100" cap="rnd">
            <a:solidFill>
              <a:srgbClr val="00AAE5"/>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47"/>
          <p:cNvSpPr txBox="1"/>
          <p:nvPr/>
        </p:nvSpPr>
        <p:spPr>
          <a:xfrm>
            <a:off x="1524660" y="2615413"/>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2" name="TextBox 48"/>
          <p:cNvSpPr txBox="1"/>
          <p:nvPr/>
        </p:nvSpPr>
        <p:spPr>
          <a:xfrm>
            <a:off x="1058336" y="784645"/>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203346</a:t>
            </a:r>
            <a:endParaRPr lang="en-US" sz="900" dirty="0">
              <a:solidFill>
                <a:schemeClr val="bg1"/>
              </a:solidFill>
            </a:endParaRPr>
          </a:p>
        </p:txBody>
      </p:sp>
      <p:sp>
        <p:nvSpPr>
          <p:cNvPr id="33" name="TextBox 49"/>
          <p:cNvSpPr txBox="1"/>
          <p:nvPr/>
        </p:nvSpPr>
        <p:spPr>
          <a:xfrm>
            <a:off x="1582134" y="352882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4" name="TextBox 51"/>
          <p:cNvSpPr txBox="1"/>
          <p:nvPr/>
        </p:nvSpPr>
        <p:spPr>
          <a:xfrm>
            <a:off x="1112660" y="1243191"/>
            <a:ext cx="473206"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71132</a:t>
            </a:r>
          </a:p>
        </p:txBody>
      </p:sp>
      <p:sp>
        <p:nvSpPr>
          <p:cNvPr id="35" name="TextBox 52"/>
          <p:cNvSpPr txBox="1"/>
          <p:nvPr/>
        </p:nvSpPr>
        <p:spPr>
          <a:xfrm>
            <a:off x="1524426" y="2768726"/>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6" name="TextBox 53"/>
          <p:cNvSpPr txBox="1"/>
          <p:nvPr/>
        </p:nvSpPr>
        <p:spPr>
          <a:xfrm>
            <a:off x="1055899" y="4137490"/>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
        <p:nvSpPr>
          <p:cNvPr id="37" name="TextBox 54"/>
          <p:cNvSpPr txBox="1"/>
          <p:nvPr/>
        </p:nvSpPr>
        <p:spPr>
          <a:xfrm>
            <a:off x="1524425" y="5507267"/>
            <a:ext cx="530915" cy="230832"/>
          </a:xfrm>
          <a:prstGeom prst="rect">
            <a:avLst/>
          </a:prstGeom>
          <a:noFill/>
        </p:spPr>
        <p:txBody>
          <a:bodyPr wrap="none" rtlCol="0">
            <a:spAutoFit/>
          </a:bodyPr>
          <a:lstStyle/>
          <a:p>
            <a:r>
              <a:rPr lang="en-US" sz="900" dirty="0">
                <a:solidFill>
                  <a:schemeClr val="bg1"/>
                </a:solidFill>
                <a:latin typeface="Calibri" panose="020F0502020204030204" pitchFamily="34" charset="0"/>
              </a:rPr>
              <a:t>402998</a:t>
            </a:r>
          </a:p>
        </p:txBody>
      </p:sp>
    </p:spTree>
    <p:extLst>
      <p:ext uri="{BB962C8B-B14F-4D97-AF65-F5344CB8AC3E}">
        <p14:creationId xmlns:p14="http://schemas.microsoft.com/office/powerpoint/2010/main" val="1426326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par>
                          <p:cTn id="11" fill="hold">
                            <p:stCondLst>
                              <p:cond delay="500"/>
                            </p:stCondLst>
                            <p:childTnLst>
                              <p:par>
                                <p:cTn id="12" presetID="22" presetClass="entr" presetSubtype="4" fill="hold" grpId="0" nodeType="after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wipe(down)">
                                      <p:cBhvr>
                                        <p:cTn id="14" dur="500"/>
                                        <p:tgtEl>
                                          <p:spTgt spid="28"/>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left)">
                                      <p:cBhvr>
                                        <p:cTn id="18" dur="50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wipe(left)">
                                      <p:cBhvr>
                                        <p:cTn id="21" dur="500"/>
                                        <p:tgtEl>
                                          <p:spTgt spid="32"/>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500"/>
                                        <p:tgtEl>
                                          <p:spTgt spid="23"/>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wipe(left)">
                                      <p:cBhvr>
                                        <p:cTn id="28" dur="500"/>
                                        <p:tgtEl>
                                          <p:spTgt spid="33"/>
                                        </p:tgtEl>
                                      </p:cBhvr>
                                    </p:animEffect>
                                  </p:childTnLst>
                                </p:cTn>
                              </p:par>
                            </p:childTnLst>
                          </p:cTn>
                        </p:par>
                        <p:par>
                          <p:cTn id="29" fill="hold">
                            <p:stCondLst>
                              <p:cond delay="2000"/>
                            </p:stCondLst>
                            <p:childTnLst>
                              <p:par>
                                <p:cTn id="30" presetID="22" presetClass="entr" presetSubtype="4" fill="hold" grpId="0" nodeType="after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wipe(down)">
                                      <p:cBhvr>
                                        <p:cTn id="32" dur="500"/>
                                        <p:tgtEl>
                                          <p:spTgt spid="30"/>
                                        </p:tgtEl>
                                      </p:cBhvr>
                                    </p:animEffect>
                                  </p:childTnLst>
                                </p:cTn>
                              </p:par>
                            </p:childTnLst>
                          </p:cTn>
                        </p:par>
                        <p:par>
                          <p:cTn id="33" fill="hold">
                            <p:stCondLst>
                              <p:cond delay="2500"/>
                            </p:stCondLst>
                            <p:childTnLst>
                              <p:par>
                                <p:cTn id="34" presetID="22" presetClass="entr" presetSubtype="8" fill="hold"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wipe(left)">
                                      <p:cBhvr>
                                        <p:cTn id="39" dur="500"/>
                                        <p:tgtEl>
                                          <p:spTgt spid="34"/>
                                        </p:tgtEl>
                                      </p:cBhvr>
                                    </p:animEffect>
                                  </p:childTnLst>
                                </p:cTn>
                              </p:par>
                            </p:childTnLst>
                          </p:cTn>
                        </p:par>
                        <p:par>
                          <p:cTn id="40" fill="hold">
                            <p:stCondLst>
                              <p:cond delay="3000"/>
                            </p:stCondLst>
                            <p:childTnLst>
                              <p:par>
                                <p:cTn id="41" presetID="22" presetClass="entr" presetSubtype="8" fill="hold" nodeType="after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wipe(left)">
                                      <p:cBhvr>
                                        <p:cTn id="43" dur="500"/>
                                        <p:tgtEl>
                                          <p:spTgt spid="5"/>
                                        </p:tgtEl>
                                      </p:cBhvr>
                                    </p:animEffect>
                                  </p:childTnLst>
                                </p:cTn>
                              </p:par>
                              <p:par>
                                <p:cTn id="44" presetID="22" presetClass="entr" presetSubtype="8" fill="hold"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left)">
                                      <p:cBhvr>
                                        <p:cTn id="49" dur="500"/>
                                        <p:tgtEl>
                                          <p:spTgt spid="3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wipe(left)">
                                      <p:cBhvr>
                                        <p:cTn id="52" dur="500"/>
                                        <p:tgtEl>
                                          <p:spTgt spid="37"/>
                                        </p:tgtEl>
                                      </p:cBhvr>
                                    </p:animEffect>
                                  </p:childTnLst>
                                </p:cTn>
                              </p:par>
                            </p:childTnLst>
                          </p:cTn>
                        </p:par>
                        <p:par>
                          <p:cTn id="53" fill="hold">
                            <p:stCondLst>
                              <p:cond delay="3500"/>
                            </p:stCondLst>
                            <p:childTnLst>
                              <p:par>
                                <p:cTn id="54" presetID="22" presetClass="entr" presetSubtype="1" fill="hold" grpId="0" nodeType="after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wipe(up)">
                                      <p:cBhvr>
                                        <p:cTn id="56" dur="500"/>
                                        <p:tgtEl>
                                          <p:spTgt spid="27"/>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down)">
                                      <p:cBhvr>
                                        <p:cTn id="59" dur="500"/>
                                        <p:tgtEl>
                                          <p:spTgt spid="29"/>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wipe(left)">
                                      <p:cBhvr>
                                        <p:cTn id="63" dur="500"/>
                                        <p:tgtEl>
                                          <p:spTgt spid="14"/>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36"/>
                                        </p:tgtEl>
                                        <p:attrNameLst>
                                          <p:attrName>style.visibility</p:attrName>
                                        </p:attrNameLst>
                                      </p:cBhvr>
                                      <p:to>
                                        <p:strVal val="visible"/>
                                      </p:to>
                                    </p:set>
                                    <p:animEffect transition="in" filter="wipe(left)">
                                      <p:cBhvr>
                                        <p:cTn id="6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p:bldP spid="32" grpId="0"/>
      <p:bldP spid="33" grpId="0"/>
      <p:bldP spid="34" grpId="0"/>
      <p:bldP spid="35" grpId="0"/>
      <p:bldP spid="36" grpId="0"/>
      <p:bldP spid="3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31</a:t>
            </a:fld>
            <a:endParaRPr lang="en-US"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82" name="Textfeld 35"/>
          <p:cNvSpPr txBox="1"/>
          <p:nvPr/>
        </p:nvSpPr>
        <p:spPr>
          <a:xfrm>
            <a:off x="744506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83" name="Textfeld 36"/>
          <p:cNvSpPr txBox="1"/>
          <p:nvPr/>
        </p:nvSpPr>
        <p:spPr>
          <a:xfrm>
            <a:off x="512792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84" name="Textfeld 37"/>
          <p:cNvSpPr txBox="1"/>
          <p:nvPr/>
        </p:nvSpPr>
        <p:spPr>
          <a:xfrm>
            <a:off x="339145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85" name="Textfeld 38"/>
          <p:cNvSpPr txBox="1"/>
          <p:nvPr/>
        </p:nvSpPr>
        <p:spPr>
          <a:xfrm>
            <a:off x="107356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88" name="Textfeld 44"/>
          <p:cNvSpPr txBox="1"/>
          <p:nvPr/>
        </p:nvSpPr>
        <p:spPr>
          <a:xfrm>
            <a:off x="5591103" y="3270871"/>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de-DE" sz="1600" dirty="0">
                <a:latin typeface="Cambria Math" panose="02040503050406030204" pitchFamily="18" charset="0"/>
                <a:ea typeface="Cambria Math" panose="02040503050406030204" pitchFamily="18" charset="0"/>
              </a:rPr>
              <a:t>94%</a:t>
            </a:r>
            <a:endParaRPr lang="en-US" sz="1600" dirty="0">
              <a:latin typeface="Cambria Math" panose="02040503050406030204" pitchFamily="18" charset="0"/>
              <a:ea typeface="Cambria Math" panose="02040503050406030204" pitchFamily="18" charset="0"/>
            </a:endParaRPr>
          </a:p>
        </p:txBody>
      </p:sp>
      <p:sp>
        <p:nvSpPr>
          <p:cNvPr id="93" name="Textfeld 49"/>
          <p:cNvSpPr txBox="1"/>
          <p:nvPr/>
        </p:nvSpPr>
        <p:spPr>
          <a:xfrm>
            <a:off x="2222735" y="304307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94" name="Textfeld 68"/>
          <p:cNvSpPr txBox="1"/>
          <p:nvPr/>
        </p:nvSpPr>
        <p:spPr>
          <a:xfrm>
            <a:off x="6368115" y="1985271"/>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43%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5" name="Textfeld 69"/>
          <p:cNvSpPr txBox="1"/>
          <p:nvPr/>
        </p:nvSpPr>
        <p:spPr>
          <a:xfrm>
            <a:off x="4796125" y="3259574"/>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de-DE" sz="1600" dirty="0">
                <a:solidFill>
                  <a:srgbClr val="00AAE5"/>
                </a:solidFill>
                <a:latin typeface="Cambria Math" panose="02040503050406030204" pitchFamily="18" charset="0"/>
                <a:ea typeface="Cambria Math" panose="02040503050406030204" pitchFamily="18" charset="0"/>
              </a:rPr>
              <a:t>71%</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7" name="Textfeld 71"/>
          <p:cNvSpPr txBox="1"/>
          <p:nvPr/>
        </p:nvSpPr>
        <p:spPr>
          <a:xfrm>
            <a:off x="2294885" y="3554449"/>
            <a:ext cx="595035" cy="338554"/>
          </a:xfrm>
          <a:prstGeom prst="rect">
            <a:avLst/>
          </a:prstGeom>
          <a:noFill/>
        </p:spPr>
        <p:txBody>
          <a:bodyPr wrap="none" rtlCol="0">
            <a:spAutoFit/>
          </a:bodyPr>
          <a:lstStyle/>
          <a:p>
            <a:r>
              <a:rPr lang="de-DE" sz="1600" dirty="0">
                <a:solidFill>
                  <a:srgbClr val="00AAE5"/>
                </a:solidFill>
                <a:latin typeface="Cambria Math" panose="02040503050406030204" pitchFamily="18" charset="0"/>
                <a:ea typeface="Cambria Math" panose="02040503050406030204" pitchFamily="18" charset="0"/>
              </a:rPr>
              <a:t>23%</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de-DE" sz="4800" dirty="0"/>
              <a:t>B</a:t>
            </a:r>
            <a:r>
              <a:rPr lang="de-DE" sz="2400" dirty="0"/>
              <a:t>Y</a:t>
            </a:r>
            <a:endParaRPr lang="en-US" sz="2400" dirty="0"/>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95%</a:t>
            </a:r>
            <a:endParaRPr lang="en-US" sz="1600" dirty="0">
              <a:latin typeface="Cambria Math" panose="02040503050406030204" pitchFamily="18" charset="0"/>
              <a:ea typeface="Cambria Math" panose="02040503050406030204" pitchFamily="18" charset="0"/>
            </a:endParaRP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100%</a:t>
            </a:r>
            <a:endParaRPr lang="en-US" sz="1600" dirty="0">
              <a:latin typeface="Cambria Math" panose="02040503050406030204" pitchFamily="18" charset="0"/>
              <a:ea typeface="Cambria Math" panose="02040503050406030204" pitchFamily="18" charset="0"/>
            </a:endParaRP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de-DE" sz="1600" dirty="0">
                <a:latin typeface="Cambria Math" panose="02040503050406030204" pitchFamily="18" charset="0"/>
                <a:ea typeface="Cambria Math" panose="02040503050406030204" pitchFamily="18" charset="0"/>
              </a:rPr>
              <a:t>98%</a:t>
            </a:r>
            <a:endParaRPr lang="en-US" sz="1600" dirty="0">
              <a:latin typeface="Cambria Math" panose="02040503050406030204" pitchFamily="18" charset="0"/>
              <a:ea typeface="Cambria Math" panose="02040503050406030204" pitchFamily="18" charset="0"/>
            </a:endParaRP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dirty="0" smtClean="0">
                <a:solidFill>
                  <a:srgbClr val="00B0F0"/>
                </a:solidFill>
              </a:rPr>
              <a:t>Search</a:t>
            </a:r>
          </a:p>
          <a:p>
            <a:pPr marL="216000" indent="-216000">
              <a:buClr>
                <a:srgbClr val="00B0F0"/>
              </a:buClr>
              <a:buFont typeface="Wingdings" panose="05000000000000000000" pitchFamily="2" charset="2"/>
              <a:buChar char="§"/>
            </a:pPr>
            <a:r>
              <a:rPr lang="en-US" sz="1400" dirty="0" smtClean="0"/>
              <a:t>Required: high Threshold, i.e. 90%</a:t>
            </a:r>
          </a:p>
          <a:p>
            <a:pPr marL="216000" indent="-216000">
              <a:buClr>
                <a:srgbClr val="00B0F0"/>
              </a:buClr>
              <a:buFont typeface="Wingdings" panose="05000000000000000000" pitchFamily="2" charset="2"/>
              <a:buChar char="§"/>
            </a:pPr>
            <a:r>
              <a:rPr lang="en-US" sz="1400" dirty="0" smtClean="0"/>
              <a:t>Connections in both directions enable transitivity</a:t>
            </a:r>
          </a:p>
          <a:p>
            <a:pPr marL="216000" indent="-216000">
              <a:buClr>
                <a:srgbClr val="00B0F0"/>
              </a:buClr>
              <a:buFont typeface="Wingdings" panose="05000000000000000000" pitchFamily="2" charset="2"/>
              <a:buChar char="§"/>
            </a:pPr>
            <a:r>
              <a:rPr lang="en-US" sz="1400" dirty="0" smtClean="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dirty="0" smtClean="0">
                <a:solidFill>
                  <a:srgbClr val="00B0F0"/>
                </a:solidFill>
              </a:rPr>
              <a:t>Mirroring</a:t>
            </a:r>
          </a:p>
          <a:p>
            <a:pPr marL="216000" indent="-216000">
              <a:buClr>
                <a:srgbClr val="00B0F0"/>
              </a:buClr>
              <a:buFont typeface="Wingdings" panose="05000000000000000000" pitchFamily="2" charset="2"/>
              <a:buChar char="§"/>
            </a:pPr>
            <a:r>
              <a:rPr lang="en-US" sz="1400" dirty="0" smtClean="0"/>
              <a:t>Creates a </a:t>
            </a:r>
            <a:r>
              <a:rPr lang="en-US" sz="1400" dirty="0" smtClean="0">
                <a:solidFill>
                  <a:srgbClr val="00B0F0"/>
                </a:solidFill>
              </a:rPr>
              <a:t>dummy run n </a:t>
            </a:r>
            <a:r>
              <a:rPr lang="en-US" sz="1400" dirty="0" smtClean="0"/>
              <a:t>for all  reversed connections not yet established</a:t>
            </a:r>
          </a:p>
          <a:p>
            <a:pPr marL="216000" indent="-216000">
              <a:buClr>
                <a:srgbClr val="00B0F0"/>
              </a:buClr>
              <a:buFont typeface="Wingdings" panose="05000000000000000000" pitchFamily="2" charset="2"/>
              <a:buChar char="§"/>
            </a:pPr>
            <a:r>
              <a:rPr lang="en-US" sz="1400" dirty="0" smtClean="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4" name="Textfeld 69"/>
          <p:cNvSpPr txBox="1"/>
          <p:nvPr/>
        </p:nvSpPr>
        <p:spPr>
          <a:xfrm>
            <a:off x="4898144" y="3255796"/>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5" name="Textfeld 69"/>
          <p:cNvSpPr txBox="1"/>
          <p:nvPr/>
        </p:nvSpPr>
        <p:spPr>
          <a:xfrm>
            <a:off x="6493936" y="1995032"/>
            <a:ext cx="481222" cy="338554"/>
          </a:xfrm>
          <a:prstGeom prst="rect">
            <a:avLst/>
          </a:prstGeom>
          <a:noFill/>
        </p:spPr>
        <p:txBody>
          <a:bodyPr wrap="none" rtlCol="0">
            <a:spAutoFit/>
          </a:bodyPr>
          <a:lstStyle/>
          <a:p>
            <a:r>
              <a:rPr lang="de-DE" sz="1600" dirty="0" smtClean="0">
                <a:solidFill>
                  <a:srgbClr val="00AAE5"/>
                </a:solidFill>
                <a:latin typeface="Cambria Math" panose="02040503050406030204" pitchFamily="18" charset="0"/>
                <a:ea typeface="Cambria Math" panose="02040503050406030204" pitchFamily="18" charset="0"/>
              </a:rPr>
              <a:t>0%</a:t>
            </a:r>
            <a:endParaRPr lang="en-US" sz="1600" dirty="0">
              <a:solidFill>
                <a:srgbClr val="00AAE5"/>
              </a:solidFill>
              <a:latin typeface="Cambria Math" panose="02040503050406030204" pitchFamily="18" charset="0"/>
              <a:ea typeface="Cambria Math" panose="02040503050406030204" pitchFamily="18" charset="0"/>
            </a:endParaRP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dirty="0" smtClean="0">
                <a:solidFill>
                  <a:srgbClr val="00B0F0"/>
                </a:solidFill>
              </a:rPr>
              <a:t>Research</a:t>
            </a:r>
          </a:p>
          <a:p>
            <a:pPr marL="216000" indent="-216000">
              <a:buClr>
                <a:srgbClr val="00B0F0"/>
              </a:buClr>
              <a:buFont typeface="Wingdings" panose="05000000000000000000" pitchFamily="2" charset="2"/>
              <a:buChar char="§"/>
            </a:pPr>
            <a:r>
              <a:rPr lang="en-US" sz="1400" dirty="0" smtClean="0"/>
              <a:t>Re-evaluates Identity for selected runs given current settings</a:t>
            </a:r>
          </a:p>
          <a:p>
            <a:pPr marL="216000" indent="-216000">
              <a:buClr>
                <a:srgbClr val="00B0F0"/>
              </a:buClr>
              <a:buFont typeface="Wingdings" panose="05000000000000000000" pitchFamily="2" charset="2"/>
              <a:buChar char="§"/>
            </a:pPr>
            <a:r>
              <a:rPr lang="en-US" sz="1400" dirty="0" smtClean="0"/>
              <a:t>Apply on </a:t>
            </a:r>
            <a:r>
              <a:rPr lang="en-US" sz="1400" dirty="0" smtClean="0">
                <a:solidFill>
                  <a:srgbClr val="00B0F0"/>
                </a:solidFill>
              </a:rPr>
              <a:t>dummy run n</a:t>
            </a:r>
          </a:p>
          <a:p>
            <a:pPr marL="216000" indent="-216000">
              <a:buClr>
                <a:srgbClr val="00B0F0"/>
              </a:buClr>
              <a:buFont typeface="Wingdings" panose="05000000000000000000" pitchFamily="2" charset="2"/>
              <a:buChar char="§"/>
            </a:pPr>
            <a:r>
              <a:rPr lang="en-US" sz="1400" dirty="0" smtClean="0"/>
              <a:t>Log-smoothing on critical search types is advised as retrieval is of no concern</a:t>
            </a:r>
            <a:br>
              <a:rPr lang="en-US" sz="1400" dirty="0" smtClean="0"/>
            </a:br>
            <a:r>
              <a:rPr lang="de-DE" sz="4000" dirty="0" smtClean="0"/>
              <a:t>A</a:t>
            </a:r>
            <a:r>
              <a:rPr lang="de-DE" sz="2000" dirty="0" smtClean="0"/>
              <a:t>B</a:t>
            </a:r>
            <a:r>
              <a:rPr lang="de-DE" sz="1000" dirty="0" smtClean="0"/>
              <a:t>Y</a:t>
            </a:r>
            <a:r>
              <a:rPr lang="de-DE" sz="2400" dirty="0" smtClean="0"/>
              <a:t>→</a:t>
            </a:r>
            <a:r>
              <a:rPr lang="de-DE" sz="2800" dirty="0" smtClean="0"/>
              <a:t>A</a:t>
            </a:r>
            <a:r>
              <a:rPr lang="de-DE" sz="2400" dirty="0" smtClean="0"/>
              <a:t>B</a:t>
            </a:r>
            <a:r>
              <a:rPr lang="de-DE" sz="1600" dirty="0" smtClean="0"/>
              <a:t>Y</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94"/>
                                        </p:tgtEl>
                                        <p:attrNameLst>
                                          <p:attrName>style.visibility</p:attrName>
                                        </p:attrNameLst>
                                      </p:cBhvr>
                                      <p:to>
                                        <p:strVal val="visible"/>
                                      </p:to>
                                    </p:set>
                                    <p:animEffect transition="in" filter="wipe(up)">
                                      <p:cBhvr>
                                        <p:cTn id="35" dur="500"/>
                                        <p:tgtEl>
                                          <p:spTgt spid="94"/>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wipe(right)">
                                      <p:cBhvr>
                                        <p:cTn id="38" dur="500"/>
                                        <p:tgtEl>
                                          <p:spTgt spid="95"/>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wipe(left)">
                                      <p:cBhvr>
                                        <p:cTn id="41" dur="500"/>
                                        <p:tgtEl>
                                          <p:spTgt spid="96"/>
                                        </p:tgtEl>
                                      </p:cBhvr>
                                    </p:animEffect>
                                  </p:childTnLst>
                                </p:cTn>
                              </p:par>
                              <p:par>
                                <p:cTn id="42" presetID="22" presetClass="entr" presetSubtype="1" fill="hold" grpId="0" nodeType="withEffect">
                                  <p:stCondLst>
                                    <p:cond delay="0"/>
                                  </p:stCondLst>
                                  <p:childTnLst>
                                    <p:set>
                                      <p:cBhvr>
                                        <p:cTn id="43" dur="1" fill="hold">
                                          <p:stCondLst>
                                            <p:cond delay="0"/>
                                          </p:stCondLst>
                                        </p:cTn>
                                        <p:tgtEl>
                                          <p:spTgt spid="97"/>
                                        </p:tgtEl>
                                        <p:attrNameLst>
                                          <p:attrName>style.visibility</p:attrName>
                                        </p:attrNameLst>
                                      </p:cBhvr>
                                      <p:to>
                                        <p:strVal val="visible"/>
                                      </p:to>
                                    </p:set>
                                    <p:animEffect transition="in" filter="wipe(up)">
                                      <p:cBhvr>
                                        <p:cTn id="44" dur="500"/>
                                        <p:tgtEl>
                                          <p:spTgt spid="97"/>
                                        </p:tgtEl>
                                      </p:cBhvr>
                                    </p:animEffect>
                                  </p:childTnLst>
                                </p:cTn>
                              </p:par>
                              <p:par>
                                <p:cTn id="45" presetID="1" presetClass="exit" presetSubtype="0" fill="hold" grpId="1" nodeType="withEffect">
                                  <p:stCondLst>
                                    <p:cond delay="0"/>
                                  </p:stCondLst>
                                  <p:childTnLst>
                                    <p:set>
                                      <p:cBhvr>
                                        <p:cTn id="46" dur="1" fill="hold">
                                          <p:stCondLst>
                                            <p:cond delay="0"/>
                                          </p:stCondLst>
                                        </p:cTn>
                                        <p:tgtEl>
                                          <p:spTgt spid="132"/>
                                        </p:tgtEl>
                                        <p:attrNameLst>
                                          <p:attrName>style.visibility</p:attrName>
                                        </p:attrNameLst>
                                      </p:cBhvr>
                                      <p:to>
                                        <p:strVal val="hidden"/>
                                      </p:to>
                                    </p:set>
                                  </p:childTnLst>
                                </p:cTn>
                              </p:par>
                              <p:par>
                                <p:cTn id="47" presetID="1" presetClass="exit" presetSubtype="0" fill="hold" grpId="1" nodeType="withEffect">
                                  <p:stCondLst>
                                    <p:cond delay="0"/>
                                  </p:stCondLst>
                                  <p:childTnLst>
                                    <p:set>
                                      <p:cBhvr>
                                        <p:cTn id="48" dur="1" fill="hold">
                                          <p:stCondLst>
                                            <p:cond delay="0"/>
                                          </p:stCondLst>
                                        </p:cTn>
                                        <p:tgtEl>
                                          <p:spTgt spid="133"/>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5"/>
                                        </p:tgtEl>
                                        <p:attrNameLst>
                                          <p:attrName>style.visibility</p:attrName>
                                        </p:attrNameLst>
                                      </p:cBhvr>
                                      <p:to>
                                        <p:strVal val="hidden"/>
                                      </p:to>
                                    </p:set>
                                  </p:childTnLst>
                                </p:cTn>
                              </p:par>
                              <p:par>
                                <p:cTn id="53" presetID="1" presetClass="entr" presetSubtype="0" fill="hold" grpId="0"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Intransitive Similarity Network: Undirected Graph</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32</a:t>
            </a:fld>
            <a:endParaRPr lang="en-US"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dirty="0" smtClean="0">
                <a:solidFill>
                  <a:srgbClr val="00B0F0"/>
                </a:solidFill>
              </a:rPr>
              <a:t>p = Score Percentile</a:t>
            </a:r>
          </a:p>
          <a:p>
            <a:pPr>
              <a:buClr>
                <a:srgbClr val="00B0F0"/>
              </a:buClr>
            </a:pPr>
            <a:r>
              <a:rPr lang="en-US" sz="1400" dirty="0" smtClean="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rotWithShape="0">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4</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60</m:t>
                                </m:r>
                              </m:e>
                              <m:e>
                                <m:r>
                                  <a:rPr lang="de-DE" sz="1400" i="1">
                                    <a:latin typeface="Cambria Math" panose="02040503050406030204" pitchFamily="18" charset="0"/>
                                  </a:rPr>
                                  <m:t>37</m:t>
                                </m:r>
                                <m:r>
                                  <a:rPr lang="de-DE" sz="1400" i="1">
                                    <a:latin typeface="Cambria Math" panose="02040503050406030204" pitchFamily="18" charset="0"/>
                                  </a:rPr>
                                  <m:t>𝑝𝑐𝑡</m:t>
                                </m:r>
                              </m:e>
                            </m:mr>
                          </m:m>
                        </m:e>
                      </m:d>
                    </m:oMath>
                  </m:oMathPara>
                </a14:m>
                <a:endParaRPr lang="en-US" sz="140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rotWithShape="0">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94%</m:t>
                                </m:r>
                              </m:e>
                            </m:mr>
                            <m:mr>
                              <m:e>
                                <m:r>
                                  <a:rPr lang="de-DE" sz="1400" i="1">
                                    <a:latin typeface="Cambria Math" panose="02040503050406030204" pitchFamily="18" charset="0"/>
                                  </a:rPr>
                                  <m:t>140</m:t>
                                </m:r>
                              </m:e>
                              <m:e>
                                <m:r>
                                  <a:rPr lang="de-DE" sz="1400" i="1">
                                    <a:latin typeface="Cambria Math" panose="02040503050406030204" pitchFamily="18" charset="0"/>
                                  </a:rPr>
                                  <m:t>89</m:t>
                                </m:r>
                                <m:r>
                                  <a:rPr lang="de-DE" sz="1400" i="1">
                                    <a:latin typeface="Cambria Math" panose="02040503050406030204" pitchFamily="18" charset="0"/>
                                  </a:rPr>
                                  <m:t>𝑝𝑐𝑡</m:t>
                                </m:r>
                              </m:e>
                            </m:mr>
                          </m:m>
                        </m:e>
                      </m:d>
                    </m:oMath>
                  </m:oMathPara>
                </a14:m>
                <a:endParaRPr lang="en-US" sz="140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rotWithShape="0">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7</m:t>
                                </m:r>
                                <m:r>
                                  <a:rPr lang="de-DE" sz="1400" i="1">
                                    <a:solidFill>
                                      <a:srgbClr val="00AAE5"/>
                                    </a:solidFill>
                                    <a:latin typeface="Cambria Math" panose="02040503050406030204" pitchFamily="18" charset="0"/>
                                  </a:rPr>
                                  <m:t>1%</m:t>
                                </m:r>
                              </m:e>
                              <m:e>
                                <m:r>
                                  <a:rPr lang="de-DE" sz="1400" i="1">
                                    <a:latin typeface="Cambria Math" panose="02040503050406030204" pitchFamily="18" charset="0"/>
                                  </a:rPr>
                                  <m:t>95%</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rotWithShape="0">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600" i="1" smtClean="0">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de-DE" sz="1600" i="1">
                                    <a:latin typeface="Cambria Math" panose="02040503050406030204" pitchFamily="18" charset="0"/>
                                  </a:rPr>
                                  <m:t>𝑚𝑖𝑛</m:t>
                                </m:r>
                              </m:e>
                              <m:e>
                                <m:r>
                                  <a:rPr lang="de-DE" sz="1600" i="1">
                                    <a:latin typeface="Cambria Math" panose="02040503050406030204" pitchFamily="18" charset="0"/>
                                  </a:rPr>
                                  <m:t>𝑚𝑎𝑥</m:t>
                                </m:r>
                              </m:e>
                            </m:mr>
                            <m:mr>
                              <m:e>
                                <m:r>
                                  <a:rPr lang="de-DE" sz="1600" i="1">
                                    <a:latin typeface="Cambria Math" panose="02040503050406030204" pitchFamily="18" charset="0"/>
                                  </a:rPr>
                                  <m:t>𝑠</m:t>
                                </m:r>
                              </m:e>
                              <m:e>
                                <m:r>
                                  <a:rPr lang="de-DE" sz="1600" i="1">
                                    <a:latin typeface="Cambria Math" panose="02040503050406030204" pitchFamily="18" charset="0"/>
                                  </a:rPr>
                                  <m:t>𝑝</m:t>
                                </m:r>
                              </m:e>
                            </m:mr>
                          </m:m>
                        </m:e>
                      </m:d>
                    </m:oMath>
                  </m:oMathPara>
                </a14:m>
                <a:endParaRPr lang="en-US" sz="160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rotWithShape="0">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solidFill>
                                      <a:srgbClr val="00AAE5"/>
                                    </a:solidFill>
                                    <a:latin typeface="Cambria Math" panose="02040503050406030204" pitchFamily="18" charset="0"/>
                                  </a:rPr>
                                  <m:t>2</m:t>
                                </m:r>
                                <m:r>
                                  <a:rPr lang="de-DE" sz="1400" i="1">
                                    <a:solidFill>
                                      <a:srgbClr val="00AAE5"/>
                                    </a:solidFill>
                                    <a:latin typeface="Cambria Math" panose="02040503050406030204" pitchFamily="18" charset="0"/>
                                  </a:rPr>
                                  <m:t>3%</m:t>
                                </m:r>
                              </m:e>
                              <m:e>
                                <m:r>
                                  <a:rPr lang="de-DE" sz="1400" i="1">
                                    <a:latin typeface="Cambria Math" panose="02040503050406030204" pitchFamily="18" charset="0"/>
                                  </a:rPr>
                                  <m:t>100%</m:t>
                                </m:r>
                              </m:e>
                            </m:mr>
                            <m:mr>
                              <m:e>
                                <m:r>
                                  <a:rPr lang="de-DE" sz="1400" i="1">
                                    <a:latin typeface="Cambria Math" panose="02040503050406030204" pitchFamily="18" charset="0"/>
                                  </a:rPr>
                                  <m:t>30</m:t>
                                </m:r>
                              </m:e>
                              <m:e>
                                <m:r>
                                  <a:rPr lang="de-DE" sz="1400" i="1">
                                    <a:latin typeface="Cambria Math" panose="02040503050406030204" pitchFamily="18" charset="0"/>
                                  </a:rPr>
                                  <m:t>13</m:t>
                                </m:r>
                                <m:r>
                                  <a:rPr lang="de-DE" sz="1400" i="1">
                                    <a:latin typeface="Cambria Math" panose="02040503050406030204" pitchFamily="18" charset="0"/>
                                  </a:rPr>
                                  <m:t>𝑝𝑐𝑡</m:t>
                                </m:r>
                              </m:e>
                            </m:mr>
                          </m:m>
                        </m:e>
                      </m:d>
                    </m:oMath>
                  </m:oMathPara>
                </a14:m>
                <a:endParaRPr lang="en-US" sz="140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rotWithShape="0">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10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de-DE" sz="4000" dirty="0"/>
              <a:t>A</a:t>
            </a:r>
            <a:r>
              <a:rPr lang="de-DE" sz="2000" dirty="0"/>
              <a:t>B</a:t>
            </a:r>
            <a:r>
              <a:rPr lang="de-DE" sz="1000" dirty="0"/>
              <a:t>Y</a:t>
            </a:r>
            <a:endParaRPr lang="en-US" sz="1000" dirty="0"/>
          </a:p>
        </p:txBody>
      </p:sp>
      <p:sp>
        <p:nvSpPr>
          <p:cNvPr id="154" name="Textfeld 51"/>
          <p:cNvSpPr txBox="1"/>
          <p:nvPr/>
        </p:nvSpPr>
        <p:spPr>
          <a:xfrm>
            <a:off x="7439129" y="1456083"/>
            <a:ext cx="670376" cy="830997"/>
          </a:xfrm>
          <a:prstGeom prst="rect">
            <a:avLst/>
          </a:prstGeom>
          <a:noFill/>
        </p:spPr>
        <p:txBody>
          <a:bodyPr wrap="none" rtlCol="0">
            <a:spAutoFit/>
          </a:bodyPr>
          <a:lstStyle/>
          <a:p>
            <a:r>
              <a:rPr lang="de-DE" sz="4800" dirty="0"/>
              <a:t>B</a:t>
            </a:r>
            <a:r>
              <a:rPr lang="de-DE" sz="2400" dirty="0"/>
              <a:t>Y</a:t>
            </a:r>
            <a:endParaRPr lang="en-US" sz="2400" dirty="0"/>
          </a:p>
        </p:txBody>
      </p:sp>
      <p:sp>
        <p:nvSpPr>
          <p:cNvPr id="155" name="Textfeld 52"/>
          <p:cNvSpPr txBox="1"/>
          <p:nvPr/>
        </p:nvSpPr>
        <p:spPr>
          <a:xfrm>
            <a:off x="5124170" y="4492161"/>
            <a:ext cx="696024" cy="830997"/>
          </a:xfrm>
          <a:prstGeom prst="rect">
            <a:avLst/>
          </a:prstGeom>
          <a:noFill/>
        </p:spPr>
        <p:txBody>
          <a:bodyPr wrap="none" rtlCol="0">
            <a:spAutoFit/>
          </a:bodyPr>
          <a:lstStyle/>
          <a:p>
            <a:r>
              <a:rPr lang="de-DE" sz="4800" dirty="0"/>
              <a:t>A</a:t>
            </a:r>
            <a:r>
              <a:rPr lang="de-DE" sz="1200" dirty="0"/>
              <a:t>XY</a:t>
            </a:r>
            <a:endParaRPr lang="en-US" sz="1200" dirty="0"/>
          </a:p>
        </p:txBody>
      </p:sp>
      <p:sp>
        <p:nvSpPr>
          <p:cNvPr id="156" name="Textfeld 53"/>
          <p:cNvSpPr txBox="1"/>
          <p:nvPr/>
        </p:nvSpPr>
        <p:spPr>
          <a:xfrm>
            <a:off x="3387703" y="3044133"/>
            <a:ext cx="702436" cy="769441"/>
          </a:xfrm>
          <a:prstGeom prst="rect">
            <a:avLst/>
          </a:prstGeom>
          <a:noFill/>
        </p:spPr>
        <p:txBody>
          <a:bodyPr wrap="none" rtlCol="0">
            <a:spAutoFit/>
          </a:bodyPr>
          <a:lstStyle/>
          <a:p>
            <a:r>
              <a:rPr lang="de-DE" sz="4400" dirty="0"/>
              <a:t>A</a:t>
            </a:r>
            <a:r>
              <a:rPr lang="de-DE" sz="1100" dirty="0"/>
              <a:t>XY</a:t>
            </a:r>
            <a:r>
              <a:rPr lang="de-DE" sz="800" dirty="0"/>
              <a:t>Z</a:t>
            </a:r>
            <a:endParaRPr lang="en-US" sz="800" dirty="0"/>
          </a:p>
        </p:txBody>
      </p:sp>
      <p:sp>
        <p:nvSpPr>
          <p:cNvPr id="157" name="Textfeld 54"/>
          <p:cNvSpPr txBox="1"/>
          <p:nvPr/>
        </p:nvSpPr>
        <p:spPr>
          <a:xfrm>
            <a:off x="1069819" y="3002724"/>
            <a:ext cx="647934" cy="830997"/>
          </a:xfrm>
          <a:prstGeom prst="rect">
            <a:avLst/>
          </a:prstGeom>
          <a:noFill/>
        </p:spPr>
        <p:txBody>
          <a:bodyPr wrap="none" rtlCol="0">
            <a:spAutoFit/>
          </a:bodyPr>
          <a:lstStyle/>
          <a:p>
            <a:r>
              <a:rPr lang="de-DE" sz="4800" dirty="0"/>
              <a:t>X</a:t>
            </a:r>
            <a:r>
              <a:rPr lang="de-DE" sz="2400" dirty="0"/>
              <a:t>Z</a:t>
            </a:r>
            <a:endParaRPr lang="en-US" sz="2400" dirty="0"/>
          </a:p>
        </p:txBody>
      </p:sp>
      <p:sp>
        <p:nvSpPr>
          <p:cNvPr id="158" name="Textfeld 26"/>
          <p:cNvSpPr txBox="1"/>
          <p:nvPr/>
        </p:nvSpPr>
        <p:spPr>
          <a:xfrm>
            <a:off x="7441312" y="4544956"/>
            <a:ext cx="689612" cy="769441"/>
          </a:xfrm>
          <a:prstGeom prst="rect">
            <a:avLst/>
          </a:prstGeom>
          <a:noFill/>
        </p:spPr>
        <p:txBody>
          <a:bodyPr wrap="none" rtlCol="0">
            <a:spAutoFit/>
          </a:bodyPr>
          <a:lstStyle/>
          <a:p>
            <a:r>
              <a:rPr lang="de-DE" sz="4400" dirty="0"/>
              <a:t>B</a:t>
            </a:r>
            <a:r>
              <a:rPr lang="de-DE" sz="2400" dirty="0"/>
              <a:t>Y</a:t>
            </a:r>
            <a:r>
              <a:rPr lang="de-DE" sz="800" dirty="0"/>
              <a:t>Z</a:t>
            </a:r>
            <a:endParaRPr lang="en-US" sz="800" dirty="0"/>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400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de-DE" sz="4400" dirty="0"/>
              <a:t>A</a:t>
            </a:r>
            <a:r>
              <a:rPr lang="de-DE" sz="1100" dirty="0"/>
              <a:t>XY</a:t>
            </a:r>
            <a:r>
              <a:rPr lang="de-DE" sz="800" dirty="0"/>
              <a:t>V</a:t>
            </a:r>
            <a:endParaRPr lang="en-US" sz="800" dirty="0"/>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120</m:t>
                                </m:r>
                              </m:e>
                              <m:e>
                                <m:r>
                                  <a:rPr lang="de-DE" sz="1400" i="1">
                                    <a:latin typeface="Cambria Math" panose="02040503050406030204" pitchFamily="18" charset="0"/>
                                  </a:rPr>
                                  <m:t>87</m:t>
                                </m:r>
                                <m:r>
                                  <a:rPr lang="de-DE" sz="1400" i="1">
                                    <a:latin typeface="Cambria Math" panose="02040503050406030204" pitchFamily="18" charset="0"/>
                                  </a:rPr>
                                  <m:t>𝑝𝑐𝑡</m:t>
                                </m:r>
                              </m:e>
                            </m:mr>
                          </m:m>
                        </m:e>
                      </m:d>
                    </m:oMath>
                  </m:oMathPara>
                </a14:m>
                <a:endParaRPr lang="en-US" sz="140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rotWithShape="0">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8%</m:t>
                                </m:r>
                              </m:e>
                              <m:e>
                                <m:r>
                                  <a:rPr lang="de-DE" sz="1400" i="1">
                                    <a:latin typeface="Cambria Math" panose="02040503050406030204" pitchFamily="18" charset="0"/>
                                  </a:rPr>
                                  <m:t>100%</m:t>
                                </m:r>
                              </m:e>
                            </m:mr>
                            <m:mr>
                              <m:e>
                                <m:r>
                                  <a:rPr lang="de-DE" sz="1400" i="1">
                                    <a:latin typeface="Cambria Math" panose="02040503050406030204" pitchFamily="18" charset="0"/>
                                  </a:rPr>
                                  <m:t>130</m:t>
                                </m:r>
                              </m:e>
                              <m:e>
                                <m:r>
                                  <a:rPr lang="de-DE" sz="1400" i="1">
                                    <a:latin typeface="Cambria Math" panose="02040503050406030204" pitchFamily="18" charset="0"/>
                                  </a:rPr>
                                  <m:t>88</m:t>
                                </m:r>
                                <m:r>
                                  <a:rPr lang="de-DE" sz="1400" i="1">
                                    <a:latin typeface="Cambria Math" panose="02040503050406030204" pitchFamily="18" charset="0"/>
                                  </a:rPr>
                                  <m:t>𝑝𝑐𝑡</m:t>
                                </m:r>
                              </m:e>
                            </m:mr>
                          </m:m>
                        </m:e>
                      </m:d>
                    </m:oMath>
                  </m:oMathPara>
                </a14:m>
                <a:endParaRPr lang="en-US" sz="140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rotWithShape="0">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400" i="1">
                              <a:latin typeface="Cambria Math" panose="02040503050406030204" pitchFamily="18" charset="0"/>
                            </a:rPr>
                          </m:ctrlPr>
                        </m:dPr>
                        <m:e>
                          <m:m>
                            <m:mPr>
                              <m:mcs>
                                <m:mc>
                                  <m:mcPr>
                                    <m:count m:val="2"/>
                                    <m:mcJc m:val="center"/>
                                  </m:mcPr>
                                </m:mc>
                              </m:mcs>
                              <m:ctrlPr>
                                <a:rPr lang="en-US" sz="1400" i="1">
                                  <a:latin typeface="Cambria Math" panose="02040503050406030204" pitchFamily="18" charset="0"/>
                                </a:rPr>
                              </m:ctrlPr>
                            </m:mPr>
                            <m:mr>
                              <m:e>
                                <m:r>
                                  <m:rPr>
                                    <m:brk m:alnAt="7"/>
                                  </m:rPr>
                                  <a:rPr lang="de-DE" sz="1400" i="1">
                                    <a:latin typeface="Cambria Math" panose="02040503050406030204" pitchFamily="18" charset="0"/>
                                  </a:rPr>
                                  <m:t>9</m:t>
                                </m:r>
                                <m:r>
                                  <a:rPr lang="de-DE" sz="1400" i="1">
                                    <a:latin typeface="Cambria Math" panose="02040503050406030204" pitchFamily="18" charset="0"/>
                                  </a:rPr>
                                  <m:t>5%</m:t>
                                </m:r>
                              </m:e>
                              <m:e>
                                <m:r>
                                  <a:rPr lang="de-DE" sz="1400" i="1">
                                    <a:latin typeface="Cambria Math" panose="02040503050406030204" pitchFamily="18" charset="0"/>
                                  </a:rPr>
                                  <m:t>100%</m:t>
                                </m:r>
                              </m:e>
                            </m:mr>
                            <m:mr>
                              <m:e>
                                <m:r>
                                  <a:rPr lang="de-DE" sz="1400" i="1">
                                    <a:latin typeface="Cambria Math" panose="02040503050406030204" pitchFamily="18" charset="0"/>
                                  </a:rPr>
                                  <m:t>64</m:t>
                                </m:r>
                              </m:e>
                              <m:e>
                                <m:r>
                                  <a:rPr lang="de-DE" sz="1400" i="1">
                                    <a:latin typeface="Cambria Math" panose="02040503050406030204" pitchFamily="18" charset="0"/>
                                  </a:rPr>
                                  <m:t>38</m:t>
                                </m:r>
                                <m:r>
                                  <a:rPr lang="de-DE" sz="1400" i="1">
                                    <a:latin typeface="Cambria Math" panose="02040503050406030204" pitchFamily="18" charset="0"/>
                                  </a:rPr>
                                  <m:t>𝑝𝑐𝑡</m:t>
                                </m:r>
                              </m:e>
                            </m:mr>
                          </m:m>
                        </m:e>
                      </m:d>
                    </m:oMath>
                  </m:oMathPara>
                </a14:m>
                <a:endParaRPr lang="en-US" sz="140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rotWithShape="0">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dirty="0">
                <a:solidFill>
                  <a:srgbClr val="00B0F0"/>
                </a:solidFill>
              </a:rPr>
              <a:t>s</a:t>
            </a:r>
            <a:r>
              <a:rPr lang="en-US" sz="1400" dirty="0" smtClean="0">
                <a:solidFill>
                  <a:srgbClr val="00B0F0"/>
                </a:solidFill>
              </a:rPr>
              <a:t> = Score</a:t>
            </a:r>
          </a:p>
          <a:p>
            <a:r>
              <a:rPr lang="en-US" sz="1400" dirty="0" smtClean="0"/>
              <a:t>The score of a word is its associated weight divided by its frequency. The score of a </a:t>
            </a:r>
            <a:r>
              <a:rPr lang="en-US" sz="1400" dirty="0"/>
              <a:t>s</a:t>
            </a:r>
            <a:r>
              <a:rPr lang="en-US" sz="1400" dirty="0" smtClean="0"/>
              <a:t>earch term is the sum off all word scores.</a:t>
            </a:r>
          </a:p>
          <a:p>
            <a:r>
              <a:rPr lang="en-US" sz="1400" dirty="0" smtClean="0"/>
              <a:t>The minimum score of both involved search terms is used.</a:t>
            </a:r>
            <a:endParaRPr lang="en-US" sz="1400" dirty="0"/>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dirty="0" smtClean="0">
                <a:solidFill>
                  <a:srgbClr val="00B0F0"/>
                </a:solidFill>
              </a:rPr>
              <a:t>min, max of the identities</a:t>
            </a:r>
          </a:p>
          <a:p>
            <a:r>
              <a:rPr lang="en-US" sz="1400" dirty="0"/>
              <a:t>o</a:t>
            </a:r>
            <a:r>
              <a:rPr lang="en-US" sz="1400" dirty="0" smtClean="0"/>
              <a:t>f both directions</a:t>
            </a:r>
            <a:endParaRPr lang="en-US" sz="1400" dirty="0"/>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3000" b="0" i="1" smtClean="0">
                          <a:latin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m:t>
                      </m:r>
                      <m:r>
                        <m:rPr>
                          <m:sty m:val="p"/>
                        </m:rPr>
                        <a:rPr lang="de-DE" sz="3000" b="0" i="0" smtClean="0">
                          <a:latin typeface="Cambria Math" panose="02040503050406030204" pitchFamily="18" charset="0"/>
                          <a:ea typeface="Cambria Math" panose="02040503050406030204" pitchFamily="18" charset="0"/>
                        </a:rPr>
                        <m:t>or</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𝑝</m:t>
                      </m:r>
                      <m:r>
                        <a:rPr lang="de-DE" sz="3000" b="0" i="1" smtClean="0">
                          <a:latin typeface="Cambria Math" panose="02040503050406030204" pitchFamily="18" charset="0"/>
                          <a:ea typeface="Cambria Math" panose="02040503050406030204" pitchFamily="18" charset="0"/>
                        </a:rPr>
                        <m:t>≥70 </m:t>
                      </m:r>
                      <m:r>
                        <m:rPr>
                          <m:sty m:val="p"/>
                        </m:rPr>
                        <a:rPr lang="de-DE" sz="3000" b="0" i="0" smtClean="0">
                          <a:latin typeface="Cambria Math" panose="02040503050406030204" pitchFamily="18" charset="0"/>
                          <a:ea typeface="Cambria Math" panose="02040503050406030204" pitchFamily="18" charset="0"/>
                        </a:rPr>
                        <m:t>and</m:t>
                      </m:r>
                      <m:r>
                        <a:rPr lang="de-DE" sz="3000" b="0" i="1"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≥70 @ 0 </m:t>
                      </m:r>
                      <m:r>
                        <a:rPr lang="de-DE" sz="3000" b="0" i="0" smtClean="0">
                          <a:latin typeface="Cambria Math" panose="02040503050406030204" pitchFamily="18" charset="0"/>
                          <a:ea typeface="Cambria Math" panose="02040503050406030204" pitchFamily="18" charset="0"/>
                        </a:rPr>
                        <m:t>,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21 ;</m:t>
                      </m:r>
                      <m:r>
                        <a:rPr lang="de-DE" sz="3000" b="0" i="1" smtClean="0">
                          <a:latin typeface="Cambria Math" panose="02040503050406030204" pitchFamily="18" charset="0"/>
                          <a:ea typeface="Cambria Math" panose="02040503050406030204" pitchFamily="18" charset="0"/>
                        </a:rPr>
                        <m:t>𝑚𝑖𝑛</m:t>
                      </m:r>
                      <m:r>
                        <a:rPr lang="de-DE" sz="3000" b="0" i="1" smtClean="0">
                          <a:latin typeface="Cambria Math" panose="02040503050406030204" pitchFamily="18" charset="0"/>
                          <a:ea typeface="Cambria Math" panose="02040503050406030204" pitchFamily="18" charset="0"/>
                        </a:rPr>
                        <m:t>≥90 @ 4</m:t>
                      </m:r>
                    </m:oMath>
                  </m:oMathPara>
                </a14:m>
                <a:endParaRPr lang="en-US" sz="300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rotWithShape="0">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dirty="0" smtClean="0"/>
              <a:t>Nested Cascaded Traversal</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33</a:t>
            </a:fld>
            <a:endParaRPr lang="en-US"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dirty="0" smtClean="0">
                  <a:solidFill>
                    <a:srgbClr val="00B0F0"/>
                  </a:solidFill>
                </a:rPr>
                <a:t>Rule</a:t>
              </a:r>
              <a:r>
                <a:rPr lang="en-US" dirty="0" smtClean="0"/>
                <a:t> </a:t>
              </a:r>
            </a:p>
            <a:p>
              <a:pPr algn="just"/>
              <a:r>
                <a:rPr lang="en-US" sz="1400" dirty="0" smtClean="0"/>
                <a:t>Imposes restrictions on the validity of connections based on the quality attributes. </a:t>
              </a:r>
              <a:r>
                <a:rPr lang="en-US" sz="1400" smtClean="0"/>
                <a:t>During traversal, </a:t>
              </a:r>
              <a:r>
                <a:rPr lang="en-US" sz="1400" dirty="0" smtClean="0"/>
                <a:t>these imply the boundaries of the resulting cluster.</a:t>
              </a:r>
              <a:endParaRPr lang="en-US" sz="1400" dirty="0"/>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dirty="0" smtClean="0">
                  <a:solidFill>
                    <a:srgbClr val="00B0F0"/>
                  </a:solidFill>
                </a:rPr>
                <a:t>Cluster Threshold</a:t>
              </a:r>
            </a:p>
            <a:p>
              <a:pPr algn="just"/>
              <a:r>
                <a:rPr lang="en-US" sz="1400" dirty="0" smtClean="0"/>
                <a:t>Forces the activation of the associated Rule when the intermediate cluster size attains the number. Resets the traversal to the starting node under the new regime.</a:t>
              </a:r>
              <a:endParaRPr lang="en-US"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rotWithShape="0">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b="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rotWithShape="0">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dirty="0" smtClean="0"/>
              <a:t>Separates cascaded Rules. Current rule is active unless the threshold of the subsequent rule is breached. Each new rule has to be more restrictive than the previous one to guarantee non-overlapping clusters.</a:t>
            </a:r>
          </a:p>
          <a:p>
            <a:pPr algn="ctr"/>
            <a:r>
              <a:rPr lang="en-US" dirty="0" smtClean="0">
                <a:solidFill>
                  <a:srgbClr val="00B0F0"/>
                </a:solidFill>
              </a:rPr>
              <a:t>Comma</a:t>
            </a:r>
            <a:endParaRPr lang="en-US" dirty="0">
              <a:solidFill>
                <a:srgbClr val="00B0F0"/>
              </a:solidFill>
            </a:endParaRP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m:t>
                      </m:r>
                    </m:oMath>
                  </m:oMathPara>
                </a14:m>
                <a:endParaRPr lang="en-US" sz="300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rotWithShape="0">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dirty="0" smtClean="0"/>
              <a:t>Separates cascades. Consolidates the clusters into hyper-nodes. The quality attributes of connections between encased nodes of different hyper-nodes are aggregated to the respective maximum forming a hyper-network. </a:t>
            </a:r>
          </a:p>
          <a:p>
            <a:pPr marL="540000" algn="just"/>
            <a:r>
              <a:rPr lang="en-US" dirty="0" smtClean="0">
                <a:solidFill>
                  <a:srgbClr val="00B0F0"/>
                </a:solidFill>
              </a:rPr>
              <a:t>Semicolon</a:t>
            </a:r>
            <a:endParaRPr lang="en-US" dirty="0">
              <a:solidFill>
                <a:srgbClr val="00B0F0"/>
              </a:solidFill>
            </a:endParaRP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dirty="0" smtClean="0">
                <a:solidFill>
                  <a:srgbClr val="00B0F0"/>
                </a:solidFill>
              </a:rPr>
              <a:t>Hyper-Network</a:t>
            </a:r>
            <a:endParaRPr lang="en-US" dirty="0">
              <a:solidFill>
                <a:srgbClr val="00B0F0"/>
              </a:solidFill>
            </a:endParaRP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de-DE" sz="3000" i="1" smtClean="0">
                          <a:solidFill>
                            <a:schemeClr val="bg1"/>
                          </a:solidFill>
                          <a:latin typeface="Cambria Math" panose="02040503050406030204" pitchFamily="18" charset="0"/>
                          <a:ea typeface="Cambria Math" panose="02040503050406030204" pitchFamily="18" charset="0"/>
                        </a:rPr>
                        <m:t>@ 4</m:t>
                      </m:r>
                    </m:oMath>
                  </m:oMathPara>
                </a14:m>
                <a:endParaRPr lang="en-US" sz="300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rotWithShape="0">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dirty="0" smtClean="0"/>
              <a:t>It is like Spelunking!</a:t>
            </a:r>
          </a:p>
          <a:p>
            <a:pPr marL="216000" indent="-216000" algn="just">
              <a:buClr>
                <a:srgbClr val="00B0F0"/>
              </a:buClr>
              <a:buFont typeface="Wingdings" panose="05000000000000000000" pitchFamily="2" charset="2"/>
              <a:buChar char="§"/>
            </a:pPr>
            <a:r>
              <a:rPr lang="en-US" sz="1400" dirty="0" smtClean="0"/>
              <a:t>Choose an entrance to an unexplored cave (starting node).</a:t>
            </a:r>
          </a:p>
          <a:p>
            <a:pPr marL="216000" indent="-216000" algn="just">
              <a:buClr>
                <a:srgbClr val="00B0F0"/>
              </a:buClr>
              <a:buFont typeface="Wingdings" panose="05000000000000000000" pitchFamily="2" charset="2"/>
              <a:buChar char="§"/>
            </a:pPr>
            <a:r>
              <a:rPr lang="en-US" sz="1400" dirty="0" smtClean="0"/>
              <a:t>Shine with your flashlight into all tunnels (connections) </a:t>
            </a:r>
            <a:r>
              <a:rPr lang="en-US" sz="1400" smtClean="0"/>
              <a:t>branching out </a:t>
            </a:r>
            <a:r>
              <a:rPr lang="en-US" sz="1400" dirty="0" smtClean="0"/>
              <a:t>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dirty="0" smtClean="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dirty="0" smtClean="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dirty="0" smtClean="0"/>
              <a:t>The threshold refers to hyper-nodes. In this example, three unobserved transitions between hyper-nodes are condoned until the Rule kicks in to enforce transitivity. </a:t>
            </a:r>
            <a:endParaRPr lang="en-US" sz="1400" dirty="0"/>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dirty="0" smtClean="0"/>
              <a:t>First cascade establishes transitive clusters of high coherence</a:t>
            </a:r>
          </a:p>
          <a:p>
            <a:pPr marL="216000" indent="-216000">
              <a:buClr>
                <a:srgbClr val="00B0F0"/>
              </a:buClr>
              <a:buFont typeface="Wingdings" panose="05000000000000000000" pitchFamily="2" charset="2"/>
              <a:buChar char="§"/>
            </a:pPr>
            <a:r>
              <a:rPr lang="en-US" sz="1400" dirty="0" smtClean="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Titel 1"/>
          <p:cNvSpPr>
            <a:spLocks noGrp="1"/>
          </p:cNvSpPr>
          <p:nvPr>
            <p:ph type="title"/>
          </p:nvPr>
        </p:nvSpPr>
        <p:spPr/>
        <p:txBody>
          <a:bodyPr/>
          <a:lstStyle/>
          <a:p>
            <a:r>
              <a:rPr lang="en-US" dirty="0" smtClean="0"/>
              <a:t>Clustering German EPO Applicants by Name</a:t>
            </a:r>
            <a:endParaRPr lang="en-US" dirty="0"/>
          </a:p>
        </p:txBody>
      </p:sp>
      <p:sp>
        <p:nvSpPr>
          <p:cNvPr id="3" name="Foliennummernplatzhalter 2"/>
          <p:cNvSpPr>
            <a:spLocks noGrp="1"/>
          </p:cNvSpPr>
          <p:nvPr>
            <p:ph type="sldNum" sz="quarter" idx="10"/>
          </p:nvPr>
        </p:nvSpPr>
        <p:spPr/>
        <p:txBody>
          <a:bodyPr/>
          <a:lstStyle/>
          <a:p>
            <a:fld id="{A29D8577-601D-4845-9C29-D9E13FE3E8DB}" type="slidenum">
              <a:rPr lang="en-US" smtClean="0"/>
              <a:pPr/>
              <a:t>34</a:t>
            </a:fld>
            <a:endParaRPr lang="en-US" dirty="0"/>
          </a:p>
        </p:txBody>
      </p:sp>
      <p:graphicFrame>
        <p:nvGraphicFramePr>
          <p:cNvPr id="5" name="Tabelle 4"/>
          <p:cNvGraphicFramePr>
            <a:graphicFrameLocks noGrp="1"/>
          </p:cNvGraphicFramePr>
          <p:nvPr>
            <p:extLst>
              <p:ext uri="{D42A27DB-BD31-4B8C-83A1-F6EECF244321}">
                <p14:modId xmlns:p14="http://schemas.microsoft.com/office/powerpoint/2010/main" val="3233381969"/>
              </p:ext>
            </p:extLst>
          </p:nvPr>
        </p:nvGraphicFramePr>
        <p:xfrm>
          <a:off x="251009" y="799460"/>
          <a:ext cx="8008313" cy="1524000"/>
        </p:xfrm>
        <a:graphic>
          <a:graphicData uri="http://schemas.openxmlformats.org/drawingml/2006/table">
            <a:tbl>
              <a:tblPr/>
              <a:tblGrid>
                <a:gridCol w="792000"/>
                <a:gridCol w="792000"/>
                <a:gridCol w="642431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a:t>
                      </a:r>
                      <a:r>
                        <a:rPr lang="de-DE" sz="1100" b="0" i="0" u="none" strike="noStrike" baseline="0" dirty="0" smtClean="0">
                          <a:solidFill>
                            <a:srgbClr val="000000"/>
                          </a:solidFill>
                          <a:effectLst/>
                          <a:latin typeface="Calibri" panose="020F0502020204030204" pitchFamily="34" charset="0"/>
                        </a:rPr>
                        <a:t> </a:t>
                      </a:r>
                      <a:r>
                        <a:rPr lang="de-DE" sz="1100" b="0" i="0" u="none" strike="noStrike" baseline="0"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tr>
              <a:tr h="190500">
                <a:tc>
                  <a:txBody>
                    <a:bodyPr/>
                    <a:lstStyle/>
                    <a:p>
                      <a:pPr algn="ctr" fontAlgn="b"/>
                      <a:r>
                        <a:rPr lang="de-DE" sz="1100" b="0" i="0" u="none" strike="noStrike" dirty="0" smtClean="0">
                          <a:solidFill>
                            <a:srgbClr val="000000"/>
                          </a:solidFill>
                          <a:effectLst/>
                          <a:latin typeface="Calibri" panose="020F0502020204030204" pitchFamily="34" charset="0"/>
                        </a:rPr>
                        <a:t>17840</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365453719"/>
              </p:ext>
            </p:extLst>
          </p:nvPr>
        </p:nvGraphicFramePr>
        <p:xfrm>
          <a:off x="251009" y="2545133"/>
          <a:ext cx="7205973" cy="1524000"/>
        </p:xfrm>
        <a:graphic>
          <a:graphicData uri="http://schemas.openxmlformats.org/drawingml/2006/table">
            <a:tbl>
              <a:tblPr/>
              <a:tblGrid>
                <a:gridCol w="792000"/>
                <a:gridCol w="792000"/>
                <a:gridCol w="5621973"/>
              </a:tblGrid>
              <a:tr h="190500">
                <a:tc>
                  <a:txBody>
                    <a:bodyPr/>
                    <a:lstStyle/>
                    <a:p>
                      <a:pPr algn="ctr" fontAlgn="b"/>
                      <a:r>
                        <a:rPr lang="de-DE" sz="1100" b="0" i="0" u="none" strike="noStrike" dirty="0" smtClean="0">
                          <a:solidFill>
                            <a:srgbClr val="000000"/>
                          </a:solidFill>
                          <a:effectLst/>
                          <a:latin typeface="Calibri" panose="020F0502020204030204" pitchFamily="34" charset="0"/>
                        </a:rPr>
                        <a:t>2.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de-DE" sz="1100" b="0" i="0" u="none" strike="noStrike" dirty="0" smtClean="0">
                          <a:solidFill>
                            <a:srgbClr val="000000"/>
                          </a:solidFill>
                          <a:effectLst/>
                          <a:latin typeface="Calibri" panose="020F0502020204030204" pitchFamily="34" charset="0"/>
                        </a:rPr>
                        <a:t>1. </a:t>
                      </a:r>
                      <a:r>
                        <a:rPr lang="de-DE" sz="1100" b="0" i="0" u="none" strike="noStrike" dirty="0" err="1" smtClean="0">
                          <a:solidFill>
                            <a:srgbClr val="000000"/>
                          </a:solidFill>
                          <a:effectLst/>
                          <a:latin typeface="Calibri" panose="020F0502020204030204" pitchFamily="34" charset="0"/>
                        </a:rPr>
                        <a:t>Cascade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l" fontAlgn="b"/>
                      <a:r>
                        <a:rPr lang="de-DE" sz="1100" b="0" i="0" u="none" strike="noStrike" dirty="0" err="1">
                          <a:solidFill>
                            <a:srgbClr val="000000"/>
                          </a:solidFill>
                          <a:effectLst/>
                          <a:latin typeface="Calibri" panose="020F0502020204030204" pitchFamily="34" charset="0"/>
                        </a:rPr>
                        <a:t>name</a:t>
                      </a:r>
                      <a:endParaRPr lang="de-DE"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de-DE" sz="1100" b="0" i="0" u="none" strike="noStrike">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de-DE" sz="1100" b="0" i="0" u="none" strike="noStrike" dirty="0" smtClean="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de-DE" sz="1100" b="0" i="0" u="none" strike="noStrike"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de-DE" sz="1100" b="0" i="0" u="none" strike="noStrike"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1800" b="0" i="0" u="none" strike="noStrike" kern="0" cap="none" spc="0" normalizeH="0" baseline="0" noProof="0" dirty="0" err="1" smtClean="0">
                  <a:ln>
                    <a:noFill/>
                  </a:ln>
                  <a:solidFill>
                    <a:prstClr val="white"/>
                  </a:solidFill>
                  <a:effectLst>
                    <a:glow rad="127000">
                      <a:prstClr val="white">
                        <a:alpha val="60000"/>
                      </a:prstClr>
                    </a:glow>
                  </a:effectLst>
                  <a:uLnTx/>
                  <a:uFillTx/>
                  <a:latin typeface="Impact" panose="020B0806030902050204" pitchFamily="34" charset="0"/>
                </a:rPr>
                <a:t>Search</a:t>
              </a:r>
              <a:r>
                <a:rPr kumimoji="0" lang="de-DE" sz="1800" b="0" i="0" u="none" strike="noStrike" kern="0" cap="none" spc="0" normalizeH="0" baseline="0" noProof="0" dirty="0" err="1" smtClean="0">
                  <a:ln>
                    <a:noFill/>
                  </a:ln>
                  <a:solidFill>
                    <a:srgbClr val="19F54B"/>
                  </a:solidFill>
                  <a:effectLst>
                    <a:glow rad="127000">
                      <a:srgbClr val="1FFF53">
                        <a:alpha val="60000"/>
                      </a:srgbClr>
                    </a:glow>
                  </a:effectLst>
                  <a:uLnTx/>
                  <a:uFillTx/>
                  <a:latin typeface="Impact" panose="020B0806030902050204" pitchFamily="34" charset="0"/>
                </a:rPr>
                <a:t>Engine</a:t>
              </a:r>
              <a:endParaRPr kumimoji="0" lang="de-DE" sz="1800" b="0" i="0" u="none" strike="noStrike" kern="0" cap="none" spc="0" normalizeH="0" baseline="0" noProof="0" dirty="0" smtClean="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Thorsten </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de-DE" sz="900" b="0" i="0" u="none" strike="noStrike" kern="0" cap="none" spc="0" normalizeH="0" baseline="0" noProof="0" dirty="0" err="1" smtClean="0">
                  <a:ln>
                    <a:noFill/>
                  </a:ln>
                  <a:solidFill>
                    <a:srgbClr val="19F54B"/>
                  </a:solidFill>
                  <a:effectLst/>
                  <a:uLnTx/>
                  <a:uFillTx/>
                  <a:latin typeface="Impact" panose="020B0806030902050204" pitchFamily="34" charset="0"/>
                </a:rPr>
                <a:t>powered</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 </a:t>
              </a:r>
              <a:r>
                <a:rPr kumimoji="0" lang="de-DE" sz="900" b="0" i="0" u="none" strike="noStrike" kern="0" cap="none" spc="0" normalizeH="0" baseline="0" noProof="0" dirty="0" err="1" smtClean="0">
                  <a:ln>
                    <a:noFill/>
                  </a:ln>
                  <a:solidFill>
                    <a:srgbClr val="1FFF53"/>
                  </a:solidFill>
                  <a:effectLst/>
                  <a:uLnTx/>
                  <a:uFillTx/>
                  <a:latin typeface="Impact" panose="020B0806030902050204" pitchFamily="34" charset="0"/>
                </a:rPr>
                <a:t>by</a:t>
              </a:r>
              <a:r>
                <a:rPr kumimoji="0" lang="de-DE" sz="900" b="0" i="0" u="none" strike="noStrike" kern="0" cap="none" spc="0" normalizeH="0" baseline="0" noProof="0" dirty="0" smtClean="0">
                  <a:ln>
                    <a:noFill/>
                  </a:ln>
                  <a:solidFill>
                    <a:prstClr val="white"/>
                  </a:solidFill>
                  <a:effectLst/>
                  <a:uLnTx/>
                  <a:uFillTx/>
                  <a:latin typeface="Impact" panose="020B0806030902050204" pitchFamily="34" charset="0"/>
                </a:rPr>
                <a:t> FoxPro </a:t>
              </a:r>
              <a:r>
                <a:rPr kumimoji="0" lang="de-DE" sz="900" b="0" i="0" u="none" strike="noStrike" kern="0" cap="none" spc="0" normalizeH="0" baseline="0" noProof="0" dirty="0" smtClean="0">
                  <a:ln>
                    <a:noFill/>
                  </a:ln>
                  <a:solidFill>
                    <a:srgbClr val="19F54B"/>
                  </a:solidFill>
                  <a:effectLst/>
                  <a:uLnTx/>
                  <a:uFillTx/>
                  <a:latin typeface="Impact" panose="020B0806030902050204" pitchFamily="34" charset="0"/>
                </a:rPr>
                <a:t>&amp; </a:t>
              </a:r>
              <a:r>
                <a:rPr kumimoji="0" lang="de-DE" sz="900" b="0" i="0" u="none" strike="noStrike" kern="0" cap="none" spc="0" normalizeH="0" baseline="0" noProof="0" dirty="0" err="1" smtClean="0">
                  <a:ln>
                    <a:noFill/>
                  </a:ln>
                  <a:solidFill>
                    <a:prstClr val="white"/>
                  </a:solidFill>
                  <a:effectLst/>
                  <a:uLnTx/>
                  <a:uFillTx/>
                  <a:latin typeface="Impact" panose="020B0806030902050204" pitchFamily="34" charset="0"/>
                </a:rPr>
                <a:t>ParallelFox</a:t>
              </a:r>
              <a:endParaRPr kumimoji="0" lang="de-DE" sz="1800" b="0" i="0" u="none" strike="noStrike" kern="0" cap="none" spc="0" normalizeH="0" baseline="0" noProof="0" dirty="0" smtClean="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smtClean="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smtClean="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a:t>
              </a:r>
              <a:r>
                <a:rPr kumimoji="0" lang="en-US" sz="1800" b="0" i="0" u="none" strike="noStrike" kern="0" cap="none" spc="0" normalizeH="0" baseline="0" noProof="0" dirty="0" err="1" smtClean="0">
                  <a:ln>
                    <a:noFill/>
                  </a:ln>
                  <a:solidFill>
                    <a:srgbClr val="00AAE5"/>
                  </a:solidFill>
                  <a:effectLst/>
                  <a:uLnTx/>
                  <a:uFillTx/>
                </a:rPr>
                <a:t>SearchEngine</a:t>
              </a:r>
              <a:endParaRPr kumimoji="0" lang="en-US" sz="1800" b="0" i="0" u="none" strike="noStrike" kern="0" cap="none" spc="0" normalizeH="0" baseline="0" noProof="0" dirty="0" smtClean="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rPr>
                <a:t>       </a:t>
              </a:r>
              <a:r>
                <a:rPr kumimoji="0" lang="en-US" sz="1800" b="0" i="0" u="none" strike="noStrike" kern="0" cap="none" spc="0" normalizeH="0" baseline="0" noProof="0" dirty="0" err="1" smtClean="0">
                  <a:ln>
                    <a:noFill/>
                  </a:ln>
                  <a:solidFill>
                    <a:srgbClr val="000000"/>
                  </a:solidFill>
                  <a:effectLst/>
                  <a:uLnTx/>
                  <a:uFillTx/>
                </a:rPr>
                <a:t>ssc</a:t>
              </a:r>
              <a:r>
                <a:rPr kumimoji="0" lang="en-US" sz="1800" b="0" i="0" u="none" strike="noStrike" kern="0" cap="none" spc="0" normalizeH="0" baseline="0" noProof="0" dirty="0" smtClean="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dirty="0" smtClean="0">
                <a:solidFill>
                  <a:schemeClr val="bg1"/>
                </a:solidFill>
              </a:rPr>
              <a:t>Thank you for your attention</a:t>
            </a:r>
          </a:p>
          <a:p>
            <a:r>
              <a:rPr lang="en-US" sz="2400" dirty="0" smtClean="0">
                <a:solidFill>
                  <a:schemeClr val="bg1"/>
                </a:solidFill>
              </a:rPr>
              <a:t>Time for questions</a:t>
            </a:r>
            <a:endParaRPr lang="en-US" sz="2400" dirty="0"/>
          </a:p>
        </p:txBody>
      </p:sp>
      <p:sp>
        <p:nvSpPr>
          <p:cNvPr id="2" name="Foliennummernplatzhalter 1"/>
          <p:cNvSpPr>
            <a:spLocks noGrp="1"/>
          </p:cNvSpPr>
          <p:nvPr>
            <p:ph type="sldNum" sz="quarter" idx="10"/>
          </p:nvPr>
        </p:nvSpPr>
        <p:spPr/>
        <p:txBody>
          <a:bodyPr/>
          <a:lstStyle/>
          <a:p>
            <a:fld id="{A29D8577-601D-4845-9C29-D9E13FE3E8DB}" type="slidenum">
              <a:rPr lang="en-US" smtClean="0"/>
              <a:pPr/>
              <a:t>35</a:t>
            </a:fld>
            <a:endParaRPr lang="en-US"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12700" cap="sq" cmpd="sng" algn="ctr">
          <a:solidFill>
            <a:schemeClr val="bg1">
              <a:lumMod val="75000"/>
            </a:schemeClr>
          </a:solidFill>
          <a:prstDash val="solid"/>
          <a:miter lim="800000"/>
          <a:headEnd type="oval"/>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13051</Words>
  <Application>Microsoft Office PowerPoint</Application>
  <PresentationFormat>Breitbild</PresentationFormat>
  <Paragraphs>5368</Paragraphs>
  <Slides>35</Slides>
  <Notes>1</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35</vt:i4>
      </vt:variant>
    </vt:vector>
  </HeadingPairs>
  <TitlesOfParts>
    <vt:vector size="47" baseType="lpstr">
      <vt:lpstr>Microsoft YaHei UI</vt:lpstr>
      <vt:lpstr>Angsana New</vt:lpstr>
      <vt:lpstr>Arial</vt:lpstr>
      <vt:lpstr>Calibri</vt:lpstr>
      <vt:lpstr>Cambria Math</vt:lpstr>
      <vt:lpstr>Courier New</vt:lpstr>
      <vt:lpstr>Harrington</vt:lpstr>
      <vt:lpstr>Impact</vt:lpstr>
      <vt:lpstr>Times New Roman</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 Directed Graph</vt:lpstr>
      <vt:lpstr>Intransitive Similarity Network: Undirected Graph</vt:lpstr>
      <vt:lpstr>Nested Cascaded Traversal</vt:lpstr>
      <vt:lpstr>Clustering German EPO Applicants by Name</vt:lpstr>
      <vt:lpstr>PowerPoint-Präsentation</vt:lpstr>
    </vt:vector>
  </TitlesOfParts>
  <Company>ZEW GmbH</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466</cp:revision>
  <dcterms:created xsi:type="dcterms:W3CDTF">2023-08-28T14:05:43Z</dcterms:created>
  <dcterms:modified xsi:type="dcterms:W3CDTF">2025-10-02T07:34:03Z</dcterms:modified>
</cp:coreProperties>
</file>